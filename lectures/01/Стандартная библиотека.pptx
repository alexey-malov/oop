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tags/tag5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6.xml" ContentType="application/vnd.openxmlformats-officedocument.presentationml.tag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tags/tag7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tags/tag8.xml" ContentType="application/vnd.openxmlformats-officedocument.presentationml.tags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tags/tag9.xml" ContentType="application/vnd.openxmlformats-officedocument.presentationml.tags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tags/tag10.xml" ContentType="application/vnd.openxmlformats-officedocument.presentationml.tag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tags/tag11.xml" ContentType="application/vnd.openxmlformats-officedocument.presentationml.tags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tags/tag12.xml" ContentType="application/vnd.openxmlformats-officedocument.presentationml.tags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tags/tag13.xml" ContentType="application/vnd.openxmlformats-officedocument.presentationml.tags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tags/tag14.xml" ContentType="application/vnd.openxmlformats-officedocument.presentationml.tags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1"/>
  </p:sldMasterIdLst>
  <p:notesMasterIdLst>
    <p:notesMasterId r:id="rId129"/>
  </p:notesMasterIdLst>
  <p:sldIdLst>
    <p:sldId id="256" r:id="rId2"/>
    <p:sldId id="434" r:id="rId3"/>
    <p:sldId id="435" r:id="rId4"/>
    <p:sldId id="436" r:id="rId5"/>
    <p:sldId id="607" r:id="rId6"/>
    <p:sldId id="437" r:id="rId7"/>
    <p:sldId id="524" r:id="rId8"/>
    <p:sldId id="465" r:id="rId9"/>
    <p:sldId id="471" r:id="rId10"/>
    <p:sldId id="466" r:id="rId11"/>
    <p:sldId id="467" r:id="rId12"/>
    <p:sldId id="468" r:id="rId13"/>
    <p:sldId id="469" r:id="rId14"/>
    <p:sldId id="470" r:id="rId15"/>
    <p:sldId id="472" r:id="rId16"/>
    <p:sldId id="473" r:id="rId17"/>
    <p:sldId id="526" r:id="rId18"/>
    <p:sldId id="474" r:id="rId19"/>
    <p:sldId id="475" r:id="rId20"/>
    <p:sldId id="572" r:id="rId21"/>
    <p:sldId id="573" r:id="rId22"/>
    <p:sldId id="648" r:id="rId23"/>
    <p:sldId id="628" r:id="rId24"/>
    <p:sldId id="574" r:id="rId25"/>
    <p:sldId id="649" r:id="rId26"/>
    <p:sldId id="515" r:id="rId27"/>
    <p:sldId id="439" r:id="rId28"/>
    <p:sldId id="528" r:id="rId29"/>
    <p:sldId id="629" r:id="rId30"/>
    <p:sldId id="460" r:id="rId31"/>
    <p:sldId id="527" r:id="rId32"/>
    <p:sldId id="630" r:id="rId33"/>
    <p:sldId id="631" r:id="rId34"/>
    <p:sldId id="608" r:id="rId35"/>
    <p:sldId id="444" r:id="rId36"/>
    <p:sldId id="614" r:id="rId37"/>
    <p:sldId id="647" r:id="rId38"/>
    <p:sldId id="632" r:id="rId39"/>
    <p:sldId id="615" r:id="rId40"/>
    <p:sldId id="441" r:id="rId41"/>
    <p:sldId id="616" r:id="rId42"/>
    <p:sldId id="633" r:id="rId43"/>
    <p:sldId id="529" r:id="rId44"/>
    <p:sldId id="634" r:id="rId45"/>
    <p:sldId id="445" r:id="rId46"/>
    <p:sldId id="617" r:id="rId47"/>
    <p:sldId id="654" r:id="rId48"/>
    <p:sldId id="485" r:id="rId49"/>
    <p:sldId id="484" r:id="rId50"/>
    <p:sldId id="609" r:id="rId51"/>
    <p:sldId id="618" r:id="rId52"/>
    <p:sldId id="463" r:id="rId53"/>
    <p:sldId id="655" r:id="rId54"/>
    <p:sldId id="653" r:id="rId55"/>
    <p:sldId id="650" r:id="rId56"/>
    <p:sldId id="651" r:id="rId57"/>
    <p:sldId id="652" r:id="rId58"/>
    <p:sldId id="612" r:id="rId59"/>
    <p:sldId id="619" r:id="rId60"/>
    <p:sldId id="448" r:id="rId61"/>
    <p:sldId id="656" r:id="rId62"/>
    <p:sldId id="657" r:id="rId63"/>
    <p:sldId id="658" r:id="rId64"/>
    <p:sldId id="659" r:id="rId65"/>
    <p:sldId id="579" r:id="rId66"/>
    <p:sldId id="620" r:id="rId67"/>
    <p:sldId id="581" r:id="rId68"/>
    <p:sldId id="582" r:id="rId69"/>
    <p:sldId id="583" r:id="rId70"/>
    <p:sldId id="635" r:id="rId71"/>
    <p:sldId id="637" r:id="rId72"/>
    <p:sldId id="638" r:id="rId73"/>
    <p:sldId id="636" r:id="rId74"/>
    <p:sldId id="639" r:id="rId75"/>
    <p:sldId id="640" r:id="rId76"/>
    <p:sldId id="584" r:id="rId77"/>
    <p:sldId id="585" r:id="rId78"/>
    <p:sldId id="586" r:id="rId79"/>
    <p:sldId id="587" r:id="rId80"/>
    <p:sldId id="588" r:id="rId81"/>
    <p:sldId id="589" r:id="rId82"/>
    <p:sldId id="590" r:id="rId83"/>
    <p:sldId id="621" r:id="rId84"/>
    <p:sldId id="591" r:id="rId85"/>
    <p:sldId id="593" r:id="rId86"/>
    <p:sldId id="594" r:id="rId87"/>
    <p:sldId id="625" r:id="rId88"/>
    <p:sldId id="595" r:id="rId89"/>
    <p:sldId id="449" r:id="rId90"/>
    <p:sldId id="530" r:id="rId91"/>
    <p:sldId id="596" r:id="rId92"/>
    <p:sldId id="531" r:id="rId93"/>
    <p:sldId id="532" r:id="rId94"/>
    <p:sldId id="613" r:id="rId95"/>
    <p:sldId id="622" r:id="rId96"/>
    <p:sldId id="605" r:id="rId97"/>
    <p:sldId id="603" r:id="rId98"/>
    <p:sldId id="604" r:id="rId99"/>
    <p:sldId id="606" r:id="rId100"/>
    <p:sldId id="597" r:id="rId101"/>
    <p:sldId id="450" r:id="rId102"/>
    <p:sldId id="660" r:id="rId103"/>
    <p:sldId id="661" r:id="rId104"/>
    <p:sldId id="451" r:id="rId105"/>
    <p:sldId id="662" r:id="rId106"/>
    <p:sldId id="663" r:id="rId107"/>
    <p:sldId id="452" r:id="rId108"/>
    <p:sldId id="668" r:id="rId109"/>
    <p:sldId id="455" r:id="rId110"/>
    <p:sldId id="454" r:id="rId111"/>
    <p:sldId id="456" r:id="rId112"/>
    <p:sldId id="545" r:id="rId113"/>
    <p:sldId id="664" r:id="rId114"/>
    <p:sldId id="600" r:id="rId115"/>
    <p:sldId id="665" r:id="rId116"/>
    <p:sldId id="543" r:id="rId117"/>
    <p:sldId id="544" r:id="rId118"/>
    <p:sldId id="641" r:id="rId119"/>
    <p:sldId id="525" r:id="rId120"/>
    <p:sldId id="279" r:id="rId121"/>
    <p:sldId id="533" r:id="rId122"/>
    <p:sldId id="534" r:id="rId123"/>
    <p:sldId id="644" r:id="rId124"/>
    <p:sldId id="666" r:id="rId125"/>
    <p:sldId id="646" r:id="rId126"/>
    <p:sldId id="667" r:id="rId127"/>
    <p:sldId id="642" r:id="rId128"/>
  </p:sldIdLst>
  <p:sldSz cx="12192000" cy="6858000"/>
  <p:notesSz cx="6858000" cy="9144000"/>
  <p:custDataLst>
    <p:tags r:id="rId130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655D4A-5D90-476B-ACFC-70A995BADD2F}">
          <p14:sldIdLst>
            <p14:sldId id="256"/>
          </p14:sldIdLst>
        </p14:section>
        <p14:section name="Стандартная библиотека" id="{D76DA428-86A2-42CE-99EA-D25B25631D55}">
          <p14:sldIdLst>
            <p14:sldId id="434"/>
            <p14:sldId id="435"/>
            <p14:sldId id="436"/>
          </p14:sldIdLst>
        </p14:section>
        <p14:section name="std::string" id="{173C7FED-748F-44D7-B8B5-0E8555B19945}">
          <p14:sldIdLst>
            <p14:sldId id="607"/>
            <p14:sldId id="437"/>
            <p14:sldId id="524"/>
            <p14:sldId id="465"/>
            <p14:sldId id="471"/>
            <p14:sldId id="466"/>
            <p14:sldId id="467"/>
            <p14:sldId id="468"/>
            <p14:sldId id="469"/>
            <p14:sldId id="470"/>
          </p14:sldIdLst>
        </p14:section>
        <p14:section name="string_view" id="{1CF10CA4-A244-420E-BB58-10A26065C225}">
          <p14:sldIdLst>
            <p14:sldId id="472"/>
            <p14:sldId id="473"/>
            <p14:sldId id="526"/>
            <p14:sldId id="474"/>
            <p14:sldId id="475"/>
          </p14:sldIdLst>
        </p14:section>
        <p14:section name="std::array" id="{0F8F4EFB-5FA9-400D-A7E1-712477714273}">
          <p14:sldIdLst>
            <p14:sldId id="572"/>
            <p14:sldId id="573"/>
            <p14:sldId id="648"/>
            <p14:sldId id="628"/>
            <p14:sldId id="574"/>
            <p14:sldId id="649"/>
          </p14:sldIdLst>
        </p14:section>
        <p14:section name="std::vector" id="{19417419-128C-409B-8400-169970425166}">
          <p14:sldIdLst>
            <p14:sldId id="515"/>
            <p14:sldId id="439"/>
            <p14:sldId id="528"/>
            <p14:sldId id="629"/>
            <p14:sldId id="460"/>
            <p14:sldId id="527"/>
            <p14:sldId id="630"/>
            <p14:sldId id="631"/>
          </p14:sldIdLst>
        </p14:section>
        <p14:section name="std::deque" id="{60FE332B-B110-4FF3-BFA2-432B15873D63}">
          <p14:sldIdLst>
            <p14:sldId id="608"/>
            <p14:sldId id="444"/>
            <p14:sldId id="614"/>
            <p14:sldId id="647"/>
            <p14:sldId id="632"/>
          </p14:sldIdLst>
        </p14:section>
        <p14:section name="std::list" id="{A5A4FF76-864E-465E-8579-A18D2B7F4F4C}">
          <p14:sldIdLst>
            <p14:sldId id="615"/>
            <p14:sldId id="441"/>
            <p14:sldId id="616"/>
            <p14:sldId id="633"/>
            <p14:sldId id="529"/>
          </p14:sldIdLst>
        </p14:section>
        <p14:section name="map и multimap" id="{9F71F121-E48B-4F2D-9F8F-CDCA3BB4CB03}">
          <p14:sldIdLst>
            <p14:sldId id="634"/>
            <p14:sldId id="445"/>
            <p14:sldId id="617"/>
            <p14:sldId id="654"/>
            <p14:sldId id="485"/>
            <p14:sldId id="484"/>
          </p14:sldIdLst>
        </p14:section>
        <p14:section name="unordered_map and multimap" id="{BF4F265B-3FF9-4CC4-8687-13CE4E0B4D7E}">
          <p14:sldIdLst>
            <p14:sldId id="609"/>
            <p14:sldId id="618"/>
            <p14:sldId id="463"/>
            <p14:sldId id="655"/>
          </p14:sldIdLst>
        </p14:section>
        <p14:section name="LRU Cache" id="{0428F48D-48FC-462E-8424-5EA3CEA07ED4}">
          <p14:sldIdLst>
            <p14:sldId id="653"/>
            <p14:sldId id="650"/>
            <p14:sldId id="651"/>
            <p14:sldId id="652"/>
          </p14:sldIdLst>
        </p14:section>
        <p14:section name="std::set и std::multiset" id="{4CBF051A-93D3-41B2-8912-7A35AA64292B}">
          <p14:sldIdLst>
            <p14:sldId id="612"/>
            <p14:sldId id="619"/>
            <p14:sldId id="448"/>
          </p14:sldIdLst>
        </p14:section>
        <p14:section name="Unordered_set и multiset" id="{E69A7D3D-8B3A-443D-9CF8-9548F8143991}">
          <p14:sldIdLst>
            <p14:sldId id="656"/>
            <p14:sldId id="657"/>
            <p14:sldId id="658"/>
            <p14:sldId id="659"/>
          </p14:sldIdLst>
        </p14:section>
        <p14:section name="std::function" id="{58ADE0C4-4BF3-452D-A20A-E6B3C155B7C0}">
          <p14:sldIdLst>
            <p14:sldId id="579"/>
            <p14:sldId id="620"/>
            <p14:sldId id="581"/>
            <p14:sldId id="582"/>
            <p14:sldId id="583"/>
            <p14:sldId id="635"/>
            <p14:sldId id="637"/>
            <p14:sldId id="638"/>
            <p14:sldId id="636"/>
            <p14:sldId id="639"/>
            <p14:sldId id="640"/>
            <p14:sldId id="584"/>
            <p14:sldId id="585"/>
            <p14:sldId id="586"/>
            <p14:sldId id="587"/>
            <p14:sldId id="588"/>
            <p14:sldId id="589"/>
            <p14:sldId id="590"/>
            <p14:sldId id="621"/>
            <p14:sldId id="591"/>
            <p14:sldId id="593"/>
            <p14:sldId id="594"/>
            <p14:sldId id="625"/>
            <p14:sldId id="595"/>
            <p14:sldId id="449"/>
            <p14:sldId id="530"/>
            <p14:sldId id="596"/>
            <p14:sldId id="531"/>
            <p14:sldId id="532"/>
            <p14:sldId id="613"/>
            <p14:sldId id="622"/>
            <p14:sldId id="605"/>
            <p14:sldId id="603"/>
            <p14:sldId id="604"/>
            <p14:sldId id="606"/>
            <p14:sldId id="597"/>
            <p14:sldId id="450"/>
            <p14:sldId id="660"/>
            <p14:sldId id="661"/>
            <p14:sldId id="451"/>
            <p14:sldId id="662"/>
            <p14:sldId id="663"/>
            <p14:sldId id="452"/>
            <p14:sldId id="668"/>
            <p14:sldId id="455"/>
            <p14:sldId id="454"/>
            <p14:sldId id="456"/>
            <p14:sldId id="545"/>
            <p14:sldId id="664"/>
            <p14:sldId id="600"/>
            <p14:sldId id="665"/>
            <p14:sldId id="543"/>
            <p14:sldId id="544"/>
            <p14:sldId id="641"/>
            <p14:sldId id="525"/>
            <p14:sldId id="279"/>
            <p14:sldId id="533"/>
            <p14:sldId id="534"/>
            <p14:sldId id="644"/>
            <p14:sldId id="666"/>
            <p14:sldId id="646"/>
            <p14:sldId id="667"/>
            <p14:sldId id="6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722E03-E50A-125D-914E-77E41B71B406}" name="Alexey Malov" initials="AM" userId="S::alexey.malov@ispring.com::84d975bf-7581-4e72-b098-b36a7b6fbb5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8814" autoAdjust="0"/>
  </p:normalViewPr>
  <p:slideViewPr>
    <p:cSldViewPr>
      <p:cViewPr>
        <p:scale>
          <a:sx n="75" d="100"/>
          <a:sy n="75" d="100"/>
        </p:scale>
        <p:origin x="1872" y="29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15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gs" Target="tags/tag1.xml"/><Relationship Id="rId135" Type="http://schemas.microsoft.com/office/2018/10/relationships/authors" Target="author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pPr/>
              <a:t>05.03.2026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Стандартная библиотека C++ — это часть стандарта языка. Она поставляется вместе с реализацией компилятора и предоставляет готовые решения для большинства типовых задач.</a:t>
            </a:r>
          </a:p>
          <a:p>
            <a:endParaRPr lang="ru-RU" dirty="0"/>
          </a:p>
          <a:p>
            <a:r>
              <a:rPr lang="ru-RU" dirty="0"/>
              <a:t>В неё входят контейнеры, алгоритмы, строки, средства многопоточности, управление памятью, ввод-вывод, работа со временем и числами.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Главная идея стандартной библиотеки — не писать заново то, что уже реализовано и хорошо протестировано.</a:t>
            </a:r>
          </a:p>
          <a:p>
            <a:endParaRPr lang="ru-RU" dirty="0"/>
          </a:p>
          <a:p>
            <a:r>
              <a:rPr lang="ru-RU" dirty="0"/>
              <a:t>В современном C++ большая часть прикладного кода строится вокруг стандартной библиотеки, а не вокруг «голого» языка.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940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Контейнеры — это классы стандартной библиотеки, предназначенные для хранения набора элементов одного типа.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Они реализованы как шаблоны, поэтому могут работать практически с любыми типами данных.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Контейнеры делятся на две основные группы: последовательные и ассоциативные.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Последовательные контейнеры хранят элементы в определённом порядке — как список или массив.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Ассоциативные контейнеры организуют элементы по ключу и обеспечивают быстрый поиск.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Контейнеры — это фундамент современной разработки на C++. В большинстве программ используются именно они, а не «сырые» массивы.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767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перечислены основные контейнеры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Последовательные контейнеры хранят элементы в определённом порядке. Самый часто используемый контейнер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который представляет собой динамический массив.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Ассоциативные контейнеры организуют элементы по ключу. Упорядоченные контейнеры поддерживают сортировку,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</a:t>
            </a:r>
            <a:r>
              <a:rPr lang="ru-RU" dirty="0"/>
              <a:t> версии работают на основе хеш-таблиц и обеспечивают более быстрый доступ в среднем случае.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Контейнеры-адаптеры — это специальные обёртки над другими контейнерами, предоставляющие ограниченный интерфейс, например стек или очередь.</a:t>
            </a:r>
          </a:p>
          <a:p>
            <a:r>
              <a:rPr lang="ru-RU" dirty="0"/>
              <a:t>В практической разработке чаще всего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503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класс стандартной библиотеки для работы со строками произвольной длины.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C-строк, память управляется автоматически: не нужно заботиться о выделении, освобождении и нулевом терминаторе.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самом деле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частный случай шаблона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basic_string</a:t>
            </a:r>
            <a:r>
              <a:rPr lang="ru-RU" dirty="0"/>
              <a:t>. Существуют и другие варианты,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wstring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 предоставляет богатый набор операций: конкатенацию, поиск, замену, сравнение и многое другое.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современном C++ для работы со строками почти всегда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массивы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273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упрощённая модель внутреннего устройства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Логически строка хранит три основных компонента:</a:t>
            </a:r>
            <a:br>
              <a:rPr lang="ru-RU" dirty="0"/>
            </a:br>
            <a:r>
              <a:rPr lang="ru-RU" dirty="0"/>
              <a:t>указатель на данные, текущий размер строки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 и выделенную ёмкость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— это количество символов, которые фактически содержатся в строке.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— это объём памяти, выделенный под строку. Он может быть больше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, чтобы можно было добавлять символы без </a:t>
            </a:r>
            <a:r>
              <a:rPr lang="ru-RU" dirty="0" err="1"/>
              <a:t>перевыделения</a:t>
            </a:r>
            <a:r>
              <a:rPr lang="ru-RU" dirty="0"/>
              <a:t> памяти.</a:t>
            </a:r>
          </a:p>
          <a:p>
            <a:r>
              <a:rPr lang="ru-RU" dirty="0"/>
              <a:t>Данные хранятся непрерывно в памяти, как в массиве символов, и обычно завершаются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чтобы обеспечить совместимость с C-строками.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это упрощённая модель. В реальных реализациях используется так называемая </a:t>
            </a:r>
            <a:r>
              <a:rPr lang="ru-RU" b="1" dirty="0"/>
              <a:t>Small </a:t>
            </a:r>
            <a:r>
              <a:rPr lang="ru-RU" b="1" dirty="0" err="1"/>
              <a:t>String</a:t>
            </a:r>
            <a:r>
              <a:rPr lang="ru-RU" b="1" dirty="0"/>
              <a:t> </a:t>
            </a:r>
            <a:r>
              <a:rPr lang="ru-RU" b="1" dirty="0" err="1"/>
              <a:t>Optimization</a:t>
            </a:r>
            <a:r>
              <a:rPr lang="ru-RU" dirty="0"/>
              <a:t>, при которой короткие строки могут храниться прямо внутри объекта без выделения динамической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3505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создавать разными способами.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умолчанию создаётся пустая строка — без символов.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Строку можно инициализировать строковым литералом,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этом случае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содержащий копию текста.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Суффикс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"s"</a:t>
            </a:r>
            <a:r>
              <a:rPr lang="ru-RU" dirty="0"/>
              <a:t> из пространства имён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literals</a:t>
            </a:r>
            <a:r>
              <a:rPr lang="ru-RU" dirty="0"/>
              <a:t> позволяет создать строку напрямую как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как C-строку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Можно создать строку из массива символов, указав длину — это полезно, если массив не содержит нулевого терминатора или его размер известен явно.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Также существует конструктор, создающий строку заданной длины, заполненную указанным символом,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(4, 'a')</a:t>
            </a:r>
            <a:r>
              <a:rPr lang="ru-RU" dirty="0"/>
              <a:t> создаёт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гибкий и удобный набор способов создания строк.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1902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строки есть два важных свойства: </a:t>
            </a:r>
            <a:r>
              <a:rPr lang="ru-RU" b="1" dirty="0"/>
              <a:t>размер</a:t>
            </a:r>
            <a:r>
              <a:rPr lang="ru-RU" dirty="0"/>
              <a:t> и </a:t>
            </a:r>
            <a:r>
              <a:rPr lang="ru-RU" b="1" dirty="0"/>
              <a:t>вместимость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length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возвращают текущее количество символов в строке. Эти функции эквивалентны.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показывает, сколько символов строка может хранить без </a:t>
            </a:r>
            <a:r>
              <a:rPr lang="ru-RU" dirty="0" err="1"/>
              <a:t>перевыделения</a:t>
            </a:r>
            <a:r>
              <a:rPr lang="ru-RU" dirty="0"/>
              <a:t> памяти. Обычно больше или равен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r>
              <a:rPr lang="ru-RU" dirty="0"/>
              <a:t>В примере после удаления части строки размер уменьшается, но вместимость остаётся прежней. Это сделано для эффективности — чтобы повторное добавление символов не требовало нового выделения памяти.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проверяет, пуста ли строка,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clear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удаляет все символы, но не обязан уменьшать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понимать: изменение размера строки не обязательно означает изменение объёма выделенной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2131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сравнивать с помощью обычных операторов сравнения: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&gt;=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Сравнение выполняется </a:t>
            </a:r>
            <a:r>
              <a:rPr lang="ru-RU" b="1" dirty="0"/>
              <a:t>лексикографически</a:t>
            </a:r>
            <a:r>
              <a:rPr lang="ru-RU" dirty="0"/>
              <a:t>, то есть посимвольно, по кодам символов.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bbb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потому что первый отличающийся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'b'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Сравнение чувствительно к регистру: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имеют разные коды, поэтому результат может отличаться от ожидаемого с точки зрения естественного языка.</a:t>
            </a:r>
          </a:p>
          <a:p>
            <a:endParaRPr lang="ru-RU" dirty="0"/>
          </a:p>
          <a:p>
            <a:r>
              <a:rPr lang="ru-RU" dirty="0"/>
              <a:t>Также строку можно сравнивать со строковым литералом. В примере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 == s</a:t>
            </a:r>
            <a:r>
              <a:rPr lang="ru-RU" dirty="0"/>
              <a:t> корректно работает благодаря перегруженным операторам сравнения.</a:t>
            </a:r>
          </a:p>
          <a:p>
            <a:endParaRPr lang="ru-RU" dirty="0"/>
          </a:p>
          <a:p>
            <a:r>
              <a:rPr lang="ru-RU" dirty="0"/>
              <a:t>Таким образом, строки в C++ ведут себя как полноценные объекты с естественным синтаксисом сравнения.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17777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объединять с помощью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примере создаётся новая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helloWorld</a:t>
            </a:r>
            <a:r>
              <a:rPr lang="ru-RU" dirty="0"/>
              <a:t>, которая содержит результат конкатенации трёх частей: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</a:t>
            </a:r>
            <a:r>
              <a:rPr lang="ru-RU" dirty="0"/>
              <a:t>, пробела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добавляет текст к существующей строке, изменяя её на месте.</a:t>
            </a:r>
          </a:p>
          <a:p>
            <a:r>
              <a:rPr lang="ru-RU" dirty="0"/>
              <a:t>Также существует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который выполняет ту же задачу — добавляет содержимое к строке. Его удобно использовать в цепочке вызовов.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помнить, что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 создаёт временные объекты, поэтому при интенсивной конкатенации в циклах предпочтительнее использовать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чтобы избежать лишних копирований.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9880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позволяет извлечь подстроку из строки.</a:t>
            </a:r>
          </a:p>
          <a:p>
            <a:r>
              <a:rPr lang="ru-RU" dirty="0"/>
              <a:t>Он принимает два параметра: начальную позицию и длину.</a:t>
            </a:r>
          </a:p>
          <a:p>
            <a:br>
              <a:rPr lang="ru-RU" dirty="0"/>
            </a:br>
            <a:r>
              <a:rPr lang="ru-RU" dirty="0"/>
              <a:t>Если длина не указана, подстрока берётся от указанной позиции до конца строки.</a:t>
            </a:r>
            <a:br>
              <a:rPr lang="ru-RU" dirty="0"/>
            </a:br>
            <a:r>
              <a:rPr lang="ru-RU" dirty="0"/>
              <a:t>Если не указать ни одного параметра, будет возвращена копия всей строки.</a:t>
            </a:r>
          </a:p>
          <a:p>
            <a:r>
              <a:rPr lang="ru-RU" dirty="0"/>
              <a:t>Важно помнить, что индексация начинается с нуля.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 имеет перегрузку, позволяющую добавить часть другой строки, указав позицию и длину. Это удобно, когда нужно работать с фрагментами текста без создания лишних временных строк.</a:t>
            </a:r>
          </a:p>
          <a:p>
            <a:endParaRPr lang="ru-RU" dirty="0"/>
          </a:p>
          <a:p>
            <a:r>
              <a:rPr lang="ru-RU" dirty="0"/>
              <a:t>Также стоит отметить,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возвращает </a:t>
            </a:r>
            <a:r>
              <a:rPr lang="ru-RU" b="1" dirty="0"/>
              <a:t>новый объект строки</a:t>
            </a:r>
            <a:r>
              <a:rPr lang="ru-RU" dirty="0"/>
              <a:t>, то есть выполняется копирование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48404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набор методов для поиска внутри строки.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ищет первое вхождение символа или подстроки и возвращает позицию. Если элемент не найден, возвращается специальное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find_first_of</a:t>
            </a:r>
            <a:r>
              <a:rPr lang="ru-RU" dirty="0"/>
              <a:t> ищет первый символ, принадлежащий заданному набору — в примере это первая гласная буква.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rfind</a:t>
            </a:r>
            <a:r>
              <a:rPr lang="ru-RU" dirty="0"/>
              <a:t> выполняет поиск с конца строки и возвращает позицию последнего вхождения.</a:t>
            </a:r>
          </a:p>
          <a:p>
            <a:endParaRPr lang="ru-RU" dirty="0"/>
          </a:p>
          <a:p>
            <a:r>
              <a:rPr lang="ru-RU" dirty="0"/>
              <a:t>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позволяет указать начальную позицию поиска. В примере поиск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'o'</a:t>
            </a:r>
            <a:r>
              <a:rPr lang="ru-RU" dirty="0"/>
              <a:t> начинается с позиции 5.</a:t>
            </a:r>
          </a:p>
          <a:p>
            <a:endParaRPr lang="ru-RU" dirty="0"/>
          </a:p>
          <a:p>
            <a:r>
              <a:rPr lang="ru-RU" dirty="0"/>
              <a:t>Важно помнить, что все функции поиска возвращают индекс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, поэтому результат нужно проверять перед использованием.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3413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 позволяет заменить часть строки другим фрагментом.</a:t>
            </a:r>
          </a:p>
          <a:p>
            <a:r>
              <a:rPr lang="ru-RU" dirty="0"/>
              <a:t>В первом примере первые пять символов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заменяются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Goodbye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Во втором примере используется перегрузка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, которая позволяет вставить подстроку другой строки —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 берётся фрагмент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и подставляется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символы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хранятся </a:t>
            </a:r>
            <a:r>
              <a:rPr lang="ru-RU" b="1" dirty="0"/>
              <a:t>непрерывно</a:t>
            </a:r>
            <a:r>
              <a:rPr lang="ru-RU" dirty="0"/>
              <a:t> в памяти.</a:t>
            </a:r>
            <a:br>
              <a:rPr lang="ru-RU" dirty="0"/>
            </a:br>
            <a:r>
              <a:rPr lang="ru-RU" dirty="0"/>
              <a:t>Если длина заменяемого фрагмента и длина строки-заменителя различаются, оставшиеся символы будут сдвинуты влево или вправо.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коротких строк это несущественно, но для очень длинных строк такие операции могут быть дорогими по времени, особенно если выполнять их многократно.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при большом количестве замен часто эффективнее создавать новую строку по частям — добавляя нужные фрагменты — вместо того чтобы многократно модифицировать одну и ту же строку.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32631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это лёгкий объект, представляющий строку без владения данными.</a:t>
            </a:r>
          </a:p>
          <a:p>
            <a:r>
              <a:rPr lang="ru-RU" dirty="0"/>
              <a:t>Он не выделяет память и не копирует символы. Фактически внутри хранится указатель на начало данных и длина.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предназначен только для чтения — через него нельзя изменять символы.</a:t>
            </a:r>
          </a:p>
          <a:p>
            <a:r>
              <a:rPr lang="ru-RU" dirty="0"/>
              <a:t>Главное правило: объект, на который ссылается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должен жить дольше самого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исходная строка уничтожена или изменена таким образом, что память перераспределена, использовать старый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нельзя.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особенно полезен для передачи строк в функции без копирования.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18869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 упрощённое внутреннее устройство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не хранит строку целиком.</a:t>
            </a:r>
            <a:br>
              <a:rPr lang="ru-RU" dirty="0"/>
            </a:br>
            <a:r>
              <a:rPr lang="ru-RU" dirty="0"/>
              <a:t>Он содержит всего два поля: указатель на данные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) и размер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).</a:t>
            </a:r>
          </a:p>
          <a:p>
            <a:r>
              <a:rPr lang="ru-RU" dirty="0"/>
              <a:t>В примере показана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WORLD"</a:t>
            </a:r>
            <a:r>
              <a:rPr lang="ru-RU" dirty="0"/>
              <a:t>, и два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каждый из которых ссылается на свою часть этой строки — один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, второй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"WORLD"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Сами символы не копируются. Оба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просто указывают на разные участки одной и той же памяти.</a:t>
            </a:r>
          </a:p>
          <a:p>
            <a:r>
              <a:rPr lang="ru-RU" dirty="0"/>
              <a:t>Важно понимать: 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 C-строк,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</a:t>
            </a:r>
            <a:r>
              <a:rPr lang="ru-RU" b="1" dirty="0"/>
              <a:t>не гарантирует наличие завершающего символа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'\0’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 хранит длину явно, поэтому конец определяется значением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, а не нулевым символом.</a:t>
            </a:r>
          </a:p>
          <a:p>
            <a:r>
              <a:rPr lang="ru-RU" dirty="0"/>
              <a:t>Это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лёгким и эффективным, но требует аккуратности</a:t>
            </a:r>
            <a:r>
              <a:rPr lang="en-US" dirty="0"/>
              <a:t>:</a:t>
            </a:r>
            <a:r>
              <a:rPr lang="ru-RU" dirty="0"/>
              <a:t> передавать </a:t>
            </a:r>
            <a:r>
              <a:rPr lang="en-US" dirty="0" err="1"/>
              <a:t>string_view</a:t>
            </a:r>
            <a:r>
              <a:rPr lang="en-US" dirty="0"/>
              <a:t> </a:t>
            </a:r>
            <a:r>
              <a:rPr lang="ru-RU" dirty="0"/>
              <a:t>в функции, ожидающие C-строку,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21394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можно создать из любого непрерывного участка памяти, содержащего символы.</a:t>
            </a:r>
          </a:p>
          <a:p>
            <a:endParaRPr lang="ru-RU" dirty="0"/>
          </a:p>
          <a:p>
            <a:r>
              <a:rPr lang="ru-RU" dirty="0"/>
              <a:t>В первом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</a:t>
            </a:r>
            <a:r>
              <a:rPr lang="ru-RU" dirty="0"/>
              <a:t> создаётся из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ru-RU" dirty="0"/>
              <a:t>, при этом указывается длина.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ru-RU" dirty="0"/>
              <a:t> не копирует данные, а просто хранит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ru-RU" dirty="0"/>
              <a:t> и размер 5.</a:t>
            </a:r>
          </a:p>
          <a:p>
            <a:endParaRPr lang="ru-RU" dirty="0"/>
          </a:p>
          <a:p>
            <a:r>
              <a:rPr lang="ru-RU" dirty="0"/>
              <a:t>Во втором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создаётся из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 В этом случае он ссылается на те же данные, что и строка — это видно по совпадению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Также можно создать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вручную, указав указатель и длину, например взять только первые четыре символа строки.</a:t>
            </a:r>
          </a:p>
          <a:p>
            <a:endParaRPr lang="ru-RU" dirty="0"/>
          </a:p>
          <a:p>
            <a:r>
              <a:rPr lang="ru-RU" dirty="0"/>
              <a:t>Главная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это лёгкое представление уже существующих данных. Он не владеет памятью и не управляет её временем жизни.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7883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типичное применение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разбор строки без копирования.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У нас есть строка URL. Вместо того чтобы создавать новые объекты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для схемы и домена, мы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которые просто ссылаются на соответствующие участки исходной строки.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</a:t>
            </a:r>
            <a:r>
              <a:rPr lang="ru-RU" dirty="0"/>
              <a:t> указывает на первые четыре символа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domain</a:t>
            </a:r>
            <a:r>
              <a:rPr lang="ru-RU" dirty="0"/>
              <a:t> указывает на часть строки, начиная с позиции 7, длиной 19 символов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"en.cppreference.com"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Ни одна из этих операций не выделяет память и не копирует символы. Мы просто создаём «окна» поверх уже существующей строки.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особенно полезным при парсинге текста, разборе протоколов, логов и других строк большого размера.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помнить: исходная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url</a:t>
            </a:r>
            <a:r>
              <a:rPr lang="ru-RU" dirty="0"/>
              <a:t> должна существовать всё время, пока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domain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57703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это контейнер фиксированного размера, представляющий собой безопасную и удобную альтернативу обычным C-массивам.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C-массива,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полноценный объект. Он знает свой размер, поддерживает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может использоваться с алгоритмами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Поскольку это обычный объект, его можно передавать и возвращать из функции по значению, помещать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optional</a:t>
            </a:r>
            <a:r>
              <a:rPr lang="ru-RU" dirty="0"/>
              <a:t>, хранить в других контейнерах.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85078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 C-массив выглядят похоже, но ведут себя принципиально по-разному.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C-массив — это просто участок памяти. Он не знает своего размера и при передаче в функцию «распадается» в указатель.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это полноценный объект. Он хранит размер, поддерживает методы, копируется целиком и корректно передаётся в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поддерживает стандартные алгоритмы и операторы сравнения.</a:t>
            </a:r>
          </a:p>
          <a:p>
            <a:r>
              <a:rPr lang="ru-RU" dirty="0"/>
              <a:t>В современном C++ для массивов фиксированного размера рекомендуется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а не C-массивы.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38431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как и у других контейнеров стандартной библиотеки, есть два способа доступа к элементам.</a:t>
            </a:r>
          </a:p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 не выполняет проверку границ. Если индекс выходит за пределы массива, поведение будет неопределённым.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выполняет проверку индекса и, если он некорректен, выбрасывает исключение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out_of_range</a:t>
            </a:r>
            <a:r>
              <a:rPr lang="ru-RU" dirty="0"/>
              <a:t>.</a:t>
            </a:r>
          </a:p>
          <a:p>
            <a:r>
              <a:rPr lang="ru-RU" dirty="0"/>
              <a:t>В этом примере пользователь вводит индекс. Если он выходит за пределы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fibNumbers</a:t>
            </a:r>
            <a:r>
              <a:rPr lang="ru-RU" dirty="0"/>
              <a:t>,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генерирует исключение, которое перехватывается в блоке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более безопасный способ доступа к элементам, особенно когда индекс получен из внешнего ввода или не гарантированно корректен.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5620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используется для представления матрицы 3×3.</a:t>
            </a:r>
          </a:p>
          <a:p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</a:t>
            </a:r>
            <a:r>
              <a:rPr lang="ru-RU" dirty="0"/>
              <a:t> объявлен как вложенный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: это массив из трёх строк, каждая из которых сама является массивом из трёх элементов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Матрица инициализируется значениями по умолчанию — фигурные скобки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 заполняют все элементы нулями.</a:t>
            </a:r>
          </a:p>
          <a:p>
            <a:r>
              <a:rPr lang="ru-RU" dirty="0"/>
              <a:t>Затем устанавливаются элементы главной диагонали, и получается единичная матрица.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PrintMatrix</a:t>
            </a:r>
            <a:r>
              <a:rPr lang="ru-RU" dirty="0"/>
              <a:t> принимает матрицу по константной ссылке, чтобы избежать копирования, и использует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для удобного обхода элементов.</a:t>
            </a:r>
          </a:p>
          <a:p>
            <a:endParaRPr lang="ru-RU" dirty="0"/>
          </a:p>
          <a:p>
            <a:r>
              <a:rPr lang="ru-RU" dirty="0"/>
              <a:t>Этот пример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можно удобно использовать для структурированных данных фиксированного размера, сохраняя при этом совместимость со стандартными алгоритмами и безопасный интерфейс контейнера.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12640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to_array</a:t>
            </a:r>
            <a:r>
              <a:rPr lang="ru-RU" dirty="0"/>
              <a:t> — функция C++20, которая удобна, когда у нас есть </a:t>
            </a:r>
            <a:r>
              <a:rPr lang="ru-RU" b="1" dirty="0"/>
              <a:t>C-массив</a:t>
            </a:r>
            <a:r>
              <a:rPr lang="ru-RU" dirty="0"/>
              <a:t> или строковый литерал, и мы хотим получить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с автоматически выведенными типом и размером.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to_array</a:t>
            </a:r>
            <a:r>
              <a:rPr lang="ru-RU" dirty="0"/>
              <a:t> не предназначен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он принимает только массивы вида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T[N]</a:t>
            </a:r>
            <a:r>
              <a:rPr lang="ru-RU" dirty="0"/>
              <a:t>. Если у нас уже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то для получения копии достаточно обычного копирования или присваивания.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Отдельный нюанс: при создании из строкового литерала в массив попадает и завершающий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поэтому размер будет на один больше числа видимых символов.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94361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— это динамический массив стандартной библиотеки и один из самых часто используемых контейнеров в C++.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его размер может изменяться во время выполнения программы.</a:t>
            </a:r>
          </a:p>
          <a:p>
            <a:endParaRPr lang="ru-RU" dirty="0"/>
          </a:p>
          <a:p>
            <a:r>
              <a:rPr lang="ru-RU" dirty="0"/>
              <a:t>Элементы хранятся непрерывно в памяти, как в обычном массиве, поэтому доступ по индексу выполняется быстро.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автоматически управляет памятью: при необходимости он увеличивает вместимость и перераспределяет данные.</a:t>
            </a:r>
          </a:p>
          <a:p>
            <a:endParaRPr lang="ru-RU" dirty="0"/>
          </a:p>
          <a:p>
            <a:r>
              <a:rPr lang="ru-RU" dirty="0"/>
              <a:t>В современной практике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используется гораздо чаще, чем C-массивы или даже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когда размер не известен заранее.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71611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упрощённая модель внутреннего устройства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Логически вектор хранит три основных параметра: указатель на данные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), текущий размер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 и вместимость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— это количество элементов, которые фактически находятся в контейнере.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— это количество элементов, для которых уже выделена память.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На рисунке видно, что размер равен 4, а вместимость — 11. Это означает, что ещё можно добавить элементы без </a:t>
            </a:r>
            <a:r>
              <a:rPr lang="ru-RU" dirty="0" err="1"/>
              <a:t>перевыделения</a:t>
            </a:r>
            <a:r>
              <a:rPr lang="ru-RU" dirty="0"/>
              <a:t> памяти.</a:t>
            </a:r>
          </a:p>
          <a:p>
            <a:r>
              <a:rPr lang="ru-RU" dirty="0"/>
              <a:t>Элементы хранятся </a:t>
            </a:r>
            <a:r>
              <a:rPr lang="ru-RU" b="1" dirty="0"/>
              <a:t>непрерывно в памяти</a:t>
            </a:r>
            <a:r>
              <a:rPr lang="ru-RU" dirty="0"/>
              <a:t>, как в обычном массиве. Благодаря этому обеспечивается быстрый доступ по индексу.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достигает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, при добавлении нового элемента вектор выделяет новый, больший блок памяти, копирует или перемещает туда элементы и освобождает старый блок.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добавление элементов в конец обычно эффективно, но иногда может быть дорогой операцией из-за перераспределения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4880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типичное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</a:p>
          <a:p>
            <a:r>
              <a:rPr lang="ru-RU" dirty="0"/>
              <a:t>Сначала создаётся пустой вектор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</a:t>
            </a:r>
            <a:r>
              <a:rPr lang="ru-RU" dirty="0"/>
              <a:t>. Затем в цикле читаются числа из стандартного ввода и добавляются в конец контейнера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. Размер вектора автоматически увеличивается по мере добавления элементов.</a:t>
            </a:r>
          </a:p>
          <a:p>
            <a:endParaRPr lang="ru-RU" dirty="0"/>
          </a:p>
          <a:p>
            <a:r>
              <a:rPr lang="ru-RU" dirty="0"/>
              <a:t>После ввода выводится количество считанных чисел —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текущее количество элементов.</a:t>
            </a:r>
          </a:p>
          <a:p>
            <a:r>
              <a:rPr lang="ru-RU" dirty="0"/>
              <a:t>Далее массив разворачивается вручную: элементы попарно меняются местами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. Обратите внимание на 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- i - 1</a:t>
            </a:r>
            <a:r>
              <a:rPr lang="ru-RU" dirty="0"/>
              <a:t>, которое даёт индекс симметричного элемента с конца.</a:t>
            </a:r>
          </a:p>
          <a:p>
            <a:endParaRPr lang="ru-RU" dirty="0"/>
          </a:p>
          <a:p>
            <a:r>
              <a:rPr lang="ru-RU" dirty="0"/>
              <a:t>Однако для такой задачи в стандартной библиотеке уже есть готовый алгоритм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reverse</a:t>
            </a:r>
            <a:r>
              <a:rPr lang="ru-RU" dirty="0"/>
              <a:t>, который работает почти со всеми контейнерами, поддерживающими итераторы.</a:t>
            </a:r>
          </a:p>
          <a:p>
            <a:endParaRPr lang="ru-RU" dirty="0"/>
          </a:p>
          <a:p>
            <a:r>
              <a:rPr lang="ru-RU" dirty="0"/>
              <a:t>Этот пример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удобно использовать для хранения произвольного количества элементов и обработки их стандартными алгоритмами.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298613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используется для хранения объектов пользовательского типа —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Вектор инициализируется списком значений. Это удобно и читаемо: элементы создаются прямо в фигурных скобках.</a:t>
            </a:r>
          </a:p>
          <a:p>
            <a:r>
              <a:rPr lang="ru-RU" dirty="0"/>
              <a:t>В первом цикле элементы перебираются по ссылке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</a:t>
            </a:r>
            <a:r>
              <a:rPr lang="ru-RU" dirty="0"/>
              <a:t>. Это позволяет избежать копирования объектов и работать напрямую с элементами контейнера.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Далее вычисляется центр масс точек: суммируются координаты всех элементов, после чего делится на количество точек, которое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points.size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может хранить не только простые типы, но и структуры и классы, и является удобным контейнером для работы с наборами объектов.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7684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вектору не хватает памяти при добавлении нового элемента, он автоматически увеличивает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. При этом выделяется новый блок памяти, элементы переносятся туда, а старый блок освобождается.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Добавление элемента в конец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) имеет </a:t>
            </a:r>
            <a:r>
              <a:rPr lang="ru-RU" b="1" dirty="0"/>
              <a:t>амортизированную сложность O(1)</a:t>
            </a:r>
            <a:r>
              <a:rPr lang="ru-RU" dirty="0"/>
              <a:t>. Это означает, что большинство операций быстрые, но иногда происходит дорогое перераспределение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 позволяет заранее выделить память под заданное количество элементов, не изменяя текущий размер вектора.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особенно полезно, когда заранее известно примерное количество элементов. В таком случае можно избежать множества перераспределений памяти и существенно ускорить выполнение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 изменяет только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, но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 Элементы по-прежнему добавляются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87606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Очень важное свойство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— </a:t>
            </a:r>
            <a:r>
              <a:rPr lang="ru-RU" dirty="0" err="1"/>
              <a:t>инвалидация</a:t>
            </a:r>
            <a:r>
              <a:rPr lang="ru-RU" dirty="0"/>
              <a:t> ссылок и итераторов.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вектор перераспределяет память, например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,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исчерпана, то </a:t>
            </a:r>
            <a:r>
              <a:rPr lang="ru-RU" b="1" dirty="0"/>
              <a:t>все</a:t>
            </a:r>
            <a:r>
              <a:rPr lang="ru-RU" dirty="0"/>
              <a:t> ранее полученные указатели, ссылки и итераторы становятся недействительными.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происходит потому, что элементы перемещаются в новый участок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перераспределения не произошло, ситуация мягче: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 </a:t>
            </a:r>
            <a:r>
              <a:rPr lang="ru-RU" dirty="0" err="1"/>
              <a:t>инвалидирует</a:t>
            </a:r>
            <a:r>
              <a:rPr lang="ru-RU" dirty="0"/>
              <a:t> только итератор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erase</a:t>
            </a:r>
            <a:r>
              <a:rPr lang="ru-RU" dirty="0"/>
              <a:t> — итератор на удалённый элемент и все последующие.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Использование </a:t>
            </a:r>
            <a:r>
              <a:rPr lang="ru-RU" dirty="0" err="1"/>
              <a:t>инвалидированных</a:t>
            </a:r>
            <a:r>
              <a:rPr lang="ru-RU" dirty="0"/>
              <a:t> ссылок и итераторов приводит к неопределённому поведению — программа может работать некорректно или </a:t>
            </a:r>
            <a:r>
              <a:rPr lang="ru-RU" dirty="0" err="1"/>
              <a:t>аварийно</a:t>
            </a:r>
            <a:r>
              <a:rPr lang="ru-RU" dirty="0"/>
              <a:t> завершиться.</a:t>
            </a:r>
          </a:p>
          <a:p>
            <a:endParaRPr lang="ru-RU" dirty="0"/>
          </a:p>
          <a:p>
            <a:r>
              <a:rPr lang="ru-RU" dirty="0"/>
              <a:t>Поэтому при работе с вектором нужно быть внимательным к операциям, которые могут изменить его вместимость.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04720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мы сохраняем ссылки и итераторы на элементы вектора.</a:t>
            </a:r>
          </a:p>
          <a:p>
            <a:r>
              <a:rPr lang="ru-RU" dirty="0"/>
              <a:t>Сначала вектор заполняется значениями, затем получаются ссылки на первый, средний и последний элементы, а также несколько итераторов.</a:t>
            </a:r>
          </a:p>
          <a:p>
            <a:r>
              <a:rPr lang="ru-RU" dirty="0"/>
              <a:t>После этого выполняется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. Если при добавлении элемента происходит перераспределение памяти, вектор выделяет новый блок памяти и переносит туда все элементы.</a:t>
            </a:r>
          </a:p>
          <a:p>
            <a:r>
              <a:rPr lang="ru-RU" dirty="0"/>
              <a:t>В результате </a:t>
            </a:r>
            <a:r>
              <a:rPr lang="ru-RU" b="1" dirty="0"/>
              <a:t>все ранее полученные ссылки и итераторы становятся недействительными</a:t>
            </a:r>
            <a:r>
              <a:rPr lang="ru-RU" dirty="0"/>
              <a:t>. Они указывают на старый участок памяти, который уже не принадлежит вектору.</a:t>
            </a:r>
          </a:p>
          <a:p>
            <a:r>
              <a:rPr lang="ru-RU" dirty="0"/>
              <a:t>Использовать такие ссылки и итераторы нельзя — это приведёт к неопределённому поведению.</a:t>
            </a:r>
          </a:p>
          <a:p>
            <a:r>
              <a:rPr lang="ru-RU" dirty="0"/>
              <a:t>Главный вывод: если вы сохраняете ссылки или итераторы на элементы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нужно быть уверенным, что после этого не произойдёт операций, способных вызвать перераспределение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611075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— это двусторонняя очередь, которая по интерфейсу похожа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но имеет важные отличия.</a:t>
            </a:r>
          </a:p>
          <a:p>
            <a:endParaRPr lang="ru-RU" dirty="0"/>
          </a:p>
          <a:p>
            <a:r>
              <a:rPr lang="ru-RU" dirty="0"/>
              <a:t>Главное преимущество — эффективная вставка и удаление элементов как в конце, так и в начале контейнера.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вставка в начало требует сдвига всех элементов, а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эта операция выполняется эффективно.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элементы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не хранятся в одном непрерывном блоке памяти. Обычно используется набор блоков фиксированного размера. Поэтому нельзя, например, получить один непрерывный массив данных.</a:t>
            </a:r>
          </a:p>
          <a:p>
            <a:r>
              <a:rPr lang="ru-RU" dirty="0"/>
              <a:t>При этом доступ по индексу остаётся константным по времени — так же быстро, как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Добавление элементов в начало или конец не </a:t>
            </a:r>
            <a:r>
              <a:rPr lang="ru-RU" dirty="0" err="1"/>
              <a:t>инвалидирует</a:t>
            </a:r>
            <a:r>
              <a:rPr lang="ru-RU" dirty="0"/>
              <a:t> ссылки и итераторы на существующие элементы, что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удобным в сценариях с частыми вставками с обеих сторон.</a:t>
            </a:r>
          </a:p>
          <a:p>
            <a:endParaRPr lang="ru-RU" dirty="0"/>
          </a:p>
          <a:p>
            <a:r>
              <a:rPr lang="ru-RU" dirty="0"/>
              <a:t>Для использования контейнера нужно подключить заголовочный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837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слайде показан один из возможных вариантов контейнера </a:t>
            </a:r>
            <a:r>
              <a:rPr lang="en-US" dirty="0"/>
              <a:t>deque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Элементы в нём хранятся не в одном, а в нескольких блоках фиксированного размера, указатели на которых хранятся в отдельном массиве </a:t>
            </a:r>
            <a:r>
              <a:rPr lang="en-US" dirty="0" err="1"/>
              <a:t>m_map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вставке в конец очереди блоки заполняются слева направо, а при вставке в начало – справа налево.</a:t>
            </a:r>
          </a:p>
          <a:p>
            <a:endParaRPr lang="ru-RU" dirty="0"/>
          </a:p>
          <a:p>
            <a:r>
              <a:rPr lang="ru-RU" dirty="0"/>
              <a:t>Поле </a:t>
            </a:r>
            <a:r>
              <a:rPr lang="en-US" dirty="0" err="1"/>
              <a:t>m_offset</a:t>
            </a:r>
            <a:r>
              <a:rPr lang="en-US" dirty="0"/>
              <a:t> </a:t>
            </a:r>
            <a:r>
              <a:rPr lang="ru-RU" dirty="0"/>
              <a:t>хранит смещение до первого элемента очереди, а поле </a:t>
            </a:r>
            <a:r>
              <a:rPr lang="en-US" dirty="0" err="1"/>
              <a:t>m_size</a:t>
            </a:r>
            <a:r>
              <a:rPr lang="en-US" dirty="0"/>
              <a:t> – </a:t>
            </a:r>
            <a:r>
              <a:rPr lang="ru-RU" dirty="0"/>
              <a:t>количество элементов в ней.</a:t>
            </a:r>
          </a:p>
          <a:p>
            <a:endParaRPr lang="ru-RU" dirty="0"/>
          </a:p>
          <a:p>
            <a:r>
              <a:rPr lang="ru-RU" dirty="0"/>
              <a:t>Для ускорения доступа к элементам размер</a:t>
            </a:r>
            <a:r>
              <a:rPr lang="en-US" dirty="0"/>
              <a:t> </a:t>
            </a:r>
            <a:r>
              <a:rPr lang="ru-RU" dirty="0"/>
              <a:t>блока и их количество — степень двойки. Это позволяет заменить дорогостоящие операции деления и взятия остатка на более быстрые операции над битами.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8032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Указатели на блоки могу храниться в закольцованном виде. Это ускоряет работу в сценариях, сочетающих вставку элементов в один конец очереди с удалением из другого конца. На слайде показана очередь, в которой элементы располагаются, начиная с блока 1, а заканчиваются внутри блока с номером 0.</a:t>
            </a:r>
          </a:p>
          <a:p>
            <a:endParaRPr lang="ru-RU" dirty="0"/>
          </a:p>
          <a:p>
            <a:r>
              <a:rPr lang="ru-RU" dirty="0"/>
              <a:t>Структура данных, используемая в контейнере </a:t>
            </a:r>
            <a:r>
              <a:rPr lang="en-US" dirty="0"/>
              <a:t>deque</a:t>
            </a:r>
            <a:r>
              <a:rPr lang="ru-RU" dirty="0"/>
              <a:t>, позволяет за константное время обратиться к элементу по его индексу.</a:t>
            </a:r>
          </a:p>
          <a:p>
            <a:endParaRPr lang="ru-RU" dirty="0"/>
          </a:p>
          <a:p>
            <a:r>
              <a:rPr lang="ru-RU" dirty="0"/>
              <a:t>Сначала нужно определить смещение </a:t>
            </a:r>
            <a:r>
              <a:rPr lang="en-US" dirty="0"/>
              <a:t>off </a:t>
            </a:r>
            <a:r>
              <a:rPr lang="ru-RU" dirty="0"/>
              <a:t>относительно самого первого элемента. Для этого индекс элемента складывается со смещением до начального элемента очереди. В нашем случае это 7 + 7 = 14.</a:t>
            </a:r>
          </a:p>
          <a:p>
            <a:endParaRPr lang="ru-RU" dirty="0"/>
          </a:p>
          <a:p>
            <a:r>
              <a:rPr lang="ru-RU" dirty="0"/>
              <a:t>Затем нужно определить номер блока, в котором располагается искомый элемент. Для этого смещение делится на размер блока, а затем, чтобы поддержать </a:t>
            </a:r>
            <a:r>
              <a:rPr lang="ru-RU" dirty="0" err="1"/>
              <a:t>закольцованность</a:t>
            </a:r>
            <a:r>
              <a:rPr lang="ru-RU" dirty="0"/>
              <a:t>, находится остаток от деления на количество блоков. Здесь нас выручает то, что размер количество блоков </a:t>
            </a:r>
            <a:r>
              <a:rPr lang="en-US" dirty="0" err="1"/>
              <a:t>m_mapSize</a:t>
            </a:r>
            <a:r>
              <a:rPr lang="en-US" dirty="0"/>
              <a:t> </a:t>
            </a:r>
            <a:r>
              <a:rPr lang="ru-RU" dirty="0"/>
              <a:t>– степень двойки. Это позволяет заменить нахождение остатка более дешёвой операцией </a:t>
            </a:r>
            <a:r>
              <a:rPr lang="en-US" dirty="0"/>
              <a:t>AND. </a:t>
            </a:r>
            <a:r>
              <a:rPr lang="ru-RU" dirty="0"/>
              <a:t>Деление на </a:t>
            </a:r>
            <a:r>
              <a:rPr lang="en-US" dirty="0" err="1"/>
              <a:t>m_blockSize</a:t>
            </a:r>
            <a:r>
              <a:rPr lang="en-US" dirty="0"/>
              <a:t> </a:t>
            </a:r>
            <a:r>
              <a:rPr lang="ru-RU" dirty="0"/>
              <a:t>можно заменить более быстрой операцией сдвига, если размер блока будет степенью двойки. В нашем случае номер блока будет равен </a:t>
            </a:r>
            <a:r>
              <a:rPr lang="en-US" dirty="0"/>
              <a:t>(</a:t>
            </a:r>
            <a:r>
              <a:rPr lang="ru-RU" dirty="0"/>
              <a:t>14 </a:t>
            </a:r>
            <a:r>
              <a:rPr lang="en-US" dirty="0"/>
              <a:t>/ 4) &amp; 3 = 3.</a:t>
            </a:r>
            <a:endParaRPr lang="ru-RU" dirty="0"/>
          </a:p>
          <a:p>
            <a:r>
              <a:rPr lang="ru-RU" dirty="0"/>
              <a:t>Смещение внутри блока </a:t>
            </a:r>
            <a:r>
              <a:rPr lang="en-US" dirty="0" err="1"/>
              <a:t>blockOff</a:t>
            </a:r>
            <a:r>
              <a:rPr lang="ru-RU" dirty="0"/>
              <a:t> находится через остаток от деления смещения на</a:t>
            </a:r>
            <a:r>
              <a:rPr lang="en-US" dirty="0"/>
              <a:t> </a:t>
            </a:r>
            <a:r>
              <a:rPr lang="ru-RU" dirty="0"/>
              <a:t>размер блока и равно 2.</a:t>
            </a:r>
          </a:p>
          <a:p>
            <a:endParaRPr lang="ru-RU" dirty="0"/>
          </a:p>
          <a:p>
            <a:r>
              <a:rPr lang="ru-RU" dirty="0"/>
              <a:t>Затем остаётся обратиться к элементу нужного блока, используя номер блока и смещение.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2667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6126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— это контейнер, реализованный как двусвязный список.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, у него нет произвольного доступа по индексу. Чтобы добраться до элемента, нужно последовательно пройти по списку.</a:t>
            </a:r>
          </a:p>
          <a:p>
            <a:endParaRPr lang="ru-RU" dirty="0"/>
          </a:p>
          <a:p>
            <a:r>
              <a:rPr lang="ru-RU" dirty="0"/>
              <a:t>Главное преимущество — вставка и удаление элементов по итератору выполняются за постоянное время, без сдвига остальных элементов.</a:t>
            </a:r>
          </a:p>
          <a:p>
            <a:endParaRPr lang="ru-RU" dirty="0"/>
          </a:p>
          <a:p>
            <a:r>
              <a:rPr lang="ru-RU" dirty="0"/>
              <a:t>Кроме того, итераторы и ссылки на элементы остаются валидными при добавлении или удалении других элементов.</a:t>
            </a:r>
          </a:p>
          <a:p>
            <a:endParaRPr lang="ru-RU" dirty="0"/>
          </a:p>
          <a:p>
            <a:r>
              <a:rPr lang="ru-RU" dirty="0"/>
              <a:t>Однако из-за отсутствия непрерывного хранения и плохой кэш-локальности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в большинстве случаев работает медленнее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 Поэтому его используют только тогда, когда действительно важны частые вставки и удаления в середине контейнера.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4776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возможная внутренняя реализация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.</a:t>
            </a:r>
          </a:p>
          <a:p>
            <a:r>
              <a:rPr lang="ru-RU" dirty="0"/>
              <a:t>Каждый элемент списка — это отдельный узел, содержащий данные и два указателя: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ru-RU" dirty="0"/>
              <a:t>, которые связывают его с соседними элементами.</a:t>
            </a:r>
          </a:p>
          <a:p>
            <a:endParaRPr lang="ru-RU" dirty="0"/>
          </a:p>
          <a:p>
            <a:r>
              <a:rPr lang="ru-RU" dirty="0"/>
              <a:t>Контейнер хранит указатели на начало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dirty="0"/>
              <a:t>) и конец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dirty="0"/>
              <a:t>). Часто используется специальный фиктивный узел — </a:t>
            </a:r>
            <a:r>
              <a:rPr lang="ru-RU" dirty="0" err="1"/>
              <a:t>sentinel</a:t>
            </a:r>
            <a:r>
              <a:rPr lang="ru-RU" dirty="0"/>
              <a:t>, который упрощает реализацию и позволяет избежать проверки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 при вставке и удалении.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элементы не хранятся непрерывно в памяти — каждый узел выделяется отдельно. Именно поэтому вставка и удаление выполняются быстро: достаточно изменить несколько указателей.</a:t>
            </a:r>
          </a:p>
          <a:p>
            <a:endParaRPr lang="ru-RU" dirty="0"/>
          </a:p>
          <a:p>
            <a:r>
              <a:rPr lang="ru-RU" dirty="0"/>
              <a:t>Однако из-за разрозненного расположения в памяти ухудшается кэш-локальность, поэтому при простом последовательном обходе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часто работает медленнее, чем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слайд помогает понять, почему операции вставки в середину списка быстрые, а произвольный доступ по индексу отсутствует.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73788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используется как список задач.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Мы создаём список строк и выводим его содержимое.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 удаляет все элементы, равные заданному значению. В двусвязном списке такая операция эффективна — не требуется сдвигать остальные элементы, как это было бы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демонстрирует,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удобен, когда нужно часто удалять элементы из середины контейнера.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доступ к элементам осуществляется последовательно через итераторы — произвольного доступа по индексу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нет.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587475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графике сравнивается вставка одного миллиона элементов в конец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Лучший результат показывает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с предварительным вызовом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. Поскольку память выделяется заранее, перераспределения не происходят, и вставка выполняется максимально быстро.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без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 работает медленнее — из-за периодических </a:t>
            </a:r>
            <a:r>
              <a:rPr lang="ru-RU" dirty="0" err="1"/>
              <a:t>перевыделений</a:t>
            </a:r>
            <a:r>
              <a:rPr lang="ru-RU" dirty="0"/>
              <a:t> памяти и копирования элементов.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немного медленнее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но всё ещё показывает хорошую производительность.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значительно проигрывает всем остальным. Несмотря на то что вставка формально выполняется за O(1), каждый элемент выделяется отдельно в памяти, что приводит к большим накладным расходам и плохой кэш-локальности.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Главный вывод: в большинстве случаев для последовательного добавления элементов лучше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а при известном размере — обязательно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1194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 — это ассоциативные контейнеры, которые хранят пары «ключ–значение».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элементы здесь автоматически упорядочены по ключу. Обычно контейнер реализован на основе сбалансированного бинарного дерева.</a:t>
            </a:r>
          </a:p>
          <a:p>
            <a:r>
              <a:rPr lang="ru-RU" dirty="0"/>
              <a:t>Все основные операции — поиск, вставка, удаление — выполняются за O(</a:t>
            </a:r>
            <a:r>
              <a:rPr lang="ru-RU" dirty="0" err="1"/>
              <a:t>log</a:t>
            </a:r>
            <a:r>
              <a:rPr lang="ru-RU" dirty="0"/>
              <a:t> n).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Разница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 в том, что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ключи должны быть уникальными,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 допускает несколько элементов с одинаковым ключом.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работы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необходимо, чтобы для типа ключа был определён строгий порядок. По умолчанию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но можно задать и свой компаратор.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00571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Красно-чёрное дерево — это разновидность самобалансирующегося бинарного дерева поиска.</a:t>
            </a:r>
          </a:p>
          <a:p>
            <a:endParaRPr lang="ru-RU" dirty="0"/>
          </a:p>
          <a:p>
            <a:r>
              <a:rPr lang="ru-RU" dirty="0"/>
              <a:t>Каждый узел дерева имеет цвет — красный или чёрный — и структура поддерживает ряд строгих правил, которые гарантируют, что дерево остаётся приблизительно сбалансированным.</a:t>
            </a:r>
          </a:p>
          <a:p>
            <a:endParaRPr lang="ru-RU" dirty="0"/>
          </a:p>
          <a:p>
            <a:r>
              <a:rPr lang="ru-RU" dirty="0"/>
              <a:t>Благодаря этим свойствам высота дерева всегда пропорциональна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n</a:t>
            </a:r>
            <a:r>
              <a:rPr lang="ru-RU" dirty="0"/>
              <a:t>, поэтому операции поиска, вставки и удаления выполняются за O(</a:t>
            </a:r>
            <a:r>
              <a:rPr lang="ru-RU" dirty="0" err="1"/>
              <a:t>log</a:t>
            </a:r>
            <a:r>
              <a:rPr lang="ru-RU" dirty="0"/>
              <a:t> n).</a:t>
            </a:r>
          </a:p>
          <a:p>
            <a:endParaRPr lang="ru-RU" dirty="0"/>
          </a:p>
          <a:p>
            <a:r>
              <a:rPr lang="ru-RU" dirty="0"/>
              <a:t>Именно поэтому красно-чёрное дерево часто используется в реализации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. Оно обеспечивает: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автоматическую упорядоченность элементов,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предсказуемую асимптотику,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отсутствие деградации до линейного времени в худшем случае.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сочетает в себе упорядоченность данных и гарантированную логарифмическую сложность операций.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052897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используется для подсчёта частоты слов.</a:t>
            </a:r>
          </a:p>
          <a:p>
            <a:r>
              <a:rPr lang="ru-RU" dirty="0"/>
              <a:t>Ключом является строка — слово, а значением — количество его появлений.</a:t>
            </a:r>
          </a:p>
          <a:p>
            <a:r>
              <a:rPr lang="ru-RU" dirty="0"/>
              <a:t>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wordCount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</a:t>
            </a:r>
            <a:r>
              <a:rPr lang="ru-RU" dirty="0"/>
              <a:t> работает так:</a:t>
            </a:r>
            <a:br>
              <a:rPr lang="ru-RU" dirty="0"/>
            </a:br>
            <a:r>
              <a:rPr lang="ru-RU" dirty="0"/>
              <a:t>если ключа ещё нет в контейнере, он автоматически создаётся со значением по умолчанию — в данном случае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.</a:t>
            </a:r>
          </a:p>
          <a:p>
            <a:r>
              <a:rPr lang="ru-RU" dirty="0"/>
              <a:t>Поскольку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упорядочен по ключу, вывод слов происходит в лексикографическом порядке.</a:t>
            </a:r>
          </a:p>
          <a:p>
            <a:r>
              <a:rPr lang="ru-RU" dirty="0"/>
              <a:t>Этот пример демонстрирует три важных свойства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автоматическое создание элемента при обращении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логарифмическую сложность операций,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автоматическую сортировку по ключу.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828769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используется для проверки, являются ли два слова анаграммами.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BuildCharCounters</a:t>
            </a:r>
            <a:r>
              <a:rPr lang="ru-RU" dirty="0"/>
              <a:t> строит отображение символ → количество его вхождений в слове.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Если символ встречается впервые,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 создаёт элемент со значением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, после чего счётчик увеличивается.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двух слов строятся два таких отображения, и затем они сравниваются оператором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.</a:t>
            </a:r>
          </a:p>
          <a:p>
            <a:r>
              <a:rPr lang="ru-RU" dirty="0"/>
              <a:t>Поскольку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хранит пары ключ–значение в упорядоченном виде, сравнение работает корректно: два слова являются анаграммами тогда и только тогда, когда частоты всех символов совпадают.</a:t>
            </a:r>
          </a:p>
          <a:p>
            <a:r>
              <a:rPr lang="ru-RU" dirty="0"/>
              <a:t>Этот пример демонстрирует: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автоматическое создание элементов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удобство сравнения контейнеров,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практическое применение ассоциативных контейнеров.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788782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 отличается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тем, что допускает повторяющиеся ключи.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примере ключом является балл, а значением — имя студента. Несколько студентов могут иметь одинаковый результат, поэтому используется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 автоматически хранит элементы в отсортированном порядке по ключу.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получения всех элементов с одинаковым ключом используется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equal_range</a:t>
            </a:r>
            <a:r>
              <a:rPr lang="ru-RU" dirty="0"/>
              <a:t>, который возвращает диапазон итераторов.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показывает:</a:t>
            </a:r>
          </a:p>
          <a:p>
            <a:r>
              <a:rPr lang="ru-RU" dirty="0"/>
              <a:t>хранение нескольких значений по одному ключу,</a:t>
            </a:r>
          </a:p>
          <a:p>
            <a:r>
              <a:rPr lang="ru-RU" dirty="0"/>
              <a:t>автоматическую сортировку,</a:t>
            </a:r>
            <a:r>
              <a:rPr lang="en-US" dirty="0"/>
              <a:t> </a:t>
            </a:r>
            <a:r>
              <a:rPr lang="ru-RU" dirty="0"/>
              <a:t>удобную работу с диапазоном элементов.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84247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unordered_multimap</a:t>
            </a:r>
            <a:r>
              <a:rPr lang="ru-RU" dirty="0"/>
              <a:t> — это ассоциативные контейнеры, основанные на хеш-таблице.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, элементы здесь не отсортированы.</a:t>
            </a:r>
            <a:br>
              <a:rPr lang="ru-RU" dirty="0"/>
            </a:br>
            <a:r>
              <a:rPr lang="ru-RU" dirty="0"/>
              <a:t>Они распределяются по корзинам — </a:t>
            </a:r>
            <a:r>
              <a:rPr lang="ru-RU" dirty="0" err="1"/>
              <a:t>bucket-ам</a:t>
            </a:r>
            <a:r>
              <a:rPr lang="ru-RU" dirty="0"/>
              <a:t> — в зависимости от хеш-значения ключа.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Основное преимущество — средняя сложность операций O(1).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Поиск и вставка обычно выполняются быстрее, чем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.</a:t>
            </a:r>
          </a:p>
          <a:p>
            <a:r>
              <a:rPr lang="ru-RU" dirty="0"/>
              <a:t>Однако:</a:t>
            </a:r>
          </a:p>
          <a:p>
            <a:r>
              <a:rPr lang="ru-RU" dirty="0"/>
              <a:t>порядок элементов не гарантируется,</a:t>
            </a:r>
          </a:p>
          <a:p>
            <a:r>
              <a:rPr lang="ru-RU" dirty="0"/>
              <a:t>в худшем случае сложность может деградировать до O(n).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Разница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unordered_multimap</a:t>
            </a:r>
            <a:r>
              <a:rPr lang="ru-RU" dirty="0"/>
              <a:t> такая же, как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:</a:t>
            </a:r>
          </a:p>
          <a:p>
            <a:r>
              <a:rPr lang="ru-RU" dirty="0"/>
              <a:t>в первом ключи уникальны,</a:t>
            </a:r>
          </a:p>
          <a:p>
            <a:r>
              <a:rPr lang="ru-RU" dirty="0"/>
              <a:t>во втором могут повторяться.</a:t>
            </a:r>
          </a:p>
          <a:p>
            <a:r>
              <a:rPr lang="ru-RU" dirty="0"/>
              <a:t>Чтобы тип можно было использовать как ключ, для него должны быть определены:</a:t>
            </a:r>
          </a:p>
          <a:p>
            <a:r>
              <a:rPr lang="ru-RU" dirty="0"/>
              <a:t>оператор равенства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</a:t>
            </a:r>
          </a:p>
          <a:p>
            <a:r>
              <a:rPr lang="ru-RU" dirty="0"/>
              <a:t>функция хеширования.</a:t>
            </a:r>
          </a:p>
          <a:p>
            <a:r>
              <a:rPr lang="ru-RU" dirty="0"/>
              <a:t>Чаще всего используется стандартный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hash</a:t>
            </a:r>
            <a:r>
              <a:rPr lang="ru-RU" dirty="0"/>
              <a:t>, но для пользовательских типов его нужно определить самостоятельно.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205316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возможная внутренняя организация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</a:p>
          <a:p>
            <a:r>
              <a:rPr lang="ru-RU" dirty="0"/>
              <a:t>Контейнер состоит из массива корзин — </a:t>
            </a:r>
            <a:r>
              <a:rPr lang="ru-RU" dirty="0" err="1"/>
              <a:t>buckets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Каждый ключ проходит через хеш-функцию, и по полученному </a:t>
            </a:r>
            <a:r>
              <a:rPr lang="ru-RU" dirty="0" err="1"/>
              <a:t>хешу</a:t>
            </a:r>
            <a:r>
              <a:rPr lang="ru-RU" dirty="0"/>
              <a:t> определяется, в какую корзину он попадёт.</a:t>
            </a:r>
          </a:p>
          <a:p>
            <a:r>
              <a:rPr lang="ru-RU" dirty="0"/>
              <a:t>Внутри одной корзины может находиться несколько элементов — это происходит, если у разных ключей совпал </a:t>
            </a:r>
            <a:r>
              <a:rPr lang="ru-RU" dirty="0" err="1"/>
              <a:t>хеш</a:t>
            </a:r>
            <a:r>
              <a:rPr lang="ru-RU" dirty="0"/>
              <a:t> или они дали одинаковый индекс корзины. Такая ситуация называется коллизией.</a:t>
            </a:r>
          </a:p>
          <a:p>
            <a:r>
              <a:rPr lang="ru-RU" dirty="0"/>
              <a:t>Обычно элементы внутри корзины организованы в виде связанного списка или другой структуры, позволяющей хранить несколько значений.</a:t>
            </a:r>
          </a:p>
          <a:p>
            <a:r>
              <a:rPr lang="ru-RU" dirty="0"/>
              <a:t>При поиске: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Вычисляется </a:t>
            </a:r>
            <a:r>
              <a:rPr lang="ru-RU" dirty="0" err="1"/>
              <a:t>хеш</a:t>
            </a:r>
            <a:r>
              <a:rPr lang="ru-RU" dirty="0"/>
              <a:t> ключа,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Определяется корзина,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Внутри корзины выполняется сравнение по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.</a:t>
            </a:r>
          </a:p>
          <a:p>
            <a:r>
              <a:rPr lang="ru-RU" dirty="0"/>
              <a:t>Если хеш-функция хорошая и элементы распределены равномерно, операции выполняются в среднем за O(1).</a:t>
            </a:r>
          </a:p>
          <a:p>
            <a:r>
              <a:rPr lang="ru-RU" dirty="0"/>
              <a:t>Если же элементов в одной корзине становится много, производительность может ухудшиться — вплоть до линейной.</a:t>
            </a:r>
          </a:p>
          <a:p>
            <a:r>
              <a:rPr lang="ru-RU" dirty="0"/>
              <a:t>Этот слайд помогает понять, почему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быстрый в среднем, но не гарантирует логарифмическую сложность,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15250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важен тем, что здесь используется </a:t>
            </a:r>
            <a:r>
              <a:rPr lang="ru-RU" b="1" dirty="0"/>
              <a:t>комбинация двух контейнеров</a:t>
            </a:r>
            <a:r>
              <a:rPr lang="ru-RU" dirty="0"/>
              <a:t> стандартной библиотеки: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обеспечивает </a:t>
            </a:r>
            <a:r>
              <a:rPr lang="ru-RU" b="1" dirty="0"/>
              <a:t>быстрый поиск по ключу</a:t>
            </a:r>
            <a:r>
              <a:rPr lang="ru-RU" dirty="0"/>
              <a:t> — в среднем за O(1).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Благодаря этому мы можем быстро узнать, есть ли элемент в кэше и получить доступ к нему.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используется для хранения элементов в порядке использования.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Самый недавно использованный элемент перемещается в начало списка, а самый «старый» находится в конце.</a:t>
            </a:r>
          </a:p>
          <a:p>
            <a:r>
              <a:rPr lang="ru-RU" dirty="0"/>
              <a:t>Когда кэш переполняется, мы просто удаляем элемент с конца списка — это и есть </a:t>
            </a:r>
            <a:r>
              <a:rPr lang="ru-RU" dirty="0" err="1"/>
              <a:t>Least</a:t>
            </a:r>
            <a:r>
              <a:rPr lang="ru-RU" dirty="0"/>
              <a:t> </a:t>
            </a:r>
            <a:r>
              <a:rPr lang="ru-RU" dirty="0" err="1"/>
              <a:t>Recently</a:t>
            </a:r>
            <a:r>
              <a:rPr lang="ru-RU" dirty="0"/>
              <a:t> </a:t>
            </a:r>
            <a:r>
              <a:rPr lang="ru-RU" dirty="0" err="1"/>
              <a:t>Used</a:t>
            </a:r>
            <a:r>
              <a:rPr lang="ru-RU" dirty="0"/>
              <a:t>.</a:t>
            </a:r>
          </a:p>
          <a:p>
            <a:r>
              <a:rPr lang="ru-RU" dirty="0"/>
              <a:t>Ключевой момент —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splice</a:t>
            </a:r>
            <a:r>
              <a:rPr lang="ru-RU" dirty="0"/>
              <a:t>, который позволяет перемещать элемент списка за O(1) без копирования данных.</a:t>
            </a:r>
          </a:p>
          <a:p>
            <a:r>
              <a:rPr lang="ru-RU" dirty="0"/>
              <a:t>Таким образом: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даёт быстрый доступ,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даёт быстрые перестановки и удаления,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вместе они позволяют реализовать эффективный LRU-кэш.</a:t>
            </a:r>
          </a:p>
          <a:p>
            <a:r>
              <a:rPr lang="ru-RU" dirty="0"/>
              <a:t>Это хороший пример того, как стандартные контейнеры можно комбинировать для решения реальных задач.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72200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multiset</a:t>
            </a:r>
            <a:r>
              <a:rPr lang="ru-RU" dirty="0"/>
              <a:t> — это упорядоченные контейнеры, которые хранят только значения.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, здесь нет пары «ключ–значение» — сам элемент одновременно является и ключом.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Элементы автоматически поддерживаются в отсортированном порядке.</a:t>
            </a:r>
            <a:br>
              <a:rPr lang="ru-RU" dirty="0"/>
            </a:br>
            <a:r>
              <a:rPr lang="ru-RU" dirty="0"/>
              <a:t>Обычно контейнер реализован на основе красно-чёрного дерева, поэтому основные операции выполняются за O(</a:t>
            </a:r>
            <a:r>
              <a:rPr lang="ru-RU" dirty="0" err="1"/>
              <a:t>log</a:t>
            </a:r>
            <a:r>
              <a:rPr lang="ru-RU" dirty="0"/>
              <a:t> n).</a:t>
            </a:r>
          </a:p>
          <a:p>
            <a:r>
              <a:rPr lang="ru-RU" dirty="0"/>
              <a:t>Разница между контейнерами простая: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не допускает повторяющихся значений,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multiset</a:t>
            </a:r>
            <a:r>
              <a:rPr lang="ru-RU" dirty="0"/>
              <a:t> допускает дубликаты.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Чтобы тип можно было использовать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, для него должен быть определён строгий порядок. По умолчанию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но можно передать собственный компаратор в качестве параметра шаблона.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удобно использовать, когда нужно хранить уникальные элементы в отсортированном виде и быстро проверять наличие значения.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574995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48365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45815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unordered_set</a:t>
            </a:r>
            <a:r>
              <a:rPr lang="ru-RU" dirty="0"/>
              <a:t> используется для хранения уникальных чисел.</a:t>
            </a:r>
          </a:p>
          <a:p>
            <a:r>
              <a:rPr lang="ru-RU" dirty="0"/>
              <a:t>При вставке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insert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элемента ещё нет — он добавляется,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уже есть — повторная вставка игнорируется.</a:t>
            </a:r>
          </a:p>
          <a:p>
            <a:r>
              <a:rPr lang="ru-RU" dirty="0"/>
              <a:t>Таким образом контейнер автоматически устраняет дубликаты.</a:t>
            </a:r>
          </a:p>
          <a:p>
            <a:r>
              <a:rPr lang="ru-RU" dirty="0"/>
              <a:t>Порядок вывода может отличаться от порядка ввода,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unordered_set</a:t>
            </a:r>
            <a:r>
              <a:rPr lang="ru-RU" dirty="0"/>
              <a:t> не хранит элементы отсортированными.</a:t>
            </a:r>
          </a:p>
          <a:p>
            <a:r>
              <a:rPr lang="ru-RU" dirty="0"/>
              <a:t>Этот пример показывает типичный сценарий использования:</a:t>
            </a:r>
            <a:br>
              <a:rPr lang="ru-RU" dirty="0"/>
            </a:br>
            <a:r>
              <a:rPr lang="ru-RU" dirty="0"/>
              <a:t>быстрая проверка уникальности и удаление повторов за среднее время O(1).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75279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unordered_multiset</a:t>
            </a:r>
            <a:r>
              <a:rPr lang="ru-RU" dirty="0"/>
              <a:t> похож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unordered_set</a:t>
            </a:r>
            <a:r>
              <a:rPr lang="ru-RU" dirty="0"/>
              <a:t>, но допускает хранение одинаковых значений.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примере мы храним оценки студентов. Поскольку несколько студентов могут иметь одну и ту же оценку, используется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unordered_multiset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</a:t>
            </a:r>
            <a:r>
              <a:rPr lang="ru-RU" dirty="0"/>
              <a:t> позволяет узнать, сколько раз элемент встречается в контейнере.</a:t>
            </a:r>
          </a:p>
          <a:p>
            <a:r>
              <a:rPr lang="ru-RU" dirty="0"/>
              <a:t>Как и в других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</a:t>
            </a:r>
            <a:r>
              <a:rPr lang="ru-RU" dirty="0"/>
              <a:t>-контейнерах: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элементы не упорядочены,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операции выполняются в среднем за O(1),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порядок вывода не гарантируется.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unordered_multiset</a:t>
            </a:r>
            <a:r>
              <a:rPr lang="ru-RU" dirty="0"/>
              <a:t> удобно использовать, когда нужно хранить элементы с повторениями и быстро определять их количество.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86567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02540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406678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71395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Стандартная библиотека C++ содержит большой набор готовых алгоритмов для работы с последовательностями данных. Эти алгоритмы реализуют типичные операции: сортировку, поиск, копирование элементов, преобразование последовательностей, проверку условий и многие другие.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Важная особенность архитектуры стандартной библиотеки — </a:t>
            </a:r>
            <a:r>
              <a:rPr lang="ru-RU" b="1" dirty="0"/>
              <a:t>алгоритмы не работают напрямую с контейнерами</a:t>
            </a:r>
            <a:r>
              <a:rPr lang="ru-RU" dirty="0"/>
              <a:t>. Вместо этого они используют </a:t>
            </a:r>
            <a:r>
              <a:rPr lang="ru-RU" b="1" dirty="0"/>
              <a:t>итераторы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Итераторы задают диапазон элементов, над которым выполняется алгоритм. Обычно алгоритм принимает два итератора: начало и конец диапазона.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Используется соглашение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last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</a:t>
            </a:r>
            <a:r>
              <a:rPr lang="ru-RU" dirty="0"/>
              <a:t> указывает на первый элемент,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last</a:t>
            </a:r>
            <a:r>
              <a:rPr lang="ru-RU" dirty="0"/>
              <a:t> указывает на элемент </a:t>
            </a:r>
            <a:r>
              <a:rPr lang="ru-RU" b="1" dirty="0"/>
              <a:t>после последнего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Благодаря этому один и тот же алгоритм можно применять к разным структурам данных: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и даже к обычным C-массивам.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Большинство алгоритмов стандартной библиотеки находится в заголовочном файле:</a:t>
            </a:r>
            <a:r>
              <a:rPr lang="en-US" dirty="0"/>
              <a:t>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algorithm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302872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776097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398A-6AFF-7712-B54B-B17F9F39C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CD018E-833C-65F4-C848-2E485FE39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6D071-FEC1-C7B2-84A7-35677ECA4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5DC4C-4DF8-B9DB-6BB5-A711CAEF3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189268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89443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89444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FFE010F-E2E4-4B74-B991-7FD1A01D7B22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73380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909276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nth_element</a:t>
            </a:r>
            <a:r>
              <a:rPr lang="ru-RU" dirty="0"/>
              <a:t> переставляет элементы в диапазоне так, чтобы элемент на позиции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оказался таким же, как если бы весь диапазон был полностью отсортирован.</a:t>
            </a:r>
          </a:p>
          <a:p>
            <a:r>
              <a:rPr lang="ru-RU" dirty="0"/>
              <a:t>При этом:</a:t>
            </a:r>
          </a:p>
          <a:p>
            <a:r>
              <a:rPr lang="ru-RU" dirty="0"/>
              <a:t>все элементы </a:t>
            </a:r>
            <a:r>
              <a:rPr lang="ru-RU" b="1" dirty="0"/>
              <a:t>до него</a:t>
            </a:r>
            <a:r>
              <a:rPr lang="ru-RU" dirty="0"/>
              <a:t> будут </a:t>
            </a:r>
            <a:r>
              <a:rPr lang="ru-RU" b="1" dirty="0"/>
              <a:t>не больше</a:t>
            </a:r>
            <a:r>
              <a:rPr lang="ru-RU" dirty="0"/>
              <a:t> этого элемента,</a:t>
            </a:r>
          </a:p>
          <a:p>
            <a:r>
              <a:rPr lang="ru-RU" dirty="0"/>
              <a:t>все элементы </a:t>
            </a:r>
            <a:r>
              <a:rPr lang="ru-RU" b="1" dirty="0"/>
              <a:t>после него</a:t>
            </a:r>
            <a:r>
              <a:rPr lang="ru-RU" dirty="0"/>
              <a:t> будут </a:t>
            </a:r>
            <a:r>
              <a:rPr lang="ru-RU" b="1" dirty="0"/>
              <a:t>не меньше</a:t>
            </a:r>
            <a:r>
              <a:rPr lang="ru-RU" dirty="0"/>
              <a:t>.</a:t>
            </a:r>
          </a:p>
          <a:p>
            <a:r>
              <a:rPr lang="ru-RU" dirty="0"/>
              <a:t>Но важная особенность — остальные элементы </a:t>
            </a:r>
            <a:r>
              <a:rPr lang="ru-RU" b="1" dirty="0"/>
              <a:t>не гарантированно отсортированы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нашем примере мы берём итератор на середину вектора: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/ 2;</a:t>
            </a:r>
          </a:p>
          <a:p>
            <a:r>
              <a:rPr lang="ru-RU" dirty="0"/>
              <a:t>После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nth_element</a:t>
            </a:r>
            <a:r>
              <a:rPr lang="ru-RU" dirty="0"/>
              <a:t> в этой позиции оказывается медианный элемент.</a:t>
            </a:r>
          </a:p>
          <a:p>
            <a:endParaRPr lang="ru-RU" dirty="0"/>
          </a:p>
          <a:p>
            <a:r>
              <a:rPr lang="ru-RU" dirty="0"/>
              <a:t>Алгоритм работает быстрее полной сортировки — его средняя сложность </a:t>
            </a:r>
            <a:r>
              <a:rPr lang="ru-RU" b="1" dirty="0"/>
              <a:t>O(n)</a:t>
            </a:r>
            <a:r>
              <a:rPr lang="ru-RU" dirty="0"/>
              <a:t>, тогда как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dirty="0"/>
              <a:t> — </a:t>
            </a:r>
            <a:r>
              <a:rPr lang="ru-RU" b="1" dirty="0"/>
              <a:t>O(n </a:t>
            </a:r>
            <a:r>
              <a:rPr lang="ru-RU" b="1" dirty="0" err="1"/>
              <a:t>log</a:t>
            </a:r>
            <a:r>
              <a:rPr lang="ru-RU" b="1" dirty="0"/>
              <a:t> n)</a:t>
            </a:r>
            <a:r>
              <a:rPr lang="ru-RU" dirty="0"/>
              <a:t>.</a:t>
            </a:r>
          </a:p>
          <a:p>
            <a:r>
              <a:rPr lang="ru-RU" dirty="0"/>
              <a:t>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nth_element</a:t>
            </a:r>
            <a:r>
              <a:rPr lang="ru-RU" dirty="0"/>
              <a:t> удобно использовать, когда нужно найти:</a:t>
            </a:r>
          </a:p>
          <a:p>
            <a:r>
              <a:rPr lang="ru-RU" dirty="0"/>
              <a:t>медиану,</a:t>
            </a:r>
          </a:p>
          <a:p>
            <a:r>
              <a:rPr lang="ru-RU" dirty="0"/>
              <a:t>k-й по величине элемент,</a:t>
            </a:r>
          </a:p>
          <a:p>
            <a:r>
              <a:rPr lang="ru-RU" dirty="0" err="1"/>
              <a:t>top</a:t>
            </a:r>
            <a:r>
              <a:rPr lang="ru-RU" dirty="0"/>
              <a:t>-k элементы.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64061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07468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806464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7589057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принцип работы </a:t>
            </a:r>
            <a:r>
              <a:rPr lang="ru-RU" b="1" dirty="0"/>
              <a:t>двоичного поиска</a:t>
            </a:r>
            <a:r>
              <a:rPr lang="ru-RU" dirty="0"/>
              <a:t> и алгоритмов стандартной библиотеки, которые его используют.</a:t>
            </a:r>
          </a:p>
          <a:p>
            <a:r>
              <a:rPr lang="ru-RU" dirty="0"/>
              <a:t>Важно помнить, что двоичный поиск работает </a:t>
            </a:r>
            <a:r>
              <a:rPr lang="ru-RU" b="1" dirty="0"/>
              <a:t>только на отсортированных данных</a:t>
            </a:r>
            <a:r>
              <a:rPr lang="ru-RU" dirty="0"/>
              <a:t>. Если последовательность не отсортирована, результат будет неопределённым.</a:t>
            </a:r>
          </a:p>
          <a:p>
            <a:endParaRPr lang="ru-RU" dirty="0"/>
          </a:p>
          <a:p>
            <a:r>
              <a:rPr lang="ru-RU" dirty="0"/>
              <a:t>В стандартной библиотеке есть несколько алгоритмов, основанных на двоичном поиске. Наиболее часто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lower_bound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upper_bound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equal_range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lower_bound</a:t>
            </a:r>
            <a:r>
              <a:rPr lang="ru-RU" dirty="0"/>
              <a:t> возвращает итератор на </a:t>
            </a:r>
            <a:r>
              <a:rPr lang="ru-RU" b="1" dirty="0"/>
              <a:t>первый элемент, который не меньше искомого</a:t>
            </a:r>
            <a:r>
              <a:rPr lang="ru-RU" dirty="0"/>
              <a:t>, то есть первый элемент, для которого выполняется условие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upper_bound</a:t>
            </a:r>
            <a:r>
              <a:rPr lang="ru-RU" dirty="0"/>
              <a:t> возвращает итератор на </a:t>
            </a:r>
            <a:r>
              <a:rPr lang="ru-RU" b="1" dirty="0"/>
              <a:t>первый элемент, который строго больше искомого значения</a:t>
            </a:r>
            <a:r>
              <a:rPr lang="ru-RU" dirty="0"/>
              <a:t>.</a:t>
            </a:r>
          </a:p>
          <a:p>
            <a:r>
              <a:rPr lang="ru-RU" dirty="0"/>
              <a:t>Если в последовательности есть несколько одинаковых элементов, эти два алгоритма позволяют определить диапазон, в котором они находятся.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этого можно использовать 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equal_range</a:t>
            </a:r>
            <a:r>
              <a:rPr lang="ru-RU" dirty="0"/>
              <a:t>. Он возвращает пару итераторов: первый соответствует результату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lower_bound</a:t>
            </a:r>
            <a:r>
              <a:rPr lang="ru-RU" dirty="0"/>
              <a:t>, а второй — результату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upper_bound</a:t>
            </a:r>
            <a:r>
              <a:rPr lang="ru-RU" dirty="0"/>
              <a:t>. Таким образом получается диапазон всех элементов, равных заданному значению.</a:t>
            </a:r>
          </a:p>
          <a:p>
            <a:endParaRPr lang="ru-RU" dirty="0"/>
          </a:p>
          <a:p>
            <a:r>
              <a:rPr lang="ru-RU" dirty="0"/>
              <a:t>Эти алгоритмы работают за логарифмическое время — </a:t>
            </a:r>
            <a:r>
              <a:rPr lang="ru-RU" b="1" dirty="0"/>
              <a:t>O(</a:t>
            </a:r>
            <a:r>
              <a:rPr lang="ru-RU" b="1" dirty="0" err="1"/>
              <a:t>log</a:t>
            </a:r>
            <a:r>
              <a:rPr lang="ru-RU" b="1" dirty="0"/>
              <a:t> n)</a:t>
            </a:r>
            <a:r>
              <a:rPr lang="ru-RU" dirty="0"/>
              <a:t>, что делает их значительно быстрее линейного поиска при работе с большими отсортированными последовательностями.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257726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C++20 в стандартной библиотеке появилась библиотека </a:t>
            </a:r>
            <a:r>
              <a:rPr lang="ru-RU" b="1" dirty="0" err="1"/>
              <a:t>ranges</a:t>
            </a:r>
            <a:r>
              <a:rPr lang="ru-RU" dirty="0"/>
              <a:t>, которая делает работу с алгоритмами более удобной.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Классические алгоритмы принимают два итератора — начало и конец диапазона. В версиях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dirty="0"/>
              <a:t> можно передавать </a:t>
            </a:r>
            <a:r>
              <a:rPr lang="ru-RU" b="1" dirty="0"/>
              <a:t>сам контейнер целиком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</a:t>
            </a:r>
            <a:r>
              <a:rPr lang="ru-RU" dirty="0"/>
              <a:t> можно написать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 Код становится короче и его сложнее написать неправильно.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алгоритмы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dirty="0"/>
              <a:t> поддерживают </a:t>
            </a:r>
            <a:r>
              <a:rPr lang="ru-RU" b="1" dirty="0"/>
              <a:t>проекции</a:t>
            </a:r>
            <a:r>
              <a:rPr lang="ru-RU" dirty="0"/>
              <a:t> — это способ указать поле объекта, по которому нужно выполнять алгоритм. Мы увидим пример этого на следующем слайде.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отметить, что </a:t>
            </a:r>
            <a:r>
              <a:rPr lang="ru-RU" dirty="0" err="1"/>
              <a:t>ranges</a:t>
            </a:r>
            <a:r>
              <a:rPr lang="ru-RU" dirty="0"/>
              <a:t>-алгоритмы не заменяют полностью старые алгоритмы, но делают код более выразительным и безопасным.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088239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алгоритмах из библиотеки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появилась удобная возможность — </a:t>
            </a:r>
            <a:r>
              <a:rPr lang="ru-RU" b="1" dirty="0"/>
              <a:t>проекции</a:t>
            </a:r>
            <a:r>
              <a:rPr lang="ru-RU" dirty="0"/>
              <a:t>.</a:t>
            </a:r>
          </a:p>
          <a:p>
            <a:r>
              <a:rPr lang="ru-RU" dirty="0"/>
              <a:t>Проекция — это способ указать, </a:t>
            </a:r>
            <a:r>
              <a:rPr lang="ru-RU" b="1" dirty="0"/>
              <a:t>какое поле объекта использовать при выполнении алгоритма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То есть вместо написания отдельной функции сравнения или лямбды можно просто передать указатель на поле структуры.</a:t>
            </a:r>
          </a:p>
          <a:p>
            <a:r>
              <a:rPr lang="ru-RU" dirty="0"/>
              <a:t>В этом примере у нас есть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</a:t>
            </a:r>
            <a:r>
              <a:rPr lang="ru-RU" dirty="0"/>
              <a:t>, содержащая имя и возраст.</a:t>
            </a:r>
            <a:br>
              <a:rPr lang="ru-RU" dirty="0"/>
            </a:br>
            <a:r>
              <a:rPr lang="ru-RU" dirty="0"/>
              <a:t>Если мы хотим отсортировать студентов по имени, можно написать: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{}, &amp;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dirty="0"/>
              <a:t>Третий параметр — это проекция. Она говорит алгоритму: перед сравнением извлеки из каждого объекта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.</a:t>
            </a:r>
          </a:p>
          <a:p>
            <a:r>
              <a:rPr lang="ru-RU" dirty="0"/>
              <a:t>Аналогично можно отсортировать студентов по возрасту: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{}, &amp;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dirty="0"/>
              <a:t>Если нужно изменить порядок сортировки, можно передать компаратор. Например, 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greater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&lt;&gt;</a:t>
            </a:r>
            <a:r>
              <a:rPr lang="ru-RU" dirty="0"/>
              <a:t>, чтобы отсортировать студентов по возрасту </a:t>
            </a:r>
            <a:r>
              <a:rPr lang="ru-RU" b="1" dirty="0"/>
              <a:t>в порядке убывания</a:t>
            </a:r>
            <a:r>
              <a:rPr lang="ru-RU" dirty="0"/>
              <a:t>.</a:t>
            </a:r>
          </a:p>
          <a:p>
            <a:r>
              <a:rPr lang="ru-RU" dirty="0"/>
              <a:t>Проекции позволяют писать более короткий и читаемый код, потому что часто избавляют от необходимости писать собственные функции сравнения или лямбды.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75233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библиотеке </a:t>
            </a:r>
            <a:r>
              <a:rPr lang="ru-RU" dirty="0" err="1"/>
              <a:t>ranges</a:t>
            </a:r>
            <a:r>
              <a:rPr lang="ru-RU" dirty="0"/>
              <a:t> появилась возможность </a:t>
            </a:r>
            <a:r>
              <a:rPr lang="ru-RU" b="1" dirty="0"/>
              <a:t>комбинировать операции обработки данных в виде конвейера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</a:t>
            </a:r>
            <a:r>
              <a:rPr lang="ru-RU" dirty="0"/>
              <a:t> позволяет последовательно применять к последовательности различные представления — так называемые </a:t>
            </a:r>
            <a:r>
              <a:rPr lang="ru-RU" i="1" dirty="0" err="1"/>
              <a:t>views</a:t>
            </a:r>
            <a:r>
              <a:rPr lang="ru-RU" dirty="0"/>
              <a:t>.</a:t>
            </a:r>
          </a:p>
          <a:p>
            <a:r>
              <a:rPr lang="ru-RU" dirty="0"/>
              <a:t>В этом примере мы берём вектор чисел и выполняем две операции.</a:t>
            </a:r>
          </a:p>
          <a:p>
            <a:endParaRPr lang="ru-RU" dirty="0"/>
          </a:p>
          <a:p>
            <a:r>
              <a:rPr lang="ru-RU" dirty="0"/>
              <a:t>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filter</a:t>
            </a:r>
            <a:r>
              <a:rPr lang="ru-RU" dirty="0"/>
              <a:t> оставляет только чётные числа.</a:t>
            </a:r>
          </a:p>
          <a:p>
            <a:endParaRPr lang="ru-RU" dirty="0"/>
          </a:p>
          <a:p>
            <a:r>
              <a:rPr lang="ru-RU" dirty="0"/>
              <a:t>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</a:t>
            </a:r>
            <a:r>
              <a:rPr lang="ru-RU" dirty="0"/>
              <a:t> применяет к каждому элементу функцию — в нашем случае мы возводим число в квадрат.</a:t>
            </a:r>
          </a:p>
          <a:p>
            <a:r>
              <a:rPr lang="ru-RU" dirty="0"/>
              <a:t>В результате получается последовательность квадратов чётных чисел.</a:t>
            </a:r>
          </a:p>
          <a:p>
            <a:endParaRPr lang="ru-RU" dirty="0"/>
          </a:p>
          <a:p>
            <a:r>
              <a:rPr lang="ru-RU" dirty="0"/>
              <a:t>Важно отметить,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views</a:t>
            </a:r>
            <a:r>
              <a:rPr lang="ru-RU" dirty="0"/>
              <a:t> </a:t>
            </a:r>
            <a:r>
              <a:rPr lang="ru-RU" b="1" dirty="0"/>
              <a:t>не создают новый контейнер</a:t>
            </a:r>
            <a:r>
              <a:rPr lang="ru-RU" dirty="0"/>
              <a:t>. Они лишь создают представление исходных данных, и элементы вычисляются по мере необходимости при обходе.</a:t>
            </a:r>
          </a:p>
          <a:p>
            <a:endParaRPr lang="ru-RU" dirty="0"/>
          </a:p>
          <a:p>
            <a:r>
              <a:rPr lang="ru-RU" dirty="0"/>
              <a:t>Такой стиль программирования часто называют </a:t>
            </a:r>
            <a:r>
              <a:rPr lang="ru-RU" b="1" dirty="0"/>
              <a:t>конвейерной обработкой данных</a:t>
            </a:r>
            <a:r>
              <a:rPr lang="ru-RU" dirty="0"/>
              <a:t> и он делает код более декларативным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018300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распространённая идиома стандартной библиотеки — </a:t>
            </a:r>
            <a:r>
              <a:rPr lang="ru-RU" b="1" dirty="0" err="1"/>
              <a:t>erase-remove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 на самом деле </a:t>
            </a:r>
            <a:r>
              <a:rPr lang="ru-RU" b="1" dirty="0"/>
              <a:t>не удаляет элементы из контейнера</a:t>
            </a:r>
            <a:r>
              <a:rPr lang="ru-RU" dirty="0"/>
              <a:t>. Он лишь переставляет элементы так, чтобы все элементы, которые нужно оставить, оказались в начале диапазона.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Алгоритм возвращает итератор на </a:t>
            </a:r>
            <a:r>
              <a:rPr lang="ru-RU" b="1" dirty="0"/>
              <a:t>новый логический конец последовательности</a:t>
            </a:r>
            <a:r>
              <a:rPr lang="ru-RU" dirty="0"/>
              <a:t>. Всё, что находится после этого итератора, содержит значения, которые больше не считаются частью результата, но физически всё ещё остаются в контейнере.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после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 размер контейнера не меняется. Это можно увидеть на втором выводе: элементы со значением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 как бы исчезли из начала массива, но в конце контейнера всё ещё остаются какие-то значения.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Чтобы действительно удалить лишние элементы из контейнера, нужно вызвать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erase</a:t>
            </a:r>
            <a:r>
              <a:rPr lang="ru-RU" dirty="0"/>
              <a:t>, передав диапазон от итератора, возвращённого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, до конца контейнера.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 получается идиома: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container.erase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container.end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В последнем примере используется 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remove_if</a:t>
            </a:r>
            <a:r>
              <a:rPr lang="ru-RU" dirty="0"/>
              <a:t>, который позволяет удалять элементы по условию. Здесь из вектора удаляются все чётные числа.</a:t>
            </a:r>
          </a:p>
          <a:p>
            <a:r>
              <a:rPr lang="ru-RU" dirty="0"/>
              <a:t>Эта идиома часто используется при работе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, потому что эти контейнеры поддерживают операцию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erase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2187244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en-US" dirty="0"/>
              <a:t>C++ 17</a:t>
            </a:r>
            <a:r>
              <a:rPr lang="en-US" baseline="0" dirty="0"/>
              <a:t> </a:t>
            </a:r>
            <a:r>
              <a:rPr lang="ru-RU" baseline="0" dirty="0"/>
              <a:t>появился класс </a:t>
            </a:r>
            <a:r>
              <a:rPr lang="en-US" baseline="0" dirty="0"/>
              <a:t>optional </a:t>
            </a:r>
            <a:r>
              <a:rPr lang="ru-RU" baseline="0" dirty="0"/>
              <a:t>для хранений опциональных значений. Можно сравнить его с коробкой, которая может быть пустой, либо содержать значение.</a:t>
            </a:r>
          </a:p>
          <a:p>
            <a:r>
              <a:rPr lang="ru-RU" dirty="0"/>
              <a:t>С</a:t>
            </a:r>
            <a:r>
              <a:rPr lang="ru-RU" baseline="0" dirty="0"/>
              <a:t> небольшими модификациям этот класс перекочевал из </a:t>
            </a:r>
            <a:r>
              <a:rPr lang="en-US" baseline="0" dirty="0"/>
              <a:t>boost</a:t>
            </a:r>
            <a:r>
              <a:rPr lang="ru-RU" baseline="0" dirty="0"/>
              <a:t>.</a:t>
            </a:r>
          </a:p>
          <a:p>
            <a:r>
              <a:rPr lang="ru-RU" baseline="0" dirty="0"/>
              <a:t>Для создания объекта не используется динамическое выделение памяти.</a:t>
            </a:r>
          </a:p>
          <a:p>
            <a:r>
              <a:rPr lang="ru-RU" baseline="0" dirty="0"/>
              <a:t>Области применения этого класса – хранение значений, которые могут отсутствовать, отложенная инициализация полей класса, которые нельзя/не хочется инициализировать в конструкторе. В простейших ситуациях может использоваться для информирования об ошибке, как альтернатива исключениям и кодам возврата.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1D0F8-ED15-4C66-B45E-299497AD8983}" type="slidenum">
              <a:rPr lang="ru-RU" smtClean="0"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790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322644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9015919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C++17 в стандартной библиотеке появилась библиотека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filesystem</a:t>
            </a:r>
            <a:r>
              <a:rPr lang="ru-RU" dirty="0"/>
              <a:t>.</a:t>
            </a:r>
          </a:p>
          <a:p>
            <a:r>
              <a:rPr lang="ru-RU" dirty="0"/>
              <a:t>Она позволяет работать с файловой системой напрямую из программы: получать информацию о файлах, создавать и удалять директории, копировать файлы и обходить содержимое папок.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Главный тип этой библиотеки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filesystem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path</a:t>
            </a:r>
            <a:r>
              <a:rPr lang="ru-RU" dirty="0"/>
              <a:t>. Он представляет путь к файлу или директории и предоставляет удобные методы для работы с частями пути: именем файла, расширением, родительской директорией и так далее.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удобства обычно вводят псевдоним пространства имён: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filesystem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Это позволяет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path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exists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</a:t>
            </a:r>
            <a:r>
              <a:rPr lang="ru-RU" dirty="0"/>
              <a:t> и так далее.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726830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773239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более практическое применение библиотеки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filesystem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Программа рекурсивно обходит все директории, начиная с текущей, используя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recursive_directory_iterator</a:t>
            </a:r>
            <a:r>
              <a:rPr lang="ru-RU" dirty="0"/>
              <a:t>.</a:t>
            </a:r>
          </a:p>
          <a:p>
            <a:r>
              <a:rPr lang="ru-RU" dirty="0"/>
              <a:t>Для каждого найденного элемента мы проверяем, является ли он обычным файлом. После этого получаем путь к файлу.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stem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имя файла </a:t>
            </a:r>
            <a:r>
              <a:rPr lang="ru-RU" b="1" dirty="0"/>
              <a:t>без расширения</a:t>
            </a:r>
            <a:r>
              <a:rPr lang="ru-RU" dirty="0"/>
              <a:t>. Например, для файла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virus.exe</a:t>
            </a:r>
            <a:r>
              <a:rPr lang="ru-RU" dirty="0"/>
              <a:t>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stem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будет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</a:p>
          <a:p>
            <a:r>
              <a:rPr lang="ru-RU" dirty="0"/>
              <a:t>Если имя файла равно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программа удаляет его с помощью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.</a:t>
            </a:r>
          </a:p>
          <a:p>
            <a:r>
              <a:rPr lang="ru-RU" dirty="0"/>
              <a:t>Таким образом программа удалит все файлы: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virus.exe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virus.txt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virus.dat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virus.mp3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независимо от расширения.</a:t>
            </a:r>
          </a:p>
          <a:p>
            <a:r>
              <a:rPr lang="ru-RU" dirty="0"/>
              <a:t>Этот пример показывает, как стандартная библиотека позволяет довольно просто выполнять задачи, которые раньше требовали </a:t>
            </a:r>
            <a:r>
              <a:rPr lang="ru-RU" dirty="0" err="1"/>
              <a:t>платформозависимого</a:t>
            </a:r>
            <a:r>
              <a:rPr lang="ru-RU" dirty="0"/>
              <a:t>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1087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2C55-1068-44A2-82CD-4A743E92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18CAC-FF14-4794-872A-0B5877370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136DA-9A4C-40BA-AA17-EA981E33A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0F1A-1606-4B16-868A-AE460AA99932}" type="datetime1">
              <a:rPr lang="ru-RU" smtClean="0"/>
              <a:t>05.03.2026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565D-5DAF-464C-82B5-47EFB421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81BC0-D73B-43B8-8006-98D7A5B1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790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86-0259-498D-9F1D-890E4853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B12-9163-4F0A-8DAE-AFB4CBC6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6A382-819C-4C90-BB8B-9A3A9D80E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7103D-4B22-44AB-A9FC-683E08A1F747}" type="datetime1">
              <a:rPr lang="ru-RU" smtClean="0"/>
              <a:t>05.03.2026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30B75-1D6F-4808-A43F-C1338A8E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5CC4-7EFF-40D7-AD6B-048DB231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479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DFB9-1D2C-4C99-9976-80D45F82B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B29D-ACB6-4F20-A63F-AD683F65C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7DDFE-7665-40F4-8709-37F31AC46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E0C0F-FA6D-4425-ACAC-9C75324FDE1A}" type="datetime1">
              <a:rPr lang="ru-RU" smtClean="0"/>
              <a:t>05.03.2026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5FF8-8475-420D-B26A-2BBC6975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57D3-45C8-4599-A3A4-224EF17A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7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257C-E519-4004-9664-5EE2DEEB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4FD9-045B-4C7F-988A-793C9DDD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92FC0-5215-485D-B178-1923B2788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B3E4B-3202-4B3C-B276-911106E4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DEE2-517B-46CA-B9CF-5B31396B2FAC}" type="datetime1">
              <a:rPr lang="ru-RU" smtClean="0"/>
              <a:t>05.03.2026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D2B61-3FC8-4F39-8668-A4B6CF03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1529-0A6F-472C-8162-0809B794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635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72A2-4F60-4CCD-822D-BA26D782D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7310-7D32-449E-8B15-BA4AD9264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D8049-2981-4DBC-9A47-E4B3503FE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70114-2659-411A-91CA-84B6FB6FD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81DACC-6CA4-48F6-AB55-E0AE146F33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53C7C0-3FB7-4520-91B5-A83C85E2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298A5-7E09-4369-B71D-BB7174D80868}" type="datetime1">
              <a:rPr lang="ru-RU" smtClean="0"/>
              <a:t>05.03.2026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11D75-3F94-44BC-B9A2-007C43EB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C99E5D-E837-44F0-8032-4C2DE413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47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E088-F4DC-427D-BE79-3F7232B4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194E55-A7DB-461A-B228-D91789878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32143-FDE8-4C60-98E8-A872E420E9EA}" type="datetime1">
              <a:rPr lang="ru-RU" smtClean="0"/>
              <a:t>05.03.2026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0D332-2F02-4297-803D-C24BAA7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ED2AD-5C1C-4C18-ADEC-8112D8B3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77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241CC0-6A58-46A9-8D3D-3BEC81F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B4882-B2D5-4613-BB0B-1477E375B878}" type="datetime1">
              <a:rPr lang="ru-RU" smtClean="0"/>
              <a:t>05.03.2026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5FB09-9210-4FF3-B521-92AC0717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D5FF-9F9B-438D-962B-19E33EA7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50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B67B-1DE1-4C38-B86C-EE4E5FE5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E22-365F-4133-AE2C-BFE9368A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76D52-A043-43E2-878C-F0D059B73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21B72-F8F3-4BAF-9039-4FCA7A5A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2D1C8-0B2C-416B-9B25-770515041144}" type="datetime1">
              <a:rPr lang="ru-RU" smtClean="0"/>
              <a:t>05.03.2026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C61C2-EF1C-4C27-9CE7-95CD0A82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278CE-F8F6-4357-8DE5-C5A74A90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80C-2148-42E9-A299-F6AFD8D5F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6453F-1A78-4AC8-BEE7-23D2EBA9D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AD1CC-F62E-4D14-B0B2-A5BFC0D9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C1507-4C3F-4C2A-83FD-8D1EE9B0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21F35-1062-451E-BF28-4799554B8B18}" type="datetime1">
              <a:rPr lang="ru-RU" smtClean="0"/>
              <a:t>05.03.2026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CAD7A-2676-460D-902D-1573FAD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CB590-E5BD-4AA2-BDC3-280A703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6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AE94-21A1-4EBE-A5A8-131A3D8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64F14-09E0-466A-A888-D63A8EC8F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EB26F-3CBB-4723-A051-957A026F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2AE17-115E-44DD-BB85-A6941AF7A369}" type="datetime1">
              <a:rPr lang="ru-RU" smtClean="0"/>
              <a:t>05.03.2026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476C5-257A-4B9E-A8CB-4E370B37C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C76A-3A7C-436A-AF34-DF2DA5E8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5F875-DD72-4DC4-B341-AFD9F2621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1CC3C-59B8-4399-A3F8-342E1496E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FA286-6C9E-4DA4-8B49-B014663B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8CB7E-9ACC-42BB-A46C-3291E4570002}" type="datetime1">
              <a:rPr lang="ru-RU" smtClean="0"/>
              <a:t>05.03.2026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1ED6D-C751-4EFD-A3DA-7390F9FD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75682-EF44-4A00-A3B6-4CF5ED7F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384AB9-7DB0-4EF3-8BF0-3BA42E72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3234E-B82A-4AAC-B0D9-04778BA62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06BE-AC98-4682-81AB-EA91CCDA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175A1F-A328-4AFF-97F1-69B0AC1874F5}" type="datetime1">
              <a:rPr lang="ru-RU" smtClean="0"/>
              <a:t>05.03.2026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3F399-1978-443D-8A54-1C7438E428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86AD1-D5ED-4EF9-89A0-3ABFEAC15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01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5" Type="http://schemas.openxmlformats.org/officeDocument/2006/relationships/image" Target="../media/image1.png"/><Relationship Id="rId4" Type="http://schemas.openxmlformats.org/officeDocument/2006/relationships/hyperlink" Target="http://en.cppreference.com/w/cpp/string/basic_string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en.cppreference.com/w/cpp/string/basic_string_view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container/array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xM1EcGTMz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vEcrGMxh8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5" Type="http://schemas.openxmlformats.org/officeDocument/2006/relationships/image" Target="../media/image5.png"/><Relationship Id="rId4" Type="http://schemas.openxmlformats.org/officeDocument/2006/relationships/hyperlink" Target="https://en.cppreference.com/w/cpp/container/vector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-bench.com/q/i29UtpPOU0KqnZz1y9SLl7tWFt4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6.png"/><Relationship Id="rId4" Type="http://schemas.openxmlformats.org/officeDocument/2006/relationships/hyperlink" Target="https://en.cppreference.com/w/cpp/container/deque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7.png"/><Relationship Id="rId4" Type="http://schemas.openxmlformats.org/officeDocument/2006/relationships/hyperlink" Target="https://en.cppreference.com/w/cpp/container/list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nET1j77co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-bench.com/q/W1if_qgPSZ7neHLRNylHrAwpvOs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8.xml"/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11.png"/><Relationship Id="rId5" Type="http://schemas.openxmlformats.org/officeDocument/2006/relationships/hyperlink" Target="https://en.cppreference.com/w/cpp/container/multimap/" TargetMode="External"/><Relationship Id="rId4" Type="http://schemas.openxmlformats.org/officeDocument/2006/relationships/hyperlink" Target="https://en.cppreference.com/w/cpp/container/map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sv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saaMMn4v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image" Target="../media/image16.png"/><Relationship Id="rId5" Type="http://schemas.openxmlformats.org/officeDocument/2006/relationships/hyperlink" Target="https://en.cppreference.com/w/cpp/container/unordered_multimap" TargetMode="External"/><Relationship Id="rId4" Type="http://schemas.openxmlformats.org/officeDocument/2006/relationships/hyperlink" Target="https://en.cppreference.com/w/cpp/container/unordered_map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odbolt.org/z/oYrf4hhv1" TargetMode="Externa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6.xml"/><Relationship Id="rId7" Type="http://schemas.openxmlformats.org/officeDocument/2006/relationships/image" Target="../media/image2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19.png"/><Relationship Id="rId5" Type="http://schemas.openxmlformats.org/officeDocument/2006/relationships/hyperlink" Target="https://en.cppreference.com/w/cpp/container/multiset" TargetMode="External"/><Relationship Id="rId4" Type="http://schemas.openxmlformats.org/officeDocument/2006/relationships/hyperlink" Target="https://en.cppreference.com/w/cpp/container/set" TargetMode="Externa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en.cppreference.com/w/cpp/utility/functional/function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cppinsights.io/s/6c5bdd4c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cppinsights.io/s/89499d9b" TargetMode="Externa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cppinsights.io/s/4264e60a" TargetMode="Externa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io/manip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en.cppreference.com/w/cpp/io/c/FILE#Binary_and_text_modes" TargetMode="Externa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named_req/OutputIterator" TargetMode="External"/><Relationship Id="rId7" Type="http://schemas.openxmlformats.org/officeDocument/2006/relationships/hyperlink" Target="https://en.cppreference.com/w/cpp/named_req/ContiguousIterator" TargetMode="External"/><Relationship Id="rId2" Type="http://schemas.openxmlformats.org/officeDocument/2006/relationships/hyperlink" Target="https://en.cppreference.com/w/cpp/named_req/InputIterato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cppreference.com/w/cpp/named_req/RandomAccessIterator" TargetMode="External"/><Relationship Id="rId5" Type="http://schemas.openxmlformats.org/officeDocument/2006/relationships/hyperlink" Target="https://en.cppreference.com/w/cpp/named_req/BidirectionalIterator" TargetMode="External"/><Relationship Id="rId4" Type="http://schemas.openxmlformats.org/officeDocument/2006/relationships/hyperlink" Target="https://en.cppreference.com/w/cpp/named_req/ForwardIterator" TargetMode="Externa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range-for" TargetMode="Externa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Gzs9159Tj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fjardsE1T" TargetMode="External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4.xml"/><Relationship Id="rId4" Type="http://schemas.openxmlformats.org/officeDocument/2006/relationships/hyperlink" Target="https://godbolt.org/z/nYMfx1r6n" TargetMode="Externa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Wb9jj9zYK" TargetMode="Externa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T8c7Ee1q7" TargetMode="Externa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MSu4VTL6jHwk4vfN" TargetMode="External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optional" TargetMode="External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F42D1941-9D5E-2886-0D8E-ACB8600499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Стандартизированный набор типов, функций и компонентов,</a:t>
            </a:r>
            <a:br>
              <a:rPr lang="ru-RU" dirty="0"/>
            </a:br>
            <a:r>
              <a:rPr lang="ru-RU" dirty="0"/>
              <a:t>поставляемый вместе с реализацией C++</a:t>
            </a:r>
            <a:endParaRPr lang="en-US" dirty="0"/>
          </a:p>
          <a:p>
            <a:r>
              <a:rPr lang="ru-RU" dirty="0"/>
              <a:t>Основные компоненты</a:t>
            </a:r>
          </a:p>
          <a:p>
            <a:pPr lvl="1"/>
            <a:r>
              <a:rPr lang="ru-RU" dirty="0"/>
              <a:t>Ядро и поддержка языка</a:t>
            </a:r>
            <a:r>
              <a:rPr lang="en-US" dirty="0"/>
              <a:t>: </a:t>
            </a:r>
            <a:r>
              <a:rPr lang="ru-RU" dirty="0"/>
              <a:t>исключения</a:t>
            </a:r>
            <a:r>
              <a:rPr lang="en-US" dirty="0"/>
              <a:t>, RTTI, </a:t>
            </a:r>
            <a:r>
              <a:rPr lang="ru-RU" dirty="0"/>
              <a:t>операции сравнения, …</a:t>
            </a:r>
          </a:p>
          <a:p>
            <a:pPr lvl="1"/>
            <a:r>
              <a:rPr lang="ru-RU" dirty="0"/>
              <a:t>Контейнеры: </a:t>
            </a:r>
            <a:r>
              <a:rPr lang="en-US" dirty="0"/>
              <a:t>string, vector, array, map, deque, set, </a:t>
            </a:r>
            <a:r>
              <a:rPr lang="en-US" dirty="0" err="1"/>
              <a:t>unordered_map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/>
              <a:t>list</a:t>
            </a:r>
            <a:r>
              <a:rPr lang="ru-RU" dirty="0"/>
              <a:t>, …</a:t>
            </a:r>
          </a:p>
          <a:p>
            <a:pPr lvl="1"/>
            <a:r>
              <a:rPr lang="ru-RU" dirty="0"/>
              <a:t>Алгоритмы: сортировка, поиск, преобразования</a:t>
            </a:r>
          </a:p>
          <a:p>
            <a:pPr lvl="1"/>
            <a:r>
              <a:rPr lang="ru-RU" dirty="0"/>
              <a:t>Конкурентность и параллелизм: потоки, </a:t>
            </a:r>
            <a:r>
              <a:rPr lang="en-US" dirty="0"/>
              <a:t>mutex, async</a:t>
            </a:r>
            <a:r>
              <a:rPr lang="ru-RU" dirty="0"/>
              <a:t>, …</a:t>
            </a:r>
            <a:endParaRPr lang="en-US" dirty="0"/>
          </a:p>
          <a:p>
            <a:pPr lvl="1"/>
            <a:r>
              <a:rPr lang="ru-RU" dirty="0"/>
              <a:t>Управление памятью: умные указатели (</a:t>
            </a:r>
            <a:r>
              <a:rPr lang="en-US" dirty="0" err="1"/>
              <a:t>unique_ptr</a:t>
            </a:r>
            <a:r>
              <a:rPr lang="en-US" dirty="0"/>
              <a:t>, </a:t>
            </a:r>
            <a:r>
              <a:rPr lang="en-US" dirty="0" err="1"/>
              <a:t>shared_ptr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Ввод-вывод: потоки (</a:t>
            </a:r>
            <a:r>
              <a:rPr lang="en-US" dirty="0"/>
              <a:t>iostream)</a:t>
            </a:r>
            <a:r>
              <a:rPr lang="ru-RU" dirty="0"/>
              <a:t>, файловая система (</a:t>
            </a:r>
            <a:r>
              <a:rPr lang="en-US" dirty="0"/>
              <a:t>filesystem)</a:t>
            </a:r>
          </a:p>
          <a:p>
            <a:pPr lvl="1"/>
            <a:r>
              <a:rPr lang="ru-RU" dirty="0"/>
              <a:t>Числа и время: &lt;</a:t>
            </a:r>
            <a:r>
              <a:rPr lang="en-US" dirty="0" err="1"/>
              <a:t>cmath</a:t>
            </a:r>
            <a:r>
              <a:rPr lang="en-US" dirty="0"/>
              <a:t>&gt;, &lt;complex&gt;, &lt;random&gt;</a:t>
            </a:r>
            <a:r>
              <a:rPr lang="ru-RU" dirty="0"/>
              <a:t>, </a:t>
            </a:r>
            <a:r>
              <a:rPr lang="en-US" dirty="0"/>
              <a:t>&lt;chrono&gt;</a:t>
            </a:r>
          </a:p>
          <a:p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346B9-A176-AD9B-3516-76605791F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94208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Контейнеры стандартной библиотеки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Что такое контейнер</a:t>
            </a:r>
          </a:p>
          <a:p>
            <a:pPr lvl="1"/>
            <a:r>
              <a:rPr lang="ru-RU" dirty="0"/>
              <a:t>Класс для хранения набора элементов одного типа</a:t>
            </a:r>
          </a:p>
          <a:p>
            <a:r>
              <a:rPr lang="ru-RU" b="1" dirty="0"/>
              <a:t>Последовательные контейнеры</a:t>
            </a:r>
            <a:endParaRPr lang="ru-RU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/>
              <a:t>deque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 err="1"/>
              <a:t>forward_list</a:t>
            </a:r>
            <a:endParaRPr lang="en-US" dirty="0"/>
          </a:p>
          <a:p>
            <a:r>
              <a:rPr lang="ru-RU" b="1" dirty="0"/>
              <a:t>Ассоциативные контейнеры</a:t>
            </a:r>
            <a:endParaRPr lang="ru-RU" dirty="0"/>
          </a:p>
          <a:p>
            <a:pPr lvl="1"/>
            <a:r>
              <a:rPr lang="en-US" dirty="0"/>
              <a:t>set, map</a:t>
            </a:r>
          </a:p>
          <a:p>
            <a:pPr lvl="1"/>
            <a:r>
              <a:rPr lang="en-US" dirty="0"/>
              <a:t>multiset, multimap</a:t>
            </a:r>
          </a:p>
          <a:p>
            <a:pPr lvl="1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unordered_map</a:t>
            </a:r>
            <a:endParaRPr lang="ru-RU" dirty="0"/>
          </a:p>
          <a:p>
            <a:r>
              <a:rPr lang="ru-RU" b="1" dirty="0"/>
              <a:t>Особенности</a:t>
            </a:r>
          </a:p>
          <a:p>
            <a:pPr lvl="1"/>
            <a:r>
              <a:rPr lang="ru-RU" dirty="0"/>
              <a:t>Обобщённые (шаблонные) классы</a:t>
            </a:r>
          </a:p>
          <a:p>
            <a:pPr lvl="1"/>
            <a:r>
              <a:rPr lang="ru-RU" dirty="0"/>
              <a:t>Работают с элементами любого типа</a:t>
            </a:r>
          </a:p>
          <a:p>
            <a:pPr lvl="1"/>
            <a:r>
              <a:rPr lang="ru-RU" dirty="0"/>
              <a:t>Предоставляют единый интерфейс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C5172D-B5B3-EE2D-76A6-7388A1544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15282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Основные контейнеры стандартной библиотеки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Последовательные контейнеры</a:t>
            </a:r>
          </a:p>
          <a:p>
            <a:pPr lvl="1"/>
            <a:r>
              <a:rPr lang="en-US" b="1" dirty="0"/>
              <a:t>vector</a:t>
            </a:r>
            <a:r>
              <a:rPr lang="en-US" dirty="0"/>
              <a:t> — </a:t>
            </a:r>
            <a:r>
              <a:rPr lang="ru-RU" dirty="0"/>
              <a:t>динамический массив</a:t>
            </a:r>
          </a:p>
          <a:p>
            <a:pPr lvl="1"/>
            <a:r>
              <a:rPr lang="en-US" dirty="0"/>
              <a:t>deque — </a:t>
            </a:r>
            <a:r>
              <a:rPr lang="ru-RU" dirty="0"/>
              <a:t>двусторонняя очередь</a:t>
            </a:r>
          </a:p>
          <a:p>
            <a:pPr lvl="1"/>
            <a:r>
              <a:rPr lang="en-US" dirty="0"/>
              <a:t>list — </a:t>
            </a:r>
            <a:r>
              <a:rPr lang="ru-RU" dirty="0"/>
              <a:t>двусвязный список</a:t>
            </a:r>
          </a:p>
          <a:p>
            <a:pPr lvl="1"/>
            <a:r>
              <a:rPr lang="en-US" dirty="0" err="1"/>
              <a:t>forward_list</a:t>
            </a:r>
            <a:r>
              <a:rPr lang="en-US" dirty="0"/>
              <a:t> — </a:t>
            </a:r>
            <a:r>
              <a:rPr lang="ru-RU" dirty="0"/>
              <a:t>односвязный список</a:t>
            </a:r>
          </a:p>
          <a:p>
            <a:pPr lvl="1"/>
            <a:r>
              <a:rPr lang="en-US" dirty="0"/>
              <a:t>string (</a:t>
            </a:r>
            <a:r>
              <a:rPr lang="en-US" dirty="0" err="1"/>
              <a:t>basic_string</a:t>
            </a:r>
            <a:r>
              <a:rPr lang="en-US" dirty="0"/>
              <a:t>) — </a:t>
            </a:r>
            <a:r>
              <a:rPr lang="ru-RU" dirty="0"/>
              <a:t>строка</a:t>
            </a:r>
          </a:p>
          <a:p>
            <a:r>
              <a:rPr lang="ru-RU" dirty="0"/>
              <a:t>Ассоциативные контейнеры</a:t>
            </a:r>
          </a:p>
          <a:p>
            <a:pPr lvl="1"/>
            <a:r>
              <a:rPr lang="ru-RU" dirty="0"/>
              <a:t>Упорядоченные (на основе дерева)</a:t>
            </a:r>
          </a:p>
          <a:p>
            <a:pPr lvl="2"/>
            <a:r>
              <a:rPr lang="en-US" b="1" dirty="0"/>
              <a:t>map</a:t>
            </a:r>
            <a:r>
              <a:rPr lang="en-US" dirty="0"/>
              <a:t>, multimap</a:t>
            </a:r>
          </a:p>
          <a:p>
            <a:pPr lvl="2"/>
            <a:r>
              <a:rPr lang="en-US" dirty="0"/>
              <a:t>set, multiset</a:t>
            </a:r>
          </a:p>
          <a:p>
            <a:pPr lvl="1"/>
            <a:r>
              <a:rPr lang="ru-RU" dirty="0"/>
              <a:t>Неупорядоченные (</a:t>
            </a:r>
            <a:r>
              <a:rPr lang="en-US" dirty="0"/>
              <a:t>hash-</a:t>
            </a:r>
            <a:r>
              <a:rPr lang="ru-RU" dirty="0"/>
              <a:t>таблицы)</a:t>
            </a:r>
          </a:p>
          <a:p>
            <a:pPr lvl="2"/>
            <a:r>
              <a:rPr lang="en-US" b="1" dirty="0" err="1"/>
              <a:t>unordered_map</a:t>
            </a:r>
            <a:r>
              <a:rPr lang="en-US" dirty="0"/>
              <a:t>, </a:t>
            </a:r>
            <a:r>
              <a:rPr lang="en-US" dirty="0" err="1"/>
              <a:t>unordered_multimap</a:t>
            </a:r>
            <a:endParaRPr lang="en-US" dirty="0"/>
          </a:p>
          <a:p>
            <a:pPr lvl="2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unordered_multiset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F7C275-CF1E-BE44-3E6E-E5702A18D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914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907A938-AEA6-A728-E3AC-CBCECDBB4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std::string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082D4E0-CA4D-6477-BF35-1F9D5D21A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36C9CC-AD88-38E6-350D-0F0A72902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313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Строка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std::string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std::string — </a:t>
            </a:r>
            <a:r>
              <a:rPr lang="ru-RU" dirty="0"/>
              <a:t>класс стандартной библиотеки для хранения и обработки строк произвольной длины</a:t>
            </a:r>
          </a:p>
          <a:p>
            <a:r>
              <a:rPr lang="ru-RU" dirty="0"/>
              <a:t>Основан на шаблоне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basic_string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CharT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pPr lvl="1"/>
            <a:r>
              <a:rPr lang="ru-RU" dirty="0"/>
              <a:t>Основные варианты:</a:t>
            </a:r>
          </a:p>
          <a:p>
            <a:pPr lvl="2"/>
            <a:r>
              <a:rPr lang="en-US" dirty="0"/>
              <a:t>std::string — char</a:t>
            </a:r>
          </a:p>
          <a:p>
            <a:pPr lvl="2"/>
            <a:r>
              <a:rPr lang="en-US" dirty="0"/>
              <a:t>std::</a:t>
            </a:r>
            <a:r>
              <a:rPr lang="en-US" dirty="0" err="1"/>
              <a:t>wstring</a:t>
            </a:r>
            <a:r>
              <a:rPr lang="en-US" dirty="0"/>
              <a:t> — </a:t>
            </a:r>
            <a:r>
              <a:rPr lang="en-US" dirty="0" err="1"/>
              <a:t>wchar_t</a:t>
            </a:r>
            <a:endParaRPr lang="en-US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Автоматическое управление памятью</a:t>
            </a:r>
          </a:p>
          <a:p>
            <a:pPr lvl="1"/>
            <a:r>
              <a:rPr lang="ru-RU" dirty="0"/>
              <a:t>Динамический размер</a:t>
            </a:r>
          </a:p>
          <a:p>
            <a:pPr lvl="1"/>
            <a:r>
              <a:rPr lang="ru-RU" dirty="0"/>
              <a:t>Богатый набор операций</a:t>
            </a:r>
          </a:p>
          <a:p>
            <a:r>
              <a:rPr lang="ru-RU" dirty="0"/>
              <a:t>Подключение</a:t>
            </a:r>
          </a:p>
          <a:p>
            <a:pPr lvl="1"/>
            <a:r>
              <a:rPr lang="ru-RU" dirty="0"/>
              <a:t>#</a:t>
            </a:r>
            <a:r>
              <a:rPr lang="en-US" dirty="0"/>
              <a:t>include &lt;string&gt;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0AC5BBA-E8F1-D951-0EFB-95BD333B9E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4432" y="4722557"/>
            <a:ext cx="2041245" cy="205957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9733-CE63-022E-0A47-146993D8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65533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AC67B32-D8F7-7E2A-29F5-70C9C494A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string*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EDB4E74-030B-CFBC-2A39-1F38A6CBE00D}"/>
              </a:ext>
            </a:extLst>
          </p:cNvPr>
          <p:cNvSpPr/>
          <p:nvPr/>
        </p:nvSpPr>
        <p:spPr>
          <a:xfrm>
            <a:off x="5591944" y="2603105"/>
            <a:ext cx="5112568" cy="4320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Hello, world</a:t>
            </a:r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\0</a:t>
            </a:r>
            <a:endParaRPr lang="ru-RU" sz="16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4997A7F-6D45-866B-D32F-F1271D787194}"/>
              </a:ext>
            </a:extLst>
          </p:cNvPr>
          <p:cNvSpPr/>
          <p:nvPr/>
        </p:nvSpPr>
        <p:spPr>
          <a:xfrm>
            <a:off x="1343472" y="2207061"/>
            <a:ext cx="2376264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4D587C-837F-C7D0-E933-934760EA65B0}"/>
              </a:ext>
            </a:extLst>
          </p:cNvPr>
          <p:cNvSpPr/>
          <p:nvPr/>
        </p:nvSpPr>
        <p:spPr>
          <a:xfrm>
            <a:off x="1489748" y="2816412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data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9E10E48-70F2-7ABA-E389-CF6B2B1CA756}"/>
              </a:ext>
            </a:extLst>
          </p:cNvPr>
          <p:cNvSpPr/>
          <p:nvPr/>
        </p:nvSpPr>
        <p:spPr>
          <a:xfrm>
            <a:off x="1489748" y="3331800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size: 12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19CE81B-92E0-E531-2C14-1B1B7B5793E8}"/>
              </a:ext>
            </a:extLst>
          </p:cNvPr>
          <p:cNvSpPr/>
          <p:nvPr/>
        </p:nvSpPr>
        <p:spPr>
          <a:xfrm>
            <a:off x="1476314" y="2301024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capacity</a:t>
            </a:r>
            <a:r>
              <a:rPr lang="en-US">
                <a:solidFill>
                  <a:schemeClr val="tx1"/>
                </a:solidFill>
              </a:rPr>
              <a:t>: 20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BFE61396-C437-3AC3-3CF9-724BE45F0FC7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569596" y="2819129"/>
            <a:ext cx="2022348" cy="19752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83B1B691-3B5B-1209-6EF0-A4F06876767C}"/>
              </a:ext>
            </a:extLst>
          </p:cNvPr>
          <p:cNvSpPr/>
          <p:nvPr/>
        </p:nvSpPr>
        <p:spPr>
          <a:xfrm rot="16200000">
            <a:off x="6796627" y="2001413"/>
            <a:ext cx="517154" cy="269010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4574BD-3421-5E93-8CBB-85C93A8A1127}"/>
              </a:ext>
            </a:extLst>
          </p:cNvPr>
          <p:cNvSpPr txBox="1"/>
          <p:nvPr/>
        </p:nvSpPr>
        <p:spPr>
          <a:xfrm>
            <a:off x="5710152" y="3605041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6" name="Левая фигурная скобка 15">
            <a:extLst>
              <a:ext uri="{FF2B5EF4-FFF2-40B4-BE49-F238E27FC236}">
                <a16:creationId xmlns:a16="http://schemas.microsoft.com/office/drawing/2014/main" id="{CC8CB6FA-ADDF-EDFE-C25D-7568209A0A3B}"/>
              </a:ext>
            </a:extLst>
          </p:cNvPr>
          <p:cNvSpPr/>
          <p:nvPr/>
        </p:nvSpPr>
        <p:spPr>
          <a:xfrm rot="16200000">
            <a:off x="7948755" y="1768889"/>
            <a:ext cx="517154" cy="499436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E00D5D-4E5C-6137-3C49-DBDF754BEB96}"/>
              </a:ext>
            </a:extLst>
          </p:cNvPr>
          <p:cNvSpPr txBox="1"/>
          <p:nvPr/>
        </p:nvSpPr>
        <p:spPr>
          <a:xfrm>
            <a:off x="6974809" y="4536626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4E0AAF-E595-3533-D417-3E8EA282433B}"/>
              </a:ext>
            </a:extLst>
          </p:cNvPr>
          <p:cNvSpPr txBox="1"/>
          <p:nvPr/>
        </p:nvSpPr>
        <p:spPr>
          <a:xfrm>
            <a:off x="4511824" y="6086024"/>
            <a:ext cx="768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На практике всё устроено гораздо сложнее (</a:t>
            </a:r>
            <a:r>
              <a:rPr lang="en-US" dirty="0"/>
              <a:t>Small String Optimization)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4B5D88-0019-0756-BCCF-555D7855F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0255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строки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4000" y="1772817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400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0"/>
            <a:ext cx="105156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using namespace std::literals;</a:t>
            </a: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emptyString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goodbye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using namespace std::literals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'n'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// Создание строки из массива символов заданной длины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one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One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aaaa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(4,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aaaa</a:t>
            </a:r>
            <a:endParaRPr lang="ru-RU" sz="2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20FA4-B2DB-5AC3-3DA9-769E8C1A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907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и вместимость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1531243" y="1403462"/>
            <a:ext cx="8928992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long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26);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&gt;=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erase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(19, 7);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erase " string"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long"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19);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clear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0);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E4F54-CC46-FEC8-C134-323D59B19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67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983432" y="1988840"/>
            <a:ext cx="875978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bbb"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aaa"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Abc"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E9E9E-B2FF-BBC0-BB6A-9061E4E84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592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Конкатенация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772816"/>
            <a:ext cx="957828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ru-RU" sz="2400" dirty="0">
                <a:solidFill>
                  <a:srgbClr val="000080"/>
                </a:solidFill>
                <a:latin typeface="Consolas" panose="020B0609020204030204" pitchFamily="49" charset="0"/>
              </a:rPr>
              <a:t> 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10419D-C332-DA6E-B4AC-C54367F3F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4398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Извлечение подстроки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28800"/>
            <a:ext cx="982980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0, 4);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Hell"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6);</a:t>
            </a:r>
          </a:p>
          <a:p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6);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"Hello "s += "world"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FA03D3-3D6D-C1F4-78A3-49FD60993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6089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внутри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916832"/>
            <a:ext cx="985125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'w'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'x'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npos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find_first_of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aeiouy"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1);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4);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first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7);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last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 == 7);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5D190-D3A9-5CC9-D0B7-A80404EE5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299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Замена фрагмента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2564904"/>
            <a:ext cx="946313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(0, 5,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"Goodbye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cat"s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(10, 3,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8, 5);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52C484-BA29-6A76-9E65-03E8A514B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1113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9C8756-21A4-EDC9-2118-86DA1C533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04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string_view</a:t>
            </a:r>
            <a:endParaRPr lang="ru-RU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string_view</a:t>
            </a:r>
            <a:r>
              <a:rPr lang="ru-RU" dirty="0"/>
              <a:t> — </a:t>
            </a:r>
            <a:r>
              <a:rPr lang="ru-RU" dirty="0" err="1"/>
              <a:t>невладеющее</a:t>
            </a:r>
            <a:r>
              <a:rPr lang="ru-RU" dirty="0"/>
              <a:t> представление строки</a:t>
            </a:r>
          </a:p>
          <a:p>
            <a:pPr lvl="1"/>
            <a:r>
              <a:rPr lang="ru-RU" dirty="0"/>
              <a:t>Ссылается на непрерывную последовательность символов</a:t>
            </a:r>
          </a:p>
          <a:p>
            <a:pPr lvl="1"/>
            <a:r>
              <a:rPr lang="ru-RU" dirty="0"/>
              <a:t>Не копирует данные</a:t>
            </a:r>
          </a:p>
          <a:p>
            <a:pPr lvl="1"/>
            <a:r>
              <a:rPr lang="ru-RU" dirty="0"/>
              <a:t>Не управляет временем жизни строки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Легковесный (по сути: указатель + длина)</a:t>
            </a:r>
          </a:p>
          <a:p>
            <a:pPr lvl="1"/>
            <a:r>
              <a:rPr lang="ru-RU" dirty="0"/>
              <a:t>Только для чтения</a:t>
            </a:r>
            <a:endParaRPr lang="en-US" dirty="0"/>
          </a:p>
          <a:p>
            <a:pPr lvl="1"/>
            <a:r>
              <a:rPr lang="ru-RU" dirty="0"/>
              <a:t>Не заканчивается на </a:t>
            </a:r>
            <a:r>
              <a:rPr lang="en-US" dirty="0"/>
              <a:t>\0</a:t>
            </a:r>
            <a:endParaRPr lang="ru-RU" dirty="0"/>
          </a:p>
          <a:p>
            <a:pPr lvl="1"/>
            <a:r>
              <a:rPr lang="ru-RU" dirty="0"/>
              <a:t>Может ссылаться на:</a:t>
            </a:r>
          </a:p>
          <a:p>
            <a:pPr lvl="2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endParaRPr lang="ru-RU" dirty="0"/>
          </a:p>
          <a:p>
            <a:pPr lvl="2"/>
            <a:r>
              <a:rPr lang="ru-RU" dirty="0"/>
              <a:t>строковый литерал</a:t>
            </a:r>
          </a:p>
          <a:p>
            <a:pPr lvl="2"/>
            <a:r>
              <a:rPr lang="ru-RU" dirty="0"/>
              <a:t>часть строки</a:t>
            </a:r>
          </a:p>
          <a:p>
            <a:r>
              <a:rPr lang="ru-RU" b="1" dirty="0"/>
              <a:t>Важно</a:t>
            </a:r>
            <a:r>
              <a:rPr lang="ru-RU" dirty="0"/>
              <a:t>: строка должна жить дольше, чем </a:t>
            </a:r>
            <a:r>
              <a:rPr lang="ru-RU" dirty="0" err="1"/>
              <a:t>string_view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E710487-79E5-966C-2A3F-77488224C7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2384" y="188640"/>
            <a:ext cx="2530059" cy="255292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B4774-2D99-1FCB-A261-4A351D461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0663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F931F59-35AE-EB55-D812-B01B50A41CBF}"/>
              </a:ext>
            </a:extLst>
          </p:cNvPr>
          <p:cNvSpPr/>
          <p:nvPr/>
        </p:nvSpPr>
        <p:spPr>
          <a:xfrm>
            <a:off x="2207568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449A098-F3E6-279F-F10E-9B62CC87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99F08C0-2221-AF26-AA8B-2C7F5A001B70}"/>
              </a:ext>
            </a:extLst>
          </p:cNvPr>
          <p:cNvSpPr/>
          <p:nvPr/>
        </p:nvSpPr>
        <p:spPr>
          <a:xfrm>
            <a:off x="256760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D3365BF-23F8-0243-E7D6-1D9FCB65E941}"/>
              </a:ext>
            </a:extLst>
          </p:cNvPr>
          <p:cNvSpPr/>
          <p:nvPr/>
        </p:nvSpPr>
        <p:spPr>
          <a:xfrm>
            <a:off x="299965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EA10FEA-7FDC-FB61-7625-080937C0FBF3}"/>
              </a:ext>
            </a:extLst>
          </p:cNvPr>
          <p:cNvSpPr/>
          <p:nvPr/>
        </p:nvSpPr>
        <p:spPr>
          <a:xfrm>
            <a:off x="343170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25B55EE-8130-680B-C9EC-6C39CCC03812}"/>
              </a:ext>
            </a:extLst>
          </p:cNvPr>
          <p:cNvSpPr/>
          <p:nvPr/>
        </p:nvSpPr>
        <p:spPr>
          <a:xfrm>
            <a:off x="386375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BDE4F55-2BFD-3489-3AE1-DC81FAD9AFFB}"/>
              </a:ext>
            </a:extLst>
          </p:cNvPr>
          <p:cNvSpPr/>
          <p:nvPr/>
        </p:nvSpPr>
        <p:spPr>
          <a:xfrm>
            <a:off x="429580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AB4533-6759-49ED-85DC-7ACE69BE6A7B}"/>
              </a:ext>
            </a:extLst>
          </p:cNvPr>
          <p:cNvSpPr/>
          <p:nvPr/>
        </p:nvSpPr>
        <p:spPr>
          <a:xfrm>
            <a:off x="2334608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75CA65-B73C-FAE2-9D23-065A6E48BAB8}"/>
              </a:ext>
            </a:extLst>
          </p:cNvPr>
          <p:cNvSpPr/>
          <p:nvPr/>
        </p:nvSpPr>
        <p:spPr>
          <a:xfrm>
            <a:off x="2334608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E3A8C6-178A-69D2-7332-44DE27A78B78}"/>
              </a:ext>
            </a:extLst>
          </p:cNvPr>
          <p:cNvSpPr/>
          <p:nvPr/>
        </p:nvSpPr>
        <p:spPr>
          <a:xfrm>
            <a:off x="472784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5947C34-B4B8-713A-8FCA-723810285273}"/>
              </a:ext>
            </a:extLst>
          </p:cNvPr>
          <p:cNvSpPr/>
          <p:nvPr/>
        </p:nvSpPr>
        <p:spPr>
          <a:xfrm>
            <a:off x="515989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026927F-353A-D2EF-1831-0FFA3AFE4FF2}"/>
              </a:ext>
            </a:extLst>
          </p:cNvPr>
          <p:cNvSpPr/>
          <p:nvPr/>
        </p:nvSpPr>
        <p:spPr>
          <a:xfrm>
            <a:off x="559194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F0D6D5-B92F-43F0-4B06-CAAC4AF20EC6}"/>
              </a:ext>
            </a:extLst>
          </p:cNvPr>
          <p:cNvSpPr/>
          <p:nvPr/>
        </p:nvSpPr>
        <p:spPr>
          <a:xfrm>
            <a:off x="602399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A5C912D-1914-6353-13BD-8A6A48523943}"/>
              </a:ext>
            </a:extLst>
          </p:cNvPr>
          <p:cNvSpPr/>
          <p:nvPr/>
        </p:nvSpPr>
        <p:spPr>
          <a:xfrm>
            <a:off x="645604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64BC7BE-4FB8-29E1-72BB-C06CFA317FBA}"/>
              </a:ext>
            </a:extLst>
          </p:cNvPr>
          <p:cNvSpPr/>
          <p:nvPr/>
        </p:nvSpPr>
        <p:spPr>
          <a:xfrm>
            <a:off x="688808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ru-RU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78514393-AAD8-44CA-0C4D-4D13008F77D7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 flipH="1" flipV="1">
            <a:off x="2567608" y="2312876"/>
            <a:ext cx="919128" cy="1802839"/>
          </a:xfrm>
          <a:prstGeom prst="curvedConnector5">
            <a:avLst>
              <a:gd name="adj1" fmla="val -24871"/>
              <a:gd name="adj2" fmla="val 48003"/>
              <a:gd name="adj3" fmla="val 12487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B0AFCF0-0D56-7A5E-84F9-97A59BAF8641}"/>
              </a:ext>
            </a:extLst>
          </p:cNvPr>
          <p:cNvSpPr/>
          <p:nvPr/>
        </p:nvSpPr>
        <p:spPr>
          <a:xfrm>
            <a:off x="6096800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4890E1C-8B14-9B47-6F81-203074FAA8A4}"/>
              </a:ext>
            </a:extLst>
          </p:cNvPr>
          <p:cNvSpPr/>
          <p:nvPr/>
        </p:nvSpPr>
        <p:spPr>
          <a:xfrm>
            <a:off x="6223840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4F20227-4064-0527-25EA-F4B2C7AAE490}"/>
              </a:ext>
            </a:extLst>
          </p:cNvPr>
          <p:cNvSpPr/>
          <p:nvPr/>
        </p:nvSpPr>
        <p:spPr>
          <a:xfrm>
            <a:off x="6223840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cxnSp>
        <p:nvCxnSpPr>
          <p:cNvPr id="28" name="Прямая со стрелкой 18">
            <a:extLst>
              <a:ext uri="{FF2B5EF4-FFF2-40B4-BE49-F238E27FC236}">
                <a16:creationId xmlns:a16="http://schemas.microsoft.com/office/drawing/2014/main" id="{F51D4F6F-4ED8-D73A-74D3-465397B10550}"/>
              </a:ext>
            </a:extLst>
          </p:cNvPr>
          <p:cNvCxnSpPr>
            <a:cxnSpLocks/>
            <a:stCxn id="26" idx="0"/>
            <a:endCxn id="13" idx="2"/>
          </p:cNvCxnSpPr>
          <p:nvPr/>
        </p:nvCxnSpPr>
        <p:spPr>
          <a:xfrm rot="16200000" flipV="1">
            <a:off x="5402518" y="2538308"/>
            <a:ext cx="1370791" cy="1423984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73D7DB7E-810C-6934-AFB6-D7526FD1B1B3}"/>
              </a:ext>
            </a:extLst>
          </p:cNvPr>
          <p:cNvSpPr/>
          <p:nvPr/>
        </p:nvSpPr>
        <p:spPr>
          <a:xfrm rot="16200000">
            <a:off x="3476196" y="1807187"/>
            <a:ext cx="199048" cy="201622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D768A2D8-E67E-7B99-69F8-6A1F9D6038D6}"/>
              </a:ext>
            </a:extLst>
          </p:cNvPr>
          <p:cNvSpPr/>
          <p:nvPr/>
        </p:nvSpPr>
        <p:spPr>
          <a:xfrm rot="16200000">
            <a:off x="6140492" y="1702231"/>
            <a:ext cx="199048" cy="216024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888319C6-7533-4ACB-4CC1-399D86F89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6434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Конструирование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1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'H'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v(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&amp;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[0]);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v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использует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содержимое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arr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s(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s;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(), 4);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4);</a:t>
            </a:r>
            <a:endParaRPr lang="ru-RU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87D530-C171-1885-63A6-174F151A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279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 – </a:t>
            </a:r>
            <a:r>
              <a:rPr lang="ru-RU" dirty="0"/>
              <a:t>ссылки на части </a:t>
            </a:r>
            <a:r>
              <a:rPr lang="en-US" dirty="0"/>
              <a:t>URL</a:t>
            </a:r>
            <a:endParaRPr lang="ru-RU" dirty="0"/>
          </a:p>
        </p:txBody>
      </p:sp>
      <p:sp>
        <p:nvSpPr>
          <p:cNvPr id="3" name="Rectangle 2"/>
          <p:cNvSpPr/>
          <p:nvPr/>
        </p:nvSpPr>
        <p:spPr>
          <a:xfrm>
            <a:off x="838200" y="1690688"/>
            <a:ext cx="10730408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"http://en.cppreference.com/w/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cpp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/string/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basic_string_view"s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scheme(&amp;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0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4);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(scheme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domain(&amp;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7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19);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(domain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"en.cppreference.com"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1F7F671-8741-2B2C-9DC3-2CB978601719}"/>
              </a:ext>
            </a:extLst>
          </p:cNvPr>
          <p:cNvSpPr/>
          <p:nvPr/>
        </p:nvSpPr>
        <p:spPr>
          <a:xfrm rot="5400000">
            <a:off x="2747628" y="1916832"/>
            <a:ext cx="216024" cy="576064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C92DF5-C41A-6D5F-F81D-9C434C5281E9}"/>
              </a:ext>
            </a:extLst>
          </p:cNvPr>
          <p:cNvSpPr txBox="1"/>
          <p:nvPr/>
        </p:nvSpPr>
        <p:spPr>
          <a:xfrm>
            <a:off x="2351584" y="2329396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scheme</a:t>
            </a:r>
            <a:endParaRPr lang="en-US" dirty="0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30ACEE26-B882-9C84-61AE-BBBB0077E52F}"/>
              </a:ext>
            </a:extLst>
          </p:cNvPr>
          <p:cNvSpPr/>
          <p:nvPr/>
        </p:nvSpPr>
        <p:spPr>
          <a:xfrm rot="5400000">
            <a:off x="4800129" y="872989"/>
            <a:ext cx="216024" cy="2663750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EF0DC6-1F74-0A6B-CD7C-7CB3FD41BC02}"/>
              </a:ext>
            </a:extLst>
          </p:cNvPr>
          <p:cNvSpPr txBox="1"/>
          <p:nvPr/>
        </p:nvSpPr>
        <p:spPr>
          <a:xfrm>
            <a:off x="4511824" y="2329396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domain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E6C74BF-9B13-4E82-ED5A-1E1E9630C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8982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 animBg="1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F59A1-36F4-6660-3600-2B463110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std::array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EC5C748-B379-7A00-A98B-CE502DB60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D98382-C578-7AD4-25A4-7139D1229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014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EFBBCB5-884E-603C-0B01-B218186D3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std::array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EC0FF96-76FC-AF9A-A6C5-C6DE1A002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Что это</a:t>
            </a:r>
          </a:p>
          <a:p>
            <a:pPr lvl="1"/>
            <a:r>
              <a:rPr lang="ru-RU" dirty="0"/>
              <a:t>Контейнер фиксированного размера (обёртка над C-массивом)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array</a:t>
            </a:r>
            <a:r>
              <a:rPr lang="ru-RU" dirty="0"/>
              <a:t>&lt;</a:t>
            </a:r>
            <a:r>
              <a:rPr lang="ru-RU" dirty="0" err="1"/>
              <a:t>int</a:t>
            </a:r>
            <a:r>
              <a:rPr lang="ru-RU" dirty="0"/>
              <a:t>, 3&gt; a = {1, 2, 3};</a:t>
            </a:r>
          </a:p>
          <a:p>
            <a:r>
              <a:rPr lang="ru-RU" dirty="0"/>
              <a:t>Преимущества перед C-массивами</a:t>
            </a:r>
          </a:p>
          <a:p>
            <a:pPr lvl="1"/>
            <a:r>
              <a:rPr lang="ru-RU" dirty="0"/>
              <a:t>Знает свой размер (метод </a:t>
            </a:r>
            <a:r>
              <a:rPr lang="ru-RU" dirty="0" err="1"/>
              <a:t>size</a:t>
            </a:r>
            <a:r>
              <a:rPr lang="ru-RU" dirty="0"/>
              <a:t>())</a:t>
            </a:r>
          </a:p>
          <a:p>
            <a:pPr lvl="1"/>
            <a:r>
              <a:rPr lang="ru-RU" dirty="0"/>
              <a:t>Поддерживает алгоритмы стандартной библиотеки</a:t>
            </a:r>
          </a:p>
          <a:p>
            <a:pPr lvl="1"/>
            <a:r>
              <a:rPr lang="ru-RU" dirty="0"/>
              <a:t>Можно передавать и возвращать по значению</a:t>
            </a:r>
          </a:p>
          <a:p>
            <a:pPr lvl="1"/>
            <a:r>
              <a:rPr lang="ru-RU" dirty="0"/>
              <a:t>Можно хранить в других контейнерах (</a:t>
            </a:r>
            <a:r>
              <a:rPr lang="ru-RU" dirty="0" err="1"/>
              <a:t>optional</a:t>
            </a:r>
            <a:r>
              <a:rPr lang="ru-RU" dirty="0"/>
              <a:t>, </a:t>
            </a:r>
            <a:r>
              <a:rPr lang="ru-RU" dirty="0" err="1"/>
              <a:t>vector</a:t>
            </a:r>
            <a:r>
              <a:rPr lang="ru-RU" dirty="0"/>
              <a:t> и т.д.)</a:t>
            </a:r>
          </a:p>
          <a:p>
            <a:pPr lvl="1"/>
            <a:r>
              <a:rPr lang="ru-RU" dirty="0"/>
              <a:t>Поддерживает сравнение (==, &lt;, …)</a:t>
            </a:r>
          </a:p>
          <a:p>
            <a:r>
              <a:rPr lang="ru-RU" dirty="0"/>
              <a:t>Подключение</a:t>
            </a:r>
          </a:p>
          <a:p>
            <a:pPr lvl="1"/>
            <a:r>
              <a:rPr lang="ru-RU" dirty="0"/>
              <a:t>#include &lt;</a:t>
            </a:r>
            <a:r>
              <a:rPr lang="ru-RU" dirty="0" err="1"/>
              <a:t>array</a:t>
            </a:r>
            <a:r>
              <a:rPr lang="ru-RU" dirty="0"/>
              <a:t>&gt;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12816F-B9AD-C108-DD85-2478864C21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4758" y="4221088"/>
            <a:ext cx="2226159" cy="225928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0680C-D66A-5800-B611-B8ABF836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14792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6190-0794-D2D1-1936-9A5D4527D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std::array vs C-</a:t>
            </a:r>
            <a:r>
              <a:rPr lang="ru-RU" dirty="0"/>
              <a:t>массив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A9B8ADC-3B2E-244B-B6FF-7300C4FA544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00169818"/>
              </p:ext>
            </p:extLst>
          </p:nvPr>
        </p:nvGraphicFramePr>
        <p:xfrm>
          <a:off x="838200" y="1825624"/>
          <a:ext cx="10658400" cy="2846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9200">
                  <a:extLst>
                    <a:ext uri="{9D8B030D-6E8A-4147-A177-3AD203B41FA5}">
                      <a16:colId xmlns:a16="http://schemas.microsoft.com/office/drawing/2014/main" val="1934229368"/>
                    </a:ext>
                  </a:extLst>
                </a:gridCol>
                <a:gridCol w="5329200">
                  <a:extLst>
                    <a:ext uri="{9D8B030D-6E8A-4147-A177-3AD203B41FA5}">
                      <a16:colId xmlns:a16="http://schemas.microsoft.com/office/drawing/2014/main" val="188665353"/>
                    </a:ext>
                  </a:extLst>
                </a:gridCol>
              </a:tblGrid>
              <a:tr h="474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C-</a:t>
                      </a:r>
                      <a:r>
                        <a:rPr lang="ru-RU" dirty="0"/>
                        <a:t>массив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std::array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1354020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Не знает свой размер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size()</a:t>
                      </a:r>
                      <a:r>
                        <a:rPr lang="en-US" dirty="0"/>
                        <a:t> </a:t>
                      </a:r>
                      <a:r>
                        <a:rPr lang="ru-RU" dirty="0"/>
                        <a:t>возвращает размер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4631078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Не копируется как единое целое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Копируется и присваивается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0288763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Превращается в указатель при передаче в функцию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Передаётся как обычный объект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329230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Нет методов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Имеет</a:t>
                      </a:r>
                      <a:r>
                        <a:rPr lang="en-US" dirty="0"/>
                        <a:t>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begin()</a:t>
                      </a:r>
                      <a:r>
                        <a:rPr lang="en-US" dirty="0"/>
                        <a:t>,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end()</a:t>
                      </a:r>
                      <a:r>
                        <a:rPr lang="en-US" dirty="0"/>
                        <a:t>,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fill()</a:t>
                      </a:r>
                      <a:r>
                        <a:rPr lang="en-US" dirty="0"/>
                        <a:t>,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at()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189414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Нет встроенного сравнения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Поддерживает 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==</a:t>
                      </a:r>
                      <a:r>
                        <a:rPr lang="ru-RU" dirty="0"/>
                        <a:t>, 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r>
                        <a:rPr lang="ru-RU" dirty="0"/>
                        <a:t>, …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729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66B05E-DD4D-0966-680F-E5FE5BAE9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4851399"/>
            <a:ext cx="10658400" cy="1325564"/>
          </a:xfrm>
        </p:spPr>
        <p:txBody>
          <a:bodyPr/>
          <a:lstStyle/>
          <a:p>
            <a:r>
              <a:rPr lang="ru-RU" dirty="0"/>
              <a:t>Итог</a:t>
            </a:r>
          </a:p>
          <a:p>
            <a:pPr lvl="1"/>
            <a:r>
              <a:rPr lang="ru-RU" dirty="0"/>
              <a:t>C-массив — низкоуровневый механизм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array</a:t>
            </a:r>
            <a:r>
              <a:rPr lang="ru-RU" dirty="0"/>
              <a:t> — безопасная и удобная альтернатива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BED14-66EC-62B3-DD19-C51CB5252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4738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CBD3D7-1977-73BB-34A7-B5EEDD16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индекса при доступе к элементам </a:t>
            </a:r>
            <a:r>
              <a:rPr lang="en-US" dirty="0"/>
              <a:t>std::array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766739-6FBF-F622-A1B1-557A21CD1388}"/>
              </a:ext>
            </a:extLst>
          </p:cNvPr>
          <p:cNvSpPr txBox="1"/>
          <p:nvPr/>
        </p:nvSpPr>
        <p:spPr>
          <a:xfrm>
            <a:off x="838200" y="2276872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Метод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at()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выбросит исключение если индекс выходит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за пределы массива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13008A-AC4A-938A-4F50-FDB742DE983B}"/>
              </a:ext>
            </a:extLst>
          </p:cNvPr>
          <p:cNvSpPr txBox="1"/>
          <p:nvPr/>
        </p:nvSpPr>
        <p:spPr>
          <a:xfrm>
            <a:off x="2495600" y="6371709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https://godbolt.org/z/xM1EcGTMz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47C986-2280-6285-AF9A-03ABB929D6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368" y="3978405"/>
            <a:ext cx="2705478" cy="276263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D8A09-6245-BD8D-4257-FE84384E3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3872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F8407BA-2AD1-E327-2D3D-F3F93A96204A}"/>
              </a:ext>
            </a:extLst>
          </p:cNvPr>
          <p:cNvSpPr txBox="1"/>
          <p:nvPr/>
        </p:nvSpPr>
        <p:spPr>
          <a:xfrm>
            <a:off x="551384" y="54493"/>
            <a:ext cx="10225136" cy="6749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row : mat)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item : row)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item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Matrix3x3 m{};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CA8767-2B80-2638-8574-D3789EE6C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82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032FAC-7FC2-9964-B167-48922BE16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to_array</a:t>
            </a:r>
            <a:r>
              <a:rPr lang="en-US" dirty="0"/>
              <a:t> (C++20)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E724F8-7974-A789-C233-65F3CE2B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25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5E537-6D1F-CCEA-8128-49BE1CB9CA70}"/>
              </a:ext>
            </a:extLst>
          </p:cNvPr>
          <p:cNvSpPr txBox="1"/>
          <p:nvPr/>
        </p:nvSpPr>
        <p:spPr>
          <a:xfrm>
            <a:off x="838200" y="1690688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raw[]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to_array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(raw);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std::array&lt;int, 4&gt;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to_array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std::array&lt;int, 3&gt;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to_array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std::array&lt;char, 3&gt; 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включая '\0')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auto copy = a;              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std::array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42ADE-2DED-8D5D-9F12-0F8175954DA1}"/>
              </a:ext>
            </a:extLst>
          </p:cNvPr>
          <p:cNvSpPr txBox="1"/>
          <p:nvPr/>
        </p:nvSpPr>
        <p:spPr>
          <a:xfrm>
            <a:off x="838200" y="5987018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https://godbolt.org/z/vEcrGMxh8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2175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F7618A1-8066-48FD-9768-0D1E0D858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std::vector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CBE0ACE-5176-4178-A082-B46C84248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0E325-EB2C-AB3E-C17F-80A6C96F9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6457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solidFill>
                  <a:srgbClr val="FF0000"/>
                </a:solidFill>
                <a:hlinkClick r:id="rId4"/>
              </a:rPr>
              <a:t>std::vector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Динамический массив стандартной библиотеки</a:t>
            </a:r>
          </a:p>
          <a:p>
            <a:pPr lvl="1"/>
            <a:r>
              <a:rPr lang="ru-RU" dirty="0"/>
              <a:t>#include &lt;</a:t>
            </a:r>
            <a:r>
              <a:rPr lang="ru-RU" dirty="0" err="1"/>
              <a:t>vector</a:t>
            </a:r>
            <a:r>
              <a:rPr lang="ru-RU" dirty="0"/>
              <a:t>&gt;</a:t>
            </a:r>
          </a:p>
          <a:p>
            <a:r>
              <a:rPr lang="ru-RU" dirty="0"/>
              <a:t>Основные свойства</a:t>
            </a:r>
          </a:p>
          <a:p>
            <a:pPr lvl="1"/>
            <a:r>
              <a:rPr lang="ru-RU" dirty="0"/>
              <a:t>Хранит элементы одного типа</a:t>
            </a:r>
          </a:p>
          <a:p>
            <a:pPr lvl="1"/>
            <a:r>
              <a:rPr lang="ru-RU" dirty="0"/>
              <a:t>Размер может изменяться во время выполнения</a:t>
            </a:r>
          </a:p>
          <a:p>
            <a:pPr lvl="1"/>
            <a:r>
              <a:rPr lang="ru-RU" dirty="0"/>
              <a:t>Элементы расположены </a:t>
            </a:r>
            <a:r>
              <a:rPr lang="ru-RU" b="1" dirty="0"/>
              <a:t>непрерывно в памяти</a:t>
            </a:r>
            <a:endParaRPr lang="ru-RU" dirty="0"/>
          </a:p>
          <a:p>
            <a:pPr lvl="1"/>
            <a:r>
              <a:rPr lang="ru-RU" dirty="0"/>
              <a:t>Поддерживает индексированный доступ (</a:t>
            </a:r>
            <a:r>
              <a:rPr lang="ru-RU" dirty="0" err="1"/>
              <a:t>operator</a:t>
            </a:r>
            <a:r>
              <a:rPr lang="ru-RU" dirty="0"/>
              <a:t>[], </a:t>
            </a:r>
            <a:r>
              <a:rPr lang="ru-RU" dirty="0" err="1"/>
              <a:t>at</a:t>
            </a:r>
            <a:r>
              <a:rPr lang="ru-RU" dirty="0"/>
              <a:t>())</a:t>
            </a:r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Автоматическое управление памятью</a:t>
            </a:r>
          </a:p>
          <a:p>
            <a:pPr lvl="1"/>
            <a:r>
              <a:rPr lang="ru-RU" dirty="0"/>
              <a:t>Эффективное добавление в конец (</a:t>
            </a:r>
            <a:r>
              <a:rPr lang="ru-RU" dirty="0" err="1"/>
              <a:t>push_back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Совместим со всеми стандартными алгоритмами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032569F-88B9-D3DA-38B0-8ECDB966ED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079" y="4233765"/>
            <a:ext cx="2552921" cy="25986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E8E6A-A7EC-32E0-1E9F-3A0C71F30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27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583090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DD58C1D-46AF-DF06-368A-7D9272CE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vector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05BC081-18CA-ECB0-331B-060E53022847}"/>
              </a:ext>
            </a:extLst>
          </p:cNvPr>
          <p:cNvSpPr/>
          <p:nvPr/>
        </p:nvSpPr>
        <p:spPr>
          <a:xfrm>
            <a:off x="1828800" y="4559644"/>
            <a:ext cx="2376264" cy="174967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237AF9-EA7F-6960-1B64-C15088279C84}"/>
              </a:ext>
            </a:extLst>
          </p:cNvPr>
          <p:cNvSpPr/>
          <p:nvPr/>
        </p:nvSpPr>
        <p:spPr>
          <a:xfrm>
            <a:off x="1981200" y="4712045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data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0D0921C-1A44-F6B6-2F07-8625F0FA96AC}"/>
              </a:ext>
            </a:extLst>
          </p:cNvPr>
          <p:cNvSpPr/>
          <p:nvPr/>
        </p:nvSpPr>
        <p:spPr>
          <a:xfrm>
            <a:off x="1975076" y="5211909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size: 4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CF5FBC7-AE7F-2072-91F1-E9C587DDA79C}"/>
              </a:ext>
            </a:extLst>
          </p:cNvPr>
          <p:cNvSpPr/>
          <p:nvPr/>
        </p:nvSpPr>
        <p:spPr>
          <a:xfrm>
            <a:off x="1975076" y="5738661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capacity: 11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7D3463FF-6C18-BB61-7971-BFF451456840}"/>
              </a:ext>
            </a:extLst>
          </p:cNvPr>
          <p:cNvCxnSpPr>
            <a:cxnSpLocks/>
            <a:stCxn id="7" idx="0"/>
            <a:endCxn id="16" idx="1"/>
          </p:cNvCxnSpPr>
          <p:nvPr/>
        </p:nvCxnSpPr>
        <p:spPr>
          <a:xfrm flipV="1">
            <a:off x="3021125" y="2316807"/>
            <a:ext cx="888827" cy="23952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BA519256-4672-A2BA-D799-57A8BB8E706C}"/>
              </a:ext>
            </a:extLst>
          </p:cNvPr>
          <p:cNvSpPr/>
          <p:nvPr/>
        </p:nvSpPr>
        <p:spPr>
          <a:xfrm rot="16200000">
            <a:off x="4384098" y="2094429"/>
            <a:ext cx="517154" cy="1465445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A655F-7930-F76B-77B5-51E25D3FDB05}"/>
              </a:ext>
            </a:extLst>
          </p:cNvPr>
          <p:cNvSpPr txBox="1"/>
          <p:nvPr/>
        </p:nvSpPr>
        <p:spPr>
          <a:xfrm>
            <a:off x="3935760" y="3095748"/>
            <a:ext cx="1439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C9AFD61C-7DB2-3DFF-E26C-D9D93B878405}"/>
              </a:ext>
            </a:extLst>
          </p:cNvPr>
          <p:cNvSpPr/>
          <p:nvPr/>
        </p:nvSpPr>
        <p:spPr>
          <a:xfrm rot="16200000">
            <a:off x="5667130" y="1731001"/>
            <a:ext cx="517154" cy="403151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FF6E7-6806-3B4E-F24F-11F5720E1EB9}"/>
              </a:ext>
            </a:extLst>
          </p:cNvPr>
          <p:cNvSpPr txBox="1"/>
          <p:nvPr/>
        </p:nvSpPr>
        <p:spPr>
          <a:xfrm>
            <a:off x="5174609" y="4017313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96A504E-2E11-DB3B-BCEC-DE024D73BE2B}"/>
              </a:ext>
            </a:extLst>
          </p:cNvPr>
          <p:cNvSpPr/>
          <p:nvPr/>
        </p:nvSpPr>
        <p:spPr>
          <a:xfrm>
            <a:off x="3909952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B8B94C9-C40A-109C-D9C2-7A603FB00CE7}"/>
              </a:ext>
            </a:extLst>
          </p:cNvPr>
          <p:cNvSpPr/>
          <p:nvPr/>
        </p:nvSpPr>
        <p:spPr>
          <a:xfrm>
            <a:off x="4276313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1417C6-4DB4-BB5D-3436-BAD622FA09DE}"/>
              </a:ext>
            </a:extLst>
          </p:cNvPr>
          <p:cNvSpPr/>
          <p:nvPr/>
        </p:nvSpPr>
        <p:spPr>
          <a:xfrm>
            <a:off x="4642674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6961E32-A16D-0E86-22EA-E09CF107C128}"/>
              </a:ext>
            </a:extLst>
          </p:cNvPr>
          <p:cNvSpPr/>
          <p:nvPr/>
        </p:nvSpPr>
        <p:spPr>
          <a:xfrm>
            <a:off x="5009035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F791E93-7097-C4C7-13E3-47B9FBA08201}"/>
              </a:ext>
            </a:extLst>
          </p:cNvPr>
          <p:cNvSpPr/>
          <p:nvPr/>
        </p:nvSpPr>
        <p:spPr>
          <a:xfrm>
            <a:off x="5375396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96B63-26F6-9408-FF08-377C830B35E6}"/>
              </a:ext>
            </a:extLst>
          </p:cNvPr>
          <p:cNvSpPr/>
          <p:nvPr/>
        </p:nvSpPr>
        <p:spPr>
          <a:xfrm>
            <a:off x="5741757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D3029D2-E6BC-EB82-EDA9-C7D7FD90FD46}"/>
              </a:ext>
            </a:extLst>
          </p:cNvPr>
          <p:cNvSpPr/>
          <p:nvPr/>
        </p:nvSpPr>
        <p:spPr>
          <a:xfrm>
            <a:off x="6108118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8A82D1E3-D09B-282E-B03F-C47E854A2D86}"/>
              </a:ext>
            </a:extLst>
          </p:cNvPr>
          <p:cNvSpPr/>
          <p:nvPr/>
        </p:nvSpPr>
        <p:spPr>
          <a:xfrm>
            <a:off x="6474479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7546664-BF86-21B4-534B-CC5338DB37E5}"/>
              </a:ext>
            </a:extLst>
          </p:cNvPr>
          <p:cNvSpPr/>
          <p:nvPr/>
        </p:nvSpPr>
        <p:spPr>
          <a:xfrm>
            <a:off x="6840840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5252A3-C7BE-0E32-F3D5-DCA36335DA6F}"/>
              </a:ext>
            </a:extLst>
          </p:cNvPr>
          <p:cNvSpPr/>
          <p:nvPr/>
        </p:nvSpPr>
        <p:spPr>
          <a:xfrm>
            <a:off x="7207201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5EA523A-795D-430D-500C-8CC30C1EF23D}"/>
              </a:ext>
            </a:extLst>
          </p:cNvPr>
          <p:cNvSpPr/>
          <p:nvPr/>
        </p:nvSpPr>
        <p:spPr>
          <a:xfrm>
            <a:off x="7573562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6B55A-2F95-C25D-2476-CFB81CE9F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47022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729D-B41B-6624-9E4F-09BBD9B1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и реверсирование массива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4474F4-9BF7-3910-9F0F-DE8D0637B355}"/>
              </a:ext>
            </a:extLst>
          </p:cNvPr>
          <p:cNvSpPr txBox="1"/>
          <p:nvPr/>
        </p:nvSpPr>
        <p:spPr>
          <a:xfrm>
            <a:off x="838200" y="1690687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numbers entered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- 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или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std::reverse(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numbers.begin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(),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numbers.end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FF3B53-22CE-46F4-C9D6-5336DC88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760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98082" y="-22717"/>
            <a:ext cx="776627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{0, 0}, {20, 10}, {30, 30}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{0, 0};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89E68E-4A72-693C-6705-2DA60FB4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135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B3F27D-9FD2-2351-9A6F-35E48203DCD2}"/>
              </a:ext>
            </a:extLst>
          </p:cNvPr>
          <p:cNvSpPr txBox="1"/>
          <p:nvPr/>
        </p:nvSpPr>
        <p:spPr>
          <a:xfrm>
            <a:off x="623392" y="4394228"/>
            <a:ext cx="102983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!!!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Сразу резервируем память под нужное количество элементов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numbers.reserve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9091278-70F6-298A-A761-D0EBA1C7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Резервирование памяти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11975C3-A349-1C6A-B050-496539015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при вставке не хватает места, </a:t>
            </a:r>
            <a:r>
              <a:rPr lang="en-US" dirty="0"/>
              <a:t>vector</a:t>
            </a:r>
            <a:r>
              <a:rPr lang="ru-RU" dirty="0"/>
              <a:t> автоматически увеличивает вместимость</a:t>
            </a:r>
          </a:p>
          <a:p>
            <a:pPr lvl="1"/>
            <a:r>
              <a:rPr lang="ru-RU" dirty="0"/>
              <a:t>Вставка в конец: </a:t>
            </a:r>
            <a:r>
              <a:rPr lang="en-US" dirty="0"/>
              <a:t>O(1)</a:t>
            </a:r>
            <a:r>
              <a:rPr lang="ru-RU" dirty="0"/>
              <a:t>+</a:t>
            </a:r>
          </a:p>
          <a:p>
            <a:r>
              <a:rPr lang="ru-RU" dirty="0"/>
              <a:t>Метод</a:t>
            </a:r>
            <a:r>
              <a:rPr lang="en-US" dirty="0"/>
              <a:t> </a:t>
            </a:r>
            <a:r>
              <a:rPr lang="en-US" b="1" dirty="0"/>
              <a:t>reserve</a:t>
            </a:r>
            <a:r>
              <a:rPr lang="ru-RU" dirty="0"/>
              <a:t> резервирует память для хранения заданного размера, не меняя содержимого вектора</a:t>
            </a:r>
          </a:p>
          <a:p>
            <a:pPr lvl="1"/>
            <a:r>
              <a:rPr lang="ru-RU" dirty="0"/>
              <a:t>Полезен, когда известно примерное количество элементов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DCEE53-D0A8-5703-5C2B-8DA2815CF917}"/>
              </a:ext>
            </a:extLst>
          </p:cNvPr>
          <p:cNvSpPr txBox="1"/>
          <p:nvPr/>
        </p:nvSpPr>
        <p:spPr>
          <a:xfrm>
            <a:off x="4583832" y="6333220"/>
            <a:ext cx="59087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3"/>
              </a:rPr>
              <a:t>https://quick-bench.com/q/i29UtpPOU0KqnZz1y9SLl7tWFt4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AE541-808D-3FBD-0FF9-8E53B3A8C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170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92A3B-0EC8-E1B5-8445-3A649299B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 </a:t>
            </a:r>
            <a:r>
              <a:rPr lang="en-US" dirty="0"/>
              <a:t>std::vector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6934B-5873-A704-0ABD-0EF7088CE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Когда происходит </a:t>
            </a:r>
            <a:r>
              <a:rPr lang="ru-RU" dirty="0" err="1"/>
              <a:t>инвалидация</a:t>
            </a:r>
            <a:endParaRPr lang="ru-RU" dirty="0"/>
          </a:p>
          <a:p>
            <a:pPr lvl="1"/>
            <a:r>
              <a:rPr lang="ru-RU" dirty="0"/>
              <a:t>Если происходит перераспределение памяти</a:t>
            </a:r>
          </a:p>
          <a:p>
            <a:pPr lvl="2"/>
            <a:r>
              <a:rPr lang="ru-RU" dirty="0" err="1"/>
              <a:t>push_back</a:t>
            </a:r>
            <a:endParaRPr lang="ru-RU" dirty="0"/>
          </a:p>
          <a:p>
            <a:pPr lvl="2"/>
            <a:r>
              <a:rPr lang="ru-RU" dirty="0" err="1"/>
              <a:t>emplace_back</a:t>
            </a:r>
            <a:endParaRPr lang="ru-RU" dirty="0"/>
          </a:p>
          <a:p>
            <a:pPr lvl="2"/>
            <a:r>
              <a:rPr lang="ru-RU" dirty="0" err="1"/>
              <a:t>insert</a:t>
            </a:r>
            <a:endParaRPr lang="ru-RU" dirty="0"/>
          </a:p>
          <a:p>
            <a:pPr lvl="2"/>
            <a:r>
              <a:rPr lang="ru-RU" dirty="0" err="1"/>
              <a:t>resize</a:t>
            </a:r>
            <a:endParaRPr lang="ru-RU" dirty="0"/>
          </a:p>
          <a:p>
            <a:pPr lvl="2"/>
            <a:r>
              <a:rPr lang="ru-RU" dirty="0" err="1"/>
              <a:t>reserve</a:t>
            </a:r>
            <a:endParaRPr lang="ru-RU" dirty="0"/>
          </a:p>
          <a:p>
            <a:pPr lvl="1"/>
            <a:r>
              <a:rPr lang="ru-RU" dirty="0"/>
              <a:t>➡ </a:t>
            </a:r>
            <a:r>
              <a:rPr lang="ru-RU" dirty="0" err="1"/>
              <a:t>Инвалидируются</a:t>
            </a:r>
            <a:r>
              <a:rPr lang="ru-RU" dirty="0"/>
              <a:t> все ссылки, указатели и итераторы</a:t>
            </a:r>
          </a:p>
          <a:p>
            <a:r>
              <a:rPr lang="ru-RU" dirty="0"/>
              <a:t>Если перераспределения нет</a:t>
            </a:r>
          </a:p>
          <a:p>
            <a:pPr lvl="1"/>
            <a:r>
              <a:rPr lang="ru-RU" dirty="0" err="1"/>
              <a:t>push_back</a:t>
            </a:r>
            <a:r>
              <a:rPr lang="ru-RU" dirty="0"/>
              <a:t> — </a:t>
            </a:r>
            <a:r>
              <a:rPr lang="ru-RU" dirty="0" err="1"/>
              <a:t>инвалидирует</a:t>
            </a:r>
            <a:r>
              <a:rPr lang="ru-RU" dirty="0"/>
              <a:t> только </a:t>
            </a:r>
            <a:r>
              <a:rPr lang="ru-RU" dirty="0" err="1"/>
              <a:t>end</a:t>
            </a:r>
            <a:r>
              <a:rPr lang="ru-RU" dirty="0"/>
              <a:t>()</a:t>
            </a:r>
          </a:p>
          <a:p>
            <a:pPr lvl="1"/>
            <a:r>
              <a:rPr lang="ru-RU" dirty="0" err="1"/>
              <a:t>erase</a:t>
            </a:r>
            <a:r>
              <a:rPr lang="ru-RU" dirty="0"/>
              <a:t> — </a:t>
            </a:r>
            <a:r>
              <a:rPr lang="ru-RU" dirty="0" err="1"/>
              <a:t>инвалидирует</a:t>
            </a:r>
            <a:r>
              <a:rPr lang="ru-RU" dirty="0"/>
              <a:t> ссылки и итераторы в точке удаления и следом за ней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После </a:t>
            </a:r>
            <a:r>
              <a:rPr lang="ru-RU" dirty="0" err="1"/>
              <a:t>инвалидации</a:t>
            </a:r>
            <a:r>
              <a:rPr lang="ru-RU" dirty="0"/>
              <a:t> использование старых ссылок и итераторов — неопределённое поведение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1B8B1-36A2-5EDB-9257-98BE72C71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874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10AA17-522B-EDDB-DB6F-D58E0C6E2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9CE80-C72B-9A93-D124-66DCE15B3427}"/>
              </a:ext>
            </a:extLst>
          </p:cNvPr>
          <p:cNvSpPr txBox="1"/>
          <p:nvPr/>
        </p:nvSpPr>
        <p:spPr>
          <a:xfrm>
            <a:off x="838200" y="1844824"/>
            <a:ext cx="885941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middle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distance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12345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first, middle, last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больше использовать нельзя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Итераторы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b, e, 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также нельзя использовать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41DD46-CA34-4C96-7CF7-35758FCA3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298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961E0E7-9082-6DD8-4C9F-CFBA832EA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std::deque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26D847B-798A-AB8A-E357-1F3D203D5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714CA6-8A77-466B-7C3B-56069264D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88638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Двусторонняя очередь</a:t>
            </a:r>
            <a:r>
              <a:rPr lang="en-US" dirty="0"/>
              <a:t> (double-ended queue)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deque</a:t>
            </a:r>
            <a:endParaRPr lang="ru-RU" dirty="0"/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Аналогична вектору, но обеспечивает</a:t>
            </a:r>
            <a:r>
              <a:rPr lang="en-US" dirty="0"/>
              <a:t> </a:t>
            </a:r>
            <a:r>
              <a:rPr lang="ru-RU" dirty="0"/>
              <a:t>эффективную вставку и удаление элементов не только в конце, но и в начале очереди</a:t>
            </a:r>
            <a:endParaRPr lang="en-US" dirty="0"/>
          </a:p>
          <a:p>
            <a:pPr lvl="1" eaLnBrk="1" hangingPunct="1"/>
            <a:r>
              <a:rPr lang="ru-RU" dirty="0"/>
              <a:t>В отличие от вектора </a:t>
            </a:r>
            <a:r>
              <a:rPr lang="ru-RU" b="1" dirty="0"/>
              <a:t>не гарантируется </a:t>
            </a:r>
            <a:r>
              <a:rPr lang="ru-RU" dirty="0"/>
              <a:t>последовательное хранение элементов в памяти</a:t>
            </a:r>
          </a:p>
          <a:p>
            <a:pPr lvl="1" eaLnBrk="1" hangingPunct="1"/>
            <a:r>
              <a:rPr lang="ru-RU" dirty="0"/>
              <a:t>Гарантируется константный доступ к элементу по его индексу</a:t>
            </a:r>
            <a:endParaRPr lang="en-US" dirty="0"/>
          </a:p>
          <a:p>
            <a:pPr lvl="1" eaLnBrk="1" hangingPunct="1"/>
            <a:r>
              <a:rPr lang="ru-RU" dirty="0"/>
              <a:t>Для использования необходимо подключить заголовочный файл </a:t>
            </a:r>
            <a:r>
              <a:rPr lang="en-US" dirty="0"/>
              <a:t>&lt;deque&gt;</a:t>
            </a:r>
            <a:endParaRPr lang="ru-RU" dirty="0"/>
          </a:p>
          <a:p>
            <a:r>
              <a:rPr lang="ru-RU" dirty="0"/>
              <a:t>Вставка в начало и конец двусторонней очереди не приводит к </a:t>
            </a:r>
            <a:r>
              <a:rPr lang="ru-RU" dirty="0" err="1"/>
              <a:t>инвалидации</a:t>
            </a:r>
            <a:r>
              <a:rPr lang="ru-RU" dirty="0"/>
              <a:t> ссылок и итераторов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F3E4380-0666-D9D6-1DF9-E3DAE5A1F9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456" y="4993465"/>
            <a:ext cx="1848083" cy="186453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167EB-55AE-F883-838B-E24D1B14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850060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26D761E-84B6-4D5D-9847-4A88F986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</a:t>
            </a:r>
            <a:r>
              <a:rPr lang="en-US" dirty="0"/>
              <a:t>deque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7ED7F6E-331F-4ED1-AA2A-BE85D0148BB8}"/>
              </a:ext>
            </a:extLst>
          </p:cNvPr>
          <p:cNvSpPr/>
          <p:nvPr/>
        </p:nvSpPr>
        <p:spPr>
          <a:xfrm>
            <a:off x="3711773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B956963-7DE0-4A3B-8FA6-74E1F940DB3D}"/>
              </a:ext>
            </a:extLst>
          </p:cNvPr>
          <p:cNvSpPr/>
          <p:nvPr/>
        </p:nvSpPr>
        <p:spPr>
          <a:xfrm>
            <a:off x="4287837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EC6FF3-8433-4059-B476-95F2DF01FCD9}"/>
              </a:ext>
            </a:extLst>
          </p:cNvPr>
          <p:cNvSpPr/>
          <p:nvPr/>
        </p:nvSpPr>
        <p:spPr>
          <a:xfrm>
            <a:off x="4863901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5A7E699-30EC-45B7-9D88-6B83D57EAF66}"/>
              </a:ext>
            </a:extLst>
          </p:cNvPr>
          <p:cNvSpPr/>
          <p:nvPr/>
        </p:nvSpPr>
        <p:spPr>
          <a:xfrm>
            <a:off x="5439965" y="2563636"/>
            <a:ext cx="576064" cy="57606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754AA36A-6B7A-482F-80CC-CEBF0D9A2DD5}"/>
              </a:ext>
            </a:extLst>
          </p:cNvPr>
          <p:cNvCxnSpPr>
            <a:cxnSpLocks/>
            <a:stCxn id="17" idx="2"/>
            <a:endCxn id="5" idx="0"/>
          </p:cNvCxnSpPr>
          <p:nvPr/>
        </p:nvCxnSpPr>
        <p:spPr>
          <a:xfrm flipH="1">
            <a:off x="835570" y="3139700"/>
            <a:ext cx="3164235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15D17148-CF89-4295-BA03-6E589CCB7A14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3636887" y="3139700"/>
            <a:ext cx="938982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4A3CADFF-71EC-445E-B788-DC938FC6B2D4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5151933" y="3139700"/>
            <a:ext cx="1286271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E04D58C0-E4D6-4892-89CC-FCB45EF65C87}"/>
              </a:ext>
            </a:extLst>
          </p:cNvPr>
          <p:cNvCxnSpPr>
            <a:cxnSpLocks/>
            <a:stCxn id="40" idx="2"/>
            <a:endCxn id="8" idx="0"/>
          </p:cNvCxnSpPr>
          <p:nvPr/>
        </p:nvCxnSpPr>
        <p:spPr>
          <a:xfrm>
            <a:off x="2656751" y="4704104"/>
            <a:ext cx="5765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F656724-1D94-4C54-A646-A397AA38C886}"/>
              </a:ext>
            </a:extLst>
          </p:cNvPr>
          <p:cNvSpPr txBox="1"/>
          <p:nvPr/>
        </p:nvSpPr>
        <p:spPr>
          <a:xfrm>
            <a:off x="2296711" y="4334772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F3E800-5B63-4210-BAAC-78BE397487F8}"/>
              </a:ext>
            </a:extLst>
          </p:cNvPr>
          <p:cNvSpPr txBox="1"/>
          <p:nvPr/>
        </p:nvSpPr>
        <p:spPr>
          <a:xfrm>
            <a:off x="6687146" y="433635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D7890B05-A957-4623-9456-E33E5A0578BE}"/>
              </a:ext>
            </a:extLst>
          </p:cNvPr>
          <p:cNvCxnSpPr>
            <a:cxnSpLocks/>
            <a:stCxn id="41" idx="2"/>
            <a:endCxn id="14" idx="0"/>
          </p:cNvCxnSpPr>
          <p:nvPr/>
        </p:nvCxnSpPr>
        <p:spPr>
          <a:xfrm>
            <a:off x="7047186" y="470568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Левая фигурная скобка 47">
            <a:extLst>
              <a:ext uri="{FF2B5EF4-FFF2-40B4-BE49-F238E27FC236}">
                <a16:creationId xmlns:a16="http://schemas.microsoft.com/office/drawing/2014/main" id="{7ED414D1-8E08-46E6-907D-DEECC161B7D2}"/>
              </a:ext>
            </a:extLst>
          </p:cNvPr>
          <p:cNvSpPr/>
          <p:nvPr/>
        </p:nvSpPr>
        <p:spPr>
          <a:xfrm rot="16200000">
            <a:off x="1264532" y="5146029"/>
            <a:ext cx="360040" cy="182694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891A9B-F3EE-4C0A-B774-5D1720B69824}"/>
              </a:ext>
            </a:extLst>
          </p:cNvPr>
          <p:cNvSpPr txBox="1"/>
          <p:nvPr/>
        </p:nvSpPr>
        <p:spPr>
          <a:xfrm>
            <a:off x="912975" y="637418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endParaRPr lang="ru-RU" dirty="0"/>
          </a:p>
        </p:txBody>
      </p:sp>
      <p:cxnSp>
        <p:nvCxnSpPr>
          <p:cNvPr id="53" name="Прямая со стрелкой 52">
            <a:extLst>
              <a:ext uri="{FF2B5EF4-FFF2-40B4-BE49-F238E27FC236}">
                <a16:creationId xmlns:a16="http://schemas.microsoft.com/office/drawing/2014/main" id="{B6CC4432-06CE-4A99-8C1A-43457ECCD47B}"/>
              </a:ext>
            </a:extLst>
          </p:cNvPr>
          <p:cNvCxnSpPr>
            <a:stCxn id="51" idx="3"/>
            <a:endCxn id="17" idx="1"/>
          </p:cNvCxnSpPr>
          <p:nvPr/>
        </p:nvCxnSpPr>
        <p:spPr>
          <a:xfrm>
            <a:off x="1986663" y="2143152"/>
            <a:ext cx="1725110" cy="708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Группа 69">
            <a:extLst>
              <a:ext uri="{FF2B5EF4-FFF2-40B4-BE49-F238E27FC236}">
                <a16:creationId xmlns:a16="http://schemas.microsoft.com/office/drawing/2014/main" id="{E10BFB11-3F92-45AB-9195-5309A080BFA0}"/>
              </a:ext>
            </a:extLst>
          </p:cNvPr>
          <p:cNvGrpSpPr/>
          <p:nvPr/>
        </p:nvGrpSpPr>
        <p:grpSpPr>
          <a:xfrm>
            <a:off x="531079" y="5138482"/>
            <a:ext cx="10657184" cy="572287"/>
            <a:chOff x="191344" y="4960580"/>
            <a:chExt cx="12601400" cy="576064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B25792CE-38EC-4935-BEAD-2162743F16AD}"/>
                </a:ext>
              </a:extLst>
            </p:cNvPr>
            <p:cNvSpPr/>
            <p:nvPr/>
          </p:nvSpPr>
          <p:spPr>
            <a:xfrm>
              <a:off x="19134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E00E0F79-3E9C-4520-B83C-80AC5B296991}"/>
                </a:ext>
              </a:extLst>
            </p:cNvPr>
            <p:cNvSpPr/>
            <p:nvPr/>
          </p:nvSpPr>
          <p:spPr>
            <a:xfrm>
              <a:off x="911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C619557D-0B61-4D1A-82F3-0EE48E661E9B}"/>
                </a:ext>
              </a:extLst>
            </p:cNvPr>
            <p:cNvSpPr/>
            <p:nvPr/>
          </p:nvSpPr>
          <p:spPr>
            <a:xfrm>
              <a:off x="1631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59497B3-97DF-4166-8803-1DD354E7F3DF}"/>
                </a:ext>
              </a:extLst>
            </p:cNvPr>
            <p:cNvSpPr/>
            <p:nvPr/>
          </p:nvSpPr>
          <p:spPr>
            <a:xfrm>
              <a:off x="2351584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8E0AF047-C5E4-4E69-82B6-A6BCC2F4EFC9}"/>
                </a:ext>
              </a:extLst>
            </p:cNvPr>
            <p:cNvSpPr/>
            <p:nvPr/>
          </p:nvSpPr>
          <p:spPr>
            <a:xfrm>
              <a:off x="350371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6457DB51-E7D9-4E76-8407-F94D426F17D7}"/>
                </a:ext>
              </a:extLst>
            </p:cNvPr>
            <p:cNvSpPr/>
            <p:nvPr/>
          </p:nvSpPr>
          <p:spPr>
            <a:xfrm>
              <a:off x="422379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35459909-A137-4697-9CE1-0CC0485D1D56}"/>
                </a:ext>
              </a:extLst>
            </p:cNvPr>
            <p:cNvSpPr/>
            <p:nvPr/>
          </p:nvSpPr>
          <p:spPr>
            <a:xfrm>
              <a:off x="494387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3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1BA2627F-1CFF-437D-8EF9-C5F9BBC09890}"/>
                </a:ext>
              </a:extLst>
            </p:cNvPr>
            <p:cNvSpPr/>
            <p:nvPr/>
          </p:nvSpPr>
          <p:spPr>
            <a:xfrm>
              <a:off x="566395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4</a:t>
              </a:r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122403D-6D54-45B3-A0AB-C9349DF1814A}"/>
                </a:ext>
              </a:extLst>
            </p:cNvPr>
            <p:cNvSpPr/>
            <p:nvPr/>
          </p:nvSpPr>
          <p:spPr>
            <a:xfrm>
              <a:off x="6816080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5</a:t>
              </a:r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0C0962FD-75F8-4D45-A600-6F22D7D73A61}"/>
                </a:ext>
              </a:extLst>
            </p:cNvPr>
            <p:cNvSpPr/>
            <p:nvPr/>
          </p:nvSpPr>
          <p:spPr>
            <a:xfrm>
              <a:off x="753616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03261FF-A81F-403F-9041-1DC847CB679A}"/>
                </a:ext>
              </a:extLst>
            </p:cNvPr>
            <p:cNvSpPr/>
            <p:nvPr/>
          </p:nvSpPr>
          <p:spPr>
            <a:xfrm>
              <a:off x="825624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25DB68FA-C8AB-4C32-B6E9-726FBDFFB0D6}"/>
                </a:ext>
              </a:extLst>
            </p:cNvPr>
            <p:cNvSpPr/>
            <p:nvPr/>
          </p:nvSpPr>
          <p:spPr>
            <a:xfrm>
              <a:off x="897632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6" name="Прямоугольник 65">
              <a:extLst>
                <a:ext uri="{FF2B5EF4-FFF2-40B4-BE49-F238E27FC236}">
                  <a16:creationId xmlns:a16="http://schemas.microsoft.com/office/drawing/2014/main" id="{261C5B05-EFA5-454F-8367-78E7E1805EA6}"/>
                </a:ext>
              </a:extLst>
            </p:cNvPr>
            <p:cNvSpPr/>
            <p:nvPr/>
          </p:nvSpPr>
          <p:spPr>
            <a:xfrm>
              <a:off x="9912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Прямоугольник 66">
              <a:extLst>
                <a:ext uri="{FF2B5EF4-FFF2-40B4-BE49-F238E27FC236}">
                  <a16:creationId xmlns:a16="http://schemas.microsoft.com/office/drawing/2014/main" id="{E864194F-F535-4F74-886B-42C930950EE6}"/>
                </a:ext>
              </a:extLst>
            </p:cNvPr>
            <p:cNvSpPr/>
            <p:nvPr/>
          </p:nvSpPr>
          <p:spPr>
            <a:xfrm>
              <a:off x="10632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27107238-5A68-4D49-A7E7-E5CADAF89D55}"/>
                </a:ext>
              </a:extLst>
            </p:cNvPr>
            <p:cNvSpPr/>
            <p:nvPr/>
          </p:nvSpPr>
          <p:spPr>
            <a:xfrm>
              <a:off x="1135258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9" name="Прямоугольник 68">
              <a:extLst>
                <a:ext uri="{FF2B5EF4-FFF2-40B4-BE49-F238E27FC236}">
                  <a16:creationId xmlns:a16="http://schemas.microsoft.com/office/drawing/2014/main" id="{4932DB37-ABB1-44F3-A227-691FC474E9C2}"/>
                </a:ext>
              </a:extLst>
            </p:cNvPr>
            <p:cNvSpPr/>
            <p:nvPr/>
          </p:nvSpPr>
          <p:spPr>
            <a:xfrm>
              <a:off x="1207266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74" name="Прямая со стрелкой 73">
            <a:extLst>
              <a:ext uri="{FF2B5EF4-FFF2-40B4-BE49-F238E27FC236}">
                <a16:creationId xmlns:a16="http://schemas.microsoft.com/office/drawing/2014/main" id="{4657374B-4926-4359-8953-609D963C23A2}"/>
              </a:ext>
            </a:extLst>
          </p:cNvPr>
          <p:cNvCxnSpPr>
            <a:cxnSpLocks/>
            <a:stCxn id="20" idx="2"/>
            <a:endCxn id="66" idx="0"/>
          </p:cNvCxnSpPr>
          <p:nvPr/>
        </p:nvCxnSpPr>
        <p:spPr>
          <a:xfrm>
            <a:off x="5727997" y="3139700"/>
            <a:ext cx="3328829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B6E1F44-4E52-4AB4-83B4-EB6153FB99D2}"/>
              </a:ext>
            </a:extLst>
          </p:cNvPr>
          <p:cNvSpPr txBox="1"/>
          <p:nvPr/>
        </p:nvSpPr>
        <p:spPr>
          <a:xfrm>
            <a:off x="6304061" y="2031704"/>
            <a:ext cx="58879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Размер контейнера </a:t>
            </a:r>
            <a:r>
              <a:rPr lang="en-US" dirty="0" err="1"/>
              <a:t>m_map</a:t>
            </a:r>
            <a:r>
              <a:rPr lang="en-US" dirty="0"/>
              <a:t> </a:t>
            </a:r>
            <a:r>
              <a:rPr lang="ru-RU" dirty="0"/>
              <a:t>и самого блока – степень числа 2.</a:t>
            </a:r>
          </a:p>
          <a:p>
            <a:r>
              <a:rPr lang="ru-RU" dirty="0"/>
              <a:t>Блоки могут быть «закольцованы»</a:t>
            </a:r>
          </a:p>
        </p:txBody>
      </p: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D3E63BA1-2108-4F69-B87C-089EFD91FBBB}"/>
              </a:ext>
            </a:extLst>
          </p:cNvPr>
          <p:cNvGrpSpPr/>
          <p:nvPr/>
        </p:nvGrpSpPr>
        <p:grpSpPr>
          <a:xfrm>
            <a:off x="330479" y="1888167"/>
            <a:ext cx="1656184" cy="2468279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51" name="Прямоугольник 50">
              <a:extLst>
                <a:ext uri="{FF2B5EF4-FFF2-40B4-BE49-F238E27FC236}">
                  <a16:creationId xmlns:a16="http://schemas.microsoft.com/office/drawing/2014/main" id="{352FAF6E-6C5F-4F4E-8B72-348A65141C36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56" name="Прямоугольник 55">
              <a:extLst>
                <a:ext uri="{FF2B5EF4-FFF2-40B4-BE49-F238E27FC236}">
                  <a16:creationId xmlns:a16="http://schemas.microsoft.com/office/drawing/2014/main" id="{8F77F736-F82A-487B-AE36-21757ED48582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6</a:t>
              </a:r>
              <a:endParaRPr lang="ru-RU" dirty="0"/>
            </a:p>
          </p:txBody>
        </p:sp>
        <p:sp>
          <p:nvSpPr>
            <p:cNvPr id="57" name="Прямоугольник 56">
              <a:extLst>
                <a:ext uri="{FF2B5EF4-FFF2-40B4-BE49-F238E27FC236}">
                  <a16:creationId xmlns:a16="http://schemas.microsoft.com/office/drawing/2014/main" id="{7C89EBF2-504C-40BC-A277-2227E4325E9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3</a:t>
              </a:r>
              <a:endParaRPr lang="ru-RU" dirty="0"/>
            </a:p>
          </p:txBody>
        </p:sp>
        <p:sp>
          <p:nvSpPr>
            <p:cNvPr id="79" name="Прямоугольник 78">
              <a:extLst>
                <a:ext uri="{FF2B5EF4-FFF2-40B4-BE49-F238E27FC236}">
                  <a16:creationId xmlns:a16="http://schemas.microsoft.com/office/drawing/2014/main" id="{D3C0C2D5-87F4-49F6-ACF1-FBF205236827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80" name="Прямоугольник 79">
              <a:extLst>
                <a:ext uri="{FF2B5EF4-FFF2-40B4-BE49-F238E27FC236}">
                  <a16:creationId xmlns:a16="http://schemas.microsoft.com/office/drawing/2014/main" id="{103C5629-AF6B-4E68-97E5-64F349A3F19E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81" name="Левая фигурная скобка 80">
            <a:extLst>
              <a:ext uri="{FF2B5EF4-FFF2-40B4-BE49-F238E27FC236}">
                <a16:creationId xmlns:a16="http://schemas.microsoft.com/office/drawing/2014/main" id="{445F206C-5FC4-4711-9278-050758341055}"/>
              </a:ext>
            </a:extLst>
          </p:cNvPr>
          <p:cNvSpPr/>
          <p:nvPr/>
        </p:nvSpPr>
        <p:spPr>
          <a:xfrm rot="5400000">
            <a:off x="4745846" y="114189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3C795FB-5732-4CBA-A943-7F012C5989F0}"/>
              </a:ext>
            </a:extLst>
          </p:cNvPr>
          <p:cNvSpPr txBox="1"/>
          <p:nvPr/>
        </p:nvSpPr>
        <p:spPr>
          <a:xfrm>
            <a:off x="4359845" y="180290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33047E4-DCAB-4CF9-9EF3-170B37968F59}"/>
              </a:ext>
            </a:extLst>
          </p:cNvPr>
          <p:cNvSpPr txBox="1"/>
          <p:nvPr/>
        </p:nvSpPr>
        <p:spPr>
          <a:xfrm>
            <a:off x="330479" y="1516151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B9779C37-229F-7931-D99D-2038650525C3}"/>
              </a:ext>
            </a:extLst>
          </p:cNvPr>
          <p:cNvSpPr/>
          <p:nvPr/>
        </p:nvSpPr>
        <p:spPr>
          <a:xfrm rot="16200000">
            <a:off x="4370340" y="4851461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556110-0084-F760-893B-34CE67E66D01}"/>
              </a:ext>
            </a:extLst>
          </p:cNvPr>
          <p:cNvSpPr txBox="1"/>
          <p:nvPr/>
        </p:nvSpPr>
        <p:spPr>
          <a:xfrm>
            <a:off x="3636887" y="6374186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endParaRPr lang="ru-RU" dirty="0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C279D2E-0514-FF85-EB40-2035BE21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68160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16">
            <a:extLst>
              <a:ext uri="{FF2B5EF4-FFF2-40B4-BE49-F238E27FC236}">
                <a16:creationId xmlns:a16="http://schemas.microsoft.com/office/drawing/2014/main" id="{C128E09C-945F-A6E9-1E42-AD105921CF25}"/>
              </a:ext>
            </a:extLst>
          </p:cNvPr>
          <p:cNvSpPr/>
          <p:nvPr/>
        </p:nvSpPr>
        <p:spPr>
          <a:xfrm>
            <a:off x="3791744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  <a:endParaRPr lang="ru-RU" dirty="0"/>
          </a:p>
        </p:txBody>
      </p:sp>
      <p:sp>
        <p:nvSpPr>
          <p:cNvPr id="4" name="Прямоугольник 17">
            <a:extLst>
              <a:ext uri="{FF2B5EF4-FFF2-40B4-BE49-F238E27FC236}">
                <a16:creationId xmlns:a16="http://schemas.microsoft.com/office/drawing/2014/main" id="{6C02CA1E-F2D2-6C70-6D89-E72B4AFD2F53}"/>
              </a:ext>
            </a:extLst>
          </p:cNvPr>
          <p:cNvSpPr/>
          <p:nvPr/>
        </p:nvSpPr>
        <p:spPr>
          <a:xfrm>
            <a:off x="4367808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5" name="Прямоугольник 18">
            <a:extLst>
              <a:ext uri="{FF2B5EF4-FFF2-40B4-BE49-F238E27FC236}">
                <a16:creationId xmlns:a16="http://schemas.microsoft.com/office/drawing/2014/main" id="{5A2D582E-8FE4-EA76-85DC-EA407F4B1C38}"/>
              </a:ext>
            </a:extLst>
          </p:cNvPr>
          <p:cNvSpPr/>
          <p:nvPr/>
        </p:nvSpPr>
        <p:spPr>
          <a:xfrm>
            <a:off x="4943872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6" name="Прямоугольник 19">
            <a:extLst>
              <a:ext uri="{FF2B5EF4-FFF2-40B4-BE49-F238E27FC236}">
                <a16:creationId xmlns:a16="http://schemas.microsoft.com/office/drawing/2014/main" id="{1302E82D-967C-7D0D-FBF2-1E07788BB748}"/>
              </a:ext>
            </a:extLst>
          </p:cNvPr>
          <p:cNvSpPr/>
          <p:nvPr/>
        </p:nvSpPr>
        <p:spPr>
          <a:xfrm>
            <a:off x="5519936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cxnSp>
        <p:nvCxnSpPr>
          <p:cNvPr id="7" name="Прямая со стрелкой 21">
            <a:extLst>
              <a:ext uri="{FF2B5EF4-FFF2-40B4-BE49-F238E27FC236}">
                <a16:creationId xmlns:a16="http://schemas.microsoft.com/office/drawing/2014/main" id="{D15B1CBD-DD1A-0C83-1A2F-E59664C047D1}"/>
              </a:ext>
            </a:extLst>
          </p:cNvPr>
          <p:cNvCxnSpPr>
            <a:cxnSpLocks/>
            <a:stCxn id="3" idx="2"/>
            <a:endCxn id="18" idx="0"/>
          </p:cNvCxnSpPr>
          <p:nvPr/>
        </p:nvCxnSpPr>
        <p:spPr>
          <a:xfrm flipH="1">
            <a:off x="691554" y="1873280"/>
            <a:ext cx="338822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23">
            <a:extLst>
              <a:ext uri="{FF2B5EF4-FFF2-40B4-BE49-F238E27FC236}">
                <a16:creationId xmlns:a16="http://schemas.microsoft.com/office/drawing/2014/main" id="{B586D84B-9E62-DCD0-61E4-65B4DA749715}"/>
              </a:ext>
            </a:extLst>
          </p:cNvPr>
          <p:cNvCxnSpPr>
            <a:cxnSpLocks/>
            <a:stCxn id="4" idx="2"/>
            <a:endCxn id="22" idx="0"/>
          </p:cNvCxnSpPr>
          <p:nvPr/>
        </p:nvCxnSpPr>
        <p:spPr>
          <a:xfrm flipH="1">
            <a:off x="3492871" y="1873280"/>
            <a:ext cx="1162969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26">
            <a:extLst>
              <a:ext uri="{FF2B5EF4-FFF2-40B4-BE49-F238E27FC236}">
                <a16:creationId xmlns:a16="http://schemas.microsoft.com/office/drawing/2014/main" id="{9A7B2B32-6A0E-D68E-8EDF-60ADF8D470C5}"/>
              </a:ext>
            </a:extLst>
          </p:cNvPr>
          <p:cNvCxnSpPr>
            <a:cxnSpLocks/>
            <a:stCxn id="5" idx="2"/>
            <a:endCxn id="26" idx="0"/>
          </p:cNvCxnSpPr>
          <p:nvPr/>
        </p:nvCxnSpPr>
        <p:spPr>
          <a:xfrm>
            <a:off x="5231904" y="1873280"/>
            <a:ext cx="1062284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38">
            <a:extLst>
              <a:ext uri="{FF2B5EF4-FFF2-40B4-BE49-F238E27FC236}">
                <a16:creationId xmlns:a16="http://schemas.microsoft.com/office/drawing/2014/main" id="{5907E10B-87D7-0CEA-5C38-15321731FD69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5356099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43BC143-4A6D-2268-5F46-E69BF2703DBC}"/>
              </a:ext>
            </a:extLst>
          </p:cNvPr>
          <p:cNvSpPr txBox="1"/>
          <p:nvPr/>
        </p:nvSpPr>
        <p:spPr>
          <a:xfrm>
            <a:off x="4996059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E39432-AE31-BBF4-7090-1A9103130AFD}"/>
              </a:ext>
            </a:extLst>
          </p:cNvPr>
          <p:cNvSpPr txBox="1"/>
          <p:nvPr/>
        </p:nvSpPr>
        <p:spPr>
          <a:xfrm>
            <a:off x="1605027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13" name="Прямая со стрелкой 41">
            <a:extLst>
              <a:ext uri="{FF2B5EF4-FFF2-40B4-BE49-F238E27FC236}">
                <a16:creationId xmlns:a16="http://schemas.microsoft.com/office/drawing/2014/main" id="{9E326452-6C4D-DEE4-4EF0-1076D7A8C21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1965067" y="325096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47">
            <a:extLst>
              <a:ext uri="{FF2B5EF4-FFF2-40B4-BE49-F238E27FC236}">
                <a16:creationId xmlns:a16="http://schemas.microsoft.com/office/drawing/2014/main" id="{A4F33A29-CF2D-940A-8661-D3FFE58FCEBD}"/>
              </a:ext>
            </a:extLst>
          </p:cNvPr>
          <p:cNvSpPr/>
          <p:nvPr/>
        </p:nvSpPr>
        <p:spPr>
          <a:xfrm rot="16200000">
            <a:off x="2521174" y="2292235"/>
            <a:ext cx="360040" cy="462826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09793B-15CE-85D7-C544-DD8F13941DA3}"/>
              </a:ext>
            </a:extLst>
          </p:cNvPr>
          <p:cNvSpPr txBox="1"/>
          <p:nvPr/>
        </p:nvSpPr>
        <p:spPr>
          <a:xfrm>
            <a:off x="6903170" y="5536578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FF00FF"/>
                </a:highlight>
              </a:rPr>
              <a:t>pos</a:t>
            </a:r>
            <a:r>
              <a:rPr lang="en-US" dirty="0"/>
              <a:t> = 7</a:t>
            </a:r>
            <a:endParaRPr lang="ru-RU" dirty="0"/>
          </a:p>
        </p:txBody>
      </p:sp>
      <p:cxnSp>
        <p:nvCxnSpPr>
          <p:cNvPr id="16" name="Прямая со стрелкой 52">
            <a:extLst>
              <a:ext uri="{FF2B5EF4-FFF2-40B4-BE49-F238E27FC236}">
                <a16:creationId xmlns:a16="http://schemas.microsoft.com/office/drawing/2014/main" id="{68245ED2-BF47-DD9C-C57E-95200183ADD9}"/>
              </a:ext>
            </a:extLst>
          </p:cNvPr>
          <p:cNvCxnSpPr>
            <a:stCxn id="36" idx="3"/>
            <a:endCxn id="3" idx="1"/>
          </p:cNvCxnSpPr>
          <p:nvPr/>
        </p:nvCxnSpPr>
        <p:spPr>
          <a:xfrm>
            <a:off x="1842647" y="674032"/>
            <a:ext cx="1949097" cy="911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Прямоугольник 4">
            <a:extLst>
              <a:ext uri="{FF2B5EF4-FFF2-40B4-BE49-F238E27FC236}">
                <a16:creationId xmlns:a16="http://schemas.microsoft.com/office/drawing/2014/main" id="{C0326071-9B04-0746-EBB9-5FBBC28FBF16}"/>
              </a:ext>
            </a:extLst>
          </p:cNvPr>
          <p:cNvSpPr/>
          <p:nvPr/>
        </p:nvSpPr>
        <p:spPr>
          <a:xfrm>
            <a:off x="38706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9</a:t>
            </a:r>
          </a:p>
        </p:txBody>
      </p:sp>
      <p:sp>
        <p:nvSpPr>
          <p:cNvPr id="19" name="Прямоугольник 5">
            <a:extLst>
              <a:ext uri="{FF2B5EF4-FFF2-40B4-BE49-F238E27FC236}">
                <a16:creationId xmlns:a16="http://schemas.microsoft.com/office/drawing/2014/main" id="{77FF2FDF-6664-5A5E-D3F1-B4CAE05633F5}"/>
              </a:ext>
            </a:extLst>
          </p:cNvPr>
          <p:cNvSpPr/>
          <p:nvPr/>
        </p:nvSpPr>
        <p:spPr>
          <a:xfrm>
            <a:off x="99604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</a:p>
        </p:txBody>
      </p:sp>
      <p:sp>
        <p:nvSpPr>
          <p:cNvPr id="20" name="Прямоугольник 6">
            <a:extLst>
              <a:ext uri="{FF2B5EF4-FFF2-40B4-BE49-F238E27FC236}">
                <a16:creationId xmlns:a16="http://schemas.microsoft.com/office/drawing/2014/main" id="{DC9B841E-9B70-78DC-BF5B-2AEA0E21E85E}"/>
              </a:ext>
            </a:extLst>
          </p:cNvPr>
          <p:cNvSpPr/>
          <p:nvPr/>
        </p:nvSpPr>
        <p:spPr>
          <a:xfrm>
            <a:off x="1605027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7">
            <a:extLst>
              <a:ext uri="{FF2B5EF4-FFF2-40B4-BE49-F238E27FC236}">
                <a16:creationId xmlns:a16="http://schemas.microsoft.com/office/drawing/2014/main" id="{EB14611A-89E6-931E-8274-26AB6EC82C22}"/>
              </a:ext>
            </a:extLst>
          </p:cNvPr>
          <p:cNvSpPr/>
          <p:nvPr/>
        </p:nvSpPr>
        <p:spPr>
          <a:xfrm>
            <a:off x="2214009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8">
            <a:extLst>
              <a:ext uri="{FF2B5EF4-FFF2-40B4-BE49-F238E27FC236}">
                <a16:creationId xmlns:a16="http://schemas.microsoft.com/office/drawing/2014/main" id="{828C4D1B-7B7D-B14F-8BBE-450E16053437}"/>
              </a:ext>
            </a:extLst>
          </p:cNvPr>
          <p:cNvSpPr/>
          <p:nvPr/>
        </p:nvSpPr>
        <p:spPr>
          <a:xfrm>
            <a:off x="3188380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9">
            <a:extLst>
              <a:ext uri="{FF2B5EF4-FFF2-40B4-BE49-F238E27FC236}">
                <a16:creationId xmlns:a16="http://schemas.microsoft.com/office/drawing/2014/main" id="{792BD7D9-CF9A-DBC4-AD74-75EC75A60D8F}"/>
              </a:ext>
            </a:extLst>
          </p:cNvPr>
          <p:cNvSpPr/>
          <p:nvPr/>
        </p:nvSpPr>
        <p:spPr>
          <a:xfrm>
            <a:off x="3797362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10">
            <a:extLst>
              <a:ext uri="{FF2B5EF4-FFF2-40B4-BE49-F238E27FC236}">
                <a16:creationId xmlns:a16="http://schemas.microsoft.com/office/drawing/2014/main" id="{70D186E9-333C-2DB0-D634-2F9DD6971E95}"/>
              </a:ext>
            </a:extLst>
          </p:cNvPr>
          <p:cNvSpPr/>
          <p:nvPr/>
        </p:nvSpPr>
        <p:spPr>
          <a:xfrm>
            <a:off x="4406344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11">
            <a:extLst>
              <a:ext uri="{FF2B5EF4-FFF2-40B4-BE49-F238E27FC236}">
                <a16:creationId xmlns:a16="http://schemas.microsoft.com/office/drawing/2014/main" id="{6FB28468-9D96-18B0-4C3F-A3C3D7BD523D}"/>
              </a:ext>
            </a:extLst>
          </p:cNvPr>
          <p:cNvSpPr/>
          <p:nvPr/>
        </p:nvSpPr>
        <p:spPr>
          <a:xfrm>
            <a:off x="5015326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0</a:t>
            </a:r>
          </a:p>
        </p:txBody>
      </p:sp>
      <p:sp>
        <p:nvSpPr>
          <p:cNvPr id="26" name="Прямоугольник 12">
            <a:extLst>
              <a:ext uri="{FF2B5EF4-FFF2-40B4-BE49-F238E27FC236}">
                <a16:creationId xmlns:a16="http://schemas.microsoft.com/office/drawing/2014/main" id="{2A2A72F8-2A3E-8A0A-14FD-2DEB03AD748B}"/>
              </a:ext>
            </a:extLst>
          </p:cNvPr>
          <p:cNvSpPr/>
          <p:nvPr/>
        </p:nvSpPr>
        <p:spPr>
          <a:xfrm>
            <a:off x="5989697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</a:p>
        </p:txBody>
      </p:sp>
      <p:sp>
        <p:nvSpPr>
          <p:cNvPr id="27" name="Прямоугольник 13">
            <a:extLst>
              <a:ext uri="{FF2B5EF4-FFF2-40B4-BE49-F238E27FC236}">
                <a16:creationId xmlns:a16="http://schemas.microsoft.com/office/drawing/2014/main" id="{8C777EA9-5808-BAB1-ABE8-A96B8793A3FD}"/>
              </a:ext>
            </a:extLst>
          </p:cNvPr>
          <p:cNvSpPr/>
          <p:nvPr/>
        </p:nvSpPr>
        <p:spPr>
          <a:xfrm>
            <a:off x="659867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28" name="Прямоугольник 14">
            <a:extLst>
              <a:ext uri="{FF2B5EF4-FFF2-40B4-BE49-F238E27FC236}">
                <a16:creationId xmlns:a16="http://schemas.microsoft.com/office/drawing/2014/main" id="{6A76C8D2-4797-C2E4-2D5A-5669819308B8}"/>
              </a:ext>
            </a:extLst>
          </p:cNvPr>
          <p:cNvSpPr/>
          <p:nvPr/>
        </p:nvSpPr>
        <p:spPr>
          <a:xfrm>
            <a:off x="720766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</a:p>
        </p:txBody>
      </p:sp>
      <p:sp>
        <p:nvSpPr>
          <p:cNvPr id="29" name="Прямоугольник 15">
            <a:extLst>
              <a:ext uri="{FF2B5EF4-FFF2-40B4-BE49-F238E27FC236}">
                <a16:creationId xmlns:a16="http://schemas.microsoft.com/office/drawing/2014/main" id="{0196ED83-691D-6DE5-6F34-51F245F803C1}"/>
              </a:ext>
            </a:extLst>
          </p:cNvPr>
          <p:cNvSpPr/>
          <p:nvPr/>
        </p:nvSpPr>
        <p:spPr>
          <a:xfrm>
            <a:off x="781664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</a:p>
        </p:txBody>
      </p:sp>
      <p:sp>
        <p:nvSpPr>
          <p:cNvPr id="30" name="Прямоугольник 65">
            <a:extLst>
              <a:ext uri="{FF2B5EF4-FFF2-40B4-BE49-F238E27FC236}">
                <a16:creationId xmlns:a16="http://schemas.microsoft.com/office/drawing/2014/main" id="{55142B47-770F-96EB-C3B8-2EC6A0BCAC55}"/>
              </a:ext>
            </a:extLst>
          </p:cNvPr>
          <p:cNvSpPr/>
          <p:nvPr/>
        </p:nvSpPr>
        <p:spPr>
          <a:xfrm>
            <a:off x="860831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31" name="Прямоугольник 66">
            <a:extLst>
              <a:ext uri="{FF2B5EF4-FFF2-40B4-BE49-F238E27FC236}">
                <a16:creationId xmlns:a16="http://schemas.microsoft.com/office/drawing/2014/main" id="{42A18FC7-25AD-D8FF-0627-3B35F025E35D}"/>
              </a:ext>
            </a:extLst>
          </p:cNvPr>
          <p:cNvSpPr/>
          <p:nvPr/>
        </p:nvSpPr>
        <p:spPr>
          <a:xfrm>
            <a:off x="921730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32" name="Прямоугольник 67">
            <a:extLst>
              <a:ext uri="{FF2B5EF4-FFF2-40B4-BE49-F238E27FC236}">
                <a16:creationId xmlns:a16="http://schemas.microsoft.com/office/drawing/2014/main" id="{F5132CE6-6CD2-738A-5447-0AF398C248C3}"/>
              </a:ext>
            </a:extLst>
          </p:cNvPr>
          <p:cNvSpPr/>
          <p:nvPr/>
        </p:nvSpPr>
        <p:spPr>
          <a:xfrm>
            <a:off x="9826283" y="3685347"/>
            <a:ext cx="608982" cy="5722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</a:p>
        </p:txBody>
      </p:sp>
      <p:sp>
        <p:nvSpPr>
          <p:cNvPr id="33" name="Прямоугольник 68">
            <a:extLst>
              <a:ext uri="{FF2B5EF4-FFF2-40B4-BE49-F238E27FC236}">
                <a16:creationId xmlns:a16="http://schemas.microsoft.com/office/drawing/2014/main" id="{D980DE36-B91A-4ABD-A52C-6F63C4D68C88}"/>
              </a:ext>
            </a:extLst>
          </p:cNvPr>
          <p:cNvSpPr/>
          <p:nvPr/>
        </p:nvSpPr>
        <p:spPr>
          <a:xfrm>
            <a:off x="1043526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cxnSp>
        <p:nvCxnSpPr>
          <p:cNvPr id="34" name="Прямая со стрелкой 73">
            <a:extLst>
              <a:ext uri="{FF2B5EF4-FFF2-40B4-BE49-F238E27FC236}">
                <a16:creationId xmlns:a16="http://schemas.microsoft.com/office/drawing/2014/main" id="{E26873CC-22EF-C0FB-F82A-AD0828132A7A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>
            <a:off x="5807968" y="1873280"/>
            <a:ext cx="310484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Группа 92">
            <a:extLst>
              <a:ext uri="{FF2B5EF4-FFF2-40B4-BE49-F238E27FC236}">
                <a16:creationId xmlns:a16="http://schemas.microsoft.com/office/drawing/2014/main" id="{A90CD938-522A-BED0-EBBB-143EFC2097F0}"/>
              </a:ext>
            </a:extLst>
          </p:cNvPr>
          <p:cNvGrpSpPr/>
          <p:nvPr/>
        </p:nvGrpSpPr>
        <p:grpSpPr>
          <a:xfrm>
            <a:off x="186463" y="435033"/>
            <a:ext cx="1656184" cy="2313526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36" name="Прямоугольник 50">
              <a:extLst>
                <a:ext uri="{FF2B5EF4-FFF2-40B4-BE49-F238E27FC236}">
                  <a16:creationId xmlns:a16="http://schemas.microsoft.com/office/drawing/2014/main" id="{4D6804C8-77CD-8E04-97B7-9DD59DAFB874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37" name="Прямоугольник 55">
              <a:extLst>
                <a:ext uri="{FF2B5EF4-FFF2-40B4-BE49-F238E27FC236}">
                  <a16:creationId xmlns:a16="http://schemas.microsoft.com/office/drawing/2014/main" id="{DA56C232-9151-4DA2-B5B1-4D2CC2A34E99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</a:t>
              </a:r>
              <a:r>
                <a:rPr lang="ru-RU" dirty="0"/>
                <a:t>11</a:t>
              </a:r>
            </a:p>
          </p:txBody>
        </p:sp>
        <p:sp>
          <p:nvSpPr>
            <p:cNvPr id="38" name="Прямоугольник 56">
              <a:extLst>
                <a:ext uri="{FF2B5EF4-FFF2-40B4-BE49-F238E27FC236}">
                  <a16:creationId xmlns:a16="http://schemas.microsoft.com/office/drawing/2014/main" id="{698740A2-00BF-C726-FA8E-EB43039843B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</a:t>
              </a:r>
              <a:r>
                <a:rPr lang="ru-RU" dirty="0"/>
                <a:t>7</a:t>
              </a:r>
            </a:p>
          </p:txBody>
        </p:sp>
        <p:sp>
          <p:nvSpPr>
            <p:cNvPr id="39" name="Прямоугольник 78">
              <a:extLst>
                <a:ext uri="{FF2B5EF4-FFF2-40B4-BE49-F238E27FC236}">
                  <a16:creationId xmlns:a16="http://schemas.microsoft.com/office/drawing/2014/main" id="{DC799D1E-B69D-8F3B-C8D4-8C693721103A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40" name="Прямоугольник 79">
              <a:extLst>
                <a:ext uri="{FF2B5EF4-FFF2-40B4-BE49-F238E27FC236}">
                  <a16:creationId xmlns:a16="http://schemas.microsoft.com/office/drawing/2014/main" id="{78BDD662-828B-7AEC-CB1B-35F3543DA1B0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41" name="Левая фигурная скобка 80">
            <a:extLst>
              <a:ext uri="{FF2B5EF4-FFF2-40B4-BE49-F238E27FC236}">
                <a16:creationId xmlns:a16="http://schemas.microsoft.com/office/drawing/2014/main" id="{E6107FE0-98F6-073E-4B7E-FB343B1CAB10}"/>
              </a:ext>
            </a:extLst>
          </p:cNvPr>
          <p:cNvSpPr/>
          <p:nvPr/>
        </p:nvSpPr>
        <p:spPr>
          <a:xfrm rot="5400000">
            <a:off x="4825817" y="-12453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CAD3F9-DB7A-E2CC-66E3-1E8F225C26D0}"/>
              </a:ext>
            </a:extLst>
          </p:cNvPr>
          <p:cNvSpPr txBox="1"/>
          <p:nvPr/>
        </p:nvSpPr>
        <p:spPr>
          <a:xfrm>
            <a:off x="4439816" y="53648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0842E1-7D73-BCE1-22FB-BF80236D6400}"/>
              </a:ext>
            </a:extLst>
          </p:cNvPr>
          <p:cNvSpPr txBox="1"/>
          <p:nvPr/>
        </p:nvSpPr>
        <p:spPr>
          <a:xfrm>
            <a:off x="186463" y="63016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44" name="Левая фигурная скобка 47">
            <a:extLst>
              <a:ext uri="{FF2B5EF4-FFF2-40B4-BE49-F238E27FC236}">
                <a16:creationId xmlns:a16="http://schemas.microsoft.com/office/drawing/2014/main" id="{89DA9227-D2A6-8ADD-0F14-88A21E540273}"/>
              </a:ext>
            </a:extLst>
          </p:cNvPr>
          <p:cNvSpPr/>
          <p:nvPr/>
        </p:nvSpPr>
        <p:spPr>
          <a:xfrm rot="16200000">
            <a:off x="6992182" y="3392999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AFD715-63D1-C553-134A-93475EE05CDF}"/>
              </a:ext>
            </a:extLst>
          </p:cNvPr>
          <p:cNvSpPr txBox="1"/>
          <p:nvPr/>
        </p:nvSpPr>
        <p:spPr>
          <a:xfrm>
            <a:off x="6279660" y="4787832"/>
            <a:ext cx="1770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r>
              <a:rPr lang="en-US" dirty="0"/>
              <a:t> = 4</a:t>
            </a:r>
            <a:endParaRPr lang="ru-RU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A0A9C9-FECA-4295-810D-A19EABFA8B72}"/>
              </a:ext>
            </a:extLst>
          </p:cNvPr>
          <p:cNvSpPr txBox="1"/>
          <p:nvPr/>
        </p:nvSpPr>
        <p:spPr>
          <a:xfrm>
            <a:off x="6279660" y="96751"/>
            <a:ext cx="5736076" cy="1708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500" dirty="0">
                <a:latin typeface="Consolas" panose="020B0609020204030204" pitchFamily="49" charset="0"/>
              </a:rPr>
              <a:t>//</a:t>
            </a:r>
            <a:r>
              <a:rPr lang="ru-RU" sz="1500" dirty="0">
                <a:latin typeface="Consolas" panose="020B0609020204030204" pitchFamily="49" charset="0"/>
              </a:rPr>
              <a:t>Получение ссылки на элемент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ru-RU" sz="1500" dirty="0">
                <a:latin typeface="Consolas" panose="020B0609020204030204" pitchFamily="49" charset="0"/>
              </a:rPr>
              <a:t>с индексом </a:t>
            </a:r>
            <a:r>
              <a:rPr lang="en-US" sz="1500" dirty="0">
                <a:latin typeface="Consolas" panose="020B0609020204030204" pitchFamily="49" charset="0"/>
              </a:rPr>
              <a:t>pos: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Item&amp; deque&lt;Item&gt;::operator[](</a:t>
            </a:r>
            <a:r>
              <a:rPr lang="en-US" sz="1500" dirty="0" err="1">
                <a:latin typeface="Consolas" panose="020B0609020204030204" pitchFamily="49" charset="0"/>
              </a:rPr>
              <a:t>size_t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) {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00FFFF"/>
                </a:highlight>
                <a:latin typeface="Consolas" panose="020B0609020204030204" pitchFamily="49" charset="0"/>
              </a:rPr>
              <a:t>off</a:t>
            </a:r>
            <a:r>
              <a:rPr lang="en-US" sz="1500" dirty="0">
                <a:latin typeface="Consolas" panose="020B0609020204030204" pitchFamily="49" charset="0"/>
              </a:rPr>
              <a:t> =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 + </a:t>
            </a:r>
            <a:r>
              <a:rPr lang="en-US" sz="1500" dirty="0" err="1">
                <a:latin typeface="Consolas" panose="020B0609020204030204" pitchFamily="49" charset="0"/>
              </a:rPr>
              <a:t>m_offset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C0C0C0"/>
                </a:highlight>
                <a:latin typeface="Consolas" panose="020B0609020204030204" pitchFamily="49" charset="0"/>
              </a:rPr>
              <a:t>block</a:t>
            </a:r>
            <a:r>
              <a:rPr lang="en-US" sz="1500" dirty="0">
                <a:latin typeface="Consolas" panose="020B0609020204030204" pitchFamily="49" charset="0"/>
              </a:rPr>
              <a:t> = (off /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) 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&amp; (</a:t>
            </a:r>
            <a:r>
              <a:rPr lang="en-US" sz="1500" dirty="0" err="1">
                <a:highlight>
                  <a:srgbClr val="FFFF00"/>
                </a:highlight>
                <a:latin typeface="Consolas" panose="020B0609020204030204" pitchFamily="49" charset="0"/>
              </a:rPr>
              <a:t>m_mapSize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 – 1)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 err="1">
                <a:highlight>
                  <a:srgbClr val="00FF00"/>
                </a:highlight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 = off %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return </a:t>
            </a:r>
            <a:r>
              <a:rPr lang="en-US" sz="1500" dirty="0" err="1">
                <a:latin typeface="Consolas" panose="020B0609020204030204" pitchFamily="49" charset="0"/>
              </a:rPr>
              <a:t>m_map</a:t>
            </a:r>
            <a:r>
              <a:rPr lang="en-US" sz="1500" dirty="0">
                <a:latin typeface="Consolas" panose="020B0609020204030204" pitchFamily="49" charset="0"/>
              </a:rPr>
              <a:t>[block][</a:t>
            </a:r>
            <a:r>
              <a:rPr lang="en-US" sz="1500" dirty="0" err="1"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CB5AC9-69B5-3055-3AF6-4FF329A30381}"/>
              </a:ext>
            </a:extLst>
          </p:cNvPr>
          <p:cNvSpPr txBox="1"/>
          <p:nvPr/>
        </p:nvSpPr>
        <p:spPr>
          <a:xfrm>
            <a:off x="8200590" y="1901230"/>
            <a:ext cx="4032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ighlight>
                  <a:srgbClr val="FFFF00"/>
                </a:highlight>
              </a:rPr>
              <a:t>Поддержка </a:t>
            </a:r>
            <a:r>
              <a:rPr lang="ru-RU" dirty="0" err="1">
                <a:highlight>
                  <a:srgbClr val="FFFF00"/>
                </a:highlight>
              </a:rPr>
              <a:t>закольцованности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ru-RU" dirty="0">
                <a:highlight>
                  <a:srgbClr val="FFFF00"/>
                </a:highlight>
              </a:rPr>
              <a:t>блоков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51" name="Левая фигурная скобка 47">
            <a:extLst>
              <a:ext uri="{FF2B5EF4-FFF2-40B4-BE49-F238E27FC236}">
                <a16:creationId xmlns:a16="http://schemas.microsoft.com/office/drawing/2014/main" id="{4F78A5B4-C51D-7DE8-B5A2-537224FAAF82}"/>
              </a:ext>
            </a:extLst>
          </p:cNvPr>
          <p:cNvSpPr/>
          <p:nvPr/>
        </p:nvSpPr>
        <p:spPr>
          <a:xfrm rot="16200000">
            <a:off x="7256250" y="3003129"/>
            <a:ext cx="360040" cy="478002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B976A6-E842-036B-9408-2FFF00AD0028}"/>
              </a:ext>
            </a:extLst>
          </p:cNvPr>
          <p:cNvSpPr txBox="1"/>
          <p:nvPr/>
        </p:nvSpPr>
        <p:spPr>
          <a:xfrm>
            <a:off x="1787721" y="4786387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r>
              <a:rPr lang="en-US" dirty="0"/>
              <a:t> = 7</a:t>
            </a:r>
            <a:endParaRPr lang="ru-RU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3B6FC2-A8FB-D977-0ACE-F8EF8105AC45}"/>
              </a:ext>
            </a:extLst>
          </p:cNvPr>
          <p:cNvSpPr txBox="1"/>
          <p:nvPr/>
        </p:nvSpPr>
        <p:spPr>
          <a:xfrm>
            <a:off x="4544188" y="6307123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FF"/>
                </a:highlight>
              </a:rPr>
              <a:t>off</a:t>
            </a:r>
            <a:r>
              <a:rPr lang="en-US" dirty="0"/>
              <a:t> = 14</a:t>
            </a:r>
            <a:endParaRPr lang="ru-RU" dirty="0"/>
          </a:p>
        </p:txBody>
      </p:sp>
      <p:sp>
        <p:nvSpPr>
          <p:cNvPr id="54" name="Левая фигурная скобка 47">
            <a:extLst>
              <a:ext uri="{FF2B5EF4-FFF2-40B4-BE49-F238E27FC236}">
                <a16:creationId xmlns:a16="http://schemas.microsoft.com/office/drawing/2014/main" id="{C67C2AE7-2C1C-C48B-B71B-32817E11DC15}"/>
              </a:ext>
            </a:extLst>
          </p:cNvPr>
          <p:cNvSpPr/>
          <p:nvPr/>
        </p:nvSpPr>
        <p:spPr>
          <a:xfrm rot="16200000">
            <a:off x="4926653" y="1350090"/>
            <a:ext cx="360040" cy="943922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5" name="Прямая со стрелкой 38">
            <a:extLst>
              <a:ext uri="{FF2B5EF4-FFF2-40B4-BE49-F238E27FC236}">
                <a16:creationId xmlns:a16="http://schemas.microsoft.com/office/drawing/2014/main" id="{99F33DA6-4723-2D26-DFFB-48139FA14945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10075226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D54A2C9-72B1-93C9-58CE-56E21559BB52}"/>
              </a:ext>
            </a:extLst>
          </p:cNvPr>
          <p:cNvSpPr txBox="1"/>
          <p:nvPr/>
        </p:nvSpPr>
        <p:spPr>
          <a:xfrm>
            <a:off x="9488875" y="2881637"/>
            <a:ext cx="1172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deq</a:t>
            </a:r>
            <a:r>
              <a:rPr lang="en-US" dirty="0"/>
              <a:t>[7]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CEF238DC-CCD4-1309-73F2-46FBE5C2648A}"/>
              </a:ext>
            </a:extLst>
          </p:cNvPr>
          <p:cNvSpPr/>
          <p:nvPr/>
        </p:nvSpPr>
        <p:spPr>
          <a:xfrm rot="16200000">
            <a:off x="4475819" y="1422828"/>
            <a:ext cx="360040" cy="172819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61EF21-364C-A7EF-322A-8757865CC162}"/>
              </a:ext>
            </a:extLst>
          </p:cNvPr>
          <p:cNvSpPr txBox="1"/>
          <p:nvPr/>
        </p:nvSpPr>
        <p:spPr>
          <a:xfrm>
            <a:off x="4171606" y="2474234"/>
            <a:ext cx="1029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C0C0C0"/>
                </a:highlight>
              </a:rPr>
              <a:t>block</a:t>
            </a:r>
            <a:r>
              <a:rPr lang="en-US" dirty="0"/>
              <a:t> = 3</a:t>
            </a:r>
            <a:endParaRPr lang="ru-RU" dirty="0"/>
          </a:p>
        </p:txBody>
      </p:sp>
      <p:sp>
        <p:nvSpPr>
          <p:cNvPr id="46" name="Левая фигурная скобка 47">
            <a:extLst>
              <a:ext uri="{FF2B5EF4-FFF2-40B4-BE49-F238E27FC236}">
                <a16:creationId xmlns:a16="http://schemas.microsoft.com/office/drawing/2014/main" id="{D59D9B2C-CABB-75DC-DFF9-8710722CB2E7}"/>
              </a:ext>
            </a:extLst>
          </p:cNvPr>
          <p:cNvSpPr/>
          <p:nvPr/>
        </p:nvSpPr>
        <p:spPr>
          <a:xfrm rot="16200000">
            <a:off x="9037281" y="3973531"/>
            <a:ext cx="360040" cy="12179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9B1E1E-685D-BEA6-8AC4-2E5A48B1846C}"/>
              </a:ext>
            </a:extLst>
          </p:cNvPr>
          <p:cNvSpPr txBox="1"/>
          <p:nvPr/>
        </p:nvSpPr>
        <p:spPr>
          <a:xfrm>
            <a:off x="8534675" y="4786387"/>
            <a:ext cx="1365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highlight>
                  <a:srgbClr val="00FF00"/>
                </a:highlight>
              </a:rPr>
              <a:t>blockOff</a:t>
            </a:r>
            <a:r>
              <a:rPr lang="en-US" dirty="0"/>
              <a:t> = 2</a:t>
            </a:r>
            <a:endParaRPr lang="ru-RU" dirty="0"/>
          </a:p>
        </p:txBody>
      </p:sp>
      <p:sp>
        <p:nvSpPr>
          <p:cNvPr id="50" name="Slide Number Placeholder 49">
            <a:extLst>
              <a:ext uri="{FF2B5EF4-FFF2-40B4-BE49-F238E27FC236}">
                <a16:creationId xmlns:a16="http://schemas.microsoft.com/office/drawing/2014/main" id="{84CFCCCF-7534-C624-953C-3B978801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20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8C8C8C"/>
                                      </p:to>
                                    </p:animClr>
                                    <p:set>
                                      <p:cBhvr>
                                        <p:cTn id="33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 animBg="1"/>
      <p:bldP spid="2" grpId="0" animBg="1"/>
      <p:bldP spid="17" grpId="0"/>
      <p:bldP spid="46" grpId="0" animBg="1"/>
      <p:bldP spid="4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1CF9-1E9B-5F2B-A6EB-38B659FAE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CE4C31-1B74-64E4-20D9-F0AC3128A8E2}"/>
              </a:ext>
            </a:extLst>
          </p:cNvPr>
          <p:cNvSpPr txBox="1"/>
          <p:nvPr/>
        </p:nvSpPr>
        <p:spPr>
          <a:xfrm>
            <a:off x="838200" y="2132856"/>
            <a:ext cx="1037036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Love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Executing task: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FDD54D-7B4A-72FF-27F0-F6E7E439E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8272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564A4E-D445-4A99-A2D0-4C0902178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std::list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4C88B6-B000-4EDD-B513-B6791A10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75105-D278-26FF-138E-6CBE47DC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00199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Двусвязный список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std::list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ru-RU" dirty="0"/>
              <a:t>Контейнер на основе двусвязного списка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Нет произвольного доступа по индексу</a:t>
            </a:r>
            <a:br>
              <a:rPr lang="ru-RU" dirty="0"/>
            </a:br>
            <a:r>
              <a:rPr lang="ru-RU" dirty="0"/>
              <a:t>(только последовательный через итераторы)</a:t>
            </a:r>
          </a:p>
          <a:p>
            <a:pPr lvl="1"/>
            <a:r>
              <a:rPr lang="ru-RU" dirty="0"/>
              <a:t>Вставка и удаление по итератору — </a:t>
            </a:r>
            <a:r>
              <a:rPr lang="ru-RU" b="1" dirty="0"/>
              <a:t>O(1)</a:t>
            </a:r>
            <a:endParaRPr lang="ru-RU" dirty="0"/>
          </a:p>
          <a:p>
            <a:pPr lvl="1"/>
            <a:r>
              <a:rPr lang="ru-RU" dirty="0"/>
              <a:t>Итераторы и ссылки не </a:t>
            </a:r>
            <a:r>
              <a:rPr lang="ru-RU" dirty="0" err="1"/>
              <a:t>инвалидируются</a:t>
            </a:r>
            <a:r>
              <a:rPr lang="ru-RU" dirty="0"/>
              <a:t> при вставке/удалении других элементов</a:t>
            </a:r>
          </a:p>
          <a:p>
            <a:pPr lvl="1"/>
            <a:r>
              <a:rPr lang="ru-RU" dirty="0"/>
              <a:t>Элементы не хранятся непрерывно в памяти</a:t>
            </a:r>
          </a:p>
          <a:p>
            <a:r>
              <a:rPr lang="ru-RU" dirty="0"/>
              <a:t>Когда использовать</a:t>
            </a:r>
          </a:p>
          <a:p>
            <a:pPr lvl="1"/>
            <a:r>
              <a:rPr lang="ru-RU" dirty="0"/>
              <a:t>Частые вставки/удаления в середине</a:t>
            </a:r>
          </a:p>
          <a:p>
            <a:pPr lvl="1"/>
            <a:r>
              <a:rPr lang="ru-RU" dirty="0"/>
              <a:t>Не нужен быстрый доступ по индексу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D52F15-7B70-4EBB-88D0-DD91A8E72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384" y="4149080"/>
            <a:ext cx="2505425" cy="254353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484F6F-4501-D9F1-B42D-8A9FB339B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510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5DEAC4B-631E-47A9-9BBE-11E9DE2680FB}"/>
              </a:ext>
            </a:extLst>
          </p:cNvPr>
          <p:cNvSpPr/>
          <p:nvPr/>
        </p:nvSpPr>
        <p:spPr>
          <a:xfrm>
            <a:off x="557315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74B37B0-2A0A-4325-BE5C-FA4E58ACA8CE}"/>
              </a:ext>
            </a:extLst>
          </p:cNvPr>
          <p:cNvSpPr/>
          <p:nvPr/>
        </p:nvSpPr>
        <p:spPr>
          <a:xfrm>
            <a:off x="3514845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61F600-AFDE-4084-BA81-19742B1F3627}"/>
              </a:ext>
            </a:extLst>
          </p:cNvPr>
          <p:cNvSpPr/>
          <p:nvPr/>
        </p:nvSpPr>
        <p:spPr>
          <a:xfrm>
            <a:off x="142744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8285FF1-7D14-45B4-8D50-8F818DA5F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двусвязного списка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1689DA2-6520-4177-987F-4D848BC21E00}"/>
              </a:ext>
            </a:extLst>
          </p:cNvPr>
          <p:cNvSpPr/>
          <p:nvPr/>
        </p:nvSpPr>
        <p:spPr>
          <a:xfrm>
            <a:off x="1570181" y="4453932"/>
            <a:ext cx="1293205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1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93F122E-B19D-44FF-8969-CC49D87582A7}"/>
              </a:ext>
            </a:extLst>
          </p:cNvPr>
          <p:cNvSpPr/>
          <p:nvPr/>
        </p:nvSpPr>
        <p:spPr>
          <a:xfrm>
            <a:off x="1568712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DF4B042-5F51-456C-B319-003414BC68FB}"/>
              </a:ext>
            </a:extLst>
          </p:cNvPr>
          <p:cNvSpPr/>
          <p:nvPr/>
        </p:nvSpPr>
        <p:spPr>
          <a:xfrm>
            <a:off x="2212569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CDAA20A-9BAD-4E58-A242-B36504B738BD}"/>
              </a:ext>
            </a:extLst>
          </p:cNvPr>
          <p:cNvSpPr/>
          <p:nvPr/>
        </p:nvSpPr>
        <p:spPr>
          <a:xfrm>
            <a:off x="3662619" y="4453933"/>
            <a:ext cx="1297976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2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9AE207E-4705-4E73-8351-54576CE14B0D}"/>
              </a:ext>
            </a:extLst>
          </p:cNvPr>
          <p:cNvSpPr/>
          <p:nvPr/>
        </p:nvSpPr>
        <p:spPr>
          <a:xfrm>
            <a:off x="5710108" y="4453933"/>
            <a:ext cx="1303203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3</a:t>
            </a:r>
            <a:endParaRPr lang="ru-RU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5EFFFB18-1C9A-405F-B5F0-4B3AD0ED3E55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 flipV="1">
            <a:off x="2864856" y="4972698"/>
            <a:ext cx="649989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8DE3BEC-AE0C-4850-BB82-BB96D050373F}"/>
              </a:ext>
            </a:extLst>
          </p:cNvPr>
          <p:cNvSpPr/>
          <p:nvPr/>
        </p:nvSpPr>
        <p:spPr>
          <a:xfrm>
            <a:off x="3658861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3601F5C-D468-47C5-8147-D7D39F28DFDD}"/>
              </a:ext>
            </a:extLst>
          </p:cNvPr>
          <p:cNvSpPr/>
          <p:nvPr/>
        </p:nvSpPr>
        <p:spPr>
          <a:xfrm>
            <a:off x="4302718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C550A5E-51F3-4561-A240-4CAC3F7EAB9D}"/>
              </a:ext>
            </a:extLst>
          </p:cNvPr>
          <p:cNvSpPr/>
          <p:nvPr/>
        </p:nvSpPr>
        <p:spPr>
          <a:xfrm>
            <a:off x="5710107" y="4981991"/>
            <a:ext cx="657879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8BFB3541-A3DF-4540-A7D5-0781960726D6}"/>
              </a:ext>
            </a:extLst>
          </p:cNvPr>
          <p:cNvSpPr/>
          <p:nvPr/>
        </p:nvSpPr>
        <p:spPr>
          <a:xfrm>
            <a:off x="6361025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cxnSp>
        <p:nvCxnSpPr>
          <p:cNvPr id="41" name="Прямая со стрелкой 40">
            <a:extLst>
              <a:ext uri="{FF2B5EF4-FFF2-40B4-BE49-F238E27FC236}">
                <a16:creationId xmlns:a16="http://schemas.microsoft.com/office/drawing/2014/main" id="{60BA1011-EABC-45EB-9357-1FA0B26310E2}"/>
              </a:ext>
            </a:extLst>
          </p:cNvPr>
          <p:cNvCxnSpPr>
            <a:cxnSpLocks/>
            <a:stCxn id="36" idx="1"/>
            <a:endCxn id="17" idx="3"/>
          </p:cNvCxnSpPr>
          <p:nvPr/>
        </p:nvCxnSpPr>
        <p:spPr>
          <a:xfrm flipH="1" flipV="1">
            <a:off x="3011618" y="4972698"/>
            <a:ext cx="647243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>
            <a:extLst>
              <a:ext uri="{FF2B5EF4-FFF2-40B4-BE49-F238E27FC236}">
                <a16:creationId xmlns:a16="http://schemas.microsoft.com/office/drawing/2014/main" id="{4BD26C2D-20E7-4D3A-8BEF-51000680E8D0}"/>
              </a:ext>
            </a:extLst>
          </p:cNvPr>
          <p:cNvCxnSpPr>
            <a:cxnSpLocks/>
            <a:stCxn id="38" idx="1"/>
            <a:endCxn id="18" idx="3"/>
          </p:cNvCxnSpPr>
          <p:nvPr/>
        </p:nvCxnSpPr>
        <p:spPr>
          <a:xfrm flipH="1" flipV="1">
            <a:off x="5099021" y="4972698"/>
            <a:ext cx="611086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>
            <a:extLst>
              <a:ext uri="{FF2B5EF4-FFF2-40B4-BE49-F238E27FC236}">
                <a16:creationId xmlns:a16="http://schemas.microsoft.com/office/drawing/2014/main" id="{DA6FC49C-B709-4ED5-86FD-3CAAF70C43E7}"/>
              </a:ext>
            </a:extLst>
          </p:cNvPr>
          <p:cNvCxnSpPr>
            <a:cxnSpLocks/>
            <a:stCxn id="37" idx="3"/>
            <a:endCxn id="19" idx="1"/>
          </p:cNvCxnSpPr>
          <p:nvPr/>
        </p:nvCxnSpPr>
        <p:spPr>
          <a:xfrm flipV="1">
            <a:off x="4955005" y="4972698"/>
            <a:ext cx="618147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2980DF95-AFE0-45AA-BB76-93A292EEB683}"/>
              </a:ext>
            </a:extLst>
          </p:cNvPr>
          <p:cNvSpPr/>
          <p:nvPr/>
        </p:nvSpPr>
        <p:spPr>
          <a:xfrm>
            <a:off x="7608168" y="4293096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Sentinel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8D06C6D3-12C6-4D30-BAB6-7A654FCE39A1}"/>
              </a:ext>
            </a:extLst>
          </p:cNvPr>
          <p:cNvSpPr/>
          <p:nvPr/>
        </p:nvSpPr>
        <p:spPr>
          <a:xfrm>
            <a:off x="8378906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20166F30-7720-43C9-93A0-B27535563CA1}"/>
              </a:ext>
            </a:extLst>
          </p:cNvPr>
          <p:cNvSpPr/>
          <p:nvPr/>
        </p:nvSpPr>
        <p:spPr>
          <a:xfrm>
            <a:off x="7726619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cxnSp>
        <p:nvCxnSpPr>
          <p:cNvPr id="62" name="Прямая со стрелкой 61">
            <a:extLst>
              <a:ext uri="{FF2B5EF4-FFF2-40B4-BE49-F238E27FC236}">
                <a16:creationId xmlns:a16="http://schemas.microsoft.com/office/drawing/2014/main" id="{9A0A9FD5-D783-4CDA-8184-9546FB0C7576}"/>
              </a:ext>
            </a:extLst>
          </p:cNvPr>
          <p:cNvCxnSpPr>
            <a:cxnSpLocks/>
            <a:stCxn id="39" idx="3"/>
            <a:endCxn id="58" idx="1"/>
          </p:cNvCxnSpPr>
          <p:nvPr/>
        </p:nvCxnSpPr>
        <p:spPr>
          <a:xfrm flipV="1">
            <a:off x="7013312" y="4955877"/>
            <a:ext cx="594856" cy="290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64">
            <a:extLst>
              <a:ext uri="{FF2B5EF4-FFF2-40B4-BE49-F238E27FC236}">
                <a16:creationId xmlns:a16="http://schemas.microsoft.com/office/drawing/2014/main" id="{F5B42C2A-3A10-4A5B-838A-C8BA83D07A59}"/>
              </a:ext>
            </a:extLst>
          </p:cNvPr>
          <p:cNvCxnSpPr>
            <a:cxnSpLocks/>
            <a:stCxn id="61" idx="1"/>
            <a:endCxn id="19" idx="3"/>
          </p:cNvCxnSpPr>
          <p:nvPr/>
        </p:nvCxnSpPr>
        <p:spPr>
          <a:xfrm flipH="1" flipV="1">
            <a:off x="7157328" y="4972698"/>
            <a:ext cx="569291" cy="247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Соединитель: уступ 69">
            <a:extLst>
              <a:ext uri="{FF2B5EF4-FFF2-40B4-BE49-F238E27FC236}">
                <a16:creationId xmlns:a16="http://schemas.microsoft.com/office/drawing/2014/main" id="{7146795F-1802-487E-9BCD-F12860B29510}"/>
              </a:ext>
            </a:extLst>
          </p:cNvPr>
          <p:cNvCxnSpPr>
            <a:stCxn id="6" idx="1"/>
            <a:endCxn id="58" idx="3"/>
          </p:cNvCxnSpPr>
          <p:nvPr/>
        </p:nvCxnSpPr>
        <p:spPr>
          <a:xfrm rot="10800000" flipH="1">
            <a:off x="1568712" y="4955877"/>
            <a:ext cx="7623632" cy="290144"/>
          </a:xfrm>
          <a:prstGeom prst="bentConnector5">
            <a:avLst>
              <a:gd name="adj1" fmla="val -4665"/>
              <a:gd name="adj2" fmla="val -262482"/>
              <a:gd name="adj3" fmla="val 10299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: уступ 72">
            <a:extLst>
              <a:ext uri="{FF2B5EF4-FFF2-40B4-BE49-F238E27FC236}">
                <a16:creationId xmlns:a16="http://schemas.microsoft.com/office/drawing/2014/main" id="{E98B9ACF-6DA8-402E-B8BC-E50D0BF2F72B}"/>
              </a:ext>
            </a:extLst>
          </p:cNvPr>
          <p:cNvCxnSpPr>
            <a:cxnSpLocks/>
            <a:stCxn id="60" idx="3"/>
            <a:endCxn id="17" idx="1"/>
          </p:cNvCxnSpPr>
          <p:nvPr/>
        </p:nvCxnSpPr>
        <p:spPr>
          <a:xfrm flipH="1" flipV="1">
            <a:off x="1427442" y="4972698"/>
            <a:ext cx="7603751" cy="247207"/>
          </a:xfrm>
          <a:prstGeom prst="bentConnector5">
            <a:avLst>
              <a:gd name="adj1" fmla="val -7849"/>
              <a:gd name="adj2" fmla="val -459012"/>
              <a:gd name="adj3" fmla="val 10551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>
            <a:extLst>
              <a:ext uri="{FF2B5EF4-FFF2-40B4-BE49-F238E27FC236}">
                <a16:creationId xmlns:a16="http://schemas.microsoft.com/office/drawing/2014/main" id="{3B10D1E2-4ED3-48AB-9B90-BCFC42FE008E}"/>
              </a:ext>
            </a:extLst>
          </p:cNvPr>
          <p:cNvCxnSpPr>
            <a:cxnSpLocks/>
            <a:stCxn id="83" idx="2"/>
            <a:endCxn id="17" idx="0"/>
          </p:cNvCxnSpPr>
          <p:nvPr/>
        </p:nvCxnSpPr>
        <p:spPr>
          <a:xfrm>
            <a:off x="2212569" y="3894344"/>
            <a:ext cx="6961" cy="415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FA62C96-A462-4970-97B8-EFED3E21EA18}"/>
              </a:ext>
            </a:extLst>
          </p:cNvPr>
          <p:cNvSpPr txBox="1"/>
          <p:nvPr/>
        </p:nvSpPr>
        <p:spPr>
          <a:xfrm>
            <a:off x="1755106" y="3525012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1B64848-FA61-4A53-ABDA-90BC36BC8C33}"/>
              </a:ext>
            </a:extLst>
          </p:cNvPr>
          <p:cNvSpPr txBox="1"/>
          <p:nvPr/>
        </p:nvSpPr>
        <p:spPr>
          <a:xfrm>
            <a:off x="7942793" y="3534308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67B4498E-9592-4AF0-941A-A1ADE9E56A5D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>
            <a:off x="8400256" y="3903640"/>
            <a:ext cx="0" cy="389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755C5223-533B-4E5F-904A-9A859E8C988F}"/>
              </a:ext>
            </a:extLst>
          </p:cNvPr>
          <p:cNvSpPr/>
          <p:nvPr/>
        </p:nvSpPr>
        <p:spPr>
          <a:xfrm>
            <a:off x="4414945" y="1849413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size:3</a:t>
            </a:r>
            <a:endParaRPr lang="ru-RU" dirty="0"/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747DC024-FD39-4836-92B5-5199B45D1778}"/>
              </a:ext>
            </a:extLst>
          </p:cNvPr>
          <p:cNvSpPr/>
          <p:nvPr/>
        </p:nvSpPr>
        <p:spPr>
          <a:xfrm>
            <a:off x="4414945" y="2353469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B00B3690-5DE3-4C99-A953-F2E2F8C5BAD7}"/>
              </a:ext>
            </a:extLst>
          </p:cNvPr>
          <p:cNvSpPr/>
          <p:nvPr/>
        </p:nvSpPr>
        <p:spPr>
          <a:xfrm>
            <a:off x="4414945" y="2857525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96" name="Прямая со стрелкой 95">
            <a:extLst>
              <a:ext uri="{FF2B5EF4-FFF2-40B4-BE49-F238E27FC236}">
                <a16:creationId xmlns:a16="http://schemas.microsoft.com/office/drawing/2014/main" id="{E09BFEF3-A87B-4C7F-8EFD-D0CC56220AC4}"/>
              </a:ext>
            </a:extLst>
          </p:cNvPr>
          <p:cNvCxnSpPr>
            <a:stCxn id="91" idx="1"/>
            <a:endCxn id="17" idx="0"/>
          </p:cNvCxnSpPr>
          <p:nvPr/>
        </p:nvCxnSpPr>
        <p:spPr>
          <a:xfrm flipH="1">
            <a:off x="2219530" y="2605497"/>
            <a:ext cx="2195415" cy="1704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Прямая со стрелкой 97">
            <a:extLst>
              <a:ext uri="{FF2B5EF4-FFF2-40B4-BE49-F238E27FC236}">
                <a16:creationId xmlns:a16="http://schemas.microsoft.com/office/drawing/2014/main" id="{C984D755-D8F6-43C5-B3BA-52960B2F2D0A}"/>
              </a:ext>
            </a:extLst>
          </p:cNvPr>
          <p:cNvCxnSpPr>
            <a:stCxn id="92" idx="3"/>
            <a:endCxn id="58" idx="0"/>
          </p:cNvCxnSpPr>
          <p:nvPr/>
        </p:nvCxnSpPr>
        <p:spPr>
          <a:xfrm>
            <a:off x="5783097" y="3109553"/>
            <a:ext cx="2617159" cy="11835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049AE7-AAE3-D971-DCDE-EC9C12F23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89584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56E04-FA08-8213-A745-7CCDF158D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список задач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ACD8F1-30F6-75CF-BF0B-7C3CED81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42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24C46A-34CA-1F2A-FE7B-BE302431A812}"/>
              </a:ext>
            </a:extLst>
          </p:cNvPr>
          <p:cNvSpPr txBox="1"/>
          <p:nvPr/>
        </p:nvSpPr>
        <p:spPr>
          <a:xfrm>
            <a:off x="838200" y="1460738"/>
            <a:ext cx="10658400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std::list&lt;std::string&gt; tasks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"Write report"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"Fix bug"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"Call client"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"Fix bug"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"All tasks:\n"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task : tasks)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task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Удаляем все задачи "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Fix bug"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tasks.remove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"Fix bug"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nRemaining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tasks:\n"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task : tasks)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task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1A459-24FC-4D20-F711-087CA27D21A9}"/>
              </a:ext>
            </a:extLst>
          </p:cNvPr>
          <p:cNvSpPr txBox="1"/>
          <p:nvPr/>
        </p:nvSpPr>
        <p:spPr>
          <a:xfrm>
            <a:off x="8610600" y="4188141"/>
            <a:ext cx="3654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https://godbolt.org/z/nET1j77co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6466E2-85FD-7BC5-D9D2-8B89A9296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1122" y="1328936"/>
            <a:ext cx="2705478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7452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5E706C-018B-3D1E-BB0C-E7E668216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Вставка в последовательные контейнеры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B5FAD3-D2EA-3180-064E-1AF8234DD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Миллион вставок к конец контейнера</a:t>
            </a:r>
          </a:p>
          <a:p>
            <a:r>
              <a:rPr lang="en-US" dirty="0"/>
              <a:t>vector</a:t>
            </a:r>
          </a:p>
          <a:p>
            <a:pPr lvl="1"/>
            <a:r>
              <a:rPr lang="ru-RU" dirty="0"/>
              <a:t>С </a:t>
            </a:r>
            <a:r>
              <a:rPr lang="en-US" dirty="0"/>
              <a:t>reserve </a:t>
            </a:r>
            <a:r>
              <a:rPr lang="ru-RU" dirty="0"/>
              <a:t>и без</a:t>
            </a:r>
          </a:p>
          <a:p>
            <a:r>
              <a:rPr lang="en-US" dirty="0"/>
              <a:t>deque</a:t>
            </a:r>
          </a:p>
          <a:p>
            <a:r>
              <a:rPr lang="en-US" dirty="0"/>
              <a:t>list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5F5FD-FF5B-9B98-9569-C715D2E6CB3A}"/>
              </a:ext>
            </a:extLst>
          </p:cNvPr>
          <p:cNvSpPr txBox="1"/>
          <p:nvPr/>
        </p:nvSpPr>
        <p:spPr>
          <a:xfrm>
            <a:off x="3503712" y="6400800"/>
            <a:ext cx="68511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3"/>
              </a:rPr>
              <a:t>https://quick-bench.com/q/W1if_qgPSZ7neHLRNylHrAwpvOs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300627B-3412-4B9E-B18A-A8737F8AA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5317" y="4509120"/>
            <a:ext cx="2261012" cy="226101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F7F45E-7D1B-06E1-50FC-57137647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43</a:t>
            </a:fld>
            <a:endParaRPr lang="ru-R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CC1629-609C-516B-1361-6526DE190C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903" y="2733664"/>
            <a:ext cx="6842097" cy="3510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8055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207BB9-71FD-E954-C9D3-E74FA4F4F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std::map </a:t>
            </a:r>
            <a:r>
              <a:rPr lang="ru-RU" dirty="0"/>
              <a:t>и </a:t>
            </a:r>
            <a:r>
              <a:rPr lang="en-US" dirty="0"/>
              <a:t>std::multimap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D2821-5192-3237-BBDF-015E19ED19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F52E14-73D8-14FF-A9F4-07DD39A7C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40248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>
                <a:latin typeface="+mj-lt"/>
                <a:hlinkClick r:id="rId4"/>
              </a:rPr>
              <a:t>std::map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>
                <a:latin typeface="+mj-lt"/>
                <a:hlinkClick r:id="rId5"/>
              </a:rPr>
              <a:t>std::</a:t>
            </a:r>
            <a:r>
              <a:rPr lang="en-US" dirty="0" err="1">
                <a:latin typeface="+mj-lt"/>
                <a:hlinkClick r:id="rId5"/>
              </a:rPr>
              <a:t>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426152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Упорядоченные ассоциативные контейнеры (обычно реализованы на основе сбалансированного дерева)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Хранят пары ключ → значение</a:t>
            </a:r>
          </a:p>
          <a:p>
            <a:pPr lvl="1"/>
            <a:r>
              <a:rPr lang="ru-RU" dirty="0"/>
              <a:t>Элементы автоматически упорядочены по ключу</a:t>
            </a:r>
          </a:p>
          <a:p>
            <a:pPr lvl="1"/>
            <a:r>
              <a:rPr lang="ru-RU" dirty="0"/>
              <a:t>Доступ, вставка, удаление — O(</a:t>
            </a:r>
            <a:r>
              <a:rPr lang="ru-RU" dirty="0" err="1"/>
              <a:t>log</a:t>
            </a:r>
            <a:r>
              <a:rPr lang="ru-RU" dirty="0"/>
              <a:t> n)</a:t>
            </a:r>
          </a:p>
          <a:p>
            <a:r>
              <a:rPr lang="ru-RU" dirty="0"/>
              <a:t>Различия</a:t>
            </a:r>
          </a:p>
          <a:p>
            <a:pPr lvl="1"/>
            <a:r>
              <a:rPr lang="ru-RU" dirty="0" err="1"/>
              <a:t>map</a:t>
            </a:r>
            <a:r>
              <a:rPr lang="ru-RU" dirty="0"/>
              <a:t> — ключи уникальны</a:t>
            </a:r>
          </a:p>
          <a:p>
            <a:pPr lvl="1"/>
            <a:r>
              <a:rPr lang="ru-RU" dirty="0" err="1"/>
              <a:t>multimap</a:t>
            </a:r>
            <a:r>
              <a:rPr lang="ru-RU" dirty="0"/>
              <a:t> — ключи могут повторяться</a:t>
            </a:r>
          </a:p>
          <a:p>
            <a:r>
              <a:rPr lang="ru-RU" dirty="0"/>
              <a:t>Требования к ключу</a:t>
            </a:r>
          </a:p>
          <a:p>
            <a:pPr lvl="1"/>
            <a:r>
              <a:rPr lang="ru-RU" dirty="0"/>
              <a:t>Определён строгий порядок (по умолчанию используется </a:t>
            </a:r>
            <a:r>
              <a:rPr lang="ru-RU" dirty="0" err="1"/>
              <a:t>operator</a:t>
            </a:r>
            <a:r>
              <a:rPr lang="ru-RU" dirty="0"/>
              <a:t>&lt;)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30B63A-9EEB-4DE7-A76E-125E44268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368" y="1627188"/>
            <a:ext cx="2534004" cy="253400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FCC1F3-4A2F-477D-B454-932CBC7AF1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4424" y="4279420"/>
            <a:ext cx="2514951" cy="25530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8BD5C9-4C3B-BBD1-2E6F-9B8CBE13B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322920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2DD7EB90-FCC9-4060-886C-1D03FBF5F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Красно-чёрное дерево</a:t>
            </a:r>
          </a:p>
        </p:txBody>
      </p:sp>
      <p:pic>
        <p:nvPicPr>
          <p:cNvPr id="9" name="Объект 4">
            <a:extLst>
              <a:ext uri="{FF2B5EF4-FFF2-40B4-BE49-F238E27FC236}">
                <a16:creationId xmlns:a16="http://schemas.microsoft.com/office/drawing/2014/main" id="{BFC6AF39-F93E-4582-8A4A-FD4D1EBE55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21517" y="2060848"/>
            <a:ext cx="8748966" cy="435133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1110CC-9B06-1635-5A9C-2648C341F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39094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8DFE7-75BA-11C0-CA9E-343B1DB61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подсчёт частоты встречаемости слов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4C7B7C-2F5F-B368-543B-EC631C0B7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47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8F8580-7F79-06A7-6670-C9BDF42F4ED7}"/>
              </a:ext>
            </a:extLst>
          </p:cNvPr>
          <p:cNvSpPr txBox="1"/>
          <p:nvPr/>
        </p:nvSpPr>
        <p:spPr>
          <a:xfrm>
            <a:off x="838200" y="2060847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std::map&lt;std::string,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wordCount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word;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word)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[word];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слова нет — создаётся со значением 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Word frequencies: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[key, value]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wordCount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key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value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116701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519B4C-674B-4DE1-859E-1AD14B0D2FE3}"/>
              </a:ext>
            </a:extLst>
          </p:cNvPr>
          <p:cNvSpPr/>
          <p:nvPr/>
        </p:nvSpPr>
        <p:spPr>
          <a:xfrm>
            <a:off x="1631504" y="116632"/>
            <a:ext cx="9036496" cy="6403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++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Anagrams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two words: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not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66DF1-3769-4EA6-9EB9-87FF32360CA7}"/>
              </a:ext>
            </a:extLst>
          </p:cNvPr>
          <p:cNvSpPr txBox="1"/>
          <p:nvPr/>
        </p:nvSpPr>
        <p:spPr>
          <a:xfrm>
            <a:off x="6779568" y="1776725"/>
            <a:ext cx="388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two words: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live evil</a:t>
            </a:r>
          </a:p>
          <a:p>
            <a:r>
              <a:rPr lang="en-US" dirty="0">
                <a:latin typeface="Consolas" panose="020B0609020204030204" pitchFamily="49" charset="0"/>
              </a:rPr>
              <a:t>live and evil are anagrams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7973B-5A8E-BB6F-9FE7-F0CA9436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349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80A003D-2956-FB1A-EFCF-28E110926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несколько студентов с одинаковым баллом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69F21-44C2-3CB5-4596-0D5B2B294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49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69D453-3A30-3C3B-B58E-FE1F76EE446B}"/>
              </a:ext>
            </a:extLst>
          </p:cNvPr>
          <p:cNvSpPr txBox="1"/>
          <p:nvPr/>
        </p:nvSpPr>
        <p:spPr>
          <a:xfrm>
            <a:off x="838200" y="1844824"/>
            <a:ext cx="105156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multimap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Charlie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David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Students sorted by score: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[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sz="1600" b="0" dirty="0" err="1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with score 90: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equal_range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73C9E7-7269-41A3-018B-18D5E1F40E70}"/>
              </a:ext>
            </a:extLst>
          </p:cNvPr>
          <p:cNvSpPr txBox="1"/>
          <p:nvPr/>
        </p:nvSpPr>
        <p:spPr>
          <a:xfrm>
            <a:off x="7722468" y="3616891"/>
            <a:ext cx="4249688" cy="258532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Students sorted by score: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60 : David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75 : Bob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90 : Alice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90 : Charlie</a:t>
            </a:r>
          </a:p>
          <a:p>
            <a:pPr algn="l">
              <a:buNone/>
            </a:pPr>
            <a:endParaRPr lang="en-US" b="0" i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Students with score 90: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Charlie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3808E0-4F04-9732-F139-266E664D5E1C}"/>
              </a:ext>
            </a:extLst>
          </p:cNvPr>
          <p:cNvSpPr txBox="1"/>
          <p:nvPr/>
        </p:nvSpPr>
        <p:spPr>
          <a:xfrm>
            <a:off x="5192685" y="6352143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https://godbolt.org/z/8saaMMn4v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E44B6F-5B20-F891-CF9D-E8E1A80023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0336" y="655786"/>
            <a:ext cx="2695951" cy="268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8419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888FB-14EB-4C6F-9300-8D28CD0FB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unordered_map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std::</a:t>
            </a:r>
            <a:r>
              <a:rPr lang="en-US" dirty="0" err="1"/>
              <a:t>unordered_multimap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8315AC3-596B-47D4-A678-9A92A72A7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28AAA2-E8A2-5BC9-E0CA-6B47CA2E4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1220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 err="1">
                <a:latin typeface="+mj-lt"/>
                <a:hlinkClick r:id="rId4"/>
              </a:rPr>
              <a:t>std</a:t>
            </a:r>
            <a:r>
              <a:rPr lang="en-US" dirty="0">
                <a:latin typeface="+mj-lt"/>
                <a:hlinkClick r:id="rId4"/>
              </a:rPr>
              <a:t>::</a:t>
            </a:r>
            <a:r>
              <a:rPr lang="en-US" dirty="0" err="1">
                <a:latin typeface="+mj-lt"/>
                <a:hlinkClick r:id="rId4"/>
              </a:rPr>
              <a:t>unordered_map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 err="1">
                <a:latin typeface="+mj-lt"/>
                <a:hlinkClick r:id="rId5"/>
              </a:rPr>
              <a:t>std</a:t>
            </a:r>
            <a:r>
              <a:rPr lang="en-US" dirty="0">
                <a:latin typeface="+mj-lt"/>
                <a:hlinkClick r:id="rId5"/>
              </a:rPr>
              <a:t>::</a:t>
            </a:r>
            <a:r>
              <a:rPr lang="en-US" dirty="0" err="1">
                <a:latin typeface="+mj-lt"/>
                <a:hlinkClick r:id="rId5"/>
              </a:rPr>
              <a:t>unordered_multimap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Ассоциативные контейнеры на основе хеш-таблицы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Хранят пары ключ → значение</a:t>
            </a:r>
          </a:p>
          <a:p>
            <a:pPr lvl="1"/>
            <a:r>
              <a:rPr lang="ru-RU" dirty="0"/>
              <a:t>Элементы </a:t>
            </a:r>
            <a:r>
              <a:rPr lang="ru-RU" b="1" dirty="0"/>
              <a:t>не упорядочены</a:t>
            </a:r>
            <a:endParaRPr lang="ru-RU" dirty="0"/>
          </a:p>
          <a:p>
            <a:pPr lvl="1"/>
            <a:r>
              <a:rPr lang="ru-RU" dirty="0"/>
              <a:t>Поиск, вставка, удаление — в среднем O(1)</a:t>
            </a:r>
          </a:p>
          <a:p>
            <a:pPr lvl="1"/>
            <a:r>
              <a:rPr lang="ru-RU" dirty="0"/>
              <a:t>В худшем случае — O(n)</a:t>
            </a:r>
          </a:p>
          <a:p>
            <a:r>
              <a:rPr lang="ru-RU" dirty="0"/>
              <a:t>Различия</a:t>
            </a:r>
          </a:p>
          <a:p>
            <a:pPr lvl="1"/>
            <a:r>
              <a:rPr lang="ru-RU" dirty="0" err="1"/>
              <a:t>unordered_map</a:t>
            </a:r>
            <a:r>
              <a:rPr lang="ru-RU" dirty="0"/>
              <a:t> — ключи уникальны</a:t>
            </a:r>
          </a:p>
          <a:p>
            <a:pPr lvl="1"/>
            <a:r>
              <a:rPr lang="ru-RU" dirty="0" err="1"/>
              <a:t>unordered_multimap</a:t>
            </a:r>
            <a:r>
              <a:rPr lang="ru-RU" dirty="0"/>
              <a:t> — ключи могут повторяться</a:t>
            </a:r>
          </a:p>
          <a:p>
            <a:r>
              <a:rPr lang="ru-RU" dirty="0"/>
              <a:t>Требования к ключу</a:t>
            </a:r>
          </a:p>
          <a:p>
            <a:pPr lvl="1"/>
            <a:r>
              <a:rPr lang="ru-RU" dirty="0"/>
              <a:t>Оператор равенства ==</a:t>
            </a:r>
          </a:p>
          <a:p>
            <a:pPr lvl="1"/>
            <a:r>
              <a:rPr lang="ru-RU" dirty="0"/>
              <a:t>Функция хеширования (по умолчанию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hash</a:t>
            </a:r>
            <a:r>
              <a:rPr lang="ru-RU" dirty="0"/>
              <a:t>&lt;Key&gt;)</a:t>
            </a:r>
          </a:p>
          <a:p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8433148-08C9-4FD5-BF9A-DF1DC2E1C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8408" y="4556844"/>
            <a:ext cx="2268248" cy="227687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45EBE-0CAF-71A0-7A3F-1BFB2A2E0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573068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1"/>
            <a:ext cx="9144000" cy="6494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?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"female"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"Sarah"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"Leonardo"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"Richard"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59AB0B-C2C8-F2F6-4466-91CAE73F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85715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A4A8CF-7F31-C8AF-69C1-3C97BD368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</a:t>
            </a:r>
            <a:r>
              <a:rPr lang="en-US" dirty="0"/>
              <a:t> </a:t>
            </a:r>
            <a:r>
              <a:rPr lang="en-US" dirty="0" err="1"/>
              <a:t>unordered_map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E532B5-0206-485A-47A8-472E0A15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53</a:t>
            </a:fld>
            <a:endParaRPr lang="ru-RU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CCFD09C9-5F5E-8F4F-83AB-CB6F6E74F1F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5347" y="1889579"/>
            <a:ext cx="9181306" cy="4983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6851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BAECCC-266C-CCD2-E59A-79CE37AB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Создаём простой </a:t>
            </a:r>
            <a:r>
              <a:rPr lang="en-US" dirty="0"/>
              <a:t>LRU</a:t>
            </a:r>
            <a:r>
              <a:rPr lang="ru-RU" dirty="0"/>
              <a:t> </a:t>
            </a:r>
            <a:r>
              <a:rPr lang="en-US" dirty="0"/>
              <a:t>Cache (</a:t>
            </a:r>
            <a:r>
              <a:rPr lang="en-US" dirty="0" err="1"/>
              <a:t>unordered_map</a:t>
            </a:r>
            <a:r>
              <a:rPr lang="en-US" dirty="0"/>
              <a:t> + list)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6F98D-41FE-6E4E-D178-6161F6E8F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FD68E3-2C33-F146-D514-8A74FA13B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7414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0E43FD7-784D-F7D4-5243-32B7740B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</a:t>
            </a:r>
            <a:r>
              <a:rPr lang="en-US" dirty="0"/>
              <a:t>LRU (Least Recently Used) Cache</a:t>
            </a:r>
            <a:r>
              <a:rPr lang="ru-RU" dirty="0"/>
              <a:t> (Инициализация и поиск)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B272D2-B73C-5EFF-FDF5-0AC2FCA43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55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41F1C4-230C-2E40-D52D-27117318BB04}"/>
              </a:ext>
            </a:extLst>
          </p:cNvPr>
          <p:cNvSpPr txBox="1"/>
          <p:nvPr/>
        </p:nvSpPr>
        <p:spPr>
          <a:xfrm>
            <a:off x="838200" y="1922068"/>
            <a:ext cx="1123324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LRUCache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list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pair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&gt;&gt;;</a:t>
            </a:r>
          </a:p>
          <a:p>
            <a:pPr>
              <a:buNone/>
            </a:pP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size_t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capacity;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unordered_map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iterator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 map;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LRUCache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LRUCache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Перемещаем элемент в начало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.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Теперь он –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самый "свежий"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splice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-&gt;second-&gt;second;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C06229-0831-4340-C8CD-1B8C967EC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444" y="1628343"/>
            <a:ext cx="2715004" cy="26768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0773147-7620-5312-4BC1-A08A95B9FCCA}"/>
              </a:ext>
            </a:extLst>
          </p:cNvPr>
          <p:cNvSpPr txBox="1"/>
          <p:nvPr/>
        </p:nvSpPr>
        <p:spPr>
          <a:xfrm>
            <a:off x="8892565" y="4746741"/>
            <a:ext cx="3642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https://godbolt.org/z/oYrf4hhv1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94997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6A91D-B986-815C-3146-5DB99690F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Cache</a:t>
            </a:r>
            <a:r>
              <a:rPr lang="ru-RU" dirty="0"/>
              <a:t> – вставка элемента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06C33F-CE30-67E1-5957-FAED10075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56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DBFD1B-2E8E-4AE0-0515-0E62DFAFAF65}"/>
              </a:ext>
            </a:extLst>
          </p:cNvPr>
          <p:cNvSpPr txBox="1"/>
          <p:nvPr/>
        </p:nvSpPr>
        <p:spPr>
          <a:xfrm>
            <a:off x="838200" y="1779687"/>
            <a:ext cx="10658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LRUCache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-&gt;second-&gt;second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splice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33424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66615-B266-EA16-948F-7B4058E80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Cache - </a:t>
            </a:r>
            <a:r>
              <a:rPr lang="ru-RU" dirty="0"/>
              <a:t>использование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A717A5-694A-95BF-1B86-D908304B1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57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786EA9-6ECD-893A-6A21-8BB0FF524B53}"/>
              </a:ext>
            </a:extLst>
          </p:cNvPr>
          <p:cNvSpPr txBox="1"/>
          <p:nvPr/>
        </p:nvSpPr>
        <p:spPr>
          <a:xfrm>
            <a:off x="838200" y="2453858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LRUCache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удалится ключ 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-1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747112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EBF6AB-CB25-460D-8C0A-993952F5D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std::set </a:t>
            </a:r>
            <a:r>
              <a:rPr lang="ru-RU" dirty="0"/>
              <a:t>и </a:t>
            </a:r>
            <a:r>
              <a:rPr lang="en-US" dirty="0"/>
              <a:t>std::multiset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B7739C-1309-44C3-B8E2-3F2EAB40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7AACBC-EF17-2428-4838-71F7719FB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1947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Классы множеств </a:t>
            </a:r>
            <a:r>
              <a:rPr lang="en-US" dirty="0">
                <a:hlinkClick r:id="rId4"/>
              </a:rPr>
              <a:t>std::set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hlinkClick r:id="rId5"/>
              </a:rPr>
              <a:t>std::</a:t>
            </a:r>
            <a:r>
              <a:rPr lang="en-US" dirty="0" err="1">
                <a:hlinkClick r:id="rId5"/>
              </a:rPr>
              <a:t>multiset</a:t>
            </a:r>
            <a:endParaRPr lang="ru-RU" dirty="0"/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138120" cy="4351338"/>
          </a:xfrm>
        </p:spPr>
        <p:txBody>
          <a:bodyPr>
            <a:normAutofit fontScale="85000" lnSpcReduction="10000"/>
          </a:bodyPr>
          <a:lstStyle/>
          <a:p>
            <a:r>
              <a:rPr lang="ru-RU" dirty="0"/>
              <a:t>Упорядоченные ассоциативные контейнеры</a:t>
            </a:r>
            <a:br>
              <a:rPr lang="ru-RU" dirty="0"/>
            </a:br>
            <a:r>
              <a:rPr lang="ru-RU" dirty="0"/>
              <a:t>(обычно реализованы на основе красно-чёрного дерева)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Хранят </a:t>
            </a:r>
            <a:r>
              <a:rPr lang="ru-RU" b="1" dirty="0"/>
              <a:t>только значения</a:t>
            </a:r>
            <a:r>
              <a:rPr lang="ru-RU" dirty="0"/>
              <a:t> (без пары ключ–значение)</a:t>
            </a:r>
          </a:p>
          <a:p>
            <a:pPr lvl="1"/>
            <a:r>
              <a:rPr lang="ru-RU" dirty="0"/>
              <a:t>Элементы автоматически упорядочены</a:t>
            </a:r>
          </a:p>
          <a:p>
            <a:pPr lvl="1"/>
            <a:r>
              <a:rPr lang="ru-RU" dirty="0"/>
              <a:t>Поиск, вставка, удаление — O(</a:t>
            </a:r>
            <a:r>
              <a:rPr lang="ru-RU" dirty="0" err="1"/>
              <a:t>log</a:t>
            </a:r>
            <a:r>
              <a:rPr lang="ru-RU" dirty="0"/>
              <a:t> n)</a:t>
            </a:r>
          </a:p>
          <a:p>
            <a:r>
              <a:rPr lang="ru-RU" dirty="0"/>
              <a:t>Различия</a:t>
            </a:r>
          </a:p>
          <a:p>
            <a:pPr lvl="1"/>
            <a:r>
              <a:rPr lang="ru-RU" dirty="0" err="1"/>
              <a:t>set</a:t>
            </a:r>
            <a:r>
              <a:rPr lang="ru-RU" dirty="0"/>
              <a:t> — элементы уникальны</a:t>
            </a:r>
          </a:p>
          <a:p>
            <a:pPr lvl="1"/>
            <a:r>
              <a:rPr lang="ru-RU" dirty="0" err="1"/>
              <a:t>multiset</a:t>
            </a:r>
            <a:r>
              <a:rPr lang="ru-RU" dirty="0"/>
              <a:t> — допускаются повторения</a:t>
            </a:r>
          </a:p>
          <a:p>
            <a:r>
              <a:rPr lang="ru-RU" dirty="0"/>
              <a:t>Требования к элементам</a:t>
            </a:r>
          </a:p>
          <a:p>
            <a:pPr lvl="1"/>
            <a:r>
              <a:rPr lang="ru-RU" dirty="0"/>
              <a:t>Определён строгий порядок (по умолчанию используется </a:t>
            </a:r>
            <a:r>
              <a:rPr lang="ru-RU" dirty="0" err="1"/>
              <a:t>operator</a:t>
            </a:r>
            <a:r>
              <a:rPr lang="ru-RU" dirty="0"/>
              <a:t>&lt;)</a:t>
            </a:r>
          </a:p>
          <a:p>
            <a:pPr lvl="1"/>
            <a:r>
              <a:rPr lang="ru-RU" dirty="0"/>
              <a:t>Можно задать собственный компаратор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09B2A6-E4B4-4276-987A-F60886CEBD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2924" y="1438711"/>
            <a:ext cx="2572109" cy="256258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14747C-66E6-49E2-B7A5-C1494B073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4352" y="4227747"/>
            <a:ext cx="2524477" cy="256258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2FEE5-663D-BE28-8C84-8AA722B2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915033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659EDA-FD9F-31D4-9A14-053B972274BF}"/>
              </a:ext>
            </a:extLst>
          </p:cNvPr>
          <p:cNvSpPr txBox="1"/>
          <p:nvPr/>
        </p:nvSpPr>
        <p:spPr>
          <a:xfrm>
            <a:off x="838200" y="1916832"/>
            <a:ext cx="1073040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Peter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Vasily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Alexey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a male name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Alexey, Ivan, Peter, Vasily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FD5C0A-7443-BC0F-D853-BCC2F30E0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7611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BBAEE1-B3F0-CC41-B4FD-2974EEA1F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unordered_set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unordered_multiset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C4E666-FA59-11AC-3FC2-D53B4D405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5424EE-D0B3-E106-61F3-C14F5766F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5666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D02ED9E-D7EF-6BF1-CD6B-314D28842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unordered_set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unordered_multiset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BBB331-FF94-24BC-B73F-0F3E1AC6F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Ассоциативные контейнеры-множества на основе хеш-таблицы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Хранят </a:t>
            </a:r>
            <a:r>
              <a:rPr lang="ru-RU" b="1" dirty="0"/>
              <a:t>только значения</a:t>
            </a:r>
            <a:endParaRPr lang="ru-RU" dirty="0"/>
          </a:p>
          <a:p>
            <a:pPr lvl="1"/>
            <a:r>
              <a:rPr lang="ru-RU" dirty="0"/>
              <a:t>Элементы </a:t>
            </a:r>
            <a:r>
              <a:rPr lang="ru-RU" b="1" dirty="0"/>
              <a:t>не упорядочены</a:t>
            </a:r>
            <a:endParaRPr lang="ru-RU" dirty="0"/>
          </a:p>
          <a:p>
            <a:pPr lvl="1"/>
            <a:r>
              <a:rPr lang="ru-RU" dirty="0"/>
              <a:t>Поиск, вставка, удаление — в среднем O(1)</a:t>
            </a:r>
          </a:p>
          <a:p>
            <a:pPr lvl="1"/>
            <a:r>
              <a:rPr lang="ru-RU" dirty="0"/>
              <a:t>В худшем случае — O(n)</a:t>
            </a:r>
          </a:p>
          <a:p>
            <a:r>
              <a:rPr lang="ru-RU" dirty="0"/>
              <a:t>Различия</a:t>
            </a:r>
          </a:p>
          <a:p>
            <a:pPr lvl="1"/>
            <a:r>
              <a:rPr lang="ru-RU" dirty="0" err="1"/>
              <a:t>unordered_set</a:t>
            </a:r>
            <a:r>
              <a:rPr lang="ru-RU" dirty="0"/>
              <a:t> — элементы уникальны</a:t>
            </a:r>
          </a:p>
          <a:p>
            <a:pPr lvl="1"/>
            <a:r>
              <a:rPr lang="ru-RU" dirty="0" err="1"/>
              <a:t>unordered_multiset</a:t>
            </a:r>
            <a:r>
              <a:rPr lang="ru-RU" dirty="0"/>
              <a:t> — допускаются дубликаты</a:t>
            </a:r>
          </a:p>
          <a:p>
            <a:r>
              <a:rPr lang="ru-RU" dirty="0"/>
              <a:t>Требования к элементам</a:t>
            </a:r>
          </a:p>
          <a:p>
            <a:pPr lvl="1"/>
            <a:r>
              <a:rPr lang="ru-RU" dirty="0"/>
              <a:t>Оператор равенства ==</a:t>
            </a:r>
          </a:p>
          <a:p>
            <a:pPr lvl="1"/>
            <a:r>
              <a:rPr lang="ru-RU" dirty="0"/>
              <a:t>Функция хеширования (по умолчанию используется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hash</a:t>
            </a:r>
            <a:r>
              <a:rPr lang="ru-RU" dirty="0"/>
              <a:t>&lt;T&gt;)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731768-1B99-4767-13FC-01841B6A6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60878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F66DB08-F78C-D8A2-8196-D89EDF6A1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удаление повторяющихся чисел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449FF-CDFE-E352-EB1E-8A8BF933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63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3E96DE-8196-56F8-3072-73B57D783565}"/>
              </a:ext>
            </a:extLst>
          </p:cNvPr>
          <p:cNvSpPr txBox="1"/>
          <p:nvPr/>
        </p:nvSpPr>
        <p:spPr>
          <a:xfrm>
            <a:off x="838200" y="1988840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numbers: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number)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uniqueNumbers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(number);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b="0" dirty="0" err="1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Unique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numbers: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value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187276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E2D92-5A13-B5A3-DC2F-E134AA090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подсчёт повторяющихся оценок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27DEC5-3D72-D955-E2C4-BC77405A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08DB4-13F1-64CF-8CF0-D812A5DCBFC2}"/>
              </a:ext>
            </a:extLst>
          </p:cNvPr>
          <p:cNvSpPr txBox="1"/>
          <p:nvPr/>
        </p:nvSpPr>
        <p:spPr>
          <a:xfrm>
            <a:off x="838200" y="2070796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unordered_multiset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 grades: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\n\</a:t>
            </a:r>
            <a:r>
              <a:rPr lang="en-US" b="0" dirty="0" err="1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of students with grade 5: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of students with grade 4: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30946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9EFD60E-D7D6-4BE1-170B-7CADC40AB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std::function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DE1E7C-A625-218A-949F-9582D1C1A2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562A5B-5F10-FAA0-545E-77AB46718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326856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A0138C0-8AE5-B1D5-6A53-0E3E5871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std::function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226C2A16-4059-3AF3-59C6-360C06570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Полиморфная обёртка функции общего назначения</a:t>
            </a:r>
          </a:p>
          <a:p>
            <a:r>
              <a:rPr lang="ru-RU" dirty="0"/>
              <a:t>Экземпляры </a:t>
            </a:r>
            <a:r>
              <a:rPr lang="en-US" dirty="0"/>
              <a:t>std::function </a:t>
            </a:r>
            <a:r>
              <a:rPr lang="ru-RU" dirty="0"/>
              <a:t>могут оборачивать:</a:t>
            </a:r>
          </a:p>
          <a:p>
            <a:pPr lvl="1"/>
            <a:r>
              <a:rPr lang="ru-RU" dirty="0"/>
              <a:t>Обычные функции</a:t>
            </a:r>
          </a:p>
          <a:p>
            <a:pPr lvl="1"/>
            <a:r>
              <a:rPr lang="ru-RU" dirty="0"/>
              <a:t>Лямбда-выражения</a:t>
            </a:r>
          </a:p>
          <a:p>
            <a:pPr lvl="1"/>
            <a:r>
              <a:rPr lang="en-US" dirty="0"/>
              <a:t>bind-</a:t>
            </a:r>
            <a:r>
              <a:rPr lang="ru-RU" dirty="0"/>
              <a:t>выражения</a:t>
            </a:r>
            <a:endParaRPr lang="en-US" dirty="0"/>
          </a:p>
          <a:p>
            <a:pPr lvl="1"/>
            <a:r>
              <a:rPr lang="ru-RU" dirty="0"/>
              <a:t>Функциональные объекты</a:t>
            </a:r>
            <a:endParaRPr lang="en-US" dirty="0"/>
          </a:p>
          <a:p>
            <a:r>
              <a:rPr lang="ru-RU" dirty="0"/>
              <a:t>Объявлена в заголовочном файле </a:t>
            </a:r>
            <a:r>
              <a:rPr lang="en-US" dirty="0"/>
              <a:t>&lt;functional&gt;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AFE066-FA7D-439B-8CDD-7C31351A6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4077072"/>
            <a:ext cx="2524477" cy="256258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BA8D-80A3-22C1-9DFD-C33E00B7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3174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CE3C93-8BBF-E5EB-165A-BCD7F5F5B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– поиск текста в потоке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FB54EA-3D01-E1D9-0DF1-C7E61ED35DA8}"/>
              </a:ext>
            </a:extLst>
          </p:cNvPr>
          <p:cNvSpPr txBox="1"/>
          <p:nvPr/>
        </p:nvSpPr>
        <p:spPr>
          <a:xfrm>
            <a:off x="825717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line;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(haystack, line);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pos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(needle);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(pos != std::string::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1F986D-3CC2-4202-18FC-445787A233AC}"/>
              </a:ext>
            </a:extLst>
          </p:cNvPr>
          <p:cNvSpPr/>
          <p:nvPr/>
        </p:nvSpPr>
        <p:spPr>
          <a:xfrm>
            <a:off x="4655840" y="4293096"/>
            <a:ext cx="6337920" cy="58618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результатов поиска зашита в функцию</a:t>
            </a:r>
            <a:r>
              <a:rPr lang="en-US" dirty="0"/>
              <a:t> </a:t>
            </a:r>
            <a:r>
              <a:rPr lang="ru-RU" dirty="0"/>
              <a:t>поиска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753B3-4984-825D-F806-C4F98D3E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766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7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A4E7E7-528B-94BC-9005-C16D187C5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– передаём обработчик результатов снаружи, используя </a:t>
            </a:r>
            <a:r>
              <a:rPr lang="en-US" dirty="0"/>
              <a:t>function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A9F9D1-3368-5F5D-1A74-A7B20888F296}"/>
              </a:ext>
            </a:extLst>
          </p:cNvPr>
          <p:cNvSpPr txBox="1"/>
          <p:nvPr/>
        </p:nvSpPr>
        <p:spPr>
          <a:xfrm>
            <a:off x="119336" y="1968560"/>
            <a:ext cx="1207266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line,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    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E1B03-1A35-C08D-8136-DA1DA9972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036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A97E91-FF84-B66A-5472-09989F6B6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обычной 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916E8-A009-AC16-F490-CC3ABC93B95D}"/>
              </a:ext>
            </a:extLst>
          </p:cNvPr>
          <p:cNvSpPr txBox="1"/>
          <p:nvPr/>
        </p:nvSpPr>
        <p:spPr>
          <a:xfrm>
            <a:off x="838200" y="2136338"/>
            <a:ext cx="110544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8AAF12-145D-8BD8-191D-00A9A1486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978516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FE62-5FE7-DBF1-C013-6454CFCAD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Лямбда-выражение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BE11B-FBE0-B7A1-1DFC-5706202E5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Анонимная функция, которая может быть определена прямо в месте использования</a:t>
            </a:r>
            <a:endParaRPr lang="en-US" dirty="0"/>
          </a:p>
          <a:p>
            <a:r>
              <a:rPr lang="ru-RU" dirty="0"/>
              <a:t>Позволяет передавать функцию как аргумент</a:t>
            </a:r>
          </a:p>
          <a:p>
            <a:r>
              <a:rPr lang="ru-RU" dirty="0"/>
              <a:t>Может захватывать переменные из окружающего контекста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D2BB0D-6131-1FE6-DA50-47D1971A199A}"/>
              </a:ext>
            </a:extLst>
          </p:cNvPr>
          <p:cNvSpPr txBox="1"/>
          <p:nvPr/>
        </p:nvSpPr>
        <p:spPr>
          <a:xfrm>
            <a:off x="551384" y="4422637"/>
            <a:ext cx="55446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2E9D9-3B86-623C-611F-998164462FEB}"/>
              </a:ext>
            </a:extLst>
          </p:cNvPr>
          <p:cNvSpPr txBox="1"/>
          <p:nvPr/>
        </p:nvSpPr>
        <p:spPr>
          <a:xfrm>
            <a:off x="6096000" y="4422637"/>
            <a:ext cx="590465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2543D-E84C-004B-D41B-8A2FD8EE9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559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17D7-47B5-8811-DA3D-8949A98B2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у лямбда-функции под капотом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0CC2-5C8E-8322-AF26-4D7B9CB7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Компилятор создаёт внутри функции класс с перегруженным оператором вызова функции</a:t>
            </a:r>
            <a:endParaRPr lang="en-US" dirty="0"/>
          </a:p>
          <a:p>
            <a:pPr lvl="1"/>
            <a:r>
              <a:rPr lang="ru-RU" dirty="0"/>
              <a:t>Захваченные переменные хранятся в виде полей класса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A48BF-0715-CA22-1AC0-D86E1C80CF6C}"/>
              </a:ext>
            </a:extLst>
          </p:cNvPr>
          <p:cNvSpPr txBox="1"/>
          <p:nvPr/>
        </p:nvSpPr>
        <p:spPr>
          <a:xfrm>
            <a:off x="6096000" y="6176963"/>
            <a:ext cx="5904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https://cppinsights.io/s/6c5bdd4c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07576E-5BF4-3C31-8544-C4C226335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1488" y="4127234"/>
            <a:ext cx="1895740" cy="191479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E65FD-4426-8841-FF9E-17D9DDFBB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2199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0095DC0-8440-9DA8-D314-C5541DBD7244}"/>
              </a:ext>
            </a:extLst>
          </p:cNvPr>
          <p:cNvSpPr txBox="1"/>
          <p:nvPr/>
        </p:nvSpPr>
        <p:spPr>
          <a:xfrm>
            <a:off x="6096000" y="249007"/>
            <a:ext cx="6096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x{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x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085A57-4C66-544A-8A72-D32D57DE2610}"/>
              </a:ext>
            </a:extLst>
          </p:cNvPr>
          <p:cNvSpPr txBox="1"/>
          <p:nvPr/>
        </p:nvSpPr>
        <p:spPr>
          <a:xfrm>
            <a:off x="0" y="249007"/>
            <a:ext cx="58079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[=]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2363CD-DA22-D898-E262-9646A1EB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67501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5C202-EDA6-DEB7-D1FE-79CB9D046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Захват переменной по ссылке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33093B-82E9-C7DB-E0F6-6A830F3B3C28}"/>
              </a:ext>
            </a:extLst>
          </p:cNvPr>
          <p:cNvSpPr txBox="1"/>
          <p:nvPr/>
        </p:nvSpPr>
        <p:spPr>
          <a:xfrm>
            <a:off x="838200" y="1988840"/>
            <a:ext cx="83058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ссылке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55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AB50-52A4-99E9-10B7-D81ED76B402F}"/>
              </a:ext>
            </a:extLst>
          </p:cNvPr>
          <p:cNvSpPr txBox="1"/>
          <p:nvPr/>
        </p:nvSpPr>
        <p:spPr>
          <a:xfrm>
            <a:off x="6096000" y="6021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https://cppinsights.io/s/89499d9b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41224A-3784-8FEB-5126-52155F242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0416" y="1950722"/>
            <a:ext cx="1838582" cy="190526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1F901-3742-734C-8CC1-CBF50DAE5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1150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36CEB-C66A-ECD6-4211-C18DB6950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Изменение захваченного значения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B742E-8F0B-6DF8-2F6C-FAF5AF709524}"/>
              </a:ext>
            </a:extLst>
          </p:cNvPr>
          <p:cNvSpPr txBox="1"/>
          <p:nvPr/>
        </p:nvSpPr>
        <p:spPr>
          <a:xfrm>
            <a:off x="838200" y="2204865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]() </a:t>
            </a:r>
            <a:r>
              <a:rPr lang="ru-RU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mutable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x захватывается по значению (которое можно менять внутри лямбды)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47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внутри лямбды значение не изменится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535A74-845B-9DDA-ED11-C06F021E2939}"/>
              </a:ext>
            </a:extLst>
          </p:cNvPr>
          <p:cNvSpPr txBox="1"/>
          <p:nvPr/>
        </p:nvSpPr>
        <p:spPr>
          <a:xfrm>
            <a:off x="6096000" y="61870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https://cppinsights.io/s/4264e60a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4DD88A-38BC-208D-D8F5-91F5C815C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639" y="3630982"/>
            <a:ext cx="1867161" cy="185763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442AF-3A5B-A1B6-421B-AC9556662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025885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CB9EE-3BA4-274B-3086-880D1A339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Не вызывайте лямбда-функцию, если захваченная по ссылке переменная разрушена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20D1C2-DE82-2569-8D5C-21ADE057989F}"/>
              </a:ext>
            </a:extLst>
          </p:cNvPr>
          <p:cNvSpPr txBox="1"/>
          <p:nvPr/>
        </p:nvSpPr>
        <p:spPr>
          <a:xfrm>
            <a:off x="838200" y="1988840"/>
            <a:ext cx="108024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 long string that should not be optimized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msg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еще нормально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раскомментировать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следующую строчку, то будет неопр. поведение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E4C133-898C-CFE7-B3D9-86FEBBD33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32763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BA1D03-FF69-8E57-FB67-331BF81D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FE1767-F4E7-A0C8-E644-15BCD8714F5E}"/>
              </a:ext>
            </a:extLst>
          </p:cNvPr>
          <p:cNvSpPr txBox="1"/>
          <p:nvPr/>
        </p:nvSpPr>
        <p:spPr>
          <a:xfrm>
            <a:off x="838200" y="2852935"/>
            <a:ext cx="11018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2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[](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71730-2E24-8843-7603-951434EF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855966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4E2CF-9830-3F77-BC21-37369262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2CC70A-6926-965C-0395-50F1ECBDA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лямбда-функции, захватывающей переменные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67263E-D73F-DA77-2897-8AC0C3829D9A}"/>
              </a:ext>
            </a:extLst>
          </p:cNvPr>
          <p:cNvSpPr txBox="1"/>
          <p:nvPr/>
        </p:nvSpPr>
        <p:spPr>
          <a:xfrm>
            <a:off x="838200" y="2924944"/>
            <a:ext cx="110184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[&amp;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0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0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Можно использовать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lines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1ABAB-9C3E-FD7D-795F-5B6A2099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1692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7D24D-7AE4-AEFC-5694-D5459D5E9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методе класса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278B67-76E4-46DE-5D59-780CC80F4AC8}"/>
              </a:ext>
            </a:extLst>
          </p:cNvPr>
          <p:cNvSpPr txBox="1"/>
          <p:nvPr/>
        </p:nvSpPr>
        <p:spPr>
          <a:xfrm>
            <a:off x="838200" y="2060848"/>
            <a:ext cx="1123446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bind_front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387CC7-534F-8224-B7BE-254AF468E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86784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B3056D-1D23-48B9-8C58-322DFDCC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C0F14-8178-4798-B9E2-A66459696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D1379A-E682-A8BD-E210-F556816E0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7265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BE1138-DEA7-4101-A275-212F1260A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Стандартные потоки ввода-вывода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8069EA-C9A3-4111-AF80-63FF9460D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std::</a:t>
            </a:r>
            <a:r>
              <a:rPr lang="en-US" dirty="0" err="1"/>
              <a:t>cout</a:t>
            </a:r>
            <a:r>
              <a:rPr lang="en-US" dirty="0"/>
              <a:t> </a:t>
            </a:r>
            <a:r>
              <a:rPr lang="ru-RU" dirty="0"/>
              <a:t>—</a:t>
            </a:r>
            <a:r>
              <a:rPr lang="en-US" dirty="0"/>
              <a:t>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вывода</a:t>
            </a:r>
            <a:r>
              <a:rPr lang="en-US" dirty="0"/>
              <a:t> </a:t>
            </a:r>
            <a:r>
              <a:rPr lang="en-US" dirty="0" err="1"/>
              <a:t>stdout</a:t>
            </a:r>
            <a:endParaRPr lang="ru-RU" dirty="0"/>
          </a:p>
          <a:p>
            <a:pPr lvl="1"/>
            <a:r>
              <a:rPr lang="ru-RU" dirty="0"/>
              <a:t>Перенаправление потока вывода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&gt; stdout.txt</a:t>
            </a:r>
          </a:p>
          <a:p>
            <a:r>
              <a:rPr lang="en-US" dirty="0"/>
              <a:t>std::</a:t>
            </a:r>
            <a:r>
              <a:rPr lang="en-US" dirty="0" err="1"/>
              <a:t>cin</a:t>
            </a:r>
            <a:r>
              <a:rPr lang="ru-RU" dirty="0"/>
              <a:t> – глобальный объект, связанный со </a:t>
            </a:r>
            <a:r>
              <a:rPr lang="ru-RU" b="1" dirty="0"/>
              <a:t>стандартным потоком ввода</a:t>
            </a:r>
            <a:r>
              <a:rPr lang="ru-RU" dirty="0"/>
              <a:t> </a:t>
            </a:r>
            <a:r>
              <a:rPr lang="en-US" dirty="0"/>
              <a:t>stdin</a:t>
            </a:r>
            <a:endParaRPr lang="ru-RU" dirty="0"/>
          </a:p>
          <a:p>
            <a:pPr lvl="1"/>
            <a:r>
              <a:rPr lang="ru-RU" dirty="0"/>
              <a:t>Перенаправление потока ввода на чтение из файла при запуске приложения: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&lt; stdin.txt</a:t>
            </a:r>
          </a:p>
          <a:p>
            <a:r>
              <a:rPr lang="en-US" dirty="0"/>
              <a:t>std::</a:t>
            </a:r>
            <a:r>
              <a:rPr lang="en-US" dirty="0" err="1"/>
              <a:t>cerr</a:t>
            </a:r>
            <a:r>
              <a:rPr lang="en-US" dirty="0"/>
              <a:t> –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ошибок</a:t>
            </a:r>
            <a:endParaRPr lang="en-US" b="1" dirty="0"/>
          </a:p>
          <a:p>
            <a:pPr lvl="1"/>
            <a:r>
              <a:rPr lang="ru-RU" dirty="0"/>
              <a:t>Перенаправление потока ошибок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2&gt; stderr.txt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E19B1F-30F1-9D50-16B3-39CC857B9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533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D62C-D0FE-4F48-A14A-68BD8AFB6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ввода-вывода в поток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F2D0F8-B1ED-475E-AD5C-976788414ED6}"/>
              </a:ext>
            </a:extLst>
          </p:cNvPr>
          <p:cNvSpPr/>
          <p:nvPr/>
        </p:nvSpPr>
        <p:spPr>
          <a:xfrm>
            <a:off x="838200" y="1988839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StandardIO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Читаем число из потока в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вывода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ошибок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cerr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 чтении числа произошла ошибка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EA0E1D-6663-EA37-2FFB-7A5DD142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895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A6116-D476-4B9B-9E81-31E7F07E9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Манипуляторы ввода-вывода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782682-78C7-42AD-89D4-5C8CD73ACAC3}"/>
              </a:ext>
            </a:extLst>
          </p:cNvPr>
          <p:cNvSpPr/>
          <p:nvPr/>
        </p:nvSpPr>
        <p:spPr>
          <a:xfrm>
            <a:off x="838200" y="1556792"/>
            <a:ext cx="1101844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Считываем число в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hex-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формате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272CA5-9595-42B3-A1AB-610A2726A641}"/>
              </a:ext>
            </a:extLst>
          </p:cNvPr>
          <p:cNvSpPr/>
          <p:nvPr/>
        </p:nvSpPr>
        <p:spPr>
          <a:xfrm>
            <a:off x="6640647" y="5805264"/>
            <a:ext cx="5184576" cy="93862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FF</a:t>
            </a:r>
          </a:p>
          <a:p>
            <a:r>
              <a:rPr lang="en-US" dirty="0">
                <a:latin typeface="Consolas" panose="020B0609020204030204" pitchFamily="49" charset="0"/>
              </a:rPr>
              <a:t>255 ff 377 255</a:t>
            </a:r>
          </a:p>
          <a:p>
            <a:r>
              <a:rPr lang="en-US" dirty="0">
                <a:latin typeface="Consolas" panose="020B0609020204030204" pitchFamily="49" charset="0"/>
              </a:rPr>
              <a:t>3.14159 3.14159265358979 3.14 3.14159</a:t>
            </a:r>
            <a:endParaRPr lang="ru-RU" dirty="0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E28A1A-F1EF-47C6-8777-247281D16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2383" y="353169"/>
            <a:ext cx="2238875" cy="2238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73E51F-1B5B-458F-BD97-5E940D3A43A2}"/>
              </a:ext>
            </a:extLst>
          </p:cNvPr>
          <p:cNvSpPr/>
          <p:nvPr/>
        </p:nvSpPr>
        <p:spPr>
          <a:xfrm>
            <a:off x="7392144" y="0"/>
            <a:ext cx="45783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https://en.cppreference.com/w/cpp/io/manip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08FE7EC-3373-EDA7-46C6-08A1F16FF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774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AF2C-6E64-48B9-814E-D0A76F34F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Текстовый поток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B6C62-ABC7-42EF-9FE8-E6B95185E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743586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Текстовый поток – последовательность символов, разбитая на строки из 0 или более символов</a:t>
            </a:r>
          </a:p>
          <a:p>
            <a:pPr lvl="1"/>
            <a:r>
              <a:rPr lang="ru-RU" dirty="0"/>
              <a:t>Строки завершаются символом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pPr lvl="1"/>
            <a:r>
              <a:rPr lang="ru-RU" dirty="0"/>
              <a:t>Реализация может добавлять или удалять символы для соответствия стандарту, принятому в ОС</a:t>
            </a:r>
          </a:p>
          <a:p>
            <a:pPr lvl="2"/>
            <a:r>
              <a:rPr lang="en-US" dirty="0"/>
              <a:t>Windows</a:t>
            </a:r>
            <a:r>
              <a:rPr lang="ru-RU" dirty="0"/>
              <a:t> преобразовывает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 </a:t>
            </a:r>
            <a:r>
              <a:rPr lang="ru-RU" dirty="0"/>
              <a:t>как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при выводе, при чтении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преобразовывает в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r>
              <a:rPr lang="ru-RU" dirty="0"/>
              <a:t>Данные, читаемые из текстового потока будут равны ранее записанным в этот поток, только если выполнены условия</a:t>
            </a:r>
          </a:p>
          <a:p>
            <a:pPr lvl="1"/>
            <a:r>
              <a:rPr lang="ru-RU" dirty="0"/>
              <a:t>Выводятся только печатаемые символы и/или символы </a:t>
            </a:r>
            <a:r>
              <a:rPr lang="en-US" dirty="0">
                <a:solidFill>
                  <a:srgbClr val="FF0000"/>
                </a:solidFill>
              </a:rPr>
              <a:t>\t </a:t>
            </a:r>
            <a:r>
              <a:rPr lang="ru-RU" dirty="0"/>
              <a:t>и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.</a:t>
            </a:r>
          </a:p>
          <a:p>
            <a:pPr lvl="1"/>
            <a:r>
              <a:rPr lang="ru-RU" dirty="0"/>
              <a:t>Перед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ru-RU" dirty="0"/>
              <a:t> не выводились пробельные символы</a:t>
            </a:r>
          </a:p>
          <a:p>
            <a:pPr lvl="1"/>
            <a:r>
              <a:rPr lang="ru-RU" dirty="0"/>
              <a:t>Последний выведенный символ </a:t>
            </a:r>
            <a:r>
              <a:rPr lang="en-US" dirty="0"/>
              <a:t>—</a:t>
            </a:r>
            <a:r>
              <a:rPr lang="ru-RU" dirty="0"/>
              <a:t> </a:t>
            </a:r>
            <a:r>
              <a:rPr lang="ru-RU" dirty="0">
                <a:solidFill>
                  <a:srgbClr val="FF0000"/>
                </a:solidFill>
              </a:rPr>
              <a:t>\</a:t>
            </a:r>
            <a:r>
              <a:rPr lang="en-US" dirty="0">
                <a:solidFill>
                  <a:srgbClr val="FF0000"/>
                </a:solidFill>
              </a:rPr>
              <a:t>n</a:t>
            </a:r>
            <a:endParaRPr lang="ru-RU" dirty="0">
              <a:solidFill>
                <a:srgbClr val="FF0000"/>
              </a:solidFill>
            </a:endParaRPr>
          </a:p>
          <a:p>
            <a:r>
              <a:rPr lang="ru-RU" b="1" dirty="0">
                <a:solidFill>
                  <a:srgbClr val="000000"/>
                </a:solidFill>
              </a:rPr>
              <a:t>Двоичный поток</a:t>
            </a:r>
            <a:r>
              <a:rPr lang="ru-RU" dirty="0">
                <a:solidFill>
                  <a:srgbClr val="000000"/>
                </a:solidFill>
              </a:rPr>
              <a:t> – последовательность символов, которые всегда считываются в том же виде, в каком были записаны.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BF16F2-D927-4499-A924-53AAE63D76B6}"/>
              </a:ext>
            </a:extLst>
          </p:cNvPr>
          <p:cNvSpPr/>
          <p:nvPr/>
        </p:nvSpPr>
        <p:spPr>
          <a:xfrm>
            <a:off x="983432" y="6311900"/>
            <a:ext cx="69364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hlinkClick r:id="rId2"/>
              </a:rPr>
              <a:t>https://en.cppreference.com/w/cpp/io/c/FILE#Binary_and_text_modes</a:t>
            </a:r>
            <a:r>
              <a:rPr lang="ru-RU" dirty="0"/>
              <a:t> 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F4776F-9A6C-451A-B941-AA4B35081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376" y="1690688"/>
            <a:ext cx="2610214" cy="2638793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767E31-CF33-194A-60D0-91B0C9B35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5924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E1598-147B-494D-BD50-00DDF6B3C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Файловый ввод-вывод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5CD3A-943E-4856-A969-858A2D98D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Потоки, связанные с файлами объявленные в </a:t>
            </a:r>
            <a:r>
              <a:rPr lang="en-US" dirty="0"/>
              <a:t>&lt;</a:t>
            </a:r>
            <a:r>
              <a:rPr lang="en-US" dirty="0" err="1"/>
              <a:t>fstream</a:t>
            </a:r>
            <a:r>
              <a:rPr lang="en-US" dirty="0"/>
              <a:t>&gt;</a:t>
            </a:r>
            <a:endParaRPr lang="ru-RU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 – </a:t>
            </a:r>
            <a:r>
              <a:rPr lang="ru-RU" dirty="0"/>
              <a:t>поток чтения из файла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 – </a:t>
            </a:r>
            <a:r>
              <a:rPr lang="ru-RU" dirty="0"/>
              <a:t>поток вывода в файл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fstream</a:t>
            </a:r>
            <a:r>
              <a:rPr lang="en-US" dirty="0"/>
              <a:t> – </a:t>
            </a:r>
            <a:r>
              <a:rPr lang="ru-RU" dirty="0"/>
              <a:t>поток ввода-вывода из файла</a:t>
            </a:r>
          </a:p>
          <a:p>
            <a:r>
              <a:rPr lang="ru-RU" dirty="0"/>
              <a:t>При открытии файла можно указать режим, в котором они открываются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::app – </a:t>
            </a:r>
            <a:r>
              <a:rPr lang="ru-RU" dirty="0"/>
              <a:t>выполнять запись в конец потока</a:t>
            </a:r>
            <a:endParaRPr lang="en-US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::binary – </a:t>
            </a:r>
            <a:r>
              <a:rPr lang="ru-RU" dirty="0"/>
              <a:t>открыть в двоичном режиме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::in – </a:t>
            </a:r>
            <a:r>
              <a:rPr lang="ru-RU" dirty="0"/>
              <a:t>открыть для чтения (по умолчанию для </a:t>
            </a:r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::out – </a:t>
            </a:r>
            <a:r>
              <a:rPr lang="ru-RU" dirty="0"/>
              <a:t>открыть для записи (по умолчанию для </a:t>
            </a:r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trunc</a:t>
            </a:r>
            <a:r>
              <a:rPr lang="en-US" dirty="0"/>
              <a:t> – </a:t>
            </a:r>
            <a:r>
              <a:rPr lang="ru-RU" dirty="0"/>
              <a:t>при открытии отбросить содержимое потока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::ate – </a:t>
            </a:r>
            <a:r>
              <a:rPr lang="ru-RU" dirty="0"/>
              <a:t>переместиться в конец потока после открытия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noreplace</a:t>
            </a:r>
            <a:r>
              <a:rPr lang="en-US" dirty="0"/>
              <a:t> – </a:t>
            </a:r>
            <a:r>
              <a:rPr lang="ru-RU" dirty="0"/>
              <a:t>открыть в эксклюзивном режиме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42094D-F940-22F6-0ADE-5E7999C3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578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DA0B8-F6A9-44DF-A9AC-F74D85DEB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Тонкости работы с файловыми потоками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22CA4-008A-4515-AD59-406AC391C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выходе из блока видимости переменной поток закрывается</a:t>
            </a:r>
          </a:p>
          <a:p>
            <a:pPr lvl="1"/>
            <a:r>
              <a:rPr lang="ru-RU" dirty="0"/>
              <a:t>Не нужно вызывать </a:t>
            </a:r>
            <a:r>
              <a:rPr lang="en-US" dirty="0"/>
              <a:t>close </a:t>
            </a:r>
            <a:r>
              <a:rPr lang="ru-RU" dirty="0"/>
              <a:t>явно</a:t>
            </a:r>
          </a:p>
          <a:p>
            <a:r>
              <a:rPr lang="ru-RU" dirty="0"/>
              <a:t>Потоки буферизируют читаемые и записываемые данные</a:t>
            </a:r>
          </a:p>
          <a:p>
            <a:r>
              <a:rPr lang="ru-RU" dirty="0"/>
              <a:t>При закрытии потока буфер сбрасывается в файл</a:t>
            </a:r>
          </a:p>
          <a:p>
            <a:pPr lvl="1"/>
            <a:r>
              <a:rPr lang="ru-RU" dirty="0"/>
              <a:t>Можно принудительно сбросить буфер в файл методом </a:t>
            </a:r>
            <a:r>
              <a:rPr lang="en-US" dirty="0"/>
              <a:t>flush()</a:t>
            </a:r>
          </a:p>
          <a:p>
            <a:r>
              <a:rPr lang="ru-RU" dirty="0"/>
              <a:t>После операций записи и чтения следует проверить состояние потока</a:t>
            </a:r>
          </a:p>
          <a:p>
            <a:pPr lvl="1"/>
            <a:r>
              <a:rPr lang="ru-RU" dirty="0"/>
              <a:t>Могут быть выставлены флаги </a:t>
            </a:r>
            <a:r>
              <a:rPr lang="en-US" dirty="0" err="1"/>
              <a:t>eof</a:t>
            </a:r>
            <a:r>
              <a:rPr lang="en-US" dirty="0"/>
              <a:t>, fail, bad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6AF08-0DB0-FEA6-1991-474E3CBC0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2041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FD85E3C-D254-4BF7-89D5-5911F0B819DE}"/>
              </a:ext>
            </a:extLst>
          </p:cNvPr>
          <p:cNvSpPr/>
          <p:nvPr/>
        </p:nvSpPr>
        <p:spPr>
          <a:xfrm>
            <a:off x="407368" y="0"/>
            <a:ext cx="12385376" cy="67864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ifstream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"Input.txt"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Или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if (!input)</a:t>
            </a:r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ofstream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"Output.txt"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writing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get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3B3B3B"/>
                </a:solidFill>
                <a:latin typeface="Consolas" panose="020B0609020204030204" pitchFamily="49" charset="0"/>
              </a:rPr>
              <a:t>  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eof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flush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de-DE" sz="15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de-DE" sz="15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F7F958-EC14-A7F0-E43B-3FAB817D7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986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98524-E03D-48DE-8B22-361FFA058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Потоки чтения из строки и записи в строку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878AD6-9139-4985-9F3B-D81C0E78D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33061" cy="4351338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istringstream</a:t>
            </a:r>
            <a:r>
              <a:rPr lang="en-US" dirty="0"/>
              <a:t> – </a:t>
            </a:r>
            <a:r>
              <a:rPr lang="ru-RU" dirty="0"/>
              <a:t>поток ввода из строки</a:t>
            </a:r>
            <a:endParaRPr lang="en-US" dirty="0"/>
          </a:p>
          <a:p>
            <a:r>
              <a:rPr lang="en-US" dirty="0"/>
              <a:t>std::</a:t>
            </a:r>
            <a:r>
              <a:rPr lang="en-US" dirty="0" err="1"/>
              <a:t>ostringstream</a:t>
            </a:r>
            <a:r>
              <a:rPr lang="en-US" dirty="0"/>
              <a:t> – </a:t>
            </a:r>
            <a:r>
              <a:rPr lang="ru-RU" dirty="0"/>
              <a:t>поток вывода в строку</a:t>
            </a:r>
          </a:p>
          <a:p>
            <a:r>
              <a:rPr lang="en-US" dirty="0"/>
              <a:t>std::</a:t>
            </a:r>
            <a:r>
              <a:rPr lang="en-US" dirty="0" err="1"/>
              <a:t>stringstream</a:t>
            </a:r>
            <a:r>
              <a:rPr lang="en-US" dirty="0"/>
              <a:t> –</a:t>
            </a:r>
            <a:r>
              <a:rPr lang="ru-RU" dirty="0"/>
              <a:t> поток ввода-вывода, связанный со строкой</a:t>
            </a:r>
            <a:endParaRPr lang="en-US" dirty="0"/>
          </a:p>
          <a:p>
            <a:r>
              <a:rPr lang="ru-RU" dirty="0"/>
              <a:t>Эти потоки объявлены в файле </a:t>
            </a:r>
            <a:r>
              <a:rPr lang="en-US" dirty="0"/>
              <a:t>&lt;</a:t>
            </a:r>
            <a:r>
              <a:rPr lang="en-US" dirty="0" err="1"/>
              <a:t>sstream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9201AC-E661-4125-BEEC-29F33EB7510E}"/>
              </a:ext>
            </a:extLst>
          </p:cNvPr>
          <p:cNvSpPr txBox="1"/>
          <p:nvPr/>
        </p:nvSpPr>
        <p:spPr>
          <a:xfrm>
            <a:off x="6384032" y="1825625"/>
            <a:ext cx="535112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cassert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sstream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42"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std::string hello;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in &gt;&gt; hello &gt;&gt;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assert(hello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n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out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out.str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123"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6962D3-A293-D9CD-4083-C139BB958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811189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A0B-2FAE-4C9F-A89D-4EAAF36A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Итераторы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12C1A-B12B-47AB-AF95-150605A7C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D100F-EEF5-494D-F18F-689F1C98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816477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Итераторы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sz="2800" dirty="0"/>
              <a:t>Итератор – объект, позволяющий программисту осуществлять перебор элементов контейнера вне зависимости от деталей его реализации</a:t>
            </a:r>
            <a:endParaRPr lang="en-US" sz="2800" dirty="0"/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Вставка диапазона элементов одного контейнера в другой</a:t>
            </a:r>
          </a:p>
          <a:p>
            <a:pPr lvl="1" eaLnBrk="1" hangingPunct="1">
              <a:defRPr/>
            </a:pPr>
            <a:r>
              <a:rPr lang="ru-RU" dirty="0"/>
              <a:t>Один и тот же код может использоваться для обработки элементов разных контейнеров</a:t>
            </a:r>
            <a:endParaRPr lang="ru-RU" dirty="0">
              <a:latin typeface="+mn-lt"/>
            </a:endParaRPr>
          </a:p>
          <a:p>
            <a:pPr eaLnBrk="1" hangingPunct="1">
              <a:defRPr/>
            </a:pPr>
            <a:r>
              <a:rPr lang="ru-RU" sz="2800" dirty="0"/>
              <a:t>Итераторы используются в </a:t>
            </a:r>
            <a:r>
              <a:rPr lang="en-US" sz="2800" dirty="0"/>
              <a:t>STL </a:t>
            </a:r>
            <a:r>
              <a:rPr lang="ru-RU" sz="2800" dirty="0"/>
              <a:t>для доступа к элементам контейнеров</a:t>
            </a:r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Обобщенные реализации алгоритмов используют итераторы для обработки элементов контейнеров</a:t>
            </a:r>
          </a:p>
          <a:p>
            <a:pPr lvl="2" eaLnBrk="1" hangingPunct="1">
              <a:defRPr/>
            </a:pPr>
            <a:r>
              <a:rPr lang="ru-RU" sz="2000" b="1" dirty="0"/>
              <a:t>Итератор – связующее звено между контейнером и алгоритмом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4CD940-3219-45DD-C0A8-1305BA1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6899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3" grpId="0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7C06FA9-B9BA-B65B-C4C9-7A6E2A021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Контейнеры и итераторы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C632AD4-BF38-D8C2-6F0F-E688030DE43F}"/>
              </a:ext>
            </a:extLst>
          </p:cNvPr>
          <p:cNvSpPr/>
          <p:nvPr/>
        </p:nvSpPr>
        <p:spPr>
          <a:xfrm>
            <a:off x="2279576" y="2060848"/>
            <a:ext cx="5112568" cy="125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E989BD23-EC75-9A2D-CBCF-6E999BDEAF6E}"/>
              </a:ext>
            </a:extLst>
          </p:cNvPr>
          <p:cNvSpPr/>
          <p:nvPr/>
        </p:nvSpPr>
        <p:spPr>
          <a:xfrm>
            <a:off x="2567608" y="2348880"/>
            <a:ext cx="720080" cy="6480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288CF709-8717-9D3B-99D6-EF9B3D3BB269}"/>
              </a:ext>
            </a:extLst>
          </p:cNvPr>
          <p:cNvSpPr/>
          <p:nvPr/>
        </p:nvSpPr>
        <p:spPr>
          <a:xfrm>
            <a:off x="3520958" y="2362343"/>
            <a:ext cx="720080" cy="648072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D61004F3-F08F-3CDE-C4C4-891452C3188A}"/>
              </a:ext>
            </a:extLst>
          </p:cNvPr>
          <p:cNvSpPr/>
          <p:nvPr/>
        </p:nvSpPr>
        <p:spPr>
          <a:xfrm>
            <a:off x="4474308" y="2375806"/>
            <a:ext cx="720080" cy="64807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15C46FF8-4F82-ECF1-FEA7-C95BD23A6570}"/>
              </a:ext>
            </a:extLst>
          </p:cNvPr>
          <p:cNvSpPr/>
          <p:nvPr/>
        </p:nvSpPr>
        <p:spPr>
          <a:xfrm>
            <a:off x="5427658" y="2389269"/>
            <a:ext cx="720080" cy="64807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5E400A4-64ED-ABFE-16C1-30F4191DCBDA}"/>
              </a:ext>
            </a:extLst>
          </p:cNvPr>
          <p:cNvSpPr/>
          <p:nvPr/>
        </p:nvSpPr>
        <p:spPr>
          <a:xfrm>
            <a:off x="6381008" y="2402732"/>
            <a:ext cx="720080" cy="6480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851DDA-B42C-3E8B-EFB2-089D316CF504}"/>
              </a:ext>
            </a:extLst>
          </p:cNvPr>
          <p:cNvSpPr/>
          <p:nvPr/>
        </p:nvSpPr>
        <p:spPr>
          <a:xfrm>
            <a:off x="249560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5EB3600E-8DAF-B47F-3976-C8C5AED225A7}"/>
              </a:ext>
            </a:extLst>
          </p:cNvPr>
          <p:cNvCxnSpPr>
            <a:stCxn id="12" idx="0"/>
            <a:endCxn id="7" idx="4"/>
          </p:cNvCxnSpPr>
          <p:nvPr/>
        </p:nvCxnSpPr>
        <p:spPr>
          <a:xfrm flipV="1">
            <a:off x="2927648" y="2996952"/>
            <a:ext cx="0" cy="158417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3A21665-80D4-98D4-B149-B9608BF7C15F}"/>
              </a:ext>
            </a:extLst>
          </p:cNvPr>
          <p:cNvSpPr/>
          <p:nvPr/>
        </p:nvSpPr>
        <p:spPr>
          <a:xfrm>
            <a:off x="749002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ED216D-66F1-FBF7-90C1-4D35B21EF9C6}"/>
              </a:ext>
            </a:extLst>
          </p:cNvPr>
          <p:cNvSpPr txBox="1"/>
          <p:nvPr/>
        </p:nvSpPr>
        <p:spPr>
          <a:xfrm>
            <a:off x="2331314" y="1552146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Контейнер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EFDB01-798E-A9A5-52E1-97877917A9E0}"/>
              </a:ext>
            </a:extLst>
          </p:cNvPr>
          <p:cNvSpPr txBox="1"/>
          <p:nvPr/>
        </p:nvSpPr>
        <p:spPr>
          <a:xfrm>
            <a:off x="1981200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container.begin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86F061E3-F749-688A-A97E-48001941C5A1}"/>
              </a:ext>
            </a:extLst>
          </p:cNvPr>
          <p:cNvSpPr/>
          <p:nvPr/>
        </p:nvSpPr>
        <p:spPr>
          <a:xfrm>
            <a:off x="7490020" y="2389269"/>
            <a:ext cx="720080" cy="648072"/>
          </a:xfrm>
          <a:prstGeom prst="ellipse">
            <a:avLst/>
          </a:prstGeom>
          <a:noFill/>
          <a:ln w="34925" cmpd="sng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8C41324E-0E42-0D4F-5A94-3519FF9C9FED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H="1" flipV="1">
            <a:off x="7850060" y="3037342"/>
            <a:ext cx="72008" cy="154378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A054CB5-73F6-B180-8287-4D889B267108}"/>
              </a:ext>
            </a:extLst>
          </p:cNvPr>
          <p:cNvSpPr txBox="1"/>
          <p:nvPr/>
        </p:nvSpPr>
        <p:spPr>
          <a:xfrm>
            <a:off x="6960096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container.end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957C3330-FB4D-DE6C-FA28-0131C045426C}"/>
              </a:ext>
            </a:extLst>
          </p:cNvPr>
          <p:cNvSpPr/>
          <p:nvPr/>
        </p:nvSpPr>
        <p:spPr>
          <a:xfrm>
            <a:off x="4782457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BEC516FB-862A-3BA4-D956-D16578D08237}"/>
              </a:ext>
            </a:extLst>
          </p:cNvPr>
          <p:cNvCxnSpPr>
            <a:cxnSpLocks/>
            <a:stCxn id="25" idx="0"/>
            <a:endCxn id="9" idx="4"/>
          </p:cNvCxnSpPr>
          <p:nvPr/>
        </p:nvCxnSpPr>
        <p:spPr>
          <a:xfrm flipH="1" flipV="1">
            <a:off x="4834349" y="3023878"/>
            <a:ext cx="380157" cy="155725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DCB640-6DB9-1A22-39A7-BF0C1FB23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47465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AC75D-D5A5-49B1-A23D-8CEC806B6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для получения итераторов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218C8-5043-4530-8308-E931006EF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Прямые итераторы</a:t>
            </a:r>
            <a:endParaRPr lang="en-US" dirty="0"/>
          </a:p>
          <a:p>
            <a:pPr lvl="1"/>
            <a:r>
              <a:rPr lang="en-US" dirty="0"/>
              <a:t>begin</a:t>
            </a:r>
          </a:p>
          <a:p>
            <a:pPr lvl="1"/>
            <a:r>
              <a:rPr lang="en-US" dirty="0"/>
              <a:t>end</a:t>
            </a:r>
            <a:endParaRPr lang="ru-RU" dirty="0"/>
          </a:p>
          <a:p>
            <a:r>
              <a:rPr lang="ru-RU" dirty="0"/>
              <a:t>Обратные итераторы</a:t>
            </a:r>
            <a:endParaRPr lang="en-US" dirty="0"/>
          </a:p>
          <a:p>
            <a:pPr lvl="1"/>
            <a:r>
              <a:rPr lang="en-US" dirty="0" err="1"/>
              <a:t>rbegin</a:t>
            </a:r>
            <a:endParaRPr lang="ru-RU" dirty="0"/>
          </a:p>
          <a:p>
            <a:pPr lvl="1"/>
            <a:r>
              <a:rPr lang="en-US" dirty="0"/>
              <a:t>rend</a:t>
            </a:r>
          </a:p>
          <a:p>
            <a:r>
              <a:rPr lang="ru-RU" dirty="0"/>
              <a:t>Константные итераторы</a:t>
            </a:r>
          </a:p>
          <a:p>
            <a:pPr lvl="1"/>
            <a:r>
              <a:rPr lang="en-US" dirty="0" err="1"/>
              <a:t>cbegin</a:t>
            </a:r>
            <a:r>
              <a:rPr lang="en-US" dirty="0"/>
              <a:t>, </a:t>
            </a:r>
            <a:r>
              <a:rPr lang="en-US" dirty="0" err="1"/>
              <a:t>cend</a:t>
            </a:r>
            <a:endParaRPr lang="en-US" dirty="0"/>
          </a:p>
          <a:p>
            <a:pPr lvl="1"/>
            <a:r>
              <a:rPr lang="en-US" dirty="0" err="1"/>
              <a:t>crbegin</a:t>
            </a:r>
            <a:r>
              <a:rPr lang="en-US" dirty="0"/>
              <a:t>, </a:t>
            </a:r>
            <a:r>
              <a:rPr lang="en-US" dirty="0" err="1"/>
              <a:t>crend</a:t>
            </a:r>
            <a:endParaRPr lang="en-US" dirty="0"/>
          </a:p>
          <a:p>
            <a:r>
              <a:rPr lang="ru-RU" dirty="0"/>
              <a:t>Функции вроде </a:t>
            </a:r>
          </a:p>
          <a:p>
            <a:pPr lvl="1"/>
            <a:r>
              <a:rPr lang="en-US" dirty="0"/>
              <a:t>std::begin(</a:t>
            </a:r>
            <a:r>
              <a:rPr lang="ru-RU" dirty="0"/>
              <a:t>контейнер)</a:t>
            </a:r>
          </a:p>
          <a:p>
            <a:pPr lvl="1"/>
            <a:r>
              <a:rPr lang="en-US" dirty="0"/>
              <a:t>std::end(</a:t>
            </a:r>
            <a:r>
              <a:rPr lang="ru-RU" dirty="0"/>
              <a:t>контейнер)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0C854E-802C-1A6B-F9C8-801729270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744184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768A13-4845-7564-AE5F-0BD439E2B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771A623-0EE9-037B-253B-8FFF57195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hlinkClick r:id="rId2"/>
              </a:rPr>
              <a:t>LegacyInputIterator</a:t>
            </a:r>
            <a:endParaRPr lang="ru-RU" dirty="0"/>
          </a:p>
          <a:p>
            <a:pPr lvl="1"/>
            <a:r>
              <a:rPr lang="ru-RU" dirty="0"/>
              <a:t>Однопроходное чтение</a:t>
            </a:r>
          </a:p>
          <a:p>
            <a:r>
              <a:rPr lang="en-US" dirty="0" err="1">
                <a:hlinkClick r:id="rId3"/>
              </a:rPr>
              <a:t>LegacyOutputIterator</a:t>
            </a:r>
            <a:endParaRPr lang="ru-RU" dirty="0"/>
          </a:p>
          <a:p>
            <a:pPr lvl="1"/>
            <a:r>
              <a:rPr lang="ru-RU" dirty="0"/>
              <a:t>Однопроходная запись</a:t>
            </a:r>
          </a:p>
          <a:p>
            <a:r>
              <a:rPr lang="en-US" dirty="0" err="1">
                <a:hlinkClick r:id="rId4"/>
              </a:rPr>
              <a:t>LegacyForwardIterator</a:t>
            </a:r>
            <a:endParaRPr lang="en-US" dirty="0"/>
          </a:p>
          <a:p>
            <a:pPr lvl="1"/>
            <a:r>
              <a:rPr lang="ru-RU" dirty="0"/>
              <a:t>Может использоваться в многопроходных алгоритмах</a:t>
            </a:r>
          </a:p>
          <a:p>
            <a:pPr lvl="1"/>
            <a:r>
              <a:rPr lang="ru-RU" dirty="0"/>
              <a:t>Допускает чтение и запись</a:t>
            </a:r>
          </a:p>
          <a:p>
            <a:pPr lvl="1"/>
            <a:r>
              <a:rPr lang="ru-RU" dirty="0"/>
              <a:t>Доступен только инкремент</a:t>
            </a:r>
            <a:endParaRPr lang="en-US" dirty="0"/>
          </a:p>
          <a:p>
            <a:r>
              <a:rPr lang="en-US" dirty="0" err="1">
                <a:hlinkClick r:id="rId5"/>
              </a:rPr>
              <a:t>LegacyBidirectionalIterator</a:t>
            </a:r>
            <a:endParaRPr lang="en-US" dirty="0"/>
          </a:p>
          <a:p>
            <a:pPr lvl="1"/>
            <a:r>
              <a:rPr lang="ru-RU" dirty="0"/>
              <a:t>Все возможности </a:t>
            </a:r>
            <a:r>
              <a:rPr lang="en-US" dirty="0" err="1"/>
              <a:t>LegacyForwardIterator</a:t>
            </a:r>
            <a:r>
              <a:rPr lang="ru-RU" dirty="0"/>
              <a:t> + декремент</a:t>
            </a:r>
            <a:endParaRPr lang="en-US" dirty="0"/>
          </a:p>
          <a:p>
            <a:r>
              <a:rPr lang="en-US" dirty="0" err="1">
                <a:hlinkClick r:id="rId6"/>
              </a:rPr>
              <a:t>LegacyRandomAccessIterator</a:t>
            </a:r>
            <a:endParaRPr lang="en-US" dirty="0"/>
          </a:p>
          <a:p>
            <a:pPr lvl="1"/>
            <a:r>
              <a:rPr lang="ru-RU" dirty="0"/>
              <a:t>Доступ к элементам относительно итератора за константное время</a:t>
            </a:r>
            <a:endParaRPr lang="en-US" dirty="0"/>
          </a:p>
          <a:p>
            <a:r>
              <a:rPr lang="en-US" dirty="0" err="1">
                <a:hlinkClick r:id="rId7"/>
              </a:rPr>
              <a:t>LegacyContiguousIterator</a:t>
            </a:r>
            <a:endParaRPr lang="ru-RU" dirty="0"/>
          </a:p>
          <a:p>
            <a:pPr lvl="1"/>
            <a:r>
              <a:rPr lang="ru-RU" dirty="0"/>
              <a:t>Хранение объектов в непрерывной области памяти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87AE80-2FB1-982D-1A09-EC469A09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388031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0E433-D869-D6CE-D713-B06BFEA9A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01BA83F-4CAD-77B2-7C23-4C43160981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62589"/>
            <a:ext cx="10515600" cy="427740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1ED11-24B4-861A-7B69-C56B0C6F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816681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CFF804F-0921-4AA1-8BB6-A5D8974EE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Исследуем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268AC9-B047-4C58-BEC6-86F0CC2E3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6B7202-3860-848F-7458-C35EA08A2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92238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4E3900-0B67-8DA9-30ED-CFD623F4E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Заглядываем внутрь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AA79C7-1EF2-2E3C-3DF3-F49E772D9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defTabSz="354013"/>
            <a:r>
              <a:rPr lang="ru-RU" dirty="0"/>
              <a:t>Синтаксис цикла</a:t>
            </a:r>
            <a:endParaRPr lang="en-US" dirty="0"/>
          </a:p>
          <a:p>
            <a:pPr marL="0" indent="0" defTabSz="354013"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r>
              <a:rPr lang="en-US" sz="20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(optional)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r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 defTabSz="354013">
              <a:buNone/>
            </a:pP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</a:p>
          <a:p>
            <a:pPr defTabSz="354013"/>
            <a:r>
              <a:rPr lang="ru-RU" dirty="0"/>
              <a:t>Компилятором он разворачивается в такую конструкцию: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endParaRPr lang="en-US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708B-DF3E-4534-89D5-B41C78D0A17B}"/>
              </a:ext>
            </a:extLst>
          </p:cNvPr>
          <p:cNvSpPr txBox="1"/>
          <p:nvPr/>
        </p:nvSpPr>
        <p:spPr>
          <a:xfrm>
            <a:off x="2567608" y="63082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3"/>
              </a:rPr>
              <a:t>https://en.cppreference.com/w/cpp/language/range-for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CDB009E-1F4F-4878-B83E-E1789E9D3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2344" y="4105432"/>
            <a:ext cx="2553056" cy="257210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B789A3-4390-81C1-E35C-A63B13236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5283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D135ED-E91C-E2C0-FB14-D375A500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init</a:t>
            </a:r>
            <a:r>
              <a:rPr lang="en-US" dirty="0"/>
              <a:t>-statement (</a:t>
            </a:r>
            <a:r>
              <a:rPr lang="ru-RU" dirty="0"/>
              <a:t>начиная с </a:t>
            </a:r>
            <a:r>
              <a:rPr lang="en-US" dirty="0"/>
              <a:t>C++20)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A9836C-5396-F601-664A-43C06C430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354013"/>
            <a:r>
              <a:rPr lang="ru-RU" dirty="0"/>
              <a:t>Выражение, например: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n=n+5;</a:t>
            </a:r>
            <a:endParaRPr lang="ru-RU" dirty="0">
              <a:latin typeface="Consolas" panose="020B0609020204030204" pitchFamily="49" charset="0"/>
            </a:endParaRPr>
          </a:p>
          <a:p>
            <a:pPr defTabSz="354013"/>
            <a:r>
              <a:rPr lang="ru-RU" dirty="0"/>
              <a:t>Объявление переменной с инициализатором или нескольких переменных</a:t>
            </a:r>
          </a:p>
          <a:p>
            <a:pPr defTabSz="354013"/>
            <a:r>
              <a:rPr lang="en-US" dirty="0"/>
              <a:t>Structured-binding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auto [x, y] = </a:t>
            </a:r>
            <a:r>
              <a:rPr lang="en-US" dirty="0" err="1">
                <a:latin typeface="Consolas" panose="020B0609020204030204" pitchFamily="49" charset="0"/>
              </a:rPr>
              <a:t>GetPoint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defTabSz="354013"/>
            <a:r>
              <a:rPr lang="ru-RU" dirty="0"/>
              <a:t>Объявление синонима типа</a:t>
            </a:r>
            <a:endParaRPr lang="en-US" dirty="0"/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using Number = int;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9CC98F-E611-86E7-AD83-D855F5A51BFE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69A48-E151-5A8F-EBBB-DEA2B665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08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318BF3-F89D-727E-8DE6-641ECE94D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begin-expr </a:t>
            </a:r>
            <a:r>
              <a:rPr lang="ru-RU" dirty="0"/>
              <a:t>и </a:t>
            </a:r>
            <a:r>
              <a:rPr lang="en-US" dirty="0"/>
              <a:t>end-expr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410B82-C48E-4FC9-FD52-36D56AE9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массив</a:t>
            </a:r>
            <a:endParaRPr lang="en-US" dirty="0"/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—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 + __bound)</a:t>
            </a:r>
            <a:r>
              <a:rPr lang="ru-RU" dirty="0"/>
              <a:t>, где </a:t>
            </a:r>
            <a:r>
              <a:rPr lang="en-US" dirty="0">
                <a:latin typeface="Consolas" panose="020B0609020204030204" pitchFamily="49" charset="0"/>
              </a:rPr>
              <a:t>__bound</a:t>
            </a:r>
            <a:r>
              <a:rPr lang="en-US" dirty="0"/>
              <a:t> –</a:t>
            </a:r>
            <a:r>
              <a:rPr lang="ru-RU" dirty="0"/>
              <a:t> размер массива</a:t>
            </a:r>
            <a:endParaRPr lang="en-US" dirty="0"/>
          </a:p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класс или структура с методами </a:t>
            </a:r>
            <a:r>
              <a:rPr lang="en-US" dirty="0">
                <a:latin typeface="Consolas" panose="020B0609020204030204" pitchFamily="49" charset="0"/>
              </a:rPr>
              <a:t>begin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range.begin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range.end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ru-RU" dirty="0"/>
              <a:t>В остальных случаях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>
                <a:latin typeface="Consolas" panose="020B0609020204030204" pitchFamily="49" charset="0"/>
              </a:rPr>
              <a:t>begin(__range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end(__range)</a:t>
            </a:r>
            <a:endParaRPr lang="ru-RU" dirty="0"/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22B0C-DB0D-39DD-F3D6-EF458E35B93C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94945-3EED-ACFA-F0BB-079CDA02E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07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035C3E-1832-ECB0-797B-DC8E03F25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C5D54-2889-83DC-9306-EA5D030D15D6}"/>
              </a:ext>
            </a:extLst>
          </p:cNvPr>
          <p:cNvSpPr txBox="1"/>
          <p:nvPr/>
        </p:nvSpPr>
        <p:spPr>
          <a:xfrm>
            <a:off x="838200" y="1690688"/>
            <a:ext cx="8309487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EDC7C-F623-645C-4D6B-A30F546039D5}"/>
              </a:ext>
            </a:extLst>
          </p:cNvPr>
          <p:cNvSpPr txBox="1"/>
          <p:nvPr/>
        </p:nvSpPr>
        <p:spPr>
          <a:xfrm>
            <a:off x="838200" y="3343254"/>
            <a:ext cx="10730408" cy="34778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             // int (&amp;__range)[9]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    // int* __begin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std::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int* __end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           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int prime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E005E-36A1-6F62-53DA-E69568D83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997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255C3B-AB69-68BE-5062-2BC07D03F4FC}"/>
              </a:ext>
            </a:extLst>
          </p:cNvPr>
          <p:cNvSpPr txBox="1"/>
          <p:nvPr/>
        </p:nvSpPr>
        <p:spPr>
          <a:xfrm>
            <a:off x="335360" y="332656"/>
            <a:ext cx="11280576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world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E06F55-9906-9437-C4F2-C2BFD25D8325}"/>
              </a:ext>
            </a:extLst>
          </p:cNvPr>
          <p:cNvSpPr txBox="1"/>
          <p:nvPr/>
        </p:nvSpPr>
        <p:spPr>
          <a:xfrm>
            <a:off x="336749" y="2532884"/>
            <a:ext cx="11279187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      // std::string&amp; __range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std::string::iterator __begin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std::string::iterator __end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char&amp;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4BCDFE-D981-51FF-6DED-E026E2869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465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A42E22-B030-470B-915D-BED4E97E1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EA12-DD58-4CB6-B32C-6D02DBE22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A4C38F-E8FF-B376-5AF9-FF584C02C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92875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Алгоритмы стандартной библиотеки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Обобщённые функции для обработки последовательностей</a:t>
            </a:r>
          </a:p>
          <a:p>
            <a:pPr lvl="1"/>
            <a:r>
              <a:rPr lang="ru-RU" dirty="0"/>
              <a:t>сортировка (</a:t>
            </a:r>
            <a:r>
              <a:rPr lang="en-US" dirty="0"/>
              <a:t>sort)</a:t>
            </a:r>
          </a:p>
          <a:p>
            <a:pPr lvl="1"/>
            <a:r>
              <a:rPr lang="ru-RU" dirty="0"/>
              <a:t>поиск (</a:t>
            </a:r>
            <a:r>
              <a:rPr lang="en-US" dirty="0"/>
              <a:t>find, </a:t>
            </a:r>
            <a:r>
              <a:rPr lang="en-US" dirty="0" err="1"/>
              <a:t>find_if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копирование (</a:t>
            </a:r>
            <a:r>
              <a:rPr lang="en-US" dirty="0"/>
              <a:t>copy)</a:t>
            </a:r>
          </a:p>
          <a:p>
            <a:pPr lvl="1"/>
            <a:r>
              <a:rPr lang="ru-RU" dirty="0"/>
              <a:t>проверка условий (</a:t>
            </a:r>
            <a:r>
              <a:rPr lang="en-US" dirty="0" err="1"/>
              <a:t>any_of</a:t>
            </a:r>
            <a:r>
              <a:rPr lang="en-US" dirty="0"/>
              <a:t>, </a:t>
            </a:r>
            <a:r>
              <a:rPr lang="en-US" dirty="0" err="1"/>
              <a:t>all_of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преобразование (</a:t>
            </a:r>
            <a:r>
              <a:rPr lang="en-US" dirty="0"/>
              <a:t>transform)</a:t>
            </a:r>
          </a:p>
          <a:p>
            <a:pPr lvl="1"/>
            <a:r>
              <a:rPr lang="ru-RU" dirty="0"/>
              <a:t>перемешивание (</a:t>
            </a:r>
            <a:r>
              <a:rPr lang="en-US" dirty="0"/>
              <a:t>shuffle)</a:t>
            </a:r>
            <a:endParaRPr lang="ru-RU" dirty="0"/>
          </a:p>
          <a:p>
            <a:r>
              <a:rPr lang="ru-RU" dirty="0"/>
              <a:t>Алгоритмы работают </a:t>
            </a:r>
            <a:r>
              <a:rPr lang="ru-RU" b="1" dirty="0"/>
              <a:t>не с контейнерами</a:t>
            </a:r>
            <a:r>
              <a:rPr lang="ru-RU" dirty="0"/>
              <a:t>, а с </a:t>
            </a:r>
            <a:r>
              <a:rPr lang="ru-RU" b="1" dirty="0"/>
              <a:t>итераторами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Диапазон элементов: [</a:t>
            </a:r>
            <a:r>
              <a:rPr lang="ru-RU" dirty="0" err="1"/>
              <a:t>first</a:t>
            </a:r>
            <a:r>
              <a:rPr lang="ru-RU" dirty="0"/>
              <a:t>, </a:t>
            </a:r>
            <a:r>
              <a:rPr lang="ru-RU" dirty="0" err="1"/>
              <a:t>last</a:t>
            </a:r>
            <a:r>
              <a:rPr lang="ru-RU" dirty="0"/>
              <a:t>)</a:t>
            </a:r>
          </a:p>
          <a:p>
            <a:r>
              <a:rPr lang="ru-RU" dirty="0"/>
              <a:t>Основной заголовочный файл: </a:t>
            </a:r>
            <a:r>
              <a:rPr lang="en-US" dirty="0"/>
              <a:t>&lt;algorithm&gt;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133B0F-A77E-2C37-3A5E-B166D94F8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3787466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D3AC0-5706-DDFC-6F15-36E6F8F3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из контейнера в </a:t>
            </a:r>
            <a:r>
              <a:rPr lang="en-US" dirty="0" err="1"/>
              <a:t>stdout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E236B-ACF9-5121-FF16-15D6C8D2A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102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8C1FDC-6D13-EE16-062B-854BA8360B86}"/>
              </a:ext>
            </a:extLst>
          </p:cNvPr>
          <p:cNvSpPr txBox="1"/>
          <p:nvPr/>
        </p:nvSpPr>
        <p:spPr>
          <a:xfrm>
            <a:off x="17980" y="1779687"/>
            <a:ext cx="12192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algorithm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numbers.cbegin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);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std::copy(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numbers.crbegin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numbers.crend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ostream_iterator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CDB004-BBFD-7BB1-E853-C1CE5F94A3E5}"/>
              </a:ext>
            </a:extLst>
          </p:cNvPr>
          <p:cNvSpPr txBox="1"/>
          <p:nvPr/>
        </p:nvSpPr>
        <p:spPr>
          <a:xfrm>
            <a:off x="8145996" y="3284984"/>
            <a:ext cx="3672408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1, 2, 3,</a:t>
            </a:r>
          </a:p>
          <a:p>
            <a:r>
              <a:rPr lang="en-US" dirty="0">
                <a:latin typeface="Consolas" panose="020B0609020204030204" pitchFamily="49" charset="0"/>
              </a:rPr>
              <a:t>3, 2, 1,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DAC217-8AD2-766D-71B2-27E44DC24E87}"/>
              </a:ext>
            </a:extLst>
          </p:cNvPr>
          <p:cNvSpPr txBox="1"/>
          <p:nvPr/>
        </p:nvSpPr>
        <p:spPr>
          <a:xfrm>
            <a:off x="3864034" y="6308209"/>
            <a:ext cx="6118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https://godbolt.org/z/Gzs9159Tj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30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2B62B-CEF7-7B29-0B42-0BD4688F2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F7DBE68-DCAA-EA5E-B6F2-E640228C28C7}"/>
              </a:ext>
            </a:extLst>
          </p:cNvPr>
          <p:cNvSpPr txBox="1"/>
          <p:nvPr/>
        </p:nvSpPr>
        <p:spPr>
          <a:xfrm>
            <a:off x="373596" y="2564904"/>
            <a:ext cx="1181840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std::deque&lt;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d;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back_inserter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front_inserter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DA621E-0B54-2BFC-371F-B4F0EB8F6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из контейнера в </a:t>
            </a:r>
            <a:r>
              <a:rPr lang="en-US" dirty="0" err="1"/>
              <a:t>stdout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BD7E0-092C-7D78-178F-19C51A067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103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51E624-BFDB-ADD9-67FF-5489ABA8EC76}"/>
              </a:ext>
            </a:extLst>
          </p:cNvPr>
          <p:cNvSpPr txBox="1"/>
          <p:nvPr/>
        </p:nvSpPr>
        <p:spPr>
          <a:xfrm>
            <a:off x="8145996" y="3284984"/>
            <a:ext cx="3672408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3, 2, 1, 1, 2, 3,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34188-8768-F61A-D976-A9E36C9DE01D}"/>
              </a:ext>
            </a:extLst>
          </p:cNvPr>
          <p:cNvSpPr txBox="1"/>
          <p:nvPr/>
        </p:nvSpPr>
        <p:spPr>
          <a:xfrm>
            <a:off x="3864034" y="6308209"/>
            <a:ext cx="6118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https://godbolt.org/z/fjardsE1T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754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Сортировка</a:t>
            </a:r>
            <a:r>
              <a:rPr lang="en-US" dirty="0"/>
              <a:t> </a:t>
            </a:r>
            <a:r>
              <a:rPr lang="ru-RU" dirty="0"/>
              <a:t>вектора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30733D-8CBD-57B4-0AAE-CCE87DAA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F56E36-BEF8-8E39-7988-CCA2EE8F1816}"/>
              </a:ext>
            </a:extLst>
          </p:cNvPr>
          <p:cNvSpPr txBox="1"/>
          <p:nvPr/>
        </p:nvSpPr>
        <p:spPr>
          <a:xfrm>
            <a:off x="191344" y="2453858"/>
            <a:ext cx="1173730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std::sort(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19B7E-4335-68EE-E9AC-62A166E4B41F}"/>
              </a:ext>
            </a:extLst>
          </p:cNvPr>
          <p:cNvSpPr txBox="1"/>
          <p:nvPr/>
        </p:nvSpPr>
        <p:spPr>
          <a:xfrm>
            <a:off x="191344" y="5022569"/>
            <a:ext cx="3528392" cy="3758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/>
              <a:t>1, 3, 5, 7, 9,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07D8BF-7132-B07B-9B6A-92FCFC3520D2}"/>
              </a:ext>
            </a:extLst>
          </p:cNvPr>
          <p:cNvSpPr txBox="1"/>
          <p:nvPr/>
        </p:nvSpPr>
        <p:spPr>
          <a:xfrm>
            <a:off x="4583832" y="61631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https://godbolt.org/z/nYMfx1r6n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765716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CE58E-575A-BFFB-247B-C9B407C7A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Сортировка с компаратором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716853-BCB0-96CD-C5BB-7BCA877F6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105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569D1-47A8-6A18-311B-1AC9C274F196}"/>
              </a:ext>
            </a:extLst>
          </p:cNvPr>
          <p:cNvSpPr txBox="1"/>
          <p:nvPr/>
        </p:nvSpPr>
        <p:spPr>
          <a:xfrm>
            <a:off x="263352" y="2348880"/>
            <a:ext cx="1166529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std::sort(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std::greater&lt;&gt;());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C650DE-5EF7-58CC-B36E-C77F270ED2C4}"/>
              </a:ext>
            </a:extLst>
          </p:cNvPr>
          <p:cNvSpPr txBox="1"/>
          <p:nvPr/>
        </p:nvSpPr>
        <p:spPr>
          <a:xfrm>
            <a:off x="294184" y="5137445"/>
            <a:ext cx="60960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/>
              <a:t>9, 7, 5, 3, 1,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351BA-F183-D4FC-9652-A6E9FBC38F0D}"/>
              </a:ext>
            </a:extLst>
          </p:cNvPr>
          <p:cNvSpPr txBox="1"/>
          <p:nvPr/>
        </p:nvSpPr>
        <p:spPr>
          <a:xfrm>
            <a:off x="4367808" y="60980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https://godbolt.org/z/Wb9jj9zYK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65412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C09F8-C3E7-FD21-C9FA-035B29EC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Сортировка с лямбдой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C1DC8D-44B7-9341-A309-AE9ED09CF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106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AF26AF-257D-DE6F-8FA8-314DC9E54C4B}"/>
              </a:ext>
            </a:extLst>
          </p:cNvPr>
          <p:cNvSpPr txBox="1"/>
          <p:nvPr/>
        </p:nvSpPr>
        <p:spPr>
          <a:xfrm>
            <a:off x="191344" y="2132856"/>
            <a:ext cx="1200065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std::sort(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элементы упорядочены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&gt; 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8A28E4-D046-EA93-6D06-62B055B1EF2D}"/>
              </a:ext>
            </a:extLst>
          </p:cNvPr>
          <p:cNvSpPr txBox="1"/>
          <p:nvPr/>
        </p:nvSpPr>
        <p:spPr>
          <a:xfrm>
            <a:off x="191344" y="5653762"/>
            <a:ext cx="60960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9, 7, 5, 3, 1,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846709-A16C-7C50-DD59-EA757E2A9A89}"/>
              </a:ext>
            </a:extLst>
          </p:cNvPr>
          <p:cNvSpPr txBox="1"/>
          <p:nvPr/>
        </p:nvSpPr>
        <p:spPr>
          <a:xfrm>
            <a:off x="3719736" y="63082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https://godbolt.org/z/T8c7Ee1q7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22284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6085A4-A8FA-4607-9153-926DCFB5A9D4}"/>
              </a:ext>
            </a:extLst>
          </p:cNvPr>
          <p:cNvSpPr/>
          <p:nvPr/>
        </p:nvSpPr>
        <p:spPr>
          <a:xfrm>
            <a:off x="0" y="1673939"/>
            <a:ext cx="12192000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 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[](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4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&lt;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});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 Sergey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],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size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)],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289D0A-88E2-DA2E-B749-8B3970F41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Сортировка структур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9D8C4B-8052-2FD7-A584-5CD07B67B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9127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FF4C-5480-041B-07F0-6D389F6A8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поиск медианы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67D9CF-F8DD-228A-F1C5-67E9EDC6D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108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4E3393-CF89-CDF8-EFD0-A162CE251E80}"/>
              </a:ext>
            </a:extLst>
          </p:cNvPr>
          <p:cNvSpPr txBox="1"/>
          <p:nvPr/>
        </p:nvSpPr>
        <p:spPr>
          <a:xfrm>
            <a:off x="838200" y="2276872"/>
            <a:ext cx="1087442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mid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nth_element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mid,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"Median =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*mid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5D90BE-CA1F-1C39-7C69-F86323E207EA}"/>
              </a:ext>
            </a:extLst>
          </p:cNvPr>
          <p:cNvSpPr txBox="1"/>
          <p:nvPr/>
        </p:nvSpPr>
        <p:spPr>
          <a:xfrm>
            <a:off x="838200" y="5424606"/>
            <a:ext cx="381764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Median = 5</a:t>
            </a:r>
          </a:p>
        </p:txBody>
      </p:sp>
    </p:spTree>
    <p:extLst>
      <p:ext uri="{BB962C8B-B14F-4D97-AF65-F5344CB8AC3E}">
        <p14:creationId xmlns:p14="http://schemas.microsoft.com/office/powerpoint/2010/main" val="21730782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8200" y="1690688"/>
            <a:ext cx="9845306" cy="507831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ru-RU" dirty="0"/>
          </a:p>
          <a:p>
            <a:pPr defTabSz="363538"/>
            <a:endParaRPr lang="en-US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SearchingForRabbit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"fox"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"wolf"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"snake"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"turtle"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"bear"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"hare"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!=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is a rabbit among the animals"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rabbits"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890DA2-ECFA-8D39-485B-3FC8CE01E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элемента в массиве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D5B78E-B143-2DFE-9123-B5F266B1F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805318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703512" y="404665"/>
            <a:ext cx="8820472" cy="618630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&lt;vector&gt;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&lt;functional&gt;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% 2) == 0;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FindFirstEvenValueInArray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numbers[] = { 1, 3, 9, 10, 17, 12, 21 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auto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it =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find_if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(it !=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"First even number in array is 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*it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7E170-9E9F-4C79-D78B-7AE2C5EFF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717399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9416" y="188641"/>
            <a:ext cx="9684568" cy="65556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TestWhetherThereIsAtLeastOneAdult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"Ivan"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4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"Sergey"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Stepan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Anatolievich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65 },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"Maria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Semenovna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36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Egor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13 }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any_of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[](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&amp;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){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return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&gt;= 18;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}))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"At least one person is an adult"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adults"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A50A7-2590-0E61-44A2-E4BFBFCB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4383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7AC3D-74EB-4CDB-B29E-C7314F1A0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Двоичный поиск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2117BC-7CFB-4922-8899-646B2B872D0B}"/>
              </a:ext>
            </a:extLst>
          </p:cNvPr>
          <p:cNvSpPr/>
          <p:nvPr/>
        </p:nvSpPr>
        <p:spPr>
          <a:xfrm>
            <a:off x="2668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0FB6B5-DF92-460B-9D76-0DD248C9620A}"/>
              </a:ext>
            </a:extLst>
          </p:cNvPr>
          <p:cNvSpPr/>
          <p:nvPr/>
        </p:nvSpPr>
        <p:spPr>
          <a:xfrm>
            <a:off x="75164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4A86F8-C7BF-4F7A-9355-E8FF681C7A29}"/>
              </a:ext>
            </a:extLst>
          </p:cNvPr>
          <p:cNvSpPr/>
          <p:nvPr/>
        </p:nvSpPr>
        <p:spPr>
          <a:xfrm>
            <a:off x="123646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ru-R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043C84-41A6-468F-831A-F022E828E206}"/>
              </a:ext>
            </a:extLst>
          </p:cNvPr>
          <p:cNvSpPr/>
          <p:nvPr/>
        </p:nvSpPr>
        <p:spPr>
          <a:xfrm>
            <a:off x="172128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86C9E-B018-4F18-9574-6A5922579F8D}"/>
              </a:ext>
            </a:extLst>
          </p:cNvPr>
          <p:cNvSpPr/>
          <p:nvPr/>
        </p:nvSpPr>
        <p:spPr>
          <a:xfrm>
            <a:off x="220610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36BABA-3641-443B-90BA-0E146CE47EA5}"/>
              </a:ext>
            </a:extLst>
          </p:cNvPr>
          <p:cNvSpPr/>
          <p:nvPr/>
        </p:nvSpPr>
        <p:spPr>
          <a:xfrm>
            <a:off x="26909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25CB65-8969-45A0-85C8-C2208F368FEE}"/>
              </a:ext>
            </a:extLst>
          </p:cNvPr>
          <p:cNvSpPr/>
          <p:nvPr/>
        </p:nvSpPr>
        <p:spPr>
          <a:xfrm>
            <a:off x="3169466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1C5E59-5D8A-4376-9727-C9225BCF996A}"/>
              </a:ext>
            </a:extLst>
          </p:cNvPr>
          <p:cNvSpPr/>
          <p:nvPr/>
        </p:nvSpPr>
        <p:spPr>
          <a:xfrm>
            <a:off x="3648010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  <a:endParaRPr lang="ru-RU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A2CC4D-530E-4B8F-92B3-1CBA57D5FB97}"/>
              </a:ext>
            </a:extLst>
          </p:cNvPr>
          <p:cNvGrpSpPr/>
          <p:nvPr/>
        </p:nvGrpSpPr>
        <p:grpSpPr>
          <a:xfrm>
            <a:off x="1341646" y="2559482"/>
            <a:ext cx="3818532" cy="369332"/>
            <a:chOff x="2118432" y="2852936"/>
            <a:chExt cx="3818532" cy="369332"/>
          </a:xfrm>
        </p:grpSpPr>
        <p:sp>
          <p:nvSpPr>
            <p:cNvPr id="12" name="Arrow: Down 11">
              <a:extLst>
                <a:ext uri="{FF2B5EF4-FFF2-40B4-BE49-F238E27FC236}">
                  <a16:creationId xmlns:a16="http://schemas.microsoft.com/office/drawing/2014/main" id="{0CA657D2-ABE2-415F-AE2C-00D448B4B953}"/>
                </a:ext>
              </a:extLst>
            </p:cNvPr>
            <p:cNvSpPr/>
            <p:nvPr/>
          </p:nvSpPr>
          <p:spPr>
            <a:xfrm rot="5400000" flipV="1">
              <a:off x="2118432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27D157-2655-43E1-AFCA-B91EF4F1D71C}"/>
                </a:ext>
              </a:extLst>
            </p:cNvPr>
            <p:cNvSpPr txBox="1"/>
            <p:nvPr/>
          </p:nvSpPr>
          <p:spPr>
            <a:xfrm>
              <a:off x="2555776" y="2852936"/>
              <a:ext cx="33811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2C63FF-D7AC-48BC-93A3-10E0A50E3585}"/>
              </a:ext>
            </a:extLst>
          </p:cNvPr>
          <p:cNvGrpSpPr/>
          <p:nvPr/>
        </p:nvGrpSpPr>
        <p:grpSpPr>
          <a:xfrm>
            <a:off x="2825660" y="2991552"/>
            <a:ext cx="3782702" cy="369332"/>
            <a:chOff x="2154262" y="2852936"/>
            <a:chExt cx="3782702" cy="369332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73D2A989-6ADD-4D13-B82D-F2228D417BF9}"/>
                </a:ext>
              </a:extLst>
            </p:cNvPr>
            <p:cNvSpPr/>
            <p:nvPr/>
          </p:nvSpPr>
          <p:spPr>
            <a:xfrm rot="5400000" flipV="1">
              <a:off x="2154262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1AE55B-7DF0-4577-9549-0AB6AA7B5E46}"/>
                </a:ext>
              </a:extLst>
            </p:cNvPr>
            <p:cNvSpPr txBox="1"/>
            <p:nvPr/>
          </p:nvSpPr>
          <p:spPr>
            <a:xfrm>
              <a:off x="2691768" y="2852936"/>
              <a:ext cx="32451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02BA6A6-51AA-4C66-8B48-12116B89211E}"/>
              </a:ext>
            </a:extLst>
          </p:cNvPr>
          <p:cNvGrpSpPr/>
          <p:nvPr/>
        </p:nvGrpSpPr>
        <p:grpSpPr>
          <a:xfrm>
            <a:off x="1721282" y="3558346"/>
            <a:ext cx="3438896" cy="369332"/>
            <a:chOff x="2498068" y="2852936"/>
            <a:chExt cx="3438896" cy="369332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F537954E-E904-4D0A-A2C7-16B6C64168FE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D21CBC8-0361-43AB-B541-2602398C7FAF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4433750-D643-451D-B985-79D203320A71}"/>
              </a:ext>
            </a:extLst>
          </p:cNvPr>
          <p:cNvGrpSpPr/>
          <p:nvPr/>
        </p:nvGrpSpPr>
        <p:grpSpPr>
          <a:xfrm>
            <a:off x="3641467" y="4057400"/>
            <a:ext cx="3438896" cy="369332"/>
            <a:chOff x="2498068" y="2852936"/>
            <a:chExt cx="3438896" cy="369332"/>
          </a:xfrm>
        </p:grpSpPr>
        <p:sp>
          <p:nvSpPr>
            <p:cNvPr id="22" name="Arrow: Down 21">
              <a:extLst>
                <a:ext uri="{FF2B5EF4-FFF2-40B4-BE49-F238E27FC236}">
                  <a16:creationId xmlns:a16="http://schemas.microsoft.com/office/drawing/2014/main" id="{7BE19E02-75F3-4519-8EF1-11BBF17093A3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8AFD642-282A-46F7-A44C-2072BFDF2845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0E9668D-D3B0-48CF-814C-95A1221B2A8D}"/>
              </a:ext>
            </a:extLst>
          </p:cNvPr>
          <p:cNvGrpSpPr/>
          <p:nvPr/>
        </p:nvGrpSpPr>
        <p:grpSpPr>
          <a:xfrm>
            <a:off x="1831272" y="4719722"/>
            <a:ext cx="4412214" cy="369332"/>
            <a:chOff x="2120361" y="2852936"/>
            <a:chExt cx="4412214" cy="369332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AC787B5F-4061-45D8-9D2B-3B1751022C37}"/>
                </a:ext>
              </a:extLst>
            </p:cNvPr>
            <p:cNvSpPr/>
            <p:nvPr/>
          </p:nvSpPr>
          <p:spPr>
            <a:xfrm rot="5400000" flipV="1">
              <a:off x="2120361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AC90E20-1968-4DFB-BBE1-2A727B892E57}"/>
                </a:ext>
              </a:extLst>
            </p:cNvPr>
            <p:cNvSpPr txBox="1"/>
            <p:nvPr/>
          </p:nvSpPr>
          <p:spPr>
            <a:xfrm>
              <a:off x="3937100" y="2852936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7)</a:t>
              </a:r>
              <a:endParaRPr lang="ru-RU" dirty="0"/>
            </a:p>
          </p:txBody>
        </p:sp>
        <p:sp>
          <p:nvSpPr>
            <p:cNvPr id="27" name="Arrow: Down 26">
              <a:extLst>
                <a:ext uri="{FF2B5EF4-FFF2-40B4-BE49-F238E27FC236}">
                  <a16:creationId xmlns:a16="http://schemas.microsoft.com/office/drawing/2014/main" id="{EAE52642-3A9D-4FEB-AA81-A17750DDA075}"/>
                </a:ext>
              </a:extLst>
            </p:cNvPr>
            <p:cNvSpPr/>
            <p:nvPr/>
          </p:nvSpPr>
          <p:spPr>
            <a:xfrm rot="16200000" flipV="1">
              <a:off x="3476290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C67A313-F255-401F-90DD-65749CD1CAE1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3169467" y="2235446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0B3C2D-475F-4FC5-B2AE-C923EC19D813}"/>
              </a:ext>
            </a:extLst>
          </p:cNvPr>
          <p:cNvCxnSpPr>
            <a:cxnSpLocks/>
            <a:stCxn id="7" idx="1"/>
          </p:cNvCxnSpPr>
          <p:nvPr/>
        </p:nvCxnSpPr>
        <p:spPr>
          <a:xfrm>
            <a:off x="2206102" y="2235446"/>
            <a:ext cx="0" cy="2988332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2C63193-1127-4910-A0F3-9F383416813C}"/>
              </a:ext>
            </a:extLst>
          </p:cNvPr>
          <p:cNvCxnSpPr>
            <a:cxnSpLocks/>
          </p:cNvCxnSpPr>
          <p:nvPr/>
        </p:nvCxnSpPr>
        <p:spPr>
          <a:xfrm>
            <a:off x="2693451" y="2199442"/>
            <a:ext cx="12607" cy="30243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7E49D400-FCA6-4B2A-9429-7E55F6B4F427}"/>
              </a:ext>
            </a:extLst>
          </p:cNvPr>
          <p:cNvSpPr/>
          <p:nvPr/>
        </p:nvSpPr>
        <p:spPr>
          <a:xfrm>
            <a:off x="6803719" y="6363017"/>
            <a:ext cx="51548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https://wandbox.org/permlink/MSu4VTL6jHwk4vfN</a:t>
            </a:r>
            <a:r>
              <a:rPr lang="de-DE" dirty="0"/>
              <a:t> </a:t>
            </a:r>
            <a:endParaRPr lang="ru-RU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EFDD80-5B6E-41F2-8300-E8DD550B1F1A}"/>
              </a:ext>
            </a:extLst>
          </p:cNvPr>
          <p:cNvGrpSpPr/>
          <p:nvPr/>
        </p:nvGrpSpPr>
        <p:grpSpPr>
          <a:xfrm>
            <a:off x="1343472" y="5268227"/>
            <a:ext cx="3396939" cy="384196"/>
            <a:chOff x="2047350" y="2838072"/>
            <a:chExt cx="3396939" cy="384196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5A2CF22C-180F-4C8D-8A26-06CDCDDFC989}"/>
                </a:ext>
              </a:extLst>
            </p:cNvPr>
            <p:cNvSpPr/>
            <p:nvPr/>
          </p:nvSpPr>
          <p:spPr>
            <a:xfrm rot="5400000" flipV="1">
              <a:off x="2047350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C897AB7-8C51-44F0-A161-C60418B5AF33}"/>
                </a:ext>
              </a:extLst>
            </p:cNvPr>
            <p:cNvSpPr txBox="1"/>
            <p:nvPr/>
          </p:nvSpPr>
          <p:spPr>
            <a:xfrm>
              <a:off x="2848814" y="2838072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5)</a:t>
              </a:r>
              <a:endParaRPr lang="ru-RU" dirty="0"/>
            </a:p>
          </p:txBody>
        </p:sp>
        <p:sp>
          <p:nvSpPr>
            <p:cNvPr id="40" name="Arrow: Down 39">
              <a:extLst>
                <a:ext uri="{FF2B5EF4-FFF2-40B4-BE49-F238E27FC236}">
                  <a16:creationId xmlns:a16="http://schemas.microsoft.com/office/drawing/2014/main" id="{C9EE6096-419A-4049-90A4-904748F90D84}"/>
                </a:ext>
              </a:extLst>
            </p:cNvPr>
            <p:cNvSpPr/>
            <p:nvPr/>
          </p:nvSpPr>
          <p:spPr>
            <a:xfrm rot="16200000" flipV="1">
              <a:off x="2461730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7C10AA1-F130-4818-88F7-B0F45D99D8FC}"/>
              </a:ext>
            </a:extLst>
          </p:cNvPr>
          <p:cNvCxnSpPr>
            <a:cxnSpLocks/>
            <a:stCxn id="6" idx="1"/>
          </p:cNvCxnSpPr>
          <p:nvPr/>
        </p:nvCxnSpPr>
        <p:spPr>
          <a:xfrm>
            <a:off x="1721282" y="2235446"/>
            <a:ext cx="0" cy="3996444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8">
            <a:extLst>
              <a:ext uri="{FF2B5EF4-FFF2-40B4-BE49-F238E27FC236}">
                <a16:creationId xmlns:a16="http://schemas.microsoft.com/office/drawing/2014/main" id="{372C817B-2323-5E2A-7AA7-D3FF24849FFC}"/>
              </a:ext>
            </a:extLst>
          </p:cNvPr>
          <p:cNvCxnSpPr>
            <a:cxnSpLocks/>
          </p:cNvCxnSpPr>
          <p:nvPr/>
        </p:nvCxnSpPr>
        <p:spPr>
          <a:xfrm>
            <a:off x="3631808" y="2259739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992FDC0-9134-77D9-31F3-D7ED4E04F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8315" y="309307"/>
            <a:ext cx="2499577" cy="255292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0350702-484D-9D43-E329-715CF3A90981}"/>
              </a:ext>
            </a:extLst>
          </p:cNvPr>
          <p:cNvSpPr txBox="1"/>
          <p:nvPr/>
        </p:nvSpPr>
        <p:spPr>
          <a:xfrm>
            <a:off x="6803719" y="3558346"/>
            <a:ext cx="49809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lower_bound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не предшествующий (т.е. </a:t>
            </a:r>
            <a:r>
              <a:rPr lang="en-US" dirty="0"/>
              <a:t>&gt;=)</a:t>
            </a:r>
            <a:r>
              <a:rPr lang="ru-RU" dirty="0"/>
              <a:t> искомому</a:t>
            </a:r>
          </a:p>
          <a:p>
            <a:endParaRPr lang="ru-RU" dirty="0"/>
          </a:p>
          <a:p>
            <a:r>
              <a:rPr lang="en-US" b="1" dirty="0" err="1">
                <a:latin typeface="Consolas" panose="020B0609020204030204" pitchFamily="49" charset="0"/>
              </a:rPr>
              <a:t>upper_bound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который больше искомого</a:t>
            </a:r>
            <a:endParaRPr lang="en-US" dirty="0"/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028DBD00-CB80-D5E2-7886-EFE8F20E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86725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B7AC82-11E8-A172-7F39-7BC1B34D9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 из библиотеки </a:t>
            </a:r>
            <a:r>
              <a:rPr lang="en-US" dirty="0"/>
              <a:t>&lt;ranges&gt; (C++20)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DD85E3-FB6F-611C-48AD-C81BBE6FE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1736" cy="4351338"/>
          </a:xfrm>
        </p:spPr>
        <p:txBody>
          <a:bodyPr>
            <a:normAutofit fontScale="85000" lnSpcReduction="10000"/>
          </a:bodyPr>
          <a:lstStyle/>
          <a:p>
            <a:r>
              <a:rPr lang="ru-RU" dirty="0"/>
              <a:t>Алгоритмы могут работать не с итераторами, а сразу</a:t>
            </a:r>
            <a:r>
              <a:rPr lang="ru-RU" b="1" dirty="0"/>
              <a:t> с диапазонами</a:t>
            </a:r>
            <a:endParaRPr lang="en-US" b="1" dirty="0"/>
          </a:p>
          <a:p>
            <a:pPr lvl="1"/>
            <a:r>
              <a:rPr lang="en-US" dirty="0"/>
              <a:t>std::ranges::sort(container);</a:t>
            </a:r>
          </a:p>
          <a:p>
            <a:pPr lvl="1"/>
            <a:r>
              <a:rPr lang="ru-RU" dirty="0"/>
              <a:t>вместо</a:t>
            </a:r>
          </a:p>
          <a:p>
            <a:pPr lvl="1"/>
            <a:r>
              <a:rPr lang="en-US" dirty="0"/>
              <a:t>std::sort(</a:t>
            </a:r>
            <a:r>
              <a:rPr lang="en-US" dirty="0" err="1"/>
              <a:t>container.begin</a:t>
            </a:r>
            <a:r>
              <a:rPr lang="en-US" dirty="0"/>
              <a:t>(), </a:t>
            </a:r>
            <a:r>
              <a:rPr lang="en-US" dirty="0" err="1"/>
              <a:t>container.end</a:t>
            </a:r>
            <a:r>
              <a:rPr lang="en-US" dirty="0"/>
              <a:t>());</a:t>
            </a:r>
            <a:endParaRPr lang="ru-RU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Более короткий и читаемый код</a:t>
            </a:r>
          </a:p>
          <a:p>
            <a:pPr lvl="1"/>
            <a:r>
              <a:rPr lang="ru-RU" dirty="0"/>
              <a:t>Меньше ошибок с </a:t>
            </a:r>
            <a:r>
              <a:rPr lang="ru-RU" dirty="0" err="1"/>
              <a:t>begin</a:t>
            </a:r>
            <a:r>
              <a:rPr lang="ru-RU" dirty="0"/>
              <a:t>() / </a:t>
            </a:r>
            <a:r>
              <a:rPr lang="ru-RU" dirty="0" err="1"/>
              <a:t>end</a:t>
            </a:r>
            <a:r>
              <a:rPr lang="ru-RU" dirty="0"/>
              <a:t>()</a:t>
            </a:r>
          </a:p>
          <a:p>
            <a:pPr lvl="1"/>
            <a:r>
              <a:rPr lang="ru-RU" dirty="0"/>
              <a:t>Поддержка проекций</a:t>
            </a:r>
          </a:p>
          <a:p>
            <a:pPr lvl="1"/>
            <a:r>
              <a:rPr lang="ru-RU" dirty="0"/>
              <a:t>Лучше работают с композициями алгоритмов</a:t>
            </a:r>
          </a:p>
          <a:p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066E1B-FCDF-65FC-1A34-7692B1EC1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113</a:t>
            </a:fld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E74D65-0020-8AEB-CD75-4CE47DD7BF9D}"/>
              </a:ext>
            </a:extLst>
          </p:cNvPr>
          <p:cNvSpPr txBox="1"/>
          <p:nvPr/>
        </p:nvSpPr>
        <p:spPr>
          <a:xfrm>
            <a:off x="5807968" y="1859161"/>
            <a:ext cx="638403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std::ranges::sort(numbers);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std::ranges::reverse(numbers);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std::ranges::copy(numbers,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287423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25C78A-10D3-449B-99CF-F95950E85ECC}"/>
              </a:ext>
            </a:extLst>
          </p:cNvPr>
          <p:cNvSpPr/>
          <p:nvPr/>
        </p:nvSpPr>
        <p:spPr>
          <a:xfrm>
            <a:off x="838200" y="2324477"/>
            <a:ext cx="10946432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greater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&lt;&gt;(),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D435B6-B44C-9C08-4250-44936791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Проекции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186588-85EE-1EC4-20F2-D882A88AE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52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B6F2-1D9C-D62A-FCFF-0BAFCBE0E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Конвейер обработки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4D9B50-CCFD-6041-40DC-3BED7B8CE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115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E1A0FC-046F-D27C-3F98-5C8D64278D34}"/>
              </a:ext>
            </a:extLst>
          </p:cNvPr>
          <p:cNvSpPr txBox="1"/>
          <p:nvPr/>
        </p:nvSpPr>
        <p:spPr>
          <a:xfrm>
            <a:off x="695400" y="2492896"/>
            <a:ext cx="1137726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 =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numbers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| std::views::filter([](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x){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| std::views::transform([](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x){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* x; });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std::ranges::copy(result,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6391817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AB2B4-BCA3-24B1-8817-D25FDE648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Идиома </a:t>
            </a:r>
            <a:r>
              <a:rPr lang="en-US" dirty="0"/>
              <a:t>erase-remove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65B6C92-F7B6-E30D-2E4B-D4FF61FCA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75227F-4DD7-2251-C087-48B6DAD2E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239752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390D053-2BC6-CA6E-277C-1E931C95C10A}"/>
              </a:ext>
            </a:extLst>
          </p:cNvPr>
          <p:cNvSpPr txBox="1"/>
          <p:nvPr/>
        </p:nvSpPr>
        <p:spPr>
          <a:xfrm>
            <a:off x="1524000" y="-1"/>
            <a:ext cx="9144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&lt;algorithm&gt;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&lt;iostream&gt;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&lt;iterator&gt;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Print(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&gt;&amp; </a:t>
            </a:r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std::copy(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std::</a:t>
            </a:r>
            <a:r>
              <a:rPr lang="en-US" sz="1600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ostream_iterator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&gt;(std::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numbers{ 9, 3, 0, 2, 0, 7, 8, 13, 6 };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it = std::remove(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0);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(it,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remove_if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[](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2 == 0; }), 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9BC0BD2-9773-04B2-6269-19B1840C3A0E}"/>
              </a:ext>
            </a:extLst>
          </p:cNvPr>
          <p:cNvSpPr/>
          <p:nvPr/>
        </p:nvSpPr>
        <p:spPr>
          <a:xfrm>
            <a:off x="6456040" y="5372154"/>
            <a:ext cx="3995936" cy="13681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latin typeface="Consolas" panose="020B0609020204030204" pitchFamily="49" charset="0"/>
              </a:rPr>
              <a:t>9, 3, 0, 2, 0, 7, 8, 13, 6,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9, 3, 7, 13,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7A9FED-FC86-0B77-1AA1-BB4088DB8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84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BD66BF-A710-700C-7996-71F7633D3A24}"/>
              </a:ext>
            </a:extLst>
          </p:cNvPr>
          <p:cNvSpPr txBox="1"/>
          <p:nvPr/>
        </p:nvSpPr>
        <p:spPr>
          <a:xfrm>
            <a:off x="767408" y="2132856"/>
            <a:ext cx="1022513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erase_if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1, 7, 8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std::ranges::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1ADF6-5D34-AC74-08BE-F12A1B615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std::erase / std::</a:t>
            </a:r>
            <a:r>
              <a:rPr lang="en-US" dirty="0" err="1"/>
              <a:t>erase_if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FE4F2C-09A4-2E42-3904-D8C088DA6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415495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A410D-70D9-2679-E80D-98C717DDF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std::optional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BF8AEF0-A3E5-1CD9-C96A-F265F8906E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7DEC1-CD3F-E27F-7CBA-456CCE135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14130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std::optional</a:t>
            </a: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38198" y="1825625"/>
            <a:ext cx="9804095" cy="4351338"/>
          </a:xfrm>
        </p:spPr>
        <p:txBody>
          <a:bodyPr>
            <a:normAutofit/>
          </a:bodyPr>
          <a:lstStyle/>
          <a:p>
            <a:r>
              <a:rPr lang="ru-RU" dirty="0"/>
              <a:t>Опциональное значение</a:t>
            </a:r>
          </a:p>
          <a:p>
            <a:r>
              <a:rPr lang="ru-RU" dirty="0"/>
              <a:t>Не использует динамическое выделение памяти</a:t>
            </a:r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Значение, которого может и не быть</a:t>
            </a:r>
          </a:p>
          <a:p>
            <a:pPr lvl="2"/>
            <a:r>
              <a:rPr lang="ru-RU" dirty="0"/>
              <a:t>Результат поиска</a:t>
            </a:r>
          </a:p>
          <a:p>
            <a:pPr lvl="2"/>
            <a:r>
              <a:rPr lang="en-US" dirty="0"/>
              <a:t>Undefined-</a:t>
            </a:r>
            <a:r>
              <a:rPr lang="ru-RU" dirty="0"/>
              <a:t>значение (если сам тип его не имеет)</a:t>
            </a:r>
          </a:p>
          <a:p>
            <a:pPr lvl="1"/>
            <a:r>
              <a:rPr lang="ru-RU" dirty="0"/>
              <a:t>Отложенное конструирование объекта</a:t>
            </a:r>
          </a:p>
          <a:p>
            <a:pPr lvl="2"/>
            <a:r>
              <a:rPr lang="ru-RU" dirty="0"/>
              <a:t>Поле класса не может быть проинициализировано в конструкторе</a:t>
            </a:r>
          </a:p>
          <a:p>
            <a:pPr lvl="2"/>
            <a:r>
              <a:rPr lang="ru-RU" dirty="0"/>
              <a:t>Ленивые вычисления</a:t>
            </a:r>
          </a:p>
          <a:p>
            <a:pPr lvl="1"/>
            <a:r>
              <a:rPr lang="ru-RU" dirty="0"/>
              <a:t>Простейшее информирование об ошибке</a:t>
            </a:r>
            <a:endParaRPr lang="en-US" dirty="0"/>
          </a:p>
        </p:txBody>
      </p:sp>
      <p:pic>
        <p:nvPicPr>
          <p:cNvPr id="1032" name="Коробка (зад)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8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Шарик" descr="C:\Users\Vivid\AppData\Local\Microsoft\Windows\INetCache\IE\WS3H632O\Blue_sphere.svg[1]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477" y="607946"/>
            <a:ext cx="1033094" cy="1033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Коробка (перед)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7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02D6676-6FD6-4AE0-A190-7D7D39D36D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3659" y="4148473"/>
            <a:ext cx="2524477" cy="257210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1337A-C151-C11C-3E05-A0993A3FD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7676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FFC27AD-C05A-8F4D-77A0-5EFEEEE2FBC2}"/>
              </a:ext>
            </a:extLst>
          </p:cNvPr>
          <p:cNvSpPr txBox="1"/>
          <p:nvPr/>
        </p:nvSpPr>
        <p:spPr>
          <a:xfrm>
            <a:off x="1524000" y="15273"/>
            <a:ext cx="813690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vertex1, vertex2, vertex3;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switch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"red"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"yellow"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"green"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"black"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"white"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rgbClr val="6F008A"/>
                </a:solidFill>
                <a:latin typeface="Consolas" panose="020B0609020204030204" pitchFamily="49" charset="0"/>
              </a:rPr>
              <a:t>    assert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"unknown color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Равнобедренный треугольник 5">
            <a:extLst>
              <a:ext uri="{FF2B5EF4-FFF2-40B4-BE49-F238E27FC236}">
                <a16:creationId xmlns:a16="http://schemas.microsoft.com/office/drawing/2014/main" id="{6F87663C-6802-AC77-4763-FC5D0F3D425A}"/>
              </a:ext>
            </a:extLst>
          </p:cNvPr>
          <p:cNvSpPr/>
          <p:nvPr/>
        </p:nvSpPr>
        <p:spPr>
          <a:xfrm>
            <a:off x="7053437" y="1876553"/>
            <a:ext cx="2160240" cy="1080120"/>
          </a:xfrm>
          <a:prstGeom prst="triangle">
            <a:avLst>
              <a:gd name="adj" fmla="val 16701"/>
            </a:avLst>
          </a:prstGeom>
          <a:solidFill>
            <a:srgbClr val="00B0F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Равнобедренный треугольник 6">
            <a:extLst>
              <a:ext uri="{FF2B5EF4-FFF2-40B4-BE49-F238E27FC236}">
                <a16:creationId xmlns:a16="http://schemas.microsoft.com/office/drawing/2014/main" id="{BBEE4595-B777-7DAF-B902-9A4AB8619656}"/>
              </a:ext>
            </a:extLst>
          </p:cNvPr>
          <p:cNvSpPr/>
          <p:nvPr/>
        </p:nvSpPr>
        <p:spPr>
          <a:xfrm rot="19109283">
            <a:off x="7008271" y="1518133"/>
            <a:ext cx="2495941" cy="1733503"/>
          </a:xfrm>
          <a:prstGeom prst="triangle">
            <a:avLst>
              <a:gd name="adj" fmla="val 5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Равнобедренный треугольник 7">
            <a:extLst>
              <a:ext uri="{FF2B5EF4-FFF2-40B4-BE49-F238E27FC236}">
                <a16:creationId xmlns:a16="http://schemas.microsoft.com/office/drawing/2014/main" id="{2C862EE2-A0EB-56AE-429C-9D4F7E93DDCA}"/>
              </a:ext>
            </a:extLst>
          </p:cNvPr>
          <p:cNvSpPr/>
          <p:nvPr/>
        </p:nvSpPr>
        <p:spPr>
          <a:xfrm rot="2892151">
            <a:off x="7735492" y="2690081"/>
            <a:ext cx="2160240" cy="1437560"/>
          </a:xfrm>
          <a:prstGeom prst="triangle">
            <a:avLst>
              <a:gd name="adj" fmla="val 100000"/>
            </a:avLst>
          </a:prstGeom>
          <a:solidFill>
            <a:srgbClr val="92D050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9C1DD4-E158-4768-62AD-C69793065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04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E220DB-123D-FA08-E6E6-1EA9D4E2BF47}"/>
              </a:ext>
            </a:extLst>
          </p:cNvPr>
          <p:cNvSpPr txBox="1"/>
          <p:nvPr/>
        </p:nvSpPr>
        <p:spPr>
          <a:xfrm>
            <a:off x="1541488" y="14168"/>
            <a:ext cx="912651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"{p1: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.vertex1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p2: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.vertex2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p3: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.vertex3;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2B91A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t{ { 0, 0 }, { 0, 1 }, { 1, 0 },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nullopt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Равнобедренный треугольник 3">
            <a:extLst>
              <a:ext uri="{FF2B5EF4-FFF2-40B4-BE49-F238E27FC236}">
                <a16:creationId xmlns:a16="http://schemas.microsoft.com/office/drawing/2014/main" id="{C943E33C-060A-FCE3-2226-7D535EDDC567}"/>
              </a:ext>
            </a:extLst>
          </p:cNvPr>
          <p:cNvSpPr/>
          <p:nvPr/>
        </p:nvSpPr>
        <p:spPr>
          <a:xfrm flipH="1">
            <a:off x="8544272" y="4941168"/>
            <a:ext cx="1008112" cy="1008112"/>
          </a:xfrm>
          <a:prstGeom prst="triangle">
            <a:avLst>
              <a:gd name="adj" fmla="val 10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BC834473-717C-BC1A-3985-186B1DD0ED9C}"/>
              </a:ext>
            </a:extLst>
          </p:cNvPr>
          <p:cNvCxnSpPr>
            <a:cxnSpLocks/>
          </p:cNvCxnSpPr>
          <p:nvPr/>
        </p:nvCxnSpPr>
        <p:spPr>
          <a:xfrm>
            <a:off x="7896200" y="5949280"/>
            <a:ext cx="23042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58C96BB8-B27C-77BF-5936-BDF602DAA71F}"/>
              </a:ext>
            </a:extLst>
          </p:cNvPr>
          <p:cNvCxnSpPr>
            <a:cxnSpLocks/>
          </p:cNvCxnSpPr>
          <p:nvPr/>
        </p:nvCxnSpPr>
        <p:spPr>
          <a:xfrm flipV="1">
            <a:off x="8544272" y="4571592"/>
            <a:ext cx="0" cy="17377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70D4E2-03D1-4164-33A5-CD1FA1EC80C1}"/>
              </a:ext>
            </a:extLst>
          </p:cNvPr>
          <p:cNvSpPr txBox="1"/>
          <p:nvPr/>
        </p:nvSpPr>
        <p:spPr>
          <a:xfrm>
            <a:off x="1442480" y="6371167"/>
            <a:ext cx="93245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Consolas" panose="020B0609020204030204" pitchFamily="49" charset="0"/>
              </a:rPr>
              <a:t>{p1: {0, 0}, p2: {0, 1}, p3: {1, 0},  </a:t>
            </a:r>
            <a:r>
              <a:rPr lang="ru-RU" sz="1600" dirty="0" err="1">
                <a:latin typeface="Consolas" panose="020B0609020204030204" pitchFamily="49" charset="0"/>
              </a:rPr>
              <a:t>outlineColor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red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fillColor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none</a:t>
            </a:r>
            <a:r>
              <a:rPr lang="ru-RU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49095A-88F7-B3C5-F090-857B1443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943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7F2B1-1617-4CBA-44D3-A7B8AD0CF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файловой системой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6F748A-4FFD-3F6B-6BB1-EE545372A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F9570F-C000-7228-7217-4695836EC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75739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D466C1-3097-C333-C2CC-DBE5B0065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Библиотека </a:t>
            </a:r>
            <a:r>
              <a:rPr lang="en-US" dirty="0"/>
              <a:t>std::filesystem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BB61E9-14D3-9D66-3DA8-769D734C3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Позволяет работать с:</a:t>
            </a:r>
          </a:p>
          <a:p>
            <a:pPr lvl="1"/>
            <a:r>
              <a:rPr lang="ru-RU" dirty="0"/>
              <a:t>путями (</a:t>
            </a:r>
            <a:r>
              <a:rPr lang="ru-RU" dirty="0" err="1"/>
              <a:t>path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файлами</a:t>
            </a:r>
          </a:p>
          <a:p>
            <a:pPr lvl="1"/>
            <a:r>
              <a:rPr lang="ru-RU" dirty="0"/>
              <a:t>директориями</a:t>
            </a:r>
          </a:p>
          <a:p>
            <a:pPr lvl="1"/>
            <a:r>
              <a:rPr lang="ru-RU" dirty="0"/>
              <a:t>атрибутами файлов</a:t>
            </a:r>
          </a:p>
          <a:p>
            <a:pPr lvl="1"/>
            <a:r>
              <a:rPr lang="ru-RU" dirty="0"/>
              <a:t>обходом директорий</a:t>
            </a:r>
          </a:p>
          <a:p>
            <a:r>
              <a:rPr lang="ru-RU" dirty="0"/>
              <a:t>Основные возможности</a:t>
            </a:r>
          </a:p>
          <a:p>
            <a:pPr lvl="1"/>
            <a:r>
              <a:rPr lang="ru-RU" dirty="0"/>
              <a:t>получение текущей директории</a:t>
            </a:r>
          </a:p>
          <a:p>
            <a:pPr lvl="1"/>
            <a:r>
              <a:rPr lang="ru-RU" dirty="0"/>
              <a:t>создание и удаление файлов и папок</a:t>
            </a:r>
          </a:p>
          <a:p>
            <a:pPr lvl="1"/>
            <a:r>
              <a:rPr lang="ru-RU" dirty="0"/>
              <a:t>копирование и перемещение файлов</a:t>
            </a:r>
          </a:p>
          <a:p>
            <a:pPr lvl="1"/>
            <a:r>
              <a:rPr lang="ru-RU" dirty="0"/>
              <a:t>проверка существования файлов</a:t>
            </a:r>
          </a:p>
          <a:p>
            <a:pPr lvl="1"/>
            <a:r>
              <a:rPr lang="ru-RU" dirty="0"/>
              <a:t>обход директорий</a:t>
            </a:r>
            <a:endParaRPr lang="en-US" dirty="0"/>
          </a:p>
          <a:p>
            <a:r>
              <a:rPr lang="ru-RU" dirty="0"/>
              <a:t>Использование:</a:t>
            </a:r>
          </a:p>
          <a:p>
            <a:pPr lvl="1"/>
            <a:r>
              <a:rPr lang="ru-RU" dirty="0"/>
              <a:t>Заголовочный файл </a:t>
            </a:r>
            <a:r>
              <a:rPr lang="en-US" dirty="0"/>
              <a:t>&lt;filesystem&gt;</a:t>
            </a:r>
          </a:p>
          <a:p>
            <a:pPr lvl="1"/>
            <a:r>
              <a:rPr lang="ru-RU" dirty="0"/>
              <a:t>Пространству имён </a:t>
            </a:r>
            <a:r>
              <a:rPr lang="en-US" dirty="0"/>
              <a:t>std::filesystem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CB10B-809C-47B0-A0F7-9EFCF0105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550338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32F4EC1-E427-D933-1E85-9432C8A37C2C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filesystem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fs = std::filesystem;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fs::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generic_string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file.txt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replace_extension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fs::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recursive_directory_iterator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A92736-39A1-7451-DCA4-BC282115F8BD}"/>
              </a:ext>
            </a:extLst>
          </p:cNvPr>
          <p:cNvSpPr txBox="1"/>
          <p:nvPr/>
        </p:nvSpPr>
        <p:spPr>
          <a:xfrm>
            <a:off x="6672064" y="332656"/>
            <a:ext cx="5519936" cy="249299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C:\test\file_sys\out\build\x64-debug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C:/test/file_sys/out/build/x64-debug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"file"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"C:\\test\\file_sys\\out\\build\\file.dat"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---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"C:\\test\\file_sys\\out\\build\\x64-debug\\.cmake\\api\\v1"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732B25-7EE1-E79D-8A0D-561206CEF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523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13D48B0-B6A5-4501-7373-49D6DE8F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поиск и удаление файлов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174E10-33E4-E0E7-05B0-B7B939383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126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517577-863D-6BD3-D989-F197169F6AD2}"/>
              </a:ext>
            </a:extLst>
          </p:cNvPr>
          <p:cNvSpPr txBox="1"/>
          <p:nvPr/>
        </p:nvSpPr>
        <p:spPr>
          <a:xfrm>
            <a:off x="838200" y="1690688"/>
            <a:ext cx="1109044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fs = std::filesystem;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fs::path root = fs::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entry : fs::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recursive_directory_iterator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(root))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entry.is_regular_file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entry.path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p.stem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"virus"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"Deleting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fs::remove(p);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0816952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DDF1-DE41-B61B-59D6-E90809F8B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DE950-5891-AABF-0BB2-358ECC38A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0F5C2D-9AD4-6FEC-2EEA-7F90FDDF7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78308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c3a95a37d3a97989ff551949289caca977b538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aefb5e4-2fd5-41dd-b373-e5ed0a0c7dc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2e97d2-f20a-4606-be19-23a7de49a7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585c847-70f5-4e89-8337-ff3ca9bbaf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b6f6964-58fe-459c-b140-825c3f00fcfd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838e2c-4a2c-49a3-bc1d-3cd578301d5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1f769ac-bdfe-41fa-ae75-f65691b298e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93f2bf-bdfb-4f8a-83f7-95d0927702f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7ab4edb-91d0-4af7-9d0b-2c96dec1732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dadbec7-5857-48a6-8b75-4868b9f4040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77969e6-0576-4669-9cad-43411d00507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9faae1-ba61-49dc-9476-0fcf3871f8da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7900</TotalTime>
  <Words>17651</Words>
  <Application>Microsoft Office PowerPoint</Application>
  <PresentationFormat>Widescreen</PresentationFormat>
  <Paragraphs>2357</Paragraphs>
  <Slides>127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127</vt:i4>
      </vt:variant>
    </vt:vector>
  </HeadingPairs>
  <TitlesOfParts>
    <vt:vector size="132" baseType="lpstr">
      <vt:lpstr>Arial</vt:lpstr>
      <vt:lpstr>Calibri</vt:lpstr>
      <vt:lpstr>Calibri Light</vt:lpstr>
      <vt:lpstr>Consolas</vt:lpstr>
      <vt:lpstr>Office Theme</vt:lpstr>
      <vt:lpstr>Стандартная библиотека C++</vt:lpstr>
      <vt:lpstr>Стандартная библиотека C++</vt:lpstr>
      <vt:lpstr>Контейнеры стандартной библиотеки</vt:lpstr>
      <vt:lpstr>Основные контейнеры стандартной библиотеки</vt:lpstr>
      <vt:lpstr>std::string</vt:lpstr>
      <vt:lpstr>Строка std::string</vt:lpstr>
      <vt:lpstr>Внутреннее устройство string*</vt:lpstr>
      <vt:lpstr>Создание строки</vt:lpstr>
      <vt:lpstr>Размер и вместимость</vt:lpstr>
      <vt:lpstr>Сравнение строк</vt:lpstr>
      <vt:lpstr>Конкатенация строк</vt:lpstr>
      <vt:lpstr>Извлечение подстроки</vt:lpstr>
      <vt:lpstr>Поиск внутри строки</vt:lpstr>
      <vt:lpstr>Замена фрагмента строки</vt:lpstr>
      <vt:lpstr>string_view</vt:lpstr>
      <vt:lpstr>std::string_view</vt:lpstr>
      <vt:lpstr>Устройство string_view</vt:lpstr>
      <vt:lpstr>Конструирование string_view</vt:lpstr>
      <vt:lpstr>Пример – ссылки на части URL</vt:lpstr>
      <vt:lpstr>std::array</vt:lpstr>
      <vt:lpstr>std::array</vt:lpstr>
      <vt:lpstr>std::array vs C-массив</vt:lpstr>
      <vt:lpstr>Проверка индекса при доступе к элементам std::array</vt:lpstr>
      <vt:lpstr>PowerPoint Presentation</vt:lpstr>
      <vt:lpstr>std::to_array (C++20)</vt:lpstr>
      <vt:lpstr>std::vector</vt:lpstr>
      <vt:lpstr>std::vector</vt:lpstr>
      <vt:lpstr>Внутреннее устройство vector</vt:lpstr>
      <vt:lpstr>Чтение и реверсирование массива</vt:lpstr>
      <vt:lpstr>PowerPoint Presentation</vt:lpstr>
      <vt:lpstr>Резервирование памяти</vt:lpstr>
      <vt:lpstr>Инвалидация ссылок и итераторов std::vector</vt:lpstr>
      <vt:lpstr>Инвалидация ссылок и итераторов</vt:lpstr>
      <vt:lpstr>std::deque</vt:lpstr>
      <vt:lpstr>Двусторонняя очередь (double-ended queue) std::deque</vt:lpstr>
      <vt:lpstr>Возможное устройство deque</vt:lpstr>
      <vt:lpstr>PowerPoint Presentation</vt:lpstr>
      <vt:lpstr>Пример</vt:lpstr>
      <vt:lpstr>std::list</vt:lpstr>
      <vt:lpstr>Двусвязный список std::list</vt:lpstr>
      <vt:lpstr>Возможное устройство двусвязного списка</vt:lpstr>
      <vt:lpstr>Пример: список задач</vt:lpstr>
      <vt:lpstr>Вставка в последовательные контейнеры</vt:lpstr>
      <vt:lpstr>std::map и std::multimap</vt:lpstr>
      <vt:lpstr>Классы std::map и std::multimap</vt:lpstr>
      <vt:lpstr>Красно-чёрное дерево</vt:lpstr>
      <vt:lpstr>Пример: подсчёт частоты встречаемости слов</vt:lpstr>
      <vt:lpstr>PowerPoint Presentation</vt:lpstr>
      <vt:lpstr>Пример: несколько студентов с одинаковым баллом</vt:lpstr>
      <vt:lpstr>std::unordered_map и std::unordered_multimap</vt:lpstr>
      <vt:lpstr>Классы std::unordered_map и std::unordered_multimap</vt:lpstr>
      <vt:lpstr>PowerPoint Presentation</vt:lpstr>
      <vt:lpstr>Возможное устройство  unordered_map</vt:lpstr>
      <vt:lpstr>Создаём простой LRU Cache (unordered_map + list)</vt:lpstr>
      <vt:lpstr>Пример: LRU (Least Recently Used) Cache (Инициализация и поиск)</vt:lpstr>
      <vt:lpstr>LRU Cache – вставка элемента</vt:lpstr>
      <vt:lpstr>LRU Cache - использование</vt:lpstr>
      <vt:lpstr>std::set и std::multiset</vt:lpstr>
      <vt:lpstr>Классы множеств std::set и std::multiset</vt:lpstr>
      <vt:lpstr>Пример</vt:lpstr>
      <vt:lpstr>unordered_set и unordered_multiset</vt:lpstr>
      <vt:lpstr>unordered_set и unordered_multiset</vt:lpstr>
      <vt:lpstr>Пример: удаление повторяющихся чисел</vt:lpstr>
      <vt:lpstr>Пример: подсчёт повторяющихся оценок</vt:lpstr>
      <vt:lpstr>std::function</vt:lpstr>
      <vt:lpstr>std::function</vt:lpstr>
      <vt:lpstr>Задача – поиск текста в потоке</vt:lpstr>
      <vt:lpstr>Решение – передаём обработчик результатов снаружи, используя function</vt:lpstr>
      <vt:lpstr>Обрабатываем результаты в обычной функции</vt:lpstr>
      <vt:lpstr>Лямбда-выражение</vt:lpstr>
      <vt:lpstr>Что у лямбда-функции под капотом?</vt:lpstr>
      <vt:lpstr>PowerPoint Presentation</vt:lpstr>
      <vt:lpstr>Захват переменной по ссылке</vt:lpstr>
      <vt:lpstr>Изменение захваченного значения</vt:lpstr>
      <vt:lpstr>Не вызывайте лямбда-функцию, если захваченная по ссылке переменная разрушена</vt:lpstr>
      <vt:lpstr>Обрабатываем результаты в лямбда-функции</vt:lpstr>
      <vt:lpstr>Обрабатываем результаты в лямбда-функции, захватывающей переменные</vt:lpstr>
      <vt:lpstr>Обрабатываем результаты в методе класса</vt:lpstr>
      <vt:lpstr>Ввод-вывод</vt:lpstr>
      <vt:lpstr>Стандартные потоки ввода-вывода</vt:lpstr>
      <vt:lpstr>Операции ввода-вывода в поток</vt:lpstr>
      <vt:lpstr>Манипуляторы ввода-вывода</vt:lpstr>
      <vt:lpstr>Текстовый поток</vt:lpstr>
      <vt:lpstr>Файловый ввод-вывод</vt:lpstr>
      <vt:lpstr>Тонкости работы с файловыми потоками</vt:lpstr>
      <vt:lpstr>PowerPoint Presentation</vt:lpstr>
      <vt:lpstr>Потоки чтения из строки и записи в строку</vt:lpstr>
      <vt:lpstr>Итераторы</vt:lpstr>
      <vt:lpstr>Итераторы</vt:lpstr>
      <vt:lpstr>Контейнеры и итераторы</vt:lpstr>
      <vt:lpstr>Методы для получения итераторов</vt:lpstr>
      <vt:lpstr>Категории итераторов</vt:lpstr>
      <vt:lpstr>Категории итераторов</vt:lpstr>
      <vt:lpstr>Исследуем range-based for</vt:lpstr>
      <vt:lpstr>Заглядываем внутрь range-based for</vt:lpstr>
      <vt:lpstr>init-statement (начиная с C++20)</vt:lpstr>
      <vt:lpstr>begin-expr и end-expr</vt:lpstr>
      <vt:lpstr>Пример</vt:lpstr>
      <vt:lpstr>PowerPoint Presentation</vt:lpstr>
      <vt:lpstr>Алгоритмы</vt:lpstr>
      <vt:lpstr>Алгоритмы стандартной библиотеки</vt:lpstr>
      <vt:lpstr>Копирование из контейнера в stdout</vt:lpstr>
      <vt:lpstr>Копирование из контейнера в stdout</vt:lpstr>
      <vt:lpstr>Сортировка вектора</vt:lpstr>
      <vt:lpstr>Сортировка с компаратором</vt:lpstr>
      <vt:lpstr>Сортировка с лямбдой</vt:lpstr>
      <vt:lpstr>Сортировка структур</vt:lpstr>
      <vt:lpstr>Пример: поиск медианы</vt:lpstr>
      <vt:lpstr>Поиск элемента в массиве</vt:lpstr>
      <vt:lpstr>PowerPoint Presentation</vt:lpstr>
      <vt:lpstr>PowerPoint Presentation</vt:lpstr>
      <vt:lpstr>Двоичный поиск</vt:lpstr>
      <vt:lpstr>Алгоритмы из библиотеки &lt;ranges&gt; (C++20)</vt:lpstr>
      <vt:lpstr>Проекции</vt:lpstr>
      <vt:lpstr>Конвейер обработки данных</vt:lpstr>
      <vt:lpstr>Идиома erase-remove</vt:lpstr>
      <vt:lpstr>PowerPoint Presentation</vt:lpstr>
      <vt:lpstr>std::erase / std::erase_if</vt:lpstr>
      <vt:lpstr>std::optional</vt:lpstr>
      <vt:lpstr>std::optional</vt:lpstr>
      <vt:lpstr>PowerPoint Presentation</vt:lpstr>
      <vt:lpstr>PowerPoint Presentation</vt:lpstr>
      <vt:lpstr>Работа с файловой системой</vt:lpstr>
      <vt:lpstr>Библиотека std::filesystem</vt:lpstr>
      <vt:lpstr>PowerPoint Presentation</vt:lpstr>
      <vt:lpstr>Пример: поиск и удаление файлов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339</cp:revision>
  <dcterms:created xsi:type="dcterms:W3CDTF">2016-02-02T19:36:42Z</dcterms:created>
  <dcterms:modified xsi:type="dcterms:W3CDTF">2026-03-06T05:25:33Z</dcterms:modified>
</cp:coreProperties>
</file>