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6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8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9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10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11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2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13.xml" ContentType="application/vnd.openxmlformats-officedocument.presentationml.tags+xml"/>
  <Override PartName="/ppt/notesSlides/notesSlide53.xml" ContentType="application/vnd.openxmlformats-officedocument.presentationml.notesSlide+xml"/>
  <Override PartName="/ppt/tags/tag14.xml" ContentType="application/vnd.openxmlformats-officedocument.presentationml.tags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23"/>
  </p:notesMasterIdLst>
  <p:sldIdLst>
    <p:sldId id="256" r:id="rId2"/>
    <p:sldId id="434" r:id="rId3"/>
    <p:sldId id="435" r:id="rId4"/>
    <p:sldId id="436" r:id="rId5"/>
    <p:sldId id="607" r:id="rId6"/>
    <p:sldId id="437" r:id="rId7"/>
    <p:sldId id="524" r:id="rId8"/>
    <p:sldId id="465" r:id="rId9"/>
    <p:sldId id="471" r:id="rId10"/>
    <p:sldId id="466" r:id="rId11"/>
    <p:sldId id="467" r:id="rId12"/>
    <p:sldId id="468" r:id="rId13"/>
    <p:sldId id="469" r:id="rId14"/>
    <p:sldId id="470" r:id="rId15"/>
    <p:sldId id="472" r:id="rId16"/>
    <p:sldId id="473" r:id="rId17"/>
    <p:sldId id="526" r:id="rId18"/>
    <p:sldId id="474" r:id="rId19"/>
    <p:sldId id="475" r:id="rId20"/>
    <p:sldId id="572" r:id="rId21"/>
    <p:sldId id="573" r:id="rId22"/>
    <p:sldId id="648" r:id="rId23"/>
    <p:sldId id="628" r:id="rId24"/>
    <p:sldId id="574" r:id="rId25"/>
    <p:sldId id="649" r:id="rId26"/>
    <p:sldId id="515" r:id="rId27"/>
    <p:sldId id="439" r:id="rId28"/>
    <p:sldId id="528" r:id="rId29"/>
    <p:sldId id="629" r:id="rId30"/>
    <p:sldId id="460" r:id="rId31"/>
    <p:sldId id="527" r:id="rId32"/>
    <p:sldId id="630" r:id="rId33"/>
    <p:sldId id="631" r:id="rId34"/>
    <p:sldId id="608" r:id="rId35"/>
    <p:sldId id="444" r:id="rId36"/>
    <p:sldId id="614" r:id="rId37"/>
    <p:sldId id="647" r:id="rId38"/>
    <p:sldId id="632" r:id="rId39"/>
    <p:sldId id="615" r:id="rId40"/>
    <p:sldId id="441" r:id="rId41"/>
    <p:sldId id="616" r:id="rId42"/>
    <p:sldId id="633" r:id="rId43"/>
    <p:sldId id="529" r:id="rId44"/>
    <p:sldId id="634" r:id="rId45"/>
    <p:sldId id="445" r:id="rId46"/>
    <p:sldId id="617" r:id="rId47"/>
    <p:sldId id="654" r:id="rId48"/>
    <p:sldId id="485" r:id="rId49"/>
    <p:sldId id="484" r:id="rId50"/>
    <p:sldId id="609" r:id="rId51"/>
    <p:sldId id="618" r:id="rId52"/>
    <p:sldId id="463" r:id="rId53"/>
    <p:sldId id="655" r:id="rId54"/>
    <p:sldId id="653" r:id="rId55"/>
    <p:sldId id="650" r:id="rId56"/>
    <p:sldId id="651" r:id="rId57"/>
    <p:sldId id="652" r:id="rId58"/>
    <p:sldId id="612" r:id="rId59"/>
    <p:sldId id="619" r:id="rId60"/>
    <p:sldId id="448" r:id="rId61"/>
    <p:sldId id="656" r:id="rId62"/>
    <p:sldId id="657" r:id="rId63"/>
    <p:sldId id="658" r:id="rId64"/>
    <p:sldId id="659" r:id="rId65"/>
    <p:sldId id="579" r:id="rId66"/>
    <p:sldId id="620" r:id="rId67"/>
    <p:sldId id="581" r:id="rId68"/>
    <p:sldId id="582" r:id="rId69"/>
    <p:sldId id="583" r:id="rId70"/>
    <p:sldId id="635" r:id="rId71"/>
    <p:sldId id="637" r:id="rId72"/>
    <p:sldId id="638" r:id="rId73"/>
    <p:sldId id="636" r:id="rId74"/>
    <p:sldId id="639" r:id="rId75"/>
    <p:sldId id="640" r:id="rId76"/>
    <p:sldId id="584" r:id="rId77"/>
    <p:sldId id="585" r:id="rId78"/>
    <p:sldId id="586" r:id="rId79"/>
    <p:sldId id="587" r:id="rId80"/>
    <p:sldId id="588" r:id="rId81"/>
    <p:sldId id="589" r:id="rId82"/>
    <p:sldId id="590" r:id="rId83"/>
    <p:sldId id="621" r:id="rId84"/>
    <p:sldId id="591" r:id="rId85"/>
    <p:sldId id="593" r:id="rId86"/>
    <p:sldId id="594" r:id="rId87"/>
    <p:sldId id="625" r:id="rId88"/>
    <p:sldId id="595" r:id="rId89"/>
    <p:sldId id="449" r:id="rId90"/>
    <p:sldId id="530" r:id="rId91"/>
    <p:sldId id="596" r:id="rId92"/>
    <p:sldId id="531" r:id="rId93"/>
    <p:sldId id="532" r:id="rId94"/>
    <p:sldId id="613" r:id="rId95"/>
    <p:sldId id="622" r:id="rId96"/>
    <p:sldId id="605" r:id="rId97"/>
    <p:sldId id="603" r:id="rId98"/>
    <p:sldId id="604" r:id="rId99"/>
    <p:sldId id="606" r:id="rId100"/>
    <p:sldId id="597" r:id="rId101"/>
    <p:sldId id="450" r:id="rId102"/>
    <p:sldId id="643" r:id="rId103"/>
    <p:sldId id="451" r:id="rId104"/>
    <p:sldId id="598" r:id="rId105"/>
    <p:sldId id="599" r:id="rId106"/>
    <p:sldId id="452" r:id="rId107"/>
    <p:sldId id="600" r:id="rId108"/>
    <p:sldId id="545" r:id="rId109"/>
    <p:sldId id="454" r:id="rId110"/>
    <p:sldId id="455" r:id="rId111"/>
    <p:sldId id="456" r:id="rId112"/>
    <p:sldId id="543" r:id="rId113"/>
    <p:sldId id="544" r:id="rId114"/>
    <p:sldId id="641" r:id="rId115"/>
    <p:sldId id="525" r:id="rId116"/>
    <p:sldId id="279" r:id="rId117"/>
    <p:sldId id="533" r:id="rId118"/>
    <p:sldId id="534" r:id="rId119"/>
    <p:sldId id="644" r:id="rId120"/>
    <p:sldId id="646" r:id="rId121"/>
    <p:sldId id="642" r:id="rId122"/>
  </p:sldIdLst>
  <p:sldSz cx="12192000" cy="6858000"/>
  <p:notesSz cx="6858000" cy="9144000"/>
  <p:custDataLst>
    <p:tags r:id="rId12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655D4A-5D90-476B-ACFC-70A995BADD2F}">
          <p14:sldIdLst>
            <p14:sldId id="256"/>
          </p14:sldIdLst>
        </p14:section>
        <p14:section name="Стандартная библиотека" id="{D76DA428-86A2-42CE-99EA-D25B25631D55}">
          <p14:sldIdLst>
            <p14:sldId id="434"/>
            <p14:sldId id="435"/>
            <p14:sldId id="436"/>
          </p14:sldIdLst>
        </p14:section>
        <p14:section name="std::string" id="{173C7FED-748F-44D7-B8B5-0E8555B19945}">
          <p14:sldIdLst>
            <p14:sldId id="607"/>
            <p14:sldId id="437"/>
            <p14:sldId id="524"/>
            <p14:sldId id="465"/>
            <p14:sldId id="471"/>
            <p14:sldId id="466"/>
            <p14:sldId id="467"/>
            <p14:sldId id="468"/>
            <p14:sldId id="469"/>
            <p14:sldId id="470"/>
          </p14:sldIdLst>
        </p14:section>
        <p14:section name="string_view" id="{1CF10CA4-A244-420E-BB58-10A26065C225}">
          <p14:sldIdLst>
            <p14:sldId id="472"/>
            <p14:sldId id="473"/>
            <p14:sldId id="526"/>
            <p14:sldId id="474"/>
            <p14:sldId id="475"/>
          </p14:sldIdLst>
        </p14:section>
        <p14:section name="std::array" id="{0F8F4EFB-5FA9-400D-A7E1-712477714273}">
          <p14:sldIdLst>
            <p14:sldId id="572"/>
            <p14:sldId id="573"/>
            <p14:sldId id="648"/>
            <p14:sldId id="628"/>
            <p14:sldId id="574"/>
            <p14:sldId id="649"/>
          </p14:sldIdLst>
        </p14:section>
        <p14:section name="std::vector" id="{19417419-128C-409B-8400-169970425166}">
          <p14:sldIdLst>
            <p14:sldId id="515"/>
            <p14:sldId id="439"/>
            <p14:sldId id="528"/>
            <p14:sldId id="629"/>
            <p14:sldId id="460"/>
            <p14:sldId id="527"/>
            <p14:sldId id="630"/>
            <p14:sldId id="631"/>
          </p14:sldIdLst>
        </p14:section>
        <p14:section name="std::deque" id="{60FE332B-B110-4FF3-BFA2-432B15873D63}">
          <p14:sldIdLst>
            <p14:sldId id="608"/>
            <p14:sldId id="444"/>
            <p14:sldId id="614"/>
            <p14:sldId id="647"/>
            <p14:sldId id="632"/>
          </p14:sldIdLst>
        </p14:section>
        <p14:section name="std::list" id="{A5A4FF76-864E-465E-8579-A18D2B7F4F4C}">
          <p14:sldIdLst>
            <p14:sldId id="615"/>
            <p14:sldId id="441"/>
            <p14:sldId id="616"/>
            <p14:sldId id="633"/>
            <p14:sldId id="529"/>
          </p14:sldIdLst>
        </p14:section>
        <p14:section name="map и multimap" id="{9F71F121-E48B-4F2D-9F8F-CDCA3BB4CB03}">
          <p14:sldIdLst>
            <p14:sldId id="634"/>
            <p14:sldId id="445"/>
            <p14:sldId id="617"/>
            <p14:sldId id="654"/>
            <p14:sldId id="485"/>
            <p14:sldId id="484"/>
          </p14:sldIdLst>
        </p14:section>
        <p14:section name="unordered_map and multimap" id="{BF4F265B-3FF9-4CC4-8687-13CE4E0B4D7E}">
          <p14:sldIdLst>
            <p14:sldId id="609"/>
            <p14:sldId id="618"/>
            <p14:sldId id="463"/>
            <p14:sldId id="655"/>
          </p14:sldIdLst>
        </p14:section>
        <p14:section name="LRU Cache" id="{0428F48D-48FC-462E-8424-5EA3CEA07ED4}">
          <p14:sldIdLst>
            <p14:sldId id="653"/>
            <p14:sldId id="650"/>
            <p14:sldId id="651"/>
            <p14:sldId id="652"/>
          </p14:sldIdLst>
        </p14:section>
        <p14:section name="std::set и std::multiset" id="{4CBF051A-93D3-41B2-8912-7A35AA64292B}">
          <p14:sldIdLst>
            <p14:sldId id="612"/>
            <p14:sldId id="619"/>
            <p14:sldId id="448"/>
          </p14:sldIdLst>
        </p14:section>
        <p14:section name="Unordered_set и multiset" id="{E69A7D3D-8B3A-443D-9CF8-9548F8143991}">
          <p14:sldIdLst>
            <p14:sldId id="656"/>
            <p14:sldId id="657"/>
            <p14:sldId id="658"/>
            <p14:sldId id="659"/>
          </p14:sldIdLst>
        </p14:section>
        <p14:section name="std::function" id="{58ADE0C4-4BF3-452D-A20A-E6B3C155B7C0}">
          <p14:sldIdLst>
            <p14:sldId id="579"/>
            <p14:sldId id="620"/>
            <p14:sldId id="581"/>
            <p14:sldId id="582"/>
            <p14:sldId id="583"/>
            <p14:sldId id="635"/>
            <p14:sldId id="637"/>
            <p14:sldId id="638"/>
            <p14:sldId id="636"/>
            <p14:sldId id="639"/>
            <p14:sldId id="640"/>
            <p14:sldId id="584"/>
            <p14:sldId id="585"/>
            <p14:sldId id="586"/>
            <p14:sldId id="587"/>
            <p14:sldId id="588"/>
            <p14:sldId id="589"/>
            <p14:sldId id="590"/>
            <p14:sldId id="621"/>
            <p14:sldId id="591"/>
            <p14:sldId id="593"/>
            <p14:sldId id="594"/>
            <p14:sldId id="625"/>
            <p14:sldId id="595"/>
            <p14:sldId id="449"/>
            <p14:sldId id="530"/>
            <p14:sldId id="596"/>
            <p14:sldId id="531"/>
            <p14:sldId id="532"/>
            <p14:sldId id="613"/>
            <p14:sldId id="622"/>
            <p14:sldId id="605"/>
            <p14:sldId id="603"/>
            <p14:sldId id="604"/>
            <p14:sldId id="606"/>
            <p14:sldId id="597"/>
            <p14:sldId id="450"/>
            <p14:sldId id="643"/>
            <p14:sldId id="451"/>
            <p14:sldId id="598"/>
            <p14:sldId id="599"/>
            <p14:sldId id="452"/>
            <p14:sldId id="600"/>
            <p14:sldId id="545"/>
            <p14:sldId id="454"/>
            <p14:sldId id="455"/>
            <p14:sldId id="456"/>
            <p14:sldId id="543"/>
            <p14:sldId id="544"/>
            <p14:sldId id="641"/>
            <p14:sldId id="525"/>
            <p14:sldId id="279"/>
            <p14:sldId id="533"/>
            <p14:sldId id="534"/>
            <p14:sldId id="644"/>
            <p14:sldId id="646"/>
            <p14:sldId id="6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722E03-E50A-125D-914E-77E41B71B406}" name="Alexey Malov" initials="AM" userId="S::alexey.malov@ispring.com::84d975bf-7581-4e72-b098-b36a7b6fbb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956" autoAdjust="0"/>
  </p:normalViewPr>
  <p:slideViewPr>
    <p:cSldViewPr>
      <p:cViewPr varScale="1">
        <p:scale>
          <a:sx n="59" d="100"/>
          <a:sy n="59" d="100"/>
        </p:scale>
        <p:origin x="1950" y="2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-21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gs" Target="tags/tag1.xml"/><Relationship Id="rId129" Type="http://schemas.microsoft.com/office/2018/10/relationships/authors" Target="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pPr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Стандартная библиотека C++ — это часть стандарта языка. Она поставляется вместе с реализацией компилятора и предоставляет готовые решения для большинства типовых задач.</a:t>
            </a:r>
          </a:p>
          <a:p>
            <a:endParaRPr lang="ru-RU" dirty="0"/>
          </a:p>
          <a:p>
            <a:r>
              <a:rPr lang="ru-RU" dirty="0"/>
              <a:t>В неё входят контейнеры, алгоритмы, строки, средства многопоточности, управление памятью, ввод-вывод, работа со временем и числами.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идея стандартной библиотеки — не писать заново то, что уже реализовано и хорошо протестировано.</a:t>
            </a:r>
          </a:p>
          <a:p>
            <a:endParaRPr lang="ru-RU" dirty="0"/>
          </a:p>
          <a:p>
            <a:r>
              <a:rPr lang="ru-RU" dirty="0"/>
              <a:t>В современном C++ большая часть прикладного кода строится вокруг стандартной библиотеки, а не вокруг «голого» языка.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940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Контейнеры — это классы стандартной библиотеки, предназначенные для хранения набора элементов одного типа.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Они реализованы как шаблоны, поэтому могут работать практически с любыми типами данных.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Контейнеры делятся на две основные группы: последовательные и ассоциативные.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Последовательные контейнеры хранят элементы в определённом порядке — как список или массив.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Ассоциативные контейнеры организуют элементы по ключу и обеспечивают быстрый поиск.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Контейнеры — это фундамент современной разработки на C++. В большинстве программ используются именно они, а не «сырые» массивы.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67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перечислены основные контейнеры стандартной библиотеки.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Последовательные контейнеры хранят элементы в определённом порядке. Самый часто используемый контейнер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который представляет собой динамический массив.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Ассоциативные контейнеры организуют элементы по ключу. Упорядоченные контейнеры поддерживают сортировку,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</a:t>
            </a:r>
            <a:r>
              <a:rPr lang="ru-RU" dirty="0"/>
              <a:t> версии работают на основе хеш-таблиц и обеспечивают более быстрый доступ в среднем случае.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Контейнеры-адаптеры — это специальные обёртки над другими контейнерами, предоставляющие ограниченный интерфейс, например стек или очередь.</a:t>
            </a:r>
          </a:p>
          <a:p>
            <a:r>
              <a:rPr lang="ru-RU" dirty="0"/>
              <a:t>В практической разработке чаще всего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0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— это класс стандартной библиотеки для работы со строками произвольной длины.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C-строк, память управляется автоматически: не нужно заботиться о выделении, освобождении и нулевом терминаторе.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самом деле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— это частный случай шаблона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basic_string</a:t>
            </a:r>
            <a:r>
              <a:rPr lang="ru-RU" dirty="0"/>
              <a:t>. Существуют и другие варианты,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wstring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Класс предоставляет богатый набор операций: конкатенацию, поиск, замену, сравнение и многое другое.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современном C++ для работы со строками почти всегда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а не массивы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273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упрощённая модель внутреннего устройства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Логически строка хранит три основных компонента:</a:t>
            </a:r>
            <a:br>
              <a:rPr lang="ru-RU" dirty="0"/>
            </a:br>
            <a:r>
              <a:rPr lang="ru-RU" dirty="0"/>
              <a:t>указатель на данные, текущий размер строки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) и выделенную ёмкость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— это количество символов, которые фактически содержатся в строке.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 — это объём памяти, выделенный под строку. Он может быть больше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, чтобы можно было добавлять символы без </a:t>
            </a:r>
            <a:r>
              <a:rPr lang="ru-RU" dirty="0" err="1"/>
              <a:t>перевыделения</a:t>
            </a:r>
            <a:r>
              <a:rPr lang="ru-RU" dirty="0"/>
              <a:t> памяти.</a:t>
            </a:r>
          </a:p>
          <a:p>
            <a:r>
              <a:rPr lang="ru-RU" dirty="0"/>
              <a:t>Данные хранятся непрерывно в памяти, как в массиве символов, и обычно завершаются нулевым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чтобы обеспечить совместимость с C-строками.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это упрощённая модель. В реальных реализациях используется так называемая </a:t>
            </a:r>
            <a:r>
              <a:rPr lang="ru-RU" b="1" dirty="0"/>
              <a:t>Small </a:t>
            </a:r>
            <a:r>
              <a:rPr lang="ru-RU" b="1" dirty="0" err="1"/>
              <a:t>String</a:t>
            </a:r>
            <a:r>
              <a:rPr lang="ru-RU" b="1" dirty="0"/>
              <a:t> </a:t>
            </a:r>
            <a:r>
              <a:rPr lang="ru-RU" b="1" dirty="0" err="1"/>
              <a:t>Optimization</a:t>
            </a:r>
            <a:r>
              <a:rPr lang="ru-RU" dirty="0"/>
              <a:t>, при которой короткие строки могут храниться прямо внутри объекта без выделения динамической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50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можно создавать разными способами.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 умолчанию создаётся пустая строка — без символов.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Строку можно инициализировать строковым литералом,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этом случае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содержащий копию текста.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Суффикс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"s"</a:t>
            </a:r>
            <a:r>
              <a:rPr lang="ru-RU" dirty="0"/>
              <a:t> из пространства имён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literals</a:t>
            </a:r>
            <a:r>
              <a:rPr lang="ru-RU" dirty="0"/>
              <a:t> позволяет создать строку напрямую как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, а не как C-строку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Можно создать строку из массива символов, указав длину — это полезно, если массив не содержит нулевого терминатора или его размер известен явно.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Также существует конструктор, создающий строку заданной длины, заполненную указанным символом,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(4, 'a')</a:t>
            </a:r>
            <a:r>
              <a:rPr lang="ru-RU" dirty="0"/>
              <a:t> создаёт строку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aaaa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предоставляет гибкий и удобный набор способов создания строк.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190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строки есть два важных свойства: </a:t>
            </a:r>
            <a:r>
              <a:rPr lang="ru-RU" b="1" dirty="0"/>
              <a:t>размер</a:t>
            </a:r>
            <a:r>
              <a:rPr lang="ru-RU" dirty="0"/>
              <a:t> и </a:t>
            </a:r>
            <a:r>
              <a:rPr lang="ru-RU" b="1" dirty="0"/>
              <a:t>вместимость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возвращают текущее количество символов в строке. Эти функции эквивалентны.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показывает, сколько символов строка может хранить без </a:t>
            </a:r>
            <a:r>
              <a:rPr lang="ru-RU" dirty="0" err="1"/>
              <a:t>перевыделения</a:t>
            </a:r>
            <a:r>
              <a:rPr lang="ru-RU" dirty="0"/>
              <a:t> памяти. Обычно больше или равен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.</a:t>
            </a:r>
          </a:p>
          <a:p>
            <a:r>
              <a:rPr lang="ru-RU" dirty="0"/>
              <a:t>В примере после удаления части строки размер уменьшается, но вместимость остаётся прежней. Это сделано для эффективности — чтобы повторное добавление символов не требовало нового выделения памяти.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проверяет, пуста ли строка,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удаляет все символы, но не обязан уменьшать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понимать: изменение размера строки не обязательно означает изменение объёма выделенной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213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можно сравнивать с помощью обычных операторов сравнения: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&gt;=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Сравнение выполняется </a:t>
            </a:r>
            <a:r>
              <a:rPr lang="ru-RU" b="1" dirty="0"/>
              <a:t>лексикографически</a:t>
            </a:r>
            <a:r>
              <a:rPr lang="ru-RU" dirty="0"/>
              <a:t>, то есть посимвольно, по кодам символов.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bbb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больше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aaa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, потому что первый отличающийся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'b'</a:t>
            </a:r>
            <a:r>
              <a:rPr lang="ru-RU" dirty="0"/>
              <a:t> больше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Сравнение чувствительно к регистру: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dirty="0"/>
              <a:t> имеют разные коды, поэтому результат может отличаться от ожидаемого с точки зрения естественного языка.</a:t>
            </a:r>
          </a:p>
          <a:p>
            <a:endParaRPr lang="ru-RU" dirty="0"/>
          </a:p>
          <a:p>
            <a:r>
              <a:rPr lang="ru-RU" dirty="0"/>
              <a:t>Также строку можно сравнивать со строковым литералом. В примере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 == s</a:t>
            </a:r>
            <a:r>
              <a:rPr lang="ru-RU" dirty="0"/>
              <a:t> корректно работает благодаря перегруженным операторам сравнения.</a:t>
            </a:r>
          </a:p>
          <a:p>
            <a:endParaRPr lang="ru-RU" dirty="0"/>
          </a:p>
          <a:p>
            <a:r>
              <a:rPr lang="ru-RU" dirty="0"/>
              <a:t>Таким образом, строки в C++ ведут себя как полноценные объекты с естественным синтаксисом сравнения.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777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можно объединять с помощью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примере создаётся новая строка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helloWorld</a:t>
            </a:r>
            <a:r>
              <a:rPr lang="ru-RU" dirty="0"/>
              <a:t>, которая содержит результат конкатенации трёх частей: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ru-RU" dirty="0"/>
              <a:t>, пробела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 добавляет текст к существующей строке, изменяя её на месте.</a:t>
            </a:r>
          </a:p>
          <a:p>
            <a:r>
              <a:rPr lang="ru-RU" dirty="0"/>
              <a:t>Также существует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</a:t>
            </a:r>
            <a:r>
              <a:rPr lang="ru-RU" dirty="0"/>
              <a:t>, который выполняет ту же задачу — добавляет содержимое к строке. Его удобно использовать в цепочке вызовов.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помнить, что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 создаёт временные объекты, поэтому при интенсивной конкатенации в циклах предпочтительнее использовать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+=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</a:t>
            </a:r>
            <a:r>
              <a:rPr lang="ru-RU" dirty="0"/>
              <a:t>, чтобы избежать лишних копирований.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988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substr</a:t>
            </a:r>
            <a:r>
              <a:rPr lang="ru-RU" dirty="0"/>
              <a:t> позволяет извлечь подстроку из строки.</a:t>
            </a:r>
          </a:p>
          <a:p>
            <a:r>
              <a:rPr lang="ru-RU" dirty="0"/>
              <a:t>Он принимает два параметра: начальную позицию и длину.</a:t>
            </a:r>
          </a:p>
          <a:p>
            <a:br>
              <a:rPr lang="ru-RU" dirty="0"/>
            </a:br>
            <a:r>
              <a:rPr lang="ru-RU" dirty="0"/>
              <a:t>Если длина не указана, подстрока берётся от указанной позиции до конца строки.</a:t>
            </a:r>
            <a:br>
              <a:rPr lang="ru-RU" dirty="0"/>
            </a:br>
            <a:r>
              <a:rPr lang="ru-RU" dirty="0"/>
              <a:t>Если не указать ни одного параметра, будет возвращена копия всей строки.</a:t>
            </a:r>
          </a:p>
          <a:p>
            <a:r>
              <a:rPr lang="ru-RU" dirty="0"/>
              <a:t>Важно помнить, что индексация начинается с нуля.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</a:t>
            </a:r>
            <a:r>
              <a:rPr lang="ru-RU" dirty="0"/>
              <a:t> имеет перегрузку, позволяющую добавить часть другой строки, указав позицию и длину. Это удобно, когда нужно работать с фрагментами текста без создания лишних временных строк.</a:t>
            </a:r>
          </a:p>
          <a:p>
            <a:endParaRPr lang="ru-RU" dirty="0"/>
          </a:p>
          <a:p>
            <a:r>
              <a:rPr lang="ru-RU" dirty="0"/>
              <a:t>Также стоит отметить,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substr</a:t>
            </a:r>
            <a:r>
              <a:rPr lang="ru-RU" dirty="0"/>
              <a:t> возвращает </a:t>
            </a:r>
            <a:r>
              <a:rPr lang="ru-RU" b="1" dirty="0"/>
              <a:t>новый объект строки</a:t>
            </a:r>
            <a:r>
              <a:rPr lang="ru-RU" dirty="0"/>
              <a:t>, то есть выполняется копирование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840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предоставляет набор методов для поиска внутри строки.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</a:t>
            </a:r>
            <a:r>
              <a:rPr lang="ru-RU" dirty="0"/>
              <a:t> ищет первое вхождение символа или подстроки и возвращает позицию. Если элемент не найден, возвращается специальное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npos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find_first_of</a:t>
            </a:r>
            <a:r>
              <a:rPr lang="ru-RU" dirty="0"/>
              <a:t> ищет первый символ, принадлежащий заданному набору — в примере это первая гласная буква.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rfind</a:t>
            </a:r>
            <a:r>
              <a:rPr lang="ru-RU" dirty="0"/>
              <a:t> выполняет поиск с конца строки и возвращает позицию последнего вхождения.</a:t>
            </a:r>
          </a:p>
          <a:p>
            <a:endParaRPr lang="ru-RU" dirty="0"/>
          </a:p>
          <a:p>
            <a:r>
              <a:rPr lang="ru-RU" dirty="0"/>
              <a:t>Также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</a:t>
            </a:r>
            <a:r>
              <a:rPr lang="ru-RU" dirty="0"/>
              <a:t> позволяет указать начальную позицию поиска. В примере поиск символа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'o'</a:t>
            </a:r>
            <a:r>
              <a:rPr lang="ru-RU" dirty="0"/>
              <a:t> начинается с позиции 5.</a:t>
            </a:r>
          </a:p>
          <a:p>
            <a:endParaRPr lang="ru-RU" dirty="0"/>
          </a:p>
          <a:p>
            <a:r>
              <a:rPr lang="ru-RU" dirty="0"/>
              <a:t>Важно помнить, что все функции поиска возвращают индекс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npos</a:t>
            </a:r>
            <a:r>
              <a:rPr lang="ru-RU" dirty="0"/>
              <a:t>, поэтому результат нужно проверять перед использованием.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341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replace</a:t>
            </a:r>
            <a:r>
              <a:rPr lang="ru-RU" dirty="0"/>
              <a:t> позволяет заменить часть строки другим фрагментом.</a:t>
            </a:r>
          </a:p>
          <a:p>
            <a:r>
              <a:rPr lang="ru-RU" dirty="0"/>
              <a:t>В первом примере первые пять символов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заменяются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Goodbye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Во втором примере используется перегрузка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replace</a:t>
            </a:r>
            <a:r>
              <a:rPr lang="ru-RU" dirty="0"/>
              <a:t>, которая позволяет вставить подстроку другой строки —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ru-RU" dirty="0"/>
              <a:t> берётся фрагмент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и подставляется вместо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символы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хранятся </a:t>
            </a:r>
            <a:r>
              <a:rPr lang="ru-RU" b="1" dirty="0"/>
              <a:t>непрерывно</a:t>
            </a:r>
            <a:r>
              <a:rPr lang="ru-RU" dirty="0"/>
              <a:t> в памяти.</a:t>
            </a:r>
            <a:br>
              <a:rPr lang="ru-RU" dirty="0"/>
            </a:br>
            <a:r>
              <a:rPr lang="ru-RU" dirty="0"/>
              <a:t>Если длина заменяемого фрагмента и длина строки-заменителя различаются, оставшиеся символы будут сдвинуты влево или вправо.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коротких строк это несущественно, но для очень длинных строк такие операции могут быть дорогими по времени, особенно если выполнять их многократно.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при большом количестве замен часто эффективнее создавать новую строку по частям — добавляя нужные фрагменты — вместо того чтобы многократно модифицировать одну и ту же строку.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263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— это лёгкий объект, представляющий строку без владения данными.</a:t>
            </a:r>
          </a:p>
          <a:p>
            <a:r>
              <a:rPr lang="ru-RU" dirty="0"/>
              <a:t>Он не выделяет память и не копирует символы. Фактически внутри хранится указатель на начало данных и длина.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предназначен только для чтения — через него нельзя изменять символы.</a:t>
            </a:r>
          </a:p>
          <a:p>
            <a:r>
              <a:rPr lang="ru-RU" dirty="0"/>
              <a:t>Главное правило: объект, на который ссылается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, должен жить дольше самого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Если исходная строка уничтожена или изменена таким образом, что память перераспределена, использовать старый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нельзя.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особенно полезен для передачи строк в функции без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886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 упрощённое внутреннее устройство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не хранит строку целиком.</a:t>
            </a:r>
            <a:br>
              <a:rPr lang="ru-RU" dirty="0"/>
            </a:br>
            <a:r>
              <a:rPr lang="ru-RU" dirty="0"/>
              <a:t>Он содержит всего два поля: указатель на данные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) и размер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).</a:t>
            </a:r>
          </a:p>
          <a:p>
            <a:r>
              <a:rPr lang="ru-RU" dirty="0"/>
              <a:t>В примере показана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 WORLD"</a:t>
            </a:r>
            <a:r>
              <a:rPr lang="ru-RU" dirty="0"/>
              <a:t>, и два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, каждый из которых ссылается на свою часть этой строки — один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, второй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"WORLD"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Сами символы не копируются. Оба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просто указывают на разные участки одной и той же памяти.</a:t>
            </a:r>
          </a:p>
          <a:p>
            <a:r>
              <a:rPr lang="ru-RU" dirty="0"/>
              <a:t>Важно понимать: 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и C-строк,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</a:t>
            </a:r>
            <a:r>
              <a:rPr lang="ru-RU" b="1" dirty="0"/>
              <a:t>не гарантирует наличие завершающего символа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'\0’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Он хранит длину явно, поэтому конец определяется значением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, а не нулевым символом.</a:t>
            </a:r>
          </a:p>
          <a:p>
            <a:r>
              <a:rPr lang="ru-RU" dirty="0"/>
              <a:t>Это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лёгким и эффективным, но требует аккуратности</a:t>
            </a:r>
            <a:r>
              <a:rPr lang="en-US" dirty="0"/>
              <a:t>:</a:t>
            </a:r>
            <a:r>
              <a:rPr lang="ru-RU" dirty="0"/>
              <a:t> передавать </a:t>
            </a:r>
            <a:r>
              <a:rPr lang="en-US" dirty="0" err="1"/>
              <a:t>string_view</a:t>
            </a:r>
            <a:r>
              <a:rPr lang="en-US" dirty="0"/>
              <a:t> </a:t>
            </a:r>
            <a:r>
              <a:rPr lang="ru-RU" dirty="0"/>
              <a:t>в функции, ожидающие C-строку,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39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можно создать из любого непрерывного участка памяти, содержащего символы.</a:t>
            </a:r>
          </a:p>
          <a:p>
            <a:endParaRPr lang="ru-RU" dirty="0"/>
          </a:p>
          <a:p>
            <a:r>
              <a:rPr lang="ru-RU" dirty="0"/>
              <a:t>В первом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</a:t>
            </a:r>
            <a:r>
              <a:rPr lang="ru-RU" dirty="0"/>
              <a:t> создаётся из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ru-RU" dirty="0"/>
              <a:t>, при этом указывается длина.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dirty="0"/>
              <a:t> не копирует данные, а просто хранит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ru-RU" dirty="0"/>
              <a:t> и размер 5.</a:t>
            </a:r>
          </a:p>
          <a:p>
            <a:endParaRPr lang="ru-RU" dirty="0"/>
          </a:p>
          <a:p>
            <a:r>
              <a:rPr lang="ru-RU" dirty="0"/>
              <a:t>Во втором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создаётся из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 В этом случае он ссылается на те же данные, что и строка — это видно по совпадению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Также можно создать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вручную, указав указатель и длину, например взять только первые четыре символа строки.</a:t>
            </a:r>
          </a:p>
          <a:p>
            <a:endParaRPr lang="ru-RU" dirty="0"/>
          </a:p>
          <a:p>
            <a:r>
              <a:rPr lang="ru-RU" dirty="0"/>
              <a:t>Главная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— это лёгкое представление уже существующих данных. Он не владеет памятью и не управляет её временем жизни.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88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типичное применение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— разбор строки без копирования.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строка URL. Вместо того чтобы создавать новые объекты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для схемы и домена, 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, которые просто ссылаются на соответствующие участки исходной строки.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</a:t>
            </a:r>
            <a:r>
              <a:rPr lang="ru-RU" dirty="0"/>
              <a:t> указывает на первые четыре символа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</a:t>
            </a:r>
            <a:r>
              <a:rPr lang="ru-RU" dirty="0"/>
              <a:t> указывает на часть строки, начиная с позиции 7, длиной 19 символов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"en.cppreference.com"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Ни одна из этих операций не выделяет память и не копирует символы. Мы просто создаём «окна» поверх уже существующей строки.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string_view</a:t>
            </a:r>
            <a:r>
              <a:rPr lang="ru-RU" dirty="0"/>
              <a:t> особенно полезным при парсинге текста, разборе протоколов, логов и других строк большого размера.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помнить: исходная строка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ru-RU" dirty="0"/>
              <a:t> должна существовать всё время, пока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770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— это контейнер фиксированного размера, представляющий собой безопасную и удобную альтернативу обычным C-массивам.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C-массива,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— полноценный объект. Он знает свой размер, поддерживает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может использоваться с алгоритмами стандартной библиотеки.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Поскольку это обычный объект, его можно передавать и возвращать из функции по значению, помещать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optional</a:t>
            </a:r>
            <a:r>
              <a:rPr lang="ru-RU" dirty="0"/>
              <a:t>, хранить в других контейнерах.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507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и C-массив выглядят похоже, но ведут себя принципиально по-разному.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C-массив — это просто участок памяти. Он не знает своего размера и при передаче в функцию «распадается» в указатель.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— это полноценный объект. Он хранит размер, поддерживает методы, копируется целиком и корректно передаётся в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поддерживает стандартные алгоритмы и операторы сравнения.</a:t>
            </a:r>
          </a:p>
          <a:p>
            <a:r>
              <a:rPr lang="ru-RU" dirty="0"/>
              <a:t>В современном C++ для массивов фиксированного размера рекомендуется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, а не C-массивы.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8431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, как и у других контейнеров стандартной библиотеки, есть два способа доступа к элементам.</a:t>
            </a:r>
          </a:p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не выполняет проверку границ. Если индекс выходит за пределы массива, поведение будет неопределённым.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выполняет проверку индекса и, если он некорректен, выбрасывает исключение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out_of_range</a:t>
            </a:r>
            <a:r>
              <a:rPr lang="ru-RU" dirty="0"/>
              <a:t>.</a:t>
            </a:r>
          </a:p>
          <a:p>
            <a:r>
              <a:rPr lang="ru-RU" dirty="0"/>
              <a:t>В этом примере пользователь вводит индекс. Если он выходит за пределы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fibNumbers</a:t>
            </a:r>
            <a:r>
              <a:rPr lang="ru-RU" dirty="0"/>
              <a:t>,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генерирует исключение, которое перехватывается в блоке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более безопасный способ доступа к элементам, особенно когда индекс получен из внешнего ввода или не гарантированно корректен.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562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используется для представления матрицы 3×3.</a:t>
            </a:r>
          </a:p>
          <a:p>
            <a:r>
              <a:rPr lang="ru-RU" dirty="0"/>
              <a:t>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Matrix3x3</a:t>
            </a:r>
            <a:r>
              <a:rPr lang="ru-RU" dirty="0"/>
              <a:t> объявлен как вложенный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: это массив из трёх строк, каждая из которых сама является массивом из трёх элементов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Матрица инициализируется значениями по умолчанию — фигурные скобки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 заполняют все элементы нулями.</a:t>
            </a:r>
          </a:p>
          <a:p>
            <a:r>
              <a:rPr lang="ru-RU" dirty="0"/>
              <a:t>Затем устанавливаются элементы главной диагонали, и получается единичная матрица.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PrintMatrix</a:t>
            </a:r>
            <a:r>
              <a:rPr lang="ru-RU" dirty="0"/>
              <a:t> принимает матрицу по константной ссылке, чтобы избежать копирования, и использует </a:t>
            </a:r>
            <a:r>
              <a:rPr lang="ru-RU" dirty="0" err="1"/>
              <a:t>range-based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для удобного обхода элементов.</a:t>
            </a:r>
          </a:p>
          <a:p>
            <a:endParaRPr lang="ru-RU" dirty="0"/>
          </a:p>
          <a:p>
            <a:r>
              <a:rPr lang="ru-RU" dirty="0"/>
              <a:t>Этот пример показывает,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можно удобно использовать для структурированных данных фиксированного размера, сохраняя при этом совместимость со стандартными алгоритмами и безопасный интерфейс контейнера.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2640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to_array</a:t>
            </a:r>
            <a:r>
              <a:rPr lang="ru-RU" dirty="0"/>
              <a:t> — функция C++20, которая удобна, когда у нас есть </a:t>
            </a:r>
            <a:r>
              <a:rPr lang="ru-RU" b="1" dirty="0"/>
              <a:t>C-массив</a:t>
            </a:r>
            <a:r>
              <a:rPr lang="ru-RU" dirty="0"/>
              <a:t> или строковый литерал, и мы хотим получить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с автоматически выведенными типом и размером.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помнить,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to_array</a:t>
            </a:r>
            <a:r>
              <a:rPr lang="ru-RU" dirty="0"/>
              <a:t> не предназначен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— он принимает только массивы вида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T[N]</a:t>
            </a:r>
            <a:r>
              <a:rPr lang="ru-RU" dirty="0"/>
              <a:t>. Если у нас уже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, то для получения копии достаточно обычного копирования или присваивания.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Отдельный нюанс: при создании из строкового литерала в массив попадает и завершающий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поэтому размер будет на один больше числа видимых символов.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436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— это динамический массив стандартной библиотеки и один из самых часто используемых контейнеров в C++.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, его размер может изменяться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Элементы хранятся непрерывно в памяти, как в обычном массиве, поэтому доступ по индексу выполняется быстро.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автоматически управляет памятью: при необходимости он увеличивает вместимость и перераспределяет данные.</a:t>
            </a:r>
          </a:p>
          <a:p>
            <a:endParaRPr lang="ru-RU" dirty="0"/>
          </a:p>
          <a:p>
            <a:r>
              <a:rPr lang="ru-RU" dirty="0"/>
              <a:t>В современной практике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используется гораздо чаще, чем C-массивы или даже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, когда размер не известен заранее.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1611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упрощённая модель внутреннего устройства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Логически вектор хранит три основных параметра: указатель на данные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), текущий размер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) и вместимость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— это количество элементов, которые фактически находятся в контейнере.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 — это количество элементов, для которых уже выделена память.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На рисунке видно, что размер равен 4, а вместимость — 11. Это означает, что ещё можно добавить элементы без </a:t>
            </a:r>
            <a:r>
              <a:rPr lang="ru-RU" dirty="0" err="1"/>
              <a:t>перевыделения</a:t>
            </a:r>
            <a:r>
              <a:rPr lang="ru-RU" dirty="0"/>
              <a:t> памяти.</a:t>
            </a:r>
          </a:p>
          <a:p>
            <a:r>
              <a:rPr lang="ru-RU" dirty="0"/>
              <a:t>Элементы хранятся </a:t>
            </a:r>
            <a:r>
              <a:rPr lang="ru-RU" b="1" dirty="0"/>
              <a:t>непрерывно в памяти</a:t>
            </a:r>
            <a:r>
              <a:rPr lang="ru-RU" dirty="0"/>
              <a:t>, как в обычном массиве. Благодаря этому обеспечивается быстрый доступ по индексу.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достигает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, при добавлении нового элемента вектор выделяет новый, больший блок памяти, копирует или перемещает туда элементы и освобождает старый блок.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добавление элементов в конец обычно эффективно, но иногда может быть дорогой операцией из-за перераспределения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880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типичное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</a:t>
            </a:r>
          </a:p>
          <a:p>
            <a:r>
              <a:rPr lang="ru-RU" dirty="0"/>
              <a:t>Сначала создаётся пустой вектор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numbers</a:t>
            </a:r>
            <a:r>
              <a:rPr lang="ru-RU" dirty="0"/>
              <a:t>. Затем в цикле читаются числа из стандартного ввода и добавляются в конец контейнера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. Размер вектора автоматически увеличивается по мере добавления элементов.</a:t>
            </a:r>
          </a:p>
          <a:p>
            <a:endParaRPr lang="ru-RU" dirty="0"/>
          </a:p>
          <a:p>
            <a:r>
              <a:rPr lang="ru-RU" dirty="0"/>
              <a:t>После ввода выводится количество считанных чисел —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текущее количество элементов.</a:t>
            </a:r>
          </a:p>
          <a:p>
            <a:r>
              <a:rPr lang="ru-RU" dirty="0"/>
              <a:t>Далее массив разворачивается вручную: элементы попарно меняются местами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. Обратите внимание на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numbers.size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- i - 1</a:t>
            </a:r>
            <a:r>
              <a:rPr lang="ru-RU" dirty="0"/>
              <a:t>, которое даёт индекс симметричного элемента с конца.</a:t>
            </a:r>
          </a:p>
          <a:p>
            <a:endParaRPr lang="ru-RU" dirty="0"/>
          </a:p>
          <a:p>
            <a:r>
              <a:rPr lang="ru-RU" dirty="0"/>
              <a:t>Однако для такой задачи в стандартной библиотеке уже есть готовый алгоритм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reverse</a:t>
            </a:r>
            <a:r>
              <a:rPr lang="ru-RU" dirty="0"/>
              <a:t>, который работает почти со всеми контейнерами, поддерживающими итераторы.</a:t>
            </a:r>
          </a:p>
          <a:p>
            <a:endParaRPr lang="ru-RU" dirty="0"/>
          </a:p>
          <a:p>
            <a:r>
              <a:rPr lang="ru-RU" dirty="0"/>
              <a:t>Этот пример показывает,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удобно использовать для хранения произвольного количества элементов и обработки их стандартными алгоритмами.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9861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используется для хранения объектов пользовательского типа —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Вектор инициализируется списком значений. Это удобно и читаемо: элементы создаются прямо в фигурных скобках.</a:t>
            </a:r>
          </a:p>
          <a:p>
            <a:r>
              <a:rPr lang="ru-RU" dirty="0"/>
              <a:t>В первом цикле элементы перебираются по ссылке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</a:t>
            </a:r>
            <a:r>
              <a:rPr lang="ru-RU" dirty="0"/>
              <a:t>. Это позволяет избежать копирования объектов и работать напрямую с элементами контейнера.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Далее вычисляется центр масс точек: суммируются координаты всех элементов, после чего делится на количество точек, которое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points.size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показывает,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может хранить не только простые типы, но и структуры и классы, и является удобным контейнером для работы с наборами объектов.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68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вектору не хватает памяти при добавлении нового элемента, он автоматически увеличивает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. При этом выделяется новый блок памяти, элементы переносятся туда, а старый блок освобождается.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Добавление элемента в конец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) имеет </a:t>
            </a:r>
            <a:r>
              <a:rPr lang="ru-RU" b="1" dirty="0"/>
              <a:t>амортизированную сложность O(1)</a:t>
            </a:r>
            <a:r>
              <a:rPr lang="ru-RU" dirty="0"/>
              <a:t>. Это означает, что большинство операций быстрые, но иногда происходит дорогое перераспределение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ru-RU" dirty="0"/>
              <a:t> позволяет заранее выделить память под заданное количество элементов, не изменяя текущий размер вектора.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особенно полезно, когда заранее известно примерное количество элементов. В таком случае можно избежать множества перераспределений памяти и существенно ускорить выполнение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помнить: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ru-RU" dirty="0"/>
              <a:t> изменяет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, но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. Элементы по-прежнему добавляются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7606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важное свойство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— </a:t>
            </a:r>
            <a:r>
              <a:rPr lang="ru-RU" dirty="0" err="1"/>
              <a:t>инвалидация</a:t>
            </a:r>
            <a:r>
              <a:rPr lang="ru-RU" dirty="0"/>
              <a:t> ссылок и итераторов.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вектор перераспределяет память, например 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,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</a:t>
            </a:r>
            <a:r>
              <a:rPr lang="ru-RU" dirty="0"/>
              <a:t> исчерпана, то </a:t>
            </a:r>
            <a:r>
              <a:rPr lang="ru-RU" b="1" dirty="0"/>
              <a:t>все</a:t>
            </a:r>
            <a:r>
              <a:rPr lang="ru-RU" dirty="0"/>
              <a:t> ранее полученные указатели, ссылки и итераторы становятся недействительными.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происходит потому, что элементы перемещаются в новый участок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перераспределения не произошло, ситуация мягче: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 </a:t>
            </a:r>
            <a:r>
              <a:rPr lang="ru-RU" dirty="0" err="1"/>
              <a:t>инвалидирует</a:t>
            </a:r>
            <a:r>
              <a:rPr lang="ru-RU" dirty="0"/>
              <a:t> только итератор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erase</a:t>
            </a:r>
            <a:r>
              <a:rPr lang="ru-RU" dirty="0"/>
              <a:t> — итератор на удалённый элемент и все последующие.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Использование </a:t>
            </a:r>
            <a:r>
              <a:rPr lang="ru-RU" dirty="0" err="1"/>
              <a:t>инвалидированных</a:t>
            </a:r>
            <a:r>
              <a:rPr lang="ru-RU" dirty="0"/>
              <a:t> ссылок и итераторов приводит к неопределённому поведению — программа может работать некорректно или </a:t>
            </a:r>
            <a:r>
              <a:rPr lang="ru-RU" dirty="0" err="1"/>
              <a:t>аварийно</a:t>
            </a:r>
            <a:r>
              <a:rPr lang="ru-RU" dirty="0"/>
              <a:t> завершиться.</a:t>
            </a:r>
          </a:p>
          <a:p>
            <a:endParaRPr lang="ru-RU" dirty="0"/>
          </a:p>
          <a:p>
            <a:r>
              <a:rPr lang="ru-RU" dirty="0"/>
              <a:t>Поэтому при работе с вектором нужно быть внимательным к операциям, которые могут изменить его вместимость.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4720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сохраняем ссылки и итераторы на элементы вектора.</a:t>
            </a:r>
          </a:p>
          <a:p>
            <a:r>
              <a:rPr lang="ru-RU" dirty="0"/>
              <a:t>Сначала вектор заполняется значениями, затем получаются ссылки на первый, средний и последний элементы, а также несколько итераторов.</a:t>
            </a:r>
          </a:p>
          <a:p>
            <a:r>
              <a:rPr lang="ru-RU" dirty="0"/>
              <a:t>После этого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ru-RU" dirty="0"/>
              <a:t>. Если при добавлении элемента происходит перераспределение памяти, вектор выделяет новый блок памяти и переносит туда все элементы.</a:t>
            </a:r>
          </a:p>
          <a:p>
            <a:r>
              <a:rPr lang="ru-RU" dirty="0"/>
              <a:t>В результате </a:t>
            </a:r>
            <a:r>
              <a:rPr lang="ru-RU" b="1" dirty="0"/>
              <a:t>все ранее полученные ссылки и итераторы становятся недействительными</a:t>
            </a:r>
            <a:r>
              <a:rPr lang="ru-RU" dirty="0"/>
              <a:t>. Они указывают на старый участок памяти, который уже не принадлежит вектору.</a:t>
            </a:r>
          </a:p>
          <a:p>
            <a:r>
              <a:rPr lang="ru-RU" dirty="0"/>
              <a:t>Использовать такие ссылки и итераторы нельзя — это приведёт к неопределённому поведению.</a:t>
            </a:r>
          </a:p>
          <a:p>
            <a:r>
              <a:rPr lang="ru-RU" dirty="0"/>
              <a:t>Главный вывод: если вы сохраняете ссылки или итераторы на элементы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нужно быть уверенным, что после этого не произойдёт операций, способных вызвать перераспределение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107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— это двусторонняя очередь, которая по интерфейсу похожа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но имеет важные отличия.</a:t>
            </a:r>
          </a:p>
          <a:p>
            <a:endParaRPr lang="ru-RU" dirty="0"/>
          </a:p>
          <a:p>
            <a:r>
              <a:rPr lang="ru-RU" dirty="0"/>
              <a:t>Главное преимущество — эффективная вставка и удаление элементов как в конце, так и в начале контейнера.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вставка в начало требует сдвига всех элементов, а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эта операция выполняется эффективно.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элементы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не хранятся в одном непрерывном блоке памяти. Обычно используется набор блоков фиксированного размера. Поэтому нельзя, например, получить один непрерывный массив данных.</a:t>
            </a:r>
          </a:p>
          <a:p>
            <a:r>
              <a:rPr lang="ru-RU" dirty="0"/>
              <a:t>При этом доступ по индексу остаётся константным по времени — так же быстро, как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Добавление элементов в начало или конец не </a:t>
            </a:r>
            <a:r>
              <a:rPr lang="ru-RU" dirty="0" err="1"/>
              <a:t>инвалидирует</a:t>
            </a:r>
            <a:r>
              <a:rPr lang="ru-RU" dirty="0"/>
              <a:t> ссылки и итераторы на существующие элементы, что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удобным в сценариях с частыми вставками с обеих сторон.</a:t>
            </a:r>
          </a:p>
          <a:p>
            <a:endParaRPr lang="ru-RU" dirty="0"/>
          </a:p>
          <a:p>
            <a:r>
              <a:rPr lang="ru-RU" dirty="0"/>
              <a:t>Для использования контейнера нужно подключить заголовочный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83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показан один из возможных вариантов контейнера </a:t>
            </a:r>
            <a:r>
              <a:rPr lang="en-US" dirty="0"/>
              <a:t>deque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Элементы в нём хранятся не в одном, а в нескольких блоках фиксированного размера, указатели на которых хранятся в отдельном массиве </a:t>
            </a:r>
            <a:r>
              <a:rPr lang="en-US" dirty="0" err="1"/>
              <a:t>m_map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вставке в конец очереди блоки заполняются слева направо, а при вставке в начало – справа налево.</a:t>
            </a:r>
          </a:p>
          <a:p>
            <a:endParaRPr lang="ru-RU" dirty="0"/>
          </a:p>
          <a:p>
            <a:r>
              <a:rPr lang="ru-RU" dirty="0"/>
              <a:t>Поле </a:t>
            </a:r>
            <a:r>
              <a:rPr lang="en-US" dirty="0" err="1"/>
              <a:t>m_offset</a:t>
            </a:r>
            <a:r>
              <a:rPr lang="en-US" dirty="0"/>
              <a:t> </a:t>
            </a:r>
            <a:r>
              <a:rPr lang="ru-RU" dirty="0"/>
              <a:t>хранит смещение до первого элемента очереди, а поле </a:t>
            </a:r>
            <a:r>
              <a:rPr lang="en-US" dirty="0" err="1"/>
              <a:t>m_size</a:t>
            </a:r>
            <a:r>
              <a:rPr lang="en-US" dirty="0"/>
              <a:t> – </a:t>
            </a:r>
            <a:r>
              <a:rPr lang="ru-RU" dirty="0"/>
              <a:t>количество элементов в ней.</a:t>
            </a:r>
          </a:p>
          <a:p>
            <a:endParaRPr lang="ru-RU" dirty="0"/>
          </a:p>
          <a:p>
            <a:r>
              <a:rPr lang="ru-RU" dirty="0"/>
              <a:t>Для ускорения доступа к элементам размер</a:t>
            </a:r>
            <a:r>
              <a:rPr lang="en-US" dirty="0"/>
              <a:t> </a:t>
            </a:r>
            <a:r>
              <a:rPr lang="ru-RU" dirty="0"/>
              <a:t>блока и их количество — степень двойки. Это позволяет заменить дорогостоящие операции деления и взятия остатка на более быстрые операции над битами.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03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Указатели на блоки могу храниться в закольцованном виде. Это ускоряет работу в сценариях, сочетающих вставку элементов в один конец очереди с удалением из другого конца. На слайде показана очередь, в которой элементы располагаются, начиная с блока 1, а заканчиваются внутри блока с номером 0.</a:t>
            </a:r>
          </a:p>
          <a:p>
            <a:endParaRPr lang="ru-RU" dirty="0"/>
          </a:p>
          <a:p>
            <a:r>
              <a:rPr lang="ru-RU" dirty="0"/>
              <a:t>Структура данных, используемая в контейнере </a:t>
            </a:r>
            <a:r>
              <a:rPr lang="en-US" dirty="0"/>
              <a:t>deque</a:t>
            </a:r>
            <a:r>
              <a:rPr lang="ru-RU" dirty="0"/>
              <a:t>, позволяет за константное время обратиться к элементу по его индексу.</a:t>
            </a:r>
          </a:p>
          <a:p>
            <a:endParaRPr lang="ru-RU" dirty="0"/>
          </a:p>
          <a:p>
            <a:r>
              <a:rPr lang="ru-RU" dirty="0"/>
              <a:t>Сначала нужно определить смещение </a:t>
            </a:r>
            <a:r>
              <a:rPr lang="en-US" dirty="0"/>
              <a:t>off </a:t>
            </a:r>
            <a:r>
              <a:rPr lang="ru-RU" dirty="0"/>
              <a:t>относительно самого первого элемента. Для этого индекс элемента складывается со смещением до начального элемента очереди. В нашем случае это 7 + 7 = 14.</a:t>
            </a:r>
          </a:p>
          <a:p>
            <a:endParaRPr lang="ru-RU" dirty="0"/>
          </a:p>
          <a:p>
            <a:r>
              <a:rPr lang="ru-RU" dirty="0"/>
              <a:t>Затем нужно определить номер блока, в котором располагается искомый элемент. Для этого смещение делится на размер блока, а затем, чтобы поддержать </a:t>
            </a:r>
            <a:r>
              <a:rPr lang="ru-RU" dirty="0" err="1"/>
              <a:t>закольцованность</a:t>
            </a:r>
            <a:r>
              <a:rPr lang="ru-RU" dirty="0"/>
              <a:t>, находится остаток от деления на количество блоков. Здесь нас выручает то, что размер количество блоков </a:t>
            </a:r>
            <a:r>
              <a:rPr lang="en-US" dirty="0" err="1"/>
              <a:t>m_mapSize</a:t>
            </a:r>
            <a:r>
              <a:rPr lang="en-US" dirty="0"/>
              <a:t> </a:t>
            </a:r>
            <a:r>
              <a:rPr lang="ru-RU" dirty="0"/>
              <a:t>– степень двойки. Это позволяет заменить нахождение остатка более дешёвой операцией </a:t>
            </a:r>
            <a:r>
              <a:rPr lang="en-US" dirty="0"/>
              <a:t>AND. </a:t>
            </a:r>
            <a:r>
              <a:rPr lang="ru-RU" dirty="0"/>
              <a:t>Деление на </a:t>
            </a:r>
            <a:r>
              <a:rPr lang="en-US" dirty="0" err="1"/>
              <a:t>m_blockSize</a:t>
            </a:r>
            <a:r>
              <a:rPr lang="en-US" dirty="0"/>
              <a:t> </a:t>
            </a:r>
            <a:r>
              <a:rPr lang="ru-RU" dirty="0"/>
              <a:t>можно заменить более быстрой операцией сдвига, если размер блока будет степенью двойки. В нашем случае номер блока будет равен </a:t>
            </a:r>
            <a:r>
              <a:rPr lang="en-US" dirty="0"/>
              <a:t>(</a:t>
            </a:r>
            <a:r>
              <a:rPr lang="ru-RU" dirty="0"/>
              <a:t>14 </a:t>
            </a:r>
            <a:r>
              <a:rPr lang="en-US" dirty="0"/>
              <a:t>/ 4) &amp; 3 = 3.</a:t>
            </a:r>
            <a:endParaRPr lang="ru-RU" dirty="0"/>
          </a:p>
          <a:p>
            <a:r>
              <a:rPr lang="ru-RU" dirty="0"/>
              <a:t>Смещение внутри блока </a:t>
            </a:r>
            <a:r>
              <a:rPr lang="en-US" dirty="0" err="1"/>
              <a:t>blockOff</a:t>
            </a:r>
            <a:r>
              <a:rPr lang="ru-RU" dirty="0"/>
              <a:t> находится через остаток от деления смещения на</a:t>
            </a:r>
            <a:r>
              <a:rPr lang="en-US" dirty="0"/>
              <a:t> </a:t>
            </a:r>
            <a:r>
              <a:rPr lang="ru-RU" dirty="0"/>
              <a:t>размер блока и равно 2.</a:t>
            </a:r>
          </a:p>
          <a:p>
            <a:endParaRPr lang="ru-RU" dirty="0"/>
          </a:p>
          <a:p>
            <a:r>
              <a:rPr lang="ru-RU" dirty="0"/>
              <a:t>Затем остаётся обратиться к элементу нужного блока, используя номер блока и смещение.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2667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6126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— это контейнер, реализованный как двусвязный список.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, у него нет произвольного доступа по индексу. Чтобы добраться до элемента, нужно последовательно пройти по списку.</a:t>
            </a:r>
          </a:p>
          <a:p>
            <a:endParaRPr lang="ru-RU" dirty="0"/>
          </a:p>
          <a:p>
            <a:r>
              <a:rPr lang="ru-RU" dirty="0"/>
              <a:t>Главное преимущество — вставка и удаление элементов по итератору выполняются за постоянное время, без сдвига остальных элементов.</a:t>
            </a:r>
          </a:p>
          <a:p>
            <a:endParaRPr lang="ru-RU" dirty="0"/>
          </a:p>
          <a:p>
            <a:r>
              <a:rPr lang="ru-RU" dirty="0"/>
              <a:t>Кроме того, итераторы и ссылки на элементы остаются валидными при добавлении или удалении других элементов.</a:t>
            </a:r>
          </a:p>
          <a:p>
            <a:endParaRPr lang="ru-RU" dirty="0"/>
          </a:p>
          <a:p>
            <a:r>
              <a:rPr lang="ru-RU" dirty="0"/>
              <a:t>Однако из-за отсутствия непрерывного хранения и плохой кэш-локальности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в большинстве случаев работает медленнее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 Поэтому его используют только тогда, когда действительно важны частые вставки и удаления в середине контейнера.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4776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возможная внутренняя реализация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.</a:t>
            </a:r>
          </a:p>
          <a:p>
            <a:r>
              <a:rPr lang="ru-RU" dirty="0"/>
              <a:t>Каждый элемент списка — это отдельный узел, содержащий данные и два указателя: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ru-RU" dirty="0"/>
              <a:t>, которые связывают его с соседними элементами.</a:t>
            </a:r>
          </a:p>
          <a:p>
            <a:endParaRPr lang="ru-RU" dirty="0"/>
          </a:p>
          <a:p>
            <a:r>
              <a:rPr lang="ru-RU" dirty="0"/>
              <a:t>Контейнер хранит указатели на начало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dirty="0"/>
              <a:t>) и конец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dirty="0"/>
              <a:t>). Часто используется специальный фиктивный узел — </a:t>
            </a:r>
            <a:r>
              <a:rPr lang="ru-RU" dirty="0" err="1"/>
              <a:t>sentinel</a:t>
            </a:r>
            <a:r>
              <a:rPr lang="ru-RU" dirty="0"/>
              <a:t>, который упрощает реализацию и позволяет избежать проверки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 при вставке и удалении.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элементы не хранятся непрерывно в памяти — каждый узел выделяется отдельно. Именно поэтому вставка и удаление выполняются быстро: достаточно изменить несколько указателей.</a:t>
            </a:r>
          </a:p>
          <a:p>
            <a:endParaRPr lang="ru-RU" dirty="0"/>
          </a:p>
          <a:p>
            <a:r>
              <a:rPr lang="ru-RU" dirty="0"/>
              <a:t>Однако из-за разрозненного расположения в памяти ухудшается кэш-локальность, поэтому при простом последовательном обходе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часто работает медленнее, чем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слайд помогает понять, почему операции вставки в середину списка быстрые, а произвольный доступ по индексу отсутствует.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3788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используется как список задач.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создаём список строк и выводим его содержимое.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</a:t>
            </a:r>
            <a:r>
              <a:rPr lang="ru-RU" dirty="0"/>
              <a:t> удаляет все элементы, равные заданному значению. В двусвязном списке такая операция эффективна — не требуется сдвигать остальные элементы, как это было бы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демонстрирует,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удобен, когда нужно часто удалять элементы из середины контейнера.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доступ к элементам осуществляется последовательно через итераторы — произвольного доступа по индексу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нет.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8747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графике сравнивается вставка одного миллиона элементов в конец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Лучший результат показывает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с предварительным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ru-RU" dirty="0"/>
              <a:t>. Поскольку память выделяется заранее, перераспределения не происходят, и вставка выполняется максимально быстро.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без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ru-RU" dirty="0"/>
              <a:t> работает медленнее — из-за периодических </a:t>
            </a:r>
            <a:r>
              <a:rPr lang="ru-RU" dirty="0" err="1"/>
              <a:t>перевыделений</a:t>
            </a:r>
            <a:r>
              <a:rPr lang="ru-RU" dirty="0"/>
              <a:t> памяти и копирования элементов.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deque</a:t>
            </a:r>
            <a:r>
              <a:rPr lang="ru-RU" dirty="0"/>
              <a:t> немного медленнее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но всё ещё показывает хорошую производительность.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значительно проигрывает всем остальным. Несмотря на то что вставка формально выполняется за O(1), каждый элемент выделяется отдельно в памяти, что приводит к большим накладным расходам и плохой кэш-локальности.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Главный вывод: в большинстве случаев для последовательного добавления элементов лучше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а при известном размере — обязательно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194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 — это ассоциативные контейнеры, которые хранят пары «ключ–значение».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элементы здесь автоматически упорядочены по ключу. Обычно контейнер реализован на основе сбалансированного бинарного дерева.</a:t>
            </a:r>
          </a:p>
          <a:p>
            <a:r>
              <a:rPr lang="ru-RU" dirty="0"/>
              <a:t>Все основные операции — поиск, вставка, удаление — выполняются за O(</a:t>
            </a:r>
            <a:r>
              <a:rPr lang="ru-RU" dirty="0" err="1"/>
              <a:t>log</a:t>
            </a:r>
            <a:r>
              <a:rPr lang="ru-RU" dirty="0"/>
              <a:t> n).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Разница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 в том, что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ключи должны быть уникальными,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 допускает несколько элементов с одинаковым ключом.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работы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необходимо, чтобы для типа ключа был определён строгий порядок. По умолчанию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dirty="0"/>
              <a:t>, но можно задать и свой компаратор.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0057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Красно-чёрное дерево — это разновидность самобалансирующегося бинарного дерева поиска.</a:t>
            </a:r>
          </a:p>
          <a:p>
            <a:endParaRPr lang="ru-RU" dirty="0"/>
          </a:p>
          <a:p>
            <a:r>
              <a:rPr lang="ru-RU" dirty="0"/>
              <a:t>Каждый узел дерева имеет цвет — красный или чёрный — и структура поддерживает ряд строгих правил, которые гарантируют, что дерево остаётся приблизительно сбалансированным.</a:t>
            </a:r>
          </a:p>
          <a:p>
            <a:endParaRPr lang="ru-RU" dirty="0"/>
          </a:p>
          <a:p>
            <a:r>
              <a:rPr lang="ru-RU" dirty="0"/>
              <a:t>Благодаря этим свойствам высота дерева всегда пропорциональна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</a:t>
            </a:r>
            <a:r>
              <a:rPr lang="ru-RU" dirty="0"/>
              <a:t>, поэтому операции поиска, вставки и удаления выполняются за O(</a:t>
            </a:r>
            <a:r>
              <a:rPr lang="ru-RU" dirty="0" err="1"/>
              <a:t>log</a:t>
            </a:r>
            <a:r>
              <a:rPr lang="ru-RU" dirty="0"/>
              <a:t> n).</a:t>
            </a:r>
          </a:p>
          <a:p>
            <a:endParaRPr lang="ru-RU" dirty="0"/>
          </a:p>
          <a:p>
            <a:r>
              <a:rPr lang="ru-RU" dirty="0"/>
              <a:t>Именно поэтому красно-чёрное дерево часто используется в реализации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. Оно обеспечивает: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автоматическую упорядоченность элементов,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предсказуемую асимптотику,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отсутствие деградации до линейного времени в худшем случае.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сочетает в себе упорядоченность данных и гарантированную логарифмическую сложность операций.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5289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используется для подсчёта частоты слов.</a:t>
            </a:r>
          </a:p>
          <a:p>
            <a:r>
              <a:rPr lang="ru-RU" dirty="0"/>
              <a:t>Ключом является строка — слово, а значением — количество его появлений.</a:t>
            </a:r>
          </a:p>
          <a:p>
            <a:r>
              <a:rPr lang="ru-RU" dirty="0"/>
              <a:t>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wordCount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 работает так:</a:t>
            </a:r>
            <a:br>
              <a:rPr lang="ru-RU" dirty="0"/>
            </a:br>
            <a:r>
              <a:rPr lang="ru-RU" dirty="0"/>
              <a:t>если ключа ещё нет в контейнере, он автоматически создаётся со значением по умолчанию — в данном случае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.</a:t>
            </a:r>
          </a:p>
          <a:p>
            <a:r>
              <a:rPr lang="ru-RU" dirty="0"/>
              <a:t>Поскольку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упорядочен по ключу, вывод слов происходит в лексикографическом порядке.</a:t>
            </a:r>
          </a:p>
          <a:p>
            <a:r>
              <a:rPr lang="ru-RU" dirty="0"/>
              <a:t>Этот пример демонстрирует три важных свойства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автоматическое создание элемента при обращении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логарифмическую сложность операций,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автоматическую сортировку по ключу.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2876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используется для проверки, являются ли два слова анаграммами.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BuildCharCounters</a:t>
            </a:r>
            <a:r>
              <a:rPr lang="ru-RU" dirty="0"/>
              <a:t> строит отображение символ → количество его вхождений в слове.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Если символ встречается впервые,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создаёт элемент со значением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, после чего счётчик увеличивается.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двух слов строятся два таких отображения, и затем они сравниваются оператором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.</a:t>
            </a:r>
          </a:p>
          <a:p>
            <a:r>
              <a:rPr lang="ru-RU" dirty="0"/>
              <a:t>Поскольку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хранит пары ключ–значение в упорядоченном виде, сравнение работает корректно: два слова являются анаграммами тогда и только тогда, когда частоты всех символов совпадают.</a:t>
            </a:r>
          </a:p>
          <a:p>
            <a:r>
              <a:rPr lang="ru-RU" dirty="0"/>
              <a:t>Этот пример демонстрирует: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автоматическое создание элементов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удобство сравнения контейнеров,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практическое применение ассоциативных контейнеров.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8878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 отличается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 тем, что допускает повторяющиеся ключи.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примере ключом является балл, а значением — имя студента. Несколько студентов могут иметь одинаковый результат, поэтому используется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multimap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Контейнер автоматически хранит элементы в отсортированном порядке по ключу.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получения всех элементов с одинаковым ключом используется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equal_range</a:t>
            </a:r>
            <a:r>
              <a:rPr lang="ru-RU" dirty="0"/>
              <a:t>, который возвращает диапазон итераторов.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показывает:</a:t>
            </a:r>
          </a:p>
          <a:p>
            <a:r>
              <a:rPr lang="ru-RU" dirty="0"/>
              <a:t>хранение нескольких значений по одному ключу,</a:t>
            </a:r>
          </a:p>
          <a:p>
            <a:r>
              <a:rPr lang="ru-RU" dirty="0"/>
              <a:t>автоматическую сортировку,</a:t>
            </a:r>
            <a:r>
              <a:rPr lang="en-US" dirty="0"/>
              <a:t> </a:t>
            </a:r>
            <a:r>
              <a:rPr lang="ru-RU" dirty="0"/>
              <a:t>удобную работу с диапазоном элементов.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424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unordered_multimap</a:t>
            </a:r>
            <a:r>
              <a:rPr lang="ru-RU" dirty="0"/>
              <a:t> — это ассоциативные контейнеры, основанные на хеш-таблице.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, элементы здесь не отсортированы.</a:t>
            </a:r>
            <a:br>
              <a:rPr lang="ru-RU" dirty="0"/>
            </a:br>
            <a:r>
              <a:rPr lang="ru-RU" dirty="0"/>
              <a:t>Они распределяются по корзинам — </a:t>
            </a:r>
            <a:r>
              <a:rPr lang="ru-RU" dirty="0" err="1"/>
              <a:t>bucket-ам</a:t>
            </a:r>
            <a:r>
              <a:rPr lang="ru-RU" dirty="0"/>
              <a:t> — в зависимости от хеш-значения ключа.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Основное преимущество — средняя сложность операций O(1).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Поиск и вставка обычно выполняются быстрее, чем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.</a:t>
            </a:r>
          </a:p>
          <a:p>
            <a:r>
              <a:rPr lang="ru-RU" dirty="0"/>
              <a:t>Однако:</a:t>
            </a:r>
          </a:p>
          <a:p>
            <a:r>
              <a:rPr lang="ru-RU" dirty="0"/>
              <a:t>порядок элементов не гарантируется,</a:t>
            </a:r>
          </a:p>
          <a:p>
            <a:r>
              <a:rPr lang="ru-RU" dirty="0"/>
              <a:t>в худшем случае сложность может деградировать до O(n).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Разница между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unordered_multimap</a:t>
            </a:r>
            <a:r>
              <a:rPr lang="ru-RU" dirty="0"/>
              <a:t> такая же, как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:</a:t>
            </a:r>
          </a:p>
          <a:p>
            <a:r>
              <a:rPr lang="ru-RU" dirty="0"/>
              <a:t>в первом ключи уникальны,</a:t>
            </a:r>
          </a:p>
          <a:p>
            <a:r>
              <a:rPr lang="ru-RU" dirty="0"/>
              <a:t>во втором могут повторяться.</a:t>
            </a:r>
          </a:p>
          <a:p>
            <a:r>
              <a:rPr lang="ru-RU" dirty="0"/>
              <a:t>Чтобы тип можно было использовать как ключ, для него должны быть определены:</a:t>
            </a:r>
          </a:p>
          <a:p>
            <a:r>
              <a:rPr lang="ru-RU" dirty="0"/>
              <a:t>оператор равенства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,</a:t>
            </a:r>
          </a:p>
          <a:p>
            <a:r>
              <a:rPr lang="ru-RU" dirty="0"/>
              <a:t>функция хеширования.</a:t>
            </a:r>
          </a:p>
          <a:p>
            <a:r>
              <a:rPr lang="ru-RU" dirty="0"/>
              <a:t>Чаще всего используется стандартный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hash</a:t>
            </a:r>
            <a:r>
              <a:rPr lang="ru-RU" dirty="0"/>
              <a:t>, но для пользовательских типов его нужно определить самостоятельно.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0531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возможная внутренняя организация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.</a:t>
            </a:r>
          </a:p>
          <a:p>
            <a:r>
              <a:rPr lang="ru-RU" dirty="0"/>
              <a:t>Контейнер состоит из массива корзин — </a:t>
            </a:r>
            <a:r>
              <a:rPr lang="ru-RU" dirty="0" err="1"/>
              <a:t>buckets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Каждый ключ проходит через хеш-функцию, и по полученному </a:t>
            </a:r>
            <a:r>
              <a:rPr lang="ru-RU" dirty="0" err="1"/>
              <a:t>хешу</a:t>
            </a:r>
            <a:r>
              <a:rPr lang="ru-RU" dirty="0"/>
              <a:t> определяется, в какую корзину он попадёт.</a:t>
            </a:r>
          </a:p>
          <a:p>
            <a:r>
              <a:rPr lang="ru-RU" dirty="0"/>
              <a:t>Внутри одной корзины может находиться несколько элементов — это происходит, если у разных ключей совпал </a:t>
            </a:r>
            <a:r>
              <a:rPr lang="ru-RU" dirty="0" err="1"/>
              <a:t>хеш</a:t>
            </a:r>
            <a:r>
              <a:rPr lang="ru-RU" dirty="0"/>
              <a:t> или они дали одинаковый индекс корзины. Такая ситуация называется коллизией.</a:t>
            </a:r>
          </a:p>
          <a:p>
            <a:r>
              <a:rPr lang="ru-RU" dirty="0"/>
              <a:t>Обычно элементы внутри корзины организованы в виде связанного списка или другой структуры, позволяющей хранить несколько значений.</a:t>
            </a:r>
          </a:p>
          <a:p>
            <a:r>
              <a:rPr lang="ru-RU" dirty="0"/>
              <a:t>При поиске: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Вычисляется </a:t>
            </a:r>
            <a:r>
              <a:rPr lang="ru-RU" dirty="0" err="1"/>
              <a:t>хеш</a:t>
            </a:r>
            <a:r>
              <a:rPr lang="ru-RU" dirty="0"/>
              <a:t> ключа,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Определяется корзина,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Внутри корзины выполняется сравнение по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==</a:t>
            </a:r>
            <a:r>
              <a:rPr lang="ru-RU" dirty="0"/>
              <a:t>.</a:t>
            </a:r>
          </a:p>
          <a:p>
            <a:r>
              <a:rPr lang="ru-RU" dirty="0"/>
              <a:t>Если хеш-функция хорошая и элементы распределены равномерно, операции выполняются в среднем за O(1).</a:t>
            </a:r>
          </a:p>
          <a:p>
            <a:r>
              <a:rPr lang="ru-RU" dirty="0"/>
              <a:t>Если же элементов в одной корзине становится много, производительность может ухудшиться — вплоть до линейной.</a:t>
            </a:r>
          </a:p>
          <a:p>
            <a:r>
              <a:rPr lang="ru-RU" dirty="0"/>
              <a:t>Этот слайд помогает понять, почему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быстрый в среднем, но не гарантирует логарифмическую сложность,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525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важен тем, что здесь используется </a:t>
            </a:r>
            <a:r>
              <a:rPr lang="ru-RU" b="1" dirty="0"/>
              <a:t>комбинация двух контейнеров</a:t>
            </a:r>
            <a:r>
              <a:rPr lang="ru-RU" dirty="0"/>
              <a:t> стандартной библиотеки: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обеспечивает </a:t>
            </a:r>
            <a:r>
              <a:rPr lang="ru-RU" b="1" dirty="0"/>
              <a:t>быстрый поиск по ключу</a:t>
            </a:r>
            <a:r>
              <a:rPr lang="ru-RU" dirty="0"/>
              <a:t> — в среднем за O(1).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Благодаря этому мы можем быстро узнать, есть ли элемент в кэше и получить доступ к нему.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используется для хранения элементов в порядке использования.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Самый недавно использованный элемент перемещается в начало списка, а самый «старый» находится в конце.</a:t>
            </a:r>
          </a:p>
          <a:p>
            <a:r>
              <a:rPr lang="ru-RU" dirty="0"/>
              <a:t>Когда кэш переполняется, мы просто удаляем элемент с конца списка — это и есть </a:t>
            </a:r>
            <a:r>
              <a:rPr lang="ru-RU" dirty="0" err="1"/>
              <a:t>Least</a:t>
            </a:r>
            <a:r>
              <a:rPr lang="ru-RU" dirty="0"/>
              <a:t> </a:t>
            </a:r>
            <a:r>
              <a:rPr lang="ru-RU" dirty="0" err="1"/>
              <a:t>Recently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.</a:t>
            </a:r>
          </a:p>
          <a:p>
            <a:r>
              <a:rPr lang="ru-RU" dirty="0"/>
              <a:t>Ключевой момент —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splice</a:t>
            </a:r>
            <a:r>
              <a:rPr lang="ru-RU" dirty="0"/>
              <a:t>, который позволяет перемещать элемент списка за O(1) без копирования данных.</a:t>
            </a:r>
          </a:p>
          <a:p>
            <a:r>
              <a:rPr lang="ru-RU" dirty="0"/>
              <a:t>Таким образом: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 даёт быстрый доступ,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</a:t>
            </a:r>
            <a:r>
              <a:rPr lang="ru-RU" dirty="0"/>
              <a:t> даёт быстрые перестановки и удаления,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вместе они позволяют реализовать эффективный LRU-кэш.</a:t>
            </a:r>
          </a:p>
          <a:p>
            <a:r>
              <a:rPr lang="ru-RU" dirty="0"/>
              <a:t>Это хороший пример того, как стандартные контейнеры можно комбинировать для решения реальных задач.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2200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multiset</a:t>
            </a:r>
            <a:r>
              <a:rPr lang="ru-RU" dirty="0"/>
              <a:t> — это упорядоченные контейнеры, которые хранят только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</a:t>
            </a:r>
            <a:r>
              <a:rPr lang="ru-RU" dirty="0"/>
              <a:t>, здесь нет пары «ключ–значение» — сам элемент одновременно является и ключом.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Элементы автоматически поддерживаются в отсортированном порядке.</a:t>
            </a:r>
            <a:br>
              <a:rPr lang="ru-RU" dirty="0"/>
            </a:br>
            <a:r>
              <a:rPr lang="ru-RU" dirty="0"/>
              <a:t>Обычно контейнер реализован на основе красно-чёрного дерева, поэтому основные операции выполняются за O(</a:t>
            </a:r>
            <a:r>
              <a:rPr lang="ru-RU" dirty="0" err="1"/>
              <a:t>log</a:t>
            </a:r>
            <a:r>
              <a:rPr lang="ru-RU" dirty="0"/>
              <a:t> n).</a:t>
            </a:r>
          </a:p>
          <a:p>
            <a:r>
              <a:rPr lang="ru-RU" dirty="0"/>
              <a:t>Разница между контейнерами простая: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не допускает повторяющихся значений,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multiset</a:t>
            </a:r>
            <a:r>
              <a:rPr lang="ru-RU" dirty="0"/>
              <a:t> допускает дубликаты.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Чтобы тип можно было использовать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, для него должен быть определён строгий порядок. По умолчанию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dirty="0"/>
              <a:t>, но можно передать собственный компаратор в качестве параметра шаблона.</a:t>
            </a:r>
            <a:endParaRPr lang="en-US" dirty="0"/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удобно использовать, когда нужно хранить уникальные элементы в отсортированном виде и быстро проверять наличие значения.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7499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4836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4581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unordered_set</a:t>
            </a:r>
            <a:r>
              <a:rPr lang="ru-RU" dirty="0"/>
              <a:t> используется для хранения уникальных чисел.</a:t>
            </a:r>
          </a:p>
          <a:p>
            <a:r>
              <a:rPr lang="ru-RU" dirty="0"/>
              <a:t>При вставке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элемента ещё нет — он добавляется,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уже есть — повторная вставка игнорируется.</a:t>
            </a:r>
          </a:p>
          <a:p>
            <a:r>
              <a:rPr lang="ru-RU" dirty="0"/>
              <a:t>Таким образом контейнер автоматически устраняет дубликаты.</a:t>
            </a:r>
          </a:p>
          <a:p>
            <a:r>
              <a:rPr lang="ru-RU" dirty="0"/>
              <a:t>Порядок вывода может отличаться от порядка ввода,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unordered_set</a:t>
            </a:r>
            <a:r>
              <a:rPr lang="ru-RU" dirty="0"/>
              <a:t> не хранит элементы отсортированными.</a:t>
            </a:r>
          </a:p>
          <a:p>
            <a:r>
              <a:rPr lang="ru-RU" dirty="0"/>
              <a:t>Этот пример показывает типичный сценарий использования:</a:t>
            </a:r>
            <a:br>
              <a:rPr lang="ru-RU" dirty="0"/>
            </a:br>
            <a:r>
              <a:rPr lang="ru-RU" dirty="0"/>
              <a:t>быстрая проверка уникальности и удаление повторов за среднее время O(1).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527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unordered_multiset</a:t>
            </a:r>
            <a:r>
              <a:rPr lang="ru-RU" dirty="0"/>
              <a:t> похож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unordered_set</a:t>
            </a:r>
            <a:r>
              <a:rPr lang="ru-RU" dirty="0"/>
              <a:t>, но допускает хранение одинаковых значений.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примере мы храним оценки студентов. Поскольку несколько студентов могут иметь одну и ту же оценку, используется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unordered_multiset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</a:t>
            </a:r>
            <a:r>
              <a:rPr lang="ru-RU" dirty="0"/>
              <a:t> позволяет узнать, сколько раз элемент встречается в контейнере.</a:t>
            </a:r>
          </a:p>
          <a:p>
            <a:r>
              <a:rPr lang="ru-RU" dirty="0"/>
              <a:t>Как и в других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</a:t>
            </a:r>
            <a:r>
              <a:rPr lang="ru-RU" dirty="0"/>
              <a:t>-контейнерах: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элементы не упорядочены,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операции выполняются в среднем за O(1),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порядок вывода не гарантируется.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unordered_multiset</a:t>
            </a:r>
            <a:r>
              <a:rPr lang="ru-RU" dirty="0"/>
              <a:t> удобно использовать, когда нужно хранить элементы с повторениями и быстро определять их количество.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8656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254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0667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0287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9443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89444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FE010F-E2E4-4B74-B991-7FD1A01D7B22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7338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0927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5772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8064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0746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5890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en-US" dirty="0"/>
              <a:t>C++ 17</a:t>
            </a:r>
            <a:r>
              <a:rPr lang="en-US" baseline="0" dirty="0"/>
              <a:t> </a:t>
            </a:r>
            <a:r>
              <a:rPr lang="ru-RU" baseline="0" dirty="0"/>
              <a:t>появился класс </a:t>
            </a:r>
            <a:r>
              <a:rPr lang="en-US" baseline="0" dirty="0"/>
              <a:t>optional </a:t>
            </a:r>
            <a:r>
              <a:rPr lang="ru-RU" baseline="0" dirty="0"/>
              <a:t>для хранений опциональных значений. Можно сравнить его с коробкой, которая может быть пустой, либо содержать значение.</a:t>
            </a:r>
          </a:p>
          <a:p>
            <a:r>
              <a:rPr lang="ru-RU" dirty="0"/>
              <a:t>С</a:t>
            </a:r>
            <a:r>
              <a:rPr lang="ru-RU" baseline="0" dirty="0"/>
              <a:t> небольшими модификациям этот класс перекочевал из </a:t>
            </a:r>
            <a:r>
              <a:rPr lang="en-US" baseline="0" dirty="0"/>
              <a:t>boost</a:t>
            </a:r>
            <a:r>
              <a:rPr lang="ru-RU" baseline="0" dirty="0"/>
              <a:t>.</a:t>
            </a:r>
          </a:p>
          <a:p>
            <a:r>
              <a:rPr lang="ru-RU" baseline="0" dirty="0"/>
              <a:t>Для создания объекта не используется динамическое выделение памяти.</a:t>
            </a:r>
          </a:p>
          <a:p>
            <a:r>
              <a:rPr lang="ru-RU" baseline="0" dirty="0"/>
              <a:t>Области применения этого класса – хранение значений, которые могут отсутствовать, отложенная инициализация полей класса, которые нельзя/не хочется инициализировать в конструкторе. В простейших ситуациях может использоваться для информирования об ошибке, как альтернатива исключениям и кодам возврата.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1D0F8-ED15-4C66-B45E-299497AD8983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7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226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2C55-1068-44A2-82CD-4A743E92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18CAC-FF14-4794-872A-0B5877370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36DA-9A4C-40BA-AA17-EA981E33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0F1A-1606-4B16-868A-AE460AA99932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565D-5DAF-464C-82B5-47EFB421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81BC0-D73B-43B8-8006-98D7A5B1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0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8B86-0259-498D-9F1D-890E4853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8B12-9163-4F0A-8DAE-AFB4CBC6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A382-819C-4C90-BB8B-9A3A9D80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03D-4B22-44AB-A9FC-683E08A1F747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30B75-1D6F-4808-A43F-C1338A8E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5CC4-7EFF-40D7-AD6B-048DB231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47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DFB9-1D2C-4C99-9976-80D45F82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8B29D-ACB6-4F20-A63F-AD683F65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DDFE-7665-40F4-8709-37F31AC4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E0C0F-FA6D-4425-ACAC-9C75324FDE1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35FF8-8475-420D-B26A-2BBC6975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57D3-45C8-4599-A3A4-224EF17A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7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257C-E519-4004-9664-5EE2DEEB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4FD9-045B-4C7F-988A-793C9DDD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92FC0-5215-485D-B178-1923B278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B3E4B-3202-4B3C-B276-911106E4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0DEE2-517B-46CA-B9CF-5B31396B2FAC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2B61-3FC8-4F39-8668-A4B6CF0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F1529-0A6F-472C-8162-0809B794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63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72A2-4F60-4CCD-822D-BA26D78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7310-7D32-449E-8B15-BA4AD9264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D8049-2981-4DBC-9A47-E4B3503F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0114-2659-411A-91CA-84B6FB6FD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1DACC-6CA4-48F6-AB55-E0AE146F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53C7C0-3FB7-4520-91B5-A83C85E2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98A5-7E09-4369-B71D-BB7174D80868}" type="datetime1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11D75-3F94-44BC-B9A2-007C43EB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99E5D-E837-44F0-8032-4C2DE413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47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E088-F4DC-427D-BE79-3F7232B4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4E55-A7DB-461A-B228-D9178987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32143-FDE8-4C60-98E8-A872E420E9EA}" type="datetime1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0D332-2F02-4297-803D-C24BAA7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ED2AD-5C1C-4C18-ADEC-8112D8B3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77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41CC0-6A58-46A9-8D3D-3BEC81FE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B4882-B2D5-4613-BB0B-1477E375B878}" type="datetime1">
              <a:rPr lang="ru-RU" smtClean="0"/>
              <a:t>26.02.2026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5FB09-9210-4FF3-B521-92AC0717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1D5FF-9F9B-438D-962B-19E33EA7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5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B67B-1DE1-4C38-B86C-EE4E5FE5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5E22-365F-4133-AE2C-BFE9368A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76D52-A043-43E2-878C-F0D059B73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21B72-F8F3-4BAF-9039-4FCA7A5A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2D1C8-0B2C-416B-9B25-770515041144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C61C2-EF1C-4C27-9CE7-95CD0A82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278CE-F8F6-4357-8DE5-C5A74A90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1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B80C-2148-42E9-A299-F6AFD8D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6453F-1A78-4AC8-BEE7-23D2EBA9D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AD1CC-F62E-4D14-B0B2-A5BFC0D90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C1507-4C3F-4C2A-83FD-8D1EE9B0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1F35-1062-451E-BF28-4799554B8B18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CAD7A-2676-460D-902D-1573FAD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B590-E5BD-4AA2-BDC3-280A7035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64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AE94-21A1-4EBE-A5A8-131A3D8C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64F14-09E0-466A-A888-D63A8EC8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B26F-3CBB-4723-A051-957A026F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AE17-115E-44DD-BB85-A6941AF7A369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76C5-257A-4B9E-A8CB-4E370B37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C76A-3A7C-436A-AF34-DF2DA5E8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0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5F875-DD72-4DC4-B341-AFD9F2621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1CC3C-59B8-4399-A3F8-342E1496E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A286-6C9E-4DA4-8B49-B014663B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CB7E-9ACC-42BB-A46C-3291E4570002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ED6D-C751-4EFD-A3DA-7390F9FD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5682-EF44-4A00-A3B6-4CF5ED7F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11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84AB9-7DB0-4EF3-8BF0-3BA42E72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3234E-B82A-4AAC-B0D9-04778BA6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06BE-AC98-4682-81AB-EA91CCDA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75A1F-A328-4AFF-97F1-69B0AC1874F5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F399-1978-443D-8A54-1C7438E42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86AD1-D5ED-4EF9-89A0-3ABFEAC15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01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hyperlink" Target="http://en.cppreference.com/w/cpp/string/basic_str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n.cppreference.com/w/cpp/string/basic_string_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container/arra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M1EcGTMz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vEcrGMxh8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hyperlink" Target="https://en.cppreference.com/w/cpp/container/vector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-bench.com/q/i29UtpPOU0KqnZz1y9SLl7tWFt4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hyperlink" Target="https://en.cppreference.com/w/cpp/container/deque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7.png"/><Relationship Id="rId4" Type="http://schemas.openxmlformats.org/officeDocument/2006/relationships/hyperlink" Target="https://en.cppreference.com/w/cpp/container/list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ET1j77co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-bench.com/q/W1if_qgPSZ7neHLRNylHrAwpvO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hyperlink" Target="https://en.cppreference.com/w/cpp/container/multimap/" TargetMode="External"/><Relationship Id="rId4" Type="http://schemas.openxmlformats.org/officeDocument/2006/relationships/hyperlink" Target="https://en.cppreference.com/w/cpp/container/map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saaMMn4v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6.png"/><Relationship Id="rId5" Type="http://schemas.openxmlformats.org/officeDocument/2006/relationships/hyperlink" Target="https://en.cppreference.com/w/cpp/container/unordered_multimap" TargetMode="External"/><Relationship Id="rId4" Type="http://schemas.openxmlformats.org/officeDocument/2006/relationships/hyperlink" Target="https://en.cppreference.com/w/cpp/container/unordered_map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odbolt.org/z/oYrf4hhv1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9.png"/><Relationship Id="rId5" Type="http://schemas.openxmlformats.org/officeDocument/2006/relationships/hyperlink" Target="https://en.cppreference.com/w/cpp/container/multiset" TargetMode="External"/><Relationship Id="rId4" Type="http://schemas.openxmlformats.org/officeDocument/2006/relationships/hyperlink" Target="https://en.cppreference.com/w/cpp/container/set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n.cppreference.com/w/cpp/utility/functional/function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ppinsights.io/s/6c5bdd4c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ppinsights.io/s/89499d9b" TargetMode="Externa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cppinsights.io/s/4264e60a" TargetMode="Externa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io/manip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en.cppreference.com/w/cpp/io/c/FILE#Binary_and_text_modes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named_req/OutputIterator" TargetMode="External"/><Relationship Id="rId7" Type="http://schemas.openxmlformats.org/officeDocument/2006/relationships/hyperlink" Target="https://en.cppreference.com/w/cpp/named_req/ContiguousIterator" TargetMode="External"/><Relationship Id="rId2" Type="http://schemas.openxmlformats.org/officeDocument/2006/relationships/hyperlink" Target="https://en.cppreference.com/w/cpp/named_req/InputIter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cppreference.com/w/cpp/named_req/RandomAccessIterator" TargetMode="External"/><Relationship Id="rId5" Type="http://schemas.openxmlformats.org/officeDocument/2006/relationships/hyperlink" Target="https://en.cppreference.com/w/cpp/named_req/BidirectionalIterator" TargetMode="External"/><Relationship Id="rId4" Type="http://schemas.openxmlformats.org/officeDocument/2006/relationships/hyperlink" Target="https://en.cppreference.com/w/cpp/named_req/ForwardIterator" TargetMode="Externa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range-for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MSu4VTL6jHwk4vfN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optional" TargetMode="Externa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Стандартная библиотека</a:t>
            </a:r>
            <a:r>
              <a:rPr lang="en-US" dirty="0"/>
              <a:t> C++</a:t>
            </a:r>
            <a:endParaRPr lang="ru-R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2D1941-9D5E-2886-0D8E-ACB860049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Стандартная библиотека</a:t>
            </a:r>
            <a:r>
              <a:rPr lang="en-US" dirty="0"/>
              <a:t> C++</a:t>
            </a:r>
            <a:endParaRPr lang="ru-RU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Стандартизированный набор типов, функций и компонентов,</a:t>
            </a:r>
            <a:br>
              <a:rPr lang="ru-RU" dirty="0"/>
            </a:br>
            <a:r>
              <a:rPr lang="ru-RU" dirty="0"/>
              <a:t>поставляемый вместе с реализацией C++</a:t>
            </a:r>
            <a:endParaRPr lang="en-US" dirty="0"/>
          </a:p>
          <a:p>
            <a:r>
              <a:rPr lang="ru-RU" dirty="0"/>
              <a:t>Основные компоненты</a:t>
            </a:r>
          </a:p>
          <a:p>
            <a:pPr lvl="1"/>
            <a:r>
              <a:rPr lang="ru-RU" dirty="0"/>
              <a:t>Ядро и поддержка языка</a:t>
            </a:r>
            <a:r>
              <a:rPr lang="en-US" dirty="0"/>
              <a:t>: </a:t>
            </a:r>
            <a:r>
              <a:rPr lang="ru-RU" dirty="0"/>
              <a:t>исключения</a:t>
            </a:r>
            <a:r>
              <a:rPr lang="en-US" dirty="0"/>
              <a:t>, RTTI, </a:t>
            </a:r>
            <a:r>
              <a:rPr lang="ru-RU" dirty="0"/>
              <a:t>операции сравнения, …</a:t>
            </a:r>
          </a:p>
          <a:p>
            <a:pPr lvl="1"/>
            <a:r>
              <a:rPr lang="ru-RU" dirty="0"/>
              <a:t>Контейнеры: </a:t>
            </a:r>
            <a:r>
              <a:rPr lang="en-US" dirty="0"/>
              <a:t>string, vector, array, map, deque, set, </a:t>
            </a:r>
            <a:r>
              <a:rPr lang="en-US" dirty="0" err="1"/>
              <a:t>unordered_map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list</a:t>
            </a:r>
            <a:r>
              <a:rPr lang="ru-RU" dirty="0"/>
              <a:t>, …</a:t>
            </a:r>
          </a:p>
          <a:p>
            <a:pPr lvl="1"/>
            <a:r>
              <a:rPr lang="ru-RU" dirty="0"/>
              <a:t>Алгоритмы: сортировка, поиск, преобразования</a:t>
            </a:r>
          </a:p>
          <a:p>
            <a:pPr lvl="1"/>
            <a:r>
              <a:rPr lang="ru-RU" dirty="0"/>
              <a:t>Конкурентность и параллелизм: потоки, </a:t>
            </a:r>
            <a:r>
              <a:rPr lang="en-US" dirty="0"/>
              <a:t>mutex, async</a:t>
            </a:r>
            <a:r>
              <a:rPr lang="ru-RU" dirty="0"/>
              <a:t>, …</a:t>
            </a:r>
            <a:endParaRPr lang="en-US" dirty="0"/>
          </a:p>
          <a:p>
            <a:pPr lvl="1"/>
            <a:r>
              <a:rPr lang="ru-RU" dirty="0"/>
              <a:t>Управление памятью: умные указатели (</a:t>
            </a:r>
            <a:r>
              <a:rPr lang="en-US" dirty="0" err="1"/>
              <a:t>unique_ptr</a:t>
            </a:r>
            <a:r>
              <a:rPr lang="en-US" dirty="0"/>
              <a:t>, </a:t>
            </a:r>
            <a:r>
              <a:rPr lang="en-US" dirty="0" err="1"/>
              <a:t>shared_ptr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Ввод-вывод: потоки (</a:t>
            </a:r>
            <a:r>
              <a:rPr lang="en-US" dirty="0"/>
              <a:t>iostream)</a:t>
            </a:r>
            <a:r>
              <a:rPr lang="ru-RU" dirty="0"/>
              <a:t>, файловая система (</a:t>
            </a:r>
            <a:r>
              <a:rPr lang="en-US" dirty="0"/>
              <a:t>filesystem)</a:t>
            </a:r>
          </a:p>
          <a:p>
            <a:pPr lvl="1"/>
            <a:r>
              <a:rPr lang="ru-RU" dirty="0"/>
              <a:t>Числа и время: &lt;</a:t>
            </a:r>
            <a:r>
              <a:rPr lang="en-US" dirty="0" err="1"/>
              <a:t>cmath</a:t>
            </a:r>
            <a:r>
              <a:rPr lang="en-US" dirty="0"/>
              <a:t>&gt;, &lt;complex&gt;, &lt;random&gt;</a:t>
            </a:r>
            <a:r>
              <a:rPr lang="ru-RU" dirty="0"/>
              <a:t>, </a:t>
            </a:r>
            <a:r>
              <a:rPr lang="en-US" dirty="0"/>
              <a:t>&lt;chrono&gt;</a:t>
            </a:r>
          </a:p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346B9-A176-AD9B-3516-76605791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20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Контейнеры стандартной библиотеки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Что такое контейнер</a:t>
            </a:r>
          </a:p>
          <a:p>
            <a:pPr lvl="1"/>
            <a:r>
              <a:rPr lang="ru-RU" dirty="0"/>
              <a:t>Класс для хранения набора элементов одного типа</a:t>
            </a:r>
          </a:p>
          <a:p>
            <a:r>
              <a:rPr lang="ru-RU" b="1" dirty="0"/>
              <a:t>Последовательные контейнеры</a:t>
            </a:r>
            <a:endParaRPr lang="ru-RU" dirty="0"/>
          </a:p>
          <a:p>
            <a:pPr lvl="1"/>
            <a:r>
              <a:rPr lang="en-US" dirty="0"/>
              <a:t>vector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deque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 err="1"/>
              <a:t>forward_list</a:t>
            </a:r>
            <a:endParaRPr lang="en-US" dirty="0"/>
          </a:p>
          <a:p>
            <a:r>
              <a:rPr lang="ru-RU" b="1" dirty="0"/>
              <a:t>Ассоциативные контейнеры</a:t>
            </a:r>
            <a:endParaRPr lang="ru-RU" dirty="0"/>
          </a:p>
          <a:p>
            <a:pPr lvl="1"/>
            <a:r>
              <a:rPr lang="en-US" dirty="0"/>
              <a:t>set, map</a:t>
            </a:r>
          </a:p>
          <a:p>
            <a:pPr lvl="1"/>
            <a:r>
              <a:rPr lang="en-US" dirty="0"/>
              <a:t>multiset, multimap</a:t>
            </a:r>
          </a:p>
          <a:p>
            <a:pPr lvl="1"/>
            <a:r>
              <a:rPr lang="en-US" dirty="0" err="1"/>
              <a:t>unordered_set</a:t>
            </a:r>
            <a:r>
              <a:rPr lang="en-US" dirty="0"/>
              <a:t>, </a:t>
            </a:r>
            <a:r>
              <a:rPr lang="en-US" dirty="0" err="1"/>
              <a:t>unordered_map</a:t>
            </a:r>
            <a:endParaRPr lang="ru-RU" dirty="0"/>
          </a:p>
          <a:p>
            <a:r>
              <a:rPr lang="ru-RU" b="1" dirty="0"/>
              <a:t>Особенности</a:t>
            </a:r>
          </a:p>
          <a:p>
            <a:pPr lvl="1"/>
            <a:r>
              <a:rPr lang="ru-RU" dirty="0"/>
              <a:t>Обобщённые (шаблонные) классы</a:t>
            </a:r>
          </a:p>
          <a:p>
            <a:pPr lvl="1"/>
            <a:r>
              <a:rPr lang="ru-RU" dirty="0"/>
              <a:t>Работают с элементами любого типа</a:t>
            </a:r>
          </a:p>
          <a:p>
            <a:pPr lvl="1"/>
            <a:r>
              <a:rPr lang="ru-RU" dirty="0"/>
              <a:t>Предоставляют единый интерфейс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C5172D-B5B3-EE2D-76A6-7388A154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28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Основные контейнеры стандартной библиотеки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Последовательные контейнеры</a:t>
            </a:r>
          </a:p>
          <a:p>
            <a:pPr lvl="1"/>
            <a:r>
              <a:rPr lang="en-US" b="1" dirty="0"/>
              <a:t>vector</a:t>
            </a:r>
            <a:r>
              <a:rPr lang="en-US" dirty="0"/>
              <a:t> — </a:t>
            </a:r>
            <a:r>
              <a:rPr lang="ru-RU" dirty="0"/>
              <a:t>динамический массив</a:t>
            </a:r>
          </a:p>
          <a:p>
            <a:pPr lvl="1"/>
            <a:r>
              <a:rPr lang="en-US" dirty="0"/>
              <a:t>deque — </a:t>
            </a:r>
            <a:r>
              <a:rPr lang="ru-RU" dirty="0"/>
              <a:t>двусторонняя очередь</a:t>
            </a:r>
          </a:p>
          <a:p>
            <a:pPr lvl="1"/>
            <a:r>
              <a:rPr lang="en-US" dirty="0"/>
              <a:t>list — </a:t>
            </a:r>
            <a:r>
              <a:rPr lang="ru-RU" dirty="0"/>
              <a:t>двусвязный список</a:t>
            </a:r>
          </a:p>
          <a:p>
            <a:pPr lvl="1"/>
            <a:r>
              <a:rPr lang="en-US" dirty="0" err="1"/>
              <a:t>forward_list</a:t>
            </a:r>
            <a:r>
              <a:rPr lang="en-US" dirty="0"/>
              <a:t> — </a:t>
            </a:r>
            <a:r>
              <a:rPr lang="ru-RU" dirty="0"/>
              <a:t>односвязный список</a:t>
            </a:r>
          </a:p>
          <a:p>
            <a:pPr lvl="1"/>
            <a:r>
              <a:rPr lang="en-US" dirty="0"/>
              <a:t>string (</a:t>
            </a:r>
            <a:r>
              <a:rPr lang="en-US" dirty="0" err="1"/>
              <a:t>basic_string</a:t>
            </a:r>
            <a:r>
              <a:rPr lang="en-US" dirty="0"/>
              <a:t>) — </a:t>
            </a:r>
            <a:r>
              <a:rPr lang="ru-RU" dirty="0"/>
              <a:t>строка</a:t>
            </a:r>
          </a:p>
          <a:p>
            <a:r>
              <a:rPr lang="ru-RU" dirty="0"/>
              <a:t>Ассоциативные контейнеры</a:t>
            </a:r>
          </a:p>
          <a:p>
            <a:pPr lvl="1"/>
            <a:r>
              <a:rPr lang="ru-RU" dirty="0"/>
              <a:t>Упорядоченные (на основе дерева)</a:t>
            </a:r>
          </a:p>
          <a:p>
            <a:pPr lvl="2"/>
            <a:r>
              <a:rPr lang="en-US" b="1" dirty="0"/>
              <a:t>map</a:t>
            </a:r>
            <a:r>
              <a:rPr lang="en-US" dirty="0"/>
              <a:t>, multimap</a:t>
            </a:r>
          </a:p>
          <a:p>
            <a:pPr lvl="2"/>
            <a:r>
              <a:rPr lang="en-US" dirty="0"/>
              <a:t>set, multiset</a:t>
            </a:r>
          </a:p>
          <a:p>
            <a:pPr lvl="1"/>
            <a:r>
              <a:rPr lang="ru-RU" dirty="0"/>
              <a:t>Неупорядоченные (</a:t>
            </a:r>
            <a:r>
              <a:rPr lang="en-US" dirty="0"/>
              <a:t>hash-</a:t>
            </a:r>
            <a:r>
              <a:rPr lang="ru-RU" dirty="0"/>
              <a:t>таблицы)</a:t>
            </a:r>
          </a:p>
          <a:p>
            <a:pPr lvl="2"/>
            <a:r>
              <a:rPr lang="en-US" b="1" dirty="0" err="1"/>
              <a:t>unordered_map</a:t>
            </a:r>
            <a:r>
              <a:rPr lang="en-US" dirty="0"/>
              <a:t>, </a:t>
            </a:r>
            <a:r>
              <a:rPr lang="en-US" dirty="0" err="1"/>
              <a:t>unordered_multimap</a:t>
            </a:r>
            <a:endParaRPr lang="en-US" dirty="0"/>
          </a:p>
          <a:p>
            <a:pPr lvl="2"/>
            <a:r>
              <a:rPr lang="en-US" dirty="0" err="1"/>
              <a:t>unordered_set</a:t>
            </a:r>
            <a:r>
              <a:rPr lang="en-US" dirty="0"/>
              <a:t>, </a:t>
            </a:r>
            <a:r>
              <a:rPr lang="en-US" dirty="0" err="1"/>
              <a:t>unordered_multiset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F7C275-CF1E-BE44-3E6E-E5702A18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914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07A938-AEA6-A728-E3AC-CBCECDBB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std::string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082D4E0-CA4D-6477-BF35-1F9D5D21A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6C9CC-AD88-38E6-350D-0F0A7290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1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Строка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hlinkClick r:id="rId4"/>
              </a:rPr>
              <a:t>std::string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std::string — </a:t>
            </a:r>
            <a:r>
              <a:rPr lang="ru-RU" dirty="0"/>
              <a:t>класс стандартной библиотеки для хранения и обработки строк произвольной длины</a:t>
            </a:r>
          </a:p>
          <a:p>
            <a:r>
              <a:rPr lang="ru-RU" dirty="0"/>
              <a:t>Основан на шаблоне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basic_string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CharT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ru-RU" dirty="0"/>
              <a:t>Основные варианты:</a:t>
            </a:r>
          </a:p>
          <a:p>
            <a:pPr lvl="2"/>
            <a:r>
              <a:rPr lang="en-US" dirty="0"/>
              <a:t>std::string — char</a:t>
            </a:r>
          </a:p>
          <a:p>
            <a:pPr lvl="2"/>
            <a:r>
              <a:rPr lang="en-US" dirty="0"/>
              <a:t>std::</a:t>
            </a:r>
            <a:r>
              <a:rPr lang="en-US" dirty="0" err="1"/>
              <a:t>wstring</a:t>
            </a:r>
            <a:r>
              <a:rPr lang="en-US" dirty="0"/>
              <a:t> — </a:t>
            </a:r>
            <a:r>
              <a:rPr lang="en-US" dirty="0" err="1"/>
              <a:t>wchar_t</a:t>
            </a:r>
            <a:endParaRPr lang="en-US" dirty="0"/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Автоматическое управление памятью</a:t>
            </a:r>
          </a:p>
          <a:p>
            <a:pPr lvl="1"/>
            <a:r>
              <a:rPr lang="ru-RU" dirty="0"/>
              <a:t>Динамический размер</a:t>
            </a:r>
          </a:p>
          <a:p>
            <a:pPr lvl="1"/>
            <a:r>
              <a:rPr lang="ru-RU" dirty="0"/>
              <a:t>Богатый набор операций</a:t>
            </a:r>
          </a:p>
          <a:p>
            <a:r>
              <a:rPr lang="ru-RU" dirty="0"/>
              <a:t>Подключение</a:t>
            </a:r>
          </a:p>
          <a:p>
            <a:pPr lvl="1"/>
            <a:r>
              <a:rPr lang="ru-RU" dirty="0"/>
              <a:t>#</a:t>
            </a:r>
            <a:r>
              <a:rPr lang="en-US" dirty="0"/>
              <a:t>include &lt;string&gt;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AC5BBA-E8F1-D951-0EFB-95BD333B9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432" y="4722557"/>
            <a:ext cx="2041245" cy="20595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C9733-CE63-022E-0A47-146993D8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553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C67B32-D8F7-7E2A-29F5-70C9C494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Внутреннее устройство </a:t>
            </a:r>
            <a:r>
              <a:rPr lang="en-US" dirty="0"/>
              <a:t>string*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DB4E74-030B-CFBC-2A39-1F38A6CBE00D}"/>
              </a:ext>
            </a:extLst>
          </p:cNvPr>
          <p:cNvSpPr/>
          <p:nvPr/>
        </p:nvSpPr>
        <p:spPr>
          <a:xfrm>
            <a:off x="5591944" y="2603105"/>
            <a:ext cx="5112568" cy="432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Hello, world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\0</a:t>
            </a:r>
            <a:endParaRPr lang="ru-RU" sz="1600" dirty="0">
              <a:solidFill>
                <a:schemeClr val="tx1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4997A7F-6D45-866B-D32F-F1271D787194}"/>
              </a:ext>
            </a:extLst>
          </p:cNvPr>
          <p:cNvSpPr/>
          <p:nvPr/>
        </p:nvSpPr>
        <p:spPr>
          <a:xfrm>
            <a:off x="1343472" y="2207061"/>
            <a:ext cx="2376264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4D587C-837F-C7D0-E933-934760EA65B0}"/>
              </a:ext>
            </a:extLst>
          </p:cNvPr>
          <p:cNvSpPr/>
          <p:nvPr/>
        </p:nvSpPr>
        <p:spPr>
          <a:xfrm>
            <a:off x="1489748" y="2816412"/>
            <a:ext cx="2079848" cy="4320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data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E10E48-70F2-7ABA-E389-CF6B2B1CA756}"/>
              </a:ext>
            </a:extLst>
          </p:cNvPr>
          <p:cNvSpPr/>
          <p:nvPr/>
        </p:nvSpPr>
        <p:spPr>
          <a:xfrm>
            <a:off x="1489748" y="3331800"/>
            <a:ext cx="2079848" cy="4320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size: 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9CE81B-92E0-E531-2C14-1B1B7B5793E8}"/>
              </a:ext>
            </a:extLst>
          </p:cNvPr>
          <p:cNvSpPr/>
          <p:nvPr/>
        </p:nvSpPr>
        <p:spPr>
          <a:xfrm>
            <a:off x="1476314" y="2301024"/>
            <a:ext cx="2079848" cy="43204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capacity</a:t>
            </a:r>
            <a:r>
              <a:rPr lang="en-US">
                <a:solidFill>
                  <a:schemeClr val="tx1"/>
                </a:solidFill>
              </a:rPr>
              <a:t>: 20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FE61396-C437-3AC3-3CF9-724BE45F0FC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569596" y="2819129"/>
            <a:ext cx="2022348" cy="1975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83B1B691-3B5B-1209-6EF0-A4F06876767C}"/>
              </a:ext>
            </a:extLst>
          </p:cNvPr>
          <p:cNvSpPr/>
          <p:nvPr/>
        </p:nvSpPr>
        <p:spPr>
          <a:xfrm rot="16200000">
            <a:off x="6796627" y="2001413"/>
            <a:ext cx="517154" cy="269010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574BD-3421-5E93-8CBB-85C93A8A1127}"/>
              </a:ext>
            </a:extLst>
          </p:cNvPr>
          <p:cNvSpPr txBox="1"/>
          <p:nvPr/>
        </p:nvSpPr>
        <p:spPr>
          <a:xfrm>
            <a:off x="5710152" y="3605041"/>
            <a:ext cx="224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</a:t>
            </a:r>
            <a:endParaRPr lang="ru-RU" sz="2400" dirty="0"/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CC8CB6FA-ADDF-EDFE-C25D-7568209A0A3B}"/>
              </a:ext>
            </a:extLst>
          </p:cNvPr>
          <p:cNvSpPr/>
          <p:nvPr/>
        </p:nvSpPr>
        <p:spPr>
          <a:xfrm rot="16200000">
            <a:off x="7948755" y="1768889"/>
            <a:ext cx="517154" cy="499436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00D5D-4E5C-6137-3C49-DBDF754BEB96}"/>
              </a:ext>
            </a:extLst>
          </p:cNvPr>
          <p:cNvSpPr txBox="1"/>
          <p:nvPr/>
        </p:nvSpPr>
        <p:spPr>
          <a:xfrm>
            <a:off x="6974809" y="4536626"/>
            <a:ext cx="224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capacity</a:t>
            </a:r>
            <a:endParaRPr lang="ru-R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4E0AAF-E595-3533-D417-3E8EA282433B}"/>
              </a:ext>
            </a:extLst>
          </p:cNvPr>
          <p:cNvSpPr txBox="1"/>
          <p:nvPr/>
        </p:nvSpPr>
        <p:spPr>
          <a:xfrm>
            <a:off x="4511824" y="6086024"/>
            <a:ext cx="768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На практике всё устроено гораздо сложнее (</a:t>
            </a:r>
            <a:r>
              <a:rPr lang="en-US" dirty="0"/>
              <a:t>Small String Optimization)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4B5D88-0019-0756-BCCF-555D7855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25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1772817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</p:txBody>
      </p:sp>
      <p:sp>
        <p:nvSpPr>
          <p:cNvPr id="5" name="Rectangle 4"/>
          <p:cNvSpPr/>
          <p:nvPr/>
        </p:nvSpPr>
        <p:spPr>
          <a:xfrm>
            <a:off x="838200" y="1988840"/>
            <a:ext cx="10515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 namespace std::literals;</a:t>
            </a: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std::string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emptyString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std::string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hello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goodbye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Goodbye"s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using namespace std::literals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chars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 = {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'n'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'e'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Создание строки из массива символов заданной длины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std::string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one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chars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400" dirty="0">
                <a:solidFill>
                  <a:srgbClr val="880000"/>
                </a:solidFill>
                <a:latin typeface="Consolas" panose="020B0609020204030204" pitchFamily="49" charset="0"/>
              </a:rPr>
              <a:t>size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chars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One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std::string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aaaa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(4,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aaaa</a:t>
            </a:r>
            <a:endParaRPr lang="ru-RU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20FA4-B2DB-5AC3-3DA9-769E8C1A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90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и вместимость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1243" y="1403462"/>
            <a:ext cx="892899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"This is a very long 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string"s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length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26);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size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length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&gt;=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length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oldCapacity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erase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(19, 7);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erase " string"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"This is a very 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long"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oldCapacity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length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19);</a:t>
            </a:r>
          </a:p>
          <a:p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empty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clear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length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0);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empty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text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oldCapacity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E4F54-CC46-FEC8-C134-323D59B1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70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строк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983432" y="1988840"/>
            <a:ext cx="8759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bbb"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aaa"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xyz"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xyz"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Abc"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Abb"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E9E9E-B2FF-BBC0-BB6A-9061E4E8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592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Конкатенация строк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772816"/>
            <a:ext cx="95782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hello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world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"world"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hello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world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"Hello world"</a:t>
            </a:r>
            <a:endParaRPr lang="ru-RU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ru-RU" sz="2400" dirty="0">
                <a:solidFill>
                  <a:srgbClr val="000080"/>
                </a:solidFill>
                <a:latin typeface="Consolas" panose="020B0609020204030204" pitchFamily="49" charset="0"/>
              </a:rPr>
              <a:t> 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"!"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append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hello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2400" dirty="0">
                <a:solidFill>
                  <a:srgbClr val="880000"/>
                </a:solidFill>
                <a:latin typeface="Consolas" panose="020B0609020204030204" pitchFamily="49" charset="0"/>
              </a:rPr>
              <a:t>append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2400" dirty="0">
                <a:solidFill>
                  <a:srgbClr val="880000"/>
                </a:solidFill>
                <a:latin typeface="Consolas" panose="020B0609020204030204" pitchFamily="49" charset="0"/>
              </a:rPr>
              <a:t>append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world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"Hello world"</a:t>
            </a:r>
            <a:endParaRPr lang="ru-R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0419D-C332-DA6E-B4AC-C54367F3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3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Извлечение подстроки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28800"/>
            <a:ext cx="9829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"Hello 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substr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(0, 5)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Hello"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substr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(6, 5)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substr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(6)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substr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"Hello 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"This is a wonderful "s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append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0, 4);</a:t>
            </a: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"This is a wonderful Hell"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helloWorld1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880000"/>
                </a:solidFill>
                <a:latin typeface="Consolas" panose="020B0609020204030204" pitchFamily="49" charset="0"/>
              </a:rPr>
              <a:t>substr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(0, 6);</a:t>
            </a:r>
          </a:p>
          <a:p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helloWorld1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200" dirty="0">
                <a:solidFill>
                  <a:srgbClr val="880000"/>
                </a:solidFill>
                <a:latin typeface="Consolas" panose="020B0609020204030204" pitchFamily="49" charset="0"/>
              </a:rPr>
              <a:t>append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6);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"Hello "s += "world"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helloWorld1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80"/>
                </a:solidFill>
                <a:latin typeface="Consolas" panose="020B0609020204030204" pitchFamily="49" charset="0"/>
              </a:rPr>
              <a:t>helloWorld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A03D3-3D6D-C1F4-78A3-49FD6099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внутри строки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916832"/>
            <a:ext cx="98512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'w'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6);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'x'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npos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find_first_of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aeiouy"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1);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6);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4);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first 'o' letter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rfind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== 7);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last 'o' letter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find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5) == 7);</a:t>
            </a:r>
            <a:endParaRPr lang="ru-R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5D190-D3A9-5CC9-D0B7-A80404EE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99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Замена фрагмента строки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2564904"/>
            <a:ext cx="94631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880000"/>
                </a:solidFill>
                <a:latin typeface="Consolas" panose="020B0609020204030204" pitchFamily="49" charset="0"/>
              </a:rPr>
              <a:t>replace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(0, 5,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Goodbye"s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"Goodbye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world"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"This is a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cat"s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880000"/>
                </a:solidFill>
                <a:latin typeface="Consolas" panose="020B0609020204030204" pitchFamily="49" charset="0"/>
              </a:rPr>
              <a:t>replace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(10, 3, 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8, 5);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"This is a world"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2C484-BA29-6A76-9E65-03E8A514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11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string_view</a:t>
            </a:r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C8756-21A4-EDC9-2118-86DA1C53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0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string_view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string_view</a:t>
            </a:r>
            <a:r>
              <a:rPr lang="ru-RU" dirty="0"/>
              <a:t> — </a:t>
            </a:r>
            <a:r>
              <a:rPr lang="ru-RU" dirty="0" err="1"/>
              <a:t>невладеющее</a:t>
            </a:r>
            <a:r>
              <a:rPr lang="ru-RU" dirty="0"/>
              <a:t> представление строки</a:t>
            </a:r>
          </a:p>
          <a:p>
            <a:pPr lvl="1"/>
            <a:r>
              <a:rPr lang="ru-RU" dirty="0"/>
              <a:t>Ссылается на непрерывную последовательность символов</a:t>
            </a:r>
          </a:p>
          <a:p>
            <a:pPr lvl="1"/>
            <a:r>
              <a:rPr lang="ru-RU" dirty="0"/>
              <a:t>Не копирует данные</a:t>
            </a:r>
          </a:p>
          <a:p>
            <a:pPr lvl="1"/>
            <a:r>
              <a:rPr lang="ru-RU" dirty="0"/>
              <a:t>Не управляет временем жизни строки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Легковесный (по сути: указатель + длина)</a:t>
            </a:r>
          </a:p>
          <a:p>
            <a:pPr lvl="1"/>
            <a:r>
              <a:rPr lang="ru-RU" dirty="0"/>
              <a:t>Только для чтения</a:t>
            </a:r>
            <a:endParaRPr lang="en-US" dirty="0"/>
          </a:p>
          <a:p>
            <a:pPr lvl="1"/>
            <a:r>
              <a:rPr lang="ru-RU" dirty="0"/>
              <a:t>Не заканчивается на </a:t>
            </a:r>
            <a:r>
              <a:rPr lang="en-US" dirty="0"/>
              <a:t>\0</a:t>
            </a:r>
            <a:endParaRPr lang="ru-RU" dirty="0"/>
          </a:p>
          <a:p>
            <a:pPr lvl="1"/>
            <a:r>
              <a:rPr lang="ru-RU" dirty="0"/>
              <a:t>Может ссылаться на:</a:t>
            </a:r>
          </a:p>
          <a:p>
            <a:pPr lvl="2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endParaRPr lang="ru-RU" dirty="0"/>
          </a:p>
          <a:p>
            <a:pPr lvl="2"/>
            <a:r>
              <a:rPr lang="ru-RU" dirty="0"/>
              <a:t>строковый литерал</a:t>
            </a:r>
          </a:p>
          <a:p>
            <a:pPr lvl="2"/>
            <a:r>
              <a:rPr lang="ru-RU" dirty="0"/>
              <a:t>часть строки</a:t>
            </a:r>
          </a:p>
          <a:p>
            <a:r>
              <a:rPr lang="ru-RU" b="1" dirty="0"/>
              <a:t>Важно</a:t>
            </a:r>
            <a:r>
              <a:rPr lang="ru-RU" dirty="0"/>
              <a:t>: строка должна жить дольше, чем </a:t>
            </a:r>
            <a:r>
              <a:rPr lang="ru-RU" dirty="0" err="1"/>
              <a:t>string_view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710487-79E5-966C-2A3F-77488224C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384" y="188640"/>
            <a:ext cx="2530059" cy="255292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4774-2D99-1FCB-A261-4A351D461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66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F931F59-35AE-EB55-D812-B01B50A41CBF}"/>
              </a:ext>
            </a:extLst>
          </p:cNvPr>
          <p:cNvSpPr/>
          <p:nvPr/>
        </p:nvSpPr>
        <p:spPr>
          <a:xfrm>
            <a:off x="2207568" y="3789040"/>
            <a:ext cx="1368152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49A098-F3E6-279F-F10E-9B62CC87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</a:t>
            </a:r>
            <a:r>
              <a:rPr lang="en-US" dirty="0" err="1"/>
              <a:t>string_view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99F08C0-2221-AF26-AA8B-2C7F5A001B70}"/>
              </a:ext>
            </a:extLst>
          </p:cNvPr>
          <p:cNvSpPr/>
          <p:nvPr/>
        </p:nvSpPr>
        <p:spPr>
          <a:xfrm>
            <a:off x="2567608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D3365BF-23F8-0243-E7D6-1D9FCB65E941}"/>
              </a:ext>
            </a:extLst>
          </p:cNvPr>
          <p:cNvSpPr/>
          <p:nvPr/>
        </p:nvSpPr>
        <p:spPr>
          <a:xfrm>
            <a:off x="2999656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EA10FEA-7FDC-FB61-7625-080937C0FBF3}"/>
              </a:ext>
            </a:extLst>
          </p:cNvPr>
          <p:cNvSpPr/>
          <p:nvPr/>
        </p:nvSpPr>
        <p:spPr>
          <a:xfrm>
            <a:off x="3431704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5B55EE-8130-680B-C9EC-6C39CCC03812}"/>
              </a:ext>
            </a:extLst>
          </p:cNvPr>
          <p:cNvSpPr/>
          <p:nvPr/>
        </p:nvSpPr>
        <p:spPr>
          <a:xfrm>
            <a:off x="3863752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DE4F55-2BFD-3489-3AE1-DC81FAD9AFFB}"/>
              </a:ext>
            </a:extLst>
          </p:cNvPr>
          <p:cNvSpPr/>
          <p:nvPr/>
        </p:nvSpPr>
        <p:spPr>
          <a:xfrm>
            <a:off x="4295800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7AB4533-6759-49ED-85DC-7ACE69BE6A7B}"/>
              </a:ext>
            </a:extLst>
          </p:cNvPr>
          <p:cNvSpPr/>
          <p:nvPr/>
        </p:nvSpPr>
        <p:spPr>
          <a:xfrm>
            <a:off x="2334608" y="3935695"/>
            <a:ext cx="1152128" cy="36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875CA65-B73C-FAE2-9D23-065A6E48BAB8}"/>
              </a:ext>
            </a:extLst>
          </p:cNvPr>
          <p:cNvSpPr/>
          <p:nvPr/>
        </p:nvSpPr>
        <p:spPr>
          <a:xfrm>
            <a:off x="2334608" y="4410422"/>
            <a:ext cx="1152128" cy="36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size: 5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E3A8C6-178A-69D2-7332-44DE27A78B78}"/>
              </a:ext>
            </a:extLst>
          </p:cNvPr>
          <p:cNvSpPr/>
          <p:nvPr/>
        </p:nvSpPr>
        <p:spPr>
          <a:xfrm>
            <a:off x="4727848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947C34-B4B8-713A-8FCA-723810285273}"/>
              </a:ext>
            </a:extLst>
          </p:cNvPr>
          <p:cNvSpPr/>
          <p:nvPr/>
        </p:nvSpPr>
        <p:spPr>
          <a:xfrm>
            <a:off x="5159896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026927F-353A-D2EF-1831-0FFA3AFE4FF2}"/>
              </a:ext>
            </a:extLst>
          </p:cNvPr>
          <p:cNvSpPr/>
          <p:nvPr/>
        </p:nvSpPr>
        <p:spPr>
          <a:xfrm>
            <a:off x="5591944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AF0D6D5-B92F-43F0-4B06-CAAC4AF20EC6}"/>
              </a:ext>
            </a:extLst>
          </p:cNvPr>
          <p:cNvSpPr/>
          <p:nvPr/>
        </p:nvSpPr>
        <p:spPr>
          <a:xfrm>
            <a:off x="6023992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A5C912D-1914-6353-13BD-8A6A48523943}"/>
              </a:ext>
            </a:extLst>
          </p:cNvPr>
          <p:cNvSpPr/>
          <p:nvPr/>
        </p:nvSpPr>
        <p:spPr>
          <a:xfrm>
            <a:off x="6456040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4BC7BE-4FB8-29E1-72BB-C06CFA317FBA}"/>
              </a:ext>
            </a:extLst>
          </p:cNvPr>
          <p:cNvSpPr/>
          <p:nvPr/>
        </p:nvSpPr>
        <p:spPr>
          <a:xfrm>
            <a:off x="6888088" y="2060848"/>
            <a:ext cx="43204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78514393-AAD8-44CA-0C4D-4D13008F77D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H="1" flipV="1">
            <a:off x="2567608" y="2312876"/>
            <a:ext cx="919128" cy="1802839"/>
          </a:xfrm>
          <a:prstGeom prst="curvedConnector5">
            <a:avLst>
              <a:gd name="adj1" fmla="val -24871"/>
              <a:gd name="adj2" fmla="val 48003"/>
              <a:gd name="adj3" fmla="val 12487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B0AFCF0-0D56-7A5E-84F9-97A59BAF8641}"/>
              </a:ext>
            </a:extLst>
          </p:cNvPr>
          <p:cNvSpPr/>
          <p:nvPr/>
        </p:nvSpPr>
        <p:spPr>
          <a:xfrm>
            <a:off x="6096800" y="3789040"/>
            <a:ext cx="1368152" cy="108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4890E1C-8B14-9B47-6F81-203074FAA8A4}"/>
              </a:ext>
            </a:extLst>
          </p:cNvPr>
          <p:cNvSpPr/>
          <p:nvPr/>
        </p:nvSpPr>
        <p:spPr>
          <a:xfrm>
            <a:off x="6223840" y="3935695"/>
            <a:ext cx="1152128" cy="36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4F20227-4064-0527-25EA-F4B2C7AAE490}"/>
              </a:ext>
            </a:extLst>
          </p:cNvPr>
          <p:cNvSpPr/>
          <p:nvPr/>
        </p:nvSpPr>
        <p:spPr>
          <a:xfrm>
            <a:off x="6223840" y="4410422"/>
            <a:ext cx="1152128" cy="3600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size: 5</a:t>
            </a:r>
            <a:endParaRPr lang="ru-RU" dirty="0"/>
          </a:p>
        </p:txBody>
      </p:sp>
      <p:cxnSp>
        <p:nvCxnSpPr>
          <p:cNvPr id="28" name="Прямая со стрелкой 18">
            <a:extLst>
              <a:ext uri="{FF2B5EF4-FFF2-40B4-BE49-F238E27FC236}">
                <a16:creationId xmlns:a16="http://schemas.microsoft.com/office/drawing/2014/main" id="{F51D4F6F-4ED8-D73A-74D3-465397B10550}"/>
              </a:ext>
            </a:extLst>
          </p:cNvPr>
          <p:cNvCxnSpPr>
            <a:cxnSpLocks/>
            <a:stCxn id="26" idx="0"/>
            <a:endCxn id="13" idx="2"/>
          </p:cNvCxnSpPr>
          <p:nvPr/>
        </p:nvCxnSpPr>
        <p:spPr>
          <a:xfrm rot="16200000" flipV="1">
            <a:off x="5402518" y="2538308"/>
            <a:ext cx="1370791" cy="142398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73D7DB7E-810C-6934-AFB6-D7526FD1B1B3}"/>
              </a:ext>
            </a:extLst>
          </p:cNvPr>
          <p:cNvSpPr/>
          <p:nvPr/>
        </p:nvSpPr>
        <p:spPr>
          <a:xfrm rot="16200000">
            <a:off x="3476196" y="1807187"/>
            <a:ext cx="199048" cy="201622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D768A2D8-E67E-7B99-69F8-6A1F9D6038D6}"/>
              </a:ext>
            </a:extLst>
          </p:cNvPr>
          <p:cNvSpPr/>
          <p:nvPr/>
        </p:nvSpPr>
        <p:spPr>
          <a:xfrm rot="16200000">
            <a:off x="6140492" y="1702231"/>
            <a:ext cx="199048" cy="216024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88319C6-7533-4ACB-4CC1-399D86F8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434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Конструирование </a:t>
            </a:r>
            <a:r>
              <a:rPr lang="en-US" dirty="0" err="1"/>
              <a:t>string_view</a:t>
            </a:r>
            <a:endParaRPr lang="ru-RU" dirty="0"/>
          </a:p>
        </p:txBody>
      </p:sp>
      <p:sp>
        <p:nvSpPr>
          <p:cNvPr id="5" name="Rectangle 4"/>
          <p:cNvSpPr/>
          <p:nvPr/>
        </p:nvSpPr>
        <p:spPr>
          <a:xfrm>
            <a:off x="838200" y="1988841"/>
            <a:ext cx="108024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[] = {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'H'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'e'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string_view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v(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sz="24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 == 5);</a:t>
            </a:r>
          </a:p>
          <a:p>
            <a:r>
              <a:rPr lang="en-US" sz="24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v.data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 == &amp;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[0]);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v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использует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содержимое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arr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string_view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sv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s;</a:t>
            </a:r>
          </a:p>
          <a:p>
            <a:r>
              <a:rPr lang="en-US" sz="24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sv.data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s.data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24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sv.length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 ==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sv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string_view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s.data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(), 4);</a:t>
            </a:r>
          </a:p>
          <a:p>
            <a:r>
              <a:rPr lang="en-US" sz="24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sv.length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 == 4);</a:t>
            </a:r>
            <a:endParaRPr lang="ru-RU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7D530-C171-1885-63A6-174F151A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79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 – </a:t>
            </a:r>
            <a:r>
              <a:rPr lang="ru-RU" dirty="0"/>
              <a:t>ссылки на части </a:t>
            </a:r>
            <a:r>
              <a:rPr lang="en-US" dirty="0"/>
              <a:t>URL</a:t>
            </a:r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838200" y="1690688"/>
            <a:ext cx="107304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url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"http://en.cppreference.com/w/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cpp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/string/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basic_string_view"s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string_view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scheme(&amp;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url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4);</a:t>
            </a:r>
          </a:p>
          <a:p>
            <a:r>
              <a:rPr lang="en-US" sz="20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(scheme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"http"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string_view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domain(&amp;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url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19);</a:t>
            </a:r>
          </a:p>
          <a:p>
            <a:r>
              <a:rPr lang="en-US" sz="20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(domain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"en.cppreference.com"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61F7F671-8741-2B2C-9DC3-2CB978601719}"/>
              </a:ext>
            </a:extLst>
          </p:cNvPr>
          <p:cNvSpPr/>
          <p:nvPr/>
        </p:nvSpPr>
        <p:spPr>
          <a:xfrm rot="5400000">
            <a:off x="2747628" y="1916832"/>
            <a:ext cx="216024" cy="576064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92DF5-C41A-6D5F-F81D-9C434C5281E9}"/>
              </a:ext>
            </a:extLst>
          </p:cNvPr>
          <p:cNvSpPr txBox="1"/>
          <p:nvPr/>
        </p:nvSpPr>
        <p:spPr>
          <a:xfrm>
            <a:off x="2351584" y="2329396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scheme</a:t>
            </a:r>
            <a:endParaRPr lang="en-US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0ACEE26-B882-9C84-61AE-BBBB0077E52F}"/>
              </a:ext>
            </a:extLst>
          </p:cNvPr>
          <p:cNvSpPr/>
          <p:nvPr/>
        </p:nvSpPr>
        <p:spPr>
          <a:xfrm rot="5400000">
            <a:off x="4800129" y="872989"/>
            <a:ext cx="216024" cy="266375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F0DC6-1F74-0A6B-CD7C-7CB3FD41BC02}"/>
              </a:ext>
            </a:extLst>
          </p:cNvPr>
          <p:cNvSpPr txBox="1"/>
          <p:nvPr/>
        </p:nvSpPr>
        <p:spPr>
          <a:xfrm>
            <a:off x="4511824" y="2329396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domain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6C74BF-9B13-4E82-ED5A-1E1E9630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98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F59A1-36F4-6660-3600-2B463110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std::array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5C748-B379-7A00-A98B-CE502DB60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98382-C578-7AD4-25A4-7139D122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01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EFBBCB5-884E-603C-0B01-B218186D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std::array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EC0FF96-76FC-AF9A-A6C5-C6DE1A002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 это</a:t>
            </a:r>
          </a:p>
          <a:p>
            <a:pPr lvl="1"/>
            <a:r>
              <a:rPr lang="ru-RU" dirty="0"/>
              <a:t>Контейнер фиксированного размера (обёртка над C-массивом)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array</a:t>
            </a:r>
            <a:r>
              <a:rPr lang="ru-RU" dirty="0"/>
              <a:t>&lt;</a:t>
            </a:r>
            <a:r>
              <a:rPr lang="ru-RU" dirty="0" err="1"/>
              <a:t>int</a:t>
            </a:r>
            <a:r>
              <a:rPr lang="ru-RU" dirty="0"/>
              <a:t>, 3&gt; a = {1, 2, 3};</a:t>
            </a:r>
          </a:p>
          <a:p>
            <a:r>
              <a:rPr lang="ru-RU" dirty="0"/>
              <a:t>Преимущества перед C-массивами</a:t>
            </a:r>
          </a:p>
          <a:p>
            <a:pPr lvl="1"/>
            <a:r>
              <a:rPr lang="ru-RU" dirty="0"/>
              <a:t>Знает свой размер (метод </a:t>
            </a:r>
            <a:r>
              <a:rPr lang="ru-RU" dirty="0" err="1"/>
              <a:t>size</a:t>
            </a:r>
            <a:r>
              <a:rPr lang="ru-RU" dirty="0"/>
              <a:t>())</a:t>
            </a:r>
          </a:p>
          <a:p>
            <a:pPr lvl="1"/>
            <a:r>
              <a:rPr lang="ru-RU" dirty="0"/>
              <a:t>Поддерживает алгоритмы стандартной библиотеки</a:t>
            </a:r>
          </a:p>
          <a:p>
            <a:pPr lvl="1"/>
            <a:r>
              <a:rPr lang="ru-RU" dirty="0"/>
              <a:t>Можно передавать и возвращать по значению</a:t>
            </a:r>
          </a:p>
          <a:p>
            <a:pPr lvl="1"/>
            <a:r>
              <a:rPr lang="ru-RU" dirty="0"/>
              <a:t>Можно хранить в других контейнерах (</a:t>
            </a:r>
            <a:r>
              <a:rPr lang="ru-RU" dirty="0" err="1"/>
              <a:t>optional</a:t>
            </a:r>
            <a:r>
              <a:rPr lang="ru-RU" dirty="0"/>
              <a:t>, </a:t>
            </a:r>
            <a:r>
              <a:rPr lang="ru-RU" dirty="0" err="1"/>
              <a:t>vector</a:t>
            </a:r>
            <a:r>
              <a:rPr lang="ru-RU" dirty="0"/>
              <a:t> и т.д.)</a:t>
            </a:r>
          </a:p>
          <a:p>
            <a:pPr lvl="1"/>
            <a:r>
              <a:rPr lang="ru-RU" dirty="0"/>
              <a:t>Поддерживает сравнение (==, &lt;, …)</a:t>
            </a:r>
          </a:p>
          <a:p>
            <a:r>
              <a:rPr lang="ru-RU" dirty="0"/>
              <a:t>Подключение</a:t>
            </a:r>
          </a:p>
          <a:p>
            <a:pPr lvl="1"/>
            <a:r>
              <a:rPr lang="ru-RU" dirty="0"/>
              <a:t>#include &lt;</a:t>
            </a:r>
            <a:r>
              <a:rPr lang="ru-RU" dirty="0" err="1"/>
              <a:t>array</a:t>
            </a:r>
            <a:r>
              <a:rPr lang="ru-RU" dirty="0"/>
              <a:t>&gt;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12816F-B9AD-C108-DD85-2478864C2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758" y="4221088"/>
            <a:ext cx="2226159" cy="225928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0680C-D66A-5800-B611-B8ABF836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79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6190-0794-D2D1-1936-9A5D4527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std::array vs C-</a:t>
            </a:r>
            <a:r>
              <a:rPr lang="ru-RU" dirty="0"/>
              <a:t>массив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9B8ADC-3B2E-244B-B6FF-7300C4FA544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00169818"/>
              </p:ext>
            </p:extLst>
          </p:nvPr>
        </p:nvGraphicFramePr>
        <p:xfrm>
          <a:off x="838200" y="1825624"/>
          <a:ext cx="10658400" cy="2846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9200">
                  <a:extLst>
                    <a:ext uri="{9D8B030D-6E8A-4147-A177-3AD203B41FA5}">
                      <a16:colId xmlns:a16="http://schemas.microsoft.com/office/drawing/2014/main" val="1934229368"/>
                    </a:ext>
                  </a:extLst>
                </a:gridCol>
                <a:gridCol w="5329200">
                  <a:extLst>
                    <a:ext uri="{9D8B030D-6E8A-4147-A177-3AD203B41FA5}">
                      <a16:colId xmlns:a16="http://schemas.microsoft.com/office/drawing/2014/main" val="188665353"/>
                    </a:ext>
                  </a:extLst>
                </a:gridCol>
              </a:tblGrid>
              <a:tr h="47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C-</a:t>
                      </a:r>
                      <a:r>
                        <a:rPr lang="ru-RU" dirty="0"/>
                        <a:t>массив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std::array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354020"/>
                  </a:ext>
                </a:extLst>
              </a:tr>
              <a:tr h="47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 знает свой размер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size()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возвращает размер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631078"/>
                  </a:ext>
                </a:extLst>
              </a:tr>
              <a:tr h="474398">
                <a:tc>
                  <a:txBody>
                    <a:bodyPr/>
                    <a:lstStyle/>
                    <a:p>
                      <a:r>
                        <a:rPr lang="ru-RU" dirty="0"/>
                        <a:t>Не копируется как единое целое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Копируется и присваивается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88763"/>
                  </a:ext>
                </a:extLst>
              </a:tr>
              <a:tr h="474398">
                <a:tc>
                  <a:txBody>
                    <a:bodyPr/>
                    <a:lstStyle/>
                    <a:p>
                      <a:r>
                        <a:rPr lang="ru-RU" dirty="0"/>
                        <a:t>Превращается в указатель при передаче в функцию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Передаётся как обычный объект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29230"/>
                  </a:ext>
                </a:extLst>
              </a:tr>
              <a:tr h="474398">
                <a:tc>
                  <a:txBody>
                    <a:bodyPr/>
                    <a:lstStyle/>
                    <a:p>
                      <a:r>
                        <a:rPr lang="ru-RU" dirty="0"/>
                        <a:t>Нет методов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Имеет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begin()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end()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fill()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89414"/>
                  </a:ext>
                </a:extLst>
              </a:tr>
              <a:tr h="474398">
                <a:tc>
                  <a:txBody>
                    <a:bodyPr/>
                    <a:lstStyle/>
                    <a:p>
                      <a:r>
                        <a:rPr lang="ru-RU" dirty="0"/>
                        <a:t>Нет встроенного сравнения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Поддерживает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==</a:t>
                      </a:r>
                      <a:r>
                        <a:rPr lang="ru-RU" dirty="0"/>
                        <a:t>,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u-RU" dirty="0"/>
                        <a:t>, 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9729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66B05E-DD4D-0966-680F-E5FE5BAE9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51399"/>
            <a:ext cx="10658400" cy="1325564"/>
          </a:xfrm>
        </p:spPr>
        <p:txBody>
          <a:bodyPr/>
          <a:lstStyle/>
          <a:p>
            <a:r>
              <a:rPr lang="ru-RU" dirty="0"/>
              <a:t>Итог</a:t>
            </a:r>
          </a:p>
          <a:p>
            <a:pPr lvl="1"/>
            <a:r>
              <a:rPr lang="ru-RU" dirty="0"/>
              <a:t>C-массив — низкоуровневый механизм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array</a:t>
            </a:r>
            <a:r>
              <a:rPr lang="ru-RU" dirty="0"/>
              <a:t> — безопасная и удобная альтернатива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BED14-66EC-62B3-DD19-C51CB525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73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CBD3D7-1977-73BB-34A7-B5EEDD16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индекса при доступе к элементам </a:t>
            </a:r>
            <a:r>
              <a:rPr lang="en-US" dirty="0"/>
              <a:t>std::array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66739-6FBF-F622-A1B1-557A21CD1388}"/>
              </a:ext>
            </a:extLst>
          </p:cNvPr>
          <p:cNvSpPr txBox="1"/>
          <p:nvPr/>
        </p:nvSpPr>
        <p:spPr>
          <a:xfrm>
            <a:off x="838200" y="2276872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fibNumbers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Метод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at()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выбросит исключение если индекс выходит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за пределы массива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fibNumbers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itemIndex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13008A-AC4A-938A-4F50-FDB742DE983B}"/>
              </a:ext>
            </a:extLst>
          </p:cNvPr>
          <p:cNvSpPr txBox="1"/>
          <p:nvPr/>
        </p:nvSpPr>
        <p:spPr>
          <a:xfrm>
            <a:off x="2495600" y="6371709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https://godbolt.org/z/xM1EcGTMz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47C986-2280-6285-AF9A-03ABB929D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68" y="3978405"/>
            <a:ext cx="2705478" cy="276263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D8A09-6245-BD8D-4257-FE84384E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872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8407BA-2AD1-E327-2D3D-F3F93A96204A}"/>
              </a:ext>
            </a:extLst>
          </p:cNvPr>
          <p:cNvSpPr txBox="1"/>
          <p:nvPr/>
        </p:nvSpPr>
        <p:spPr>
          <a:xfrm>
            <a:off x="551384" y="54493"/>
            <a:ext cx="10225136" cy="6749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Matrix3x3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Matrix3x3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row : mat)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item : row)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item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Matrix3x3 m{};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A8767-2B80-2638-8574-D3789EE6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82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032FAC-7FC2-9964-B167-48922BE1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to_array</a:t>
            </a:r>
            <a:r>
              <a:rPr lang="en-US" dirty="0"/>
              <a:t> (C++20)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E724F8-7974-A789-C233-65F3CE2B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5E537-6D1F-CCEA-8128-49BE1CB9CA70}"/>
              </a:ext>
            </a:extLst>
          </p:cNvPr>
          <p:cNvSpPr txBox="1"/>
          <p:nvPr/>
        </p:nvSpPr>
        <p:spPr>
          <a:xfrm>
            <a:off x="838200" y="1690688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raw[]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(raw);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std::array&lt;int, 4&gt;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std::array&lt;int, 3&gt;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std::array&lt;char, 3&gt; 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включая '\0')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auto copy = a;               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std::array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42ADE-2DED-8D5D-9F12-0F8175954DA1}"/>
              </a:ext>
            </a:extLst>
          </p:cNvPr>
          <p:cNvSpPr txBox="1"/>
          <p:nvPr/>
        </p:nvSpPr>
        <p:spPr>
          <a:xfrm>
            <a:off x="838200" y="598701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https://godbolt.org/z/vEcrGMxh8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17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F7618A1-8066-48FD-9768-0D1E0D85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std::vector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BE0ACE-5176-4178-A082-B46C84248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0E325-EB2C-AB3E-C17F-80A6C96F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457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hlinkClick r:id="rId4"/>
              </a:rPr>
              <a:t>std::vector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Динамический массив стандартной библиотеки</a:t>
            </a:r>
          </a:p>
          <a:p>
            <a:pPr lvl="1"/>
            <a:r>
              <a:rPr lang="ru-RU" dirty="0"/>
              <a:t>#include &lt;</a:t>
            </a:r>
            <a:r>
              <a:rPr lang="ru-RU" dirty="0" err="1"/>
              <a:t>vector</a:t>
            </a:r>
            <a:r>
              <a:rPr lang="ru-RU" dirty="0"/>
              <a:t>&gt;</a:t>
            </a:r>
          </a:p>
          <a:p>
            <a:r>
              <a:rPr lang="ru-RU" dirty="0"/>
              <a:t>Основные свойства</a:t>
            </a:r>
          </a:p>
          <a:p>
            <a:pPr lvl="1"/>
            <a:r>
              <a:rPr lang="ru-RU" dirty="0"/>
              <a:t>Хранит элементы одного типа</a:t>
            </a:r>
          </a:p>
          <a:p>
            <a:pPr lvl="1"/>
            <a:r>
              <a:rPr lang="ru-RU" dirty="0"/>
              <a:t>Размер может изменяться во время выполнения</a:t>
            </a:r>
          </a:p>
          <a:p>
            <a:pPr lvl="1"/>
            <a:r>
              <a:rPr lang="ru-RU" dirty="0"/>
              <a:t>Элементы расположены </a:t>
            </a:r>
            <a:r>
              <a:rPr lang="ru-RU" b="1" dirty="0"/>
              <a:t>непрерывно в памяти</a:t>
            </a:r>
            <a:endParaRPr lang="ru-RU" dirty="0"/>
          </a:p>
          <a:p>
            <a:pPr lvl="1"/>
            <a:r>
              <a:rPr lang="ru-RU" dirty="0"/>
              <a:t>Поддерживает индексированный доступ (</a:t>
            </a:r>
            <a:r>
              <a:rPr lang="ru-RU" dirty="0" err="1"/>
              <a:t>operator</a:t>
            </a:r>
            <a:r>
              <a:rPr lang="ru-RU" dirty="0"/>
              <a:t>[], </a:t>
            </a:r>
            <a:r>
              <a:rPr lang="ru-RU" dirty="0" err="1"/>
              <a:t>at</a:t>
            </a:r>
            <a:r>
              <a:rPr lang="ru-RU" dirty="0"/>
              <a:t>())</a:t>
            </a:r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Автоматическое управление памятью</a:t>
            </a:r>
          </a:p>
          <a:p>
            <a:pPr lvl="1"/>
            <a:r>
              <a:rPr lang="ru-RU" dirty="0"/>
              <a:t>Эффективное добавление в конец (</a:t>
            </a:r>
            <a:r>
              <a:rPr lang="ru-RU" dirty="0" err="1"/>
              <a:t>push_back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Совместим со всеми стандартными алгоритмами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32569F-88B9-D3DA-38B0-8ECDB966E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079" y="4233765"/>
            <a:ext cx="2552921" cy="25986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E8E6A-A7EC-32E0-1E9F-3A0C71F3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27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8309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DD58C1D-46AF-DF06-368A-7D9272CE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Внутреннее устройство </a:t>
            </a:r>
            <a:r>
              <a:rPr lang="en-US" dirty="0"/>
              <a:t>vector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5BC081-18CA-ECB0-331B-060E53022847}"/>
              </a:ext>
            </a:extLst>
          </p:cNvPr>
          <p:cNvSpPr/>
          <p:nvPr/>
        </p:nvSpPr>
        <p:spPr>
          <a:xfrm>
            <a:off x="1828800" y="4559644"/>
            <a:ext cx="2376264" cy="17496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237AF9-EA7F-6960-1B64-C15088279C84}"/>
              </a:ext>
            </a:extLst>
          </p:cNvPr>
          <p:cNvSpPr/>
          <p:nvPr/>
        </p:nvSpPr>
        <p:spPr>
          <a:xfrm>
            <a:off x="1981200" y="4712045"/>
            <a:ext cx="2079848" cy="4320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data</a:t>
            </a:r>
            <a:endParaRPr lang="ru-R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D0921C-1A44-F6B6-2F07-8625F0FA96AC}"/>
              </a:ext>
            </a:extLst>
          </p:cNvPr>
          <p:cNvSpPr/>
          <p:nvPr/>
        </p:nvSpPr>
        <p:spPr>
          <a:xfrm>
            <a:off x="1975076" y="5211909"/>
            <a:ext cx="2079848" cy="4320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size: 4</a:t>
            </a:r>
            <a:endParaRPr lang="ru-R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F5FBC7-AE7F-2072-91F1-E9C587DDA79C}"/>
              </a:ext>
            </a:extLst>
          </p:cNvPr>
          <p:cNvSpPr/>
          <p:nvPr/>
        </p:nvSpPr>
        <p:spPr>
          <a:xfrm>
            <a:off x="1975076" y="5738661"/>
            <a:ext cx="2079848" cy="4320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capacity: 11</a:t>
            </a:r>
            <a:endParaRPr lang="ru-RU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D3463FF-6C18-BB61-7971-BFF451456840}"/>
              </a:ext>
            </a:extLst>
          </p:cNvPr>
          <p:cNvCxnSpPr>
            <a:cxnSpLocks/>
            <a:stCxn id="7" idx="0"/>
            <a:endCxn id="16" idx="1"/>
          </p:cNvCxnSpPr>
          <p:nvPr/>
        </p:nvCxnSpPr>
        <p:spPr>
          <a:xfrm flipV="1">
            <a:off x="3021125" y="2316807"/>
            <a:ext cx="888827" cy="2395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BA519256-4672-A2BA-D799-57A8BB8E706C}"/>
              </a:ext>
            </a:extLst>
          </p:cNvPr>
          <p:cNvSpPr/>
          <p:nvPr/>
        </p:nvSpPr>
        <p:spPr>
          <a:xfrm rot="16200000">
            <a:off x="4384098" y="2094429"/>
            <a:ext cx="517154" cy="14654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2A655F-7930-F76B-77B5-51E25D3FDB05}"/>
              </a:ext>
            </a:extLst>
          </p:cNvPr>
          <p:cNvSpPr txBox="1"/>
          <p:nvPr/>
        </p:nvSpPr>
        <p:spPr>
          <a:xfrm>
            <a:off x="3935760" y="3095748"/>
            <a:ext cx="143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</a:t>
            </a:r>
            <a:endParaRPr lang="ru-RU" sz="2400" dirty="0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C9AFD61C-7DB2-3DFF-E26C-D9D93B878405}"/>
              </a:ext>
            </a:extLst>
          </p:cNvPr>
          <p:cNvSpPr/>
          <p:nvPr/>
        </p:nvSpPr>
        <p:spPr>
          <a:xfrm rot="16200000">
            <a:off x="5667130" y="1731001"/>
            <a:ext cx="517154" cy="403151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FF6E7-6806-3B4E-F24F-11F5720E1EB9}"/>
              </a:ext>
            </a:extLst>
          </p:cNvPr>
          <p:cNvSpPr txBox="1"/>
          <p:nvPr/>
        </p:nvSpPr>
        <p:spPr>
          <a:xfrm>
            <a:off x="5174609" y="4017313"/>
            <a:ext cx="224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capacity</a:t>
            </a:r>
            <a:endParaRPr lang="ru-RU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6A504E-2E11-DB3B-BCEC-DE024D73BE2B}"/>
              </a:ext>
            </a:extLst>
          </p:cNvPr>
          <p:cNvSpPr/>
          <p:nvPr/>
        </p:nvSpPr>
        <p:spPr>
          <a:xfrm>
            <a:off x="3909952" y="2132857"/>
            <a:ext cx="367901" cy="36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B8B94C9-C40A-109C-D9C2-7A603FB00CE7}"/>
              </a:ext>
            </a:extLst>
          </p:cNvPr>
          <p:cNvSpPr/>
          <p:nvPr/>
        </p:nvSpPr>
        <p:spPr>
          <a:xfrm>
            <a:off x="4276313" y="2132857"/>
            <a:ext cx="367901" cy="36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71417C6-4DB4-BB5D-3436-BAD622FA09DE}"/>
              </a:ext>
            </a:extLst>
          </p:cNvPr>
          <p:cNvSpPr/>
          <p:nvPr/>
        </p:nvSpPr>
        <p:spPr>
          <a:xfrm>
            <a:off x="4642674" y="2132857"/>
            <a:ext cx="367901" cy="36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6961E32-A16D-0E86-22EA-E09CF107C128}"/>
              </a:ext>
            </a:extLst>
          </p:cNvPr>
          <p:cNvSpPr/>
          <p:nvPr/>
        </p:nvSpPr>
        <p:spPr>
          <a:xfrm>
            <a:off x="5009035" y="2132857"/>
            <a:ext cx="367901" cy="3679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F791E93-7097-C4C7-13E3-47B9FBA08201}"/>
              </a:ext>
            </a:extLst>
          </p:cNvPr>
          <p:cNvSpPr/>
          <p:nvPr/>
        </p:nvSpPr>
        <p:spPr>
          <a:xfrm>
            <a:off x="5375396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A196B63-26F6-9408-FF08-377C830B35E6}"/>
              </a:ext>
            </a:extLst>
          </p:cNvPr>
          <p:cNvSpPr/>
          <p:nvPr/>
        </p:nvSpPr>
        <p:spPr>
          <a:xfrm>
            <a:off x="5741757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3029D2-E6BC-EB82-EDA9-C7D7FD90FD46}"/>
              </a:ext>
            </a:extLst>
          </p:cNvPr>
          <p:cNvSpPr/>
          <p:nvPr/>
        </p:nvSpPr>
        <p:spPr>
          <a:xfrm>
            <a:off x="6108118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A82D1E3-D09B-282E-B03F-C47E854A2D86}"/>
              </a:ext>
            </a:extLst>
          </p:cNvPr>
          <p:cNvSpPr/>
          <p:nvPr/>
        </p:nvSpPr>
        <p:spPr>
          <a:xfrm>
            <a:off x="6474479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7546664-BF86-21B4-534B-CC5338DB37E5}"/>
              </a:ext>
            </a:extLst>
          </p:cNvPr>
          <p:cNvSpPr/>
          <p:nvPr/>
        </p:nvSpPr>
        <p:spPr>
          <a:xfrm>
            <a:off x="6840840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E5252A3-C7BE-0E32-F3D5-DCA36335DA6F}"/>
              </a:ext>
            </a:extLst>
          </p:cNvPr>
          <p:cNvSpPr/>
          <p:nvPr/>
        </p:nvSpPr>
        <p:spPr>
          <a:xfrm>
            <a:off x="7207201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5EA523A-795D-430D-500C-8CC30C1EF23D}"/>
              </a:ext>
            </a:extLst>
          </p:cNvPr>
          <p:cNvSpPr/>
          <p:nvPr/>
        </p:nvSpPr>
        <p:spPr>
          <a:xfrm>
            <a:off x="7573562" y="2132857"/>
            <a:ext cx="367901" cy="36790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6B55A-2F95-C25D-2476-CFB81CE9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702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729D-B41B-6624-9E4F-09BBD9B1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 реверсирование массива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4474F4-9BF7-3910-9F0F-DE8D0637B355}"/>
              </a:ext>
            </a:extLst>
          </p:cNvPr>
          <p:cNvSpPr txBox="1"/>
          <p:nvPr/>
        </p:nvSpPr>
        <p:spPr>
          <a:xfrm>
            <a:off x="838200" y="1690687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numbers entered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US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или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std::reverse(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numbers.begin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(),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numbers.end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F3B53-22CE-46F4-C9D6-5336DC88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60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98082" y="-22717"/>
            <a:ext cx="776627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&lt;vector&gt;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PointDbl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vector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 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{0, 0}, {20, 10}, {30, 30} 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PointDbl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{0, 0};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/=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/=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center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9E68E-4A72-693C-6705-2DA60FB4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135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3F27D-9FD2-2351-9A6F-35E48203DCD2}"/>
              </a:ext>
            </a:extLst>
          </p:cNvPr>
          <p:cNvSpPr txBox="1"/>
          <p:nvPr/>
        </p:nvSpPr>
        <p:spPr>
          <a:xfrm>
            <a:off x="623392" y="4394228"/>
            <a:ext cx="10298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numbers;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!!!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Сразу резервируем память под нужное количество элементов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numbers.reserve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numbers.push_back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9091278-70F6-298A-A761-D0EBA1C7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Резервирование памяти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1975C3-A349-1C6A-B050-496539015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при вставке не хватает места, </a:t>
            </a:r>
            <a:r>
              <a:rPr lang="en-US" dirty="0"/>
              <a:t>vector</a:t>
            </a:r>
            <a:r>
              <a:rPr lang="ru-RU" dirty="0"/>
              <a:t> автоматически увеличивает вместимость</a:t>
            </a:r>
          </a:p>
          <a:p>
            <a:pPr lvl="1"/>
            <a:r>
              <a:rPr lang="ru-RU" dirty="0"/>
              <a:t>Вставка в конец: </a:t>
            </a:r>
            <a:r>
              <a:rPr lang="en-US" dirty="0"/>
              <a:t>O(1)</a:t>
            </a:r>
            <a:r>
              <a:rPr lang="ru-RU" dirty="0"/>
              <a:t>+</a:t>
            </a:r>
          </a:p>
          <a:p>
            <a:r>
              <a:rPr lang="ru-RU" dirty="0"/>
              <a:t>Метод</a:t>
            </a:r>
            <a:r>
              <a:rPr lang="en-US" dirty="0"/>
              <a:t> </a:t>
            </a:r>
            <a:r>
              <a:rPr lang="en-US" b="1" dirty="0"/>
              <a:t>reserve</a:t>
            </a:r>
            <a:r>
              <a:rPr lang="ru-RU" dirty="0"/>
              <a:t> резервирует память для хранения заданного размера, не меняя содержимого вектора</a:t>
            </a:r>
          </a:p>
          <a:p>
            <a:pPr lvl="1"/>
            <a:r>
              <a:rPr lang="ru-RU" dirty="0"/>
              <a:t>Полезен, когда известно примерное количество элементов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CEE53-D0A8-5703-5C2B-8DA2815CF917}"/>
              </a:ext>
            </a:extLst>
          </p:cNvPr>
          <p:cNvSpPr txBox="1"/>
          <p:nvPr/>
        </p:nvSpPr>
        <p:spPr>
          <a:xfrm>
            <a:off x="4583832" y="6333220"/>
            <a:ext cx="5908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https://quick-bench.com/q/i29UtpPOU0KqnZz1y9SLl7tWFt4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AE541-808D-3FBD-0FF9-8E53B3A8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70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2A3B-0EC8-E1B5-8445-3A649299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Инвалидация</a:t>
            </a:r>
            <a:r>
              <a:rPr lang="ru-RU" dirty="0"/>
              <a:t> ссылок и итераторов </a:t>
            </a:r>
            <a:r>
              <a:rPr lang="en-US" dirty="0"/>
              <a:t>std::vector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6934B-5873-A704-0ABD-0EF7088CE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Когда происходит </a:t>
            </a:r>
            <a:r>
              <a:rPr lang="ru-RU" dirty="0" err="1"/>
              <a:t>инвалидация</a:t>
            </a:r>
            <a:endParaRPr lang="ru-RU" dirty="0"/>
          </a:p>
          <a:p>
            <a:pPr lvl="1"/>
            <a:r>
              <a:rPr lang="ru-RU" dirty="0"/>
              <a:t>Если происходит перераспределение памяти</a:t>
            </a:r>
          </a:p>
          <a:p>
            <a:pPr lvl="2"/>
            <a:r>
              <a:rPr lang="ru-RU" dirty="0" err="1"/>
              <a:t>push_back</a:t>
            </a:r>
            <a:endParaRPr lang="ru-RU" dirty="0"/>
          </a:p>
          <a:p>
            <a:pPr lvl="2"/>
            <a:r>
              <a:rPr lang="ru-RU" dirty="0" err="1"/>
              <a:t>emplace_back</a:t>
            </a:r>
            <a:endParaRPr lang="ru-RU" dirty="0"/>
          </a:p>
          <a:p>
            <a:pPr lvl="2"/>
            <a:r>
              <a:rPr lang="ru-RU" dirty="0" err="1"/>
              <a:t>insert</a:t>
            </a:r>
            <a:endParaRPr lang="ru-RU" dirty="0"/>
          </a:p>
          <a:p>
            <a:pPr lvl="2"/>
            <a:r>
              <a:rPr lang="ru-RU" dirty="0" err="1"/>
              <a:t>resize</a:t>
            </a:r>
            <a:endParaRPr lang="ru-RU" dirty="0"/>
          </a:p>
          <a:p>
            <a:pPr lvl="2"/>
            <a:r>
              <a:rPr lang="ru-RU" dirty="0" err="1"/>
              <a:t>reserve</a:t>
            </a:r>
            <a:endParaRPr lang="ru-RU" dirty="0"/>
          </a:p>
          <a:p>
            <a:pPr lvl="1"/>
            <a:r>
              <a:rPr lang="ru-RU" dirty="0"/>
              <a:t>➡ </a:t>
            </a:r>
            <a:r>
              <a:rPr lang="ru-RU" dirty="0" err="1"/>
              <a:t>Инвалидируются</a:t>
            </a:r>
            <a:r>
              <a:rPr lang="ru-RU" dirty="0"/>
              <a:t> все ссылки, указатели и итераторы</a:t>
            </a:r>
          </a:p>
          <a:p>
            <a:r>
              <a:rPr lang="ru-RU" dirty="0"/>
              <a:t>Если перераспределения нет</a:t>
            </a:r>
          </a:p>
          <a:p>
            <a:pPr lvl="1"/>
            <a:r>
              <a:rPr lang="ru-RU" dirty="0" err="1"/>
              <a:t>push_back</a:t>
            </a:r>
            <a:r>
              <a:rPr lang="ru-RU" dirty="0"/>
              <a:t> — </a:t>
            </a:r>
            <a:r>
              <a:rPr lang="ru-RU" dirty="0" err="1"/>
              <a:t>инвалидирует</a:t>
            </a:r>
            <a:r>
              <a:rPr lang="ru-RU" dirty="0"/>
              <a:t> только </a:t>
            </a:r>
            <a:r>
              <a:rPr lang="ru-RU" dirty="0" err="1"/>
              <a:t>end</a:t>
            </a:r>
            <a:r>
              <a:rPr lang="ru-RU" dirty="0"/>
              <a:t>()</a:t>
            </a:r>
          </a:p>
          <a:p>
            <a:pPr lvl="1"/>
            <a:r>
              <a:rPr lang="ru-RU" dirty="0" err="1"/>
              <a:t>erase</a:t>
            </a:r>
            <a:r>
              <a:rPr lang="ru-RU" dirty="0"/>
              <a:t> — </a:t>
            </a:r>
            <a:r>
              <a:rPr lang="ru-RU" dirty="0" err="1"/>
              <a:t>инвалидирует</a:t>
            </a:r>
            <a:r>
              <a:rPr lang="ru-RU" dirty="0"/>
              <a:t> ссылки и итераторы в точке удаления и следом за ней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После </a:t>
            </a:r>
            <a:r>
              <a:rPr lang="ru-RU" dirty="0" err="1"/>
              <a:t>инвалидации</a:t>
            </a:r>
            <a:r>
              <a:rPr lang="ru-RU" dirty="0"/>
              <a:t> использование старых ссылок и итераторов — неопределённое поведение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1B8B1-36A2-5EDB-9257-98BE72C7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874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10AA17-522B-EDDB-DB6F-D58E0C6E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Инвалидация</a:t>
            </a:r>
            <a:r>
              <a:rPr lang="ru-RU" dirty="0"/>
              <a:t> ссылок и итераторов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9CE80-C72B-9A93-D124-66DCE15B3427}"/>
              </a:ext>
            </a:extLst>
          </p:cNvPr>
          <p:cNvSpPr txBox="1"/>
          <p:nvPr/>
        </p:nvSpPr>
        <p:spPr>
          <a:xfrm>
            <a:off x="838200" y="1844824"/>
            <a:ext cx="88594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middle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first, middle, last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больше использовать нельзя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Итераторы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b, e, m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также нельзя использовать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41DD46-CA34-4C96-7CF7-35758FCA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98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961E0E7-9082-6DD8-4C9F-CFBA832E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std::deque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6D847B-798A-AB8A-E357-1F3D203D5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714CA6-8A77-466B-7C3B-56069264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863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Двусторонняя очередь</a:t>
            </a:r>
            <a:r>
              <a:rPr lang="en-US" dirty="0"/>
              <a:t> (double-ended queue) </a:t>
            </a:r>
            <a:r>
              <a:rPr lang="en-US" dirty="0">
                <a:hlinkClick r:id="rId4"/>
              </a:rPr>
              <a:t>std::</a:t>
            </a:r>
            <a:r>
              <a:rPr lang="en-US" dirty="0" err="1">
                <a:hlinkClick r:id="rId4"/>
              </a:rPr>
              <a:t>deque</a:t>
            </a:r>
            <a:endParaRPr lang="ru-RU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Аналогична вектору, но обеспечивает</a:t>
            </a:r>
            <a:r>
              <a:rPr lang="en-US" dirty="0"/>
              <a:t> </a:t>
            </a:r>
            <a:r>
              <a:rPr lang="ru-RU" dirty="0"/>
              <a:t>эффективную вставку и удаление элементов не только в конце, но и в начале очереди</a:t>
            </a:r>
            <a:endParaRPr lang="en-US" dirty="0"/>
          </a:p>
          <a:p>
            <a:pPr lvl="1" eaLnBrk="1" hangingPunct="1"/>
            <a:r>
              <a:rPr lang="ru-RU" dirty="0"/>
              <a:t>В отличие от вектора </a:t>
            </a:r>
            <a:r>
              <a:rPr lang="ru-RU" b="1" dirty="0"/>
              <a:t>не гарантируется </a:t>
            </a:r>
            <a:r>
              <a:rPr lang="ru-RU" dirty="0"/>
              <a:t>последовательное хранение элементов в памяти</a:t>
            </a:r>
          </a:p>
          <a:p>
            <a:pPr lvl="1" eaLnBrk="1" hangingPunct="1"/>
            <a:r>
              <a:rPr lang="ru-RU" dirty="0"/>
              <a:t>Гарантируется константный доступ к элементу по его индексу</a:t>
            </a:r>
            <a:endParaRPr lang="en-US" dirty="0"/>
          </a:p>
          <a:p>
            <a:pPr lvl="1" eaLnBrk="1" hangingPunct="1"/>
            <a:r>
              <a:rPr lang="ru-RU" dirty="0"/>
              <a:t>Для использования необходимо подключить заголовочный файл </a:t>
            </a:r>
            <a:r>
              <a:rPr lang="en-US" dirty="0"/>
              <a:t>&lt;deque&gt;</a:t>
            </a:r>
            <a:endParaRPr lang="ru-RU" dirty="0"/>
          </a:p>
          <a:p>
            <a:r>
              <a:rPr lang="ru-RU" dirty="0"/>
              <a:t>Вставка в начало и конец двусторонней очереди не приводит к </a:t>
            </a:r>
            <a:r>
              <a:rPr lang="ru-RU" dirty="0" err="1"/>
              <a:t>инвалидации</a:t>
            </a:r>
            <a:r>
              <a:rPr lang="ru-RU" dirty="0"/>
              <a:t> ссылок и итераторов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3E4380-0666-D9D6-1DF9-E3DAE5A1F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456" y="4993465"/>
            <a:ext cx="1848083" cy="1864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67EB-55AE-F883-838B-E24D1B14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006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26D761E-84B6-4D5D-9847-4A88F986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Возможное устройство </a:t>
            </a:r>
            <a:r>
              <a:rPr lang="en-US" dirty="0"/>
              <a:t>deque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7ED7F6E-331F-4ED1-AA2A-BE85D0148BB8}"/>
              </a:ext>
            </a:extLst>
          </p:cNvPr>
          <p:cNvSpPr/>
          <p:nvPr/>
        </p:nvSpPr>
        <p:spPr>
          <a:xfrm>
            <a:off x="3711773" y="256363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B956963-7DE0-4A3B-8FA6-74E1F940DB3D}"/>
              </a:ext>
            </a:extLst>
          </p:cNvPr>
          <p:cNvSpPr/>
          <p:nvPr/>
        </p:nvSpPr>
        <p:spPr>
          <a:xfrm>
            <a:off x="4287837" y="256363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0EC6FF3-8433-4059-B476-95F2DF01FCD9}"/>
              </a:ext>
            </a:extLst>
          </p:cNvPr>
          <p:cNvSpPr/>
          <p:nvPr/>
        </p:nvSpPr>
        <p:spPr>
          <a:xfrm>
            <a:off x="4863901" y="256363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5A7E699-30EC-45B7-9D88-6B83D57EAF66}"/>
              </a:ext>
            </a:extLst>
          </p:cNvPr>
          <p:cNvSpPr/>
          <p:nvPr/>
        </p:nvSpPr>
        <p:spPr>
          <a:xfrm>
            <a:off x="5439965" y="2563636"/>
            <a:ext cx="576064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54AA36A-6B7A-482F-80CC-CEBF0D9A2DD5}"/>
              </a:ext>
            </a:extLst>
          </p:cNvPr>
          <p:cNvCxnSpPr>
            <a:cxnSpLocks/>
            <a:stCxn id="17" idx="2"/>
            <a:endCxn id="5" idx="0"/>
          </p:cNvCxnSpPr>
          <p:nvPr/>
        </p:nvCxnSpPr>
        <p:spPr>
          <a:xfrm flipH="1">
            <a:off x="835570" y="3139700"/>
            <a:ext cx="3164235" cy="1998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15D17148-CF89-4295-BA03-6E589CCB7A14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flipH="1">
            <a:off x="3636887" y="3139700"/>
            <a:ext cx="938982" cy="1998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A3CADFF-71EC-445E-B788-DC938FC6B2D4}"/>
              </a:ext>
            </a:extLst>
          </p:cNvPr>
          <p:cNvCxnSpPr>
            <a:cxnSpLocks/>
            <a:stCxn id="19" idx="2"/>
            <a:endCxn id="13" idx="0"/>
          </p:cNvCxnSpPr>
          <p:nvPr/>
        </p:nvCxnSpPr>
        <p:spPr>
          <a:xfrm>
            <a:off x="5151933" y="3139700"/>
            <a:ext cx="1286271" cy="1998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E04D58C0-E4D6-4892-89CC-FCB45EF65C87}"/>
              </a:ext>
            </a:extLst>
          </p:cNvPr>
          <p:cNvCxnSpPr>
            <a:cxnSpLocks/>
            <a:stCxn id="40" idx="2"/>
            <a:endCxn id="8" idx="0"/>
          </p:cNvCxnSpPr>
          <p:nvPr/>
        </p:nvCxnSpPr>
        <p:spPr>
          <a:xfrm>
            <a:off x="2656751" y="4704104"/>
            <a:ext cx="5765" cy="43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F656724-1D94-4C54-A646-A397AA38C886}"/>
              </a:ext>
            </a:extLst>
          </p:cNvPr>
          <p:cNvSpPr txBox="1"/>
          <p:nvPr/>
        </p:nvSpPr>
        <p:spPr>
          <a:xfrm>
            <a:off x="2296711" y="4334772"/>
            <a:ext cx="72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begin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F3E800-5B63-4210-BAAC-78BE397487F8}"/>
              </a:ext>
            </a:extLst>
          </p:cNvPr>
          <p:cNvSpPr txBox="1"/>
          <p:nvPr/>
        </p:nvSpPr>
        <p:spPr>
          <a:xfrm>
            <a:off x="6687146" y="4336357"/>
            <a:ext cx="72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</a:t>
            </a:r>
            <a:endParaRPr lang="ru-RU" dirty="0"/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7890B05-A957-4623-9456-E33E5A0578BE}"/>
              </a:ext>
            </a:extLst>
          </p:cNvPr>
          <p:cNvCxnSpPr>
            <a:cxnSpLocks/>
            <a:stCxn id="41" idx="2"/>
            <a:endCxn id="14" idx="0"/>
          </p:cNvCxnSpPr>
          <p:nvPr/>
        </p:nvCxnSpPr>
        <p:spPr>
          <a:xfrm>
            <a:off x="7047186" y="4705689"/>
            <a:ext cx="0" cy="43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Левая фигурная скобка 47">
            <a:extLst>
              <a:ext uri="{FF2B5EF4-FFF2-40B4-BE49-F238E27FC236}">
                <a16:creationId xmlns:a16="http://schemas.microsoft.com/office/drawing/2014/main" id="{7ED414D1-8E08-46E6-907D-DEECC161B7D2}"/>
              </a:ext>
            </a:extLst>
          </p:cNvPr>
          <p:cNvSpPr/>
          <p:nvPr/>
        </p:nvSpPr>
        <p:spPr>
          <a:xfrm rot="16200000">
            <a:off x="1264532" y="5146029"/>
            <a:ext cx="360040" cy="18269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891A9B-F3EE-4C0A-B774-5D1720B69824}"/>
              </a:ext>
            </a:extLst>
          </p:cNvPr>
          <p:cNvSpPr txBox="1"/>
          <p:nvPr/>
        </p:nvSpPr>
        <p:spPr>
          <a:xfrm>
            <a:off x="912975" y="637418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m_offset</a:t>
            </a:r>
            <a:endParaRPr lang="ru-RU" dirty="0"/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B6CC4432-06CE-4A99-8C1A-43457ECCD47B}"/>
              </a:ext>
            </a:extLst>
          </p:cNvPr>
          <p:cNvCxnSpPr>
            <a:stCxn id="51" idx="3"/>
            <a:endCxn id="17" idx="1"/>
          </p:cNvCxnSpPr>
          <p:nvPr/>
        </p:nvCxnSpPr>
        <p:spPr>
          <a:xfrm>
            <a:off x="1986663" y="2143152"/>
            <a:ext cx="1725110" cy="708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E10BFB11-3F92-45AB-9195-5309A080BFA0}"/>
              </a:ext>
            </a:extLst>
          </p:cNvPr>
          <p:cNvGrpSpPr/>
          <p:nvPr/>
        </p:nvGrpSpPr>
        <p:grpSpPr>
          <a:xfrm>
            <a:off x="531079" y="5138482"/>
            <a:ext cx="10657184" cy="572287"/>
            <a:chOff x="191344" y="4960580"/>
            <a:chExt cx="12601400" cy="57606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25792CE-38EC-4935-BEAD-2162743F16AD}"/>
                </a:ext>
              </a:extLst>
            </p:cNvPr>
            <p:cNvSpPr/>
            <p:nvPr/>
          </p:nvSpPr>
          <p:spPr>
            <a:xfrm>
              <a:off x="19134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00E0F79-3E9C-4520-B83C-80AC5B296991}"/>
                </a:ext>
              </a:extLst>
            </p:cNvPr>
            <p:cNvSpPr/>
            <p:nvPr/>
          </p:nvSpPr>
          <p:spPr>
            <a:xfrm>
              <a:off x="91142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619557D-0B61-4D1A-82F3-0EE48E661E9B}"/>
                </a:ext>
              </a:extLst>
            </p:cNvPr>
            <p:cNvSpPr/>
            <p:nvPr/>
          </p:nvSpPr>
          <p:spPr>
            <a:xfrm>
              <a:off x="163150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859497B3-97DF-4166-8803-1DD354E7F3DF}"/>
                </a:ext>
              </a:extLst>
            </p:cNvPr>
            <p:cNvSpPr/>
            <p:nvPr/>
          </p:nvSpPr>
          <p:spPr>
            <a:xfrm>
              <a:off x="2351584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8E0AF047-C5E4-4E69-82B6-A6BCC2F4EFC9}"/>
                </a:ext>
              </a:extLst>
            </p:cNvPr>
            <p:cNvSpPr/>
            <p:nvPr/>
          </p:nvSpPr>
          <p:spPr>
            <a:xfrm>
              <a:off x="3503712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457DB51-E7D9-4E76-8407-F94D426F17D7}"/>
                </a:ext>
              </a:extLst>
            </p:cNvPr>
            <p:cNvSpPr/>
            <p:nvPr/>
          </p:nvSpPr>
          <p:spPr>
            <a:xfrm>
              <a:off x="4223792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5459909-A137-4697-9CE1-0CC0485D1D56}"/>
                </a:ext>
              </a:extLst>
            </p:cNvPr>
            <p:cNvSpPr/>
            <p:nvPr/>
          </p:nvSpPr>
          <p:spPr>
            <a:xfrm>
              <a:off x="4943872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3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BA2627F-1CFF-437D-8EF9-C5F9BBC09890}"/>
                </a:ext>
              </a:extLst>
            </p:cNvPr>
            <p:cNvSpPr/>
            <p:nvPr/>
          </p:nvSpPr>
          <p:spPr>
            <a:xfrm>
              <a:off x="5663952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4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122403D-6D54-45B3-A0AB-C9349DF1814A}"/>
                </a:ext>
              </a:extLst>
            </p:cNvPr>
            <p:cNvSpPr/>
            <p:nvPr/>
          </p:nvSpPr>
          <p:spPr>
            <a:xfrm>
              <a:off x="6816080" y="4960580"/>
              <a:ext cx="720080" cy="5760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5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0C0962FD-75F8-4D45-A600-6F22D7D73A61}"/>
                </a:ext>
              </a:extLst>
            </p:cNvPr>
            <p:cNvSpPr/>
            <p:nvPr/>
          </p:nvSpPr>
          <p:spPr>
            <a:xfrm>
              <a:off x="7536160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3261FF-A81F-403F-9041-1DC847CB679A}"/>
                </a:ext>
              </a:extLst>
            </p:cNvPr>
            <p:cNvSpPr/>
            <p:nvPr/>
          </p:nvSpPr>
          <p:spPr>
            <a:xfrm>
              <a:off x="8256240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5DB68FA-C8AB-4C32-B6E9-726FBDFFB0D6}"/>
                </a:ext>
              </a:extLst>
            </p:cNvPr>
            <p:cNvSpPr/>
            <p:nvPr/>
          </p:nvSpPr>
          <p:spPr>
            <a:xfrm>
              <a:off x="8976320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 65">
              <a:extLst>
                <a:ext uri="{FF2B5EF4-FFF2-40B4-BE49-F238E27FC236}">
                  <a16:creationId xmlns:a16="http://schemas.microsoft.com/office/drawing/2014/main" id="{261C5B05-EFA5-454F-8367-78E7E1805EA6}"/>
                </a:ext>
              </a:extLst>
            </p:cNvPr>
            <p:cNvSpPr/>
            <p:nvPr/>
          </p:nvSpPr>
          <p:spPr>
            <a:xfrm>
              <a:off x="991242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E864194F-F535-4F74-886B-42C930950EE6}"/>
                </a:ext>
              </a:extLst>
            </p:cNvPr>
            <p:cNvSpPr/>
            <p:nvPr/>
          </p:nvSpPr>
          <p:spPr>
            <a:xfrm>
              <a:off x="1063250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27107238-5A68-4D49-A7E7-E5CADAF89D55}"/>
                </a:ext>
              </a:extLst>
            </p:cNvPr>
            <p:cNvSpPr/>
            <p:nvPr/>
          </p:nvSpPr>
          <p:spPr>
            <a:xfrm>
              <a:off x="1135258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4932DB37-ABB1-44F3-A227-691FC474E9C2}"/>
                </a:ext>
              </a:extLst>
            </p:cNvPr>
            <p:cNvSpPr/>
            <p:nvPr/>
          </p:nvSpPr>
          <p:spPr>
            <a:xfrm>
              <a:off x="12072664" y="4960580"/>
              <a:ext cx="720080" cy="5760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4657374B-4926-4359-8953-609D963C23A2}"/>
              </a:ext>
            </a:extLst>
          </p:cNvPr>
          <p:cNvCxnSpPr>
            <a:cxnSpLocks/>
            <a:stCxn id="20" idx="2"/>
            <a:endCxn id="66" idx="0"/>
          </p:cNvCxnSpPr>
          <p:nvPr/>
        </p:nvCxnSpPr>
        <p:spPr>
          <a:xfrm>
            <a:off x="5727997" y="3139700"/>
            <a:ext cx="3328829" cy="1998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B6E1F44-4E52-4AB4-83B4-EB6153FB99D2}"/>
              </a:ext>
            </a:extLst>
          </p:cNvPr>
          <p:cNvSpPr txBox="1"/>
          <p:nvPr/>
        </p:nvSpPr>
        <p:spPr>
          <a:xfrm>
            <a:off x="6304061" y="2031704"/>
            <a:ext cx="5887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Размер контейнера </a:t>
            </a:r>
            <a:r>
              <a:rPr lang="en-US" dirty="0" err="1"/>
              <a:t>m_map</a:t>
            </a:r>
            <a:r>
              <a:rPr lang="en-US" dirty="0"/>
              <a:t> </a:t>
            </a:r>
            <a:r>
              <a:rPr lang="ru-RU" dirty="0"/>
              <a:t>и самого блока – степень числа 2.</a:t>
            </a:r>
          </a:p>
          <a:p>
            <a:r>
              <a:rPr lang="ru-RU" dirty="0"/>
              <a:t>Блоки могут быть «закольцованы»</a:t>
            </a:r>
          </a:p>
        </p:txBody>
      </p: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3E63BA1-2108-4F69-B87C-089EFD91FBBB}"/>
              </a:ext>
            </a:extLst>
          </p:cNvPr>
          <p:cNvGrpSpPr/>
          <p:nvPr/>
        </p:nvGrpSpPr>
        <p:grpSpPr>
          <a:xfrm>
            <a:off x="330479" y="1888167"/>
            <a:ext cx="1656184" cy="2468279"/>
            <a:chOff x="275611" y="1539505"/>
            <a:chExt cx="1656184" cy="2788176"/>
          </a:xfrm>
          <a:solidFill>
            <a:schemeClr val="tx1"/>
          </a:solidFill>
        </p:grpSpPr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352FAF6E-6C5F-4F4E-8B72-348A65141C36}"/>
                </a:ext>
              </a:extLst>
            </p:cNvPr>
            <p:cNvSpPr/>
            <p:nvPr/>
          </p:nvSpPr>
          <p:spPr>
            <a:xfrm>
              <a:off x="275611" y="1539505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m_map</a:t>
              </a:r>
              <a:endParaRPr lang="ru-RU" dirty="0"/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8F77F736-F82A-487B-AE36-21757ED48582}"/>
                </a:ext>
              </a:extLst>
            </p:cNvPr>
            <p:cNvSpPr/>
            <p:nvPr/>
          </p:nvSpPr>
          <p:spPr>
            <a:xfrm>
              <a:off x="275611" y="2083844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m_size</a:t>
              </a:r>
              <a:r>
                <a:rPr lang="en-US" dirty="0"/>
                <a:t>: 6</a:t>
              </a:r>
              <a:endParaRPr lang="ru-RU" dirty="0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7C89EBF2-504C-40BC-A277-2227E4325E9B}"/>
                </a:ext>
              </a:extLst>
            </p:cNvPr>
            <p:cNvSpPr/>
            <p:nvPr/>
          </p:nvSpPr>
          <p:spPr>
            <a:xfrm>
              <a:off x="275611" y="2659908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m_offset</a:t>
              </a:r>
              <a:r>
                <a:rPr lang="en-US" dirty="0"/>
                <a:t>: 3</a:t>
              </a:r>
              <a:endParaRPr lang="ru-RU" dirty="0"/>
            </a:p>
          </p:txBody>
        </p:sp>
        <p:sp>
          <p:nvSpPr>
            <p:cNvPr id="79" name="Прямоугольник 78">
              <a:extLst>
                <a:ext uri="{FF2B5EF4-FFF2-40B4-BE49-F238E27FC236}">
                  <a16:creationId xmlns:a16="http://schemas.microsoft.com/office/drawing/2014/main" id="{D3C0C2D5-87F4-49F6-ACF1-FBF205236827}"/>
                </a:ext>
              </a:extLst>
            </p:cNvPr>
            <p:cNvSpPr/>
            <p:nvPr/>
          </p:nvSpPr>
          <p:spPr>
            <a:xfrm>
              <a:off x="275611" y="3204247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m_blockSize</a:t>
              </a:r>
              <a:r>
                <a:rPr lang="en-US" dirty="0"/>
                <a:t>: 4</a:t>
              </a:r>
              <a:endParaRPr lang="ru-RU" dirty="0"/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id="{103C5629-AF6B-4E68-97E5-64F349A3F19E}"/>
                </a:ext>
              </a:extLst>
            </p:cNvPr>
            <p:cNvSpPr/>
            <p:nvPr/>
          </p:nvSpPr>
          <p:spPr>
            <a:xfrm>
              <a:off x="275611" y="3751617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m_mapSize</a:t>
              </a:r>
              <a:r>
                <a:rPr lang="en-US" dirty="0"/>
                <a:t>: 4</a:t>
              </a:r>
              <a:endParaRPr lang="ru-RU" dirty="0"/>
            </a:p>
          </p:txBody>
        </p:sp>
      </p:grpSp>
      <p:sp>
        <p:nvSpPr>
          <p:cNvPr id="81" name="Левая фигурная скобка 80">
            <a:extLst>
              <a:ext uri="{FF2B5EF4-FFF2-40B4-BE49-F238E27FC236}">
                <a16:creationId xmlns:a16="http://schemas.microsoft.com/office/drawing/2014/main" id="{445F206C-5FC4-4711-9278-050758341055}"/>
              </a:ext>
            </a:extLst>
          </p:cNvPr>
          <p:cNvSpPr/>
          <p:nvPr/>
        </p:nvSpPr>
        <p:spPr>
          <a:xfrm rot="5400000">
            <a:off x="4745846" y="1141890"/>
            <a:ext cx="236108" cy="2304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C795FB-5732-4CBA-A943-7F012C5989F0}"/>
              </a:ext>
            </a:extLst>
          </p:cNvPr>
          <p:cNvSpPr txBox="1"/>
          <p:nvPr/>
        </p:nvSpPr>
        <p:spPr>
          <a:xfrm>
            <a:off x="4359845" y="180290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 size</a:t>
            </a:r>
            <a:endParaRPr lang="ru-RU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33047E4-DCAB-4CF9-9EF3-170B37968F59}"/>
              </a:ext>
            </a:extLst>
          </p:cNvPr>
          <p:cNvSpPr txBox="1"/>
          <p:nvPr/>
        </p:nvSpPr>
        <p:spPr>
          <a:xfrm>
            <a:off x="330479" y="1516151"/>
            <a:ext cx="149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Deque</a:t>
            </a:r>
            <a:endParaRPr lang="ru-RU" dirty="0"/>
          </a:p>
        </p:txBody>
      </p:sp>
      <p:sp>
        <p:nvSpPr>
          <p:cNvPr id="2" name="Левая фигурная скобка 47">
            <a:extLst>
              <a:ext uri="{FF2B5EF4-FFF2-40B4-BE49-F238E27FC236}">
                <a16:creationId xmlns:a16="http://schemas.microsoft.com/office/drawing/2014/main" id="{B9779C37-229F-7931-D99D-2038650525C3}"/>
              </a:ext>
            </a:extLst>
          </p:cNvPr>
          <p:cNvSpPr/>
          <p:nvPr/>
        </p:nvSpPr>
        <p:spPr>
          <a:xfrm rot="16200000">
            <a:off x="4370340" y="4851461"/>
            <a:ext cx="360040" cy="24359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56110-0084-F760-893B-34CE67E66D01}"/>
              </a:ext>
            </a:extLst>
          </p:cNvPr>
          <p:cNvSpPr txBox="1"/>
          <p:nvPr/>
        </p:nvSpPr>
        <p:spPr>
          <a:xfrm>
            <a:off x="3636887" y="6374186"/>
            <a:ext cx="182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m_blockSize</a:t>
            </a:r>
            <a:endParaRPr lang="ru-RU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C279D2E-0514-FF85-EB40-2035BE21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816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6">
            <a:extLst>
              <a:ext uri="{FF2B5EF4-FFF2-40B4-BE49-F238E27FC236}">
                <a16:creationId xmlns:a16="http://schemas.microsoft.com/office/drawing/2014/main" id="{C128E09C-945F-A6E9-1E42-AD105921CF25}"/>
              </a:ext>
            </a:extLst>
          </p:cNvPr>
          <p:cNvSpPr/>
          <p:nvPr/>
        </p:nvSpPr>
        <p:spPr>
          <a:xfrm>
            <a:off x="3791744" y="129721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endParaRPr lang="ru-RU" dirty="0"/>
          </a:p>
        </p:txBody>
      </p:sp>
      <p:sp>
        <p:nvSpPr>
          <p:cNvPr id="4" name="Прямоугольник 17">
            <a:extLst>
              <a:ext uri="{FF2B5EF4-FFF2-40B4-BE49-F238E27FC236}">
                <a16:creationId xmlns:a16="http://schemas.microsoft.com/office/drawing/2014/main" id="{6C02CA1E-F2D2-6C70-6D89-E72B4AFD2F53}"/>
              </a:ext>
            </a:extLst>
          </p:cNvPr>
          <p:cNvSpPr/>
          <p:nvPr/>
        </p:nvSpPr>
        <p:spPr>
          <a:xfrm>
            <a:off x="4367808" y="129721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Прямоугольник 18">
            <a:extLst>
              <a:ext uri="{FF2B5EF4-FFF2-40B4-BE49-F238E27FC236}">
                <a16:creationId xmlns:a16="http://schemas.microsoft.com/office/drawing/2014/main" id="{5A2D582E-8FE4-EA76-85DC-EA407F4B1C38}"/>
              </a:ext>
            </a:extLst>
          </p:cNvPr>
          <p:cNvSpPr/>
          <p:nvPr/>
        </p:nvSpPr>
        <p:spPr>
          <a:xfrm>
            <a:off x="4943872" y="129721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6" name="Прямоугольник 19">
            <a:extLst>
              <a:ext uri="{FF2B5EF4-FFF2-40B4-BE49-F238E27FC236}">
                <a16:creationId xmlns:a16="http://schemas.microsoft.com/office/drawing/2014/main" id="{1302E82D-967C-7D0D-FBF2-1E07788BB748}"/>
              </a:ext>
            </a:extLst>
          </p:cNvPr>
          <p:cNvSpPr/>
          <p:nvPr/>
        </p:nvSpPr>
        <p:spPr>
          <a:xfrm>
            <a:off x="5519936" y="1297216"/>
            <a:ext cx="576064" cy="5760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cxnSp>
        <p:nvCxnSpPr>
          <p:cNvPr id="7" name="Прямая со стрелкой 21">
            <a:extLst>
              <a:ext uri="{FF2B5EF4-FFF2-40B4-BE49-F238E27FC236}">
                <a16:creationId xmlns:a16="http://schemas.microsoft.com/office/drawing/2014/main" id="{D15B1CBD-DD1A-0C83-1A2F-E59664C047D1}"/>
              </a:ext>
            </a:extLst>
          </p:cNvPr>
          <p:cNvCxnSpPr>
            <a:cxnSpLocks/>
            <a:stCxn id="3" idx="2"/>
            <a:endCxn id="18" idx="0"/>
          </p:cNvCxnSpPr>
          <p:nvPr/>
        </p:nvCxnSpPr>
        <p:spPr>
          <a:xfrm flipH="1">
            <a:off x="691554" y="1873280"/>
            <a:ext cx="3388222" cy="1812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23">
            <a:extLst>
              <a:ext uri="{FF2B5EF4-FFF2-40B4-BE49-F238E27FC236}">
                <a16:creationId xmlns:a16="http://schemas.microsoft.com/office/drawing/2014/main" id="{B586D84B-9E62-DCD0-61E4-65B4DA749715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 flipH="1">
            <a:off x="3492871" y="1873280"/>
            <a:ext cx="1162969" cy="1812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26">
            <a:extLst>
              <a:ext uri="{FF2B5EF4-FFF2-40B4-BE49-F238E27FC236}">
                <a16:creationId xmlns:a16="http://schemas.microsoft.com/office/drawing/2014/main" id="{9A7B2B32-6A0E-D68E-8EDF-60ADF8D470C5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>
            <a:off x="5231904" y="1873280"/>
            <a:ext cx="1062284" cy="1812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38">
            <a:extLst>
              <a:ext uri="{FF2B5EF4-FFF2-40B4-BE49-F238E27FC236}">
                <a16:creationId xmlns:a16="http://schemas.microsoft.com/office/drawing/2014/main" id="{5907E10B-87D7-0CEA-5C38-15321731FD6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356099" y="3250969"/>
            <a:ext cx="0" cy="43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3BC143-4A6D-2268-5F46-E69BF2703DBC}"/>
              </a:ext>
            </a:extLst>
          </p:cNvPr>
          <p:cNvSpPr txBox="1"/>
          <p:nvPr/>
        </p:nvSpPr>
        <p:spPr>
          <a:xfrm>
            <a:off x="4996059" y="2881637"/>
            <a:ext cx="72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begin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39432-AE31-BBF4-7090-1A9103130AFD}"/>
              </a:ext>
            </a:extLst>
          </p:cNvPr>
          <p:cNvSpPr txBox="1"/>
          <p:nvPr/>
        </p:nvSpPr>
        <p:spPr>
          <a:xfrm>
            <a:off x="1605027" y="2881637"/>
            <a:ext cx="72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</a:t>
            </a:r>
            <a:endParaRPr lang="ru-RU" dirty="0"/>
          </a:p>
        </p:txBody>
      </p:sp>
      <p:cxnSp>
        <p:nvCxnSpPr>
          <p:cNvPr id="13" name="Прямая со стрелкой 41">
            <a:extLst>
              <a:ext uri="{FF2B5EF4-FFF2-40B4-BE49-F238E27FC236}">
                <a16:creationId xmlns:a16="http://schemas.microsoft.com/office/drawing/2014/main" id="{9E326452-6C4D-DEE4-4EF0-1076D7A8C21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965067" y="3250969"/>
            <a:ext cx="0" cy="432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Левая фигурная скобка 47">
            <a:extLst>
              <a:ext uri="{FF2B5EF4-FFF2-40B4-BE49-F238E27FC236}">
                <a16:creationId xmlns:a16="http://schemas.microsoft.com/office/drawing/2014/main" id="{A4F33A29-CF2D-940A-8661-D3FFE58FCEBD}"/>
              </a:ext>
            </a:extLst>
          </p:cNvPr>
          <p:cNvSpPr/>
          <p:nvPr/>
        </p:nvSpPr>
        <p:spPr>
          <a:xfrm rot="16200000">
            <a:off x="2521174" y="2292235"/>
            <a:ext cx="360040" cy="46282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09793B-15CE-85D7-C544-DD8F13941DA3}"/>
              </a:ext>
            </a:extLst>
          </p:cNvPr>
          <p:cNvSpPr txBox="1"/>
          <p:nvPr/>
        </p:nvSpPr>
        <p:spPr>
          <a:xfrm>
            <a:off x="6903170" y="553657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00FF"/>
                </a:highlight>
              </a:rPr>
              <a:t>pos</a:t>
            </a:r>
            <a:r>
              <a:rPr lang="en-US" dirty="0"/>
              <a:t> = 7</a:t>
            </a:r>
            <a:endParaRPr lang="ru-RU" dirty="0"/>
          </a:p>
        </p:txBody>
      </p:sp>
      <p:cxnSp>
        <p:nvCxnSpPr>
          <p:cNvPr id="16" name="Прямая со стрелкой 52">
            <a:extLst>
              <a:ext uri="{FF2B5EF4-FFF2-40B4-BE49-F238E27FC236}">
                <a16:creationId xmlns:a16="http://schemas.microsoft.com/office/drawing/2014/main" id="{68245ED2-BF47-DD9C-C57E-95200183ADD9}"/>
              </a:ext>
            </a:extLst>
          </p:cNvPr>
          <p:cNvCxnSpPr>
            <a:stCxn id="36" idx="3"/>
            <a:endCxn id="3" idx="1"/>
          </p:cNvCxnSpPr>
          <p:nvPr/>
        </p:nvCxnSpPr>
        <p:spPr>
          <a:xfrm>
            <a:off x="1842647" y="674032"/>
            <a:ext cx="1949097" cy="91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4">
            <a:extLst>
              <a:ext uri="{FF2B5EF4-FFF2-40B4-BE49-F238E27FC236}">
                <a16:creationId xmlns:a16="http://schemas.microsoft.com/office/drawing/2014/main" id="{C0326071-9B04-0746-EBB9-5FBBC28FBF16}"/>
              </a:ext>
            </a:extLst>
          </p:cNvPr>
          <p:cNvSpPr/>
          <p:nvPr/>
        </p:nvSpPr>
        <p:spPr>
          <a:xfrm>
            <a:off x="387063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  <p:sp>
        <p:nvSpPr>
          <p:cNvPr id="19" name="Прямоугольник 5">
            <a:extLst>
              <a:ext uri="{FF2B5EF4-FFF2-40B4-BE49-F238E27FC236}">
                <a16:creationId xmlns:a16="http://schemas.microsoft.com/office/drawing/2014/main" id="{77FF2FDF-6664-5A5E-D3F1-B4CAE05633F5}"/>
              </a:ext>
            </a:extLst>
          </p:cNvPr>
          <p:cNvSpPr/>
          <p:nvPr/>
        </p:nvSpPr>
        <p:spPr>
          <a:xfrm>
            <a:off x="996045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  <p:sp>
        <p:nvSpPr>
          <p:cNvPr id="20" name="Прямоугольник 6">
            <a:extLst>
              <a:ext uri="{FF2B5EF4-FFF2-40B4-BE49-F238E27FC236}">
                <a16:creationId xmlns:a16="http://schemas.microsoft.com/office/drawing/2014/main" id="{DC9B841E-9B70-78DC-BF5B-2AEA0E21E85E}"/>
              </a:ext>
            </a:extLst>
          </p:cNvPr>
          <p:cNvSpPr/>
          <p:nvPr/>
        </p:nvSpPr>
        <p:spPr>
          <a:xfrm>
            <a:off x="1605027" y="3685347"/>
            <a:ext cx="608982" cy="572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7">
            <a:extLst>
              <a:ext uri="{FF2B5EF4-FFF2-40B4-BE49-F238E27FC236}">
                <a16:creationId xmlns:a16="http://schemas.microsoft.com/office/drawing/2014/main" id="{EB14611A-89E6-931E-8274-26AB6EC82C22}"/>
              </a:ext>
            </a:extLst>
          </p:cNvPr>
          <p:cNvSpPr/>
          <p:nvPr/>
        </p:nvSpPr>
        <p:spPr>
          <a:xfrm>
            <a:off x="2214009" y="3685347"/>
            <a:ext cx="608982" cy="572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8">
            <a:extLst>
              <a:ext uri="{FF2B5EF4-FFF2-40B4-BE49-F238E27FC236}">
                <a16:creationId xmlns:a16="http://schemas.microsoft.com/office/drawing/2014/main" id="{828C4D1B-7B7D-B14F-8BBE-450E16053437}"/>
              </a:ext>
            </a:extLst>
          </p:cNvPr>
          <p:cNvSpPr/>
          <p:nvPr/>
        </p:nvSpPr>
        <p:spPr>
          <a:xfrm>
            <a:off x="3188380" y="3685347"/>
            <a:ext cx="608982" cy="572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9">
            <a:extLst>
              <a:ext uri="{FF2B5EF4-FFF2-40B4-BE49-F238E27FC236}">
                <a16:creationId xmlns:a16="http://schemas.microsoft.com/office/drawing/2014/main" id="{792BD7D9-CF9A-DBC4-AD74-75EC75A60D8F}"/>
              </a:ext>
            </a:extLst>
          </p:cNvPr>
          <p:cNvSpPr/>
          <p:nvPr/>
        </p:nvSpPr>
        <p:spPr>
          <a:xfrm>
            <a:off x="3797362" y="3685347"/>
            <a:ext cx="608982" cy="572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10">
            <a:extLst>
              <a:ext uri="{FF2B5EF4-FFF2-40B4-BE49-F238E27FC236}">
                <a16:creationId xmlns:a16="http://schemas.microsoft.com/office/drawing/2014/main" id="{70D186E9-333C-2DB0-D634-2F9DD6971E95}"/>
              </a:ext>
            </a:extLst>
          </p:cNvPr>
          <p:cNvSpPr/>
          <p:nvPr/>
        </p:nvSpPr>
        <p:spPr>
          <a:xfrm>
            <a:off x="4406344" y="3685347"/>
            <a:ext cx="608982" cy="572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11">
            <a:extLst>
              <a:ext uri="{FF2B5EF4-FFF2-40B4-BE49-F238E27FC236}">
                <a16:creationId xmlns:a16="http://schemas.microsoft.com/office/drawing/2014/main" id="{6FB28468-9D96-18B0-4C3F-A3C3D7BD523D}"/>
              </a:ext>
            </a:extLst>
          </p:cNvPr>
          <p:cNvSpPr/>
          <p:nvPr/>
        </p:nvSpPr>
        <p:spPr>
          <a:xfrm>
            <a:off x="5015326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</a:t>
            </a:r>
          </a:p>
        </p:txBody>
      </p:sp>
      <p:sp>
        <p:nvSpPr>
          <p:cNvPr id="26" name="Прямоугольник 12">
            <a:extLst>
              <a:ext uri="{FF2B5EF4-FFF2-40B4-BE49-F238E27FC236}">
                <a16:creationId xmlns:a16="http://schemas.microsoft.com/office/drawing/2014/main" id="{2A2A72F8-2A3E-8A0A-14FD-2DEB03AD748B}"/>
              </a:ext>
            </a:extLst>
          </p:cNvPr>
          <p:cNvSpPr/>
          <p:nvPr/>
        </p:nvSpPr>
        <p:spPr>
          <a:xfrm>
            <a:off x="5989697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27" name="Прямоугольник 13">
            <a:extLst>
              <a:ext uri="{FF2B5EF4-FFF2-40B4-BE49-F238E27FC236}">
                <a16:creationId xmlns:a16="http://schemas.microsoft.com/office/drawing/2014/main" id="{8C777EA9-5808-BAB1-ABE8-A96B8793A3FD}"/>
              </a:ext>
            </a:extLst>
          </p:cNvPr>
          <p:cNvSpPr/>
          <p:nvPr/>
        </p:nvSpPr>
        <p:spPr>
          <a:xfrm>
            <a:off x="6598679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28" name="Прямоугольник 14">
            <a:extLst>
              <a:ext uri="{FF2B5EF4-FFF2-40B4-BE49-F238E27FC236}">
                <a16:creationId xmlns:a16="http://schemas.microsoft.com/office/drawing/2014/main" id="{6A76C8D2-4797-C2E4-2D5A-5669819308B8}"/>
              </a:ext>
            </a:extLst>
          </p:cNvPr>
          <p:cNvSpPr/>
          <p:nvPr/>
        </p:nvSpPr>
        <p:spPr>
          <a:xfrm>
            <a:off x="7207661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9" name="Прямоугольник 15">
            <a:extLst>
              <a:ext uri="{FF2B5EF4-FFF2-40B4-BE49-F238E27FC236}">
                <a16:creationId xmlns:a16="http://schemas.microsoft.com/office/drawing/2014/main" id="{0196ED83-691D-6DE5-6F34-51F245F803C1}"/>
              </a:ext>
            </a:extLst>
          </p:cNvPr>
          <p:cNvSpPr/>
          <p:nvPr/>
        </p:nvSpPr>
        <p:spPr>
          <a:xfrm>
            <a:off x="7816643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30" name="Прямоугольник 65">
            <a:extLst>
              <a:ext uri="{FF2B5EF4-FFF2-40B4-BE49-F238E27FC236}">
                <a16:creationId xmlns:a16="http://schemas.microsoft.com/office/drawing/2014/main" id="{55142B47-770F-96EB-C3B8-2EC6A0BCAC55}"/>
              </a:ext>
            </a:extLst>
          </p:cNvPr>
          <p:cNvSpPr/>
          <p:nvPr/>
        </p:nvSpPr>
        <p:spPr>
          <a:xfrm>
            <a:off x="8608319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31" name="Прямоугольник 66">
            <a:extLst>
              <a:ext uri="{FF2B5EF4-FFF2-40B4-BE49-F238E27FC236}">
                <a16:creationId xmlns:a16="http://schemas.microsoft.com/office/drawing/2014/main" id="{42A18FC7-25AD-D8FF-0627-3B35F025E35D}"/>
              </a:ext>
            </a:extLst>
          </p:cNvPr>
          <p:cNvSpPr/>
          <p:nvPr/>
        </p:nvSpPr>
        <p:spPr>
          <a:xfrm>
            <a:off x="9217301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sp>
        <p:nvSpPr>
          <p:cNvPr id="32" name="Прямоугольник 67">
            <a:extLst>
              <a:ext uri="{FF2B5EF4-FFF2-40B4-BE49-F238E27FC236}">
                <a16:creationId xmlns:a16="http://schemas.microsoft.com/office/drawing/2014/main" id="{F5132CE6-6CD2-738A-5447-0AF398C248C3}"/>
              </a:ext>
            </a:extLst>
          </p:cNvPr>
          <p:cNvSpPr/>
          <p:nvPr/>
        </p:nvSpPr>
        <p:spPr>
          <a:xfrm>
            <a:off x="9826283" y="3685347"/>
            <a:ext cx="608982" cy="5722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sp>
        <p:nvSpPr>
          <p:cNvPr id="33" name="Прямоугольник 68">
            <a:extLst>
              <a:ext uri="{FF2B5EF4-FFF2-40B4-BE49-F238E27FC236}">
                <a16:creationId xmlns:a16="http://schemas.microsoft.com/office/drawing/2014/main" id="{D980DE36-B91A-4ABD-A52C-6F63C4D68C88}"/>
              </a:ext>
            </a:extLst>
          </p:cNvPr>
          <p:cNvSpPr/>
          <p:nvPr/>
        </p:nvSpPr>
        <p:spPr>
          <a:xfrm>
            <a:off x="10435265" y="3685347"/>
            <a:ext cx="608982" cy="5722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cxnSp>
        <p:nvCxnSpPr>
          <p:cNvPr id="34" name="Прямая со стрелкой 73">
            <a:extLst>
              <a:ext uri="{FF2B5EF4-FFF2-40B4-BE49-F238E27FC236}">
                <a16:creationId xmlns:a16="http://schemas.microsoft.com/office/drawing/2014/main" id="{E26873CC-22EF-C0FB-F82A-AD0828132A7A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>
            <a:off x="5807968" y="1873280"/>
            <a:ext cx="3104842" cy="1812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Группа 92">
            <a:extLst>
              <a:ext uri="{FF2B5EF4-FFF2-40B4-BE49-F238E27FC236}">
                <a16:creationId xmlns:a16="http://schemas.microsoft.com/office/drawing/2014/main" id="{A90CD938-522A-BED0-EBBB-143EFC2097F0}"/>
              </a:ext>
            </a:extLst>
          </p:cNvPr>
          <p:cNvGrpSpPr/>
          <p:nvPr/>
        </p:nvGrpSpPr>
        <p:grpSpPr>
          <a:xfrm>
            <a:off x="186463" y="435033"/>
            <a:ext cx="1656184" cy="2313526"/>
            <a:chOff x="275611" y="1539505"/>
            <a:chExt cx="1656184" cy="2788176"/>
          </a:xfrm>
          <a:solidFill>
            <a:schemeClr val="tx1"/>
          </a:solidFill>
        </p:grpSpPr>
        <p:sp>
          <p:nvSpPr>
            <p:cNvPr id="36" name="Прямоугольник 50">
              <a:extLst>
                <a:ext uri="{FF2B5EF4-FFF2-40B4-BE49-F238E27FC236}">
                  <a16:creationId xmlns:a16="http://schemas.microsoft.com/office/drawing/2014/main" id="{4D6804C8-77CD-8E04-97B7-9DD59DAFB874}"/>
                </a:ext>
              </a:extLst>
            </p:cNvPr>
            <p:cNvSpPr/>
            <p:nvPr/>
          </p:nvSpPr>
          <p:spPr>
            <a:xfrm>
              <a:off x="275611" y="1539505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m_map</a:t>
              </a:r>
              <a:endParaRPr lang="ru-RU" dirty="0"/>
            </a:p>
          </p:txBody>
        </p:sp>
        <p:sp>
          <p:nvSpPr>
            <p:cNvPr id="37" name="Прямоугольник 55">
              <a:extLst>
                <a:ext uri="{FF2B5EF4-FFF2-40B4-BE49-F238E27FC236}">
                  <a16:creationId xmlns:a16="http://schemas.microsoft.com/office/drawing/2014/main" id="{DA56C232-9151-4DA2-B5B1-4D2CC2A34E99}"/>
                </a:ext>
              </a:extLst>
            </p:cNvPr>
            <p:cNvSpPr/>
            <p:nvPr/>
          </p:nvSpPr>
          <p:spPr>
            <a:xfrm>
              <a:off x="275611" y="2083844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m_size</a:t>
              </a:r>
              <a:r>
                <a:rPr lang="en-US" dirty="0"/>
                <a:t>: </a:t>
              </a:r>
              <a:r>
                <a:rPr lang="ru-RU" dirty="0"/>
                <a:t>11</a:t>
              </a:r>
            </a:p>
          </p:txBody>
        </p:sp>
        <p:sp>
          <p:nvSpPr>
            <p:cNvPr id="38" name="Прямоугольник 56">
              <a:extLst>
                <a:ext uri="{FF2B5EF4-FFF2-40B4-BE49-F238E27FC236}">
                  <a16:creationId xmlns:a16="http://schemas.microsoft.com/office/drawing/2014/main" id="{698740A2-00BF-C726-FA8E-EB43039843BB}"/>
                </a:ext>
              </a:extLst>
            </p:cNvPr>
            <p:cNvSpPr/>
            <p:nvPr/>
          </p:nvSpPr>
          <p:spPr>
            <a:xfrm>
              <a:off x="275611" y="2659908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m_offset</a:t>
              </a:r>
              <a:r>
                <a:rPr lang="en-US" dirty="0"/>
                <a:t>: </a:t>
              </a:r>
              <a:r>
                <a:rPr lang="ru-RU" dirty="0"/>
                <a:t>7</a:t>
              </a:r>
            </a:p>
          </p:txBody>
        </p:sp>
        <p:sp>
          <p:nvSpPr>
            <p:cNvPr id="39" name="Прямоугольник 78">
              <a:extLst>
                <a:ext uri="{FF2B5EF4-FFF2-40B4-BE49-F238E27FC236}">
                  <a16:creationId xmlns:a16="http://schemas.microsoft.com/office/drawing/2014/main" id="{DC799D1E-B69D-8F3B-C8D4-8C693721103A}"/>
                </a:ext>
              </a:extLst>
            </p:cNvPr>
            <p:cNvSpPr/>
            <p:nvPr/>
          </p:nvSpPr>
          <p:spPr>
            <a:xfrm>
              <a:off x="275611" y="3204247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m_blockSize</a:t>
              </a:r>
              <a:r>
                <a:rPr lang="en-US" dirty="0"/>
                <a:t>: 4</a:t>
              </a:r>
              <a:endParaRPr lang="ru-RU" dirty="0"/>
            </a:p>
          </p:txBody>
        </p:sp>
        <p:sp>
          <p:nvSpPr>
            <p:cNvPr id="40" name="Прямоугольник 79">
              <a:extLst>
                <a:ext uri="{FF2B5EF4-FFF2-40B4-BE49-F238E27FC236}">
                  <a16:creationId xmlns:a16="http://schemas.microsoft.com/office/drawing/2014/main" id="{78BDD662-828B-7AEC-CB1B-35F3543DA1B0}"/>
                </a:ext>
              </a:extLst>
            </p:cNvPr>
            <p:cNvSpPr/>
            <p:nvPr/>
          </p:nvSpPr>
          <p:spPr>
            <a:xfrm>
              <a:off x="275611" y="3751617"/>
              <a:ext cx="1656184" cy="5760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m_mapSize</a:t>
              </a:r>
              <a:r>
                <a:rPr lang="en-US" dirty="0"/>
                <a:t>: 4</a:t>
              </a:r>
              <a:endParaRPr lang="ru-RU" dirty="0"/>
            </a:p>
          </p:txBody>
        </p:sp>
      </p:grpSp>
      <p:sp>
        <p:nvSpPr>
          <p:cNvPr id="41" name="Левая фигурная скобка 80">
            <a:extLst>
              <a:ext uri="{FF2B5EF4-FFF2-40B4-BE49-F238E27FC236}">
                <a16:creationId xmlns:a16="http://schemas.microsoft.com/office/drawing/2014/main" id="{E6107FE0-98F6-073E-4B7E-FB343B1CAB10}"/>
              </a:ext>
            </a:extLst>
          </p:cNvPr>
          <p:cNvSpPr/>
          <p:nvPr/>
        </p:nvSpPr>
        <p:spPr>
          <a:xfrm rot="5400000">
            <a:off x="4825817" y="-124530"/>
            <a:ext cx="236108" cy="2304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CAD3F9-DB7A-E2CC-66E3-1E8F225C26D0}"/>
              </a:ext>
            </a:extLst>
          </p:cNvPr>
          <p:cNvSpPr txBox="1"/>
          <p:nvPr/>
        </p:nvSpPr>
        <p:spPr>
          <a:xfrm>
            <a:off x="4439816" y="53648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 size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0842E1-7D73-BCE1-22FB-BF80236D6400}"/>
              </a:ext>
            </a:extLst>
          </p:cNvPr>
          <p:cNvSpPr txBox="1"/>
          <p:nvPr/>
        </p:nvSpPr>
        <p:spPr>
          <a:xfrm>
            <a:off x="186463" y="63016"/>
            <a:ext cx="149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Deque</a:t>
            </a:r>
            <a:endParaRPr lang="ru-RU" dirty="0"/>
          </a:p>
        </p:txBody>
      </p:sp>
      <p:sp>
        <p:nvSpPr>
          <p:cNvPr id="44" name="Левая фигурная скобка 47">
            <a:extLst>
              <a:ext uri="{FF2B5EF4-FFF2-40B4-BE49-F238E27FC236}">
                <a16:creationId xmlns:a16="http://schemas.microsoft.com/office/drawing/2014/main" id="{89DA9227-D2A6-8ADD-0F14-88A21E540273}"/>
              </a:ext>
            </a:extLst>
          </p:cNvPr>
          <p:cNvSpPr/>
          <p:nvPr/>
        </p:nvSpPr>
        <p:spPr>
          <a:xfrm rot="16200000">
            <a:off x="6992182" y="3392999"/>
            <a:ext cx="360040" cy="24359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AFD715-63D1-C553-134A-93475EE05CDF}"/>
              </a:ext>
            </a:extLst>
          </p:cNvPr>
          <p:cNvSpPr txBox="1"/>
          <p:nvPr/>
        </p:nvSpPr>
        <p:spPr>
          <a:xfrm>
            <a:off x="6279660" y="4787832"/>
            <a:ext cx="1770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m_blockSize</a:t>
            </a:r>
            <a:r>
              <a:rPr lang="en-US" dirty="0"/>
              <a:t> = 4</a:t>
            </a:r>
            <a:endParaRPr lang="ru-RU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A0A9C9-FECA-4295-810D-A19EABFA8B72}"/>
              </a:ext>
            </a:extLst>
          </p:cNvPr>
          <p:cNvSpPr txBox="1"/>
          <p:nvPr/>
        </p:nvSpPr>
        <p:spPr>
          <a:xfrm>
            <a:off x="6279660" y="96751"/>
            <a:ext cx="5736076" cy="1708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>
                <a:latin typeface="Consolas" panose="020B0609020204030204" pitchFamily="49" charset="0"/>
              </a:rPr>
              <a:t>//</a:t>
            </a:r>
            <a:r>
              <a:rPr lang="ru-RU" sz="1500" dirty="0">
                <a:latin typeface="Consolas" panose="020B0609020204030204" pitchFamily="49" charset="0"/>
              </a:rPr>
              <a:t>Получение ссылки на элемент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ru-RU" sz="1500" dirty="0">
                <a:latin typeface="Consolas" panose="020B0609020204030204" pitchFamily="49" charset="0"/>
              </a:rPr>
              <a:t>с индексом </a:t>
            </a:r>
            <a:r>
              <a:rPr lang="en-US" sz="1500" dirty="0">
                <a:latin typeface="Consolas" panose="020B0609020204030204" pitchFamily="49" charset="0"/>
              </a:rPr>
              <a:t>pos: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Item&amp; deque&lt;Item&gt;::operator[](</a:t>
            </a:r>
            <a:r>
              <a:rPr lang="en-US" sz="1500" dirty="0" err="1">
                <a:latin typeface="Consolas" panose="020B0609020204030204" pitchFamily="49" charset="0"/>
              </a:rPr>
              <a:t>size_t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>
                <a:highlight>
                  <a:srgbClr val="FF00FF"/>
                </a:highlight>
                <a:latin typeface="Consolas" panose="020B0609020204030204" pitchFamily="49" charset="0"/>
              </a:rPr>
              <a:t>pos</a:t>
            </a:r>
            <a:r>
              <a:rPr lang="en-US" sz="15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  auto </a:t>
            </a:r>
            <a:r>
              <a:rPr lang="en-US" sz="1500" dirty="0">
                <a:highlight>
                  <a:srgbClr val="00FFFF"/>
                </a:highlight>
                <a:latin typeface="Consolas" panose="020B0609020204030204" pitchFamily="49" charset="0"/>
              </a:rPr>
              <a:t>off</a:t>
            </a:r>
            <a:r>
              <a:rPr lang="en-US" sz="1500" dirty="0">
                <a:latin typeface="Consolas" panose="020B0609020204030204" pitchFamily="49" charset="0"/>
              </a:rPr>
              <a:t> = </a:t>
            </a:r>
            <a:r>
              <a:rPr lang="en-US" sz="1500" dirty="0">
                <a:highlight>
                  <a:srgbClr val="FF00FF"/>
                </a:highlight>
                <a:latin typeface="Consolas" panose="020B0609020204030204" pitchFamily="49" charset="0"/>
              </a:rPr>
              <a:t>pos</a:t>
            </a:r>
            <a:r>
              <a:rPr lang="en-US" sz="1500" dirty="0">
                <a:latin typeface="Consolas" panose="020B0609020204030204" pitchFamily="49" charset="0"/>
              </a:rPr>
              <a:t> + </a:t>
            </a:r>
            <a:r>
              <a:rPr lang="en-US" sz="1500" dirty="0" err="1">
                <a:latin typeface="Consolas" panose="020B0609020204030204" pitchFamily="49" charset="0"/>
              </a:rPr>
              <a:t>m_offset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  auto </a:t>
            </a:r>
            <a:r>
              <a:rPr lang="en-US" sz="1500" dirty="0">
                <a:highlight>
                  <a:srgbClr val="C0C0C0"/>
                </a:highlight>
                <a:latin typeface="Consolas" panose="020B0609020204030204" pitchFamily="49" charset="0"/>
              </a:rPr>
              <a:t>block</a:t>
            </a:r>
            <a:r>
              <a:rPr lang="en-US" sz="1500" dirty="0">
                <a:latin typeface="Consolas" panose="020B0609020204030204" pitchFamily="49" charset="0"/>
              </a:rPr>
              <a:t> = (off / </a:t>
            </a:r>
            <a:r>
              <a:rPr lang="en-US" sz="1500" dirty="0" err="1">
                <a:latin typeface="Consolas" panose="020B0609020204030204" pitchFamily="49" charset="0"/>
              </a:rPr>
              <a:t>m_blockSize</a:t>
            </a:r>
            <a:r>
              <a:rPr lang="en-US" sz="1500" dirty="0">
                <a:latin typeface="Consolas" panose="020B0609020204030204" pitchFamily="49" charset="0"/>
              </a:rPr>
              <a:t>) </a:t>
            </a:r>
            <a:r>
              <a:rPr lang="en-US" sz="1500" dirty="0">
                <a:highlight>
                  <a:srgbClr val="FFFF00"/>
                </a:highlight>
                <a:latin typeface="Consolas" panose="020B0609020204030204" pitchFamily="49" charset="0"/>
              </a:rPr>
              <a:t>&amp; (</a:t>
            </a:r>
            <a:r>
              <a:rPr lang="en-US" sz="1500" dirty="0" err="1">
                <a:highlight>
                  <a:srgbClr val="FFFF00"/>
                </a:highlight>
                <a:latin typeface="Consolas" panose="020B0609020204030204" pitchFamily="49" charset="0"/>
              </a:rPr>
              <a:t>m_mapSize</a:t>
            </a:r>
            <a:r>
              <a:rPr lang="en-US" sz="1500" dirty="0">
                <a:highlight>
                  <a:srgbClr val="FFFF00"/>
                </a:highlight>
                <a:latin typeface="Consolas" panose="020B0609020204030204" pitchFamily="49" charset="0"/>
              </a:rPr>
              <a:t> – 1)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  auto </a:t>
            </a:r>
            <a:r>
              <a:rPr lang="en-US" sz="1500" dirty="0" err="1">
                <a:highlight>
                  <a:srgbClr val="00FF00"/>
                </a:highlight>
                <a:latin typeface="Consolas" panose="020B0609020204030204" pitchFamily="49" charset="0"/>
              </a:rPr>
              <a:t>blockOff</a:t>
            </a:r>
            <a:r>
              <a:rPr lang="en-US" sz="1500" dirty="0">
                <a:latin typeface="Consolas" panose="020B0609020204030204" pitchFamily="49" charset="0"/>
              </a:rPr>
              <a:t> = off % </a:t>
            </a:r>
            <a:r>
              <a:rPr lang="en-US" sz="1500" dirty="0" err="1">
                <a:latin typeface="Consolas" panose="020B0609020204030204" pitchFamily="49" charset="0"/>
              </a:rPr>
              <a:t>m_blockSize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  return </a:t>
            </a:r>
            <a:r>
              <a:rPr lang="en-US" sz="1500" dirty="0" err="1">
                <a:latin typeface="Consolas" panose="020B0609020204030204" pitchFamily="49" charset="0"/>
              </a:rPr>
              <a:t>m_map</a:t>
            </a:r>
            <a:r>
              <a:rPr lang="en-US" sz="1500" dirty="0">
                <a:latin typeface="Consolas" panose="020B0609020204030204" pitchFamily="49" charset="0"/>
              </a:rPr>
              <a:t>[block][</a:t>
            </a:r>
            <a:r>
              <a:rPr lang="en-US" sz="1500" dirty="0" err="1">
                <a:latin typeface="Consolas" panose="020B0609020204030204" pitchFamily="49" charset="0"/>
              </a:rPr>
              <a:t>blockOff</a:t>
            </a:r>
            <a:r>
              <a:rPr lang="en-US" sz="15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5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CB5AC9-69B5-3055-3AF6-4FF329A30381}"/>
              </a:ext>
            </a:extLst>
          </p:cNvPr>
          <p:cNvSpPr txBox="1"/>
          <p:nvPr/>
        </p:nvSpPr>
        <p:spPr>
          <a:xfrm>
            <a:off x="8200590" y="190123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ighlight>
                  <a:srgbClr val="FFFF00"/>
                </a:highlight>
              </a:rPr>
              <a:t>Поддержка </a:t>
            </a:r>
            <a:r>
              <a:rPr lang="ru-RU" dirty="0" err="1">
                <a:highlight>
                  <a:srgbClr val="FFFF00"/>
                </a:highlight>
              </a:rPr>
              <a:t>закольцованности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ru-RU" dirty="0">
                <a:highlight>
                  <a:srgbClr val="FFFF00"/>
                </a:highlight>
              </a:rPr>
              <a:t>блоков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1" name="Левая фигурная скобка 47">
            <a:extLst>
              <a:ext uri="{FF2B5EF4-FFF2-40B4-BE49-F238E27FC236}">
                <a16:creationId xmlns:a16="http://schemas.microsoft.com/office/drawing/2014/main" id="{4F78A5B4-C51D-7DE8-B5A2-537224FAAF82}"/>
              </a:ext>
            </a:extLst>
          </p:cNvPr>
          <p:cNvSpPr/>
          <p:nvPr/>
        </p:nvSpPr>
        <p:spPr>
          <a:xfrm rot="16200000">
            <a:off x="7256250" y="3003129"/>
            <a:ext cx="360040" cy="478002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B976A6-E842-036B-9408-2FFF00AD0028}"/>
              </a:ext>
            </a:extLst>
          </p:cNvPr>
          <p:cNvSpPr txBox="1"/>
          <p:nvPr/>
        </p:nvSpPr>
        <p:spPr>
          <a:xfrm>
            <a:off x="1787721" y="4786387"/>
            <a:ext cx="1826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m_offset</a:t>
            </a:r>
            <a:r>
              <a:rPr lang="en-US" dirty="0"/>
              <a:t> = 7</a:t>
            </a:r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3B6FC2-A8FB-D977-0ACE-F8EF8105AC45}"/>
              </a:ext>
            </a:extLst>
          </p:cNvPr>
          <p:cNvSpPr txBox="1"/>
          <p:nvPr/>
        </p:nvSpPr>
        <p:spPr>
          <a:xfrm>
            <a:off x="4544188" y="6307123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00FFFF"/>
                </a:highlight>
              </a:rPr>
              <a:t>off</a:t>
            </a:r>
            <a:r>
              <a:rPr lang="en-US" dirty="0"/>
              <a:t> = 14</a:t>
            </a:r>
            <a:endParaRPr lang="ru-RU" dirty="0"/>
          </a:p>
        </p:txBody>
      </p:sp>
      <p:sp>
        <p:nvSpPr>
          <p:cNvPr id="54" name="Левая фигурная скобка 47">
            <a:extLst>
              <a:ext uri="{FF2B5EF4-FFF2-40B4-BE49-F238E27FC236}">
                <a16:creationId xmlns:a16="http://schemas.microsoft.com/office/drawing/2014/main" id="{C67C2AE7-2C1C-C48B-B71B-32817E11DC15}"/>
              </a:ext>
            </a:extLst>
          </p:cNvPr>
          <p:cNvSpPr/>
          <p:nvPr/>
        </p:nvSpPr>
        <p:spPr>
          <a:xfrm rot="16200000">
            <a:off x="4926653" y="1350090"/>
            <a:ext cx="360040" cy="94392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5" name="Прямая со стрелкой 38">
            <a:extLst>
              <a:ext uri="{FF2B5EF4-FFF2-40B4-BE49-F238E27FC236}">
                <a16:creationId xmlns:a16="http://schemas.microsoft.com/office/drawing/2014/main" id="{99F33DA6-4723-2D26-DFFB-48139FA14945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10075226" y="3250969"/>
            <a:ext cx="0" cy="434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D54A2C9-72B1-93C9-58CE-56E21559BB52}"/>
              </a:ext>
            </a:extLst>
          </p:cNvPr>
          <p:cNvSpPr txBox="1"/>
          <p:nvPr/>
        </p:nvSpPr>
        <p:spPr>
          <a:xfrm>
            <a:off x="9488875" y="2881637"/>
            <a:ext cx="117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deq</a:t>
            </a:r>
            <a:r>
              <a:rPr lang="en-US" dirty="0"/>
              <a:t>[7]</a:t>
            </a:r>
            <a:endParaRPr lang="ru-RU" dirty="0"/>
          </a:p>
        </p:txBody>
      </p:sp>
      <p:sp>
        <p:nvSpPr>
          <p:cNvPr id="2" name="Левая фигурная скобка 47">
            <a:extLst>
              <a:ext uri="{FF2B5EF4-FFF2-40B4-BE49-F238E27FC236}">
                <a16:creationId xmlns:a16="http://schemas.microsoft.com/office/drawing/2014/main" id="{CEF238DC-CCD4-1309-73F2-46FBE5C2648A}"/>
              </a:ext>
            </a:extLst>
          </p:cNvPr>
          <p:cNvSpPr/>
          <p:nvPr/>
        </p:nvSpPr>
        <p:spPr>
          <a:xfrm rot="16200000">
            <a:off x="4475819" y="1422828"/>
            <a:ext cx="360040" cy="17281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1EF21-364C-A7EF-322A-8757865CC162}"/>
              </a:ext>
            </a:extLst>
          </p:cNvPr>
          <p:cNvSpPr txBox="1"/>
          <p:nvPr/>
        </p:nvSpPr>
        <p:spPr>
          <a:xfrm>
            <a:off x="4171606" y="2474234"/>
            <a:ext cx="102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block</a:t>
            </a:r>
            <a:r>
              <a:rPr lang="en-US" dirty="0"/>
              <a:t> = 3</a:t>
            </a:r>
            <a:endParaRPr lang="ru-RU" dirty="0"/>
          </a:p>
        </p:txBody>
      </p:sp>
      <p:sp>
        <p:nvSpPr>
          <p:cNvPr id="46" name="Левая фигурная скобка 47">
            <a:extLst>
              <a:ext uri="{FF2B5EF4-FFF2-40B4-BE49-F238E27FC236}">
                <a16:creationId xmlns:a16="http://schemas.microsoft.com/office/drawing/2014/main" id="{D59D9B2C-CABB-75DC-DFF9-8710722CB2E7}"/>
              </a:ext>
            </a:extLst>
          </p:cNvPr>
          <p:cNvSpPr/>
          <p:nvPr/>
        </p:nvSpPr>
        <p:spPr>
          <a:xfrm rot="16200000">
            <a:off x="9037281" y="3973531"/>
            <a:ext cx="360040" cy="12179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9B1E1E-685D-BEA6-8AC4-2E5A48B1846C}"/>
              </a:ext>
            </a:extLst>
          </p:cNvPr>
          <p:cNvSpPr txBox="1"/>
          <p:nvPr/>
        </p:nvSpPr>
        <p:spPr>
          <a:xfrm>
            <a:off x="8534675" y="4786387"/>
            <a:ext cx="136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highlight>
                  <a:srgbClr val="00FF00"/>
                </a:highlight>
              </a:rPr>
              <a:t>blockOff</a:t>
            </a:r>
            <a:r>
              <a:rPr lang="en-US" dirty="0"/>
              <a:t> = 2</a:t>
            </a:r>
            <a:endParaRPr lang="ru-RU" dirty="0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84CFCCCF-7534-C624-953C-3B978801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20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8C8C8C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 animBg="1"/>
      <p:bldP spid="2" grpId="0" animBg="1"/>
      <p:bldP spid="17" grpId="0"/>
      <p:bldP spid="46" grpId="0" animBg="1"/>
      <p:bldP spid="4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1CF9-1E9B-5F2B-A6EB-38B659FAE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E4C31-1B74-64E4-20D9-F0AC3128A8E2}"/>
              </a:ext>
            </a:extLst>
          </p:cNvPr>
          <p:cNvSpPr txBox="1"/>
          <p:nvPr/>
        </p:nvSpPr>
        <p:spPr>
          <a:xfrm>
            <a:off x="838200" y="2132856"/>
            <a:ext cx="103703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Eat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Love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Pray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Executing task: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pop_front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DD54D-7B4A-72FF-27F0-F6E7E43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27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64A4E-D445-4A99-A2D0-4C090217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std::list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4C88B6-B000-4EDD-B513-B6791A10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75105-D278-26FF-138E-6CBE47DC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19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Двусвязный список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hlinkClick r:id="rId4"/>
              </a:rPr>
              <a:t>std::list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ru-RU" dirty="0"/>
              <a:t>Контейнер на основе двусвязного списка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Нет произвольного доступа по индексу</a:t>
            </a:r>
            <a:br>
              <a:rPr lang="ru-RU" dirty="0"/>
            </a:br>
            <a:r>
              <a:rPr lang="ru-RU" dirty="0"/>
              <a:t>(только последовательный через итераторы)</a:t>
            </a:r>
          </a:p>
          <a:p>
            <a:pPr lvl="1"/>
            <a:r>
              <a:rPr lang="ru-RU" dirty="0"/>
              <a:t>Вставка и удаление по итератору — </a:t>
            </a:r>
            <a:r>
              <a:rPr lang="ru-RU" b="1" dirty="0"/>
              <a:t>O(1)</a:t>
            </a:r>
            <a:endParaRPr lang="ru-RU" dirty="0"/>
          </a:p>
          <a:p>
            <a:pPr lvl="1"/>
            <a:r>
              <a:rPr lang="ru-RU" dirty="0"/>
              <a:t>Итераторы и ссылки не </a:t>
            </a:r>
            <a:r>
              <a:rPr lang="ru-RU" dirty="0" err="1"/>
              <a:t>инвалидируются</a:t>
            </a:r>
            <a:r>
              <a:rPr lang="ru-RU" dirty="0"/>
              <a:t> при вставке/удалении других элементов</a:t>
            </a:r>
          </a:p>
          <a:p>
            <a:pPr lvl="1"/>
            <a:r>
              <a:rPr lang="ru-RU" dirty="0"/>
              <a:t>Элементы не хранятся непрерывно в памяти</a:t>
            </a:r>
          </a:p>
          <a:p>
            <a:r>
              <a:rPr lang="ru-RU" dirty="0"/>
              <a:t>Когда использовать</a:t>
            </a:r>
          </a:p>
          <a:p>
            <a:pPr lvl="1"/>
            <a:r>
              <a:rPr lang="ru-RU" dirty="0"/>
              <a:t>Частые вставки/удаления в середине</a:t>
            </a:r>
          </a:p>
          <a:p>
            <a:pPr lvl="1"/>
            <a:r>
              <a:rPr lang="ru-RU" dirty="0"/>
              <a:t>Не нужен быстрый доступ по индексу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D52F15-7B70-4EBB-88D0-DD91A8E72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384" y="4149080"/>
            <a:ext cx="2505425" cy="25435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84F6F-4501-D9F1-B42D-8A9FB339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10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5DEAC4B-631E-47A9-9BBE-11E9DE2680FB}"/>
              </a:ext>
            </a:extLst>
          </p:cNvPr>
          <p:cNvSpPr/>
          <p:nvPr/>
        </p:nvSpPr>
        <p:spPr>
          <a:xfrm>
            <a:off x="5573152" y="4309917"/>
            <a:ext cx="1584176" cy="13255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74B37B0-2A0A-4325-BE5C-FA4E58ACA8CE}"/>
              </a:ext>
            </a:extLst>
          </p:cNvPr>
          <p:cNvSpPr/>
          <p:nvPr/>
        </p:nvSpPr>
        <p:spPr>
          <a:xfrm>
            <a:off x="3514845" y="4309917"/>
            <a:ext cx="1584176" cy="13255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61F600-AFDE-4084-BA81-19742B1F3627}"/>
              </a:ext>
            </a:extLst>
          </p:cNvPr>
          <p:cNvSpPr/>
          <p:nvPr/>
        </p:nvSpPr>
        <p:spPr>
          <a:xfrm>
            <a:off x="1427442" y="4309917"/>
            <a:ext cx="1584176" cy="13255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8285FF1-7D14-45B4-8D50-8F818DA5F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Возможное устройство двусвязного списка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689DA2-6520-4177-987F-4D848BC21E00}"/>
              </a:ext>
            </a:extLst>
          </p:cNvPr>
          <p:cNvSpPr/>
          <p:nvPr/>
        </p:nvSpPr>
        <p:spPr>
          <a:xfrm>
            <a:off x="1570181" y="4453932"/>
            <a:ext cx="1293205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data: 1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3F122E-B19D-44FF-8969-CC49D87582A7}"/>
              </a:ext>
            </a:extLst>
          </p:cNvPr>
          <p:cNvSpPr/>
          <p:nvPr/>
        </p:nvSpPr>
        <p:spPr>
          <a:xfrm>
            <a:off x="1568712" y="4981991"/>
            <a:ext cx="650818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F4B042-5F51-456C-B319-003414BC68FB}"/>
              </a:ext>
            </a:extLst>
          </p:cNvPr>
          <p:cNvSpPr/>
          <p:nvPr/>
        </p:nvSpPr>
        <p:spPr>
          <a:xfrm>
            <a:off x="2212569" y="4981990"/>
            <a:ext cx="652287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CDAA20A-9BAD-4E58-A242-B36504B738BD}"/>
              </a:ext>
            </a:extLst>
          </p:cNvPr>
          <p:cNvSpPr/>
          <p:nvPr/>
        </p:nvSpPr>
        <p:spPr>
          <a:xfrm>
            <a:off x="3662619" y="4453933"/>
            <a:ext cx="1297976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data: 2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AE207E-4705-4E73-8351-54576CE14B0D}"/>
              </a:ext>
            </a:extLst>
          </p:cNvPr>
          <p:cNvSpPr/>
          <p:nvPr/>
        </p:nvSpPr>
        <p:spPr>
          <a:xfrm>
            <a:off x="5710108" y="4453933"/>
            <a:ext cx="1303203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data: 3</a:t>
            </a:r>
            <a:endParaRPr lang="ru-RU" dirty="0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EFFFB18-1C9A-405F-B5F0-4B3AD0ED3E55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2864856" y="4972698"/>
            <a:ext cx="649989" cy="273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8DE3BEC-AE0C-4850-BB82-BB96D050373F}"/>
              </a:ext>
            </a:extLst>
          </p:cNvPr>
          <p:cNvSpPr/>
          <p:nvPr/>
        </p:nvSpPr>
        <p:spPr>
          <a:xfrm>
            <a:off x="3658861" y="4981991"/>
            <a:ext cx="650818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3601F5C-D468-47C5-8147-D7D39F28DFDD}"/>
              </a:ext>
            </a:extLst>
          </p:cNvPr>
          <p:cNvSpPr/>
          <p:nvPr/>
        </p:nvSpPr>
        <p:spPr>
          <a:xfrm>
            <a:off x="4302718" y="4981990"/>
            <a:ext cx="652287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C550A5E-51F3-4561-A240-4CAC3F7EAB9D}"/>
              </a:ext>
            </a:extLst>
          </p:cNvPr>
          <p:cNvSpPr/>
          <p:nvPr/>
        </p:nvSpPr>
        <p:spPr>
          <a:xfrm>
            <a:off x="5710107" y="4981991"/>
            <a:ext cx="657879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BFB3541-A3DF-4540-A7D5-0781960726D6}"/>
              </a:ext>
            </a:extLst>
          </p:cNvPr>
          <p:cNvSpPr/>
          <p:nvPr/>
        </p:nvSpPr>
        <p:spPr>
          <a:xfrm>
            <a:off x="6361025" y="4981990"/>
            <a:ext cx="652287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ru-RU" dirty="0"/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60BA1011-EABC-45EB-9357-1FA0B26310E2}"/>
              </a:ext>
            </a:extLst>
          </p:cNvPr>
          <p:cNvCxnSpPr>
            <a:cxnSpLocks/>
            <a:stCxn id="36" idx="1"/>
            <a:endCxn id="17" idx="3"/>
          </p:cNvCxnSpPr>
          <p:nvPr/>
        </p:nvCxnSpPr>
        <p:spPr>
          <a:xfrm flipH="1" flipV="1">
            <a:off x="3011618" y="4972698"/>
            <a:ext cx="647243" cy="27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4BD26C2D-20E7-4D3A-8BEF-51000680E8D0}"/>
              </a:ext>
            </a:extLst>
          </p:cNvPr>
          <p:cNvCxnSpPr>
            <a:cxnSpLocks/>
            <a:stCxn id="38" idx="1"/>
            <a:endCxn id="18" idx="3"/>
          </p:cNvCxnSpPr>
          <p:nvPr/>
        </p:nvCxnSpPr>
        <p:spPr>
          <a:xfrm flipH="1" flipV="1">
            <a:off x="5099021" y="4972698"/>
            <a:ext cx="611086" cy="273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DA6FC49C-B709-4ED5-86FD-3CAAF70C43E7}"/>
              </a:ext>
            </a:extLst>
          </p:cNvPr>
          <p:cNvCxnSpPr>
            <a:cxnSpLocks/>
            <a:stCxn id="37" idx="3"/>
            <a:endCxn id="19" idx="1"/>
          </p:cNvCxnSpPr>
          <p:nvPr/>
        </p:nvCxnSpPr>
        <p:spPr>
          <a:xfrm flipV="1">
            <a:off x="4955005" y="4972698"/>
            <a:ext cx="618147" cy="273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980DF95-AFE0-45AA-BB76-93A292EEB683}"/>
              </a:ext>
            </a:extLst>
          </p:cNvPr>
          <p:cNvSpPr/>
          <p:nvPr/>
        </p:nvSpPr>
        <p:spPr>
          <a:xfrm>
            <a:off x="7608168" y="4293096"/>
            <a:ext cx="1584176" cy="13255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Sentinel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D06C6D3-12C6-4D30-BAB6-7A654FCE39A1}"/>
              </a:ext>
            </a:extLst>
          </p:cNvPr>
          <p:cNvSpPr/>
          <p:nvPr/>
        </p:nvSpPr>
        <p:spPr>
          <a:xfrm>
            <a:off x="8378906" y="4955875"/>
            <a:ext cx="652287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ru-RU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20166F30-7720-43C9-93A0-B27535563CA1}"/>
              </a:ext>
            </a:extLst>
          </p:cNvPr>
          <p:cNvSpPr/>
          <p:nvPr/>
        </p:nvSpPr>
        <p:spPr>
          <a:xfrm>
            <a:off x="7726619" y="4955875"/>
            <a:ext cx="652287" cy="5280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</a:t>
            </a:r>
            <a:endParaRPr lang="ru-RU" dirty="0"/>
          </a:p>
        </p:txBody>
      </p: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9A0A9FD5-D783-4CDA-8184-9546FB0C7576}"/>
              </a:ext>
            </a:extLst>
          </p:cNvPr>
          <p:cNvCxnSpPr>
            <a:cxnSpLocks/>
            <a:stCxn id="39" idx="3"/>
            <a:endCxn id="58" idx="1"/>
          </p:cNvCxnSpPr>
          <p:nvPr/>
        </p:nvCxnSpPr>
        <p:spPr>
          <a:xfrm flipV="1">
            <a:off x="7013312" y="4955877"/>
            <a:ext cx="594856" cy="290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F5B42C2A-3A10-4A5B-838A-C8BA83D07A59}"/>
              </a:ext>
            </a:extLst>
          </p:cNvPr>
          <p:cNvCxnSpPr>
            <a:cxnSpLocks/>
            <a:stCxn id="61" idx="1"/>
            <a:endCxn id="19" idx="3"/>
          </p:cNvCxnSpPr>
          <p:nvPr/>
        </p:nvCxnSpPr>
        <p:spPr>
          <a:xfrm flipH="1" flipV="1">
            <a:off x="7157328" y="4972698"/>
            <a:ext cx="569291" cy="247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7146795F-1802-487E-9BCD-F12860B29510}"/>
              </a:ext>
            </a:extLst>
          </p:cNvPr>
          <p:cNvCxnSpPr>
            <a:stCxn id="6" idx="1"/>
            <a:endCxn id="58" idx="3"/>
          </p:cNvCxnSpPr>
          <p:nvPr/>
        </p:nvCxnSpPr>
        <p:spPr>
          <a:xfrm rot="10800000" flipH="1">
            <a:off x="1568712" y="4955877"/>
            <a:ext cx="7623632" cy="290144"/>
          </a:xfrm>
          <a:prstGeom prst="bentConnector5">
            <a:avLst>
              <a:gd name="adj1" fmla="val -4665"/>
              <a:gd name="adj2" fmla="val -262482"/>
              <a:gd name="adj3" fmla="val 1029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E98B9ACF-6DA8-402E-B8BC-E50D0BF2F72B}"/>
              </a:ext>
            </a:extLst>
          </p:cNvPr>
          <p:cNvCxnSpPr>
            <a:cxnSpLocks/>
            <a:stCxn id="60" idx="3"/>
            <a:endCxn id="17" idx="1"/>
          </p:cNvCxnSpPr>
          <p:nvPr/>
        </p:nvCxnSpPr>
        <p:spPr>
          <a:xfrm flipH="1" flipV="1">
            <a:off x="1427442" y="4972698"/>
            <a:ext cx="7603751" cy="247207"/>
          </a:xfrm>
          <a:prstGeom prst="bentConnector5">
            <a:avLst>
              <a:gd name="adj1" fmla="val -7849"/>
              <a:gd name="adj2" fmla="val -459012"/>
              <a:gd name="adj3" fmla="val 1055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3B10D1E2-4ED3-48AB-9B90-BCFC42FE008E}"/>
              </a:ext>
            </a:extLst>
          </p:cNvPr>
          <p:cNvCxnSpPr>
            <a:cxnSpLocks/>
            <a:stCxn id="83" idx="2"/>
            <a:endCxn id="17" idx="0"/>
          </p:cNvCxnSpPr>
          <p:nvPr/>
        </p:nvCxnSpPr>
        <p:spPr>
          <a:xfrm>
            <a:off x="2212569" y="3894344"/>
            <a:ext cx="6961" cy="415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FA62C96-A462-4970-97B8-EFED3E21EA18}"/>
              </a:ext>
            </a:extLst>
          </p:cNvPr>
          <p:cNvSpPr txBox="1"/>
          <p:nvPr/>
        </p:nvSpPr>
        <p:spPr>
          <a:xfrm>
            <a:off x="1755106" y="3525012"/>
            <a:ext cx="91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begin</a:t>
            </a:r>
            <a:endParaRPr lang="ru-RU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B64848-FA61-4A53-ABDA-90BC36BC8C33}"/>
              </a:ext>
            </a:extLst>
          </p:cNvPr>
          <p:cNvSpPr txBox="1"/>
          <p:nvPr/>
        </p:nvSpPr>
        <p:spPr>
          <a:xfrm>
            <a:off x="7942793" y="3534308"/>
            <a:ext cx="91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</a:t>
            </a:r>
            <a:endParaRPr lang="ru-RU" dirty="0"/>
          </a:p>
        </p:txBody>
      </p: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67B4498E-9592-4AF0-941A-A1ADE9E56A5D}"/>
              </a:ext>
            </a:extLst>
          </p:cNvPr>
          <p:cNvCxnSpPr>
            <a:cxnSpLocks/>
            <a:stCxn id="86" idx="2"/>
            <a:endCxn id="58" idx="0"/>
          </p:cNvCxnSpPr>
          <p:nvPr/>
        </p:nvCxnSpPr>
        <p:spPr>
          <a:xfrm>
            <a:off x="8400256" y="3903640"/>
            <a:ext cx="0" cy="38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755C5223-533B-4E5F-904A-9A859E8C988F}"/>
              </a:ext>
            </a:extLst>
          </p:cNvPr>
          <p:cNvSpPr/>
          <p:nvPr/>
        </p:nvSpPr>
        <p:spPr>
          <a:xfrm>
            <a:off x="4414945" y="1849413"/>
            <a:ext cx="136815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size:3</a:t>
            </a:r>
            <a:endParaRPr lang="ru-RU" dirty="0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747DC024-FD39-4836-92B5-5199B45D1778}"/>
              </a:ext>
            </a:extLst>
          </p:cNvPr>
          <p:cNvSpPr/>
          <p:nvPr/>
        </p:nvSpPr>
        <p:spPr>
          <a:xfrm>
            <a:off x="4414945" y="2353469"/>
            <a:ext cx="136815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begin</a:t>
            </a:r>
            <a:endParaRPr lang="ru-RU" dirty="0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B00B3690-5DE3-4C99-A953-F2E2F8C5BAD7}"/>
              </a:ext>
            </a:extLst>
          </p:cNvPr>
          <p:cNvSpPr/>
          <p:nvPr/>
        </p:nvSpPr>
        <p:spPr>
          <a:xfrm>
            <a:off x="4414945" y="2857525"/>
            <a:ext cx="136815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  <a:endParaRPr lang="ru-RU" dirty="0"/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E09BFEF3-A87B-4C7F-8EFD-D0CC56220AC4}"/>
              </a:ext>
            </a:extLst>
          </p:cNvPr>
          <p:cNvCxnSpPr>
            <a:stCxn id="91" idx="1"/>
            <a:endCxn id="17" idx="0"/>
          </p:cNvCxnSpPr>
          <p:nvPr/>
        </p:nvCxnSpPr>
        <p:spPr>
          <a:xfrm flipH="1">
            <a:off x="2219530" y="2605497"/>
            <a:ext cx="2195415" cy="170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>
            <a:extLst>
              <a:ext uri="{FF2B5EF4-FFF2-40B4-BE49-F238E27FC236}">
                <a16:creationId xmlns:a16="http://schemas.microsoft.com/office/drawing/2014/main" id="{C984D755-D8F6-43C5-B3BA-52960B2F2D0A}"/>
              </a:ext>
            </a:extLst>
          </p:cNvPr>
          <p:cNvCxnSpPr>
            <a:stCxn id="92" idx="3"/>
            <a:endCxn id="58" idx="0"/>
          </p:cNvCxnSpPr>
          <p:nvPr/>
        </p:nvCxnSpPr>
        <p:spPr>
          <a:xfrm>
            <a:off x="5783097" y="3109553"/>
            <a:ext cx="2617159" cy="1183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49AE7-AAE3-D971-DCDE-EC9C12F2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958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6E04-FA08-8213-A745-7CCDF158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список задач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CD8F1-30F6-75CF-BF0B-7C3CED81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4C46A-34CA-1F2A-FE7B-BE302431A812}"/>
              </a:ext>
            </a:extLst>
          </p:cNvPr>
          <p:cNvSpPr txBox="1"/>
          <p:nvPr/>
        </p:nvSpPr>
        <p:spPr>
          <a:xfrm>
            <a:off x="838200" y="1460738"/>
            <a:ext cx="106584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std::list&lt;std::string&gt; tasks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"Write report"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"Fix bug"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"Call client"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"Fix bug"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 tasks:\n"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task : tasks)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task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все задачи "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Fix bug"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tasks.remove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"Fix bug"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nRemaining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tasks:\n"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task : tasks)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task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1A459-24FC-4D20-F711-087CA27D21A9}"/>
              </a:ext>
            </a:extLst>
          </p:cNvPr>
          <p:cNvSpPr txBox="1"/>
          <p:nvPr/>
        </p:nvSpPr>
        <p:spPr>
          <a:xfrm>
            <a:off x="8610600" y="4188141"/>
            <a:ext cx="3654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https://godbolt.org/z/nET1j77co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6466E2-85FD-7BC5-D9D2-8B89A9296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122" y="1328936"/>
            <a:ext cx="2705478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452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E706C-018B-3D1E-BB0C-E7E66821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Вставка в последовательные контейнеры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B5FAD3-D2EA-3180-064E-1AF8234DD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Миллион вставок к конец контейнера</a:t>
            </a:r>
          </a:p>
          <a:p>
            <a:r>
              <a:rPr lang="en-US" dirty="0"/>
              <a:t>vector</a:t>
            </a:r>
          </a:p>
          <a:p>
            <a:pPr lvl="1"/>
            <a:r>
              <a:rPr lang="ru-RU" dirty="0"/>
              <a:t>С </a:t>
            </a:r>
            <a:r>
              <a:rPr lang="en-US" dirty="0"/>
              <a:t>reserve </a:t>
            </a:r>
            <a:r>
              <a:rPr lang="ru-RU" dirty="0"/>
              <a:t>и без</a:t>
            </a:r>
          </a:p>
          <a:p>
            <a:r>
              <a:rPr lang="en-US" dirty="0"/>
              <a:t>deque</a:t>
            </a:r>
          </a:p>
          <a:p>
            <a:r>
              <a:rPr lang="en-US" dirty="0"/>
              <a:t>list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5F5FD-FF5B-9B98-9569-C715D2E6CB3A}"/>
              </a:ext>
            </a:extLst>
          </p:cNvPr>
          <p:cNvSpPr txBox="1"/>
          <p:nvPr/>
        </p:nvSpPr>
        <p:spPr>
          <a:xfrm>
            <a:off x="3503712" y="6400800"/>
            <a:ext cx="685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https://quick-bench.com/q/W1if_qgPSZ7neHLRNylHrAwpvOs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00627B-3412-4B9E-B18A-A8737F8AA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317" y="4509120"/>
            <a:ext cx="2261012" cy="226101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7F45E-7D1B-06E1-50FC-57137647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CC1629-609C-516B-1361-6526DE190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903" y="2733664"/>
            <a:ext cx="6842097" cy="351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055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07BB9-71FD-E954-C9D3-E74FA4F4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std::map </a:t>
            </a:r>
            <a:r>
              <a:rPr lang="ru-RU" dirty="0"/>
              <a:t>и </a:t>
            </a:r>
            <a:r>
              <a:rPr lang="en-US" dirty="0"/>
              <a:t>std::multimap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D2821-5192-3237-BBDF-015E19ED1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52E14-73D8-14FF-A9F4-07DD39A7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024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>
                <a:latin typeface="+mj-lt"/>
              </a:rPr>
              <a:t>Классы </a:t>
            </a:r>
            <a:r>
              <a:rPr lang="en-US" dirty="0">
                <a:latin typeface="+mj-lt"/>
                <a:hlinkClick r:id="rId4"/>
              </a:rPr>
              <a:t>std::map</a:t>
            </a:r>
            <a:r>
              <a:rPr lang="en-US" dirty="0">
                <a:latin typeface="+mj-lt"/>
              </a:rPr>
              <a:t> </a:t>
            </a:r>
            <a:r>
              <a:rPr lang="ru-RU" dirty="0">
                <a:latin typeface="+mj-lt"/>
              </a:rPr>
              <a:t>и </a:t>
            </a:r>
            <a:r>
              <a:rPr lang="en-US" dirty="0">
                <a:latin typeface="+mj-lt"/>
                <a:hlinkClick r:id="rId5"/>
              </a:rPr>
              <a:t>std::</a:t>
            </a:r>
            <a:r>
              <a:rPr lang="en-US" dirty="0" err="1">
                <a:latin typeface="+mj-lt"/>
                <a:hlinkClick r:id="rId5"/>
              </a:rPr>
              <a:t>multimap</a:t>
            </a:r>
            <a:endParaRPr lang="ru-RU" dirty="0">
              <a:latin typeface="+mj-lt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426152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Упорядоченные ассоциативные контейнеры (обычно реализованы на основе сбалансированного дерева)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Хранят пары ключ → значение</a:t>
            </a:r>
          </a:p>
          <a:p>
            <a:pPr lvl="1"/>
            <a:r>
              <a:rPr lang="ru-RU" dirty="0"/>
              <a:t>Элементы автоматически упорядочены по ключу</a:t>
            </a:r>
          </a:p>
          <a:p>
            <a:pPr lvl="1"/>
            <a:r>
              <a:rPr lang="ru-RU" dirty="0"/>
              <a:t>Доступ, вставка, удаление — O(</a:t>
            </a:r>
            <a:r>
              <a:rPr lang="ru-RU" dirty="0" err="1"/>
              <a:t>log</a:t>
            </a:r>
            <a:r>
              <a:rPr lang="ru-RU" dirty="0"/>
              <a:t> n)</a:t>
            </a:r>
          </a:p>
          <a:p>
            <a:r>
              <a:rPr lang="ru-RU" dirty="0"/>
              <a:t>Различия</a:t>
            </a:r>
          </a:p>
          <a:p>
            <a:pPr lvl="1"/>
            <a:r>
              <a:rPr lang="ru-RU" dirty="0" err="1"/>
              <a:t>map</a:t>
            </a:r>
            <a:r>
              <a:rPr lang="ru-RU" dirty="0"/>
              <a:t> — ключи уникальны</a:t>
            </a:r>
          </a:p>
          <a:p>
            <a:pPr lvl="1"/>
            <a:r>
              <a:rPr lang="ru-RU" dirty="0" err="1"/>
              <a:t>multimap</a:t>
            </a:r>
            <a:r>
              <a:rPr lang="ru-RU" dirty="0"/>
              <a:t> — ключи могут повторяться</a:t>
            </a:r>
          </a:p>
          <a:p>
            <a:r>
              <a:rPr lang="ru-RU" dirty="0"/>
              <a:t>Требования к ключу</a:t>
            </a:r>
          </a:p>
          <a:p>
            <a:pPr lvl="1"/>
            <a:r>
              <a:rPr lang="ru-RU" dirty="0"/>
              <a:t>Определён строгий порядок (по умолчанию используется </a:t>
            </a:r>
            <a:r>
              <a:rPr lang="ru-RU" dirty="0" err="1"/>
              <a:t>operator</a:t>
            </a:r>
            <a:r>
              <a:rPr lang="ru-RU" dirty="0"/>
              <a:t>&lt;)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30B63A-9EEB-4DE7-A76E-125E44268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368" y="1627188"/>
            <a:ext cx="2534004" cy="253400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FCC1F3-4A2F-477D-B454-932CBC7AF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424" y="4279420"/>
            <a:ext cx="2514951" cy="2553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BD5C9-4C3B-BBD1-2E6F-9B8CBE13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22920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DD7EB90-FCC9-4060-886C-1D03FBF5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Красно-чёрное дерево</a:t>
            </a:r>
          </a:p>
        </p:txBody>
      </p:sp>
      <p:pic>
        <p:nvPicPr>
          <p:cNvPr id="9" name="Объект 4">
            <a:extLst>
              <a:ext uri="{FF2B5EF4-FFF2-40B4-BE49-F238E27FC236}">
                <a16:creationId xmlns:a16="http://schemas.microsoft.com/office/drawing/2014/main" id="{BFC6AF39-F93E-4582-8A4A-FD4D1EBE5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1517" y="2060848"/>
            <a:ext cx="8748966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1110CC-9B06-1635-5A9C-2648C34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09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DFE7-75BA-11C0-CA9E-343B1DB6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подсчёт частоты встречаемости слов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C7B7C-2F5F-B368-543B-EC631C0B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8580-7F79-06A7-6670-C9BDF42F4ED7}"/>
              </a:ext>
            </a:extLst>
          </p:cNvPr>
          <p:cNvSpPr txBox="1"/>
          <p:nvPr/>
        </p:nvSpPr>
        <p:spPr>
          <a:xfrm>
            <a:off x="838200" y="2060847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std::map&lt;std::string,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word;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word)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[word];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слова нет — создаётся со значением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Word frequencies: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[key, value]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key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16701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519B4C-674B-4DE1-859E-1AD14B0D2FE3}"/>
              </a:ext>
            </a:extLst>
          </p:cNvPr>
          <p:cNvSpPr/>
          <p:nvPr/>
        </p:nvSpPr>
        <p:spPr>
          <a:xfrm>
            <a:off x="1631504" y="116632"/>
            <a:ext cx="9036496" cy="6403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BuildCharCounters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++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counters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Anagrams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two words: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BuildCharCounters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BuildCharCounters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and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are anagrams"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and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are not anagrams"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66DF1-3769-4EA6-9EB9-87FF32360CA7}"/>
              </a:ext>
            </a:extLst>
          </p:cNvPr>
          <p:cNvSpPr txBox="1"/>
          <p:nvPr/>
        </p:nvSpPr>
        <p:spPr>
          <a:xfrm>
            <a:off x="6779568" y="1776725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two words: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live evil</a:t>
            </a:r>
          </a:p>
          <a:p>
            <a:r>
              <a:rPr lang="en-US" dirty="0">
                <a:latin typeface="Consolas" panose="020B0609020204030204" pitchFamily="49" charset="0"/>
              </a:rPr>
              <a:t>live and evil are anagrams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7973B-5A8E-BB6F-9FE7-F0CA9436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49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0A003D-2956-FB1A-EFCF-28E11092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несколько студентов с одинаковым баллом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69F21-44C2-3CB5-4596-0D5B2B29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9D453-3A30-3C3B-B58E-FE1F76EE446B}"/>
              </a:ext>
            </a:extLst>
          </p:cNvPr>
          <p:cNvSpPr txBox="1"/>
          <p:nvPr/>
        </p:nvSpPr>
        <p:spPr>
          <a:xfrm>
            <a:off x="838200" y="1844824"/>
            <a:ext cx="10515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multimap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Charlie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David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Students sorted by score: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[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1600" b="0" dirty="0" err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score 90: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equal_range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3C9E7-7269-41A3-018B-18D5E1F40E70}"/>
              </a:ext>
            </a:extLst>
          </p:cNvPr>
          <p:cNvSpPr txBox="1"/>
          <p:nvPr/>
        </p:nvSpPr>
        <p:spPr>
          <a:xfrm>
            <a:off x="7722468" y="3616891"/>
            <a:ext cx="4249688" cy="25853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Students sorted by score: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60 : David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75 : Bob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90 : Alice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90 : Charlie</a:t>
            </a:r>
          </a:p>
          <a:p>
            <a:pPr algn="l">
              <a:buNone/>
            </a:pP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Students with score 90: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Alice</a:t>
            </a:r>
          </a:p>
          <a:p>
            <a:pPr algn="l"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Charlie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808E0-4F04-9732-F139-266E664D5E1C}"/>
              </a:ext>
            </a:extLst>
          </p:cNvPr>
          <p:cNvSpPr txBox="1"/>
          <p:nvPr/>
        </p:nvSpPr>
        <p:spPr>
          <a:xfrm>
            <a:off x="5192685" y="6352143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https://godbolt.org/z/8saaMMn4v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E44B6F-5B20-F891-CF9D-E8E1A8002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336" y="655786"/>
            <a:ext cx="269595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41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888FB-14EB-4C6F-9300-8D28CD0F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unordered_map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std::</a:t>
            </a:r>
            <a:r>
              <a:rPr lang="en-US" dirty="0" err="1"/>
              <a:t>unordered_multimap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315AC3-596B-47D4-A678-9A92A72A7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8AAA2-E8A2-5BC9-E0CA-6B47CA2E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122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dirty="0">
                <a:latin typeface="+mj-lt"/>
              </a:rPr>
              <a:t>Классы </a:t>
            </a:r>
            <a:r>
              <a:rPr lang="en-US" dirty="0" err="1">
                <a:latin typeface="+mj-lt"/>
                <a:hlinkClick r:id="rId4"/>
              </a:rPr>
              <a:t>std</a:t>
            </a:r>
            <a:r>
              <a:rPr lang="en-US" dirty="0">
                <a:latin typeface="+mj-lt"/>
                <a:hlinkClick r:id="rId4"/>
              </a:rPr>
              <a:t>::</a:t>
            </a:r>
            <a:r>
              <a:rPr lang="en-US" dirty="0" err="1">
                <a:latin typeface="+mj-lt"/>
                <a:hlinkClick r:id="rId4"/>
              </a:rPr>
              <a:t>unordered_map</a:t>
            </a:r>
            <a:r>
              <a:rPr lang="en-US" dirty="0">
                <a:latin typeface="+mj-lt"/>
              </a:rPr>
              <a:t> </a:t>
            </a:r>
            <a:r>
              <a:rPr lang="ru-RU" dirty="0">
                <a:latin typeface="+mj-lt"/>
              </a:rPr>
              <a:t>и </a:t>
            </a:r>
            <a:r>
              <a:rPr lang="en-US" dirty="0" err="1">
                <a:latin typeface="+mj-lt"/>
                <a:hlinkClick r:id="rId5"/>
              </a:rPr>
              <a:t>std</a:t>
            </a:r>
            <a:r>
              <a:rPr lang="en-US" dirty="0">
                <a:latin typeface="+mj-lt"/>
                <a:hlinkClick r:id="rId5"/>
              </a:rPr>
              <a:t>::</a:t>
            </a:r>
            <a:r>
              <a:rPr lang="en-US" dirty="0" err="1">
                <a:latin typeface="+mj-lt"/>
                <a:hlinkClick r:id="rId5"/>
              </a:rPr>
              <a:t>unordered_multimap</a:t>
            </a:r>
            <a:endParaRPr lang="ru-RU" dirty="0">
              <a:latin typeface="+mj-lt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Ассоциативные контейнеры на основе хеш-таблицы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Хранят пары ключ → значение</a:t>
            </a:r>
          </a:p>
          <a:p>
            <a:pPr lvl="1"/>
            <a:r>
              <a:rPr lang="ru-RU" dirty="0"/>
              <a:t>Элементы </a:t>
            </a:r>
            <a:r>
              <a:rPr lang="ru-RU" b="1" dirty="0"/>
              <a:t>не упорядочены</a:t>
            </a:r>
            <a:endParaRPr lang="ru-RU" dirty="0"/>
          </a:p>
          <a:p>
            <a:pPr lvl="1"/>
            <a:r>
              <a:rPr lang="ru-RU" dirty="0"/>
              <a:t>Поиск, вставка, удаление — в среднем O(1)</a:t>
            </a:r>
          </a:p>
          <a:p>
            <a:pPr lvl="1"/>
            <a:r>
              <a:rPr lang="ru-RU" dirty="0"/>
              <a:t>В худшем случае — O(n)</a:t>
            </a:r>
          </a:p>
          <a:p>
            <a:r>
              <a:rPr lang="ru-RU" dirty="0"/>
              <a:t>Различия</a:t>
            </a:r>
          </a:p>
          <a:p>
            <a:pPr lvl="1"/>
            <a:r>
              <a:rPr lang="ru-RU" dirty="0" err="1"/>
              <a:t>unordered_map</a:t>
            </a:r>
            <a:r>
              <a:rPr lang="ru-RU" dirty="0"/>
              <a:t> — ключи уникальны</a:t>
            </a:r>
          </a:p>
          <a:p>
            <a:pPr lvl="1"/>
            <a:r>
              <a:rPr lang="ru-RU" dirty="0" err="1"/>
              <a:t>unordered_multimap</a:t>
            </a:r>
            <a:r>
              <a:rPr lang="ru-RU" dirty="0"/>
              <a:t> — ключи могут повторяться</a:t>
            </a:r>
          </a:p>
          <a:p>
            <a:r>
              <a:rPr lang="ru-RU" dirty="0"/>
              <a:t>Требования к ключу</a:t>
            </a:r>
          </a:p>
          <a:p>
            <a:pPr lvl="1"/>
            <a:r>
              <a:rPr lang="ru-RU" dirty="0"/>
              <a:t>Оператор равенства ==</a:t>
            </a:r>
          </a:p>
          <a:p>
            <a:pPr lvl="1"/>
            <a:r>
              <a:rPr lang="ru-RU" dirty="0"/>
              <a:t>Функция хеширования (по умолчанию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hash</a:t>
            </a:r>
            <a:r>
              <a:rPr lang="ru-RU" dirty="0"/>
              <a:t>&lt;Key&gt;)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433148-08C9-4FD5-BF9A-DF1DC2E1C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8408" y="4556844"/>
            <a:ext cx="2268248" cy="22768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45EBE-0CAF-71A0-7A3F-1BFB2A2E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7306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4000" y="1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unordered_map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GenderToString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?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"male"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"female"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unordered_map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nameToGender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"Sarah"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"John"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"Leonardo"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"Richard"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"Tanya"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Female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"Tanya is a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GenderToString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nameToGender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"Tanya"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name.\n"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"John is a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GenderToString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nameToGender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"John"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 </a:t>
            </a:r>
            <a:r>
              <a:rPr lang="en-US" sz="16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name.\n"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9AB0B-C2C8-F2F6-4466-91CAE73F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5715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A4A8CF-7F31-C8AF-69C1-3C97BD36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Возможное устройство </a:t>
            </a:r>
            <a:r>
              <a:rPr lang="en-US" dirty="0"/>
              <a:t> </a:t>
            </a:r>
            <a:r>
              <a:rPr lang="en-US" dirty="0" err="1"/>
              <a:t>unordered_map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532B5-0206-485A-47A8-472E0A15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53</a:t>
            </a:fld>
            <a:endParaRPr lang="ru-RU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CFD09C9-5F5E-8F4F-83AB-CB6F6E74F1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347" y="1889579"/>
            <a:ext cx="9181306" cy="498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6851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AECCC-266C-CCD2-E59A-79CE37AB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простой </a:t>
            </a:r>
            <a:r>
              <a:rPr lang="en-US" dirty="0"/>
              <a:t>LRU</a:t>
            </a:r>
            <a:r>
              <a:rPr lang="ru-RU" dirty="0"/>
              <a:t> </a:t>
            </a:r>
            <a:r>
              <a:rPr lang="en-US" dirty="0"/>
              <a:t>Cache (</a:t>
            </a:r>
            <a:r>
              <a:rPr lang="en-US" dirty="0" err="1"/>
              <a:t>unordered_map</a:t>
            </a:r>
            <a:r>
              <a:rPr lang="en-US" dirty="0"/>
              <a:t> + list)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6F98D-41FE-6E4E-D178-6161F6E8F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D68E3-2C33-F146-D514-8A74FA13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41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E43FD7-784D-F7D4-5243-32B7740B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</a:t>
            </a:r>
            <a:r>
              <a:rPr lang="en-US" dirty="0"/>
              <a:t>LRU (Least Recently Used) Cache</a:t>
            </a:r>
            <a:r>
              <a:rPr lang="ru-RU" dirty="0"/>
              <a:t> (Инициализация и поиск)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272D2-B73C-5EFF-FDF5-0AC2FCA4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1F1C4-230C-2E40-D52D-27117318BB04}"/>
              </a:ext>
            </a:extLst>
          </p:cNvPr>
          <p:cNvSpPr txBox="1"/>
          <p:nvPr/>
        </p:nvSpPr>
        <p:spPr>
          <a:xfrm>
            <a:off x="838200" y="1922068"/>
            <a:ext cx="1123324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LRUCache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&lt;std::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pair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&gt;&gt;;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capacity;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unordered_map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iterator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map;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InitCache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LRUCache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LRUCache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Перемещаем элемент в начало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Теперь он –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самый "свежий"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splice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-&gt;second-&gt;second;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C06229-0831-4340-C8CD-1B8C967EC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444" y="1628343"/>
            <a:ext cx="2715004" cy="26768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773147-7620-5312-4BC1-A08A95B9FCCA}"/>
              </a:ext>
            </a:extLst>
          </p:cNvPr>
          <p:cNvSpPr txBox="1"/>
          <p:nvPr/>
        </p:nvSpPr>
        <p:spPr>
          <a:xfrm>
            <a:off x="8892565" y="4746741"/>
            <a:ext cx="3642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https://godbolt.org/z/oYrf4hhv1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4997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A91D-B986-815C-3146-5DB99690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Cache</a:t>
            </a:r>
            <a:r>
              <a:rPr lang="ru-RU" dirty="0"/>
              <a:t> – вставка элемента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C33F-CE30-67E1-5957-FAED1007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BFD1B-2E8E-4AE0-0515-0E62DFAFAF65}"/>
              </a:ext>
            </a:extLst>
          </p:cNvPr>
          <p:cNvSpPr txBox="1"/>
          <p:nvPr/>
        </p:nvSpPr>
        <p:spPr>
          <a:xfrm>
            <a:off x="838200" y="1779687"/>
            <a:ext cx="10658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LRUCache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-&gt;second-&gt;second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splice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-&gt;second);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.capacity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emplace_front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.items.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33424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6615-B266-EA16-948F-7B4058E8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Cache - </a:t>
            </a:r>
            <a:r>
              <a:rPr lang="ru-RU" dirty="0"/>
              <a:t>использование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717A5-694A-95BF-1B86-D908304B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86EA9-6ECD-893A-6A21-8BB0FF524B53}"/>
              </a:ext>
            </a:extLst>
          </p:cNvPr>
          <p:cNvSpPr txBox="1"/>
          <p:nvPr/>
        </p:nvSpPr>
        <p:spPr>
          <a:xfrm>
            <a:off x="838200" y="245385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LRUCache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удалится ключ 2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cache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-1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47112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BF6AB-CB25-460D-8C0A-993952F5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std::set </a:t>
            </a:r>
            <a:r>
              <a:rPr lang="ru-RU" dirty="0"/>
              <a:t>и </a:t>
            </a:r>
            <a:r>
              <a:rPr lang="en-US" dirty="0"/>
              <a:t>std::multiset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B7739C-1309-44C3-B8E2-3F2EAB40B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AACBC-EF17-2428-4838-71F7719F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1947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Классы множеств </a:t>
            </a:r>
            <a:r>
              <a:rPr lang="en-US" dirty="0">
                <a:hlinkClick r:id="rId4"/>
              </a:rPr>
              <a:t>std::set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hlinkClick r:id="rId5"/>
              </a:rPr>
              <a:t>std::</a:t>
            </a:r>
            <a:r>
              <a:rPr lang="en-US" dirty="0" err="1">
                <a:hlinkClick r:id="rId5"/>
              </a:rPr>
              <a:t>multiset</a:t>
            </a:r>
            <a:endParaRPr lang="ru-RU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138120" cy="4351338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Упорядоченные ассоциативные контейнеры</a:t>
            </a:r>
            <a:br>
              <a:rPr lang="ru-RU" dirty="0"/>
            </a:br>
            <a:r>
              <a:rPr lang="ru-RU" dirty="0"/>
              <a:t>(обычно реализованы на основе красно-чёрного дерева)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Хранят </a:t>
            </a:r>
            <a:r>
              <a:rPr lang="ru-RU" b="1" dirty="0"/>
              <a:t>только значения</a:t>
            </a:r>
            <a:r>
              <a:rPr lang="ru-RU" dirty="0"/>
              <a:t> (без пары ключ–значение)</a:t>
            </a:r>
          </a:p>
          <a:p>
            <a:pPr lvl="1"/>
            <a:r>
              <a:rPr lang="ru-RU" dirty="0"/>
              <a:t>Элементы автоматически упорядочены</a:t>
            </a:r>
          </a:p>
          <a:p>
            <a:pPr lvl="1"/>
            <a:r>
              <a:rPr lang="ru-RU" dirty="0"/>
              <a:t>Поиск, вставка, удаление — O(</a:t>
            </a:r>
            <a:r>
              <a:rPr lang="ru-RU" dirty="0" err="1"/>
              <a:t>log</a:t>
            </a:r>
            <a:r>
              <a:rPr lang="ru-RU" dirty="0"/>
              <a:t> n)</a:t>
            </a:r>
          </a:p>
          <a:p>
            <a:r>
              <a:rPr lang="ru-RU" dirty="0"/>
              <a:t>Различия</a:t>
            </a:r>
          </a:p>
          <a:p>
            <a:pPr lvl="1"/>
            <a:r>
              <a:rPr lang="ru-RU" dirty="0" err="1"/>
              <a:t>set</a:t>
            </a:r>
            <a:r>
              <a:rPr lang="ru-RU" dirty="0"/>
              <a:t> — элементы уникальны</a:t>
            </a:r>
          </a:p>
          <a:p>
            <a:pPr lvl="1"/>
            <a:r>
              <a:rPr lang="ru-RU" dirty="0" err="1"/>
              <a:t>multiset</a:t>
            </a:r>
            <a:r>
              <a:rPr lang="ru-RU" dirty="0"/>
              <a:t> — допускаются повторения</a:t>
            </a:r>
          </a:p>
          <a:p>
            <a:r>
              <a:rPr lang="ru-RU" dirty="0"/>
              <a:t>Требования к элементам</a:t>
            </a:r>
          </a:p>
          <a:p>
            <a:pPr lvl="1"/>
            <a:r>
              <a:rPr lang="ru-RU" dirty="0"/>
              <a:t>Определён строгий порядок (по умолчанию используется </a:t>
            </a:r>
            <a:r>
              <a:rPr lang="ru-RU" dirty="0" err="1"/>
              <a:t>operator</a:t>
            </a:r>
            <a:r>
              <a:rPr lang="ru-RU" dirty="0"/>
              <a:t>&lt;)</a:t>
            </a:r>
          </a:p>
          <a:p>
            <a:pPr lvl="1"/>
            <a:r>
              <a:rPr lang="ru-RU" dirty="0"/>
              <a:t>Можно задать собственный компаратор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09B2A6-E4B4-4276-987A-F60886CEBD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2924" y="1438711"/>
            <a:ext cx="2572109" cy="25625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14747C-66E6-49E2-B7A5-C1494B073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4352" y="4227747"/>
            <a:ext cx="2524477" cy="25625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2FEE5-663D-BE28-8C84-8AA722B2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1503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59EDA-FD9F-31D4-9A14-053B972274BF}"/>
              </a:ext>
            </a:extLst>
          </p:cNvPr>
          <p:cNvSpPr txBox="1"/>
          <p:nvPr/>
        </p:nvSpPr>
        <p:spPr>
          <a:xfrm>
            <a:off x="838200" y="1916832"/>
            <a:ext cx="107304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maleNames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Peter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Vasily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maleNames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Alexey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maleNames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a male name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maleNames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Alexey, Ivan, Peter, Vasily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D5C0A-7443-BC0F-D853-BCC2F30E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61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BAEE1-B3F0-CC41-B4FD-2974EEA1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unordered_set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unordered_multiset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4E666-FA59-11AC-3FC2-D53B4D405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424EE-D0B3-E106-61F3-C14F5766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666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02ED9E-D7EF-6BF1-CD6B-314D2884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unordered_set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unordered_multiset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BB331-FF94-24BC-B73F-0F3E1AC6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Ассоциативные контейнеры-множества на основе хеш-таблицы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Хранят </a:t>
            </a:r>
            <a:r>
              <a:rPr lang="ru-RU" b="1" dirty="0"/>
              <a:t>только значения</a:t>
            </a:r>
            <a:endParaRPr lang="ru-RU" dirty="0"/>
          </a:p>
          <a:p>
            <a:pPr lvl="1"/>
            <a:r>
              <a:rPr lang="ru-RU" dirty="0"/>
              <a:t>Элементы </a:t>
            </a:r>
            <a:r>
              <a:rPr lang="ru-RU" b="1" dirty="0"/>
              <a:t>не упорядочены</a:t>
            </a:r>
            <a:endParaRPr lang="ru-RU" dirty="0"/>
          </a:p>
          <a:p>
            <a:pPr lvl="1"/>
            <a:r>
              <a:rPr lang="ru-RU" dirty="0"/>
              <a:t>Поиск, вставка, удаление — в среднем O(1)</a:t>
            </a:r>
          </a:p>
          <a:p>
            <a:pPr lvl="1"/>
            <a:r>
              <a:rPr lang="ru-RU" dirty="0"/>
              <a:t>В худшем случае — O(n)</a:t>
            </a:r>
          </a:p>
          <a:p>
            <a:r>
              <a:rPr lang="ru-RU" dirty="0"/>
              <a:t>Различия</a:t>
            </a:r>
          </a:p>
          <a:p>
            <a:pPr lvl="1"/>
            <a:r>
              <a:rPr lang="ru-RU" dirty="0" err="1"/>
              <a:t>unordered_set</a:t>
            </a:r>
            <a:r>
              <a:rPr lang="ru-RU" dirty="0"/>
              <a:t> — элементы уникальны</a:t>
            </a:r>
          </a:p>
          <a:p>
            <a:pPr lvl="1"/>
            <a:r>
              <a:rPr lang="ru-RU" dirty="0" err="1"/>
              <a:t>unordered_multiset</a:t>
            </a:r>
            <a:r>
              <a:rPr lang="ru-RU" dirty="0"/>
              <a:t> — допускаются дубликаты</a:t>
            </a:r>
          </a:p>
          <a:p>
            <a:r>
              <a:rPr lang="ru-RU" dirty="0"/>
              <a:t>Требования к элементам</a:t>
            </a:r>
          </a:p>
          <a:p>
            <a:pPr lvl="1"/>
            <a:r>
              <a:rPr lang="ru-RU" dirty="0"/>
              <a:t>Оператор равенства ==</a:t>
            </a:r>
          </a:p>
          <a:p>
            <a:pPr lvl="1"/>
            <a:r>
              <a:rPr lang="ru-RU" dirty="0"/>
              <a:t>Функция хеширования (по умолчанию используется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hash</a:t>
            </a:r>
            <a:r>
              <a:rPr lang="ru-RU" dirty="0"/>
              <a:t>&lt;T&gt;)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31768-1B99-4767-13FC-01841B6A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087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66DB08-F78C-D8A2-8196-D89EDF6A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удаление повторяющихся чисел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449FF-CDFE-E352-EB1E-8A8BF933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E96DE-8196-56F8-3072-73B57D783565}"/>
              </a:ext>
            </a:extLst>
          </p:cNvPr>
          <p:cNvSpPr txBox="1"/>
          <p:nvPr/>
        </p:nvSpPr>
        <p:spPr>
          <a:xfrm>
            <a:off x="838200" y="1988840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unordered_set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numbers: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number)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uniqueNumbers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b="0" dirty="0" err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numbers: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8727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2D92-5A13-B5A3-DC2F-E134AA09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подсчёт повторяющихся оценок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27DEC5-3D72-D955-E2C4-BC77405A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08DB4-13F1-64CF-8CF0-D812A5DCBFC2}"/>
              </a:ext>
            </a:extLst>
          </p:cNvPr>
          <p:cNvSpPr txBox="1"/>
          <p:nvPr/>
        </p:nvSpPr>
        <p:spPr>
          <a:xfrm>
            <a:off x="838200" y="2070796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unordered_multiset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 grades: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\n\</a:t>
            </a:r>
            <a:r>
              <a:rPr lang="en-US" b="0" dirty="0" err="1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students with grade 5: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of students with grade 4: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0946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EFD60E-D7D6-4BE1-170B-7CADC40A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std::function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E1E7C-A625-218A-949F-9582D1C1A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62A5B-5F10-FAA0-545E-77AB4671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2685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A0138C0-8AE5-B1D5-6A53-0E3E5871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std::function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26C2A16-4059-3AF3-59C6-360C0657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Полиморфная обёртка функции общего назначения</a:t>
            </a:r>
          </a:p>
          <a:p>
            <a:r>
              <a:rPr lang="ru-RU" dirty="0"/>
              <a:t>Экземпляры </a:t>
            </a:r>
            <a:r>
              <a:rPr lang="en-US" dirty="0"/>
              <a:t>std::function </a:t>
            </a:r>
            <a:r>
              <a:rPr lang="ru-RU" dirty="0"/>
              <a:t>могут оборачивать:</a:t>
            </a:r>
          </a:p>
          <a:p>
            <a:pPr lvl="1"/>
            <a:r>
              <a:rPr lang="ru-RU" dirty="0"/>
              <a:t>Обычные функции</a:t>
            </a:r>
          </a:p>
          <a:p>
            <a:pPr lvl="1"/>
            <a:r>
              <a:rPr lang="ru-RU" dirty="0"/>
              <a:t>Лямбда-выражения</a:t>
            </a:r>
          </a:p>
          <a:p>
            <a:pPr lvl="1"/>
            <a:r>
              <a:rPr lang="en-US" dirty="0"/>
              <a:t>bind-</a:t>
            </a:r>
            <a:r>
              <a:rPr lang="ru-RU" dirty="0"/>
              <a:t>выражения</a:t>
            </a:r>
            <a:endParaRPr lang="en-US" dirty="0"/>
          </a:p>
          <a:p>
            <a:pPr lvl="1"/>
            <a:r>
              <a:rPr lang="ru-RU" dirty="0"/>
              <a:t>Функциональные объекты</a:t>
            </a:r>
            <a:endParaRPr lang="en-US" dirty="0"/>
          </a:p>
          <a:p>
            <a:r>
              <a:rPr lang="ru-RU" dirty="0"/>
              <a:t>Объявлена в заголовочном файле </a:t>
            </a:r>
            <a:r>
              <a:rPr lang="en-US" dirty="0"/>
              <a:t>&lt;functional&gt;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AFE066-FA7D-439B-8CDD-7C31351A6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360" y="4077072"/>
            <a:ext cx="2524477" cy="25625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BA8D-80A3-22C1-9DFD-C33E00B7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17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E3C93-8BBF-E5EB-165A-BCD7F5F5B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– поиск текста в потоке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B54EA-3D01-E1D9-0DF1-C7E61ED35DA8}"/>
              </a:ext>
            </a:extLst>
          </p:cNvPr>
          <p:cNvSpPr txBox="1"/>
          <p:nvPr/>
        </p:nvSpPr>
        <p:spPr>
          <a:xfrm>
            <a:off x="825717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haystack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line;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found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(haystack, line);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(needle);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(pos != std::string::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found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found;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1F986D-3CC2-4202-18FC-445787A233AC}"/>
              </a:ext>
            </a:extLst>
          </p:cNvPr>
          <p:cNvSpPr/>
          <p:nvPr/>
        </p:nvSpPr>
        <p:spPr>
          <a:xfrm>
            <a:off x="4655840" y="4293096"/>
            <a:ext cx="6337920" cy="5861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результатов поиска зашита в функцию</a:t>
            </a:r>
            <a:r>
              <a:rPr lang="en-US" dirty="0"/>
              <a:t> </a:t>
            </a:r>
            <a:r>
              <a:rPr lang="ru-RU" dirty="0"/>
              <a:t>поиска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53B3-4984-825D-F806-C4F98D3E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66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7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4E7E7-528B-94BC-9005-C16D187C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– передаём обработчик результатов снаружи, используя </a:t>
            </a:r>
            <a:r>
              <a:rPr lang="en-US" dirty="0"/>
              <a:t>function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9F9D1-3368-5F5D-1A74-A7B20888F296}"/>
              </a:ext>
            </a:extLst>
          </p:cNvPr>
          <p:cNvSpPr txBox="1"/>
          <p:nvPr/>
        </p:nvSpPr>
        <p:spPr>
          <a:xfrm>
            <a:off x="119336" y="1968560"/>
            <a:ext cx="120726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line,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foundPos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haystack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haystack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E1B03-1A35-C08D-8136-DA1DA997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3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97E91-FF84-B66A-5472-09989F6B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Обрабатываем результаты в обычной функции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916E8-A009-AC16-F490-CC3ABC93B95D}"/>
              </a:ext>
            </a:extLst>
          </p:cNvPr>
          <p:cNvSpPr txBox="1"/>
          <p:nvPr/>
        </p:nvSpPr>
        <p:spPr>
          <a:xfrm>
            <a:off x="838200" y="2136338"/>
            <a:ext cx="110544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foundPos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AAF12-145D-8BD8-191D-00A9A148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7851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FE62-5FE7-DBF1-C013-6454CFCA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Лямбда-выражение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E11B-FBE0-B7A1-1DFC-5706202E5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Анонимная функция, которая может быть определена прямо в месте использования</a:t>
            </a:r>
            <a:endParaRPr lang="en-US" dirty="0"/>
          </a:p>
          <a:p>
            <a:r>
              <a:rPr lang="ru-RU" dirty="0"/>
              <a:t>Позволяет передавать функцию как аргумент</a:t>
            </a:r>
          </a:p>
          <a:p>
            <a:r>
              <a:rPr lang="ru-RU" dirty="0"/>
              <a:t>Может захватывать переменные из окружающего контекста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2BB0D-6131-1FE6-DA50-47D1971A199A}"/>
              </a:ext>
            </a:extLst>
          </p:cNvPr>
          <p:cNvSpPr txBox="1"/>
          <p:nvPr/>
        </p:nvSpPr>
        <p:spPr>
          <a:xfrm>
            <a:off x="551384" y="4422637"/>
            <a:ext cx="55446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2E9D9-3B86-623C-611F-998164462FEB}"/>
              </a:ext>
            </a:extLst>
          </p:cNvPr>
          <p:cNvSpPr txBox="1"/>
          <p:nvPr/>
        </p:nvSpPr>
        <p:spPr>
          <a:xfrm>
            <a:off x="6096000" y="4422637"/>
            <a:ext cx="5904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x захватывается по значению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42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42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2543D-E84C-004B-D41B-8A2FD8EE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5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17D7-47B5-8811-DA3D-8949A98B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у лямбда-функции под капотом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0CC2-5C8E-8322-AF26-4D7B9CB7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Компилятор создаёт внутри функции класс с перегруженным оператором вызова функции</a:t>
            </a:r>
            <a:endParaRPr lang="en-US" dirty="0"/>
          </a:p>
          <a:p>
            <a:pPr lvl="1"/>
            <a:r>
              <a:rPr lang="ru-RU" dirty="0"/>
              <a:t>Захваченные переменные хранятся в виде полей класса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A48BF-0715-CA22-1AC0-D86E1C80CF6C}"/>
              </a:ext>
            </a:extLst>
          </p:cNvPr>
          <p:cNvSpPr txBox="1"/>
          <p:nvPr/>
        </p:nvSpPr>
        <p:spPr>
          <a:xfrm>
            <a:off x="6096000" y="6176963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https://cppinsights.io/s/6c5bdd4c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7576E-5BF4-3C31-8544-C4C22633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488" y="4127234"/>
            <a:ext cx="1895740" cy="19147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E65FD-4426-8841-FF9E-17D9DDFB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2199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095DC0-8440-9DA8-D314-C5541DBD7244}"/>
              </a:ext>
            </a:extLst>
          </p:cNvPr>
          <p:cNvSpPr txBox="1"/>
          <p:nvPr/>
        </p:nvSpPr>
        <p:spPr>
          <a:xfrm>
            <a:off x="6096000" y="249007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__lambda_7_12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__lambda_7_12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_x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x{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_x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__lambda_7_12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__lambda_7_12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85A57-4C66-544A-8A72-D32D57DE2610}"/>
              </a:ext>
            </a:extLst>
          </p:cNvPr>
          <p:cNvSpPr txBox="1"/>
          <p:nvPr/>
        </p:nvSpPr>
        <p:spPr>
          <a:xfrm>
            <a:off x="0" y="249007"/>
            <a:ext cx="58079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[=]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x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захватывается по значению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363CD-DA22-D898-E262-9646A1EB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7501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C202-EDA6-DEB7-D1FE-79CB9D04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Захват переменной по ссылке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3093B-82E9-C7DB-E0F6-6A830F3B3C28}"/>
              </a:ext>
            </a:extLst>
          </p:cNvPr>
          <p:cNvSpPr txBox="1"/>
          <p:nvPr/>
        </p:nvSpPr>
        <p:spPr>
          <a:xfrm>
            <a:off x="838200" y="1988840"/>
            <a:ext cx="8305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x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захватывается по ссылке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42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8AB50-52A4-99E9-10B7-D81ED76B402F}"/>
              </a:ext>
            </a:extLst>
          </p:cNvPr>
          <p:cNvSpPr txBox="1"/>
          <p:nvPr/>
        </p:nvSpPr>
        <p:spPr>
          <a:xfrm>
            <a:off x="6096000" y="6021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https://cppinsights.io/s/89499d9b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41224A-3784-8FEB-5126-52155F242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16" y="1950722"/>
            <a:ext cx="1838582" cy="19052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1F901-3742-734C-8CC1-CBF50DAE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15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6CEB-C66A-ECD6-4211-C18DB695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захваченного значения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B742E-8F0B-6DF8-2F6C-FAF5AF709524}"/>
              </a:ext>
            </a:extLst>
          </p:cNvPr>
          <p:cNvSpPr txBox="1"/>
          <p:nvPr/>
        </p:nvSpPr>
        <p:spPr>
          <a:xfrm>
            <a:off x="838200" y="2204865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 </a:t>
            </a:r>
            <a:r>
              <a:rPr lang="ru-RU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mutable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x захватывается по значению (которое можно менять внутри лямбды)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47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внутри лямбды значение не изменится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52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35A74-845B-9DDA-ED11-C06F021E2939}"/>
              </a:ext>
            </a:extLst>
          </p:cNvPr>
          <p:cNvSpPr txBox="1"/>
          <p:nvPr/>
        </p:nvSpPr>
        <p:spPr>
          <a:xfrm>
            <a:off x="6096000" y="61870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https://cppinsights.io/s/4264e60a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4DD88A-38BC-208D-D8F5-91F5C815C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639" y="3630982"/>
            <a:ext cx="1867161" cy="18576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442AF-3A5B-A1B6-421B-AC955666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2588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B9EE-3BA4-274B-3086-880D1A339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 вызывайте лямбда-функцию, если захваченная по ссылке переменная разрушена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0D1C2-DE82-2569-8D5C-21ADE057989F}"/>
              </a:ext>
            </a:extLst>
          </p:cNvPr>
          <p:cNvSpPr txBox="1"/>
          <p:nvPr/>
        </p:nvSpPr>
        <p:spPr>
          <a:xfrm>
            <a:off x="838200" y="1988840"/>
            <a:ext cx="108024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 long string that should not be optimized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msg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еще нормально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раскомментировать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следующую строчку, то будет неопр. поведение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4C133-898C-CFE7-B3D9-86FEBBD3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763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A1D03-FF69-8E57-FB67-331BF81D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Обрабатываем результаты в лямбда-функции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E1767-F4E7-A0C8-E644-15BCD8714F5E}"/>
              </a:ext>
            </a:extLst>
          </p:cNvPr>
          <p:cNvSpPr txBox="1"/>
          <p:nvPr/>
        </p:nvSpPr>
        <p:spPr>
          <a:xfrm>
            <a:off x="838200" y="2852935"/>
            <a:ext cx="110184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sz="2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[](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2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2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foundPos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2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71730-2E24-8843-7603-951434EF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5596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E2CF-9830-3F77-BC21-37369262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CC70A-6926-965C-0395-50F1ECBD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Обрабатываем результаты в лямбда-функции, захватывающей переменные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7263E-D73F-DA77-2897-8AC0C3829D9A}"/>
              </a:ext>
            </a:extLst>
          </p:cNvPr>
          <p:cNvSpPr txBox="1"/>
          <p:nvPr/>
        </p:nvSpPr>
        <p:spPr>
          <a:xfrm>
            <a:off x="838200" y="2924944"/>
            <a:ext cx="110184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[&amp;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20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foundPos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Можно использовать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lines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1ABAB-9C3E-FD7D-795F-5B6A2099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692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7D24D-7AE4-AEFC-5694-D5459D5E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Обрабатываем результаты в методе класса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78B67-76E4-46DE-5D59-780CC80F4AC8}"/>
              </a:ext>
            </a:extLst>
          </p:cNvPr>
          <p:cNvSpPr txBox="1"/>
          <p:nvPr/>
        </p:nvSpPr>
        <p:spPr>
          <a:xfrm>
            <a:off x="838200" y="2060848"/>
            <a:ext cx="11234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foundPos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lineIndex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FindStringInStream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bind_front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87CC7-534F-8224-B7BE-254AF468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678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B3056D-1D23-48B9-8C58-322DFDCC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C0F14-8178-4798-B9E2-A66459696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1379A-E682-A8BD-E210-F556816E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7265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E1138-DEA7-4101-A275-212F1260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потоки ввода-вывода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8069EA-C9A3-4111-AF80-63FF9460D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 </a:t>
            </a:r>
            <a:r>
              <a:rPr lang="ru-RU" dirty="0"/>
              <a:t>—</a:t>
            </a:r>
            <a:r>
              <a:rPr lang="en-US" dirty="0"/>
              <a:t> </a:t>
            </a:r>
            <a:r>
              <a:rPr lang="ru-RU" dirty="0"/>
              <a:t>глобальный объект, связанный со </a:t>
            </a:r>
            <a:r>
              <a:rPr lang="ru-RU" b="1" dirty="0"/>
              <a:t>стандартным потоком вывода</a:t>
            </a:r>
            <a:r>
              <a:rPr lang="en-US" dirty="0"/>
              <a:t> </a:t>
            </a:r>
            <a:r>
              <a:rPr lang="en-US" dirty="0" err="1"/>
              <a:t>stdout</a:t>
            </a:r>
            <a:endParaRPr lang="ru-RU" dirty="0"/>
          </a:p>
          <a:p>
            <a:pPr lvl="1"/>
            <a:r>
              <a:rPr lang="ru-RU" dirty="0"/>
              <a:t>Перенаправление потока вывода в файл при запуске из консоли:</a:t>
            </a:r>
            <a:br>
              <a:rPr lang="ru-RU" dirty="0"/>
            </a:br>
            <a:r>
              <a:rPr lang="en-US" dirty="0">
                <a:latin typeface="Consolas" panose="020B0609020204030204" pitchFamily="49" charset="0"/>
              </a:rPr>
              <a:t>app.exe &gt; stdout.txt</a:t>
            </a:r>
          </a:p>
          <a:p>
            <a:r>
              <a:rPr lang="en-US" dirty="0"/>
              <a:t>std::</a:t>
            </a:r>
            <a:r>
              <a:rPr lang="en-US" dirty="0" err="1"/>
              <a:t>cin</a:t>
            </a:r>
            <a:r>
              <a:rPr lang="ru-RU" dirty="0"/>
              <a:t> – глобальный объект, связанный со </a:t>
            </a:r>
            <a:r>
              <a:rPr lang="ru-RU" b="1" dirty="0"/>
              <a:t>стандартным потоком ввода</a:t>
            </a:r>
            <a:r>
              <a:rPr lang="ru-RU" dirty="0"/>
              <a:t> </a:t>
            </a:r>
            <a:r>
              <a:rPr lang="en-US" dirty="0"/>
              <a:t>stdin</a:t>
            </a:r>
            <a:endParaRPr lang="ru-RU" dirty="0"/>
          </a:p>
          <a:p>
            <a:pPr lvl="1"/>
            <a:r>
              <a:rPr lang="ru-RU" dirty="0"/>
              <a:t>Перенаправление потока ввода на чтение из файла при запуске приложения:</a:t>
            </a:r>
            <a:br>
              <a:rPr lang="ru-RU" dirty="0"/>
            </a:br>
            <a:r>
              <a:rPr lang="en-US" dirty="0">
                <a:latin typeface="Consolas" panose="020B0609020204030204" pitchFamily="49" charset="0"/>
              </a:rPr>
              <a:t>app.exe &lt; stdin.txt</a:t>
            </a:r>
          </a:p>
          <a:p>
            <a:r>
              <a:rPr lang="en-US" dirty="0"/>
              <a:t>std::</a:t>
            </a:r>
            <a:r>
              <a:rPr lang="en-US" dirty="0" err="1"/>
              <a:t>cerr</a:t>
            </a:r>
            <a:r>
              <a:rPr lang="en-US" dirty="0"/>
              <a:t> – </a:t>
            </a:r>
            <a:r>
              <a:rPr lang="ru-RU" dirty="0"/>
              <a:t>глобальный объект, связанный со </a:t>
            </a:r>
            <a:r>
              <a:rPr lang="ru-RU" b="1" dirty="0"/>
              <a:t>стандартным потоком ошибок</a:t>
            </a:r>
            <a:endParaRPr lang="en-US" b="1" dirty="0"/>
          </a:p>
          <a:p>
            <a:pPr lvl="1"/>
            <a:r>
              <a:rPr lang="ru-RU" dirty="0"/>
              <a:t>Перенаправление потока ошибок в файл при запуске из консоли:</a:t>
            </a:r>
            <a:br>
              <a:rPr lang="ru-RU" dirty="0"/>
            </a:br>
            <a:r>
              <a:rPr lang="en-US" dirty="0">
                <a:latin typeface="Consolas" panose="020B0609020204030204" pitchFamily="49" charset="0"/>
              </a:rPr>
              <a:t>app.exe 2&gt; stderr.txt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E19B1F-30F1-9D50-16B3-39CC857B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33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D62C-D0FE-4F48-A14A-68BD8AF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ввода-вывода в поток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2D0F8-B1ED-475E-AD5C-976788414ED6}"/>
              </a:ext>
            </a:extLst>
          </p:cNvPr>
          <p:cNvSpPr/>
          <p:nvPr/>
        </p:nvSpPr>
        <p:spPr>
          <a:xfrm>
            <a:off x="838200" y="1988839"/>
            <a:ext cx="108024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StandardIO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Читаем число из потока в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number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вывода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ошибок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cerr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!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При чтении числа произошла ошибка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A0E1D-6663-EA37-2FFB-7A5DD142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95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6116-D476-4B9B-9E81-31E7F07E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Манипуляторы ввода-вывода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782682-78C7-42AD-89D4-5C8CD73ACAC3}"/>
              </a:ext>
            </a:extLst>
          </p:cNvPr>
          <p:cNvSpPr/>
          <p:nvPr/>
        </p:nvSpPr>
        <p:spPr>
          <a:xfrm>
            <a:off x="838200" y="1556792"/>
            <a:ext cx="110184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iomanip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IOManip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hex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Считываем число в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hex-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формате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hex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oct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dec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defaultPrecision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setprecision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defaultPrecision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numbers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pi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72CA5-9595-42B3-A1AB-610A2726A641}"/>
              </a:ext>
            </a:extLst>
          </p:cNvPr>
          <p:cNvSpPr/>
          <p:nvPr/>
        </p:nvSpPr>
        <p:spPr>
          <a:xfrm>
            <a:off x="6640647" y="5805264"/>
            <a:ext cx="5184576" cy="9386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FF</a:t>
            </a:r>
          </a:p>
          <a:p>
            <a:r>
              <a:rPr lang="en-US" dirty="0">
                <a:latin typeface="Consolas" panose="020B0609020204030204" pitchFamily="49" charset="0"/>
              </a:rPr>
              <a:t>255 ff 377 255</a:t>
            </a:r>
          </a:p>
          <a:p>
            <a:r>
              <a:rPr lang="en-US" dirty="0">
                <a:latin typeface="Consolas" panose="020B0609020204030204" pitchFamily="49" charset="0"/>
              </a:rPr>
              <a:t>3.14159 3.14159265358979 3.14 3.14159</a:t>
            </a:r>
            <a:endParaRPr lang="ru-RU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28A1A-F1EF-47C6-8777-247281D1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383" y="353169"/>
            <a:ext cx="2238875" cy="2238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73E51F-1B5B-458F-BD97-5E940D3A43A2}"/>
              </a:ext>
            </a:extLst>
          </p:cNvPr>
          <p:cNvSpPr/>
          <p:nvPr/>
        </p:nvSpPr>
        <p:spPr>
          <a:xfrm>
            <a:off x="7392144" y="0"/>
            <a:ext cx="4578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https://en.cppreference.com/w/cpp/io/manip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8FE7EC-3373-EDA7-46C6-08A1F16F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74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AF2C-6E64-48B9-814E-D0A76F34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Текстовый поток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6C62-ABC7-42EF-9FE8-E6B95185E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43586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Текстовый поток – последовательность символов, разбитая на строки из 0 или более символов</a:t>
            </a:r>
          </a:p>
          <a:p>
            <a:pPr lvl="1"/>
            <a:r>
              <a:rPr lang="ru-RU" dirty="0"/>
              <a:t>Строки завершаются символом </a:t>
            </a:r>
            <a:r>
              <a:rPr lang="en-US" dirty="0">
                <a:solidFill>
                  <a:srgbClr val="FF0000"/>
                </a:solidFill>
              </a:rPr>
              <a:t>\n</a:t>
            </a:r>
          </a:p>
          <a:p>
            <a:pPr lvl="1"/>
            <a:r>
              <a:rPr lang="ru-RU" dirty="0"/>
              <a:t>Реализация может добавлять или удалять символы для соответствия стандарту, принятому в ОС</a:t>
            </a:r>
          </a:p>
          <a:p>
            <a:pPr lvl="2"/>
            <a:r>
              <a:rPr lang="en-US" dirty="0"/>
              <a:t>Windows</a:t>
            </a:r>
            <a:r>
              <a:rPr lang="ru-RU" dirty="0"/>
              <a:t> преобразовывает </a:t>
            </a:r>
            <a:r>
              <a:rPr lang="en-US" dirty="0">
                <a:solidFill>
                  <a:srgbClr val="FF0000"/>
                </a:solidFill>
              </a:rPr>
              <a:t>\n</a:t>
            </a:r>
            <a:r>
              <a:rPr lang="en-US" dirty="0"/>
              <a:t> </a:t>
            </a:r>
            <a:r>
              <a:rPr lang="ru-RU" dirty="0"/>
              <a:t>как </a:t>
            </a:r>
            <a:r>
              <a:rPr lang="en-US" dirty="0">
                <a:solidFill>
                  <a:srgbClr val="FF0000"/>
                </a:solidFill>
              </a:rPr>
              <a:t>\r\n</a:t>
            </a:r>
            <a:r>
              <a:rPr lang="ru-RU" dirty="0"/>
              <a:t> при выводе, при чтении </a:t>
            </a:r>
            <a:r>
              <a:rPr lang="en-US" dirty="0">
                <a:solidFill>
                  <a:srgbClr val="FF0000"/>
                </a:solidFill>
              </a:rPr>
              <a:t>\r\n</a:t>
            </a:r>
            <a:r>
              <a:rPr lang="ru-RU" dirty="0"/>
              <a:t> преобразовывает в </a:t>
            </a:r>
            <a:r>
              <a:rPr lang="en-US" dirty="0">
                <a:solidFill>
                  <a:srgbClr val="FF0000"/>
                </a:solidFill>
              </a:rPr>
              <a:t>\n</a:t>
            </a:r>
          </a:p>
          <a:p>
            <a:r>
              <a:rPr lang="ru-RU" dirty="0"/>
              <a:t>Данные, читаемые из текстового потока будут равны ранее записанным в этот поток, только если выполнены условия</a:t>
            </a:r>
          </a:p>
          <a:p>
            <a:pPr lvl="1"/>
            <a:r>
              <a:rPr lang="ru-RU" dirty="0"/>
              <a:t>Выводятся только печатаемые символы и/или символы </a:t>
            </a:r>
            <a:r>
              <a:rPr lang="en-US" dirty="0">
                <a:solidFill>
                  <a:srgbClr val="FF0000"/>
                </a:solidFill>
              </a:rPr>
              <a:t>\t </a:t>
            </a:r>
            <a:r>
              <a:rPr lang="ru-RU" dirty="0"/>
              <a:t>и </a:t>
            </a:r>
            <a:r>
              <a:rPr lang="en-US" dirty="0">
                <a:solidFill>
                  <a:srgbClr val="FF0000"/>
                </a:solidFill>
              </a:rPr>
              <a:t>\n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Перед </a:t>
            </a:r>
            <a:r>
              <a:rPr lang="en-US" dirty="0">
                <a:solidFill>
                  <a:srgbClr val="FF0000"/>
                </a:solidFill>
              </a:rPr>
              <a:t>\n</a:t>
            </a:r>
            <a:r>
              <a:rPr lang="ru-RU" dirty="0"/>
              <a:t> не выводились пробельные символы</a:t>
            </a:r>
          </a:p>
          <a:p>
            <a:pPr lvl="1"/>
            <a:r>
              <a:rPr lang="ru-RU" dirty="0"/>
              <a:t>Последний выведенный символ </a:t>
            </a:r>
            <a:r>
              <a:rPr lang="en-US" dirty="0"/>
              <a:t>—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\</a:t>
            </a:r>
            <a:r>
              <a:rPr lang="en-US" dirty="0">
                <a:solidFill>
                  <a:srgbClr val="FF0000"/>
                </a:solidFill>
              </a:rPr>
              <a:t>n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000000"/>
                </a:solidFill>
              </a:rPr>
              <a:t>Двоичный поток</a:t>
            </a:r>
            <a:r>
              <a:rPr lang="ru-RU" dirty="0">
                <a:solidFill>
                  <a:srgbClr val="000000"/>
                </a:solidFill>
              </a:rPr>
              <a:t> – последовательность символов, которые всегда считываются в том же виде, в каком были записаны.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BF16F2-D927-4499-A924-53AAE63D76B6}"/>
              </a:ext>
            </a:extLst>
          </p:cNvPr>
          <p:cNvSpPr/>
          <p:nvPr/>
        </p:nvSpPr>
        <p:spPr>
          <a:xfrm>
            <a:off x="983432" y="6311900"/>
            <a:ext cx="6936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https://en.cppreference.com/w/cpp/io/c/FILE#Binary_and_text_modes</a:t>
            </a:r>
            <a:r>
              <a:rPr lang="ru-RU" dirty="0"/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F4776F-9A6C-451A-B941-AA4B3508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376" y="1690688"/>
            <a:ext cx="2610214" cy="263879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67E31-CF33-194A-60D0-91B0C9B3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92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1598-147B-494D-BD50-00DDF6B3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Файловый ввод-вывод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5CD3A-943E-4856-A969-858A2D98D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Потоки, связанные с файлами объявленные в </a:t>
            </a:r>
            <a:r>
              <a:rPr lang="en-US" dirty="0"/>
              <a:t>&lt;</a:t>
            </a:r>
            <a:r>
              <a:rPr lang="en-US" dirty="0" err="1"/>
              <a:t>fstream</a:t>
            </a:r>
            <a:r>
              <a:rPr lang="en-US" dirty="0"/>
              <a:t>&gt;</a:t>
            </a:r>
            <a:endParaRPr lang="ru-RU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ifstream</a:t>
            </a:r>
            <a:r>
              <a:rPr lang="en-US" dirty="0"/>
              <a:t> – </a:t>
            </a:r>
            <a:r>
              <a:rPr lang="ru-RU" dirty="0"/>
              <a:t>поток чтения из файла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ofstream</a:t>
            </a:r>
            <a:r>
              <a:rPr lang="en-US" dirty="0"/>
              <a:t> – </a:t>
            </a:r>
            <a:r>
              <a:rPr lang="ru-RU" dirty="0"/>
              <a:t>поток вывода в файл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fstream</a:t>
            </a:r>
            <a:r>
              <a:rPr lang="en-US" dirty="0"/>
              <a:t> – </a:t>
            </a:r>
            <a:r>
              <a:rPr lang="ru-RU" dirty="0"/>
              <a:t>поток ввода-вывода из файла</a:t>
            </a:r>
          </a:p>
          <a:p>
            <a:r>
              <a:rPr lang="ru-RU" dirty="0"/>
              <a:t>При открытии файла можно указать режим, в котором они открываются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::app – </a:t>
            </a:r>
            <a:r>
              <a:rPr lang="ru-RU" dirty="0"/>
              <a:t>выполнять запись в конец потока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::binary – </a:t>
            </a:r>
            <a:r>
              <a:rPr lang="ru-RU" dirty="0"/>
              <a:t>открыть в двоичном режиме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::in – </a:t>
            </a:r>
            <a:r>
              <a:rPr lang="ru-RU" dirty="0"/>
              <a:t>открыть для чтения (по умолчанию для </a:t>
            </a:r>
            <a:r>
              <a:rPr lang="en-US" dirty="0"/>
              <a:t>std::</a:t>
            </a:r>
            <a:r>
              <a:rPr lang="en-US" dirty="0" err="1"/>
              <a:t>ifstream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::out – </a:t>
            </a:r>
            <a:r>
              <a:rPr lang="ru-RU" dirty="0"/>
              <a:t>открыть для записи (по умолчанию для </a:t>
            </a:r>
            <a:r>
              <a:rPr lang="en-US" dirty="0"/>
              <a:t>std::</a:t>
            </a:r>
            <a:r>
              <a:rPr lang="en-US" dirty="0" err="1"/>
              <a:t>ofstream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</a:t>
            </a:r>
            <a:r>
              <a:rPr lang="en-US" dirty="0" err="1"/>
              <a:t>trunc</a:t>
            </a:r>
            <a:r>
              <a:rPr lang="en-US" dirty="0"/>
              <a:t> – </a:t>
            </a:r>
            <a:r>
              <a:rPr lang="ru-RU" dirty="0"/>
              <a:t>при открытии отбросить содержимое потока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::ate – </a:t>
            </a:r>
            <a:r>
              <a:rPr lang="ru-RU" dirty="0"/>
              <a:t>переместиться в конец потока после открытия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ios_base</a:t>
            </a:r>
            <a:r>
              <a:rPr lang="en-US" dirty="0"/>
              <a:t>::</a:t>
            </a:r>
            <a:r>
              <a:rPr lang="en-US" dirty="0" err="1"/>
              <a:t>noreplace</a:t>
            </a:r>
            <a:r>
              <a:rPr lang="en-US" dirty="0"/>
              <a:t> – </a:t>
            </a:r>
            <a:r>
              <a:rPr lang="ru-RU" dirty="0"/>
              <a:t>открыть в эксклюзивном режиме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2094D-F940-22F6-0ADE-5E7999C3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78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A0B8-F6A9-44DF-A9AC-F74D85DE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Тонкости работы с файловыми потоками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2CA4-008A-4515-AD59-406AC391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выходе из блока видимости переменной поток закрывается</a:t>
            </a:r>
          </a:p>
          <a:p>
            <a:pPr lvl="1"/>
            <a:r>
              <a:rPr lang="ru-RU" dirty="0"/>
              <a:t>Не нужно вызывать </a:t>
            </a:r>
            <a:r>
              <a:rPr lang="en-US" dirty="0"/>
              <a:t>close </a:t>
            </a:r>
            <a:r>
              <a:rPr lang="ru-RU" dirty="0"/>
              <a:t>явно</a:t>
            </a:r>
          </a:p>
          <a:p>
            <a:r>
              <a:rPr lang="ru-RU" dirty="0"/>
              <a:t>Потоки буферизируют читаемые и записываемые данные</a:t>
            </a:r>
          </a:p>
          <a:p>
            <a:r>
              <a:rPr lang="ru-RU" dirty="0"/>
              <a:t>При закрытии потока буфер сбрасывается в файл</a:t>
            </a:r>
          </a:p>
          <a:p>
            <a:pPr lvl="1"/>
            <a:r>
              <a:rPr lang="ru-RU" dirty="0"/>
              <a:t>Можно принудительно сбросить буфер в файл методом </a:t>
            </a:r>
            <a:r>
              <a:rPr lang="en-US" dirty="0"/>
              <a:t>flush()</a:t>
            </a:r>
          </a:p>
          <a:p>
            <a:r>
              <a:rPr lang="ru-RU" dirty="0"/>
              <a:t>После операций записи и чтения следует проверить состояние потока</a:t>
            </a:r>
          </a:p>
          <a:p>
            <a:pPr lvl="1"/>
            <a:r>
              <a:rPr lang="ru-RU" dirty="0"/>
              <a:t>Могут быть выставлены флаги </a:t>
            </a:r>
            <a:r>
              <a:rPr lang="en-US" dirty="0" err="1"/>
              <a:t>eof</a:t>
            </a:r>
            <a:r>
              <a:rPr lang="en-US" dirty="0"/>
              <a:t>, fail, bad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6AF08-0DB0-FEA6-1991-474E3CBC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04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D85E3C-D254-4BF7-89D5-5911F0B819DE}"/>
              </a:ext>
            </a:extLst>
          </p:cNvPr>
          <p:cNvSpPr/>
          <p:nvPr/>
        </p:nvSpPr>
        <p:spPr>
          <a:xfrm>
            <a:off x="407368" y="0"/>
            <a:ext cx="12385376" cy="678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267F99"/>
                </a:solidFill>
                <a:latin typeface="Consolas" panose="020B0609020204030204" pitchFamily="49" charset="0"/>
              </a:rPr>
              <a:t>ifstream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"Input.txt"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, std::</a:t>
            </a:r>
            <a:r>
              <a:rPr lang="en-US" sz="1500" dirty="0" err="1">
                <a:solidFill>
                  <a:srgbClr val="008000"/>
                </a:solidFill>
                <a:latin typeface="Consolas" panose="020B0609020204030204" pitchFamily="49" charset="0"/>
              </a:rPr>
              <a:t>ios_base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::binary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b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is_open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())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 Или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if (!input)</a:t>
            </a:r>
            <a:endParaRPr lang="de-DE" sz="1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open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for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reading</a:t>
            </a:r>
            <a:r>
              <a:rPr lang="de-DE" sz="15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ru-RU" sz="1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267F99"/>
                </a:solidFill>
                <a:latin typeface="Consolas" panose="020B0609020204030204" pitchFamily="49" charset="0"/>
              </a:rPr>
              <a:t>ofstream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"Output.txt"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 /*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, std::</a:t>
            </a:r>
            <a:r>
              <a:rPr lang="en-US" sz="1500" dirty="0" err="1">
                <a:solidFill>
                  <a:srgbClr val="008000"/>
                </a:solidFill>
                <a:latin typeface="Consolas" panose="020B0609020204030204" pitchFamily="49" charset="0"/>
              </a:rPr>
              <a:t>ios_base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::binary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is_open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open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file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for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writing</a:t>
            </a:r>
            <a:r>
              <a:rPr lang="de-DE" sz="15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ch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get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ch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!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put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ch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save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data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on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disk</a:t>
            </a:r>
            <a:r>
              <a:rPr lang="de-DE" sz="15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ru-RU" sz="1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3B3B3B"/>
                </a:solidFill>
                <a:latin typeface="Consolas" panose="020B0609020204030204" pitchFamily="49" charset="0"/>
              </a:rPr>
              <a:t>   </a:t>
            </a: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!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eof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read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file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de-DE" sz="1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!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output</a:t>
            </a:r>
            <a:r>
              <a:rPr lang="de-DE" sz="15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flush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  <a:r>
              <a:rPr lang="de-DE" sz="15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save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data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 on </a:t>
            </a:r>
            <a:r>
              <a:rPr lang="de-DE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disk</a:t>
            </a:r>
            <a:r>
              <a:rPr lang="de-DE" sz="15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5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5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de-DE" sz="1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F7F958-EC14-A7F0-E43B-3FAB817D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6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98524-E03D-48DE-8B22-361FFA05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чтения из строки и записи в строку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878AD6-9139-4985-9F3B-D81C0E78D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33061" cy="4351338"/>
          </a:xfrm>
        </p:spPr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istringstream</a:t>
            </a:r>
            <a:r>
              <a:rPr lang="en-US" dirty="0"/>
              <a:t> – </a:t>
            </a:r>
            <a:r>
              <a:rPr lang="ru-RU" dirty="0"/>
              <a:t>поток ввода из строки</a:t>
            </a:r>
            <a:endParaRPr lang="en-US" dirty="0"/>
          </a:p>
          <a:p>
            <a:r>
              <a:rPr lang="en-US" dirty="0"/>
              <a:t>std::</a:t>
            </a:r>
            <a:r>
              <a:rPr lang="en-US" dirty="0" err="1"/>
              <a:t>ostringstream</a:t>
            </a:r>
            <a:r>
              <a:rPr lang="en-US" dirty="0"/>
              <a:t> – </a:t>
            </a:r>
            <a:r>
              <a:rPr lang="ru-RU" dirty="0"/>
              <a:t>поток вывода в строку</a:t>
            </a:r>
          </a:p>
          <a:p>
            <a:r>
              <a:rPr lang="en-US" dirty="0"/>
              <a:t>std::</a:t>
            </a:r>
            <a:r>
              <a:rPr lang="en-US" dirty="0" err="1"/>
              <a:t>stringstream</a:t>
            </a:r>
            <a:r>
              <a:rPr lang="en-US" dirty="0"/>
              <a:t> –</a:t>
            </a:r>
            <a:r>
              <a:rPr lang="ru-RU" dirty="0"/>
              <a:t> поток ввода-вывода, связанный со строкой</a:t>
            </a:r>
            <a:endParaRPr lang="en-US" dirty="0"/>
          </a:p>
          <a:p>
            <a:r>
              <a:rPr lang="ru-RU" dirty="0"/>
              <a:t>Эти потоки объявлены в файле </a:t>
            </a:r>
            <a:r>
              <a:rPr lang="en-US" dirty="0"/>
              <a:t>&lt;</a:t>
            </a:r>
            <a:r>
              <a:rPr lang="en-US" dirty="0" err="1"/>
              <a:t>sstream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201AC-E661-4125-BEEC-29F33EB7510E}"/>
              </a:ext>
            </a:extLst>
          </p:cNvPr>
          <p:cNvSpPr txBox="1"/>
          <p:nvPr/>
        </p:nvSpPr>
        <p:spPr>
          <a:xfrm>
            <a:off x="6384032" y="1825625"/>
            <a:ext cx="53511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cassert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sstream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istringstream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42"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std::string hello;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in &gt;&gt; hello &gt;&gt; n;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assert(hello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n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ostringstream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out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assert(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out.str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123"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62D3-A293-D9CD-4083-C139BB95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1118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4A0B-2FAE-4C9F-A89D-4EAAF36A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12C1A-B12B-47AB-AF95-150605A7C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D100F-EEF5-494D-F18F-689F1C98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1647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Итераторы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2800" dirty="0"/>
              <a:t>Итератор – объект, позволяющий программисту осуществлять перебор элементов контейнера вне зависимости от деталей его реализации</a:t>
            </a:r>
            <a:endParaRPr lang="en-US" sz="2800" dirty="0"/>
          </a:p>
          <a:p>
            <a:pPr lvl="1" eaLnBrk="1" hangingPunct="1">
              <a:defRPr/>
            </a:pPr>
            <a:r>
              <a:rPr lang="ru-RU" dirty="0">
                <a:latin typeface="+mn-lt"/>
              </a:rPr>
              <a:t>Вставка диапазона элементов одного контейнера в другой</a:t>
            </a:r>
          </a:p>
          <a:p>
            <a:pPr lvl="1" eaLnBrk="1" hangingPunct="1">
              <a:defRPr/>
            </a:pPr>
            <a:r>
              <a:rPr lang="ru-RU" dirty="0"/>
              <a:t>Один и тот же код может использоваться для обработки элементов разных контейнеров</a:t>
            </a:r>
            <a:endParaRPr lang="ru-RU" dirty="0">
              <a:latin typeface="+mn-lt"/>
            </a:endParaRPr>
          </a:p>
          <a:p>
            <a:pPr eaLnBrk="1" hangingPunct="1">
              <a:defRPr/>
            </a:pPr>
            <a:r>
              <a:rPr lang="ru-RU" sz="2800" dirty="0"/>
              <a:t>Итераторы используются в </a:t>
            </a:r>
            <a:r>
              <a:rPr lang="en-US" sz="2800" dirty="0"/>
              <a:t>STL </a:t>
            </a:r>
            <a:r>
              <a:rPr lang="ru-RU" sz="2800" dirty="0"/>
              <a:t>для доступа к элементам контейнеров</a:t>
            </a:r>
          </a:p>
          <a:p>
            <a:pPr lvl="1" eaLnBrk="1" hangingPunct="1">
              <a:defRPr/>
            </a:pPr>
            <a:r>
              <a:rPr lang="ru-RU" dirty="0">
                <a:latin typeface="+mn-lt"/>
              </a:rPr>
              <a:t>Обобщенные реализации алгоритмов используют итераторы для обработки элементов контейнеров</a:t>
            </a:r>
          </a:p>
          <a:p>
            <a:pPr lvl="2" eaLnBrk="1" hangingPunct="1">
              <a:defRPr/>
            </a:pPr>
            <a:r>
              <a:rPr lang="ru-RU" sz="2000" b="1" dirty="0"/>
              <a:t>Итератор – связующее звено между контейнером и алгоритмом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CD940-3219-45DD-C0A8-1305BA1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89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7C06FA9-B9BA-B65B-C4C9-7A6E2A02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и итераторы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632AD4-BF38-D8C2-6F0F-E688030DE43F}"/>
              </a:ext>
            </a:extLst>
          </p:cNvPr>
          <p:cNvSpPr/>
          <p:nvPr/>
        </p:nvSpPr>
        <p:spPr>
          <a:xfrm>
            <a:off x="2279576" y="2060848"/>
            <a:ext cx="5112568" cy="12510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989BD23-EC75-9A2D-CBCF-6E999BDEAF6E}"/>
              </a:ext>
            </a:extLst>
          </p:cNvPr>
          <p:cNvSpPr/>
          <p:nvPr/>
        </p:nvSpPr>
        <p:spPr>
          <a:xfrm>
            <a:off x="2567608" y="2348880"/>
            <a:ext cx="72008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88CF709-8717-9D3B-99D6-EF9B3D3BB269}"/>
              </a:ext>
            </a:extLst>
          </p:cNvPr>
          <p:cNvSpPr/>
          <p:nvPr/>
        </p:nvSpPr>
        <p:spPr>
          <a:xfrm>
            <a:off x="3520958" y="2362343"/>
            <a:ext cx="720080" cy="64807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61004F3-F08F-3CDE-C4C4-891452C3188A}"/>
              </a:ext>
            </a:extLst>
          </p:cNvPr>
          <p:cNvSpPr/>
          <p:nvPr/>
        </p:nvSpPr>
        <p:spPr>
          <a:xfrm>
            <a:off x="4474308" y="2375806"/>
            <a:ext cx="720080" cy="64807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5C46FF8-4F82-ECF1-FEA7-C95BD23A6570}"/>
              </a:ext>
            </a:extLst>
          </p:cNvPr>
          <p:cNvSpPr/>
          <p:nvPr/>
        </p:nvSpPr>
        <p:spPr>
          <a:xfrm>
            <a:off x="5427658" y="2389269"/>
            <a:ext cx="720080" cy="64807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5E400A4-64ED-ABFE-16C1-30F4191DCBDA}"/>
              </a:ext>
            </a:extLst>
          </p:cNvPr>
          <p:cNvSpPr/>
          <p:nvPr/>
        </p:nvSpPr>
        <p:spPr>
          <a:xfrm>
            <a:off x="6381008" y="2402732"/>
            <a:ext cx="720080" cy="6480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7851DDA-B42C-3E8B-EFB2-089D316CF504}"/>
              </a:ext>
            </a:extLst>
          </p:cNvPr>
          <p:cNvSpPr/>
          <p:nvPr/>
        </p:nvSpPr>
        <p:spPr>
          <a:xfrm>
            <a:off x="2495600" y="4581128"/>
            <a:ext cx="86409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EB3600E-8DAF-B47F-3976-C8C5AED225A7}"/>
              </a:ext>
            </a:extLst>
          </p:cNvPr>
          <p:cNvCxnSpPr>
            <a:stCxn id="12" idx="0"/>
            <a:endCxn id="7" idx="4"/>
          </p:cNvCxnSpPr>
          <p:nvPr/>
        </p:nvCxnSpPr>
        <p:spPr>
          <a:xfrm flipV="1">
            <a:off x="2927648" y="2996952"/>
            <a:ext cx="0" cy="158417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3A21665-80D4-98D4-B149-B9608BF7C15F}"/>
              </a:ext>
            </a:extLst>
          </p:cNvPr>
          <p:cNvSpPr/>
          <p:nvPr/>
        </p:nvSpPr>
        <p:spPr>
          <a:xfrm>
            <a:off x="7490020" y="4581128"/>
            <a:ext cx="86409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ED216D-66F1-FBF7-90C1-4D35B21EF9C6}"/>
              </a:ext>
            </a:extLst>
          </p:cNvPr>
          <p:cNvSpPr txBox="1"/>
          <p:nvPr/>
        </p:nvSpPr>
        <p:spPr>
          <a:xfrm>
            <a:off x="2331314" y="155214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Контейнер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FDB01-798E-A9A5-52E1-97877917A9E0}"/>
              </a:ext>
            </a:extLst>
          </p:cNvPr>
          <p:cNvSpPr txBox="1"/>
          <p:nvPr/>
        </p:nvSpPr>
        <p:spPr>
          <a:xfrm>
            <a:off x="1981200" y="530585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container.begin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6F061E3-F749-688A-A97E-48001941C5A1}"/>
              </a:ext>
            </a:extLst>
          </p:cNvPr>
          <p:cNvSpPr/>
          <p:nvPr/>
        </p:nvSpPr>
        <p:spPr>
          <a:xfrm>
            <a:off x="7490020" y="2389269"/>
            <a:ext cx="720080" cy="648072"/>
          </a:xfrm>
          <a:prstGeom prst="ellipse">
            <a:avLst/>
          </a:prstGeom>
          <a:noFill/>
          <a:ln w="34925" cmpd="sng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C41324E-0E42-0D4F-5A94-3519FF9C9FED}"/>
              </a:ext>
            </a:extLst>
          </p:cNvPr>
          <p:cNvCxnSpPr>
            <a:cxnSpLocks/>
            <a:stCxn id="16" idx="0"/>
            <a:endCxn id="20" idx="4"/>
          </p:cNvCxnSpPr>
          <p:nvPr/>
        </p:nvCxnSpPr>
        <p:spPr>
          <a:xfrm flipH="1" flipV="1">
            <a:off x="7850060" y="3037342"/>
            <a:ext cx="72008" cy="154378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A054CB5-73F6-B180-8287-4D889B267108}"/>
              </a:ext>
            </a:extLst>
          </p:cNvPr>
          <p:cNvSpPr txBox="1"/>
          <p:nvPr/>
        </p:nvSpPr>
        <p:spPr>
          <a:xfrm>
            <a:off x="6960096" y="530585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container.end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57C3330-FB4D-DE6C-FA28-0131C045426C}"/>
              </a:ext>
            </a:extLst>
          </p:cNvPr>
          <p:cNvSpPr/>
          <p:nvPr/>
        </p:nvSpPr>
        <p:spPr>
          <a:xfrm>
            <a:off x="4782457" y="4581128"/>
            <a:ext cx="86409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EC516FB-862A-3BA4-D956-D16578D08237}"/>
              </a:ext>
            </a:extLst>
          </p:cNvPr>
          <p:cNvCxnSpPr>
            <a:cxnSpLocks/>
            <a:stCxn id="25" idx="0"/>
            <a:endCxn id="9" idx="4"/>
          </p:cNvCxnSpPr>
          <p:nvPr/>
        </p:nvCxnSpPr>
        <p:spPr>
          <a:xfrm flipH="1" flipV="1">
            <a:off x="4834349" y="3023878"/>
            <a:ext cx="380157" cy="155725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CB640-6DB9-1A22-39A7-BF0C1FB2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7465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C75D-D5A5-49B1-A23D-8CEC806B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для получения итераторов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18C8-5043-4530-8308-E931006EF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Прямые итераторы</a:t>
            </a:r>
            <a:endParaRPr lang="en-US" dirty="0"/>
          </a:p>
          <a:p>
            <a:pPr lvl="1"/>
            <a:r>
              <a:rPr lang="en-US" dirty="0"/>
              <a:t>begin</a:t>
            </a:r>
          </a:p>
          <a:p>
            <a:pPr lvl="1"/>
            <a:r>
              <a:rPr lang="en-US" dirty="0"/>
              <a:t>end</a:t>
            </a:r>
            <a:endParaRPr lang="ru-RU" dirty="0"/>
          </a:p>
          <a:p>
            <a:r>
              <a:rPr lang="ru-RU" dirty="0"/>
              <a:t>Обратные итераторы</a:t>
            </a:r>
            <a:endParaRPr lang="en-US" dirty="0"/>
          </a:p>
          <a:p>
            <a:pPr lvl="1"/>
            <a:r>
              <a:rPr lang="en-US" dirty="0" err="1"/>
              <a:t>rbegin</a:t>
            </a:r>
            <a:endParaRPr lang="ru-RU" dirty="0"/>
          </a:p>
          <a:p>
            <a:pPr lvl="1"/>
            <a:r>
              <a:rPr lang="en-US" dirty="0"/>
              <a:t>rend</a:t>
            </a:r>
          </a:p>
          <a:p>
            <a:r>
              <a:rPr lang="ru-RU" dirty="0"/>
              <a:t>Константные итераторы</a:t>
            </a:r>
          </a:p>
          <a:p>
            <a:pPr lvl="1"/>
            <a:r>
              <a:rPr lang="en-US" dirty="0" err="1"/>
              <a:t>cbegin</a:t>
            </a:r>
            <a:r>
              <a:rPr lang="en-US" dirty="0"/>
              <a:t>, </a:t>
            </a:r>
            <a:r>
              <a:rPr lang="en-US" dirty="0" err="1"/>
              <a:t>cend</a:t>
            </a:r>
            <a:endParaRPr lang="en-US" dirty="0"/>
          </a:p>
          <a:p>
            <a:pPr lvl="1"/>
            <a:r>
              <a:rPr lang="en-US" dirty="0" err="1"/>
              <a:t>crbegin</a:t>
            </a:r>
            <a:r>
              <a:rPr lang="en-US" dirty="0"/>
              <a:t>, </a:t>
            </a:r>
            <a:r>
              <a:rPr lang="en-US" dirty="0" err="1"/>
              <a:t>crend</a:t>
            </a:r>
            <a:endParaRPr lang="en-US" dirty="0"/>
          </a:p>
          <a:p>
            <a:r>
              <a:rPr lang="ru-RU" dirty="0"/>
              <a:t>Функции вроде </a:t>
            </a:r>
          </a:p>
          <a:p>
            <a:pPr lvl="1"/>
            <a:r>
              <a:rPr lang="en-US" dirty="0"/>
              <a:t>std::begin(</a:t>
            </a:r>
            <a:r>
              <a:rPr lang="ru-RU" dirty="0"/>
              <a:t>контейнер)</a:t>
            </a:r>
          </a:p>
          <a:p>
            <a:pPr lvl="1"/>
            <a:r>
              <a:rPr lang="en-US" dirty="0"/>
              <a:t>std::end(</a:t>
            </a:r>
            <a:r>
              <a:rPr lang="ru-RU" dirty="0"/>
              <a:t>контейнер)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C854E-802C-1A6B-F9C8-80172927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4418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68A13-4845-7564-AE5F-0BD439E2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итераторов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71A623-0EE9-037B-253B-8FFF5719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hlinkClick r:id="rId2"/>
              </a:rPr>
              <a:t>LegacyInputIterator</a:t>
            </a:r>
            <a:endParaRPr lang="ru-RU" dirty="0"/>
          </a:p>
          <a:p>
            <a:pPr lvl="1"/>
            <a:r>
              <a:rPr lang="ru-RU" dirty="0"/>
              <a:t>Однопроходное чтение</a:t>
            </a:r>
          </a:p>
          <a:p>
            <a:r>
              <a:rPr lang="en-US" dirty="0" err="1">
                <a:hlinkClick r:id="rId3"/>
              </a:rPr>
              <a:t>LegacyOutputIterator</a:t>
            </a:r>
            <a:endParaRPr lang="ru-RU" dirty="0"/>
          </a:p>
          <a:p>
            <a:pPr lvl="1"/>
            <a:r>
              <a:rPr lang="ru-RU" dirty="0"/>
              <a:t>Однопроходная запись</a:t>
            </a:r>
          </a:p>
          <a:p>
            <a:r>
              <a:rPr lang="en-US" dirty="0" err="1">
                <a:hlinkClick r:id="rId4"/>
              </a:rPr>
              <a:t>LegacyForwardIterator</a:t>
            </a:r>
            <a:endParaRPr lang="en-US" dirty="0"/>
          </a:p>
          <a:p>
            <a:pPr lvl="1"/>
            <a:r>
              <a:rPr lang="ru-RU" dirty="0"/>
              <a:t>Может использоваться в многопроходных алгоритмах</a:t>
            </a:r>
          </a:p>
          <a:p>
            <a:pPr lvl="1"/>
            <a:r>
              <a:rPr lang="ru-RU" dirty="0"/>
              <a:t>Допускает чтение и запись</a:t>
            </a:r>
          </a:p>
          <a:p>
            <a:pPr lvl="1"/>
            <a:r>
              <a:rPr lang="ru-RU" dirty="0"/>
              <a:t>Доступен только инкремент</a:t>
            </a:r>
            <a:endParaRPr lang="en-US" dirty="0"/>
          </a:p>
          <a:p>
            <a:r>
              <a:rPr lang="en-US" dirty="0" err="1">
                <a:hlinkClick r:id="rId5"/>
              </a:rPr>
              <a:t>LegacyBidirectionalIterator</a:t>
            </a:r>
            <a:endParaRPr lang="en-US" dirty="0"/>
          </a:p>
          <a:p>
            <a:pPr lvl="1"/>
            <a:r>
              <a:rPr lang="ru-RU" dirty="0"/>
              <a:t>Все возможности </a:t>
            </a:r>
            <a:r>
              <a:rPr lang="en-US" dirty="0" err="1"/>
              <a:t>LegacyForwardIterator</a:t>
            </a:r>
            <a:r>
              <a:rPr lang="ru-RU" dirty="0"/>
              <a:t> + декремент</a:t>
            </a:r>
            <a:endParaRPr lang="en-US" dirty="0"/>
          </a:p>
          <a:p>
            <a:r>
              <a:rPr lang="en-US" dirty="0" err="1">
                <a:hlinkClick r:id="rId6"/>
              </a:rPr>
              <a:t>LegacyRandomAccessIterator</a:t>
            </a:r>
            <a:endParaRPr lang="en-US" dirty="0"/>
          </a:p>
          <a:p>
            <a:pPr lvl="1"/>
            <a:r>
              <a:rPr lang="ru-RU" dirty="0"/>
              <a:t>Доступ к элементам относительно итератора за константное время</a:t>
            </a:r>
            <a:endParaRPr lang="en-US" dirty="0"/>
          </a:p>
          <a:p>
            <a:r>
              <a:rPr lang="en-US" dirty="0" err="1">
                <a:hlinkClick r:id="rId7"/>
              </a:rPr>
              <a:t>LegacyContiguousIterator</a:t>
            </a:r>
            <a:endParaRPr lang="ru-RU" dirty="0"/>
          </a:p>
          <a:p>
            <a:pPr lvl="1"/>
            <a:r>
              <a:rPr lang="ru-RU" dirty="0"/>
              <a:t>Хранение объектов в непрерывной области памяти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7AE80-2FB1-982D-1A09-EC469A09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8803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0E433-D869-D6CE-D713-B06BFEA9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итераторов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1BA83F-4CAD-77B2-7C23-4C4316098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2589"/>
            <a:ext cx="10515600" cy="42774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1ED11-24B4-861A-7B69-C56B0C6F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1668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FF804F-0921-4AA1-8BB6-A5D8974E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Исследуем </a:t>
            </a:r>
            <a:r>
              <a:rPr lang="en-US" dirty="0"/>
              <a:t>range-based for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268AC9-B047-4C58-BEC6-86F0CC2E3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6B7202-3860-848F-7458-C35EA08A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9223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E3900-0B67-8DA9-30ED-CFD623F4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Заглядываем внутрь </a:t>
            </a:r>
            <a:r>
              <a:rPr lang="en-US" dirty="0"/>
              <a:t>range-based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AA79C7-1EF2-2E3C-3DF3-F49E772D9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defTabSz="354013"/>
            <a:r>
              <a:rPr lang="ru-RU" dirty="0"/>
              <a:t>Синтаксис цикла</a:t>
            </a:r>
            <a:endParaRPr lang="en-US" dirty="0"/>
          </a:p>
          <a:p>
            <a:pPr marL="0" indent="0" defTabSz="354013"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-statement</a:t>
            </a:r>
            <a:r>
              <a:rPr lang="en-US" sz="20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(optional)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ange-declaration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range-expression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 defTabSz="354013">
              <a:buNone/>
            </a:pP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loop-statement</a:t>
            </a:r>
          </a:p>
          <a:p>
            <a:pPr defTabSz="354013"/>
            <a:r>
              <a:rPr lang="ru-RU" dirty="0"/>
              <a:t>Компилятором он разворачивается в такую конструкцию:</a:t>
            </a: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-statement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__range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range-expression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__begin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begin-expr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__end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; __begin != __end; ++__begin)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range-declaration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*__begin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loop-statement</a:t>
            </a:r>
            <a:endParaRPr lang="ru-RU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defTabSz="354013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9708B-DF3E-4534-89D5-B41C78D0A17B}"/>
              </a:ext>
            </a:extLst>
          </p:cNvPr>
          <p:cNvSpPr txBox="1"/>
          <p:nvPr/>
        </p:nvSpPr>
        <p:spPr>
          <a:xfrm>
            <a:off x="2567608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https://en.cppreference.com/w/cpp/language/range-for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DB009E-1F4F-4878-B83E-E1789E9D3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344" y="4105432"/>
            <a:ext cx="2553056" cy="257210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789A3-4390-81C1-E35C-A63B1323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5283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135ED-E91C-E2C0-FB14-D375A500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-statement (</a:t>
            </a:r>
            <a:r>
              <a:rPr lang="ru-RU" dirty="0"/>
              <a:t>начиная с </a:t>
            </a:r>
            <a:r>
              <a:rPr lang="en-US" dirty="0"/>
              <a:t>C++20)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9836C-5396-F601-664A-43C06C43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354013"/>
            <a:r>
              <a:rPr lang="ru-RU" dirty="0"/>
              <a:t>Выражение, например:</a:t>
            </a:r>
          </a:p>
          <a:p>
            <a:pPr marL="0" indent="0" defTabSz="354013">
              <a:buNone/>
            </a:pPr>
            <a:r>
              <a:rPr lang="en-US" dirty="0">
                <a:latin typeface="Consolas" panose="020B0609020204030204" pitchFamily="49" charset="0"/>
              </a:rPr>
              <a:t>	n=n+5;</a:t>
            </a:r>
            <a:endParaRPr lang="ru-RU" dirty="0">
              <a:latin typeface="Consolas" panose="020B0609020204030204" pitchFamily="49" charset="0"/>
            </a:endParaRPr>
          </a:p>
          <a:p>
            <a:pPr defTabSz="354013"/>
            <a:r>
              <a:rPr lang="ru-RU" dirty="0"/>
              <a:t>Объявление переменной с инициализатором или нескольких переменных</a:t>
            </a:r>
          </a:p>
          <a:p>
            <a:pPr defTabSz="354013"/>
            <a:r>
              <a:rPr lang="en-US" dirty="0"/>
              <a:t>Structured-binding</a:t>
            </a:r>
          </a:p>
          <a:p>
            <a:pPr marL="0" indent="0" defTabSz="354013">
              <a:buNone/>
            </a:pPr>
            <a:r>
              <a:rPr lang="en-US" dirty="0">
                <a:latin typeface="Consolas" panose="020B0609020204030204" pitchFamily="49" charset="0"/>
              </a:rPr>
              <a:t>	auto [x, y] = </a:t>
            </a:r>
            <a:r>
              <a:rPr lang="en-US" dirty="0" err="1">
                <a:latin typeface="Consolas" panose="020B0609020204030204" pitchFamily="49" charset="0"/>
              </a:rPr>
              <a:t>GetPoint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defTabSz="354013"/>
            <a:r>
              <a:rPr lang="ru-RU" dirty="0"/>
              <a:t>Объявление синонима типа</a:t>
            </a:r>
            <a:endParaRPr lang="en-US" dirty="0"/>
          </a:p>
          <a:p>
            <a:pPr marL="0" indent="0" defTabSz="354013">
              <a:buNone/>
            </a:pPr>
            <a:r>
              <a:rPr lang="en-US" dirty="0">
                <a:latin typeface="Consolas" panose="020B0609020204030204" pitchFamily="49" charset="0"/>
              </a:rPr>
              <a:t>	using Number = int;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CC98F-E611-86E7-AD83-D855F5A51BFE}"/>
              </a:ext>
            </a:extLst>
          </p:cNvPr>
          <p:cNvSpPr txBox="1"/>
          <p:nvPr/>
        </p:nvSpPr>
        <p:spPr>
          <a:xfrm>
            <a:off x="6600056" y="3861048"/>
            <a:ext cx="547260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defTabSz="3540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-statement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__range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range-expression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__begin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begin-expr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__end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; __begin != __end; ++__begin)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range-declaration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*__begin;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loop-statement</a:t>
            </a:r>
            <a:endParaRPr lang="ru-RU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69A48-E151-5A8F-EBBB-DEA2B665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18BF3-F89D-727E-8DE6-641ECE94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begin-expr </a:t>
            </a:r>
            <a:r>
              <a:rPr lang="ru-RU" dirty="0"/>
              <a:t>и </a:t>
            </a:r>
            <a:r>
              <a:rPr lang="en-US" dirty="0"/>
              <a:t>end-expr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410B82-C48E-4FC9-FD52-36D56AE9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range-expression</a:t>
            </a:r>
            <a:r>
              <a:rPr lang="en-US" dirty="0"/>
              <a:t> – </a:t>
            </a:r>
            <a:r>
              <a:rPr lang="ru-RU" dirty="0"/>
              <a:t>массив</a:t>
            </a:r>
            <a:endParaRPr lang="en-US" dirty="0"/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begin-expr</a:t>
            </a:r>
            <a:r>
              <a:rPr lang="en-US" dirty="0"/>
              <a:t> – </a:t>
            </a:r>
            <a:r>
              <a:rPr lang="ru-RU" dirty="0">
                <a:latin typeface="Consolas" panose="020B0609020204030204" pitchFamily="49" charset="0"/>
              </a:rPr>
              <a:t>__</a:t>
            </a:r>
            <a:r>
              <a:rPr lang="en-US" dirty="0">
                <a:latin typeface="Consolas" panose="020B0609020204030204" pitchFamily="49" charset="0"/>
              </a:rPr>
              <a:t>range</a:t>
            </a:r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end-expr</a:t>
            </a:r>
            <a:r>
              <a:rPr lang="en-US" dirty="0"/>
              <a:t> —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ru-RU" dirty="0">
                <a:latin typeface="Consolas" panose="020B0609020204030204" pitchFamily="49" charset="0"/>
              </a:rPr>
              <a:t>__</a:t>
            </a:r>
            <a:r>
              <a:rPr lang="en-US" dirty="0">
                <a:latin typeface="Consolas" panose="020B0609020204030204" pitchFamily="49" charset="0"/>
              </a:rPr>
              <a:t>range + __bound)</a:t>
            </a:r>
            <a:r>
              <a:rPr lang="ru-RU" dirty="0"/>
              <a:t>, где </a:t>
            </a:r>
            <a:r>
              <a:rPr lang="en-US" dirty="0">
                <a:latin typeface="Consolas" panose="020B0609020204030204" pitchFamily="49" charset="0"/>
              </a:rPr>
              <a:t>__bound</a:t>
            </a:r>
            <a:r>
              <a:rPr lang="en-US" dirty="0"/>
              <a:t> –</a:t>
            </a:r>
            <a:r>
              <a:rPr lang="ru-RU" dirty="0"/>
              <a:t> размер массива</a:t>
            </a:r>
            <a:endParaRPr lang="en-US" dirty="0"/>
          </a:p>
          <a:p>
            <a:r>
              <a:rPr lang="ru-RU" dirty="0"/>
              <a:t>Если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range-expression</a:t>
            </a:r>
            <a:r>
              <a:rPr lang="en-US" dirty="0"/>
              <a:t> – </a:t>
            </a:r>
            <a:r>
              <a:rPr lang="ru-RU" dirty="0"/>
              <a:t>класс или структура с методами </a:t>
            </a:r>
            <a:r>
              <a:rPr lang="en-US" dirty="0">
                <a:latin typeface="Consolas" panose="020B0609020204030204" pitchFamily="49" charset="0"/>
              </a:rPr>
              <a:t>begin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end</a:t>
            </a:r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begin-expr</a:t>
            </a:r>
            <a:r>
              <a:rPr lang="en-US" dirty="0"/>
              <a:t> – </a:t>
            </a:r>
            <a:r>
              <a:rPr lang="en-US" dirty="0">
                <a:latin typeface="Consolas" panose="020B0609020204030204" pitchFamily="49" charset="0"/>
              </a:rPr>
              <a:t>__</a:t>
            </a:r>
            <a:r>
              <a:rPr lang="en-US" dirty="0" err="1">
                <a:latin typeface="Consolas" panose="020B0609020204030204" pitchFamily="49" charset="0"/>
              </a:rPr>
              <a:t>range.begin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end-expr</a:t>
            </a:r>
            <a:r>
              <a:rPr lang="en-US" dirty="0"/>
              <a:t>  — </a:t>
            </a:r>
            <a:r>
              <a:rPr lang="en-US" dirty="0">
                <a:latin typeface="Consolas" panose="020B0609020204030204" pitchFamily="49" charset="0"/>
              </a:rPr>
              <a:t>__</a:t>
            </a:r>
            <a:r>
              <a:rPr lang="en-US" dirty="0" err="1">
                <a:latin typeface="Consolas" panose="020B0609020204030204" pitchFamily="49" charset="0"/>
              </a:rPr>
              <a:t>range.end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ru-RU" dirty="0"/>
              <a:t>В остальных случаях</a:t>
            </a:r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begin-expr</a:t>
            </a:r>
            <a:r>
              <a:rPr lang="en-US" dirty="0"/>
              <a:t> – </a:t>
            </a:r>
            <a:r>
              <a:rPr lang="en-US">
                <a:latin typeface="Consolas" panose="020B0609020204030204" pitchFamily="49" charset="0"/>
              </a:rPr>
              <a:t>begin(__range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end-expr</a:t>
            </a:r>
            <a:r>
              <a:rPr lang="en-US" dirty="0"/>
              <a:t>  — </a:t>
            </a:r>
            <a:r>
              <a:rPr lang="en-US" dirty="0">
                <a:latin typeface="Consolas" panose="020B0609020204030204" pitchFamily="49" charset="0"/>
              </a:rPr>
              <a:t>end(__range)</a:t>
            </a:r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22B0C-DB0D-39DD-F3D6-EF458E35B93C}"/>
              </a:ext>
            </a:extLst>
          </p:cNvPr>
          <p:cNvSpPr txBox="1"/>
          <p:nvPr/>
        </p:nvSpPr>
        <p:spPr>
          <a:xfrm>
            <a:off x="6600056" y="3861048"/>
            <a:ext cx="547260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defTabSz="3540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-statement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__range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range-expression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__begin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begin-expr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__end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; __begin != __end; ++__begin)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range-declaration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*__begin;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loop-statement</a:t>
            </a:r>
            <a:endParaRPr lang="ru-RU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94945-3EED-ACFA-F0BB-079CDA02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07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35C3E-1832-ECB0-797B-DC8E03F2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C5D54-2889-83DC-9306-EA5D030D15D6}"/>
              </a:ext>
            </a:extLst>
          </p:cNvPr>
          <p:cNvSpPr txBox="1"/>
          <p:nvPr/>
        </p:nvSpPr>
        <p:spPr>
          <a:xfrm>
            <a:off x="838200" y="1690688"/>
            <a:ext cx="830948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EDC7C-F623-645C-4D6B-A30F546039D5}"/>
              </a:ext>
            </a:extLst>
          </p:cNvPr>
          <p:cNvSpPr txBox="1"/>
          <p:nvPr/>
        </p:nvSpPr>
        <p:spPr>
          <a:xfrm>
            <a:off x="838200" y="3343254"/>
            <a:ext cx="10730408" cy="34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              // int (&amp;__range)[9]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        // int* __begin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__end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__range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std::</a:t>
            </a:r>
            <a:r>
              <a:rPr lang="en-US" sz="20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int* __end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__end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          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 prime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E005E-36A1-6F62-53DA-E69568D8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97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55C3B-AB69-68BE-5062-2BC07D03F4FC}"/>
              </a:ext>
            </a:extLst>
          </p:cNvPr>
          <p:cNvSpPr txBox="1"/>
          <p:nvPr/>
        </p:nvSpPr>
        <p:spPr>
          <a:xfrm>
            <a:off x="335360" y="332656"/>
            <a:ext cx="1128057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toupper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06F55-9906-9437-C4F2-C2BFD25D8325}"/>
              </a:ext>
            </a:extLst>
          </p:cNvPr>
          <p:cNvSpPr txBox="1"/>
          <p:nvPr/>
        </p:nvSpPr>
        <p:spPr>
          <a:xfrm>
            <a:off x="336749" y="2532884"/>
            <a:ext cx="11279187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354013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      // std::string&amp; __range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// std::string::iterator __begin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std::string::iterator __end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__begin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char&amp;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toupper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defTabSz="354013"/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defTabSz="354013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4BCDFE-D981-51FF-6DED-E026E286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46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A42E22-B030-470B-915D-BED4E97E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EA12-DD58-4CB6-B32C-6D02DBE22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A4C38F-E8FF-B376-5AF9-FF584C02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9287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Алгоритмы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/>
              <a:t>Обобщенные функции, реализующие типичные алгоритмы над элементами контейнеров</a:t>
            </a:r>
          </a:p>
          <a:p>
            <a:pPr lvl="1" eaLnBrk="1" hangingPunct="1"/>
            <a:r>
              <a:rPr lang="ru-RU" dirty="0"/>
              <a:t>Сортировка, поиск, поэлементная обработка, копирование элементов, генерирование элементов, перемешивание, разбиение последовательностей</a:t>
            </a:r>
          </a:p>
          <a:p>
            <a:pPr eaLnBrk="1" hangingPunct="1"/>
            <a:r>
              <a:rPr lang="ru-RU" sz="2800" dirty="0"/>
              <a:t>Алгоритмы не работают с контейнерами напрямую</a:t>
            </a:r>
          </a:p>
          <a:p>
            <a:pPr lvl="1" eaLnBrk="1" hangingPunct="1"/>
            <a:r>
              <a:rPr lang="ru-RU" dirty="0"/>
              <a:t>Вместо этого алгоритмы используют итераторы, задающие определенные элементы или диапазоны элементов контейнера</a:t>
            </a:r>
          </a:p>
          <a:p>
            <a:pPr eaLnBrk="1" hangingPunct="1"/>
            <a:r>
              <a:rPr lang="ru-RU" dirty="0"/>
              <a:t>Для работы с алгоритмами </a:t>
            </a:r>
            <a:r>
              <a:rPr lang="en-US" dirty="0"/>
              <a:t>STL </a:t>
            </a:r>
            <a:r>
              <a:rPr lang="ru-RU" dirty="0"/>
              <a:t>необходимо подключить заголовочный файл </a:t>
            </a:r>
            <a:r>
              <a:rPr lang="en-US" dirty="0"/>
              <a:t>&lt;algorithm&gt;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33B0F-A77E-2C37-3A5E-B166D94F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78746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5646C9-86B5-D15B-1B97-1DA9EBE3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элементов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674DB-D733-9448-2FAD-83385BF6ECD4}"/>
              </a:ext>
            </a:extLst>
          </p:cNvPr>
          <p:cNvSpPr txBox="1"/>
          <p:nvPr/>
        </p:nvSpPr>
        <p:spPr>
          <a:xfrm>
            <a:off x="838200" y="1690688"/>
            <a:ext cx="11353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front_inserter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90F15-B5FE-07EB-F770-2BA8FF25C895}"/>
              </a:ext>
            </a:extLst>
          </p:cNvPr>
          <p:cNvSpPr txBox="1"/>
          <p:nvPr/>
        </p:nvSpPr>
        <p:spPr>
          <a:xfrm>
            <a:off x="8184232" y="1196752"/>
            <a:ext cx="3672408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1, 2, 3,</a:t>
            </a:r>
          </a:p>
          <a:p>
            <a:r>
              <a:rPr lang="en-US" dirty="0">
                <a:latin typeface="Consolas" panose="020B0609020204030204" pitchFamily="49" charset="0"/>
              </a:rPr>
              <a:t>3, 2, 1,</a:t>
            </a:r>
          </a:p>
          <a:p>
            <a:r>
              <a:rPr lang="en-US" dirty="0">
                <a:latin typeface="Consolas" panose="020B0609020204030204" pitchFamily="49" charset="0"/>
              </a:rPr>
              <a:t>1, 2, 3,</a:t>
            </a:r>
          </a:p>
          <a:p>
            <a:r>
              <a:rPr lang="en-US" dirty="0">
                <a:latin typeface="Consolas" panose="020B0609020204030204" pitchFamily="49" charset="0"/>
              </a:rPr>
              <a:t>3, 2, 1, 1, 2, 3,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B26C7B-0D6A-F92A-27B0-1F915D10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05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838200" y="1690688"/>
            <a:ext cx="11162456" cy="480131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#include &lt;algorithm&gt;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#include &lt;functional&gt;</a:t>
            </a:r>
          </a:p>
          <a:p>
            <a:pPr defTabSz="347663"/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int main()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{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array[5] = {3, 5, 1, 7, 9};</a:t>
            </a:r>
          </a:p>
          <a:p>
            <a:pPr defTabSz="347663"/>
            <a:endParaRPr lang="en-US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347663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// Сортируем </a:t>
            </a:r>
            <a:r>
              <a:rPr lang="ru-RU" dirty="0" err="1">
                <a:latin typeface="Consolas" panose="020B0609020204030204" pitchFamily="49" charset="0"/>
                <a:cs typeface="Courier New" pitchFamily="49" charset="0"/>
              </a:rPr>
              <a:t>масссив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по возрастанию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::sort(&amp;array[0], &amp;array[5]);</a:t>
            </a:r>
          </a:p>
          <a:p>
            <a:pPr defTabSz="347663"/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347663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// Сортируем по убыванию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std::sort(&amp;array[0], &amp;array[5], std::greater&lt;int&gt;());</a:t>
            </a: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347663"/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347663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// Сортируем по убыванию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std::sort(&amp;array[0], &amp;array[5], [](int x, int y){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   return x &gt; y;</a:t>
            </a:r>
          </a:p>
          <a:p>
            <a:pPr defTabSz="347663"/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 });</a:t>
            </a:r>
          </a:p>
          <a:p>
            <a:pPr defTabSz="347663"/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ru-RU" b="1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Сортировка</a:t>
            </a:r>
            <a:r>
              <a:rPr lang="en-US" dirty="0"/>
              <a:t> </a:t>
            </a:r>
            <a:r>
              <a:rPr lang="ru-RU" dirty="0"/>
              <a:t>массива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30733D-8CBD-57B4-0AAE-CCE87DAA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765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78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7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78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78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789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78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789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C9B4-2D0C-49DB-80F7-22EF3375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Сортируем массив, передавая итераторы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7BE22-FD16-42A2-B39B-22537D12E500}"/>
              </a:ext>
            </a:extLst>
          </p:cNvPr>
          <p:cNvSpPr/>
          <p:nvPr/>
        </p:nvSpPr>
        <p:spPr>
          <a:xfrm>
            <a:off x="838200" y="2132856"/>
            <a:ext cx="101567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SortWithIterators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Сортируем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масссив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по возрастанию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));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Сортируем по убыванию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greater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&gt;());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85BD3-B249-8C2C-7F2D-59F704BD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1998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512C-23C5-480B-9BF3-4B4F8FC8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Сортируем, используя </a:t>
            </a:r>
            <a:r>
              <a:rPr lang="en-US" dirty="0"/>
              <a:t>C++20 ranges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C4505-437E-43E9-BB3C-977684D0EED3}"/>
              </a:ext>
            </a:extLst>
          </p:cNvPr>
          <p:cNvSpPr/>
          <p:nvPr/>
        </p:nvSpPr>
        <p:spPr>
          <a:xfrm>
            <a:off x="854174" y="2132856"/>
            <a:ext cx="81605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SortUsingRanges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less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&gt;());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0BF86-0E9B-C356-D7CA-4F1B6D2A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3231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6085A4-A8FA-4607-9153-926DCFB5A9D4}"/>
              </a:ext>
            </a:extLst>
          </p:cNvPr>
          <p:cNvSpPr/>
          <p:nvPr/>
        </p:nvSpPr>
        <p:spPr>
          <a:xfrm>
            <a:off x="0" y="0"/>
            <a:ext cx="12192000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algorithm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functional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CompareStudentsByAge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"Ivan"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"Alexey"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"Sergey"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begin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end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[](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Alexey, Ivan Sergey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],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)],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CompareStudentsByAge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Sergey, Ivan, Alexey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D8C4B-8052-2FD7-A584-5CD07B67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12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25C78A-10D3-449B-99CF-F95950E85ECC}"/>
              </a:ext>
            </a:extLst>
          </p:cNvPr>
          <p:cNvSpPr/>
          <p:nvPr/>
        </p:nvSpPr>
        <p:spPr>
          <a:xfrm>
            <a:off x="838200" y="1687354"/>
            <a:ext cx="1094643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algorithm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functional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"Ivan"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"Alexey"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{ 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"Sergey"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};</a:t>
            </a:r>
          </a:p>
          <a:p>
            <a:b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{},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Alexey, Ivan, Sergey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{},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Sergey, Ivan, Alexey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ranges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students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greater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&lt;&gt;(),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Alexey, Ivan, Sergey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D435B6-B44C-9C08-4250-44936791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Проекции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86588-85EE-1EC4-20F2-D882A88A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52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AC3D-74EB-4CDB-B29E-C7314F1A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Двоичный поиск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117BC-7CFB-4922-8899-646B2B872D0B}"/>
              </a:ext>
            </a:extLst>
          </p:cNvPr>
          <p:cNvSpPr/>
          <p:nvPr/>
        </p:nvSpPr>
        <p:spPr>
          <a:xfrm>
            <a:off x="26682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FB6B5-DF92-460B-9D76-0DD248C9620A}"/>
              </a:ext>
            </a:extLst>
          </p:cNvPr>
          <p:cNvSpPr/>
          <p:nvPr/>
        </p:nvSpPr>
        <p:spPr>
          <a:xfrm>
            <a:off x="75164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4A86F8-C7BF-4F7A-9355-E8FF681C7A29}"/>
              </a:ext>
            </a:extLst>
          </p:cNvPr>
          <p:cNvSpPr/>
          <p:nvPr/>
        </p:nvSpPr>
        <p:spPr>
          <a:xfrm>
            <a:off x="123646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43C84-41A6-468F-831A-F022E828E206}"/>
              </a:ext>
            </a:extLst>
          </p:cNvPr>
          <p:cNvSpPr/>
          <p:nvPr/>
        </p:nvSpPr>
        <p:spPr>
          <a:xfrm>
            <a:off x="172128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86C9E-B018-4F18-9574-6A5922579F8D}"/>
              </a:ext>
            </a:extLst>
          </p:cNvPr>
          <p:cNvSpPr/>
          <p:nvPr/>
        </p:nvSpPr>
        <p:spPr>
          <a:xfrm>
            <a:off x="220610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6BABA-3641-443B-90BA-0E146CE47EA5}"/>
              </a:ext>
            </a:extLst>
          </p:cNvPr>
          <p:cNvSpPr/>
          <p:nvPr/>
        </p:nvSpPr>
        <p:spPr>
          <a:xfrm>
            <a:off x="2690922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ru-R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5CB65-8969-45A0-85C8-C2208F368FEE}"/>
              </a:ext>
            </a:extLst>
          </p:cNvPr>
          <p:cNvSpPr/>
          <p:nvPr/>
        </p:nvSpPr>
        <p:spPr>
          <a:xfrm>
            <a:off x="3169466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1C5E59-5D8A-4376-9727-C9225BCF996A}"/>
              </a:ext>
            </a:extLst>
          </p:cNvPr>
          <p:cNvSpPr/>
          <p:nvPr/>
        </p:nvSpPr>
        <p:spPr>
          <a:xfrm>
            <a:off x="3648010" y="2055426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endParaRPr lang="ru-RU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A2CC4D-530E-4B8F-92B3-1CBA57D5FB97}"/>
              </a:ext>
            </a:extLst>
          </p:cNvPr>
          <p:cNvGrpSpPr/>
          <p:nvPr/>
        </p:nvGrpSpPr>
        <p:grpSpPr>
          <a:xfrm>
            <a:off x="1341646" y="2559482"/>
            <a:ext cx="3818532" cy="369332"/>
            <a:chOff x="2118432" y="2852936"/>
            <a:chExt cx="3818532" cy="369332"/>
          </a:xfrm>
        </p:grpSpPr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0CA657D2-ABE2-415F-AE2C-00D448B4B953}"/>
                </a:ext>
              </a:extLst>
            </p:cNvPr>
            <p:cNvSpPr/>
            <p:nvPr/>
          </p:nvSpPr>
          <p:spPr>
            <a:xfrm rot="5400000" flipV="1">
              <a:off x="2118432" y="2862228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27D157-2655-43E1-AFCA-B91EF4F1D71C}"/>
                </a:ext>
              </a:extLst>
            </p:cNvPr>
            <p:cNvSpPr txBox="1"/>
            <p:nvPr/>
          </p:nvSpPr>
          <p:spPr>
            <a:xfrm>
              <a:off x="2555776" y="2852936"/>
              <a:ext cx="3381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lower_bound</a:t>
              </a:r>
              <a:r>
                <a:rPr lang="en-US" dirty="0"/>
                <a:t>(numbers, 5)</a:t>
              </a:r>
              <a:endParaRPr lang="ru-RU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2C63FF-D7AC-48BC-93A3-10E0A50E3585}"/>
              </a:ext>
            </a:extLst>
          </p:cNvPr>
          <p:cNvGrpSpPr/>
          <p:nvPr/>
        </p:nvGrpSpPr>
        <p:grpSpPr>
          <a:xfrm>
            <a:off x="2825660" y="2991552"/>
            <a:ext cx="3782702" cy="369332"/>
            <a:chOff x="2154262" y="2852936"/>
            <a:chExt cx="3782702" cy="369332"/>
          </a:xfrm>
        </p:grpSpPr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73D2A989-6ADD-4D13-B82D-F2228D417BF9}"/>
                </a:ext>
              </a:extLst>
            </p:cNvPr>
            <p:cNvSpPr/>
            <p:nvPr/>
          </p:nvSpPr>
          <p:spPr>
            <a:xfrm rot="5400000" flipV="1">
              <a:off x="2154262" y="2857582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1AE55B-7DF0-4577-9549-0AB6AA7B5E46}"/>
                </a:ext>
              </a:extLst>
            </p:cNvPr>
            <p:cNvSpPr txBox="1"/>
            <p:nvPr/>
          </p:nvSpPr>
          <p:spPr>
            <a:xfrm>
              <a:off x="2691768" y="2852936"/>
              <a:ext cx="324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lower_bound</a:t>
              </a:r>
              <a:r>
                <a:rPr lang="en-US" dirty="0"/>
                <a:t>(numbers, 8)</a:t>
              </a:r>
              <a:endParaRPr lang="ru-RU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2BA6A6-51AA-4C66-8B48-12116B89211E}"/>
              </a:ext>
            </a:extLst>
          </p:cNvPr>
          <p:cNvGrpSpPr/>
          <p:nvPr/>
        </p:nvGrpSpPr>
        <p:grpSpPr>
          <a:xfrm>
            <a:off x="1721282" y="3558346"/>
            <a:ext cx="3438896" cy="369332"/>
            <a:chOff x="2498068" y="2852936"/>
            <a:chExt cx="3438896" cy="369332"/>
          </a:xfrm>
        </p:grpSpPr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F537954E-E904-4D0A-A2C7-16B6C64168FE}"/>
                </a:ext>
              </a:extLst>
            </p:cNvPr>
            <p:cNvSpPr/>
            <p:nvPr/>
          </p:nvSpPr>
          <p:spPr>
            <a:xfrm rot="16200000" flipV="1">
              <a:off x="2498068" y="2852936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21CBC8-0361-43AB-B541-2602398C7FAF}"/>
                </a:ext>
              </a:extLst>
            </p:cNvPr>
            <p:cNvSpPr txBox="1"/>
            <p:nvPr/>
          </p:nvSpPr>
          <p:spPr>
            <a:xfrm>
              <a:off x="2912628" y="2852936"/>
              <a:ext cx="3024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upper_bound</a:t>
              </a:r>
              <a:r>
                <a:rPr lang="en-US" dirty="0"/>
                <a:t>(numbers, 5)</a:t>
              </a:r>
              <a:endParaRPr lang="ru-RU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433750-D643-451D-B985-79D203320A71}"/>
              </a:ext>
            </a:extLst>
          </p:cNvPr>
          <p:cNvGrpSpPr/>
          <p:nvPr/>
        </p:nvGrpSpPr>
        <p:grpSpPr>
          <a:xfrm>
            <a:off x="3641467" y="4057400"/>
            <a:ext cx="3438896" cy="369332"/>
            <a:chOff x="2498068" y="2852936"/>
            <a:chExt cx="3438896" cy="369332"/>
          </a:xfrm>
        </p:grpSpPr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7BE19E02-75F3-4519-8EF1-11BBF17093A3}"/>
                </a:ext>
              </a:extLst>
            </p:cNvPr>
            <p:cNvSpPr/>
            <p:nvPr/>
          </p:nvSpPr>
          <p:spPr>
            <a:xfrm rot="16200000" flipV="1">
              <a:off x="2498068" y="2852936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AFD642-282A-46F7-A44C-2072BFDF2845}"/>
                </a:ext>
              </a:extLst>
            </p:cNvPr>
            <p:cNvSpPr txBox="1"/>
            <p:nvPr/>
          </p:nvSpPr>
          <p:spPr>
            <a:xfrm>
              <a:off x="2912628" y="2852936"/>
              <a:ext cx="3024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upper_bound</a:t>
              </a:r>
              <a:r>
                <a:rPr lang="en-US" dirty="0"/>
                <a:t>(numbers, 8)</a:t>
              </a:r>
              <a:endParaRPr lang="ru-RU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9668D-D3B0-48CF-814C-95A1221B2A8D}"/>
              </a:ext>
            </a:extLst>
          </p:cNvPr>
          <p:cNvGrpSpPr/>
          <p:nvPr/>
        </p:nvGrpSpPr>
        <p:grpSpPr>
          <a:xfrm>
            <a:off x="1831272" y="4719722"/>
            <a:ext cx="4412214" cy="369332"/>
            <a:chOff x="2120361" y="2852936"/>
            <a:chExt cx="4412214" cy="369332"/>
          </a:xfrm>
        </p:grpSpPr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AC787B5F-4061-45D8-9D2B-3B1751022C37}"/>
                </a:ext>
              </a:extLst>
            </p:cNvPr>
            <p:cNvSpPr/>
            <p:nvPr/>
          </p:nvSpPr>
          <p:spPr>
            <a:xfrm rot="5400000" flipV="1">
              <a:off x="2120361" y="2857582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C90E20-1968-4DFB-BBE1-2A727B892E57}"/>
                </a:ext>
              </a:extLst>
            </p:cNvPr>
            <p:cNvSpPr txBox="1"/>
            <p:nvPr/>
          </p:nvSpPr>
          <p:spPr>
            <a:xfrm>
              <a:off x="3937100" y="2852936"/>
              <a:ext cx="2595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equal_range</a:t>
              </a:r>
              <a:r>
                <a:rPr lang="en-US" dirty="0"/>
                <a:t>(numbers, 7)</a:t>
              </a:r>
              <a:endParaRPr lang="ru-RU" dirty="0"/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EAE52642-3A9D-4FEB-AA81-A17750DDA075}"/>
                </a:ext>
              </a:extLst>
            </p:cNvPr>
            <p:cNvSpPr/>
            <p:nvPr/>
          </p:nvSpPr>
          <p:spPr>
            <a:xfrm rot="16200000" flipV="1">
              <a:off x="3476290" y="2857582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67A313-F255-401F-90DD-65749CD1CAE1}"/>
              </a:ext>
            </a:extLst>
          </p:cNvPr>
          <p:cNvCxnSpPr>
            <a:cxnSpLocks/>
            <a:stCxn id="9" idx="1"/>
          </p:cNvCxnSpPr>
          <p:nvPr/>
        </p:nvCxnSpPr>
        <p:spPr>
          <a:xfrm>
            <a:off x="3169467" y="2235446"/>
            <a:ext cx="12743" cy="305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0B3C2D-475F-4FC5-B2AE-C923EC19D813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206102" y="2235446"/>
            <a:ext cx="0" cy="298833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C63193-1127-4910-A0F3-9F383416813C}"/>
              </a:ext>
            </a:extLst>
          </p:cNvPr>
          <p:cNvCxnSpPr>
            <a:cxnSpLocks/>
          </p:cNvCxnSpPr>
          <p:nvPr/>
        </p:nvCxnSpPr>
        <p:spPr>
          <a:xfrm>
            <a:off x="2693451" y="2199442"/>
            <a:ext cx="12607" cy="30243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E49D400-FCA6-4B2A-9429-7E55F6B4F427}"/>
              </a:ext>
            </a:extLst>
          </p:cNvPr>
          <p:cNvSpPr/>
          <p:nvPr/>
        </p:nvSpPr>
        <p:spPr>
          <a:xfrm>
            <a:off x="6803719" y="6363017"/>
            <a:ext cx="51548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hlinkClick r:id="rId3"/>
              </a:rPr>
              <a:t>https://wandbox.org/permlink/MSu4VTL6jHwk4vfN</a:t>
            </a:r>
            <a:r>
              <a:rPr lang="de-DE" dirty="0"/>
              <a:t> </a:t>
            </a:r>
            <a:endParaRPr lang="ru-R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EFDD80-5B6E-41F2-8300-E8DD550B1F1A}"/>
              </a:ext>
            </a:extLst>
          </p:cNvPr>
          <p:cNvGrpSpPr/>
          <p:nvPr/>
        </p:nvGrpSpPr>
        <p:grpSpPr>
          <a:xfrm>
            <a:off x="1343472" y="5268227"/>
            <a:ext cx="3396939" cy="384196"/>
            <a:chOff x="2047350" y="2838072"/>
            <a:chExt cx="3396939" cy="384196"/>
          </a:xfrm>
        </p:grpSpPr>
        <p:sp>
          <p:nvSpPr>
            <p:cNvPr id="38" name="Arrow: Down 37">
              <a:extLst>
                <a:ext uri="{FF2B5EF4-FFF2-40B4-BE49-F238E27FC236}">
                  <a16:creationId xmlns:a16="http://schemas.microsoft.com/office/drawing/2014/main" id="{5A2CF22C-180F-4C8D-8A26-06CDCDDFC989}"/>
                </a:ext>
              </a:extLst>
            </p:cNvPr>
            <p:cNvSpPr/>
            <p:nvPr/>
          </p:nvSpPr>
          <p:spPr>
            <a:xfrm rot="5400000" flipV="1">
              <a:off x="2047350" y="2852936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897AB7-8C51-44F0-A161-C60418B5AF33}"/>
                </a:ext>
              </a:extLst>
            </p:cNvPr>
            <p:cNvSpPr txBox="1"/>
            <p:nvPr/>
          </p:nvSpPr>
          <p:spPr>
            <a:xfrm>
              <a:off x="2848814" y="2838072"/>
              <a:ext cx="2595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equal_range</a:t>
              </a:r>
              <a:r>
                <a:rPr lang="en-US" dirty="0"/>
                <a:t>(numbers, 5)</a:t>
              </a:r>
              <a:endParaRPr lang="ru-RU" dirty="0"/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C9EE6096-419A-4049-90A4-904748F90D84}"/>
                </a:ext>
              </a:extLst>
            </p:cNvPr>
            <p:cNvSpPr/>
            <p:nvPr/>
          </p:nvSpPr>
          <p:spPr>
            <a:xfrm rot="16200000" flipV="1">
              <a:off x="2461730" y="2862228"/>
              <a:ext cx="360040" cy="36004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C10AA1-F130-4818-88F7-B0F45D99D8FC}"/>
              </a:ext>
            </a:extLst>
          </p:cNvPr>
          <p:cNvCxnSpPr>
            <a:cxnSpLocks/>
            <a:stCxn id="6" idx="1"/>
          </p:cNvCxnSpPr>
          <p:nvPr/>
        </p:nvCxnSpPr>
        <p:spPr>
          <a:xfrm>
            <a:off x="1721282" y="2235446"/>
            <a:ext cx="0" cy="39964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372C817B-2323-5E2A-7AA7-D3FF24849FFC}"/>
              </a:ext>
            </a:extLst>
          </p:cNvPr>
          <p:cNvCxnSpPr>
            <a:cxnSpLocks/>
          </p:cNvCxnSpPr>
          <p:nvPr/>
        </p:nvCxnSpPr>
        <p:spPr>
          <a:xfrm>
            <a:off x="3631808" y="2259739"/>
            <a:ext cx="12743" cy="305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992FDC0-9134-77D9-31F3-D7ED4E04F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15" y="309307"/>
            <a:ext cx="2499577" cy="25529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0350702-484D-9D43-E329-715CF3A90981}"/>
              </a:ext>
            </a:extLst>
          </p:cNvPr>
          <p:cNvSpPr txBox="1"/>
          <p:nvPr/>
        </p:nvSpPr>
        <p:spPr>
          <a:xfrm>
            <a:off x="6803719" y="3558346"/>
            <a:ext cx="4980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lower_bound</a:t>
            </a:r>
            <a:r>
              <a:rPr lang="en-US" dirty="0"/>
              <a:t> </a:t>
            </a:r>
            <a:r>
              <a:rPr lang="ru-RU" dirty="0"/>
              <a:t>возвращает итератор на первый элемент, не предшествующий (т.е. </a:t>
            </a:r>
            <a:r>
              <a:rPr lang="en-US" dirty="0"/>
              <a:t>&gt;=)</a:t>
            </a:r>
            <a:r>
              <a:rPr lang="ru-RU" dirty="0"/>
              <a:t> искомому</a:t>
            </a:r>
          </a:p>
          <a:p>
            <a:endParaRPr lang="ru-RU" dirty="0"/>
          </a:p>
          <a:p>
            <a:r>
              <a:rPr lang="en-US" b="1" dirty="0" err="1">
                <a:latin typeface="Consolas" panose="020B0609020204030204" pitchFamily="49" charset="0"/>
              </a:rPr>
              <a:t>upper_bound</a:t>
            </a:r>
            <a:r>
              <a:rPr lang="en-US" dirty="0"/>
              <a:t> </a:t>
            </a:r>
            <a:r>
              <a:rPr lang="ru-RU" dirty="0"/>
              <a:t>возвращает итератор на первый элемент, который больше искомого</a:t>
            </a: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028DBD00-CB80-D5E2-7886-EFE8F20E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86725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03512" y="404665"/>
            <a:ext cx="8820472" cy="61863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&lt;vector&gt;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&lt;functional&gt;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% 2) == 0;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FindFirstEvenValueInArray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numbers[] = { 1, 3, 9, 10, 17, 12, 21 };</a:t>
            </a: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auto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it = </a:t>
            </a:r>
            <a:r>
              <a:rPr lang="en-US" dirty="0" err="1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(numbers),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(numbers),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(it !=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(numbers))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"First even number in array is 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*it &lt;&lt;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7E170-9E9F-4C79-D78B-7AE2C5EF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739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38200" y="1690688"/>
            <a:ext cx="9845306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&lt;algorithm&gt;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&lt;string&gt;</a:t>
            </a:r>
            <a:endParaRPr lang="ru-RU" dirty="0"/>
          </a:p>
          <a:p>
            <a:pPr defTabSz="363538"/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SearchingForRabbit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= {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"fox"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"wolf"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"snake"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"turtle"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"bear"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"rabbit"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"hare"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defTabSz="36353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begin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"rabbit"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!= </a:t>
            </a:r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"There is a rabbit among the animals"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else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"There are no rabbits"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890DA2-ECFA-8D39-485B-3FC8CE01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элемента в массиве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5B78E-B143-2DFE-9123-B5F266B1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0531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39416" y="188641"/>
            <a:ext cx="9684568" cy="65556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&lt;algorithm&gt;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&lt;string&gt;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defTabSz="363538"/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TestWhetherThereIsAtLeastOneAdult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defTabSz="363538"/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Person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people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= { 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{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"Ivan"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 }, {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"Sergey"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16 }, {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Stepan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Anatolievich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65 }, 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{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"Maria 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Semenovna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36 }, {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Egor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13 } 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defTabSz="363538"/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any_of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begin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people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people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[](</a:t>
            </a:r>
            <a:r>
              <a:rPr lang="en-US" sz="1400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</a:t>
            </a: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person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18;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}))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sz="14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"At least one person is an adult"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else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363538"/>
            <a:r>
              <a:rPr lang="en-US" sz="1400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sz="1400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"There are no adults"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363538"/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363538"/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A50A7-2590-0E61-44A2-E4BFBFCB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38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AB2B4-BCA3-24B1-8817-D25FDE64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Идиома </a:t>
            </a:r>
            <a:r>
              <a:rPr lang="en-US" dirty="0"/>
              <a:t>erase-remove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5B6C92-F7B6-E30D-2E4B-D4FF61FCA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5227F-4DD7-2251-C087-48B6DAD2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3975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90D053-2BC6-CA6E-277C-1E931C95C10A}"/>
              </a:ext>
            </a:extLst>
          </p:cNvPr>
          <p:cNvSpPr txBox="1"/>
          <p:nvPr/>
        </p:nvSpPr>
        <p:spPr>
          <a:xfrm>
            <a:off x="1524000" y="-1"/>
            <a:ext cx="9144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&lt;algorithm&gt;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&lt;iostream&gt;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&lt;iterator&gt;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&lt;vector&gt;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Print(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vector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&gt;&amp; </a:t>
            </a:r>
            <a:r>
              <a:rPr lang="en-US" sz="1600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600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std::copy(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.begin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.end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std::</a:t>
            </a:r>
            <a:r>
              <a:rPr lang="en-US" sz="1600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ostream_iterator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&gt;(std::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kern="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r>
              <a:rPr lang="en-US" sz="1600" kern="1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sz="1600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vector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numbers{ 9, 3, 0, 2, 0, 7, 8, 13, 6 };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Print(numbers);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it = std::remove(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numbers.begin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numbers.end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0);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Print(numbers);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numbers.erase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(it,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numbers.end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Print(numbers);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numbers.erase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std::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remove_if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numbers.begin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 </a:t>
            </a:r>
            <a:r>
              <a:rPr lang="en-US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numbers.end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(),</a:t>
            </a: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[](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{ </a:t>
            </a:r>
            <a:r>
              <a:rPr lang="en-US" sz="1600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2 == 0; }), 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numbers.end</a:t>
            </a: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Print(</a:t>
            </a:r>
            <a:r>
              <a:rPr lang="ru-RU" sz="1600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</a:t>
            </a:r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kern="1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BC0BD2-9773-04B2-6269-19B1840C3A0E}"/>
              </a:ext>
            </a:extLst>
          </p:cNvPr>
          <p:cNvSpPr/>
          <p:nvPr/>
        </p:nvSpPr>
        <p:spPr>
          <a:xfrm>
            <a:off x="6456040" y="5372154"/>
            <a:ext cx="3995936" cy="13681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Consolas" panose="020B0609020204030204" pitchFamily="49" charset="0"/>
              </a:rPr>
              <a:t>9, 3, 0, 2, 0, 7, 8, 13, 6, </a:t>
            </a:r>
          </a:p>
          <a:p>
            <a:r>
              <a:rPr lang="ru-RU" dirty="0">
                <a:latin typeface="Consolas" panose="020B0609020204030204" pitchFamily="49" charset="0"/>
              </a:rPr>
              <a:t>9, 3, 2, 7, 8, 13, 6, 13, 6, </a:t>
            </a:r>
          </a:p>
          <a:p>
            <a:r>
              <a:rPr lang="ru-RU" dirty="0">
                <a:latin typeface="Consolas" panose="020B0609020204030204" pitchFamily="49" charset="0"/>
              </a:rPr>
              <a:t>9, 3, 2, 7, 8, 13, 6, </a:t>
            </a:r>
          </a:p>
          <a:p>
            <a:r>
              <a:rPr lang="ru-RU" dirty="0">
                <a:latin typeface="Consolas" panose="020B0609020204030204" pitchFamily="49" charset="0"/>
              </a:rPr>
              <a:t>9, 3, 7, 13,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A9FED-FC86-0B77-1AA1-BB4088DB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84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D66BF-A710-700C-7996-71F7633D3A24}"/>
              </a:ext>
            </a:extLst>
          </p:cNvPr>
          <p:cNvSpPr txBox="1"/>
          <p:nvPr/>
        </p:nvSpPr>
        <p:spPr>
          <a:xfrm>
            <a:off x="767408" y="2132856"/>
            <a:ext cx="102251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erase_if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1, 7, 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std::ranges::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ostream_iterator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DF6-5D34-AC74-08BE-F12A1B61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std::erase / std::</a:t>
            </a:r>
            <a:r>
              <a:rPr lang="en-US" dirty="0" err="1"/>
              <a:t>erase_if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E4F2C-09A4-2E42-3904-D8C088DA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15495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A410D-70D9-2679-E80D-98C717DD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std::optional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F8AEF0-A3E5-1CD9-C96A-F265F8906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7DEC1-CD3F-E27F-7CBA-456CCE13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4130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std::optional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198" y="1825625"/>
            <a:ext cx="9804095" cy="4351338"/>
          </a:xfrm>
        </p:spPr>
        <p:txBody>
          <a:bodyPr>
            <a:normAutofit/>
          </a:bodyPr>
          <a:lstStyle/>
          <a:p>
            <a:r>
              <a:rPr lang="ru-RU" dirty="0"/>
              <a:t>Опциональное значение</a:t>
            </a:r>
          </a:p>
          <a:p>
            <a:r>
              <a:rPr lang="ru-RU" dirty="0"/>
              <a:t>Не использует динамическое выделение памяти</a:t>
            </a:r>
          </a:p>
          <a:p>
            <a:r>
              <a:rPr lang="ru-RU" dirty="0"/>
              <a:t>Применение</a:t>
            </a:r>
          </a:p>
          <a:p>
            <a:pPr lvl="1"/>
            <a:r>
              <a:rPr lang="ru-RU" dirty="0"/>
              <a:t>Значение, которого может и не быть</a:t>
            </a:r>
          </a:p>
          <a:p>
            <a:pPr lvl="2"/>
            <a:r>
              <a:rPr lang="ru-RU" dirty="0"/>
              <a:t>Результат поиска</a:t>
            </a:r>
          </a:p>
          <a:p>
            <a:pPr lvl="2"/>
            <a:r>
              <a:rPr lang="en-US" dirty="0"/>
              <a:t>Undefined-</a:t>
            </a:r>
            <a:r>
              <a:rPr lang="ru-RU" dirty="0"/>
              <a:t>значение (если сам тип его не имеет)</a:t>
            </a:r>
          </a:p>
          <a:p>
            <a:pPr lvl="1"/>
            <a:r>
              <a:rPr lang="ru-RU" dirty="0"/>
              <a:t>Отложенное конструирование объекта</a:t>
            </a:r>
          </a:p>
          <a:p>
            <a:pPr lvl="2"/>
            <a:r>
              <a:rPr lang="ru-RU" dirty="0"/>
              <a:t>Поле класса не может быть проинициализировано в конструкторе</a:t>
            </a:r>
          </a:p>
          <a:p>
            <a:pPr lvl="2"/>
            <a:r>
              <a:rPr lang="ru-RU" dirty="0"/>
              <a:t>Ленивые вычисления</a:t>
            </a:r>
          </a:p>
          <a:p>
            <a:pPr lvl="1"/>
            <a:r>
              <a:rPr lang="ru-RU" dirty="0"/>
              <a:t>Простейшее информирование об ошибке</a:t>
            </a:r>
            <a:endParaRPr lang="en-US" dirty="0"/>
          </a:p>
        </p:txBody>
      </p:sp>
      <p:pic>
        <p:nvPicPr>
          <p:cNvPr id="1032" name="Коробка (зад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910" y="137418"/>
            <a:ext cx="2982226" cy="230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Шарик" descr="C:\Users\Vivid\AppData\Local\Microsoft\Windows\INetCache\IE\WS3H632O\Blue_sphere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477" y="607946"/>
            <a:ext cx="1033094" cy="103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Коробка (перед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910" y="137417"/>
            <a:ext cx="2982226" cy="230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2D6676-6FD6-4AE0-A190-7D7D39D36D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3659" y="4148473"/>
            <a:ext cx="2524477" cy="257210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337A-C151-C11C-3E05-A0993A3F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67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FC27AD-C05A-8F4D-77A0-5EFEEEE2FBC2}"/>
              </a:ext>
            </a:extLst>
          </p:cNvPr>
          <p:cNvSpPr txBox="1"/>
          <p:nvPr/>
        </p:nvSpPr>
        <p:spPr>
          <a:xfrm>
            <a:off x="1524000" y="15273"/>
            <a:ext cx="81369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White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Triangle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vertex1, vertex2, vertex3;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optional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outlineColor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optional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fillColor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"yellow"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"green"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Black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"black"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White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"white"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default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    assert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"unknown color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6F87663C-6802-AC77-4763-FC5D0F3D425A}"/>
              </a:ext>
            </a:extLst>
          </p:cNvPr>
          <p:cNvSpPr/>
          <p:nvPr/>
        </p:nvSpPr>
        <p:spPr>
          <a:xfrm>
            <a:off x="7053437" y="1876553"/>
            <a:ext cx="2160240" cy="1080120"/>
          </a:xfrm>
          <a:prstGeom prst="triangle">
            <a:avLst>
              <a:gd name="adj" fmla="val 16701"/>
            </a:avLst>
          </a:prstGeom>
          <a:solidFill>
            <a:srgbClr val="00B0F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BBEE4595-B777-7DAF-B902-9A4AB8619656}"/>
              </a:ext>
            </a:extLst>
          </p:cNvPr>
          <p:cNvSpPr/>
          <p:nvPr/>
        </p:nvSpPr>
        <p:spPr>
          <a:xfrm rot="19109283">
            <a:off x="7008271" y="1518133"/>
            <a:ext cx="2495941" cy="1733503"/>
          </a:xfrm>
          <a:prstGeom prst="triangle">
            <a:avLst>
              <a:gd name="adj" fmla="val 50000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2C862EE2-A0EB-56AE-429C-9D4F7E93DDCA}"/>
              </a:ext>
            </a:extLst>
          </p:cNvPr>
          <p:cNvSpPr/>
          <p:nvPr/>
        </p:nvSpPr>
        <p:spPr>
          <a:xfrm rot="2892151">
            <a:off x="7735492" y="2690081"/>
            <a:ext cx="2160240" cy="1437560"/>
          </a:xfrm>
          <a:prstGeom prst="triangle">
            <a:avLst>
              <a:gd name="adj" fmla="val 100000"/>
            </a:avLst>
          </a:prstGeom>
          <a:solidFill>
            <a:srgbClr val="92D05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C1DD4-E158-4768-62AD-C6979306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04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E220DB-123D-FA08-E6E6-1EA9D4E2BF47}"/>
              </a:ext>
            </a:extLst>
          </p:cNvPr>
          <p:cNvSpPr txBox="1"/>
          <p:nvPr/>
        </p:nvSpPr>
        <p:spPr>
          <a:xfrm>
            <a:off x="1541488" y="14168"/>
            <a:ext cx="91265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operator&lt;&lt;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"{"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point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point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"}"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operator&lt;&lt;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Triangle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"{p1: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.vertex1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p2: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.vertex2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p3: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.vertex3;</a:t>
            </a: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outlineColor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.outlineColor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.outlineColor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none"s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solidFill>
                  <a:srgbClr val="80808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fillColor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.fillColor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ColorToString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.fillColor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none"s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strm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"}"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ru-RU" dirty="0">
                <a:solidFill>
                  <a:srgbClr val="2B91A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Triangle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t{ { 0, 0 }, { 0, 1 }, { 1, 0 },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2F4F4F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nullopt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C943E33C-060A-FCE3-2226-7D535EDDC567}"/>
              </a:ext>
            </a:extLst>
          </p:cNvPr>
          <p:cNvSpPr/>
          <p:nvPr/>
        </p:nvSpPr>
        <p:spPr>
          <a:xfrm flipH="1">
            <a:off x="8544272" y="4941168"/>
            <a:ext cx="1008112" cy="1008112"/>
          </a:xfrm>
          <a:prstGeom prst="triangle">
            <a:avLst>
              <a:gd name="adj" fmla="val 100000"/>
            </a:avLst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BC834473-717C-BC1A-3985-186B1DD0ED9C}"/>
              </a:ext>
            </a:extLst>
          </p:cNvPr>
          <p:cNvCxnSpPr>
            <a:cxnSpLocks/>
          </p:cNvCxnSpPr>
          <p:nvPr/>
        </p:nvCxnSpPr>
        <p:spPr>
          <a:xfrm>
            <a:off x="7896200" y="5949280"/>
            <a:ext cx="2304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8C96BB8-B27C-77BF-5936-BDF602DAA71F}"/>
              </a:ext>
            </a:extLst>
          </p:cNvPr>
          <p:cNvCxnSpPr>
            <a:cxnSpLocks/>
          </p:cNvCxnSpPr>
          <p:nvPr/>
        </p:nvCxnSpPr>
        <p:spPr>
          <a:xfrm flipV="1">
            <a:off x="8544272" y="4571592"/>
            <a:ext cx="0" cy="1737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70D4E2-03D1-4164-33A5-CD1FA1EC80C1}"/>
              </a:ext>
            </a:extLst>
          </p:cNvPr>
          <p:cNvSpPr txBox="1"/>
          <p:nvPr/>
        </p:nvSpPr>
        <p:spPr>
          <a:xfrm>
            <a:off x="1442480" y="6371167"/>
            <a:ext cx="9324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Consolas" panose="020B0609020204030204" pitchFamily="49" charset="0"/>
              </a:rPr>
              <a:t>{p1: {0, 0}, p2: {0, 1}, p3: {1, 0},  </a:t>
            </a:r>
            <a:r>
              <a:rPr lang="ru-RU" sz="1600" dirty="0" err="1">
                <a:latin typeface="Consolas" panose="020B0609020204030204" pitchFamily="49" charset="0"/>
              </a:rPr>
              <a:t>outlineColor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red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fillColor</a:t>
            </a:r>
            <a:r>
              <a:rPr lang="ru-RU" sz="1600" dirty="0">
                <a:latin typeface="Consolas" panose="020B0609020204030204" pitchFamily="49" charset="0"/>
              </a:rPr>
              <a:t>: </a:t>
            </a:r>
            <a:r>
              <a:rPr lang="ru-RU" sz="1600" dirty="0" err="1">
                <a:latin typeface="Consolas" panose="020B0609020204030204" pitchFamily="49" charset="0"/>
              </a:rPr>
              <a:t>none</a:t>
            </a:r>
            <a:r>
              <a:rPr lang="ru-RU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9095A-88F7-B3C5-F090-857B1443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43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37F2B1-1617-4CBA-44D3-A7B8AD0C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файловой системой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F748A-4FFD-3F6B-6BB1-EE545372A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F9570F-C000-7228-7217-4695836E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75739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2F4EC1-E427-D933-1E85-9432C8A37C2C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filesystem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fs = std::filesystem;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fs::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current_path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generic_string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parent_path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extension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replace_extension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---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fs::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recursive_directory_iterator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92736-39A1-7451-DCA4-BC282115F8BD}"/>
              </a:ext>
            </a:extLst>
          </p:cNvPr>
          <p:cNvSpPr txBox="1"/>
          <p:nvPr/>
        </p:nvSpPr>
        <p:spPr>
          <a:xfrm>
            <a:off x="6672064" y="332656"/>
            <a:ext cx="5519936" cy="24929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"C:\\test\\file_sys\\out\\build\\x64-debug"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C:\test\file_sys\out\build\x64-debug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C:/test/file_sys/out/build/x64-debug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"x64-debug"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"C:\\test\\file_sys\\out\\build\\file.txt"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"file"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".txt"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"C:\\test\\file_sys\\out\\build\\file.dat"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"C:\\test\\file_sys\\out\\build\\x64-debug\\.cmake"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"C:\\test\\file_sys\\out\\build\\x64-debug\\.cmake\\api"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"C:\\test\\file_sys\\out\\build\\x64-debug\\.cmake\\api\\v1"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732B25-7EE1-E79D-8A0D-561206CE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23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DDF1-DE41-B61B-59D6-E90809F8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DE950-5891-AABF-0BB2-358ECC38A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F5C2D-9AD4-6FEC-2EEA-7F90FDDF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8308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3a95a37d3a97989ff551949289caca977b538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aefb5e4-2fd5-41dd-b373-e5ed0a0c7dc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82e97d2-f20a-4606-be19-23a7de49a7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585c847-70f5-4e89-8337-ff3ca9bbaf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b6f6964-58fe-459c-b140-825c3f00fcf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a838e2c-4a2c-49a3-bc1d-3cd578301d5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1f769ac-bdfe-41fa-ae75-f65691b298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a93f2bf-bdfb-4f8a-83f7-95d0927702f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5bd3461-00c3-4a96-a922-fc48dc2356c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5bd3461-00c3-4a96-a922-fc48dc2356c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7ab4edb-91d0-4af7-9d0b-2c96dec1732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dadbec7-5857-48a6-8b75-4868b9f4040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77969e6-0576-4669-9cad-43411d00507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89faae1-ba61-49dc-9476-0fcf3871f8d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6875</TotalTime>
  <Words>15836</Words>
  <Application>Microsoft Office PowerPoint</Application>
  <PresentationFormat>Widescreen</PresentationFormat>
  <Paragraphs>2150</Paragraphs>
  <Slides>121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6" baseType="lpstr">
      <vt:lpstr>Arial</vt:lpstr>
      <vt:lpstr>Calibri</vt:lpstr>
      <vt:lpstr>Calibri Light</vt:lpstr>
      <vt:lpstr>Consolas</vt:lpstr>
      <vt:lpstr>Office Theme</vt:lpstr>
      <vt:lpstr>Стандартная библиотека C++</vt:lpstr>
      <vt:lpstr>Стандартная библиотека C++</vt:lpstr>
      <vt:lpstr>Контейнеры стандартной библиотеки</vt:lpstr>
      <vt:lpstr>Основные контейнеры стандартной библиотеки</vt:lpstr>
      <vt:lpstr>std::string</vt:lpstr>
      <vt:lpstr>Строка std::string</vt:lpstr>
      <vt:lpstr>Внутреннее устройство string*</vt:lpstr>
      <vt:lpstr>Создание строки</vt:lpstr>
      <vt:lpstr>Размер и вместимость</vt:lpstr>
      <vt:lpstr>Сравнение строк</vt:lpstr>
      <vt:lpstr>Конкатенация строк</vt:lpstr>
      <vt:lpstr>Извлечение подстроки</vt:lpstr>
      <vt:lpstr>Поиск внутри строки</vt:lpstr>
      <vt:lpstr>Замена фрагмента строки</vt:lpstr>
      <vt:lpstr>string_view</vt:lpstr>
      <vt:lpstr>std::string_view</vt:lpstr>
      <vt:lpstr>Устройство string_view</vt:lpstr>
      <vt:lpstr>Конструирование string_view</vt:lpstr>
      <vt:lpstr>Пример – ссылки на части URL</vt:lpstr>
      <vt:lpstr>std::array</vt:lpstr>
      <vt:lpstr>std::array</vt:lpstr>
      <vt:lpstr>std::array vs C-массив</vt:lpstr>
      <vt:lpstr>Проверка индекса при доступе к элементам std::array</vt:lpstr>
      <vt:lpstr>PowerPoint Presentation</vt:lpstr>
      <vt:lpstr>std::to_array (C++20)</vt:lpstr>
      <vt:lpstr>std::vector</vt:lpstr>
      <vt:lpstr>std::vector</vt:lpstr>
      <vt:lpstr>Внутреннее устройство vector</vt:lpstr>
      <vt:lpstr>Чтение и реверсирование массива</vt:lpstr>
      <vt:lpstr>PowerPoint Presentation</vt:lpstr>
      <vt:lpstr>Резервирование памяти</vt:lpstr>
      <vt:lpstr>Инвалидация ссылок и итераторов std::vector</vt:lpstr>
      <vt:lpstr>Инвалидация ссылок и итераторов</vt:lpstr>
      <vt:lpstr>std::deque</vt:lpstr>
      <vt:lpstr>Двусторонняя очередь (double-ended queue) std::deque</vt:lpstr>
      <vt:lpstr>Возможное устройство deque</vt:lpstr>
      <vt:lpstr>PowerPoint Presentation</vt:lpstr>
      <vt:lpstr>Пример</vt:lpstr>
      <vt:lpstr>std::list</vt:lpstr>
      <vt:lpstr>Двусвязный список std::list</vt:lpstr>
      <vt:lpstr>Возможное устройство двусвязного списка</vt:lpstr>
      <vt:lpstr>Пример: список задач</vt:lpstr>
      <vt:lpstr>Вставка в последовательные контейнеры</vt:lpstr>
      <vt:lpstr>std::map и std::multimap</vt:lpstr>
      <vt:lpstr>Классы std::map и std::multimap</vt:lpstr>
      <vt:lpstr>Красно-чёрное дерево</vt:lpstr>
      <vt:lpstr>Пример: подсчёт частоты встречаемости слов</vt:lpstr>
      <vt:lpstr>PowerPoint Presentation</vt:lpstr>
      <vt:lpstr>Пример: несколько студентов с одинаковым баллом</vt:lpstr>
      <vt:lpstr>std::unordered_map и std::unordered_multimap</vt:lpstr>
      <vt:lpstr>Классы std::unordered_map и std::unordered_multimap</vt:lpstr>
      <vt:lpstr>PowerPoint Presentation</vt:lpstr>
      <vt:lpstr>Возможное устройство  unordered_map</vt:lpstr>
      <vt:lpstr>Создаём простой LRU Cache (unordered_map + list)</vt:lpstr>
      <vt:lpstr>Пример: LRU (Least Recently Used) Cache (Инициализация и поиск)</vt:lpstr>
      <vt:lpstr>LRU Cache – вставка элемента</vt:lpstr>
      <vt:lpstr>LRU Cache - использование</vt:lpstr>
      <vt:lpstr>std::set и std::multiset</vt:lpstr>
      <vt:lpstr>Классы множеств std::set и std::multiset</vt:lpstr>
      <vt:lpstr>Пример</vt:lpstr>
      <vt:lpstr>unordered_set и unordered_multiset</vt:lpstr>
      <vt:lpstr>unordered_set и unordered_multiset</vt:lpstr>
      <vt:lpstr>Пример: удаление повторяющихся чисел</vt:lpstr>
      <vt:lpstr>Пример: подсчёт повторяющихся оценок</vt:lpstr>
      <vt:lpstr>std::function</vt:lpstr>
      <vt:lpstr>std::function</vt:lpstr>
      <vt:lpstr>Задача – поиск текста в потоке</vt:lpstr>
      <vt:lpstr>Решение – передаём обработчик результатов снаружи, используя function</vt:lpstr>
      <vt:lpstr>Обрабатываем результаты в обычной функции</vt:lpstr>
      <vt:lpstr>Лямбда-выражение</vt:lpstr>
      <vt:lpstr>Что у лямбда-функции под капотом?</vt:lpstr>
      <vt:lpstr>PowerPoint Presentation</vt:lpstr>
      <vt:lpstr>Захват переменной по ссылке</vt:lpstr>
      <vt:lpstr>Изменение захваченного значения</vt:lpstr>
      <vt:lpstr>Не вызывайте лямбда-функцию, если захваченная по ссылке переменная разрушена</vt:lpstr>
      <vt:lpstr>Обрабатываем результаты в лямбда-функции</vt:lpstr>
      <vt:lpstr>Обрабатываем результаты в лямбда-функции, захватывающей переменные</vt:lpstr>
      <vt:lpstr>Обрабатываем результаты в методе класса</vt:lpstr>
      <vt:lpstr>Ввод-вывод</vt:lpstr>
      <vt:lpstr>Стандартные потоки ввода-вывода</vt:lpstr>
      <vt:lpstr>Операции ввода-вывода в поток</vt:lpstr>
      <vt:lpstr>Манипуляторы ввода-вывода</vt:lpstr>
      <vt:lpstr>Текстовый поток</vt:lpstr>
      <vt:lpstr>Файловый ввод-вывод</vt:lpstr>
      <vt:lpstr>Тонкости работы с файловыми потоками</vt:lpstr>
      <vt:lpstr>PowerPoint Presentation</vt:lpstr>
      <vt:lpstr>Потоки чтения из строки и записи в строку</vt:lpstr>
      <vt:lpstr>Итераторы</vt:lpstr>
      <vt:lpstr>Итераторы</vt:lpstr>
      <vt:lpstr>Контейнеры и итераторы</vt:lpstr>
      <vt:lpstr>Методы для получения итераторов</vt:lpstr>
      <vt:lpstr>Категории итераторов</vt:lpstr>
      <vt:lpstr>Категории итераторов</vt:lpstr>
      <vt:lpstr>Исследуем range-based for</vt:lpstr>
      <vt:lpstr>Заглядываем внутрь range-based for</vt:lpstr>
      <vt:lpstr>init-statement (начиная с C++20)</vt:lpstr>
      <vt:lpstr>begin-expr и end-expr</vt:lpstr>
      <vt:lpstr>Пример</vt:lpstr>
      <vt:lpstr>PowerPoint Presentation</vt:lpstr>
      <vt:lpstr>Алгоритмы</vt:lpstr>
      <vt:lpstr>Алгоритмы</vt:lpstr>
      <vt:lpstr>Копирование элементов</vt:lpstr>
      <vt:lpstr>Сортировка массива</vt:lpstr>
      <vt:lpstr>Сортируем массив, передавая итераторы</vt:lpstr>
      <vt:lpstr>Сортируем, используя C++20 ranges</vt:lpstr>
      <vt:lpstr>PowerPoint Presentation</vt:lpstr>
      <vt:lpstr>Проекции</vt:lpstr>
      <vt:lpstr>Двоичный поиск</vt:lpstr>
      <vt:lpstr>PowerPoint Presentation</vt:lpstr>
      <vt:lpstr>Поиск элемента в массиве</vt:lpstr>
      <vt:lpstr>PowerPoint Presentation</vt:lpstr>
      <vt:lpstr>Идиома erase-remove</vt:lpstr>
      <vt:lpstr>PowerPoint Presentation</vt:lpstr>
      <vt:lpstr>std::erase / std::erase_if</vt:lpstr>
      <vt:lpstr>std::optional</vt:lpstr>
      <vt:lpstr>std::optional</vt:lpstr>
      <vt:lpstr>PowerPoint Presentation</vt:lpstr>
      <vt:lpstr>PowerPoint Presentation</vt:lpstr>
      <vt:lpstr>Работа с файловой системой</vt:lpstr>
      <vt:lpstr>PowerPoint Presentation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336</cp:revision>
  <dcterms:created xsi:type="dcterms:W3CDTF">2016-02-02T19:36:42Z</dcterms:created>
  <dcterms:modified xsi:type="dcterms:W3CDTF">2026-02-26T20:21:01Z</dcterms:modified>
</cp:coreProperties>
</file>