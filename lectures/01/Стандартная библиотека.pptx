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2.xml" ContentType="application/vnd.openxmlformats-officedocument.presentationml.tags+xml"/>
  <Override PartName="/ppt/notesSlides/notesSlide2.xml" ContentType="application/vnd.openxmlformats-officedocument.presentationml.notesSlide+xml"/>
  <Override PartName="/ppt/tags/tag3.xml" ContentType="application/vnd.openxmlformats-officedocument.presentationml.tags+xml"/>
  <Override PartName="/ppt/notesSlides/notesSlide3.xml" ContentType="application/vnd.openxmlformats-officedocument.presentationml.notesSlide+xml"/>
  <Override PartName="/ppt/tags/tag4.xml" ContentType="application/vnd.openxmlformats-officedocument.presentationml.tag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tags/tag5.xml" ContentType="application/vnd.openxmlformats-officedocument.presentationml.tags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tags/tag6.xml" ContentType="application/vnd.openxmlformats-officedocument.presentationml.tags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tags/tag7.xml" ContentType="application/vnd.openxmlformats-officedocument.presentationml.tags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tags/tag8.xml" ContentType="application/vnd.openxmlformats-officedocument.presentationml.tags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tags/tag9.xml" ContentType="application/vnd.openxmlformats-officedocument.presentationml.tags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tags/tag10.xml" ContentType="application/vnd.openxmlformats-officedocument.presentationml.tags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tags/tag11.xml" ContentType="application/vnd.openxmlformats-officedocument.presentationml.tags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tags/tag12.xml" ContentType="application/vnd.openxmlformats-officedocument.presentationml.tags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tags/tag13.xml" ContentType="application/vnd.openxmlformats-officedocument.presentationml.tags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tags/tag14.xml" ContentType="application/vnd.openxmlformats-officedocument.presentationml.tags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5" r:id="rId1"/>
  </p:sldMasterIdLst>
  <p:notesMasterIdLst>
    <p:notesMasterId r:id="rId129"/>
  </p:notesMasterIdLst>
  <p:sldIdLst>
    <p:sldId id="256" r:id="rId2"/>
    <p:sldId id="434" r:id="rId3"/>
    <p:sldId id="435" r:id="rId4"/>
    <p:sldId id="436" r:id="rId5"/>
    <p:sldId id="607" r:id="rId6"/>
    <p:sldId id="437" r:id="rId7"/>
    <p:sldId id="524" r:id="rId8"/>
    <p:sldId id="465" r:id="rId9"/>
    <p:sldId id="471" r:id="rId10"/>
    <p:sldId id="466" r:id="rId11"/>
    <p:sldId id="467" r:id="rId12"/>
    <p:sldId id="468" r:id="rId13"/>
    <p:sldId id="469" r:id="rId14"/>
    <p:sldId id="470" r:id="rId15"/>
    <p:sldId id="472" r:id="rId16"/>
    <p:sldId id="473" r:id="rId17"/>
    <p:sldId id="526" r:id="rId18"/>
    <p:sldId id="474" r:id="rId19"/>
    <p:sldId id="475" r:id="rId20"/>
    <p:sldId id="572" r:id="rId21"/>
    <p:sldId id="573" r:id="rId22"/>
    <p:sldId id="648" r:id="rId23"/>
    <p:sldId id="628" r:id="rId24"/>
    <p:sldId id="574" r:id="rId25"/>
    <p:sldId id="649" r:id="rId26"/>
    <p:sldId id="515" r:id="rId27"/>
    <p:sldId id="439" r:id="rId28"/>
    <p:sldId id="528" r:id="rId29"/>
    <p:sldId id="629" r:id="rId30"/>
    <p:sldId id="460" r:id="rId31"/>
    <p:sldId id="527" r:id="rId32"/>
    <p:sldId id="630" r:id="rId33"/>
    <p:sldId id="631" r:id="rId34"/>
    <p:sldId id="608" r:id="rId35"/>
    <p:sldId id="444" r:id="rId36"/>
    <p:sldId id="614" r:id="rId37"/>
    <p:sldId id="647" r:id="rId38"/>
    <p:sldId id="632" r:id="rId39"/>
    <p:sldId id="615" r:id="rId40"/>
    <p:sldId id="441" r:id="rId41"/>
    <p:sldId id="616" r:id="rId42"/>
    <p:sldId id="633" r:id="rId43"/>
    <p:sldId id="529" r:id="rId44"/>
    <p:sldId id="634" r:id="rId45"/>
    <p:sldId id="445" r:id="rId46"/>
    <p:sldId id="617" r:id="rId47"/>
    <p:sldId id="654" r:id="rId48"/>
    <p:sldId id="485" r:id="rId49"/>
    <p:sldId id="484" r:id="rId50"/>
    <p:sldId id="609" r:id="rId51"/>
    <p:sldId id="618" r:id="rId52"/>
    <p:sldId id="463" r:id="rId53"/>
    <p:sldId id="655" r:id="rId54"/>
    <p:sldId id="653" r:id="rId55"/>
    <p:sldId id="650" r:id="rId56"/>
    <p:sldId id="651" r:id="rId57"/>
    <p:sldId id="652" r:id="rId58"/>
    <p:sldId id="612" r:id="rId59"/>
    <p:sldId id="619" r:id="rId60"/>
    <p:sldId id="448" r:id="rId61"/>
    <p:sldId id="656" r:id="rId62"/>
    <p:sldId id="657" r:id="rId63"/>
    <p:sldId id="658" r:id="rId64"/>
    <p:sldId id="659" r:id="rId65"/>
    <p:sldId id="579" r:id="rId66"/>
    <p:sldId id="620" r:id="rId67"/>
    <p:sldId id="581" r:id="rId68"/>
    <p:sldId id="582" r:id="rId69"/>
    <p:sldId id="583" r:id="rId70"/>
    <p:sldId id="635" r:id="rId71"/>
    <p:sldId id="637" r:id="rId72"/>
    <p:sldId id="638" r:id="rId73"/>
    <p:sldId id="636" r:id="rId74"/>
    <p:sldId id="639" r:id="rId75"/>
    <p:sldId id="640" r:id="rId76"/>
    <p:sldId id="584" r:id="rId77"/>
    <p:sldId id="585" r:id="rId78"/>
    <p:sldId id="586" r:id="rId79"/>
    <p:sldId id="587" r:id="rId80"/>
    <p:sldId id="588" r:id="rId81"/>
    <p:sldId id="589" r:id="rId82"/>
    <p:sldId id="590" r:id="rId83"/>
    <p:sldId id="621" r:id="rId84"/>
    <p:sldId id="591" r:id="rId85"/>
    <p:sldId id="593" r:id="rId86"/>
    <p:sldId id="594" r:id="rId87"/>
    <p:sldId id="625" r:id="rId88"/>
    <p:sldId id="595" r:id="rId89"/>
    <p:sldId id="449" r:id="rId90"/>
    <p:sldId id="530" r:id="rId91"/>
    <p:sldId id="596" r:id="rId92"/>
    <p:sldId id="531" r:id="rId93"/>
    <p:sldId id="532" r:id="rId94"/>
    <p:sldId id="613" r:id="rId95"/>
    <p:sldId id="622" r:id="rId96"/>
    <p:sldId id="605" r:id="rId97"/>
    <p:sldId id="603" r:id="rId98"/>
    <p:sldId id="604" r:id="rId99"/>
    <p:sldId id="606" r:id="rId100"/>
    <p:sldId id="597" r:id="rId101"/>
    <p:sldId id="450" r:id="rId102"/>
    <p:sldId id="660" r:id="rId103"/>
    <p:sldId id="661" r:id="rId104"/>
    <p:sldId id="451" r:id="rId105"/>
    <p:sldId id="662" r:id="rId106"/>
    <p:sldId id="663" r:id="rId107"/>
    <p:sldId id="452" r:id="rId108"/>
    <p:sldId id="668" r:id="rId109"/>
    <p:sldId id="455" r:id="rId110"/>
    <p:sldId id="454" r:id="rId111"/>
    <p:sldId id="456" r:id="rId112"/>
    <p:sldId id="545" r:id="rId113"/>
    <p:sldId id="664" r:id="rId114"/>
    <p:sldId id="600" r:id="rId115"/>
    <p:sldId id="665" r:id="rId116"/>
    <p:sldId id="543" r:id="rId117"/>
    <p:sldId id="544" r:id="rId118"/>
    <p:sldId id="641" r:id="rId119"/>
    <p:sldId id="525" r:id="rId120"/>
    <p:sldId id="279" r:id="rId121"/>
    <p:sldId id="533" r:id="rId122"/>
    <p:sldId id="534" r:id="rId123"/>
    <p:sldId id="644" r:id="rId124"/>
    <p:sldId id="666" r:id="rId125"/>
    <p:sldId id="646" r:id="rId126"/>
    <p:sldId id="667" r:id="rId127"/>
    <p:sldId id="642" r:id="rId128"/>
  </p:sldIdLst>
  <p:sldSz cx="12192000" cy="6858000"/>
  <p:notesSz cx="6858000" cy="9144000"/>
  <p:custDataLst>
    <p:tags r:id="rId130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4655D4A-5D90-476B-ACFC-70A995BADD2F}">
          <p14:sldIdLst>
            <p14:sldId id="256"/>
          </p14:sldIdLst>
        </p14:section>
        <p14:section name="Стандартная библиотека" id="{D76DA428-86A2-42CE-99EA-D25B25631D55}">
          <p14:sldIdLst>
            <p14:sldId id="434"/>
            <p14:sldId id="435"/>
            <p14:sldId id="436"/>
          </p14:sldIdLst>
        </p14:section>
        <p14:section name="std::string" id="{173C7FED-748F-44D7-B8B5-0E8555B19945}">
          <p14:sldIdLst>
            <p14:sldId id="607"/>
            <p14:sldId id="437"/>
            <p14:sldId id="524"/>
            <p14:sldId id="465"/>
            <p14:sldId id="471"/>
            <p14:sldId id="466"/>
            <p14:sldId id="467"/>
            <p14:sldId id="468"/>
            <p14:sldId id="469"/>
            <p14:sldId id="470"/>
          </p14:sldIdLst>
        </p14:section>
        <p14:section name="string_view" id="{1CF10CA4-A244-420E-BB58-10A26065C225}">
          <p14:sldIdLst>
            <p14:sldId id="472"/>
            <p14:sldId id="473"/>
            <p14:sldId id="526"/>
            <p14:sldId id="474"/>
            <p14:sldId id="475"/>
          </p14:sldIdLst>
        </p14:section>
        <p14:section name="std::array" id="{0F8F4EFB-5FA9-400D-A7E1-712477714273}">
          <p14:sldIdLst>
            <p14:sldId id="572"/>
            <p14:sldId id="573"/>
            <p14:sldId id="648"/>
            <p14:sldId id="628"/>
            <p14:sldId id="574"/>
            <p14:sldId id="649"/>
          </p14:sldIdLst>
        </p14:section>
        <p14:section name="std::vector" id="{19417419-128C-409B-8400-169970425166}">
          <p14:sldIdLst>
            <p14:sldId id="515"/>
            <p14:sldId id="439"/>
            <p14:sldId id="528"/>
            <p14:sldId id="629"/>
            <p14:sldId id="460"/>
            <p14:sldId id="527"/>
            <p14:sldId id="630"/>
            <p14:sldId id="631"/>
          </p14:sldIdLst>
        </p14:section>
        <p14:section name="std::deque" id="{60FE332B-B110-4FF3-BFA2-432B15873D63}">
          <p14:sldIdLst>
            <p14:sldId id="608"/>
            <p14:sldId id="444"/>
            <p14:sldId id="614"/>
            <p14:sldId id="647"/>
            <p14:sldId id="632"/>
          </p14:sldIdLst>
        </p14:section>
        <p14:section name="std::list" id="{A5A4FF76-864E-465E-8579-A18D2B7F4F4C}">
          <p14:sldIdLst>
            <p14:sldId id="615"/>
            <p14:sldId id="441"/>
            <p14:sldId id="616"/>
            <p14:sldId id="633"/>
            <p14:sldId id="529"/>
          </p14:sldIdLst>
        </p14:section>
        <p14:section name="map и multimap" id="{9F71F121-E48B-4F2D-9F8F-CDCA3BB4CB03}">
          <p14:sldIdLst>
            <p14:sldId id="634"/>
            <p14:sldId id="445"/>
            <p14:sldId id="617"/>
            <p14:sldId id="654"/>
            <p14:sldId id="485"/>
            <p14:sldId id="484"/>
          </p14:sldIdLst>
        </p14:section>
        <p14:section name="unordered_map and multimap" id="{BF4F265B-3FF9-4CC4-8687-13CE4E0B4D7E}">
          <p14:sldIdLst>
            <p14:sldId id="609"/>
            <p14:sldId id="618"/>
            <p14:sldId id="463"/>
            <p14:sldId id="655"/>
          </p14:sldIdLst>
        </p14:section>
        <p14:section name="LRU Cache" id="{0428F48D-48FC-462E-8424-5EA3CEA07ED4}">
          <p14:sldIdLst>
            <p14:sldId id="653"/>
            <p14:sldId id="650"/>
            <p14:sldId id="651"/>
            <p14:sldId id="652"/>
          </p14:sldIdLst>
        </p14:section>
        <p14:section name="std::set и std::multiset" id="{4CBF051A-93D3-41B2-8912-7A35AA64292B}">
          <p14:sldIdLst>
            <p14:sldId id="612"/>
            <p14:sldId id="619"/>
            <p14:sldId id="448"/>
          </p14:sldIdLst>
        </p14:section>
        <p14:section name="Unordered_set и multiset" id="{E69A7D3D-8B3A-443D-9CF8-9548F8143991}">
          <p14:sldIdLst>
            <p14:sldId id="656"/>
            <p14:sldId id="657"/>
            <p14:sldId id="658"/>
            <p14:sldId id="659"/>
          </p14:sldIdLst>
        </p14:section>
        <p14:section name="std::function" id="{58ADE0C4-4BF3-452D-A20A-E6B3C155B7C0}">
          <p14:sldIdLst>
            <p14:sldId id="579"/>
            <p14:sldId id="620"/>
            <p14:sldId id="581"/>
            <p14:sldId id="582"/>
            <p14:sldId id="583"/>
            <p14:sldId id="635"/>
            <p14:sldId id="637"/>
            <p14:sldId id="638"/>
            <p14:sldId id="636"/>
            <p14:sldId id="639"/>
            <p14:sldId id="640"/>
            <p14:sldId id="584"/>
            <p14:sldId id="585"/>
            <p14:sldId id="586"/>
            <p14:sldId id="587"/>
            <p14:sldId id="588"/>
            <p14:sldId id="589"/>
            <p14:sldId id="590"/>
            <p14:sldId id="621"/>
            <p14:sldId id="591"/>
            <p14:sldId id="593"/>
            <p14:sldId id="594"/>
            <p14:sldId id="625"/>
            <p14:sldId id="595"/>
            <p14:sldId id="449"/>
            <p14:sldId id="530"/>
            <p14:sldId id="596"/>
            <p14:sldId id="531"/>
            <p14:sldId id="532"/>
            <p14:sldId id="613"/>
            <p14:sldId id="622"/>
            <p14:sldId id="605"/>
            <p14:sldId id="603"/>
            <p14:sldId id="604"/>
            <p14:sldId id="606"/>
            <p14:sldId id="597"/>
            <p14:sldId id="450"/>
            <p14:sldId id="660"/>
            <p14:sldId id="661"/>
            <p14:sldId id="451"/>
            <p14:sldId id="662"/>
            <p14:sldId id="663"/>
            <p14:sldId id="452"/>
            <p14:sldId id="668"/>
            <p14:sldId id="455"/>
            <p14:sldId id="454"/>
            <p14:sldId id="456"/>
            <p14:sldId id="545"/>
            <p14:sldId id="664"/>
            <p14:sldId id="600"/>
            <p14:sldId id="665"/>
            <p14:sldId id="543"/>
            <p14:sldId id="544"/>
            <p14:sldId id="641"/>
            <p14:sldId id="525"/>
            <p14:sldId id="279"/>
            <p14:sldId id="533"/>
            <p14:sldId id="534"/>
            <p14:sldId id="644"/>
            <p14:sldId id="666"/>
            <p14:sldId id="646"/>
            <p14:sldId id="667"/>
            <p14:sldId id="64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2722E03-E50A-125D-914E-77E41B71B406}" name="Alexey Malov" initials="AM" userId="S::alexey.malov@ispring.com::84d975bf-7581-4e72-b098-b36a7b6fbb5f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78814" autoAdjust="0"/>
  </p:normalViewPr>
  <p:slideViewPr>
    <p:cSldViewPr>
      <p:cViewPr varScale="1">
        <p:scale>
          <a:sx n="75" d="100"/>
          <a:sy n="75" d="100"/>
        </p:scale>
        <p:origin x="1872" y="294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2155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slide" Target="slides/slide127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tableStyles" Target="tableStyle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notesMaster" Target="notesMasters/notesMaster1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tags" Target="tags/tag1.xml"/><Relationship Id="rId135" Type="http://schemas.microsoft.com/office/2018/10/relationships/authors" Target="authors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presProps" Target="pres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viewProps" Target="viewProps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3DCB6D-0B48-4A3D-B663-06C3F903A9D3}" type="datetimeFigureOut">
              <a:rPr lang="ru-RU" smtClean="0"/>
              <a:pPr/>
              <a:t>31.03.2026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2A1285-F988-4153-B7C5-B887A867730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873615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685553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Стандартная библиотека C++ — это часть стандарта языка. Она поставляется вместе с реализацией компилятора и предоставляет готовые решения для большинства типовых задач.</a:t>
            </a:r>
          </a:p>
          <a:p>
            <a:endParaRPr lang="ru-RU" dirty="0"/>
          </a:p>
          <a:p>
            <a:r>
              <a:rPr lang="ru-RU" dirty="0"/>
              <a:t>В неё входят контейнеры, алгоритмы, строки, средства многопоточности, управление памятью, ввод-вывод, работа со временем и числами.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Главная идея стандартной библиотеки — не писать заново то, что уже реализовано и хорошо протестировано.</a:t>
            </a:r>
          </a:p>
          <a:p>
            <a:endParaRPr lang="ru-RU" dirty="0"/>
          </a:p>
          <a:p>
            <a:r>
              <a:rPr lang="ru-RU" dirty="0"/>
              <a:t>В современном C++ большая часть прикладного кода строится вокруг стандартной библиотеки, а не вокруг «голого» языка.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49408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Контейнеры — это классы стандартной библиотеки, предназначенные для хранения набора элементов одного типа.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Они реализованы как шаблоны, поэтому могут работать практически с любыми типами данных.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Контейнеры делятся на две основные группы: последовательные и ассоциативные.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Последовательные контейнеры хранят элементы в определённом порядке — как список или массив.</a:t>
            </a:r>
            <a:endParaRPr lang="en-US" dirty="0"/>
          </a:p>
          <a:p>
            <a:br>
              <a:rPr lang="ru-RU" dirty="0"/>
            </a:br>
            <a:r>
              <a:rPr lang="ru-RU" dirty="0"/>
              <a:t>Ассоциативные контейнеры организуют элементы по ключу и обеспечивают быстрый поиск.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Контейнеры — это фундамент современной разработки на C++. В большинстве программ используются именно они, а не «сырые» массивы.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6676770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перечислены основные контейнеры стандартной библиотеки.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Последовательные контейнеры хранят элементы в определённом порядке. Самый часто используемый контейнер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, который представляет собой динамический массив.</a:t>
            </a:r>
            <a:endParaRPr lang="en-US" dirty="0"/>
          </a:p>
          <a:p>
            <a:endParaRPr lang="ru-RU" dirty="0"/>
          </a:p>
          <a:p>
            <a:r>
              <a:rPr lang="ru-RU" dirty="0"/>
              <a:t>Ассоциативные контейнеры организуют элементы по ключу. Упорядоченные контейнеры поддерживают сортировку, 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unordered</a:t>
            </a:r>
            <a:r>
              <a:rPr lang="ru-RU" dirty="0"/>
              <a:t> версии работают на основе хеш-таблиц и обеспечивают более быстрый доступ в среднем случае.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Контейнеры-адаптеры — это специальные обёртки над другими контейнерами, предоставляющие ограниченный интерфейс, например стек или очередь.</a:t>
            </a:r>
          </a:p>
          <a:p>
            <a:r>
              <a:rPr lang="ru-RU" dirty="0"/>
              <a:t>В практической разработке чаще всего используются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map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unordered_map</a:t>
            </a:r>
            <a:r>
              <a:rPr lang="ru-RU" dirty="0"/>
              <a:t>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15035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948667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 — это класс стандартной библиотеки для работы со строками произвольной длины.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отличие от C-строк, память управляется автоматически: не нужно заботиться о выделении, освобождении и нулевом терминаторе.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На самом деле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 — это частный случай шаблона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basic_string</a:t>
            </a:r>
            <a:r>
              <a:rPr lang="ru-RU" dirty="0"/>
              <a:t>. Существуют и другие варианты, например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wstring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Класс предоставляет богатый набор операций: конкатенацию, поиск, замену, сравнение и многое другое.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современном C++ для работы со строками почти всегда используется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, а не массивы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dirty="0"/>
              <a:t>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827373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показана упрощённая модель внутреннего устройства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Логически строка хранит три основных компонента:</a:t>
            </a:r>
            <a:br>
              <a:rPr lang="ru-RU" dirty="0"/>
            </a:br>
            <a:r>
              <a:rPr lang="ru-RU" dirty="0"/>
              <a:t>указатель на данные, текущий размер строки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</a:t>
            </a:r>
            <a:r>
              <a:rPr lang="ru-RU" dirty="0"/>
              <a:t>) и выделенную ёмкость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capacity</a:t>
            </a:r>
            <a:r>
              <a:rPr lang="ru-RU" dirty="0"/>
              <a:t>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</a:t>
            </a:r>
            <a:r>
              <a:rPr lang="ru-RU" dirty="0"/>
              <a:t> — это количество символов, которые фактически содержатся в строке.</a:t>
            </a: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capacity</a:t>
            </a:r>
            <a:r>
              <a:rPr lang="ru-RU" dirty="0"/>
              <a:t> — это объём памяти, выделенный под строку. Он может быть больше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</a:t>
            </a:r>
            <a:r>
              <a:rPr lang="ru-RU" dirty="0"/>
              <a:t>, чтобы можно было добавлять символы без </a:t>
            </a:r>
            <a:r>
              <a:rPr lang="ru-RU" dirty="0" err="1"/>
              <a:t>перевыделения</a:t>
            </a:r>
            <a:r>
              <a:rPr lang="ru-RU" dirty="0"/>
              <a:t> памяти.</a:t>
            </a:r>
          </a:p>
          <a:p>
            <a:r>
              <a:rPr lang="ru-RU" dirty="0"/>
              <a:t>Данные хранятся непрерывно в памяти, как в массиве символов, и обычно завершаются нулевым символом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'\0'</a:t>
            </a:r>
            <a:r>
              <a:rPr lang="ru-RU" dirty="0"/>
              <a:t>, чтобы обеспечить совместимость с C-строками.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Важно понимать, что это упрощённая модель. В реальных реализациях используется так называемая </a:t>
            </a:r>
            <a:r>
              <a:rPr lang="ru-RU" b="1" dirty="0"/>
              <a:t>Small </a:t>
            </a:r>
            <a:r>
              <a:rPr lang="ru-RU" b="1" dirty="0" err="1"/>
              <a:t>String</a:t>
            </a:r>
            <a:r>
              <a:rPr lang="ru-RU" b="1" dirty="0"/>
              <a:t> </a:t>
            </a:r>
            <a:r>
              <a:rPr lang="ru-RU" b="1" dirty="0" err="1"/>
              <a:t>Optimization</a:t>
            </a:r>
            <a:r>
              <a:rPr lang="ru-RU" dirty="0"/>
              <a:t>, при которой короткие строки могут храниться прямо внутри объекта без выделения динамической памяти.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8350544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Строку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 можно создавать разными способами.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По умолчанию создаётся пустая строка — без символов.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Строку можно инициализировать строковым литералом, например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"Hello"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В этом случае создаётся объект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, содержащий копию текста.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Суффикс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"s"</a:t>
            </a:r>
            <a:r>
              <a:rPr lang="ru-RU" dirty="0"/>
              <a:t> из пространства имён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literals</a:t>
            </a:r>
            <a:r>
              <a:rPr lang="ru-RU" dirty="0"/>
              <a:t> позволяет создать строку напрямую как объект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, а не как C-строку типа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const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char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*</a:t>
            </a:r>
            <a:r>
              <a:rPr lang="ru-RU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Можно создать строку из массива символов, указав длину — это полезно, если массив не содержит нулевого терминатора или его размер известен явно.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Также существует конструктор, создающий строку заданной длины, заполненную указанным символом, например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(4, 'a')</a:t>
            </a:r>
            <a:r>
              <a:rPr lang="ru-RU" dirty="0"/>
              <a:t> создаёт строку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aaaa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dirty="0"/>
              <a:t>.</a:t>
            </a:r>
          </a:p>
          <a:p>
            <a:r>
              <a:rPr lang="ru-RU" dirty="0"/>
              <a:t>Таким образом,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 предоставляет гибкий и удобный набор способов создания строк.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761902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У строки есть два важных свойства: </a:t>
            </a:r>
            <a:r>
              <a:rPr lang="ru-RU" b="1" dirty="0"/>
              <a:t>размер</a:t>
            </a:r>
            <a:r>
              <a:rPr lang="ru-RU" dirty="0"/>
              <a:t> и </a:t>
            </a:r>
            <a:r>
              <a:rPr lang="ru-RU" b="1" dirty="0"/>
              <a:t>вместимость</a:t>
            </a:r>
            <a:r>
              <a:rPr lang="ru-RU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length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возвращают текущее количество символов в строке. Эти функции эквивалентны.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capacity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показывает, сколько символов строка может хранить без </a:t>
            </a:r>
            <a:r>
              <a:rPr lang="ru-RU" dirty="0" err="1"/>
              <a:t>перевыделения</a:t>
            </a:r>
            <a:r>
              <a:rPr lang="ru-RU" dirty="0"/>
              <a:t> памяти. Обычно больше или равен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</a:t>
            </a:r>
            <a:r>
              <a:rPr lang="ru-RU" dirty="0"/>
              <a:t>.</a:t>
            </a:r>
          </a:p>
          <a:p>
            <a:r>
              <a:rPr lang="ru-RU" dirty="0"/>
              <a:t>В примере после удаления части строки размер уменьшается, но вместимость остаётся прежней. Это сделано для эффективности — чтобы повторное добавление символов не требовало нового выделения памяти.</a:t>
            </a:r>
          </a:p>
          <a:p>
            <a:endParaRPr lang="ru-RU" dirty="0"/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empty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проверяет, пуста ли строка, 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clear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удаляет все символы, но не обязан уменьшать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capacity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Важно понимать: изменение размера строки не обязательно означает изменение объёма выделенной памяти.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821319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Строки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 можно сравнивать с помощью обычных операторов сравнения: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==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!=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&lt;=</a:t>
            </a:r>
            <a:r>
              <a:rPr lang="ru-RU" dirty="0"/>
              <a:t>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&gt;=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Сравнение выполняется </a:t>
            </a:r>
            <a:r>
              <a:rPr lang="ru-RU" b="1" dirty="0"/>
              <a:t>лексикографически</a:t>
            </a:r>
            <a:r>
              <a:rPr lang="ru-RU" dirty="0"/>
              <a:t>, то есть посимвольно, по кодам символов.</a:t>
            </a:r>
            <a:br>
              <a:rPr lang="ru-RU" dirty="0"/>
            </a:br>
            <a:r>
              <a:rPr lang="ru-RU" dirty="0"/>
              <a:t>Например,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bbb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dirty="0"/>
              <a:t> больше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aaa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dirty="0"/>
              <a:t>, потому что первый отличающийся символ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'b'</a:t>
            </a:r>
            <a:r>
              <a:rPr lang="ru-RU" dirty="0"/>
              <a:t> больше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'a’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Сравнение чувствительно к регистру: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'A'</a:t>
            </a:r>
            <a:r>
              <a:rPr lang="ru-RU" dirty="0"/>
              <a:t> 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'a'</a:t>
            </a:r>
            <a:r>
              <a:rPr lang="ru-RU" dirty="0"/>
              <a:t> имеют разные коды, поэтому результат может отличаться от ожидаемого с точки зрения естественного языка.</a:t>
            </a:r>
          </a:p>
          <a:p>
            <a:endParaRPr lang="ru-RU" dirty="0"/>
          </a:p>
          <a:p>
            <a:r>
              <a:rPr lang="ru-RU" dirty="0"/>
              <a:t>Также строку можно сравнивать со строковым литералом. В примере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"Hello" == s</a:t>
            </a:r>
            <a:r>
              <a:rPr lang="ru-RU" dirty="0"/>
              <a:t> корректно работает благодаря перегруженным операторам сравнения.</a:t>
            </a:r>
          </a:p>
          <a:p>
            <a:endParaRPr lang="ru-RU" dirty="0"/>
          </a:p>
          <a:p>
            <a:r>
              <a:rPr lang="ru-RU" dirty="0"/>
              <a:t>Таким образом, строки в C++ ведут себя как полноценные объекты с естественным синтаксисом сравнения.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117777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Строки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 можно объединять с помощью оператора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+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В примере создаётся новая строка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helloWorld</a:t>
            </a:r>
            <a:r>
              <a:rPr lang="ru-RU" dirty="0"/>
              <a:t>, которая содержит результат конкатенации трёх частей: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hello</a:t>
            </a:r>
            <a:r>
              <a:rPr lang="ru-RU" dirty="0"/>
              <a:t>, пробела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world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+=</a:t>
            </a:r>
            <a:r>
              <a:rPr lang="ru-RU" dirty="0"/>
              <a:t> добавляет текст к существующей строке, изменяя её на месте.</a:t>
            </a:r>
          </a:p>
          <a:p>
            <a:r>
              <a:rPr lang="ru-RU" dirty="0"/>
              <a:t>Также существует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append</a:t>
            </a:r>
            <a:r>
              <a:rPr lang="ru-RU" dirty="0"/>
              <a:t>, который выполняет ту же задачу — добавляет содержимое к строке. Его удобно использовать в цепочке вызовов.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Важно помнить, что 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+</a:t>
            </a:r>
            <a:r>
              <a:rPr lang="ru-RU" dirty="0"/>
              <a:t> создаёт временные объекты, поэтому при интенсивной конкатенации в циклах предпочтительнее использовать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+=</a:t>
            </a:r>
            <a:r>
              <a:rPr lang="ru-RU" dirty="0"/>
              <a:t>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append</a:t>
            </a:r>
            <a:r>
              <a:rPr lang="ru-RU" dirty="0"/>
              <a:t>, чтобы избежать лишних копирований.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0698805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substr</a:t>
            </a:r>
            <a:r>
              <a:rPr lang="ru-RU" dirty="0"/>
              <a:t> позволяет извлечь подстроку из строки.</a:t>
            </a:r>
          </a:p>
          <a:p>
            <a:r>
              <a:rPr lang="ru-RU" dirty="0"/>
              <a:t>Он принимает два параметра: начальную позицию и длину.</a:t>
            </a:r>
          </a:p>
          <a:p>
            <a:br>
              <a:rPr lang="ru-RU" dirty="0"/>
            </a:br>
            <a:r>
              <a:rPr lang="ru-RU" dirty="0"/>
              <a:t>Если длина не указана, подстрока берётся от указанной позиции до конца строки.</a:t>
            </a:r>
            <a:br>
              <a:rPr lang="ru-RU" dirty="0"/>
            </a:br>
            <a:r>
              <a:rPr lang="ru-RU" dirty="0"/>
              <a:t>Если не указать ни одного параметра, будет возвращена копия всей строки.</a:t>
            </a:r>
          </a:p>
          <a:p>
            <a:r>
              <a:rPr lang="ru-RU" dirty="0"/>
              <a:t>Важно помнить, что индексация начинается с нуля.</a:t>
            </a:r>
          </a:p>
          <a:p>
            <a:endParaRPr lang="ru-RU" dirty="0"/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append</a:t>
            </a:r>
            <a:r>
              <a:rPr lang="ru-RU" dirty="0"/>
              <a:t> имеет перегрузку, позволяющую добавить часть другой строки, указав позицию и длину. Это удобно, когда нужно работать с фрагментами текста без создания лишних временных строк.</a:t>
            </a:r>
          </a:p>
          <a:p>
            <a:endParaRPr lang="ru-RU" dirty="0"/>
          </a:p>
          <a:p>
            <a:r>
              <a:rPr lang="ru-RU" dirty="0"/>
              <a:t>Также стоит отметить, что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substr</a:t>
            </a:r>
            <a:r>
              <a:rPr lang="ru-RU" dirty="0"/>
              <a:t> возвращает </a:t>
            </a:r>
            <a:r>
              <a:rPr lang="ru-RU" b="1" dirty="0"/>
              <a:t>новый объект строки</a:t>
            </a:r>
            <a:r>
              <a:rPr lang="ru-RU" dirty="0"/>
              <a:t>, то есть выполняется копирование данных.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484045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Класс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 предоставляет набор методов для поиска внутри строки.</a:t>
            </a:r>
          </a:p>
          <a:p>
            <a:endParaRPr lang="ru-RU" dirty="0"/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find</a:t>
            </a:r>
            <a:r>
              <a:rPr lang="ru-RU" dirty="0"/>
              <a:t> ищет первое вхождение символа или подстроки и возвращает позицию. Если элемент не найден, возвращается специальное значение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npos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find_first_of</a:t>
            </a:r>
            <a:r>
              <a:rPr lang="ru-RU" dirty="0"/>
              <a:t> ищет первый символ, принадлежащий заданному набору — в примере это первая гласная буква.</a:t>
            </a:r>
          </a:p>
          <a:p>
            <a:endParaRPr lang="ru-RU" dirty="0"/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rfind</a:t>
            </a:r>
            <a:r>
              <a:rPr lang="ru-RU" dirty="0"/>
              <a:t> выполняет поиск с конца строки и возвращает позицию последнего вхождения.</a:t>
            </a:r>
          </a:p>
          <a:p>
            <a:endParaRPr lang="ru-RU" dirty="0"/>
          </a:p>
          <a:p>
            <a:r>
              <a:rPr lang="ru-RU" dirty="0"/>
              <a:t>Также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find</a:t>
            </a:r>
            <a:r>
              <a:rPr lang="ru-RU" dirty="0"/>
              <a:t> позволяет указать начальную позицию поиска. В примере поиск символа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'o'</a:t>
            </a:r>
            <a:r>
              <a:rPr lang="ru-RU" dirty="0"/>
              <a:t> начинается с позиции 5.</a:t>
            </a:r>
          </a:p>
          <a:p>
            <a:endParaRPr lang="ru-RU" dirty="0"/>
          </a:p>
          <a:p>
            <a:r>
              <a:rPr lang="ru-RU" dirty="0"/>
              <a:t>Важно помнить, что все функции поиска возвращают индекс или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npos</a:t>
            </a:r>
            <a:r>
              <a:rPr lang="ru-RU" dirty="0"/>
              <a:t>, поэтому результат нужно проверять перед использованием.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234131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replace</a:t>
            </a:r>
            <a:r>
              <a:rPr lang="ru-RU" dirty="0"/>
              <a:t> позволяет заменить часть строки другим фрагментом.</a:t>
            </a:r>
          </a:p>
          <a:p>
            <a:r>
              <a:rPr lang="ru-RU" dirty="0"/>
              <a:t>В первом примере первые пять символов строки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"Hello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world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dirty="0"/>
              <a:t> заменяются на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Goodbye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dirty="0"/>
              <a:t>.</a:t>
            </a:r>
            <a:endParaRPr lang="en-US" dirty="0"/>
          </a:p>
          <a:p>
            <a:br>
              <a:rPr lang="ru-RU" dirty="0"/>
            </a:br>
            <a:r>
              <a:rPr lang="ru-RU" dirty="0"/>
              <a:t>Во втором примере используется перегрузка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replace</a:t>
            </a:r>
            <a:r>
              <a:rPr lang="ru-RU" dirty="0"/>
              <a:t>, которая позволяет вставить подстроку другой строки — из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</a:t>
            </a:r>
            <a:r>
              <a:rPr lang="ru-RU" dirty="0"/>
              <a:t> берётся фрагмент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world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dirty="0"/>
              <a:t> и подставляется вместо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Важно понимать, что символы внутри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 хранятся </a:t>
            </a:r>
            <a:r>
              <a:rPr lang="ru-RU" b="1" dirty="0"/>
              <a:t>непрерывно</a:t>
            </a:r>
            <a:r>
              <a:rPr lang="ru-RU" dirty="0"/>
              <a:t> в памяти.</a:t>
            </a:r>
            <a:br>
              <a:rPr lang="ru-RU" dirty="0"/>
            </a:br>
            <a:r>
              <a:rPr lang="ru-RU" dirty="0"/>
              <a:t>Если длина заменяемого фрагмента и длина строки-заменителя различаются, оставшиеся символы будут сдвинуты влево или вправо.</a:t>
            </a:r>
            <a:endParaRPr lang="en-US" dirty="0"/>
          </a:p>
          <a:p>
            <a:endParaRPr lang="ru-RU" dirty="0"/>
          </a:p>
          <a:p>
            <a:r>
              <a:rPr lang="ru-RU" dirty="0"/>
              <a:t>Для коротких строк это несущественно, но для очень длинных строк такие операции могут быть дорогими по времени, особенно если выполнять их многократно.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Поэтому при большом количестве замен часто эффективнее создавать новую строку по частям — добавляя нужные фрагменты — вместо того чтобы многократно модифицировать одну и ту же строку.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8326318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9750478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string_view</a:t>
            </a:r>
            <a:r>
              <a:rPr lang="ru-RU" dirty="0"/>
              <a:t> — это лёгкий объект, представляющий строку без владения данными.</a:t>
            </a:r>
          </a:p>
          <a:p>
            <a:r>
              <a:rPr lang="ru-RU" dirty="0"/>
              <a:t>Он не выделяет память и не копирует символы. Фактически внутри хранится указатель на начало данных и длина.</a:t>
            </a:r>
          </a:p>
          <a:p>
            <a:endParaRPr lang="ru-RU" dirty="0"/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string_view</a:t>
            </a:r>
            <a:r>
              <a:rPr lang="ru-RU" dirty="0"/>
              <a:t> предназначен только для чтения — через него нельзя изменять символы.</a:t>
            </a:r>
          </a:p>
          <a:p>
            <a:r>
              <a:rPr lang="ru-RU" dirty="0"/>
              <a:t>Главное правило: объект, на который ссылается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string_view</a:t>
            </a:r>
            <a:r>
              <a:rPr lang="ru-RU" dirty="0"/>
              <a:t>, должен жить дольше самого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string_view</a:t>
            </a:r>
            <a:r>
              <a:rPr lang="ru-RU" dirty="0"/>
              <a:t>.</a:t>
            </a:r>
          </a:p>
          <a:p>
            <a:br>
              <a:rPr lang="ru-RU" dirty="0"/>
            </a:br>
            <a:r>
              <a:rPr lang="ru-RU" dirty="0"/>
              <a:t>Если исходная строка уничтожена или изменена таким образом, что память перераспределена, использовать старый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string_view</a:t>
            </a:r>
            <a:r>
              <a:rPr lang="ru-RU" dirty="0"/>
              <a:t> нельзя.</a:t>
            </a:r>
          </a:p>
          <a:p>
            <a:endParaRPr lang="ru-RU" dirty="0"/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string_view</a:t>
            </a:r>
            <a:r>
              <a:rPr lang="ru-RU" dirty="0"/>
              <a:t> особенно полезен для передачи строк в функции без копирования.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4188690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показано упрощённое внутреннее устройство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string_view</a:t>
            </a:r>
            <a:r>
              <a:rPr lang="ru-RU" dirty="0"/>
              <a:t>.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string_view</a:t>
            </a:r>
            <a:r>
              <a:rPr lang="ru-RU" dirty="0"/>
              <a:t> не хранит строку целиком.</a:t>
            </a:r>
            <a:br>
              <a:rPr lang="ru-RU" dirty="0"/>
            </a:br>
            <a:r>
              <a:rPr lang="ru-RU" dirty="0"/>
              <a:t>Он содержит всего два поля: указатель на данные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data</a:t>
            </a:r>
            <a:r>
              <a:rPr lang="ru-RU" dirty="0"/>
              <a:t>) и размер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</a:t>
            </a:r>
            <a:r>
              <a:rPr lang="ru-RU" dirty="0"/>
              <a:t>).</a:t>
            </a:r>
          </a:p>
          <a:p>
            <a:r>
              <a:rPr lang="ru-RU" dirty="0"/>
              <a:t>В примере показана строка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"HELLO WORLD"</a:t>
            </a:r>
            <a:r>
              <a:rPr lang="ru-RU" dirty="0"/>
              <a:t>, и два объекта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string_view</a:t>
            </a:r>
            <a:r>
              <a:rPr lang="ru-RU" dirty="0"/>
              <a:t>, каждый из которых ссылается на свою часть этой строки — один на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"HELLO"</a:t>
            </a:r>
            <a:r>
              <a:rPr lang="ru-RU" dirty="0"/>
              <a:t>, второй на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"WORLD"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Сами символы не копируются. Оба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string_view</a:t>
            </a:r>
            <a:r>
              <a:rPr lang="ru-RU" dirty="0"/>
              <a:t> просто указывают на разные участки одной и той же памяти.</a:t>
            </a:r>
          </a:p>
          <a:p>
            <a:r>
              <a:rPr lang="ru-RU" dirty="0"/>
              <a:t>Важно понимать: в отличие от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 и C-строк,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string_view</a:t>
            </a:r>
            <a:r>
              <a:rPr lang="ru-RU" dirty="0"/>
              <a:t> </a:t>
            </a:r>
            <a:r>
              <a:rPr lang="ru-RU" b="1" dirty="0"/>
              <a:t>не гарантирует наличие завершающего символа </a:t>
            </a:r>
            <a:r>
              <a:rPr lang="ru-RU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'\0’</a:t>
            </a:r>
            <a:r>
              <a:rPr lang="ru-RU" dirty="0"/>
              <a:t>.</a:t>
            </a:r>
            <a:endParaRPr lang="en-US" dirty="0"/>
          </a:p>
          <a:p>
            <a:br>
              <a:rPr lang="ru-RU" dirty="0"/>
            </a:br>
            <a:r>
              <a:rPr lang="ru-RU" dirty="0"/>
              <a:t>Он хранит длину явно, поэтому конец определяется значением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</a:t>
            </a:r>
            <a:r>
              <a:rPr lang="ru-RU" dirty="0"/>
              <a:t>, а не нулевым символом.</a:t>
            </a:r>
          </a:p>
          <a:p>
            <a:r>
              <a:rPr lang="ru-RU" dirty="0"/>
              <a:t>Это делает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string_view</a:t>
            </a:r>
            <a:r>
              <a:rPr lang="ru-RU" dirty="0"/>
              <a:t> лёгким и эффективным, но требует аккуратности</a:t>
            </a:r>
            <a:r>
              <a:rPr lang="en-US" dirty="0"/>
              <a:t>:</a:t>
            </a:r>
            <a:r>
              <a:rPr lang="ru-RU" dirty="0"/>
              <a:t> передавать </a:t>
            </a:r>
            <a:r>
              <a:rPr lang="en-US" dirty="0" err="1"/>
              <a:t>string_view</a:t>
            </a:r>
            <a:r>
              <a:rPr lang="en-US" dirty="0"/>
              <a:t> </a:t>
            </a:r>
            <a:r>
              <a:rPr lang="ru-RU" dirty="0"/>
              <a:t>в функции, ожидающие C-строку, нельзя.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2213944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string_view</a:t>
            </a:r>
            <a:r>
              <a:rPr lang="ru-RU" dirty="0"/>
              <a:t> можно создать из любого непрерывного участка памяти, содержащего символы.</a:t>
            </a:r>
          </a:p>
          <a:p>
            <a:endParaRPr lang="ru-RU" dirty="0"/>
          </a:p>
          <a:p>
            <a:r>
              <a:rPr lang="ru-RU" dirty="0"/>
              <a:t>В первом примере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string_view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v</a:t>
            </a:r>
            <a:r>
              <a:rPr lang="ru-RU" dirty="0"/>
              <a:t> создаётся из массива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</a:t>
            </a:r>
            <a:r>
              <a:rPr lang="ru-RU" dirty="0"/>
              <a:t>, при этом указывается длина. Объект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</a:t>
            </a:r>
            <a:r>
              <a:rPr lang="ru-RU" dirty="0"/>
              <a:t> не копирует данные, а просто хранит указатель на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</a:t>
            </a:r>
            <a:r>
              <a:rPr lang="ru-RU" dirty="0"/>
              <a:t> и размер 5.</a:t>
            </a:r>
          </a:p>
          <a:p>
            <a:endParaRPr lang="ru-RU" dirty="0"/>
          </a:p>
          <a:p>
            <a:r>
              <a:rPr lang="ru-RU" dirty="0"/>
              <a:t>Во втором примере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string_view</a:t>
            </a:r>
            <a:r>
              <a:rPr lang="ru-RU" dirty="0"/>
              <a:t> создаётся из объекта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. В этом случае он ссылается на те же данные, что и строка — это видно по совпадению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data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Также можно создать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string_view</a:t>
            </a:r>
            <a:r>
              <a:rPr lang="ru-RU" dirty="0"/>
              <a:t> вручную, указав указатель и длину, например взять только первые четыре символа строки.</a:t>
            </a:r>
          </a:p>
          <a:p>
            <a:endParaRPr lang="ru-RU" dirty="0"/>
          </a:p>
          <a:p>
            <a:r>
              <a:rPr lang="ru-RU" dirty="0"/>
              <a:t>Главная идея: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string_view</a:t>
            </a:r>
            <a:r>
              <a:rPr lang="ru-RU" dirty="0"/>
              <a:t> — это лёгкое представление уже существующих данных. Он не владеет памятью и не управляет её временем жизни.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6378833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Этот пример демонстрирует типичное применение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string_view</a:t>
            </a:r>
            <a:r>
              <a:rPr lang="ru-RU" dirty="0"/>
              <a:t> — разбор строки без копирования.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У нас есть строка URL. Вместо того чтобы создавать новые объекты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 для схемы и домена, мы создаём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string_view</a:t>
            </a:r>
            <a:r>
              <a:rPr lang="ru-RU" dirty="0"/>
              <a:t>, которые просто ссылаются на соответствующие участки исходной строки.</a:t>
            </a:r>
            <a:endParaRPr lang="en-US" dirty="0"/>
          </a:p>
          <a:p>
            <a:endParaRPr lang="ru-RU" dirty="0"/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scheme</a:t>
            </a:r>
            <a:r>
              <a:rPr lang="ru-RU" dirty="0"/>
              <a:t> указывает на первые четыре символа —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http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dirty="0"/>
              <a:t>.</a:t>
            </a:r>
            <a:br>
              <a:rPr lang="ru-RU" dirty="0"/>
            </a:b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domain</a:t>
            </a:r>
            <a:r>
              <a:rPr lang="ru-RU" dirty="0"/>
              <a:t> указывает на часть строки, начиная с позиции 7, длиной 19 символов —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"en.cppreference.com"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Ни одна из этих операций не выделяет память и не копирует символы. Мы просто создаём «окна» поверх уже существующей строки.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Это делает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string_view</a:t>
            </a:r>
            <a:r>
              <a:rPr lang="ru-RU" dirty="0"/>
              <a:t> особенно полезным при парсинге текста, разборе протоколов, логов и других строк большого размера.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Важно помнить: исходная строка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url</a:t>
            </a:r>
            <a:r>
              <a:rPr lang="ru-RU" dirty="0"/>
              <a:t> должна существовать всё время, пока используются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scheme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domain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3577033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8811264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array</a:t>
            </a:r>
            <a:r>
              <a:rPr lang="ru-RU" dirty="0"/>
              <a:t> — это контейнер фиксированного размера, представляющий собой безопасную и удобную альтернативу обычным C-массивам.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отличие от C-массива,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array</a:t>
            </a:r>
            <a:r>
              <a:rPr lang="ru-RU" dirty="0"/>
              <a:t> — полноценный объект. Он знает свой размер, поддерживает методы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begin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и может использоваться с алгоритмами стандартной библиотеки.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Поскольку это обычный объект, его можно передавать и возвращать из функции по значению, помещать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optional</a:t>
            </a:r>
            <a:r>
              <a:rPr lang="ru-RU" dirty="0"/>
              <a:t>, хранить в других контейнерах.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3850784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array</a:t>
            </a:r>
            <a:r>
              <a:rPr lang="ru-RU" dirty="0"/>
              <a:t> и C-массив выглядят похоже, но ведут себя принципиально по-разному.</a:t>
            </a:r>
            <a:endParaRPr lang="en-US" dirty="0"/>
          </a:p>
          <a:p>
            <a:endParaRPr lang="ru-RU" dirty="0"/>
          </a:p>
          <a:p>
            <a:r>
              <a:rPr lang="ru-RU" dirty="0"/>
              <a:t>C-массив — это просто участок памяти. Он не знает своего размера и при передаче в функцию «распадается» в указатель.</a:t>
            </a:r>
            <a:endParaRPr lang="en-US" dirty="0"/>
          </a:p>
          <a:p>
            <a:endParaRPr lang="ru-RU" dirty="0"/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array</a:t>
            </a:r>
            <a:r>
              <a:rPr lang="ru-RU" dirty="0"/>
              <a:t> — это полноценный объект. Он хранит размер, поддерживает методы, копируется целиком и корректно передаётся в функции.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Кроме того,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array</a:t>
            </a:r>
            <a:r>
              <a:rPr lang="ru-RU" dirty="0"/>
              <a:t> поддерживает стандартные алгоритмы и операторы сравнения.</a:t>
            </a:r>
          </a:p>
          <a:p>
            <a:r>
              <a:rPr lang="ru-RU" dirty="0"/>
              <a:t>В современном C++ для массивов фиксированного размера рекомендуется использовать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array</a:t>
            </a:r>
            <a:r>
              <a:rPr lang="ru-RU" dirty="0"/>
              <a:t>, а не C-массивы.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4384312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array</a:t>
            </a:r>
            <a:r>
              <a:rPr lang="ru-RU" dirty="0"/>
              <a:t>, как и у других контейнеров стандартной библиотеки, есть два способа доступа к элементам.</a:t>
            </a:r>
          </a:p>
          <a:p>
            <a:r>
              <a:rPr lang="ru-RU" dirty="0"/>
              <a:t>Оператор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operator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[]</a:t>
            </a:r>
            <a:r>
              <a:rPr lang="ru-RU" dirty="0"/>
              <a:t> не выполняет проверку границ. Если индекс выходит за пределы массива, поведение будет неопределённым.</a:t>
            </a:r>
            <a:endParaRPr lang="en-US" dirty="0"/>
          </a:p>
          <a:p>
            <a:endParaRPr lang="ru-RU" dirty="0"/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выполняет проверку индекса и, если он некорректен, выбрасывает исключение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out_of_range</a:t>
            </a:r>
            <a:r>
              <a:rPr lang="ru-RU" dirty="0"/>
              <a:t>.</a:t>
            </a:r>
          </a:p>
          <a:p>
            <a:r>
              <a:rPr lang="ru-RU" dirty="0"/>
              <a:t>В этом примере пользователь вводит индекс. Если он выходит за пределы массива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fibNumbers</a:t>
            </a:r>
            <a:r>
              <a:rPr lang="ru-RU" dirty="0"/>
              <a:t>,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генерирует исключение, которое перехватывается в блоке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catch</a:t>
            </a:r>
            <a:r>
              <a:rPr lang="ru-RU" dirty="0"/>
              <a:t>.</a:t>
            </a:r>
          </a:p>
          <a:p>
            <a:r>
              <a:rPr lang="ru-RU" dirty="0"/>
              <a:t>Таким образом,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— более безопасный способ доступа к элементам, особенно когда индекс получен из внешнего ввода или не гарантированно корректен.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6456207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array</a:t>
            </a:r>
            <a:r>
              <a:rPr lang="ru-RU" dirty="0"/>
              <a:t> используется для представления матрицы 3×3.</a:t>
            </a:r>
          </a:p>
          <a:p>
            <a:r>
              <a:rPr lang="ru-RU" dirty="0"/>
              <a:t>Тип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Matrix3x3</a:t>
            </a:r>
            <a:r>
              <a:rPr lang="ru-RU" dirty="0"/>
              <a:t> объявлен как вложенный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array</a:t>
            </a:r>
            <a:r>
              <a:rPr lang="ru-RU" dirty="0"/>
              <a:t>: это массив из трёх строк, каждая из которых сама является массивом из трёх элементов типа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double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Матрица инициализируется значениями по умолчанию — фигурные скобки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{}</a:t>
            </a:r>
            <a:r>
              <a:rPr lang="ru-RU" dirty="0"/>
              <a:t> заполняют все элементы нулями.</a:t>
            </a:r>
          </a:p>
          <a:p>
            <a:r>
              <a:rPr lang="ru-RU" dirty="0"/>
              <a:t>Затем устанавливаются элементы главной диагонали, и получается единичная матрица.</a:t>
            </a:r>
          </a:p>
          <a:p>
            <a:endParaRPr lang="ru-RU" dirty="0"/>
          </a:p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PrintMatrix</a:t>
            </a:r>
            <a:r>
              <a:rPr lang="ru-RU" dirty="0"/>
              <a:t> принимает матрицу по константной ссылке, чтобы избежать копирования, и использует </a:t>
            </a:r>
            <a:r>
              <a:rPr lang="ru-RU" dirty="0" err="1"/>
              <a:t>range-based</a:t>
            </a:r>
            <a:r>
              <a:rPr lang="ru-RU" dirty="0"/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for</a:t>
            </a:r>
            <a:r>
              <a:rPr lang="ru-RU" dirty="0"/>
              <a:t> для удобного обхода элементов.</a:t>
            </a:r>
          </a:p>
          <a:p>
            <a:endParaRPr lang="ru-RU" dirty="0"/>
          </a:p>
          <a:p>
            <a:r>
              <a:rPr lang="ru-RU" dirty="0"/>
              <a:t>Этот пример показывает, что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array</a:t>
            </a:r>
            <a:r>
              <a:rPr lang="ru-RU" dirty="0"/>
              <a:t> можно удобно использовать для структурированных данных фиксированного размера, сохраняя при этом совместимость со стандартными алгоритмами и безопасный интерфейс контейнера.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3126409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to_array</a:t>
            </a:r>
            <a:r>
              <a:rPr lang="ru-RU" dirty="0"/>
              <a:t> — функция C++20, которая удобна, когда у нас есть </a:t>
            </a:r>
            <a:r>
              <a:rPr lang="ru-RU" b="1" dirty="0"/>
              <a:t>C-массив</a:t>
            </a:r>
            <a:r>
              <a:rPr lang="ru-RU" dirty="0"/>
              <a:t> или строковый литерал, и мы хотим получить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array</a:t>
            </a:r>
            <a:r>
              <a:rPr lang="ru-RU" dirty="0"/>
              <a:t> с автоматически выведенными типом и размером.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Важно помнить, что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to_array</a:t>
            </a:r>
            <a:r>
              <a:rPr lang="ru-RU" dirty="0"/>
              <a:t> не предназначен для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array</a:t>
            </a:r>
            <a:r>
              <a:rPr lang="ru-RU" dirty="0"/>
              <a:t> — он принимает только массивы вида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T[N]</a:t>
            </a:r>
            <a:r>
              <a:rPr lang="ru-RU" dirty="0"/>
              <a:t>. Если у нас уже есть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array</a:t>
            </a:r>
            <a:r>
              <a:rPr lang="ru-RU" dirty="0"/>
              <a:t>, то для получения копии достаточно обычного копирования или присваивания.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Отдельный нюанс: при создании из строкового литерала в массив попадает и завершающий символ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'\0'</a:t>
            </a:r>
            <a:r>
              <a:rPr lang="ru-RU" dirty="0"/>
              <a:t>, поэтому размер будет на один больше числа видимых символов.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1943619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2353297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 — это динамический массив стандартной библиотеки и один из самых часто используемых контейнеров в C++.</a:t>
            </a:r>
          </a:p>
          <a:p>
            <a:endParaRPr lang="ru-RU" dirty="0"/>
          </a:p>
          <a:p>
            <a:r>
              <a:rPr lang="ru-RU" dirty="0"/>
              <a:t>В отличие от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array</a:t>
            </a:r>
            <a:r>
              <a:rPr lang="ru-RU" dirty="0"/>
              <a:t>, его размер может изменяться во время выполнения программы.</a:t>
            </a:r>
          </a:p>
          <a:p>
            <a:endParaRPr lang="ru-RU" dirty="0"/>
          </a:p>
          <a:p>
            <a:r>
              <a:rPr lang="ru-RU" dirty="0"/>
              <a:t>Элементы хранятся непрерывно в памяти, как в обычном массиве, поэтому доступ по индексу выполняется быстро.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 автоматически управляет памятью: при необходимости он увеличивает вместимость и перераспределяет данные.</a:t>
            </a:r>
          </a:p>
          <a:p>
            <a:endParaRPr lang="ru-RU" dirty="0"/>
          </a:p>
          <a:p>
            <a:r>
              <a:rPr lang="ru-RU" dirty="0"/>
              <a:t>В современной практике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 используется гораздо чаще, чем C-массивы или даже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array</a:t>
            </a:r>
            <a:r>
              <a:rPr lang="ru-RU" dirty="0"/>
              <a:t>, когда размер не известен заранее.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27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716118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показана упрощённая модель внутреннего устройства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Логически вектор хранит три основных параметра: указатель на данные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data</a:t>
            </a:r>
            <a:r>
              <a:rPr lang="ru-RU" dirty="0"/>
              <a:t>), текущий размер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</a:t>
            </a:r>
            <a:r>
              <a:rPr lang="ru-RU" dirty="0"/>
              <a:t>) и вместимость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capacity</a:t>
            </a:r>
            <a:r>
              <a:rPr lang="ru-RU" dirty="0"/>
              <a:t>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</a:t>
            </a:r>
            <a:r>
              <a:rPr lang="ru-RU" dirty="0"/>
              <a:t> — это количество элементов, которые фактически находятся в контейнере.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capacity</a:t>
            </a:r>
            <a:r>
              <a:rPr lang="ru-RU" dirty="0"/>
              <a:t> — это количество элементов, для которых уже выделена память.</a:t>
            </a: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dirty="0"/>
          </a:p>
          <a:p>
            <a:r>
              <a:rPr lang="ru-RU" dirty="0"/>
              <a:t>На рисунке видно, что размер равен 4, а вместимость — 11. Это означает, что ещё можно добавить элементы без </a:t>
            </a:r>
            <a:r>
              <a:rPr lang="ru-RU" dirty="0" err="1"/>
              <a:t>перевыделения</a:t>
            </a:r>
            <a:r>
              <a:rPr lang="ru-RU" dirty="0"/>
              <a:t> памяти.</a:t>
            </a:r>
          </a:p>
          <a:p>
            <a:r>
              <a:rPr lang="ru-RU" dirty="0"/>
              <a:t>Элементы хранятся </a:t>
            </a:r>
            <a:r>
              <a:rPr lang="ru-RU" b="1" dirty="0"/>
              <a:t>непрерывно в памяти</a:t>
            </a:r>
            <a:r>
              <a:rPr lang="ru-RU" dirty="0"/>
              <a:t>, как в обычном массиве. Благодаря этому обеспечивается быстрый доступ по индексу.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Когда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</a:t>
            </a:r>
            <a:r>
              <a:rPr lang="ru-RU" dirty="0"/>
              <a:t> достигает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capacity</a:t>
            </a:r>
            <a:r>
              <a:rPr lang="ru-RU" dirty="0"/>
              <a:t>, при добавлении нового элемента вектор выделяет новый, больший блок памяти, копирует или перемещает туда элементы и освобождает старый блок.</a:t>
            </a:r>
            <a:endParaRPr lang="en-US" dirty="0"/>
          </a:p>
          <a:p>
            <a:endParaRPr lang="ru-RU" dirty="0"/>
          </a:p>
          <a:p>
            <a:r>
              <a:rPr lang="ru-RU" dirty="0"/>
              <a:t>Именно поэтому добавление элементов в конец обычно эффективно, но иногда может быть дорогой операцией из-за перераспределения памяти.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5488023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показано типичное использование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.</a:t>
            </a:r>
          </a:p>
          <a:p>
            <a:r>
              <a:rPr lang="ru-RU" dirty="0"/>
              <a:t>Сначала создаётся пустой вектор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numbers</a:t>
            </a:r>
            <a:r>
              <a:rPr lang="ru-RU" dirty="0"/>
              <a:t>. Затем в цикле читаются числа из стандартного ввода и добавляются в конец контейнера с помощью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push_back</a:t>
            </a:r>
            <a:r>
              <a:rPr lang="ru-RU" dirty="0"/>
              <a:t>. Размер вектора автоматически увеличивается по мере добавления элементов.</a:t>
            </a:r>
          </a:p>
          <a:p>
            <a:endParaRPr lang="ru-RU" dirty="0"/>
          </a:p>
          <a:p>
            <a:r>
              <a:rPr lang="ru-RU" dirty="0"/>
              <a:t>После ввода выводится количество считанных чисел —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возвращает текущее количество элементов.</a:t>
            </a:r>
          </a:p>
          <a:p>
            <a:r>
              <a:rPr lang="ru-RU" dirty="0"/>
              <a:t>Далее массив разворачивается вручную: элементы попарно меняются местами с помощью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swap</a:t>
            </a:r>
            <a:r>
              <a:rPr lang="ru-RU" dirty="0"/>
              <a:t>. Обратите внимание на выражение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numbers.size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 - i - 1</a:t>
            </a:r>
            <a:r>
              <a:rPr lang="ru-RU" dirty="0"/>
              <a:t>, которое даёт индекс симметричного элемента с конца.</a:t>
            </a:r>
          </a:p>
          <a:p>
            <a:endParaRPr lang="ru-RU" dirty="0"/>
          </a:p>
          <a:p>
            <a:r>
              <a:rPr lang="ru-RU" dirty="0"/>
              <a:t>Однако для такой задачи в стандартной библиотеке уже есть готовый алгоритм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reverse</a:t>
            </a:r>
            <a:r>
              <a:rPr lang="ru-RU" dirty="0"/>
              <a:t>, который работает почти со всеми контейнерами, поддерживающими итераторы.</a:t>
            </a:r>
          </a:p>
          <a:p>
            <a:endParaRPr lang="ru-RU" dirty="0"/>
          </a:p>
          <a:p>
            <a:r>
              <a:rPr lang="ru-RU" dirty="0"/>
              <a:t>Этот пример показывает, что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 удобно использовать для хранения произвольного количества элементов и обработки их стандартными алгоритмами.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4298613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 используется для хранения объектов пользовательского типа — структуры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Вектор инициализируется списком значений. Это удобно и читаемо: элементы создаются прямо в фигурных скобках.</a:t>
            </a:r>
          </a:p>
          <a:p>
            <a:r>
              <a:rPr lang="ru-RU" dirty="0"/>
              <a:t>В первом цикле элементы перебираются по ссылке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auto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&amp;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pt</a:t>
            </a:r>
            <a:r>
              <a:rPr lang="ru-RU" dirty="0"/>
              <a:t>. Это позволяет избежать копирования объектов и работать напрямую с элементами контейнера.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Далее вычисляется центр масс точек: суммируются координаты всех элементов, после чего делится на количество точек, которое возвращает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points.size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Этот пример показывает, что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 может хранить не только простые типы, но и структуры и классы, и является удобным контейнером для работы с наборами объектов.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276845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Когда вектору не хватает памяти при добавлении нового элемента, он автоматически увеличивает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capacity</a:t>
            </a:r>
            <a:r>
              <a:rPr lang="ru-RU" dirty="0"/>
              <a:t>. При этом выделяется новый блок памяти, элементы переносятся туда, а старый блок освобождается.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Добавление элемента в конец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push_back</a:t>
            </a:r>
            <a:r>
              <a:rPr lang="ru-RU" dirty="0"/>
              <a:t>) имеет </a:t>
            </a:r>
            <a:r>
              <a:rPr lang="ru-RU" b="1" dirty="0"/>
              <a:t>амортизированную сложность O(1)</a:t>
            </a:r>
            <a:r>
              <a:rPr lang="ru-RU" dirty="0"/>
              <a:t>. Это означает, что большинство операций быстрые, но иногда происходит дорогое перераспределение памяти.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reserve</a:t>
            </a:r>
            <a:r>
              <a:rPr lang="ru-RU" dirty="0"/>
              <a:t> позволяет заранее выделить память под заданное количество элементов, не изменяя текущий размер вектора.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Это особенно полезно, когда заранее известно примерное количество элементов. В таком случае можно избежать множества перераспределений памяти и существенно ускорить выполнение программы.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Важно помнить: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reserve</a:t>
            </a:r>
            <a:r>
              <a:rPr lang="ru-RU" dirty="0"/>
              <a:t> изменяет только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capacity</a:t>
            </a:r>
            <a:r>
              <a:rPr lang="ru-RU" dirty="0"/>
              <a:t>, но не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size</a:t>
            </a:r>
            <a:r>
              <a:rPr lang="ru-RU" dirty="0"/>
              <a:t>. Элементы по-прежнему добавляются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push_back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31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8876060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Очень важное свойство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 — </a:t>
            </a:r>
            <a:r>
              <a:rPr lang="ru-RU" dirty="0" err="1"/>
              <a:t>инвалидация</a:t>
            </a:r>
            <a:r>
              <a:rPr lang="ru-RU" dirty="0"/>
              <a:t> ссылок и итераторов.</a:t>
            </a:r>
            <a:endParaRPr lang="en-US" dirty="0"/>
          </a:p>
          <a:p>
            <a:endParaRPr lang="ru-RU" dirty="0"/>
          </a:p>
          <a:p>
            <a:r>
              <a:rPr lang="ru-RU" dirty="0"/>
              <a:t>Если вектор перераспределяет память, например при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push_back</a:t>
            </a:r>
            <a:r>
              <a:rPr lang="ru-RU" dirty="0"/>
              <a:t>, когда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capacity</a:t>
            </a:r>
            <a:r>
              <a:rPr lang="ru-RU" dirty="0"/>
              <a:t> исчерпана, то </a:t>
            </a:r>
            <a:r>
              <a:rPr lang="ru-RU" b="1" dirty="0"/>
              <a:t>все</a:t>
            </a:r>
            <a:r>
              <a:rPr lang="ru-RU" dirty="0"/>
              <a:t> ранее полученные указатели, ссылки и итераторы становятся недействительными.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Это происходит потому, что элементы перемещаются в новый участок памяти.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Если перераспределения не произошло, ситуация мягче: например,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push_back</a:t>
            </a:r>
            <a:r>
              <a:rPr lang="ru-RU" dirty="0"/>
              <a:t> </a:t>
            </a:r>
            <a:r>
              <a:rPr lang="ru-RU" dirty="0" err="1"/>
              <a:t>инвалидирует</a:t>
            </a:r>
            <a:r>
              <a:rPr lang="ru-RU" dirty="0"/>
              <a:t> только итератор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, 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erase</a:t>
            </a:r>
            <a:r>
              <a:rPr lang="ru-RU" dirty="0"/>
              <a:t> — итератор на удалённый элемент и все последующие.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Использование </a:t>
            </a:r>
            <a:r>
              <a:rPr lang="ru-RU" dirty="0" err="1"/>
              <a:t>инвалидированных</a:t>
            </a:r>
            <a:r>
              <a:rPr lang="ru-RU" dirty="0"/>
              <a:t> ссылок и итераторов приводит к неопределённому поведению — программа может работать некорректно или </a:t>
            </a:r>
            <a:r>
              <a:rPr lang="ru-RU" dirty="0" err="1"/>
              <a:t>аварийно</a:t>
            </a:r>
            <a:r>
              <a:rPr lang="ru-RU" dirty="0"/>
              <a:t> завершиться.</a:t>
            </a:r>
          </a:p>
          <a:p>
            <a:endParaRPr lang="ru-RU" dirty="0"/>
          </a:p>
          <a:p>
            <a:r>
              <a:rPr lang="ru-RU" dirty="0"/>
              <a:t>Поэтому при работе с вектором нужно быть внимательным к операциям, которые могут изменить его вместимость.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32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6047208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мы сохраняем ссылки и итераторы на элементы вектора.</a:t>
            </a:r>
          </a:p>
          <a:p>
            <a:r>
              <a:rPr lang="ru-RU" dirty="0"/>
              <a:t>Сначала вектор заполняется значениями, затем получаются ссылки на первый, средний и последний элементы, а также несколько итераторов.</a:t>
            </a:r>
          </a:p>
          <a:p>
            <a:r>
              <a:rPr lang="ru-RU" dirty="0"/>
              <a:t>После этого выполняется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push_back</a:t>
            </a:r>
            <a:r>
              <a:rPr lang="ru-RU" dirty="0"/>
              <a:t>. Если при добавлении элемента происходит перераспределение памяти, вектор выделяет новый блок памяти и переносит туда все элементы.</a:t>
            </a:r>
          </a:p>
          <a:p>
            <a:r>
              <a:rPr lang="ru-RU" dirty="0"/>
              <a:t>В результате </a:t>
            </a:r>
            <a:r>
              <a:rPr lang="ru-RU" b="1" dirty="0"/>
              <a:t>все ранее полученные ссылки и итераторы становятся недействительными</a:t>
            </a:r>
            <a:r>
              <a:rPr lang="ru-RU" dirty="0"/>
              <a:t>. Они указывают на старый участок памяти, который уже не принадлежит вектору.</a:t>
            </a:r>
          </a:p>
          <a:p>
            <a:r>
              <a:rPr lang="ru-RU" dirty="0"/>
              <a:t>Использовать такие ссылки и итераторы нельзя — это приведёт к неопределённому поведению.</a:t>
            </a:r>
          </a:p>
          <a:p>
            <a:r>
              <a:rPr lang="ru-RU" dirty="0"/>
              <a:t>Главный вывод: если вы сохраняете ссылки или итераторы на элементы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, нужно быть уверенным, что после этого не произойдёт операций, способных вызвать перераспределение памяти.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33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4611075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34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9697377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deque</a:t>
            </a:r>
            <a:r>
              <a:rPr lang="ru-RU" dirty="0"/>
              <a:t> — это двусторонняя очередь, которая по интерфейсу похожа на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, но имеет важные отличия.</a:t>
            </a:r>
          </a:p>
          <a:p>
            <a:endParaRPr lang="ru-RU" dirty="0"/>
          </a:p>
          <a:p>
            <a:r>
              <a:rPr lang="ru-RU" dirty="0"/>
              <a:t>Главное преимущество — эффективная вставка и удаление элементов как в конце, так и в начале контейнера. Для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 вставка в начало требует сдвига всех элементов, а 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deque</a:t>
            </a:r>
            <a:r>
              <a:rPr lang="ru-RU" dirty="0"/>
              <a:t> эта операция выполняется эффективно.</a:t>
            </a:r>
          </a:p>
          <a:p>
            <a:endParaRPr lang="ru-RU" dirty="0"/>
          </a:p>
          <a:p>
            <a:r>
              <a:rPr lang="ru-RU" dirty="0"/>
              <a:t>В отличие от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, элементы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deque</a:t>
            </a:r>
            <a:r>
              <a:rPr lang="ru-RU" dirty="0"/>
              <a:t> не хранятся в одном непрерывном блоке памяти. Обычно используется набор блоков фиксированного размера. Поэтому нельзя, например, получить один непрерывный массив данных.</a:t>
            </a:r>
          </a:p>
          <a:p>
            <a:r>
              <a:rPr lang="ru-RU" dirty="0"/>
              <a:t>При этом доступ по индексу остаётся константным по времени — так же быстро, как 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Добавление элементов в начало или конец не </a:t>
            </a:r>
            <a:r>
              <a:rPr lang="ru-RU" dirty="0" err="1"/>
              <a:t>инвалидирует</a:t>
            </a:r>
            <a:r>
              <a:rPr lang="ru-RU" dirty="0"/>
              <a:t> ссылки и итераторы на существующие элементы, что делает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deque</a:t>
            </a:r>
            <a:r>
              <a:rPr lang="ru-RU" dirty="0"/>
              <a:t> удобным в сценариях с частыми вставками с обеих сторон.</a:t>
            </a:r>
          </a:p>
          <a:p>
            <a:endParaRPr lang="ru-RU" dirty="0"/>
          </a:p>
          <a:p>
            <a:r>
              <a:rPr lang="ru-RU" dirty="0"/>
              <a:t>Для использования контейнера нужно подключить заголовочный файл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deque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</a:t>
            </a:r>
            <a:r>
              <a:rPr lang="ru-RU" dirty="0"/>
              <a:t>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35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2683773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слайде показан один из возможных вариантов контейнера </a:t>
            </a:r>
            <a:r>
              <a:rPr lang="en-US" dirty="0"/>
              <a:t>deque</a:t>
            </a:r>
            <a:r>
              <a:rPr lang="ru-RU" dirty="0"/>
              <a:t>.</a:t>
            </a:r>
          </a:p>
          <a:p>
            <a:endParaRPr lang="en-US" dirty="0"/>
          </a:p>
          <a:p>
            <a:r>
              <a:rPr lang="ru-RU" dirty="0"/>
              <a:t>Элементы в нём хранятся не в одном, а в нескольких блоках фиксированного размера, указатели на которых хранятся в отдельном массиве </a:t>
            </a:r>
            <a:r>
              <a:rPr lang="en-US" dirty="0" err="1"/>
              <a:t>m_map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При вставке в конец очереди блоки заполняются слева направо, а при вставке в начало – справа налево.</a:t>
            </a:r>
          </a:p>
          <a:p>
            <a:endParaRPr lang="ru-RU" dirty="0"/>
          </a:p>
          <a:p>
            <a:r>
              <a:rPr lang="ru-RU" dirty="0"/>
              <a:t>Поле </a:t>
            </a:r>
            <a:r>
              <a:rPr lang="en-US" dirty="0" err="1"/>
              <a:t>m_offset</a:t>
            </a:r>
            <a:r>
              <a:rPr lang="en-US" dirty="0"/>
              <a:t> </a:t>
            </a:r>
            <a:r>
              <a:rPr lang="ru-RU" dirty="0"/>
              <a:t>хранит смещение до первого элемента очереди, а поле </a:t>
            </a:r>
            <a:r>
              <a:rPr lang="en-US" dirty="0" err="1"/>
              <a:t>m_size</a:t>
            </a:r>
            <a:r>
              <a:rPr lang="en-US" dirty="0"/>
              <a:t> – </a:t>
            </a:r>
            <a:r>
              <a:rPr lang="ru-RU" dirty="0"/>
              <a:t>количество элементов в ней.</a:t>
            </a:r>
          </a:p>
          <a:p>
            <a:endParaRPr lang="ru-RU" dirty="0"/>
          </a:p>
          <a:p>
            <a:r>
              <a:rPr lang="ru-RU" dirty="0"/>
              <a:t>Для ускорения доступа к элементам размер</a:t>
            </a:r>
            <a:r>
              <a:rPr lang="en-US" dirty="0"/>
              <a:t> </a:t>
            </a:r>
            <a:r>
              <a:rPr lang="ru-RU" dirty="0"/>
              <a:t>блока и их количество — степень двойки. Это позволяет заменить дорогостоящие операции деления и взятия остатка на более быстрые операции над битами.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36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98032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Указатели на блоки могу храниться в закольцованном виде. Это ускоряет работу в сценариях, сочетающих вставку элементов в один конец очереди с удалением из другого конца. На слайде показана очередь, в которой элементы располагаются, начиная с блока 1, а заканчиваются внутри блока с номером 0.</a:t>
            </a:r>
          </a:p>
          <a:p>
            <a:endParaRPr lang="ru-RU" dirty="0"/>
          </a:p>
          <a:p>
            <a:r>
              <a:rPr lang="ru-RU" dirty="0"/>
              <a:t>Структура данных, используемая в контейнере </a:t>
            </a:r>
            <a:r>
              <a:rPr lang="en-US" dirty="0"/>
              <a:t>deque</a:t>
            </a:r>
            <a:r>
              <a:rPr lang="ru-RU" dirty="0"/>
              <a:t>, позволяет за константное время обратиться к элементу по его индексу.</a:t>
            </a:r>
          </a:p>
          <a:p>
            <a:endParaRPr lang="ru-RU" dirty="0"/>
          </a:p>
          <a:p>
            <a:r>
              <a:rPr lang="ru-RU" dirty="0"/>
              <a:t>Сначала нужно определить смещение </a:t>
            </a:r>
            <a:r>
              <a:rPr lang="en-US" dirty="0"/>
              <a:t>off </a:t>
            </a:r>
            <a:r>
              <a:rPr lang="ru-RU" dirty="0"/>
              <a:t>относительно самого первого элемента. Для этого индекс элемента складывается со смещением до начального элемента очереди. В нашем случае это 7 + 7 = 14.</a:t>
            </a:r>
          </a:p>
          <a:p>
            <a:endParaRPr lang="ru-RU" dirty="0"/>
          </a:p>
          <a:p>
            <a:r>
              <a:rPr lang="ru-RU" dirty="0"/>
              <a:t>Затем нужно определить номер блока, в котором располагается искомый элемент. Для этого смещение делится на размер блока, а затем, чтобы поддержать </a:t>
            </a:r>
            <a:r>
              <a:rPr lang="ru-RU" dirty="0" err="1"/>
              <a:t>закольцованность</a:t>
            </a:r>
            <a:r>
              <a:rPr lang="ru-RU" dirty="0"/>
              <a:t>, находится остаток от деления на количество блоков. Здесь нас выручает то, что размер количество блоков </a:t>
            </a:r>
            <a:r>
              <a:rPr lang="en-US" dirty="0" err="1"/>
              <a:t>m_mapSize</a:t>
            </a:r>
            <a:r>
              <a:rPr lang="en-US" dirty="0"/>
              <a:t> </a:t>
            </a:r>
            <a:r>
              <a:rPr lang="ru-RU" dirty="0"/>
              <a:t>– степень двойки. Это позволяет заменить нахождение остатка более дешёвой операцией </a:t>
            </a:r>
            <a:r>
              <a:rPr lang="en-US" dirty="0"/>
              <a:t>AND. </a:t>
            </a:r>
            <a:r>
              <a:rPr lang="ru-RU" dirty="0"/>
              <a:t>Деление на </a:t>
            </a:r>
            <a:r>
              <a:rPr lang="en-US" dirty="0" err="1"/>
              <a:t>m_blockSize</a:t>
            </a:r>
            <a:r>
              <a:rPr lang="en-US" dirty="0"/>
              <a:t> </a:t>
            </a:r>
            <a:r>
              <a:rPr lang="ru-RU" dirty="0"/>
              <a:t>можно заменить более быстрой операцией сдвига, если размер блока будет степенью двойки. В нашем случае номер блока будет равен </a:t>
            </a:r>
            <a:r>
              <a:rPr lang="en-US" dirty="0"/>
              <a:t>(</a:t>
            </a:r>
            <a:r>
              <a:rPr lang="ru-RU" dirty="0"/>
              <a:t>14 </a:t>
            </a:r>
            <a:r>
              <a:rPr lang="en-US" dirty="0"/>
              <a:t>/ 4) &amp; 3 = 3.</a:t>
            </a:r>
            <a:endParaRPr lang="ru-RU" dirty="0"/>
          </a:p>
          <a:p>
            <a:r>
              <a:rPr lang="ru-RU" dirty="0"/>
              <a:t>Смещение внутри блока </a:t>
            </a:r>
            <a:r>
              <a:rPr lang="en-US" dirty="0" err="1"/>
              <a:t>blockOff</a:t>
            </a:r>
            <a:r>
              <a:rPr lang="ru-RU" dirty="0"/>
              <a:t> находится через остаток от деления смещения на</a:t>
            </a:r>
            <a:r>
              <a:rPr lang="en-US" dirty="0"/>
              <a:t> </a:t>
            </a:r>
            <a:r>
              <a:rPr lang="ru-RU" dirty="0"/>
              <a:t>размер блока и равно 2.</a:t>
            </a:r>
          </a:p>
          <a:p>
            <a:endParaRPr lang="ru-RU" dirty="0"/>
          </a:p>
          <a:p>
            <a:r>
              <a:rPr lang="ru-RU" dirty="0"/>
              <a:t>Затем остаётся обратиться к элементу нужного блока, используя номер блока и смещение.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37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0526677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38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8061268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list</a:t>
            </a:r>
            <a:r>
              <a:rPr lang="ru-RU" dirty="0"/>
              <a:t> — это контейнер, реализованный как двусвязный список.</a:t>
            </a:r>
          </a:p>
          <a:p>
            <a:endParaRPr lang="ru-RU" dirty="0"/>
          </a:p>
          <a:p>
            <a:r>
              <a:rPr lang="ru-RU" dirty="0"/>
              <a:t>В отличие от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deque</a:t>
            </a:r>
            <a:r>
              <a:rPr lang="ru-RU" dirty="0"/>
              <a:t>, у него нет произвольного доступа по индексу. Чтобы добраться до элемента, нужно последовательно пройти по списку.</a:t>
            </a:r>
          </a:p>
          <a:p>
            <a:endParaRPr lang="ru-RU" dirty="0"/>
          </a:p>
          <a:p>
            <a:r>
              <a:rPr lang="ru-RU" dirty="0"/>
              <a:t>Главное преимущество — вставка и удаление элементов по итератору выполняются за постоянное время, без сдвига остальных элементов.</a:t>
            </a:r>
          </a:p>
          <a:p>
            <a:endParaRPr lang="ru-RU" dirty="0"/>
          </a:p>
          <a:p>
            <a:r>
              <a:rPr lang="ru-RU" dirty="0"/>
              <a:t>Кроме того, итераторы и ссылки на элементы остаются валидными при добавлении или удалении других элементов.</a:t>
            </a:r>
          </a:p>
          <a:p>
            <a:endParaRPr lang="ru-RU" dirty="0"/>
          </a:p>
          <a:p>
            <a:r>
              <a:rPr lang="ru-RU" dirty="0"/>
              <a:t>Однако из-за отсутствия непрерывного хранения и плохой кэш-локальности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list</a:t>
            </a:r>
            <a:r>
              <a:rPr lang="ru-RU" dirty="0"/>
              <a:t> в большинстве случаев работает медленнее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. Поэтому его используют только тогда, когда действительно важны частые вставки и удаления в середине контейнера.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40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7847767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показана возможная внутренняя реализация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list</a:t>
            </a:r>
            <a:r>
              <a:rPr lang="ru-RU" dirty="0"/>
              <a:t>.</a:t>
            </a:r>
          </a:p>
          <a:p>
            <a:r>
              <a:rPr lang="ru-RU" dirty="0"/>
              <a:t>Каждый элемент списка — это отдельный узел, содержащий данные и два указателя: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prev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next</a:t>
            </a:r>
            <a:r>
              <a:rPr lang="ru-RU" dirty="0"/>
              <a:t>, которые связывают его с соседними элементами.</a:t>
            </a:r>
          </a:p>
          <a:p>
            <a:endParaRPr lang="ru-RU" dirty="0"/>
          </a:p>
          <a:p>
            <a:r>
              <a:rPr lang="ru-RU" dirty="0"/>
              <a:t>Контейнер хранит указатели на начало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begin</a:t>
            </a:r>
            <a:r>
              <a:rPr lang="ru-RU" dirty="0"/>
              <a:t>) и конец 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end</a:t>
            </a:r>
            <a:r>
              <a:rPr lang="ru-RU" dirty="0"/>
              <a:t>). Часто используется специальный фиктивный узел — </a:t>
            </a:r>
            <a:r>
              <a:rPr lang="ru-RU" dirty="0" err="1"/>
              <a:t>sentinel</a:t>
            </a:r>
            <a:r>
              <a:rPr lang="ru-RU" dirty="0"/>
              <a:t>, который упрощает реализацию и позволяет избежать проверки на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nullptr</a:t>
            </a:r>
            <a:r>
              <a:rPr lang="ru-RU" dirty="0"/>
              <a:t> при вставке и удалении.</a:t>
            </a:r>
          </a:p>
          <a:p>
            <a:r>
              <a:rPr lang="ru-RU" dirty="0"/>
              <a:t>В отличие от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, элементы не хранятся непрерывно в памяти — каждый узел выделяется отдельно. Именно поэтому вставка и удаление выполняются быстро: достаточно изменить несколько указателей.</a:t>
            </a:r>
          </a:p>
          <a:p>
            <a:endParaRPr lang="ru-RU" dirty="0"/>
          </a:p>
          <a:p>
            <a:r>
              <a:rPr lang="ru-RU" dirty="0"/>
              <a:t>Однако из-за разрозненного расположения в памяти ухудшается кэш-локальность, поэтому при простом последовательном обходе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list</a:t>
            </a:r>
            <a:r>
              <a:rPr lang="ru-RU" dirty="0"/>
              <a:t> часто работает медленнее, чем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Этот слайд помогает понять, почему операции вставки в середину списка быстрые, а произвольный доступ по индексу отсутствует.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41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6737884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list</a:t>
            </a:r>
            <a:r>
              <a:rPr lang="ru-RU" dirty="0"/>
              <a:t> используется как список задач.</a:t>
            </a:r>
            <a:endParaRPr lang="en-US" dirty="0"/>
          </a:p>
          <a:p>
            <a:endParaRPr lang="ru-RU" dirty="0"/>
          </a:p>
          <a:p>
            <a:r>
              <a:rPr lang="ru-RU" dirty="0"/>
              <a:t>Мы создаём список строк и выводим его содержимое.</a:t>
            </a:r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remove</a:t>
            </a:r>
            <a:r>
              <a:rPr lang="ru-RU" dirty="0"/>
              <a:t> удаляет все элементы, равные заданному значению. В двусвязном списке такая операция эффективна — не требуется сдвигать остальные элементы, как это было бы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Этот пример демонстрирует, что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list</a:t>
            </a:r>
            <a:r>
              <a:rPr lang="ru-RU" dirty="0"/>
              <a:t> удобен, когда нужно часто удалять элементы из середины контейнера.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При этом доступ к элементам осуществляется последовательно через итераторы — произвольного доступа по индексу 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list</a:t>
            </a:r>
            <a:r>
              <a:rPr lang="ru-RU" dirty="0"/>
              <a:t> нет.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42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0587475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графике сравнивается вставка одного миллиона элементов в конец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deque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list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Лучший результат показывает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 с предварительным вызовом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reserve</a:t>
            </a:r>
            <a:r>
              <a:rPr lang="ru-RU" dirty="0"/>
              <a:t>. Поскольку память выделяется заранее, перераспределения не происходят, и вставка выполняется максимально быстро.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Обычный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 без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reserve</a:t>
            </a:r>
            <a:r>
              <a:rPr lang="ru-RU" dirty="0"/>
              <a:t> работает медленнее — из-за периодических </a:t>
            </a:r>
            <a:r>
              <a:rPr lang="ru-RU" dirty="0" err="1"/>
              <a:t>перевыделений</a:t>
            </a:r>
            <a:r>
              <a:rPr lang="ru-RU" dirty="0"/>
              <a:t> памяти и копирования элементов.</a:t>
            </a:r>
            <a:endParaRPr lang="en-US" dirty="0"/>
          </a:p>
          <a:p>
            <a:endParaRPr lang="ru-RU" dirty="0"/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deque</a:t>
            </a:r>
            <a:r>
              <a:rPr lang="ru-RU" dirty="0"/>
              <a:t> немного медленнее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, но всё ещё показывает хорошую производительность.</a:t>
            </a:r>
            <a:endParaRPr lang="en-US" dirty="0"/>
          </a:p>
          <a:p>
            <a:endParaRPr lang="ru-RU" dirty="0"/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list</a:t>
            </a:r>
            <a:r>
              <a:rPr lang="ru-RU" dirty="0"/>
              <a:t> значительно проигрывает всем остальным. Несмотря на то что вставка формально выполняется за O(1), каждый элемент выделяется отдельно в памяти, что приводит к большим накладным расходам и плохой кэш-локальности.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Главный вывод: в большинстве случаев для последовательного добавления элементов лучше использовать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, а при известном размере — обязательно вызывать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reserve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43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311944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map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multimap</a:t>
            </a:r>
            <a:r>
              <a:rPr lang="ru-RU" dirty="0"/>
              <a:t> — это ассоциативные контейнеры, которые хранят пары «ключ–значение».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отличие от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, элементы здесь автоматически упорядочены по ключу. Обычно контейнер реализован на основе сбалансированного бинарного дерева.</a:t>
            </a:r>
          </a:p>
          <a:p>
            <a:r>
              <a:rPr lang="ru-RU" dirty="0"/>
              <a:t>Все основные операции — поиск, вставка, удаление — выполняются за O(</a:t>
            </a:r>
            <a:r>
              <a:rPr lang="ru-RU" dirty="0" err="1"/>
              <a:t>log</a:t>
            </a:r>
            <a:r>
              <a:rPr lang="ru-RU" dirty="0"/>
              <a:t> n).</a:t>
            </a:r>
            <a:endParaRPr lang="en-US" dirty="0"/>
          </a:p>
          <a:p>
            <a:endParaRPr lang="ru-RU" dirty="0"/>
          </a:p>
          <a:p>
            <a:r>
              <a:rPr lang="ru-RU" dirty="0"/>
              <a:t>Разница между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map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multimap</a:t>
            </a:r>
            <a:r>
              <a:rPr lang="ru-RU" dirty="0"/>
              <a:t> в том, что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map</a:t>
            </a:r>
            <a:r>
              <a:rPr lang="ru-RU" dirty="0"/>
              <a:t> ключи должны быть уникальными, 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multimap</a:t>
            </a:r>
            <a:r>
              <a:rPr lang="ru-RU" dirty="0"/>
              <a:t> допускает несколько элементов с одинаковым ключом.</a:t>
            </a:r>
            <a:endParaRPr lang="en-US" dirty="0"/>
          </a:p>
          <a:p>
            <a:endParaRPr lang="ru-RU" dirty="0"/>
          </a:p>
          <a:p>
            <a:r>
              <a:rPr lang="ru-RU" dirty="0"/>
              <a:t>Для работы 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map</a:t>
            </a:r>
            <a:r>
              <a:rPr lang="ru-RU" dirty="0"/>
              <a:t> необходимо, чтобы для типа ключа был определён строгий порядок. По умолчанию используется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operator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</a:t>
            </a:r>
            <a:r>
              <a:rPr lang="ru-RU" dirty="0"/>
              <a:t>, но можно задать и свой компаратор.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45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52005719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Красно-чёрное дерево — это разновидность самобалансирующегося бинарного дерева поиска.</a:t>
            </a:r>
          </a:p>
          <a:p>
            <a:endParaRPr lang="ru-RU" dirty="0"/>
          </a:p>
          <a:p>
            <a:r>
              <a:rPr lang="ru-RU" dirty="0"/>
              <a:t>Каждый узел дерева имеет цвет — красный или чёрный — и структура поддерживает ряд строгих правил, которые гарантируют, что дерево остаётся приблизительно сбалансированным.</a:t>
            </a:r>
          </a:p>
          <a:p>
            <a:endParaRPr lang="ru-RU" dirty="0"/>
          </a:p>
          <a:p>
            <a:r>
              <a:rPr lang="ru-RU" dirty="0"/>
              <a:t>Благодаря этим свойствам высота дерева всегда пропорциональна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log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n</a:t>
            </a:r>
            <a:r>
              <a:rPr lang="ru-RU" dirty="0"/>
              <a:t>, поэтому операции поиска, вставки и удаления выполняются за O(</a:t>
            </a:r>
            <a:r>
              <a:rPr lang="ru-RU" dirty="0" err="1"/>
              <a:t>log</a:t>
            </a:r>
            <a:r>
              <a:rPr lang="ru-RU" dirty="0"/>
              <a:t> n).</a:t>
            </a:r>
          </a:p>
          <a:p>
            <a:endParaRPr lang="ru-RU" dirty="0"/>
          </a:p>
          <a:p>
            <a:r>
              <a:rPr lang="ru-RU" dirty="0"/>
              <a:t>Именно поэтому красно-чёрное дерево часто используется в реализации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map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multimap</a:t>
            </a:r>
            <a:r>
              <a:rPr lang="ru-RU" dirty="0"/>
              <a:t>. Оно обеспечивает: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автоматическую упорядоченность элементов,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предсказуемую асимптотику,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отсутствие деградации до линейного времени в худшем случае.</a:t>
            </a:r>
          </a:p>
          <a:p>
            <a:r>
              <a:rPr lang="ru-RU" dirty="0"/>
              <a:t>Таким образом,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map</a:t>
            </a:r>
            <a:r>
              <a:rPr lang="ru-RU" dirty="0"/>
              <a:t> сочетает в себе упорядоченность данных и гарантированную логарифмическую сложность операций.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46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00528974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map</a:t>
            </a:r>
            <a:r>
              <a:rPr lang="ru-RU" dirty="0"/>
              <a:t> используется для подсчёта частоты слов.</a:t>
            </a:r>
          </a:p>
          <a:p>
            <a:r>
              <a:rPr lang="ru-RU" dirty="0"/>
              <a:t>Ключом является строка — слово, а значением — количество его появлений.</a:t>
            </a:r>
          </a:p>
          <a:p>
            <a:r>
              <a:rPr lang="ru-RU" dirty="0"/>
              <a:t>Выражение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wordCount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word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]</a:t>
            </a:r>
            <a:r>
              <a:rPr lang="ru-RU" dirty="0"/>
              <a:t> работает так:</a:t>
            </a:r>
            <a:br>
              <a:rPr lang="ru-RU" dirty="0"/>
            </a:br>
            <a:r>
              <a:rPr lang="ru-RU" dirty="0"/>
              <a:t>если ключа ещё нет в контейнере, он автоматически создаётся со значением по умолчанию — в данном случае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</a:t>
            </a:r>
            <a:r>
              <a:rPr lang="ru-RU" dirty="0"/>
              <a:t>.</a:t>
            </a:r>
          </a:p>
          <a:p>
            <a:r>
              <a:rPr lang="ru-RU" dirty="0"/>
              <a:t>Поскольку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map</a:t>
            </a:r>
            <a:r>
              <a:rPr lang="ru-RU" dirty="0"/>
              <a:t> упорядочен по ключу, вывод слов происходит в лексикографическом порядке.</a:t>
            </a:r>
          </a:p>
          <a:p>
            <a:r>
              <a:rPr lang="ru-RU" dirty="0"/>
              <a:t>Этот пример демонстрирует три важных свойства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map</a:t>
            </a:r>
            <a:r>
              <a:rPr lang="ru-RU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автоматическое создание элемента при обращении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operator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[]</a:t>
            </a:r>
            <a:r>
              <a:rPr lang="ru-RU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логарифмическую сложность операций,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автоматическую сортировку по ключу.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47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58287692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map</a:t>
            </a:r>
            <a:r>
              <a:rPr lang="ru-RU" dirty="0"/>
              <a:t> используется для проверки, являются ли два слова анаграммами.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Функция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BuildCharCounters</a:t>
            </a:r>
            <a:r>
              <a:rPr lang="ru-RU" dirty="0"/>
              <a:t> строит отображение символ → количество его вхождений в слове.</a:t>
            </a:r>
            <a:endParaRPr lang="en-US" dirty="0"/>
          </a:p>
          <a:p>
            <a:br>
              <a:rPr lang="ru-RU" dirty="0"/>
            </a:br>
            <a:r>
              <a:rPr lang="ru-RU" dirty="0"/>
              <a:t>Если символ встречается впервые,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operator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[]</a:t>
            </a:r>
            <a:r>
              <a:rPr lang="ru-RU" dirty="0"/>
              <a:t> создаёт элемент со значением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</a:t>
            </a:r>
            <a:r>
              <a:rPr lang="ru-RU" dirty="0"/>
              <a:t>, после чего счётчик увеличивается.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Для двух слов строятся два таких отображения, и затем они сравниваются оператором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==</a:t>
            </a:r>
            <a:r>
              <a:rPr lang="ru-RU" dirty="0"/>
              <a:t>.</a:t>
            </a:r>
          </a:p>
          <a:p>
            <a:r>
              <a:rPr lang="ru-RU" dirty="0"/>
              <a:t>Поскольку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map</a:t>
            </a:r>
            <a:r>
              <a:rPr lang="ru-RU" dirty="0"/>
              <a:t> хранит пары ключ–значение в упорядоченном виде, сравнение работает корректно: два слова являются анаграммами тогда и только тогда, когда частоты всех символов совпадают.</a:t>
            </a:r>
          </a:p>
          <a:p>
            <a:r>
              <a:rPr lang="ru-RU" dirty="0"/>
              <a:t>Этот пример демонстрирует: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автоматическое создание элементов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operator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[]</a:t>
            </a:r>
            <a:r>
              <a:rPr lang="ru-RU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удобство сравнения контейнеров,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практическое применение ассоциативных контейнеров.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48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77887825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multimap</a:t>
            </a:r>
            <a:r>
              <a:rPr lang="ru-RU" dirty="0"/>
              <a:t> отличается от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map</a:t>
            </a:r>
            <a:r>
              <a:rPr lang="ru-RU" dirty="0"/>
              <a:t> тем, что допускает повторяющиеся ключи.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этом примере ключом является балл, а значением — имя студента. Несколько студентов могут иметь одинаковый результат, поэтому используется именно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multimap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Контейнер автоматически хранит элементы в отсортированном порядке по ключу.</a:t>
            </a:r>
            <a:endParaRPr lang="en-US" dirty="0"/>
          </a:p>
          <a:p>
            <a:endParaRPr lang="ru-RU" dirty="0"/>
          </a:p>
          <a:p>
            <a:r>
              <a:rPr lang="ru-RU" dirty="0"/>
              <a:t>Для получения всех элементов с одинаковым ключом используется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equal_range</a:t>
            </a:r>
            <a:r>
              <a:rPr lang="ru-RU" dirty="0"/>
              <a:t>, который возвращает диапазон итераторов.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Этот пример показывает:</a:t>
            </a:r>
          </a:p>
          <a:p>
            <a:r>
              <a:rPr lang="ru-RU" dirty="0"/>
              <a:t>хранение нескольких значений по одному ключу,</a:t>
            </a:r>
          </a:p>
          <a:p>
            <a:r>
              <a:rPr lang="ru-RU" dirty="0"/>
              <a:t>автоматическую сортировку,</a:t>
            </a:r>
            <a:r>
              <a:rPr lang="en-US" dirty="0"/>
              <a:t> </a:t>
            </a:r>
            <a:r>
              <a:rPr lang="ru-RU" dirty="0"/>
              <a:t>удобную работу с диапазоном элементов.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49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684247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unordered_map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unordered_multimap</a:t>
            </a:r>
            <a:r>
              <a:rPr lang="ru-RU" dirty="0"/>
              <a:t> — это ассоциативные контейнеры, основанные на хеш-таблице.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отличие от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map</a:t>
            </a:r>
            <a:r>
              <a:rPr lang="ru-RU" dirty="0"/>
              <a:t>, элементы здесь не отсортированы.</a:t>
            </a:r>
            <a:br>
              <a:rPr lang="ru-RU" dirty="0"/>
            </a:br>
            <a:r>
              <a:rPr lang="ru-RU" dirty="0"/>
              <a:t>Они распределяются по корзинам — </a:t>
            </a:r>
            <a:r>
              <a:rPr lang="ru-RU" dirty="0" err="1"/>
              <a:t>bucket-ам</a:t>
            </a:r>
            <a:r>
              <a:rPr lang="ru-RU" dirty="0"/>
              <a:t> — в зависимости от хеш-значения ключа.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Основное преимущество — средняя сложность операций O(1).</a:t>
            </a:r>
            <a:endParaRPr lang="en-US" dirty="0"/>
          </a:p>
          <a:p>
            <a:br>
              <a:rPr lang="ru-RU" dirty="0"/>
            </a:br>
            <a:r>
              <a:rPr lang="ru-RU" dirty="0"/>
              <a:t>Поиск и вставка обычно выполняются быстрее, чем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map</a:t>
            </a:r>
            <a:r>
              <a:rPr lang="ru-RU" dirty="0"/>
              <a:t>.</a:t>
            </a:r>
          </a:p>
          <a:p>
            <a:r>
              <a:rPr lang="ru-RU" dirty="0"/>
              <a:t>Однако:</a:t>
            </a:r>
          </a:p>
          <a:p>
            <a:r>
              <a:rPr lang="ru-RU" dirty="0"/>
              <a:t>порядок элементов не гарантируется,</a:t>
            </a:r>
          </a:p>
          <a:p>
            <a:r>
              <a:rPr lang="ru-RU" dirty="0"/>
              <a:t>в худшем случае сложность может деградировать до O(n).</a:t>
            </a:r>
            <a:endParaRPr lang="en-US" dirty="0"/>
          </a:p>
          <a:p>
            <a:endParaRPr lang="ru-RU" dirty="0"/>
          </a:p>
          <a:p>
            <a:r>
              <a:rPr lang="ru-RU" dirty="0"/>
              <a:t>Разница между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unordered_map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unordered_multimap</a:t>
            </a:r>
            <a:r>
              <a:rPr lang="ru-RU" dirty="0"/>
              <a:t> такая же, как 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map</a:t>
            </a:r>
            <a:r>
              <a:rPr lang="ru-RU" dirty="0"/>
              <a:t>:</a:t>
            </a:r>
          </a:p>
          <a:p>
            <a:r>
              <a:rPr lang="ru-RU" dirty="0"/>
              <a:t>в первом ключи уникальны,</a:t>
            </a:r>
          </a:p>
          <a:p>
            <a:r>
              <a:rPr lang="ru-RU" dirty="0"/>
              <a:t>во втором могут повторяться.</a:t>
            </a:r>
          </a:p>
          <a:p>
            <a:r>
              <a:rPr lang="ru-RU" dirty="0"/>
              <a:t>Чтобы тип можно было использовать как ключ, для него должны быть определены:</a:t>
            </a:r>
          </a:p>
          <a:p>
            <a:r>
              <a:rPr lang="ru-RU" dirty="0"/>
              <a:t>оператор равенства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==</a:t>
            </a:r>
            <a:r>
              <a:rPr lang="ru-RU" dirty="0"/>
              <a:t>,</a:t>
            </a:r>
          </a:p>
          <a:p>
            <a:r>
              <a:rPr lang="ru-RU" dirty="0"/>
              <a:t>функция хеширования.</a:t>
            </a:r>
          </a:p>
          <a:p>
            <a:r>
              <a:rPr lang="ru-RU" dirty="0"/>
              <a:t>Чаще всего используется стандартный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hash</a:t>
            </a:r>
            <a:r>
              <a:rPr lang="ru-RU" dirty="0"/>
              <a:t>, но для пользовательских типов его нужно определить самостоятельно.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51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42053169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показана возможная внутренняя организация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unordered_map</a:t>
            </a:r>
            <a:r>
              <a:rPr lang="ru-RU" dirty="0"/>
              <a:t>.</a:t>
            </a:r>
          </a:p>
          <a:p>
            <a:r>
              <a:rPr lang="ru-RU" dirty="0"/>
              <a:t>Контейнер состоит из массива корзин — </a:t>
            </a:r>
            <a:r>
              <a:rPr lang="ru-RU" dirty="0" err="1"/>
              <a:t>buckets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Каждый ключ проходит через хеш-функцию, и по полученному </a:t>
            </a:r>
            <a:r>
              <a:rPr lang="ru-RU" dirty="0" err="1"/>
              <a:t>хешу</a:t>
            </a:r>
            <a:r>
              <a:rPr lang="ru-RU" dirty="0"/>
              <a:t> определяется, в какую корзину он попадёт.</a:t>
            </a:r>
          </a:p>
          <a:p>
            <a:r>
              <a:rPr lang="ru-RU" dirty="0"/>
              <a:t>Внутри одной корзины может находиться несколько элементов — это происходит, если у разных ключей совпал </a:t>
            </a:r>
            <a:r>
              <a:rPr lang="ru-RU" dirty="0" err="1"/>
              <a:t>хеш</a:t>
            </a:r>
            <a:r>
              <a:rPr lang="ru-RU" dirty="0"/>
              <a:t> или они дали одинаковый индекс корзины. Такая ситуация называется коллизией.</a:t>
            </a:r>
          </a:p>
          <a:p>
            <a:r>
              <a:rPr lang="ru-RU" dirty="0"/>
              <a:t>Обычно элементы внутри корзины организованы в виде связанного списка или другой структуры, позволяющей хранить несколько значений.</a:t>
            </a:r>
          </a:p>
          <a:p>
            <a:r>
              <a:rPr lang="ru-RU" dirty="0"/>
              <a:t>При поиске:</a:t>
            </a:r>
          </a:p>
          <a:p>
            <a:pPr marL="228600" indent="-228600">
              <a:buFont typeface="+mj-lt"/>
              <a:buAutoNum type="arabicPeriod"/>
            </a:pPr>
            <a:r>
              <a:rPr lang="ru-RU" dirty="0"/>
              <a:t>Вычисляется </a:t>
            </a:r>
            <a:r>
              <a:rPr lang="ru-RU" dirty="0" err="1"/>
              <a:t>хеш</a:t>
            </a:r>
            <a:r>
              <a:rPr lang="ru-RU" dirty="0"/>
              <a:t> ключа,</a:t>
            </a:r>
          </a:p>
          <a:p>
            <a:pPr marL="228600" indent="-228600">
              <a:buFont typeface="+mj-lt"/>
              <a:buAutoNum type="arabicPeriod"/>
            </a:pPr>
            <a:r>
              <a:rPr lang="ru-RU" dirty="0"/>
              <a:t>Определяется корзина,</a:t>
            </a:r>
          </a:p>
          <a:p>
            <a:pPr marL="228600" indent="-228600">
              <a:buFont typeface="+mj-lt"/>
              <a:buAutoNum type="arabicPeriod"/>
            </a:pPr>
            <a:r>
              <a:rPr lang="ru-RU" dirty="0"/>
              <a:t>Внутри корзины выполняется сравнение по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==</a:t>
            </a:r>
            <a:r>
              <a:rPr lang="ru-RU" dirty="0"/>
              <a:t>.</a:t>
            </a:r>
          </a:p>
          <a:p>
            <a:r>
              <a:rPr lang="ru-RU" dirty="0"/>
              <a:t>Если хеш-функция хорошая и элементы распределены равномерно, операции выполняются в среднем за O(1).</a:t>
            </a:r>
          </a:p>
          <a:p>
            <a:r>
              <a:rPr lang="ru-RU" dirty="0"/>
              <a:t>Если же элементов в одной корзине становится много, производительность может ухудшиться — вплоть до линейной.</a:t>
            </a:r>
          </a:p>
          <a:p>
            <a:r>
              <a:rPr lang="ru-RU" dirty="0"/>
              <a:t>Этот слайд помогает понять, почему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unordered_map</a:t>
            </a:r>
            <a:r>
              <a:rPr lang="ru-RU" dirty="0"/>
              <a:t> быстрый в среднем, но не гарантирует логарифмическую сложность, как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map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53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8152506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Этот пример важен тем, что здесь используется </a:t>
            </a:r>
            <a:r>
              <a:rPr lang="ru-RU" b="1" dirty="0"/>
              <a:t>комбинация двух контейнеров</a:t>
            </a:r>
            <a:r>
              <a:rPr lang="ru-RU" dirty="0"/>
              <a:t> стандартной библиотеки: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list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unordered_map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unordered_map</a:t>
            </a:r>
            <a:r>
              <a:rPr lang="ru-RU" dirty="0"/>
              <a:t> обеспечивает </a:t>
            </a:r>
            <a:r>
              <a:rPr lang="ru-RU" b="1" dirty="0"/>
              <a:t>быстрый поиск по ключу</a:t>
            </a:r>
            <a:r>
              <a:rPr lang="ru-RU" dirty="0"/>
              <a:t> — в среднем за O(1).</a:t>
            </a:r>
            <a:endParaRPr lang="en-US" dirty="0"/>
          </a:p>
          <a:p>
            <a:br>
              <a:rPr lang="ru-RU" dirty="0"/>
            </a:br>
            <a:r>
              <a:rPr lang="ru-RU" dirty="0"/>
              <a:t>Благодаря этому мы можем быстро узнать, есть ли элемент в кэше и получить доступ к нему.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list</a:t>
            </a:r>
            <a:r>
              <a:rPr lang="ru-RU" dirty="0"/>
              <a:t> используется для хранения элементов в порядке использования.</a:t>
            </a:r>
            <a:endParaRPr lang="en-US" dirty="0"/>
          </a:p>
          <a:p>
            <a:br>
              <a:rPr lang="ru-RU" dirty="0"/>
            </a:br>
            <a:r>
              <a:rPr lang="ru-RU" dirty="0"/>
              <a:t>Самый недавно использованный элемент перемещается в начало списка, а самый «старый» находится в конце.</a:t>
            </a:r>
          </a:p>
          <a:p>
            <a:r>
              <a:rPr lang="ru-RU" dirty="0"/>
              <a:t>Когда кэш переполняется, мы просто удаляем элемент с конца списка — это и есть </a:t>
            </a:r>
            <a:r>
              <a:rPr lang="ru-RU" dirty="0" err="1"/>
              <a:t>Least</a:t>
            </a:r>
            <a:r>
              <a:rPr lang="ru-RU" dirty="0"/>
              <a:t> </a:t>
            </a:r>
            <a:r>
              <a:rPr lang="ru-RU" dirty="0" err="1"/>
              <a:t>Recently</a:t>
            </a:r>
            <a:r>
              <a:rPr lang="ru-RU" dirty="0"/>
              <a:t> </a:t>
            </a:r>
            <a:r>
              <a:rPr lang="ru-RU" dirty="0" err="1"/>
              <a:t>Used</a:t>
            </a:r>
            <a:r>
              <a:rPr lang="ru-RU" dirty="0"/>
              <a:t>.</a:t>
            </a:r>
          </a:p>
          <a:p>
            <a:r>
              <a:rPr lang="ru-RU" dirty="0"/>
              <a:t>Ключевой момент —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splice</a:t>
            </a:r>
            <a:r>
              <a:rPr lang="ru-RU" dirty="0"/>
              <a:t>, который позволяет перемещать элемент списка за O(1) без копирования данных.</a:t>
            </a:r>
          </a:p>
          <a:p>
            <a:r>
              <a:rPr lang="ru-RU" dirty="0"/>
              <a:t>Таким образом: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unordered_map</a:t>
            </a:r>
            <a:r>
              <a:rPr lang="ru-RU" dirty="0"/>
              <a:t> даёт быстрый доступ,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list</a:t>
            </a:r>
            <a:r>
              <a:rPr lang="ru-RU" dirty="0"/>
              <a:t> даёт быстрые перестановки и удаления,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вместе они позволяют реализовать эффективный LRU-кэш.</a:t>
            </a:r>
          </a:p>
          <a:p>
            <a:r>
              <a:rPr lang="ru-RU" dirty="0"/>
              <a:t>Это хороший пример того, как стандартные контейнеры можно комбинировать для решения реальных задач.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55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0722009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multiset</a:t>
            </a:r>
            <a:r>
              <a:rPr lang="ru-RU" dirty="0"/>
              <a:t> — это упорядоченные контейнеры, которые хранят только значения.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отличие от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map</a:t>
            </a:r>
            <a:r>
              <a:rPr lang="ru-RU" dirty="0"/>
              <a:t>, здесь нет пары «ключ–значение» — сам элемент одновременно является и ключом.</a:t>
            </a:r>
            <a:endParaRPr lang="en-US" dirty="0"/>
          </a:p>
          <a:p>
            <a:endParaRPr lang="ru-RU" dirty="0"/>
          </a:p>
          <a:p>
            <a:r>
              <a:rPr lang="ru-RU" dirty="0"/>
              <a:t>Элементы автоматически поддерживаются в отсортированном порядке.</a:t>
            </a:r>
            <a:br>
              <a:rPr lang="ru-RU" dirty="0"/>
            </a:br>
            <a:r>
              <a:rPr lang="ru-RU" dirty="0"/>
              <a:t>Обычно контейнер реализован на основе красно-чёрного дерева, поэтому основные операции выполняются за O(</a:t>
            </a:r>
            <a:r>
              <a:rPr lang="ru-RU" dirty="0" err="1"/>
              <a:t>log</a:t>
            </a:r>
            <a:r>
              <a:rPr lang="ru-RU" dirty="0"/>
              <a:t> n).</a:t>
            </a:r>
          </a:p>
          <a:p>
            <a:r>
              <a:rPr lang="ru-RU" dirty="0"/>
              <a:t>Разница между контейнерами простая: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</a:t>
            </a:r>
            <a:r>
              <a:rPr lang="ru-RU" dirty="0"/>
              <a:t> не допускает повторяющихся значений,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multiset</a:t>
            </a:r>
            <a:r>
              <a:rPr lang="ru-RU" dirty="0"/>
              <a:t> допускает дубликаты.</a:t>
            </a: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dirty="0"/>
          </a:p>
          <a:p>
            <a:r>
              <a:rPr lang="ru-RU" dirty="0"/>
              <a:t>Чтобы тип можно было использовать в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</a:t>
            </a:r>
            <a:r>
              <a:rPr lang="ru-RU" dirty="0"/>
              <a:t>, для него должен быть определён строгий порядок. По умолчанию используется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operator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</a:t>
            </a:r>
            <a:r>
              <a:rPr lang="ru-RU" dirty="0"/>
              <a:t>, но можно передать собственный компаратор в качестве параметра шаблона.</a:t>
            </a:r>
            <a:endParaRPr lang="en-US" dirty="0"/>
          </a:p>
          <a:p>
            <a:endParaRPr lang="ru-RU" dirty="0"/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set</a:t>
            </a:r>
            <a:r>
              <a:rPr lang="ru-RU" dirty="0"/>
              <a:t> удобно использовать, когда нужно хранить уникальные элементы в отсортированном виде и быстро проверять наличие значения.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59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15749953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60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62483657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62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4458157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этом примере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unordered_set</a:t>
            </a:r>
            <a:r>
              <a:rPr lang="ru-RU" dirty="0"/>
              <a:t> используется для хранения уникальных чисел.</a:t>
            </a:r>
          </a:p>
          <a:p>
            <a:r>
              <a:rPr lang="ru-RU" dirty="0"/>
              <a:t>При вставке через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insert</a:t>
            </a:r>
            <a:r>
              <a:rPr lang="ru-RU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если элемента ещё нет — он добавляется,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если уже есть — повторная вставка игнорируется.</a:t>
            </a:r>
          </a:p>
          <a:p>
            <a:r>
              <a:rPr lang="ru-RU" dirty="0"/>
              <a:t>Таким образом контейнер автоматически устраняет дубликаты.</a:t>
            </a:r>
          </a:p>
          <a:p>
            <a:r>
              <a:rPr lang="ru-RU" dirty="0"/>
              <a:t>Порядок вывода может отличаться от порядка ввода, потому что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unordered_set</a:t>
            </a:r>
            <a:r>
              <a:rPr lang="ru-RU" dirty="0"/>
              <a:t> не хранит элементы отсортированными.</a:t>
            </a:r>
          </a:p>
          <a:p>
            <a:r>
              <a:rPr lang="ru-RU" dirty="0"/>
              <a:t>Этот пример показывает типичный сценарий использования:</a:t>
            </a:r>
            <a:br>
              <a:rPr lang="ru-RU" dirty="0"/>
            </a:br>
            <a:r>
              <a:rPr lang="ru-RU" dirty="0"/>
              <a:t>быстрая проверка уникальности и удаление повторов за среднее время O(1).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63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2752797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unordered_multiset</a:t>
            </a:r>
            <a:r>
              <a:rPr lang="ru-RU" dirty="0"/>
              <a:t> похож на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unordered_set</a:t>
            </a:r>
            <a:r>
              <a:rPr lang="ru-RU" dirty="0"/>
              <a:t>, но допускает хранение одинаковых значений.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 этом примере мы храним оценки студентов. Поскольку несколько студентов могут иметь одну и ту же оценку, используется именно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unordered_multiset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count</a:t>
            </a:r>
            <a:r>
              <a:rPr lang="ru-RU" dirty="0"/>
              <a:t> позволяет узнать, сколько раз элемент встречается в контейнере.</a:t>
            </a:r>
          </a:p>
          <a:p>
            <a:r>
              <a:rPr lang="ru-RU" dirty="0"/>
              <a:t>Как и в других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unordered</a:t>
            </a:r>
            <a:r>
              <a:rPr lang="ru-RU" dirty="0"/>
              <a:t>-контейнерах: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элементы не упорядочены,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операции выполняются в среднем за O(1),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dirty="0"/>
              <a:t>порядок вывода не гарантируется.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unordered_multiset</a:t>
            </a:r>
            <a:r>
              <a:rPr lang="ru-RU" dirty="0"/>
              <a:t> удобно использовать, когда нужно хранить элементы с повторениями и быстро определять их количество.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64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66865673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89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0802540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95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84066787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100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871395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Стандартная библиотека C++ содержит большой набор готовых алгоритмов для работы с последовательностями данных. Эти алгоритмы реализуют типичные операции: сортировку, поиск, копирование элементов, преобразование последовательностей, проверку условий и многие другие.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Важная особенность архитектуры стандартной библиотеки — </a:t>
            </a:r>
            <a:r>
              <a:rPr lang="ru-RU" b="1" dirty="0"/>
              <a:t>алгоритмы не работают напрямую с контейнерами</a:t>
            </a:r>
            <a:r>
              <a:rPr lang="ru-RU" dirty="0"/>
              <a:t>. Вместо этого они используют </a:t>
            </a:r>
            <a:r>
              <a:rPr lang="ru-RU" b="1" dirty="0"/>
              <a:t>итераторы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Итераторы задают диапазон элементов, над которым выполняется алгоритм. Обычно алгоритм принимает два итератора: начало и конец диапазона.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Используется соглашение </a:t>
            </a:r>
            <a:r>
              <a:rPr lang="ru-RU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[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first</a:t>
            </a:r>
            <a:r>
              <a:rPr lang="ru-RU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</a:t>
            </a:r>
            <a:r>
              <a:rPr lang="ru-RU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last</a:t>
            </a:r>
            <a:r>
              <a:rPr lang="ru-RU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  <a:r>
              <a:rPr lang="ru-RU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first</a:t>
            </a:r>
            <a:r>
              <a:rPr lang="ru-RU" dirty="0"/>
              <a:t> указывает на первый элемент,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last</a:t>
            </a:r>
            <a:r>
              <a:rPr lang="ru-RU" dirty="0"/>
              <a:t> указывает на элемент </a:t>
            </a:r>
            <a:r>
              <a:rPr lang="ru-RU" b="1" dirty="0"/>
              <a:t>после последнего</a:t>
            </a:r>
            <a:r>
              <a:rPr lang="ru-RU" dirty="0"/>
              <a:t>.</a:t>
            </a:r>
          </a:p>
          <a:p>
            <a:endParaRPr lang="en-US" dirty="0"/>
          </a:p>
          <a:p>
            <a:r>
              <a:rPr lang="ru-RU" dirty="0"/>
              <a:t>Благодаря этому один и тот же алгоритм можно применять к разным структурам данных: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array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deque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list</a:t>
            </a:r>
            <a:r>
              <a:rPr lang="ru-RU" dirty="0"/>
              <a:t> и даже к обычным C-массивам.</a:t>
            </a:r>
            <a:endParaRPr lang="en-US" dirty="0"/>
          </a:p>
          <a:p>
            <a:endParaRPr lang="ru-RU" dirty="0"/>
          </a:p>
          <a:p>
            <a:r>
              <a:rPr lang="ru-RU" dirty="0"/>
              <a:t>Большинство алгоритмов стандартной библиотеки находится в заголовочном файле:</a:t>
            </a:r>
            <a:r>
              <a:rPr lang="en-US" dirty="0"/>
              <a:t>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#include &lt;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algorithm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101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9302872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102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77760970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29398A-6AFF-7712-B54B-B17F9F39C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CD018E-833C-65F4-C848-2E485FE392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66D071-FEC1-C7B2-84A7-35677ECA49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05DC4C-4DF8-B9DB-6BB5-A711CAEF39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103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81892689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442" name="Образ слайда 1"/>
          <p:cNvSpPr>
            <a:spLocks noGrp="1" noRot="1" noChangeAspect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89443" name="Заметки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ru-RU"/>
          </a:p>
        </p:txBody>
      </p:sp>
      <p:sp>
        <p:nvSpPr>
          <p:cNvPr id="189444" name="Номер слайда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6FFE010F-E2E4-4B74-B991-7FD1A01D7B22}" type="slidenum">
              <a:rPr lang="ru-RU" smtClean="0"/>
              <a:pPr/>
              <a:t>104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86733802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107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59092764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nth_element</a:t>
            </a:r>
            <a:r>
              <a:rPr lang="ru-RU" dirty="0"/>
              <a:t> переставляет элементы в диапазоне так, чтобы элемент на позиции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n</a:t>
            </a:r>
            <a:r>
              <a:rPr lang="ru-RU" dirty="0"/>
              <a:t> оказался таким же, как если бы весь диапазон был полностью отсортирован.</a:t>
            </a:r>
          </a:p>
          <a:p>
            <a:r>
              <a:rPr lang="ru-RU" dirty="0"/>
              <a:t>При этом:</a:t>
            </a:r>
          </a:p>
          <a:p>
            <a:r>
              <a:rPr lang="ru-RU" dirty="0"/>
              <a:t>все элементы </a:t>
            </a:r>
            <a:r>
              <a:rPr lang="ru-RU" b="1" dirty="0"/>
              <a:t>до него</a:t>
            </a:r>
            <a:r>
              <a:rPr lang="ru-RU" dirty="0"/>
              <a:t> будут </a:t>
            </a:r>
            <a:r>
              <a:rPr lang="ru-RU" b="1" dirty="0"/>
              <a:t>не больше</a:t>
            </a:r>
            <a:r>
              <a:rPr lang="ru-RU" dirty="0"/>
              <a:t> этого элемента,</a:t>
            </a:r>
          </a:p>
          <a:p>
            <a:r>
              <a:rPr lang="ru-RU" dirty="0"/>
              <a:t>все элементы </a:t>
            </a:r>
            <a:r>
              <a:rPr lang="ru-RU" b="1" dirty="0"/>
              <a:t>после него</a:t>
            </a:r>
            <a:r>
              <a:rPr lang="ru-RU" dirty="0"/>
              <a:t> будут </a:t>
            </a:r>
            <a:r>
              <a:rPr lang="ru-RU" b="1" dirty="0"/>
              <a:t>не меньше</a:t>
            </a:r>
            <a:r>
              <a:rPr lang="ru-RU" dirty="0"/>
              <a:t>.</a:t>
            </a:r>
          </a:p>
          <a:p>
            <a:r>
              <a:rPr lang="ru-RU" dirty="0"/>
              <a:t>Но важная особенность — остальные элементы </a:t>
            </a:r>
            <a:r>
              <a:rPr lang="ru-RU" b="1" dirty="0"/>
              <a:t>не гарантированно отсортированы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В нашем примере мы берём итератор на середину вектора: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auto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mid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numbers.begin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 +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numbers.size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 / 2;</a:t>
            </a:r>
          </a:p>
          <a:p>
            <a:r>
              <a:rPr lang="ru-RU" dirty="0"/>
              <a:t>После вызова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nth_element</a:t>
            </a:r>
            <a:r>
              <a:rPr lang="ru-RU" dirty="0"/>
              <a:t> в этой позиции оказывается медианный элемент.</a:t>
            </a:r>
          </a:p>
          <a:p>
            <a:endParaRPr lang="ru-RU" dirty="0"/>
          </a:p>
          <a:p>
            <a:r>
              <a:rPr lang="ru-RU" dirty="0"/>
              <a:t>Алгоритм работает быстрее полной сортировки — его средняя сложность </a:t>
            </a:r>
            <a:r>
              <a:rPr lang="ru-RU" b="1" dirty="0"/>
              <a:t>O(n)</a:t>
            </a:r>
            <a:r>
              <a:rPr lang="ru-RU" dirty="0"/>
              <a:t>, тогда как 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sort</a:t>
            </a:r>
            <a:r>
              <a:rPr lang="ru-RU" dirty="0"/>
              <a:t> — </a:t>
            </a:r>
            <a:r>
              <a:rPr lang="ru-RU" b="1" dirty="0"/>
              <a:t>O(n </a:t>
            </a:r>
            <a:r>
              <a:rPr lang="ru-RU" b="1" dirty="0" err="1"/>
              <a:t>log</a:t>
            </a:r>
            <a:r>
              <a:rPr lang="ru-RU" b="1" dirty="0"/>
              <a:t> n)</a:t>
            </a:r>
            <a:r>
              <a:rPr lang="ru-RU" dirty="0"/>
              <a:t>.</a:t>
            </a:r>
          </a:p>
          <a:p>
            <a:r>
              <a:rPr lang="ru-RU" dirty="0"/>
              <a:t>Поэтому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nth_element</a:t>
            </a:r>
            <a:r>
              <a:rPr lang="ru-RU" dirty="0"/>
              <a:t> удобно использовать, когда нужно найти:</a:t>
            </a:r>
          </a:p>
          <a:p>
            <a:r>
              <a:rPr lang="ru-RU" dirty="0"/>
              <a:t>медиану,</a:t>
            </a:r>
          </a:p>
          <a:p>
            <a:r>
              <a:rPr lang="ru-RU" dirty="0"/>
              <a:t>k-й по величине элемент,</a:t>
            </a:r>
          </a:p>
          <a:p>
            <a:r>
              <a:rPr lang="ru-RU" dirty="0" err="1"/>
              <a:t>top</a:t>
            </a:r>
            <a:r>
              <a:rPr lang="ru-RU" dirty="0"/>
              <a:t>-k элементы.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108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0640610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109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35074687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110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48806464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EEDAFB-66F6-4554-A2E1-FF14FD81AE35}" type="slidenum">
              <a:rPr lang="ru-RU" smtClean="0"/>
              <a:pPr>
                <a:defRPr/>
              </a:pPr>
              <a:t>111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17589057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показан принцип работы </a:t>
            </a:r>
            <a:r>
              <a:rPr lang="ru-RU" b="1" dirty="0"/>
              <a:t>двоичного поиска</a:t>
            </a:r>
            <a:r>
              <a:rPr lang="ru-RU" dirty="0"/>
              <a:t> и алгоритмов стандартной библиотеки, которые его используют.</a:t>
            </a:r>
          </a:p>
          <a:p>
            <a:r>
              <a:rPr lang="ru-RU" dirty="0"/>
              <a:t>Важно помнить, что двоичный поиск работает </a:t>
            </a:r>
            <a:r>
              <a:rPr lang="ru-RU" b="1" dirty="0"/>
              <a:t>только на отсортированных данных</a:t>
            </a:r>
            <a:r>
              <a:rPr lang="ru-RU" dirty="0"/>
              <a:t>. Если последовательность не отсортирована, результат будет неопределённым.</a:t>
            </a:r>
          </a:p>
          <a:p>
            <a:endParaRPr lang="ru-RU" dirty="0"/>
          </a:p>
          <a:p>
            <a:r>
              <a:rPr lang="ru-RU" dirty="0"/>
              <a:t>В стандартной библиотеке есть несколько алгоритмов, основанных на двоичном поиске. Наиболее часто используются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lower_bound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upper_bound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equal_range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Алгоритм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lower_bound</a:t>
            </a:r>
            <a:r>
              <a:rPr lang="ru-RU" dirty="0"/>
              <a:t> возвращает итератор на </a:t>
            </a:r>
            <a:r>
              <a:rPr lang="ru-RU" b="1" dirty="0"/>
              <a:t>первый элемент, который не меньше искомого</a:t>
            </a:r>
            <a:r>
              <a:rPr lang="ru-RU" dirty="0"/>
              <a:t>, то есть первый элемент, для которого выполняется условие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&gt;=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value</a:t>
            </a:r>
            <a:r>
              <a:rPr lang="ru-RU" dirty="0"/>
              <a:t>.</a:t>
            </a:r>
          </a:p>
          <a:p>
            <a:endParaRPr lang="ru-RU" dirty="0"/>
          </a:p>
          <a:p>
            <a:r>
              <a:rPr lang="ru-RU" dirty="0"/>
              <a:t>Алгоритм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upper_bound</a:t>
            </a:r>
            <a:r>
              <a:rPr lang="ru-RU" dirty="0"/>
              <a:t> возвращает итератор на </a:t>
            </a:r>
            <a:r>
              <a:rPr lang="ru-RU" b="1" dirty="0"/>
              <a:t>первый элемент, который строго больше искомого значения</a:t>
            </a:r>
            <a:r>
              <a:rPr lang="ru-RU" dirty="0"/>
              <a:t>.</a:t>
            </a:r>
          </a:p>
          <a:p>
            <a:r>
              <a:rPr lang="ru-RU" dirty="0"/>
              <a:t>Если в последовательности есть несколько одинаковых элементов, эти два алгоритма позволяют определить диапазон, в котором они находятся.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Для этого можно использовать алгоритм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equal_range</a:t>
            </a:r>
            <a:r>
              <a:rPr lang="ru-RU" dirty="0"/>
              <a:t>. Он возвращает пару итераторов: первый соответствует результату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lower_bound</a:t>
            </a:r>
            <a:r>
              <a:rPr lang="ru-RU" dirty="0"/>
              <a:t>, а второй — результату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upper_bound</a:t>
            </a:r>
            <a:r>
              <a:rPr lang="ru-RU" dirty="0"/>
              <a:t>. Таким образом получается диапазон всех элементов, равных заданному значению.</a:t>
            </a:r>
          </a:p>
          <a:p>
            <a:endParaRPr lang="ru-RU" dirty="0"/>
          </a:p>
          <a:p>
            <a:r>
              <a:rPr lang="ru-RU" dirty="0"/>
              <a:t>Эти алгоритмы работают за логарифмическое время — </a:t>
            </a:r>
            <a:r>
              <a:rPr lang="ru-RU" b="1" dirty="0"/>
              <a:t>O(</a:t>
            </a:r>
            <a:r>
              <a:rPr lang="ru-RU" b="1" dirty="0" err="1"/>
              <a:t>log</a:t>
            </a:r>
            <a:r>
              <a:rPr lang="ru-RU" b="1" dirty="0"/>
              <a:t> n)</a:t>
            </a:r>
            <a:r>
              <a:rPr lang="ru-RU" dirty="0"/>
              <a:t>, что делает их значительно быстрее линейного поиска при работе с большими отсортированными последовательностями.</a:t>
            </a:r>
          </a:p>
          <a:p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62577267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Начиная с C++20 в стандартной библиотеке появилась библиотека </a:t>
            </a:r>
            <a:r>
              <a:rPr lang="ru-RU" b="1" dirty="0" err="1"/>
              <a:t>ranges</a:t>
            </a:r>
            <a:r>
              <a:rPr lang="ru-RU" dirty="0"/>
              <a:t>, которая делает работу с алгоритмами более удобной.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Классические алгоритмы принимают два итератора — начало и конец диапазона. В версиях из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ranges</a:t>
            </a:r>
            <a:r>
              <a:rPr lang="ru-RU" dirty="0"/>
              <a:t> можно передавать </a:t>
            </a:r>
            <a:r>
              <a:rPr lang="ru-RU" b="1" dirty="0"/>
              <a:t>сам контейнер целиком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Например, вместо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sort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numbers.begin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numbers.end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())</a:t>
            </a:r>
            <a:r>
              <a:rPr lang="ru-RU" dirty="0"/>
              <a:t> можно написать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ranges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sort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numbers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</a:t>
            </a:r>
            <a:r>
              <a:rPr lang="ru-RU" dirty="0"/>
              <a:t>. Код становится короче и его сложнее написать неправильно.</a:t>
            </a:r>
            <a:endParaRPr lang="en-US" dirty="0"/>
          </a:p>
          <a:p>
            <a:endParaRPr lang="ru-RU" dirty="0"/>
          </a:p>
          <a:p>
            <a:r>
              <a:rPr lang="ru-RU" dirty="0"/>
              <a:t>Кроме того, алгоритмы из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ranges</a:t>
            </a:r>
            <a:r>
              <a:rPr lang="ru-RU" dirty="0"/>
              <a:t> поддерживают </a:t>
            </a:r>
            <a:r>
              <a:rPr lang="ru-RU" b="1" dirty="0"/>
              <a:t>проекции</a:t>
            </a:r>
            <a:r>
              <a:rPr lang="ru-RU" dirty="0"/>
              <a:t> — это способ указать поле объекта, по которому нужно выполнять алгоритм. Мы увидим пример этого на следующем слайде.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Важно отметить, что </a:t>
            </a:r>
            <a:r>
              <a:rPr lang="ru-RU" dirty="0" err="1"/>
              <a:t>ranges</a:t>
            </a:r>
            <a:r>
              <a:rPr lang="ru-RU" dirty="0"/>
              <a:t>-алгоритмы не заменяют полностью старые алгоритмы, но делают код более выразительным и безопасным.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20882398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алгоритмах из библиотеки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ranges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</a:t>
            </a:r>
            <a:r>
              <a:rPr lang="ru-RU" dirty="0"/>
              <a:t> появилась удобная возможность — </a:t>
            </a:r>
            <a:r>
              <a:rPr lang="ru-RU" b="1" dirty="0"/>
              <a:t>проекции</a:t>
            </a:r>
            <a:r>
              <a:rPr lang="ru-RU" dirty="0"/>
              <a:t>.</a:t>
            </a:r>
          </a:p>
          <a:p>
            <a:r>
              <a:rPr lang="ru-RU" dirty="0"/>
              <a:t>Проекция — это способ указать, </a:t>
            </a:r>
            <a:r>
              <a:rPr lang="ru-RU" b="1" dirty="0"/>
              <a:t>какое поле объекта использовать при выполнении алгоритма</a:t>
            </a:r>
            <a:r>
              <a:rPr lang="ru-RU" dirty="0"/>
              <a:t>.</a:t>
            </a:r>
            <a:br>
              <a:rPr lang="ru-RU" dirty="0"/>
            </a:br>
            <a:r>
              <a:rPr lang="ru-RU" dirty="0"/>
              <a:t>То есть вместо написания отдельной функции сравнения или лямбды можно просто передать указатель на поле структуры.</a:t>
            </a:r>
          </a:p>
          <a:p>
            <a:r>
              <a:rPr lang="ru-RU" dirty="0"/>
              <a:t>В этом примере у нас есть структура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Student</a:t>
            </a:r>
            <a:r>
              <a:rPr lang="ru-RU" dirty="0"/>
              <a:t>, содержащая имя и возраст.</a:t>
            </a:r>
            <a:br>
              <a:rPr lang="ru-RU" dirty="0"/>
            </a:br>
            <a:r>
              <a:rPr lang="ru-RU" dirty="0"/>
              <a:t>Если мы хотим отсортировать студентов по имени, можно написать: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ranges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sort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students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{}, &amp;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Student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name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);</a:t>
            </a:r>
          </a:p>
          <a:p>
            <a:r>
              <a:rPr lang="ru-RU" dirty="0"/>
              <a:t>Третий параметр — это проекция. Она говорит алгоритму: перед сравнением извлеки из каждого объекта поле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name</a:t>
            </a:r>
            <a:r>
              <a:rPr lang="ru-RU" dirty="0"/>
              <a:t>.</a:t>
            </a:r>
          </a:p>
          <a:p>
            <a:r>
              <a:rPr lang="ru-RU" dirty="0"/>
              <a:t>Аналогично можно отсортировать студентов по возрасту: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ranges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sort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students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, {}, &amp;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Student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age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);</a:t>
            </a:r>
          </a:p>
          <a:p>
            <a:r>
              <a:rPr lang="ru-RU" dirty="0"/>
              <a:t>Если нужно изменить порядок сортировки, можно передать компаратор. Например, здесь используется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greater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&lt;&gt;</a:t>
            </a:r>
            <a:r>
              <a:rPr lang="ru-RU" dirty="0"/>
              <a:t>, чтобы отсортировать студентов по возрасту </a:t>
            </a:r>
            <a:r>
              <a:rPr lang="ru-RU" b="1" dirty="0"/>
              <a:t>в порядке убывания</a:t>
            </a:r>
            <a:r>
              <a:rPr lang="ru-RU" dirty="0"/>
              <a:t>.</a:t>
            </a:r>
          </a:p>
          <a:p>
            <a:r>
              <a:rPr lang="ru-RU" dirty="0"/>
              <a:t>Проекции позволяют писать более короткий и читаемый код, потому что часто избавляют от необходимости писать собственные функции сравнения или лямбды.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77523312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библиотеке </a:t>
            </a:r>
            <a:r>
              <a:rPr lang="ru-RU" dirty="0" err="1"/>
              <a:t>ranges</a:t>
            </a:r>
            <a:r>
              <a:rPr lang="ru-RU" dirty="0"/>
              <a:t> появилась возможность </a:t>
            </a:r>
            <a:r>
              <a:rPr lang="ru-RU" b="1" dirty="0"/>
              <a:t>комбинировать операции обработки данных в виде конвейера</a:t>
            </a:r>
            <a:r>
              <a:rPr lang="ru-RU" dirty="0"/>
              <a:t>.</a:t>
            </a:r>
          </a:p>
          <a:p>
            <a:r>
              <a:rPr lang="ru-RU" dirty="0"/>
              <a:t>Оператор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|</a:t>
            </a:r>
            <a:r>
              <a:rPr lang="ru-RU" dirty="0"/>
              <a:t> позволяет последовательно применять к последовательности различные представления — так называемые </a:t>
            </a:r>
            <a:r>
              <a:rPr lang="ru-RU" i="1" dirty="0" err="1"/>
              <a:t>views</a:t>
            </a:r>
            <a:r>
              <a:rPr lang="ru-RU" dirty="0"/>
              <a:t>.</a:t>
            </a:r>
          </a:p>
          <a:p>
            <a:r>
              <a:rPr lang="ru-RU" dirty="0"/>
              <a:t>В этом примере мы берём вектор чисел и выполняем две операции.</a:t>
            </a:r>
          </a:p>
          <a:p>
            <a:endParaRPr lang="ru-RU" dirty="0"/>
          </a:p>
          <a:p>
            <a:r>
              <a:rPr lang="ru-RU" dirty="0"/>
              <a:t>Сначала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filter</a:t>
            </a:r>
            <a:r>
              <a:rPr lang="ru-RU" dirty="0"/>
              <a:t> оставляет только чётные числа.</a:t>
            </a:r>
          </a:p>
          <a:p>
            <a:endParaRPr lang="ru-RU" dirty="0"/>
          </a:p>
          <a:p>
            <a:r>
              <a:rPr lang="ru-RU" dirty="0"/>
              <a:t>Затем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transform</a:t>
            </a:r>
            <a:r>
              <a:rPr lang="ru-RU" dirty="0"/>
              <a:t> применяет к каждому элементу функцию — в нашем случае мы возводим число в квадрат.</a:t>
            </a:r>
          </a:p>
          <a:p>
            <a:r>
              <a:rPr lang="ru-RU" dirty="0"/>
              <a:t>В результате получается последовательность квадратов чётных чисел.</a:t>
            </a:r>
          </a:p>
          <a:p>
            <a:endParaRPr lang="ru-RU" dirty="0"/>
          </a:p>
          <a:p>
            <a:r>
              <a:rPr lang="ru-RU" dirty="0"/>
              <a:t>Важно отметить, что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views</a:t>
            </a:r>
            <a:r>
              <a:rPr lang="ru-RU" dirty="0"/>
              <a:t> </a:t>
            </a:r>
            <a:r>
              <a:rPr lang="ru-RU" b="1" dirty="0"/>
              <a:t>не создают новый контейнер</a:t>
            </a:r>
            <a:r>
              <a:rPr lang="ru-RU" dirty="0"/>
              <a:t>. Они лишь создают представление исходных данных, и элементы вычисляются по мере необходимости при обходе.</a:t>
            </a:r>
          </a:p>
          <a:p>
            <a:endParaRPr lang="ru-RU" dirty="0"/>
          </a:p>
          <a:p>
            <a:r>
              <a:rPr lang="ru-RU" dirty="0"/>
              <a:t>Такой стиль программирования часто называют </a:t>
            </a:r>
            <a:r>
              <a:rPr lang="ru-RU" b="1" dirty="0"/>
              <a:t>конвейерной обработкой данных</a:t>
            </a:r>
            <a:r>
              <a:rPr lang="ru-RU" dirty="0"/>
              <a:t> и он делает код более декларативным и читаемым.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83018300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этом слайде показана распространённая идиома стандартной библиотеки — </a:t>
            </a:r>
            <a:r>
              <a:rPr lang="ru-RU" b="1" dirty="0" err="1"/>
              <a:t>erase-remove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Важно понимать, что алгоритм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remove</a:t>
            </a:r>
            <a:r>
              <a:rPr lang="ru-RU" dirty="0"/>
              <a:t> на самом деле </a:t>
            </a:r>
            <a:r>
              <a:rPr lang="ru-RU" b="1" dirty="0"/>
              <a:t>не удаляет элементы из контейнера</a:t>
            </a:r>
            <a:r>
              <a:rPr lang="ru-RU" dirty="0"/>
              <a:t>. Он лишь переставляет элементы так, чтобы все элементы, которые нужно оставить, оказались в начале диапазона.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Алгоритм возвращает итератор на </a:t>
            </a:r>
            <a:r>
              <a:rPr lang="ru-RU" b="1" dirty="0"/>
              <a:t>новый логический конец последовательности</a:t>
            </a:r>
            <a:r>
              <a:rPr lang="ru-RU" dirty="0"/>
              <a:t>. Всё, что находится после этого итератора, содержит значения, которые больше не считаются частью результата, но физически всё ещё остаются в контейнере.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Поэтому после вызова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remove</a:t>
            </a:r>
            <a:r>
              <a:rPr lang="ru-RU" dirty="0"/>
              <a:t> размер контейнера не меняется. Это можно увидеть на втором выводе: элементы со значением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</a:t>
            </a:r>
            <a:r>
              <a:rPr lang="ru-RU" dirty="0"/>
              <a:t> как бы исчезли из начала массива, но в конце контейнера всё ещё остаются какие-то значения.</a:t>
            </a:r>
            <a:endParaRPr lang="en-US" dirty="0"/>
          </a:p>
          <a:p>
            <a:endParaRPr lang="ru-RU" dirty="0"/>
          </a:p>
          <a:p>
            <a:r>
              <a:rPr lang="ru-RU" dirty="0"/>
              <a:t>Чтобы действительно удалить лишние элементы из контейнера, нужно вызвать 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erase</a:t>
            </a:r>
            <a:r>
              <a:rPr lang="ru-RU" dirty="0"/>
              <a:t>, передав диапазон от итератора, возвращённого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remove</a:t>
            </a:r>
            <a:r>
              <a:rPr lang="ru-RU" dirty="0"/>
              <a:t>, до конца контейнера.</a:t>
            </a:r>
            <a:endParaRPr lang="en-US" dirty="0"/>
          </a:p>
          <a:p>
            <a:endParaRPr lang="ru-RU" dirty="0"/>
          </a:p>
          <a:p>
            <a:r>
              <a:rPr lang="ru-RU" dirty="0"/>
              <a:t>Таким образом получается идиома:</a:t>
            </a:r>
          </a:p>
          <a:p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container.erase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remove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(...),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container.end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());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ru-RU" dirty="0"/>
              <a:t>В последнем примере используется алгоритм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remove_if</a:t>
            </a:r>
            <a:r>
              <a:rPr lang="ru-RU" dirty="0"/>
              <a:t>, который позволяет удалять элементы по условию. Здесь из вектора удаляются все чётные числа.</a:t>
            </a:r>
          </a:p>
          <a:p>
            <a:r>
              <a:rPr lang="ru-RU" dirty="0"/>
              <a:t>Эта идиома часто используется при работе с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vector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string</a:t>
            </a:r>
            <a:r>
              <a:rPr lang="ru-RU" dirty="0"/>
              <a:t> 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deque</a:t>
            </a:r>
            <a:r>
              <a:rPr lang="ru-RU" dirty="0"/>
              <a:t>, потому что эти контейнеры поддерживают операцию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erase</a:t>
            </a:r>
            <a:r>
              <a:rPr lang="ru-RU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32187244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</a:t>
            </a:r>
            <a:r>
              <a:rPr lang="en-US" dirty="0"/>
              <a:t>C++ 17</a:t>
            </a:r>
            <a:r>
              <a:rPr lang="en-US" baseline="0" dirty="0"/>
              <a:t> </a:t>
            </a:r>
            <a:r>
              <a:rPr lang="ru-RU" baseline="0" dirty="0"/>
              <a:t>появился класс </a:t>
            </a:r>
            <a:r>
              <a:rPr lang="en-US" baseline="0" dirty="0"/>
              <a:t>optional </a:t>
            </a:r>
            <a:r>
              <a:rPr lang="ru-RU" baseline="0" dirty="0"/>
              <a:t>для хранений опциональных значений. Можно сравнить его с коробкой, которая может быть пустой, либо содержать значение.</a:t>
            </a:r>
          </a:p>
          <a:p>
            <a:r>
              <a:rPr lang="ru-RU" dirty="0"/>
              <a:t>С</a:t>
            </a:r>
            <a:r>
              <a:rPr lang="ru-RU" baseline="0" dirty="0"/>
              <a:t> небольшими модификациям этот класс перекочевал из </a:t>
            </a:r>
            <a:r>
              <a:rPr lang="en-US" baseline="0" dirty="0"/>
              <a:t>boost</a:t>
            </a:r>
            <a:r>
              <a:rPr lang="ru-RU" baseline="0" dirty="0"/>
              <a:t>.</a:t>
            </a:r>
          </a:p>
          <a:p>
            <a:r>
              <a:rPr lang="ru-RU" baseline="0" dirty="0"/>
              <a:t>Для создания объекта не используется динамическое выделение памяти.</a:t>
            </a:r>
          </a:p>
          <a:p>
            <a:r>
              <a:rPr lang="ru-RU" baseline="0" dirty="0"/>
              <a:t>Области применения этого класса – хранение значений, которые могут отсутствовать, отложенная инициализация полей класса, которые нельзя/не хочется инициализировать в конструкторе. В простейших ситуациях может использоваться для информирования об ошибке, как альтернатива исключениям и кодам возврата.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21D0F8-ED15-4C66-B45E-299497AD8983}" type="slidenum">
              <a:rPr lang="ru-RU" smtClean="0"/>
              <a:t>120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949790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3226442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59015919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Начиная с C++17 в стандартной библиотеке появилась библиотека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filesystem</a:t>
            </a:r>
            <a:r>
              <a:rPr lang="ru-RU" dirty="0"/>
              <a:t>.</a:t>
            </a:r>
          </a:p>
          <a:p>
            <a:r>
              <a:rPr lang="ru-RU" dirty="0"/>
              <a:t>Она позволяет работать с файловой системой напрямую из программы: получать информацию о файлах, создавать и удалять директории, копировать файлы и обходить содержимое папок.</a:t>
            </a:r>
            <a:endParaRPr lang="en-US" dirty="0"/>
          </a:p>
          <a:p>
            <a:endParaRPr lang="ru-RU" dirty="0"/>
          </a:p>
          <a:p>
            <a:r>
              <a:rPr lang="ru-RU" dirty="0"/>
              <a:t>Главный тип этой библиотеки —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filesystem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path</a:t>
            </a:r>
            <a:r>
              <a:rPr lang="ru-RU" dirty="0"/>
              <a:t>. Он представляет путь к файлу или директории и предоставляет удобные методы для работы с частями пути: именем файла, расширением, родительской директорией и так далее.</a:t>
            </a:r>
            <a:endParaRPr lang="en-US" dirty="0"/>
          </a:p>
          <a:p>
            <a:endParaRPr lang="ru-RU" dirty="0"/>
          </a:p>
          <a:p>
            <a:r>
              <a:rPr lang="ru-RU" dirty="0"/>
              <a:t>Для удобства обычно вводят псевдоним пространства имён:</a:t>
            </a:r>
          </a:p>
          <a:p>
            <a:pPr rtl="0"/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namespace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=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std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filesystem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;</a:t>
            </a:r>
          </a:p>
          <a:p>
            <a:r>
              <a:rPr lang="ru-RU" dirty="0"/>
              <a:t>Это позволяет писать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path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exists</a:t>
            </a:r>
            <a:r>
              <a:rPr lang="ru-RU" dirty="0"/>
              <a:t>,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copy</a:t>
            </a:r>
            <a:r>
              <a:rPr lang="ru-RU" dirty="0"/>
              <a:t> и так далее.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8726830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47732398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Этот пример показывает более практическое применение библиотеки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filesystem</a:t>
            </a:r>
            <a:r>
              <a:rPr lang="ru-RU" dirty="0"/>
              <a:t>.</a:t>
            </a:r>
            <a:endParaRPr lang="en-US" dirty="0"/>
          </a:p>
          <a:p>
            <a:endParaRPr lang="ru-RU" dirty="0"/>
          </a:p>
          <a:p>
            <a:r>
              <a:rPr lang="ru-RU" dirty="0"/>
              <a:t>Программа рекурсивно обходит все директории, начиная с текущей, используя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recursive_directory_iterator</a:t>
            </a:r>
            <a:r>
              <a:rPr lang="ru-RU" dirty="0"/>
              <a:t>.</a:t>
            </a:r>
          </a:p>
          <a:p>
            <a:r>
              <a:rPr lang="ru-RU" dirty="0"/>
              <a:t>Для каждого найденного элемента мы проверяем, является ли он обычным файлом. После этого получаем путь к файлу.</a:t>
            </a:r>
            <a:endParaRPr lang="en-US" dirty="0"/>
          </a:p>
          <a:p>
            <a:endParaRPr lang="ru-RU" dirty="0"/>
          </a:p>
          <a:p>
            <a:r>
              <a:rPr lang="ru-RU" dirty="0"/>
              <a:t>Метод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stem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возвращает имя файла </a:t>
            </a:r>
            <a:r>
              <a:rPr lang="ru-RU" b="1" dirty="0"/>
              <a:t>без расширения</a:t>
            </a:r>
            <a:r>
              <a:rPr lang="ru-RU" dirty="0"/>
              <a:t>. Например, для файла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virus.exe</a:t>
            </a:r>
            <a:r>
              <a:rPr lang="ru-RU" dirty="0"/>
              <a:t> значение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stem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ru-RU" dirty="0"/>
              <a:t> будет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virus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dirty="0"/>
              <a:t>.</a:t>
            </a:r>
          </a:p>
          <a:p>
            <a:r>
              <a:rPr lang="ru-RU" dirty="0"/>
              <a:t>Если имя файла равно 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virus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"</a:t>
            </a:r>
            <a:r>
              <a:rPr lang="ru-RU" dirty="0"/>
              <a:t>, программа удаляет его с помощью функции 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fs</a:t>
            </a: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::</a:t>
            </a:r>
            <a:r>
              <a:rPr lang="ru-RU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remove</a:t>
            </a:r>
            <a:r>
              <a:rPr lang="ru-RU" dirty="0"/>
              <a:t>.</a:t>
            </a:r>
          </a:p>
          <a:p>
            <a:r>
              <a:rPr lang="ru-RU" dirty="0"/>
              <a:t>Таким образом программа удалит все файлы: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virus.exe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virus.txt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ru-RU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virus.dat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marL="171450" indent="-171450" rtl="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virus.mp3</a:t>
            </a:r>
          </a:p>
          <a:p>
            <a:pPr rtl="0"/>
            <a:endParaRPr lang="ru-RU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ru-RU" dirty="0"/>
              <a:t>независимо от расширения.</a:t>
            </a:r>
          </a:p>
          <a:p>
            <a:r>
              <a:rPr lang="ru-RU" dirty="0"/>
              <a:t>Этот пример показывает, как стандартная библиотека позволяет довольно просто выполнять задачи, которые раньше требовали </a:t>
            </a:r>
            <a:r>
              <a:rPr lang="ru-RU" dirty="0" err="1"/>
              <a:t>платформозависимого</a:t>
            </a:r>
            <a:r>
              <a:rPr lang="ru-RU" dirty="0"/>
              <a:t> кода.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2A1285-F988-4153-B7C5-B887A867730D}" type="slidenum">
              <a:rPr lang="ru-RU" smtClean="0"/>
              <a:pPr/>
              <a:t>126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710878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A02C55-1068-44A2-82CD-4A743E928D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118CAC-FF14-4794-872A-0B58773704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3136DA-9A4C-40BA-AA17-EA981E33A9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1C0F1A-1606-4B16-868A-AE460AA99932}" type="datetime1">
              <a:rPr lang="ru-RU" smtClean="0"/>
              <a:t>31.03.2026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B9565D-5DAF-464C-82B5-47EFB42109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D81BC0-D73B-43B8-8006-98D7A5B18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379012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48B86-0259-498D-9F1D-890E4853AC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0B8B12-9163-4F0A-8DAE-AFB4CBC637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36A382-819C-4C90-BB8B-9A3A9D80EA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27103D-4B22-44AB-A9FC-683E08A1F747}" type="datetime1">
              <a:rPr lang="ru-RU" smtClean="0"/>
              <a:t>31.03.2026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830B75-1D6F-4808-A43F-C1338A8E8B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275CC4-7EFF-40D7-AD6B-048DB231F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474794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D6DFB9-1D2C-4C99-9976-80D45F82B6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18B29D-ACB6-4F20-A63F-AD683F65C0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C7DDFE-7665-40F4-8709-37F31AC466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CE0C0F-FA6D-4425-ACAC-9C75324FDE1A}" type="datetime1">
              <a:rPr lang="ru-RU" smtClean="0"/>
              <a:t>31.03.2026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935FF8-8475-420D-B26A-2BBC6975E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9B57D3-45C8-4599-A3A4-224EF17A9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974788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C257C-E519-4004-9664-5EE2DEEBE3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D14FD9-045B-4C7F-988A-793C9DDD1D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292FC0-5215-485D-B178-1923B27881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DB3E4B-3202-4B3C-B276-911106E408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60DEE2-517B-46CA-B9CF-5B31396B2FAC}" type="datetime1">
              <a:rPr lang="ru-RU" smtClean="0"/>
              <a:t>31.03.2026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BD2B61-3FC8-4F39-8668-A4B6CF03F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EF1529-0A6F-472C-8162-0809B794F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016359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872A2-4F60-4CCD-822D-BA26D782D0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817310-7D32-449E-8B15-BA4AD9264A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CDD8049-2981-4DBC-9A47-E4B3503FE2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570114-2659-411A-91CA-84B6FB6FD4C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181DACC-6CA4-48F6-AB55-E0AE146F33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F53C7C0-3FB7-4520-91B5-A83C85E2A0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3298A5-7E09-4369-B71D-BB7174D80868}" type="datetime1">
              <a:rPr lang="ru-RU" smtClean="0"/>
              <a:t>31.03.2026</a:t>
            </a:fld>
            <a:endParaRPr lang="ru-R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8811D75-3F94-44BC-B9A2-007C43EB8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C99E5D-E837-44F0-8032-4C2DE4136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094733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E6E088-F4DC-427D-BE79-3F7232B45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8194E55-A7DB-461A-B228-D917898785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B32143-FDE8-4C60-98E8-A872E420E9EA}" type="datetime1">
              <a:rPr lang="ru-RU" smtClean="0"/>
              <a:t>31.03.2026</a:t>
            </a:fld>
            <a:endParaRPr lang="ru-R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4B0D332-2F02-4297-803D-C24BAA7C31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B4ED2AD-5C1C-4C18-ADEC-8112D8B38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367708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5241CC0-6A58-46A9-8D3D-3BEC81FEC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AB4882-B2D5-4613-BB0B-1477E375B878}" type="datetime1">
              <a:rPr lang="ru-RU" smtClean="0"/>
              <a:t>31.03.2026</a:t>
            </a:fld>
            <a:endParaRPr lang="ru-R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35FB09-9210-4FF3-B521-92AC071705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21D5FF-9F9B-438D-962B-19E33EA77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85058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8BB67B-1DE1-4C38-B86C-EE4E5FE5E2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365E22-365F-4133-AE2C-BFE9368A2F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E76D52-A043-43E2-878C-F0D059B739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521B72-F8F3-4BAF-9039-4FCA7A5AFE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E2D1C8-0B2C-416B-9B25-770515041144}" type="datetime1">
              <a:rPr lang="ru-RU" smtClean="0"/>
              <a:t>31.03.2026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3C61C2-EF1C-4C27-9CE7-95CD0A820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2278CE-F8F6-4357-8DE5-C5A74A902D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458100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2B80C-2148-42E9-A299-F6AFD8D5F0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F36453F-1A78-4AC8-BEE7-23D2EBA9DF3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7AD1CC-F62E-4D14-B0B2-A5BFC0D90A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4C1507-4C3F-4C2A-83FD-8D1EE9B025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F21F35-1062-451E-BF28-4799554B8B18}" type="datetime1">
              <a:rPr lang="ru-RU" smtClean="0"/>
              <a:t>31.03.2026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1CAD7A-2676-460D-902D-1573FADC4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CCB590-E5BD-4AA2-BDC3-280A70356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346498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12AE94-21A1-4EBE-A5A8-131A3D8C6A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264F14-09E0-466A-A888-D63A8EC8F4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8EB26F-3CBB-4723-A051-957A026FAF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B2AE17-115E-44DD-BB85-A6941AF7A369}" type="datetime1">
              <a:rPr lang="ru-RU" smtClean="0"/>
              <a:t>31.03.2026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D476C5-257A-4B9E-A8CB-4E370B37C3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07C76A-3A7C-436A-AF34-DF2DA5E83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4095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285F875-DD72-4DC4-B341-AFD9F2621C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D1CC3C-59B8-4399-A3F8-342E1496EE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5FA286-6C9E-4DA4-8B49-B014663BD5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68CB7E-9ACC-42BB-A46C-3291E4570002}" type="datetime1">
              <a:rPr lang="ru-RU" smtClean="0"/>
              <a:t>31.03.2026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E1ED6D-C751-4EFD-A3DA-7390F9FD77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475682-EF44-4A00-A3B6-4CF5ED7F3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881151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F384AB9-7DB0-4EF3-8BF0-3BA42E7212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B3234E-B82A-4AAC-B0D9-04778BA62C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DB06BE-AC98-4682-81AB-EA91CCDAD6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175A1F-A328-4AFF-97F1-69B0AC1874F5}" type="datetime1">
              <a:rPr lang="ru-RU" smtClean="0"/>
              <a:t>31.03.2026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13F399-1978-443D-8A54-1C7438E428D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E86AD1-D5ED-4EF9-89A0-3ABFEAC15E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FDEFA0-FF01-4CA2-B8AA-E5F5B71BEE8D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700197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  <p:sldLayoutId id="2147483687" r:id="rId2"/>
    <p:sldLayoutId id="2147483688" r:id="rId3"/>
    <p:sldLayoutId id="2147483689" r:id="rId4"/>
    <p:sldLayoutId id="2147483690" r:id="rId5"/>
    <p:sldLayoutId id="2147483691" r:id="rId6"/>
    <p:sldLayoutId id="2147483692" r:id="rId7"/>
    <p:sldLayoutId id="2147483693" r:id="rId8"/>
    <p:sldLayoutId id="2147483694" r:id="rId9"/>
    <p:sldLayoutId id="2147483695" r:id="rId10"/>
    <p:sldLayoutId id="2147483696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Relationship Id="rId5" Type="http://schemas.openxmlformats.org/officeDocument/2006/relationships/image" Target="../media/image1.png"/><Relationship Id="rId4" Type="http://schemas.openxmlformats.org/officeDocument/2006/relationships/hyperlink" Target="http://en.cppreference.com/w/cpp/string/basic_string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://en.cppreference.com/w/cpp/string/basic_string_view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en.cppreference.com/w/cpp/container/array" TargetMode="Externa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xM1EcGTMz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vEcrGMxh8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.xml"/><Relationship Id="rId5" Type="http://schemas.openxmlformats.org/officeDocument/2006/relationships/image" Target="../media/image5.png"/><Relationship Id="rId4" Type="http://schemas.openxmlformats.org/officeDocument/2006/relationships/hyperlink" Target="https://en.cppreference.com/w/cpp/container/vector" TargetMode="Externa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quick-bench.com/q/i29UtpPOU0KqnZz1y9SLl7tWFt4" TargetMode="Externa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.xml"/><Relationship Id="rId5" Type="http://schemas.openxmlformats.org/officeDocument/2006/relationships/image" Target="../media/image6.png"/><Relationship Id="rId4" Type="http://schemas.openxmlformats.org/officeDocument/2006/relationships/hyperlink" Target="https://en.cppreference.com/w/cpp/container/deque" TargetMode="Externa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9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.xml"/><Relationship Id="rId5" Type="http://schemas.openxmlformats.org/officeDocument/2006/relationships/image" Target="../media/image7.png"/><Relationship Id="rId4" Type="http://schemas.openxmlformats.org/officeDocument/2006/relationships/hyperlink" Target="https://en.cppreference.com/w/cpp/container/list" TargetMode="Externa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nET1j77co" TargetMode="External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8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quick-bench.com/q/W1if_qgPSZ7neHLRNylHrAwpvOs" TargetMode="External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3.xml"/><Relationship Id="rId7" Type="http://schemas.openxmlformats.org/officeDocument/2006/relationships/image" Target="../media/image12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9.xml"/><Relationship Id="rId6" Type="http://schemas.openxmlformats.org/officeDocument/2006/relationships/image" Target="../media/image11.png"/><Relationship Id="rId5" Type="http://schemas.openxmlformats.org/officeDocument/2006/relationships/hyperlink" Target="https://en.cppreference.com/w/cpp/container/multimap/" TargetMode="External"/><Relationship Id="rId4" Type="http://schemas.openxmlformats.org/officeDocument/2006/relationships/hyperlink" Target="https://en.cppreference.com/w/cpp/container/map" TargetMode="Externa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8saaMMn4v" TargetMode="External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4.png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8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0.xml"/><Relationship Id="rId6" Type="http://schemas.openxmlformats.org/officeDocument/2006/relationships/image" Target="../media/image15.png"/><Relationship Id="rId5" Type="http://schemas.openxmlformats.org/officeDocument/2006/relationships/hyperlink" Target="https://en.cppreference.com/w/cpp/container/unordered_multimap" TargetMode="External"/><Relationship Id="rId4" Type="http://schemas.openxmlformats.org/officeDocument/2006/relationships/hyperlink" Target="https://en.cppreference.com/w/cpp/container/unordered_map" TargetMode="Externa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godbolt.org/z/oYrf4hhv1" TargetMode="Externa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1.xml"/><Relationship Id="rId7" Type="http://schemas.openxmlformats.org/officeDocument/2006/relationships/image" Target="../media/image19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1.xml"/><Relationship Id="rId6" Type="http://schemas.openxmlformats.org/officeDocument/2006/relationships/image" Target="../media/image18.png"/><Relationship Id="rId5" Type="http://schemas.openxmlformats.org/officeDocument/2006/relationships/hyperlink" Target="https://en.cppreference.com/w/cpp/container/multiset" TargetMode="External"/><Relationship Id="rId4" Type="http://schemas.openxmlformats.org/officeDocument/2006/relationships/hyperlink" Target="https://en.cppreference.com/w/cpp/container/set" TargetMode="Externa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hyperlink" Target="https://en.cppreference.com/w/cpp/utility/functional/function" TargetMode="Externa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cppinsights.io/s/6c5bdd4c" TargetMode="Externa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hyperlink" Target="https://cppinsights.io/s/89499d9b" TargetMode="Externa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hyperlink" Target="https://cppinsights.io/s/4264e60a" TargetMode="Externa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hyperlink" Target="https://en.cppreference.com/w/cpp/io/manip" TargetMode="External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hyperlink" Target="https://en.cppreference.com/w/cpp/io/c/FILE#Binary_and_text_modes" TargetMode="Externa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hyperlink" Target="https://en.cppreference.com/w/cpp/named_req/OutputIterator" TargetMode="External"/><Relationship Id="rId7" Type="http://schemas.openxmlformats.org/officeDocument/2006/relationships/hyperlink" Target="https://en.cppreference.com/w/cpp/named_req/ContiguousIterator" TargetMode="External"/><Relationship Id="rId2" Type="http://schemas.openxmlformats.org/officeDocument/2006/relationships/hyperlink" Target="https://en.cppreference.com/w/cpp/named_req/InputIterator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en.cppreference.com/w/cpp/named_req/RandomAccessIterator" TargetMode="External"/><Relationship Id="rId5" Type="http://schemas.openxmlformats.org/officeDocument/2006/relationships/hyperlink" Target="https://en.cppreference.com/w/cpp/named_req/BidirectionalIterator" TargetMode="External"/><Relationship Id="rId4" Type="http://schemas.openxmlformats.org/officeDocument/2006/relationships/hyperlink" Target="https://en.cppreference.com/w/cpp/named_req/ForwardIterator" TargetMode="Externa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cppreference.com/w/cpp/language/range-for" TargetMode="External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3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9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3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Gzs9159Tj" TargetMode="External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6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hyperlink" Target="https://godbolt.org/z/fjardsE1T" TargetMode="External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6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2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14.xml"/><Relationship Id="rId4" Type="http://schemas.openxmlformats.org/officeDocument/2006/relationships/hyperlink" Target="https://godbolt.org/z/nYMfx1r6n" TargetMode="Externa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hyperlink" Target="https://godbolt.org/z/Wb9jj9zYK" TargetMode="External"/><Relationship Id="rId1" Type="http://schemas.openxmlformats.org/officeDocument/2006/relationships/slideLayout" Target="../slideLayouts/slideLayout6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hyperlink" Target="https://godbolt.org/z/T8c7Ee1q7" TargetMode="External"/><Relationship Id="rId1" Type="http://schemas.openxmlformats.org/officeDocument/2006/relationships/slideLayout" Target="../slideLayouts/slideLayout6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6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6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6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7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7.xm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hyperlink" Target="https://wandbox.org/permlink/MSu4VTL6jHwk4vfN" TargetMode="External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8.png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hyperlink" Target="https://en.cppreference.com/w/cpp/utility/optional" TargetMode="External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7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3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7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6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77CAD62A-E4D8-4B1B-9985-B57FC37A67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83432" y="1122363"/>
            <a:ext cx="10225136" cy="2387600"/>
          </a:xfrm>
        </p:spPr>
        <p:txBody>
          <a:bodyPr>
            <a:normAutofit/>
          </a:bodyPr>
          <a:lstStyle/>
          <a:p>
            <a:r>
              <a:rPr lang="ru-RU" dirty="0"/>
              <a:t>Стандартная библиотека</a:t>
            </a:r>
            <a:r>
              <a:rPr lang="en-US" dirty="0"/>
              <a:t> C++</a:t>
            </a:r>
            <a:endParaRPr lang="ru-RU" dirty="0"/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F42D1941-9D5E-2886-0D8E-ACB86004995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93312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ru-RU" dirty="0"/>
              <a:t>Стандартная библиотека</a:t>
            </a:r>
            <a:r>
              <a:rPr lang="en-US" dirty="0"/>
              <a:t> C++</a:t>
            </a:r>
            <a:endParaRPr lang="ru-RU" dirty="0"/>
          </a:p>
        </p:txBody>
      </p:sp>
      <p:sp>
        <p:nvSpPr>
          <p:cNvPr id="29699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Стандартизированный набор типов, функций и компонентов,</a:t>
            </a:r>
            <a:br>
              <a:rPr lang="ru-RU" dirty="0"/>
            </a:br>
            <a:r>
              <a:rPr lang="ru-RU" dirty="0"/>
              <a:t>поставляемый вместе с реализацией C++</a:t>
            </a:r>
            <a:endParaRPr lang="en-US" dirty="0"/>
          </a:p>
          <a:p>
            <a:r>
              <a:rPr lang="ru-RU" dirty="0"/>
              <a:t>Основные компоненты</a:t>
            </a:r>
          </a:p>
          <a:p>
            <a:pPr lvl="1"/>
            <a:r>
              <a:rPr lang="ru-RU" dirty="0"/>
              <a:t>Ядро и поддержка языка</a:t>
            </a:r>
            <a:r>
              <a:rPr lang="en-US" dirty="0"/>
              <a:t>: </a:t>
            </a:r>
            <a:r>
              <a:rPr lang="ru-RU" dirty="0"/>
              <a:t>исключения</a:t>
            </a:r>
            <a:r>
              <a:rPr lang="en-US" dirty="0"/>
              <a:t>, RTTI, </a:t>
            </a:r>
            <a:r>
              <a:rPr lang="ru-RU" dirty="0"/>
              <a:t>операции сравнения, …</a:t>
            </a:r>
          </a:p>
          <a:p>
            <a:pPr lvl="1"/>
            <a:r>
              <a:rPr lang="ru-RU" dirty="0"/>
              <a:t>Контейнеры: </a:t>
            </a:r>
            <a:r>
              <a:rPr lang="en-US" dirty="0"/>
              <a:t>string, vector, array, map, deque, set, </a:t>
            </a:r>
            <a:r>
              <a:rPr lang="en-US" dirty="0" err="1"/>
              <a:t>unordered_map</a:t>
            </a:r>
            <a:r>
              <a:rPr lang="en-US" dirty="0"/>
              <a:t>,</a:t>
            </a:r>
            <a:r>
              <a:rPr lang="ru-RU" dirty="0"/>
              <a:t> </a:t>
            </a:r>
            <a:r>
              <a:rPr lang="en-US" dirty="0"/>
              <a:t>list</a:t>
            </a:r>
            <a:r>
              <a:rPr lang="ru-RU" dirty="0"/>
              <a:t>, …</a:t>
            </a:r>
          </a:p>
          <a:p>
            <a:pPr lvl="1"/>
            <a:r>
              <a:rPr lang="ru-RU" dirty="0"/>
              <a:t>Алгоритмы: сортировка, поиск, преобразования</a:t>
            </a:r>
          </a:p>
          <a:p>
            <a:pPr lvl="1"/>
            <a:r>
              <a:rPr lang="ru-RU" dirty="0"/>
              <a:t>Конкурентность и параллелизм: потоки, </a:t>
            </a:r>
            <a:r>
              <a:rPr lang="en-US" dirty="0"/>
              <a:t>mutex, async</a:t>
            </a:r>
            <a:r>
              <a:rPr lang="ru-RU" dirty="0"/>
              <a:t>, …</a:t>
            </a:r>
            <a:endParaRPr lang="en-US" dirty="0"/>
          </a:p>
          <a:p>
            <a:pPr lvl="1"/>
            <a:r>
              <a:rPr lang="ru-RU" dirty="0"/>
              <a:t>Управление памятью: умные указатели (</a:t>
            </a:r>
            <a:r>
              <a:rPr lang="en-US" dirty="0" err="1"/>
              <a:t>unique_ptr</a:t>
            </a:r>
            <a:r>
              <a:rPr lang="en-US" dirty="0"/>
              <a:t>, </a:t>
            </a:r>
            <a:r>
              <a:rPr lang="en-US" dirty="0" err="1"/>
              <a:t>shared_ptr</a:t>
            </a:r>
            <a:r>
              <a:rPr lang="en-US" dirty="0"/>
              <a:t>)</a:t>
            </a:r>
          </a:p>
          <a:p>
            <a:pPr lvl="1"/>
            <a:r>
              <a:rPr lang="ru-RU" dirty="0"/>
              <a:t>Ввод-вывод: потоки (</a:t>
            </a:r>
            <a:r>
              <a:rPr lang="en-US" dirty="0"/>
              <a:t>iostream)</a:t>
            </a:r>
            <a:r>
              <a:rPr lang="ru-RU" dirty="0"/>
              <a:t>, файловая система (</a:t>
            </a:r>
            <a:r>
              <a:rPr lang="en-US" dirty="0"/>
              <a:t>filesystem)</a:t>
            </a:r>
          </a:p>
          <a:p>
            <a:pPr lvl="1"/>
            <a:r>
              <a:rPr lang="ru-RU" dirty="0"/>
              <a:t>Числа и время: &lt;</a:t>
            </a:r>
            <a:r>
              <a:rPr lang="en-US" dirty="0" err="1"/>
              <a:t>cmath</a:t>
            </a:r>
            <a:r>
              <a:rPr lang="en-US" dirty="0"/>
              <a:t>&gt;, &lt;complex&gt;, &lt;random&gt;</a:t>
            </a:r>
            <a:r>
              <a:rPr lang="ru-RU" dirty="0"/>
              <a:t>, </a:t>
            </a:r>
            <a:r>
              <a:rPr lang="en-US" dirty="0"/>
              <a:t>&lt;chrono&gt;</a:t>
            </a:r>
          </a:p>
          <a:p>
            <a:endParaRPr lang="ru-RU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28346B9-A176-AD9B-3516-76605791F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2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1942084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dirty="0"/>
              <a:t>Контейнеры стандартной библиотеки</a:t>
            </a:r>
          </a:p>
        </p:txBody>
      </p:sp>
      <p:sp>
        <p:nvSpPr>
          <p:cNvPr id="30723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ru-RU" b="1" dirty="0"/>
              <a:t>Что такое контейнер</a:t>
            </a:r>
          </a:p>
          <a:p>
            <a:pPr lvl="1"/>
            <a:r>
              <a:rPr lang="ru-RU" dirty="0"/>
              <a:t>Класс для хранения набора элементов одного типа</a:t>
            </a:r>
          </a:p>
          <a:p>
            <a:r>
              <a:rPr lang="ru-RU" b="1" dirty="0"/>
              <a:t>Последовательные контейнеры</a:t>
            </a:r>
            <a:endParaRPr lang="ru-RU" dirty="0"/>
          </a:p>
          <a:p>
            <a:pPr lvl="1"/>
            <a:r>
              <a:rPr lang="en-US" dirty="0"/>
              <a:t>vector</a:t>
            </a:r>
          </a:p>
          <a:p>
            <a:pPr lvl="1"/>
            <a:r>
              <a:rPr lang="en-US" dirty="0"/>
              <a:t>array</a:t>
            </a:r>
          </a:p>
          <a:p>
            <a:pPr lvl="1"/>
            <a:r>
              <a:rPr lang="en-US" dirty="0"/>
              <a:t>deque</a:t>
            </a:r>
          </a:p>
          <a:p>
            <a:pPr lvl="1"/>
            <a:r>
              <a:rPr lang="en-US" dirty="0"/>
              <a:t>list</a:t>
            </a:r>
          </a:p>
          <a:p>
            <a:pPr lvl="1"/>
            <a:r>
              <a:rPr lang="en-US" dirty="0" err="1"/>
              <a:t>forward_list</a:t>
            </a:r>
            <a:endParaRPr lang="en-US" dirty="0"/>
          </a:p>
          <a:p>
            <a:r>
              <a:rPr lang="ru-RU" b="1" dirty="0"/>
              <a:t>Ассоциативные контейнеры</a:t>
            </a:r>
            <a:endParaRPr lang="ru-RU" dirty="0"/>
          </a:p>
          <a:p>
            <a:pPr lvl="1"/>
            <a:r>
              <a:rPr lang="en-US" dirty="0"/>
              <a:t>set, map</a:t>
            </a:r>
          </a:p>
          <a:p>
            <a:pPr lvl="1"/>
            <a:r>
              <a:rPr lang="en-US" dirty="0"/>
              <a:t>multiset, multimap</a:t>
            </a:r>
          </a:p>
          <a:p>
            <a:pPr lvl="1"/>
            <a:r>
              <a:rPr lang="en-US" dirty="0" err="1"/>
              <a:t>unordered_set</a:t>
            </a:r>
            <a:r>
              <a:rPr lang="en-US" dirty="0"/>
              <a:t>, </a:t>
            </a:r>
            <a:r>
              <a:rPr lang="en-US" dirty="0" err="1"/>
              <a:t>unordered_map</a:t>
            </a:r>
            <a:endParaRPr lang="ru-RU" dirty="0"/>
          </a:p>
          <a:p>
            <a:r>
              <a:rPr lang="ru-RU" b="1" dirty="0"/>
              <a:t>Особенности</a:t>
            </a:r>
          </a:p>
          <a:p>
            <a:pPr lvl="1"/>
            <a:r>
              <a:rPr lang="ru-RU" dirty="0"/>
              <a:t>Обобщённые (шаблонные) классы</a:t>
            </a:r>
          </a:p>
          <a:p>
            <a:pPr lvl="1"/>
            <a:r>
              <a:rPr lang="ru-RU" dirty="0"/>
              <a:t>Работают с элементами любого типа</a:t>
            </a:r>
          </a:p>
          <a:p>
            <a:pPr lvl="1"/>
            <a:r>
              <a:rPr lang="ru-RU" dirty="0"/>
              <a:t>Предоставляют единый интерфейс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EC5172D-B5B3-EE2D-76A6-7388A15448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3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7152821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dirty="0"/>
              <a:t>Основные контейнеры стандартной библиотеки</a:t>
            </a:r>
          </a:p>
        </p:txBody>
      </p:sp>
      <p:sp>
        <p:nvSpPr>
          <p:cNvPr id="31747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Последовательные контейнеры</a:t>
            </a:r>
          </a:p>
          <a:p>
            <a:pPr lvl="1"/>
            <a:r>
              <a:rPr lang="en-US" b="1" dirty="0"/>
              <a:t>vector</a:t>
            </a:r>
            <a:r>
              <a:rPr lang="en-US" dirty="0"/>
              <a:t> — </a:t>
            </a:r>
            <a:r>
              <a:rPr lang="ru-RU" dirty="0"/>
              <a:t>динамический массив</a:t>
            </a:r>
          </a:p>
          <a:p>
            <a:pPr lvl="1"/>
            <a:r>
              <a:rPr lang="en-US" dirty="0"/>
              <a:t>deque — </a:t>
            </a:r>
            <a:r>
              <a:rPr lang="ru-RU" dirty="0"/>
              <a:t>двусторонняя очередь</a:t>
            </a:r>
          </a:p>
          <a:p>
            <a:pPr lvl="1"/>
            <a:r>
              <a:rPr lang="en-US" dirty="0"/>
              <a:t>list — </a:t>
            </a:r>
            <a:r>
              <a:rPr lang="ru-RU" dirty="0"/>
              <a:t>двусвязный список</a:t>
            </a:r>
          </a:p>
          <a:p>
            <a:pPr lvl="1"/>
            <a:r>
              <a:rPr lang="en-US" dirty="0" err="1"/>
              <a:t>forward_list</a:t>
            </a:r>
            <a:r>
              <a:rPr lang="en-US" dirty="0"/>
              <a:t> — </a:t>
            </a:r>
            <a:r>
              <a:rPr lang="ru-RU" dirty="0"/>
              <a:t>односвязный список</a:t>
            </a:r>
          </a:p>
          <a:p>
            <a:pPr lvl="1"/>
            <a:r>
              <a:rPr lang="en-US" dirty="0"/>
              <a:t>string (</a:t>
            </a:r>
            <a:r>
              <a:rPr lang="en-US" dirty="0" err="1"/>
              <a:t>basic_string</a:t>
            </a:r>
            <a:r>
              <a:rPr lang="en-US" dirty="0"/>
              <a:t>) — </a:t>
            </a:r>
            <a:r>
              <a:rPr lang="ru-RU" dirty="0"/>
              <a:t>строка</a:t>
            </a:r>
          </a:p>
          <a:p>
            <a:r>
              <a:rPr lang="ru-RU" dirty="0"/>
              <a:t>Ассоциативные контейнеры</a:t>
            </a:r>
          </a:p>
          <a:p>
            <a:pPr lvl="1"/>
            <a:r>
              <a:rPr lang="ru-RU" dirty="0"/>
              <a:t>Упорядоченные (на основе дерева)</a:t>
            </a:r>
          </a:p>
          <a:p>
            <a:pPr lvl="2"/>
            <a:r>
              <a:rPr lang="en-US" b="1" dirty="0"/>
              <a:t>map</a:t>
            </a:r>
            <a:r>
              <a:rPr lang="en-US" dirty="0"/>
              <a:t>, multimap</a:t>
            </a:r>
          </a:p>
          <a:p>
            <a:pPr lvl="2"/>
            <a:r>
              <a:rPr lang="en-US" dirty="0"/>
              <a:t>set, multiset</a:t>
            </a:r>
          </a:p>
          <a:p>
            <a:pPr lvl="1"/>
            <a:r>
              <a:rPr lang="ru-RU" dirty="0"/>
              <a:t>Неупорядоченные (</a:t>
            </a:r>
            <a:r>
              <a:rPr lang="en-US" dirty="0"/>
              <a:t>hash-</a:t>
            </a:r>
            <a:r>
              <a:rPr lang="ru-RU" dirty="0"/>
              <a:t>таблицы)</a:t>
            </a:r>
          </a:p>
          <a:p>
            <a:pPr lvl="2"/>
            <a:r>
              <a:rPr lang="en-US" b="1" dirty="0" err="1"/>
              <a:t>unordered_map</a:t>
            </a:r>
            <a:r>
              <a:rPr lang="en-US" dirty="0"/>
              <a:t>, </a:t>
            </a:r>
            <a:r>
              <a:rPr lang="en-US" dirty="0" err="1"/>
              <a:t>unordered_multimap</a:t>
            </a:r>
            <a:endParaRPr lang="en-US" dirty="0"/>
          </a:p>
          <a:p>
            <a:pPr lvl="2"/>
            <a:r>
              <a:rPr lang="en-US" dirty="0" err="1"/>
              <a:t>unordered_set</a:t>
            </a:r>
            <a:r>
              <a:rPr lang="en-US" dirty="0"/>
              <a:t>, </a:t>
            </a:r>
            <a:r>
              <a:rPr lang="en-US" dirty="0" err="1"/>
              <a:t>unordered_multiset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4F7C275-CF1E-BE44-3E6E-E5702A18D6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4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3191477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3907A938-AEA6-A728-E3AC-CBCECDBB4C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std::string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F082D4E0-CA4D-6477-BF35-1F9D5D21AA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B36C9CC-AD88-38E6-350D-0F0A72902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42313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dirty="0"/>
              <a:t>Строка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  <a:hlinkClick r:id="rId4"/>
              </a:rPr>
              <a:t>std::string</a:t>
            </a:r>
            <a:endParaRPr lang="ru-RU" dirty="0">
              <a:solidFill>
                <a:srgbClr val="FF0000"/>
              </a:solidFill>
            </a:endParaRPr>
          </a:p>
        </p:txBody>
      </p:sp>
      <p:sp>
        <p:nvSpPr>
          <p:cNvPr id="32771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std::string — </a:t>
            </a:r>
            <a:r>
              <a:rPr lang="ru-RU" dirty="0"/>
              <a:t>класс стандартной библиотеки для хранения и обработки строк произвольной длины</a:t>
            </a:r>
          </a:p>
          <a:p>
            <a:r>
              <a:rPr lang="ru-RU" dirty="0"/>
              <a:t>Основан на шаблоне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std::</a:t>
            </a:r>
            <a:r>
              <a:rPr lang="en-US" dirty="0" err="1">
                <a:latin typeface="Consolas" panose="020B0609020204030204" pitchFamily="49" charset="0"/>
              </a:rPr>
              <a:t>basic_string</a:t>
            </a:r>
            <a:r>
              <a:rPr lang="en-US" dirty="0">
                <a:latin typeface="Consolas" panose="020B0609020204030204" pitchFamily="49" charset="0"/>
              </a:rPr>
              <a:t>&lt;</a:t>
            </a:r>
            <a:r>
              <a:rPr lang="en-US" dirty="0" err="1">
                <a:latin typeface="Consolas" panose="020B0609020204030204" pitchFamily="49" charset="0"/>
              </a:rPr>
              <a:t>CharT</a:t>
            </a:r>
            <a:r>
              <a:rPr lang="en-US" dirty="0">
                <a:latin typeface="Consolas" panose="020B0609020204030204" pitchFamily="49" charset="0"/>
              </a:rPr>
              <a:t>&gt;</a:t>
            </a:r>
          </a:p>
          <a:p>
            <a:pPr lvl="1"/>
            <a:r>
              <a:rPr lang="ru-RU" dirty="0"/>
              <a:t>Основные варианты:</a:t>
            </a:r>
          </a:p>
          <a:p>
            <a:pPr lvl="2"/>
            <a:r>
              <a:rPr lang="en-US" dirty="0"/>
              <a:t>std::string — char</a:t>
            </a:r>
          </a:p>
          <a:p>
            <a:pPr lvl="2"/>
            <a:r>
              <a:rPr lang="en-US" dirty="0"/>
              <a:t>std::</a:t>
            </a:r>
            <a:r>
              <a:rPr lang="en-US" dirty="0" err="1"/>
              <a:t>wstring</a:t>
            </a:r>
            <a:r>
              <a:rPr lang="en-US" dirty="0"/>
              <a:t> — </a:t>
            </a:r>
            <a:r>
              <a:rPr lang="en-US" dirty="0" err="1"/>
              <a:t>wchar_t</a:t>
            </a:r>
            <a:endParaRPr lang="en-US" dirty="0"/>
          </a:p>
          <a:p>
            <a:r>
              <a:rPr lang="ru-RU" dirty="0"/>
              <a:t>Преимущества</a:t>
            </a:r>
          </a:p>
          <a:p>
            <a:pPr lvl="1"/>
            <a:r>
              <a:rPr lang="ru-RU" dirty="0"/>
              <a:t>Автоматическое управление памятью</a:t>
            </a:r>
          </a:p>
          <a:p>
            <a:pPr lvl="1"/>
            <a:r>
              <a:rPr lang="ru-RU" dirty="0"/>
              <a:t>Динамический размер</a:t>
            </a:r>
          </a:p>
          <a:p>
            <a:pPr lvl="1"/>
            <a:r>
              <a:rPr lang="ru-RU" dirty="0"/>
              <a:t>Богатый набор операций</a:t>
            </a:r>
          </a:p>
          <a:p>
            <a:r>
              <a:rPr lang="ru-RU" dirty="0"/>
              <a:t>Подключение</a:t>
            </a:r>
          </a:p>
          <a:p>
            <a:pPr lvl="1"/>
            <a:r>
              <a:rPr lang="ru-RU" dirty="0"/>
              <a:t>#</a:t>
            </a:r>
            <a:r>
              <a:rPr lang="en-US" dirty="0"/>
              <a:t>include &lt;string&gt;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0AC5BBA-E8F1-D951-0EFB-95BD333B9E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84432" y="4722557"/>
            <a:ext cx="2041245" cy="2059579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FC9733-CE63-022E-0A47-146993D8A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6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6655332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FAC67B32-D8F7-7E2A-29F5-70C9C494A6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Внутреннее устройство </a:t>
            </a:r>
            <a:r>
              <a:rPr lang="en-US" dirty="0"/>
              <a:t>string*</a:t>
            </a:r>
            <a:endParaRPr lang="ru-RU" dirty="0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8EDB4E74-030B-CFBC-2A39-1F38A6CBE00D}"/>
              </a:ext>
            </a:extLst>
          </p:cNvPr>
          <p:cNvSpPr/>
          <p:nvPr/>
        </p:nvSpPr>
        <p:spPr>
          <a:xfrm>
            <a:off x="5591944" y="2603105"/>
            <a:ext cx="5112568" cy="43204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2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Hello, world</a:t>
            </a:r>
            <a:r>
              <a:rPr lang="en-US" sz="2400" dirty="0">
                <a:solidFill>
                  <a:schemeClr val="tx1"/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\0</a:t>
            </a:r>
            <a:endParaRPr lang="ru-RU" sz="1600" dirty="0">
              <a:solidFill>
                <a:schemeClr val="tx1"/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24997A7F-6D45-866B-D32F-F1271D787194}"/>
              </a:ext>
            </a:extLst>
          </p:cNvPr>
          <p:cNvSpPr/>
          <p:nvPr/>
        </p:nvSpPr>
        <p:spPr>
          <a:xfrm>
            <a:off x="1343472" y="2207061"/>
            <a:ext cx="2376264" cy="165618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ru-RU">
              <a:solidFill>
                <a:schemeClr val="tx1"/>
              </a:solidFill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A24D587C-837F-C7D0-E933-934760EA65B0}"/>
              </a:ext>
            </a:extLst>
          </p:cNvPr>
          <p:cNvSpPr/>
          <p:nvPr/>
        </p:nvSpPr>
        <p:spPr>
          <a:xfrm>
            <a:off x="1489748" y="2816412"/>
            <a:ext cx="2079848" cy="43204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data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59E10E48-70F2-7ABA-E389-CF6B2B1CA756}"/>
              </a:ext>
            </a:extLst>
          </p:cNvPr>
          <p:cNvSpPr/>
          <p:nvPr/>
        </p:nvSpPr>
        <p:spPr>
          <a:xfrm>
            <a:off x="1489748" y="3331800"/>
            <a:ext cx="2079848" cy="43204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size: 12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919CE81B-92E0-E531-2C14-1B1B7B5793E8}"/>
              </a:ext>
            </a:extLst>
          </p:cNvPr>
          <p:cNvSpPr/>
          <p:nvPr/>
        </p:nvSpPr>
        <p:spPr>
          <a:xfrm>
            <a:off x="1476314" y="2301024"/>
            <a:ext cx="2079848" cy="43204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capacity</a:t>
            </a:r>
            <a:r>
              <a:rPr lang="en-US">
                <a:solidFill>
                  <a:schemeClr val="tx1"/>
                </a:solidFill>
              </a:rPr>
              <a:t>: 20</a:t>
            </a:r>
            <a:endParaRPr lang="ru-RU" dirty="0">
              <a:solidFill>
                <a:schemeClr val="tx1"/>
              </a:solidFill>
            </a:endParaRPr>
          </a:p>
        </p:txBody>
      </p:sp>
      <p:cxnSp>
        <p:nvCxnSpPr>
          <p:cNvPr id="11" name="Прямая со стрелкой 10">
            <a:extLst>
              <a:ext uri="{FF2B5EF4-FFF2-40B4-BE49-F238E27FC236}">
                <a16:creationId xmlns:a16="http://schemas.microsoft.com/office/drawing/2014/main" id="{BFE61396-C437-3AC3-3CF9-724BE45F0FC7}"/>
              </a:ext>
            </a:extLst>
          </p:cNvPr>
          <p:cNvCxnSpPr>
            <a:cxnSpLocks/>
            <a:endCxn id="5" idx="1"/>
          </p:cNvCxnSpPr>
          <p:nvPr/>
        </p:nvCxnSpPr>
        <p:spPr>
          <a:xfrm flipV="1">
            <a:off x="3569596" y="2819129"/>
            <a:ext cx="2022348" cy="19752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Левая фигурная скобка 13">
            <a:extLst>
              <a:ext uri="{FF2B5EF4-FFF2-40B4-BE49-F238E27FC236}">
                <a16:creationId xmlns:a16="http://schemas.microsoft.com/office/drawing/2014/main" id="{83B1B691-3B5B-1209-6EF0-A4F06876767C}"/>
              </a:ext>
            </a:extLst>
          </p:cNvPr>
          <p:cNvSpPr/>
          <p:nvPr/>
        </p:nvSpPr>
        <p:spPr>
          <a:xfrm rot="16200000">
            <a:off x="6796627" y="2001413"/>
            <a:ext cx="517154" cy="2690104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44574BD-3421-5E93-8CBB-85C93A8A1127}"/>
              </a:ext>
            </a:extLst>
          </p:cNvPr>
          <p:cNvSpPr txBox="1"/>
          <p:nvPr/>
        </p:nvSpPr>
        <p:spPr>
          <a:xfrm>
            <a:off x="5710152" y="3605041"/>
            <a:ext cx="22490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size</a:t>
            </a:r>
            <a:endParaRPr lang="ru-RU" sz="2400" dirty="0"/>
          </a:p>
        </p:txBody>
      </p:sp>
      <p:sp>
        <p:nvSpPr>
          <p:cNvPr id="16" name="Левая фигурная скобка 15">
            <a:extLst>
              <a:ext uri="{FF2B5EF4-FFF2-40B4-BE49-F238E27FC236}">
                <a16:creationId xmlns:a16="http://schemas.microsoft.com/office/drawing/2014/main" id="{CC8CB6FA-ADDF-EDFE-C25D-7568209A0A3B}"/>
              </a:ext>
            </a:extLst>
          </p:cNvPr>
          <p:cNvSpPr/>
          <p:nvPr/>
        </p:nvSpPr>
        <p:spPr>
          <a:xfrm rot="16200000">
            <a:off x="7948755" y="1768889"/>
            <a:ext cx="517154" cy="4994360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BE00D5D-4E5C-6137-3C49-DBDF754BEB96}"/>
              </a:ext>
            </a:extLst>
          </p:cNvPr>
          <p:cNvSpPr txBox="1"/>
          <p:nvPr/>
        </p:nvSpPr>
        <p:spPr>
          <a:xfrm>
            <a:off x="6974809" y="4536626"/>
            <a:ext cx="22490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capacity</a:t>
            </a:r>
            <a:endParaRPr lang="ru-RU" sz="24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C4E0AAF-E595-3533-D417-3E8EA282433B}"/>
              </a:ext>
            </a:extLst>
          </p:cNvPr>
          <p:cNvSpPr txBox="1"/>
          <p:nvPr/>
        </p:nvSpPr>
        <p:spPr>
          <a:xfrm>
            <a:off x="4511824" y="6086024"/>
            <a:ext cx="7680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* </a:t>
            </a:r>
            <a:r>
              <a:rPr lang="ru-RU" dirty="0"/>
              <a:t>На практике всё устроено гораздо сложнее (</a:t>
            </a:r>
            <a:r>
              <a:rPr lang="en-US" dirty="0"/>
              <a:t>Small String Optimization)</a:t>
            </a:r>
            <a:endParaRPr lang="ru-RU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74B5D88-0019-0756-BCCF-555D7855FC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502558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Создание строки</a:t>
            </a:r>
          </a:p>
        </p:txBody>
      </p:sp>
      <p:sp>
        <p:nvSpPr>
          <p:cNvPr id="4" name="Rectangle 3"/>
          <p:cNvSpPr/>
          <p:nvPr/>
        </p:nvSpPr>
        <p:spPr>
          <a:xfrm>
            <a:off x="1524000" y="1772817"/>
            <a:ext cx="9144000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ru-RU" sz="2400" dirty="0"/>
          </a:p>
        </p:txBody>
      </p:sp>
      <p:sp>
        <p:nvSpPr>
          <p:cNvPr id="5" name="Rectangle 4"/>
          <p:cNvSpPr/>
          <p:nvPr/>
        </p:nvSpPr>
        <p:spPr>
          <a:xfrm>
            <a:off x="838200" y="1988840"/>
            <a:ext cx="10515600" cy="41549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using namespace std::literals;</a:t>
            </a:r>
          </a:p>
          <a:p>
            <a:endParaRPr lang="en-US" sz="2400" dirty="0">
              <a:solidFill>
                <a:srgbClr val="0000FF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std::string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80"/>
                </a:solidFill>
                <a:latin typeface="Consolas" panose="020B0609020204030204" pitchFamily="49" charset="0"/>
              </a:rPr>
              <a:t>emptyString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std::string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hello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"Hello"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goodbye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err="1">
                <a:solidFill>
                  <a:srgbClr val="A31515"/>
                </a:solidFill>
                <a:latin typeface="Consolas" panose="020B0609020204030204" pitchFamily="49" charset="0"/>
              </a:rPr>
              <a:t>Goodbye"s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// using namespace std::literals</a:t>
            </a:r>
          </a:p>
          <a:p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chars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[] = {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'O'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'n'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'e'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</a:p>
          <a:p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// Создание строки из массива символов заданной длины</a:t>
            </a:r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std::string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one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chars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std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sz="2400" dirty="0">
                <a:solidFill>
                  <a:srgbClr val="880000"/>
                </a:solidFill>
                <a:latin typeface="Consolas" panose="020B0609020204030204" pitchFamily="49" charset="0"/>
              </a:rPr>
              <a:t>size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chars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)); 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// One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std::string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80"/>
                </a:solidFill>
                <a:latin typeface="Consolas" panose="020B0609020204030204" pitchFamily="49" charset="0"/>
              </a:rPr>
              <a:t>aaaa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(4,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'a'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); 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en-US" sz="2400" dirty="0" err="1">
                <a:solidFill>
                  <a:srgbClr val="008000"/>
                </a:solidFill>
                <a:latin typeface="Consolas" panose="020B0609020204030204" pitchFamily="49" charset="0"/>
              </a:rPr>
              <a:t>aaaa</a:t>
            </a:r>
            <a:endParaRPr lang="ru-RU" sz="24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20FA4-B2DB-5AC3-3DA9-769E8C1AF9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589079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Размер и вместимость</a:t>
            </a:r>
          </a:p>
        </p:txBody>
      </p:sp>
      <p:sp>
        <p:nvSpPr>
          <p:cNvPr id="3" name="Rectangle 2"/>
          <p:cNvSpPr/>
          <p:nvPr/>
        </p:nvSpPr>
        <p:spPr>
          <a:xfrm>
            <a:off x="1531243" y="1403462"/>
            <a:ext cx="8928992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000080"/>
                </a:solidFill>
                <a:latin typeface="Consolas" panose="020B0609020204030204" pitchFamily="49" charset="0"/>
              </a:rPr>
              <a:t>text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200" dirty="0">
                <a:solidFill>
                  <a:srgbClr val="A31515"/>
                </a:solidFill>
                <a:latin typeface="Consolas" panose="020B0609020204030204" pitchFamily="49" charset="0"/>
              </a:rPr>
              <a:t>"This is a very long </a:t>
            </a:r>
            <a:r>
              <a:rPr lang="en-US" sz="2200" dirty="0" err="1">
                <a:solidFill>
                  <a:srgbClr val="A31515"/>
                </a:solidFill>
                <a:latin typeface="Consolas" panose="020B0609020204030204" pitchFamily="49" charset="0"/>
              </a:rPr>
              <a:t>string"s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text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length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() == 26);</a:t>
            </a: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text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size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() == 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text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length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());</a:t>
            </a: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text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capacity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() &gt;= 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text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length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());</a:t>
            </a:r>
          </a:p>
          <a:p>
            <a:endParaRPr lang="ru-RU" sz="2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oldCapacity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text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capacity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text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erase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(19, 7); </a:t>
            </a:r>
            <a:r>
              <a:rPr lang="en-US" sz="2200" dirty="0">
                <a:solidFill>
                  <a:srgbClr val="008000"/>
                </a:solidFill>
                <a:latin typeface="Consolas" panose="020B0609020204030204" pitchFamily="49" charset="0"/>
              </a:rPr>
              <a:t>// erase " string"</a:t>
            </a:r>
            <a:endParaRPr lang="en-US" sz="2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000080"/>
                </a:solidFill>
                <a:latin typeface="Consolas" panose="020B0609020204030204" pitchFamily="49" charset="0"/>
              </a:rPr>
              <a:t>text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008080"/>
                </a:solidFill>
                <a:latin typeface="Consolas" panose="020B0609020204030204" pitchFamily="49" charset="0"/>
              </a:rPr>
              <a:t>==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A31515"/>
                </a:solidFill>
                <a:latin typeface="Consolas" panose="020B0609020204030204" pitchFamily="49" charset="0"/>
              </a:rPr>
              <a:t>"This is a very </a:t>
            </a:r>
            <a:r>
              <a:rPr lang="en-US" sz="2200" dirty="0" err="1">
                <a:solidFill>
                  <a:srgbClr val="A31515"/>
                </a:solidFill>
                <a:latin typeface="Consolas" panose="020B0609020204030204" pitchFamily="49" charset="0"/>
              </a:rPr>
              <a:t>long"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s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text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capacity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() == 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oldCapacity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text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length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() == 19);</a:t>
            </a:r>
          </a:p>
          <a:p>
            <a:endParaRPr lang="ru-RU" sz="2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(!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text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empty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());</a:t>
            </a:r>
          </a:p>
          <a:p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text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clear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text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length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() == 0);</a:t>
            </a: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text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empty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());</a:t>
            </a: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text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capacity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() == 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oldCapacity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endParaRPr lang="ru-RU" sz="2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9E4F54-CC46-FEC8-C134-323D59B19C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06705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Сравнение строк</a:t>
            </a:r>
          </a:p>
        </p:txBody>
      </p:sp>
      <p:sp>
        <p:nvSpPr>
          <p:cNvPr id="3" name="Rectangle 2"/>
          <p:cNvSpPr/>
          <p:nvPr/>
        </p:nvSpPr>
        <p:spPr>
          <a:xfrm>
            <a:off x="983432" y="1988840"/>
            <a:ext cx="8759784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i="1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err="1">
                <a:solidFill>
                  <a:srgbClr val="A31515"/>
                </a:solidFill>
                <a:latin typeface="Consolas" panose="020B0609020204030204" pitchFamily="49" charset="0"/>
              </a:rPr>
              <a:t>bbb"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err="1">
                <a:solidFill>
                  <a:srgbClr val="A31515"/>
                </a:solidFill>
                <a:latin typeface="Consolas" panose="020B0609020204030204" pitchFamily="49" charset="0"/>
              </a:rPr>
              <a:t>aaa"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2400" i="1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err="1">
                <a:solidFill>
                  <a:srgbClr val="A31515"/>
                </a:solidFill>
                <a:latin typeface="Consolas" panose="020B0609020204030204" pitchFamily="49" charset="0"/>
              </a:rPr>
              <a:t>xyz"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==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err="1">
                <a:solidFill>
                  <a:srgbClr val="A31515"/>
                </a:solidFill>
                <a:latin typeface="Consolas" panose="020B0609020204030204" pitchFamily="49" charset="0"/>
              </a:rPr>
              <a:t>xyz"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2400" i="1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err="1">
                <a:solidFill>
                  <a:srgbClr val="A31515"/>
                </a:solidFill>
                <a:latin typeface="Consolas" panose="020B0609020204030204" pitchFamily="49" charset="0"/>
              </a:rPr>
              <a:t>Abc"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&gt;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err="1">
                <a:solidFill>
                  <a:srgbClr val="A31515"/>
                </a:solidFill>
                <a:latin typeface="Consolas" panose="020B0609020204030204" pitchFamily="49" charset="0"/>
              </a:rPr>
              <a:t>Abb"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i="1" dirty="0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"Hello"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2400" i="1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"Hello"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8080"/>
                </a:solidFill>
                <a:latin typeface="Consolas" panose="020B0609020204030204" pitchFamily="49" charset="0"/>
              </a:rPr>
              <a:t>==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endParaRPr lang="ru-RU" sz="24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6E9E9E-B2FF-BBC0-BB6A-9061E4E84E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615926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Конкатенация строк</a:t>
            </a:r>
          </a:p>
        </p:txBody>
      </p:sp>
      <p:sp>
        <p:nvSpPr>
          <p:cNvPr id="3" name="Rectangle 2"/>
          <p:cNvSpPr/>
          <p:nvPr/>
        </p:nvSpPr>
        <p:spPr>
          <a:xfrm>
            <a:off x="838200" y="1772816"/>
            <a:ext cx="9578280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hello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"Hello"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world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"world"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80"/>
                </a:solidFill>
                <a:latin typeface="Consolas" panose="020B0609020204030204" pitchFamily="49" charset="0"/>
              </a:rPr>
              <a:t>helloWorld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hello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 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8080"/>
                </a:solidFill>
                <a:latin typeface="Consolas" panose="020B0609020204030204" pitchFamily="49" charset="0"/>
              </a:rPr>
              <a:t>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world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// "Hello world"</a:t>
            </a:r>
            <a:endParaRPr lang="ru-RU" sz="2400" dirty="0">
              <a:solidFill>
                <a:srgbClr val="008000"/>
              </a:solidFill>
              <a:latin typeface="Consolas" panose="020B0609020204030204" pitchFamily="49" charset="0"/>
            </a:endParaRPr>
          </a:p>
          <a:p>
            <a:r>
              <a:rPr lang="en-US" sz="2400" dirty="0" err="1">
                <a:solidFill>
                  <a:srgbClr val="000080"/>
                </a:solidFill>
                <a:latin typeface="Consolas" panose="020B0609020204030204" pitchFamily="49" charset="0"/>
              </a:rPr>
              <a:t>helloWorld</a:t>
            </a:r>
            <a:r>
              <a:rPr lang="ru-RU" sz="2400" dirty="0">
                <a:solidFill>
                  <a:srgbClr val="000080"/>
                </a:solidFill>
                <a:latin typeface="Consolas" panose="020B0609020204030204" pitchFamily="49" charset="0"/>
              </a:rPr>
              <a:t> +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ru-RU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"!"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2400" dirty="0" err="1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880000"/>
                </a:solidFill>
                <a:latin typeface="Consolas" panose="020B0609020204030204" pitchFamily="49" charset="0"/>
              </a:rPr>
              <a:t>append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hello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).</a:t>
            </a:r>
            <a:r>
              <a:rPr lang="en-US" sz="2400" dirty="0">
                <a:solidFill>
                  <a:srgbClr val="880000"/>
                </a:solidFill>
                <a:latin typeface="Consolas" panose="020B0609020204030204" pitchFamily="49" charset="0"/>
              </a:rPr>
              <a:t>append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 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).</a:t>
            </a:r>
            <a:r>
              <a:rPr lang="en-US" sz="2400" dirty="0">
                <a:solidFill>
                  <a:srgbClr val="880000"/>
                </a:solidFill>
                <a:latin typeface="Consolas" panose="020B0609020204030204" pitchFamily="49" charset="0"/>
              </a:rPr>
              <a:t>append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world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// "Hello world"</a:t>
            </a:r>
            <a:endParaRPr lang="ru-RU" sz="24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E10419D-C332-DA6E-B4AC-C54367F3FF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84398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Извлечение подстроки</a:t>
            </a:r>
          </a:p>
        </p:txBody>
      </p:sp>
      <p:sp>
        <p:nvSpPr>
          <p:cNvPr id="3" name="Rectangle 2"/>
          <p:cNvSpPr/>
          <p:nvPr/>
        </p:nvSpPr>
        <p:spPr>
          <a:xfrm>
            <a:off x="838200" y="1628800"/>
            <a:ext cx="9829800" cy="48320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helloWorld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200" dirty="0">
                <a:solidFill>
                  <a:srgbClr val="A31515"/>
                </a:solidFill>
                <a:latin typeface="Consolas" panose="020B0609020204030204" pitchFamily="49" charset="0"/>
              </a:rPr>
              <a:t>"Hello </a:t>
            </a:r>
            <a:r>
              <a:rPr lang="en-US" sz="2200" dirty="0" err="1">
                <a:solidFill>
                  <a:srgbClr val="A31515"/>
                </a:solidFill>
                <a:latin typeface="Consolas" panose="020B0609020204030204" pitchFamily="49" charset="0"/>
              </a:rPr>
              <a:t>world"s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endParaRPr lang="ru-RU" sz="2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helloWorld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substr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(0, 5) </a:t>
            </a:r>
            <a:r>
              <a:rPr lang="en-US" sz="2200" dirty="0">
                <a:solidFill>
                  <a:srgbClr val="008080"/>
                </a:solidFill>
                <a:latin typeface="Consolas" panose="020B0609020204030204" pitchFamily="49" charset="0"/>
              </a:rPr>
              <a:t>==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200" dirty="0" err="1">
                <a:solidFill>
                  <a:srgbClr val="A31515"/>
                </a:solidFill>
                <a:latin typeface="Consolas" panose="020B0609020204030204" pitchFamily="49" charset="0"/>
              </a:rPr>
              <a:t>Hello"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s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helloWorld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substr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(6, 5) </a:t>
            </a:r>
            <a:r>
              <a:rPr lang="en-US" sz="2200" dirty="0">
                <a:solidFill>
                  <a:srgbClr val="008080"/>
                </a:solidFill>
                <a:latin typeface="Consolas" panose="020B0609020204030204" pitchFamily="49" charset="0"/>
              </a:rPr>
              <a:t>==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200" dirty="0" err="1">
                <a:solidFill>
                  <a:srgbClr val="A31515"/>
                </a:solidFill>
                <a:latin typeface="Consolas" panose="020B0609020204030204" pitchFamily="49" charset="0"/>
              </a:rPr>
              <a:t>world"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s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helloWorld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substr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(6) </a:t>
            </a:r>
            <a:r>
              <a:rPr lang="en-US" sz="2200" dirty="0">
                <a:solidFill>
                  <a:srgbClr val="008080"/>
                </a:solidFill>
                <a:latin typeface="Consolas" panose="020B0609020204030204" pitchFamily="49" charset="0"/>
              </a:rPr>
              <a:t>==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200" dirty="0" err="1">
                <a:solidFill>
                  <a:srgbClr val="A31515"/>
                </a:solidFill>
                <a:latin typeface="Consolas" panose="020B0609020204030204" pitchFamily="49" charset="0"/>
              </a:rPr>
              <a:t>world"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s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helloWorld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substr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sz="2200" dirty="0">
                <a:solidFill>
                  <a:srgbClr val="008080"/>
                </a:solidFill>
                <a:latin typeface="Consolas" panose="020B0609020204030204" pitchFamily="49" charset="0"/>
              </a:rPr>
              <a:t>==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A31515"/>
                </a:solidFill>
                <a:latin typeface="Consolas" panose="020B0609020204030204" pitchFamily="49" charset="0"/>
              </a:rPr>
              <a:t>"Hello </a:t>
            </a:r>
            <a:r>
              <a:rPr lang="en-US" sz="2200" dirty="0" err="1">
                <a:solidFill>
                  <a:srgbClr val="A31515"/>
                </a:solidFill>
                <a:latin typeface="Consolas" panose="020B0609020204030204" pitchFamily="49" charset="0"/>
              </a:rPr>
              <a:t>world"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s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endParaRPr lang="ru-RU" sz="2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200" dirty="0">
                <a:solidFill>
                  <a:srgbClr val="A31515"/>
                </a:solidFill>
                <a:latin typeface="Consolas" panose="020B0609020204030204" pitchFamily="49" charset="0"/>
              </a:rPr>
              <a:t>"This is a wonderful "s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append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helloWorld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, 0, 4);</a:t>
            </a: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008080"/>
                </a:solidFill>
                <a:latin typeface="Consolas" panose="020B0609020204030204" pitchFamily="49" charset="0"/>
              </a:rPr>
              <a:t>==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A31515"/>
                </a:solidFill>
                <a:latin typeface="Consolas" panose="020B0609020204030204" pitchFamily="49" charset="0"/>
              </a:rPr>
              <a:t>"This is a wonderful Hell"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endParaRPr lang="ru-RU" sz="2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000080"/>
                </a:solidFill>
                <a:latin typeface="Consolas" panose="020B0609020204030204" pitchFamily="49" charset="0"/>
              </a:rPr>
              <a:t>helloWorld1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helloWorld</a:t>
            </a:r>
            <a:r>
              <a:rPr lang="en-US" sz="2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 err="1">
                <a:solidFill>
                  <a:srgbClr val="880000"/>
                </a:solidFill>
                <a:latin typeface="Consolas" panose="020B0609020204030204" pitchFamily="49" charset="0"/>
              </a:rPr>
              <a:t>substr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(0, 6);</a:t>
            </a:r>
          </a:p>
          <a:p>
            <a:r>
              <a:rPr lang="en-US" sz="2200" dirty="0">
                <a:solidFill>
                  <a:srgbClr val="000080"/>
                </a:solidFill>
                <a:latin typeface="Consolas" panose="020B0609020204030204" pitchFamily="49" charset="0"/>
              </a:rPr>
              <a:t>helloWorld1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200" dirty="0">
                <a:solidFill>
                  <a:srgbClr val="880000"/>
                </a:solidFill>
                <a:latin typeface="Consolas" panose="020B0609020204030204" pitchFamily="49" charset="0"/>
              </a:rPr>
              <a:t>append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helloWorld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, 6); </a:t>
            </a:r>
            <a:r>
              <a:rPr lang="en-US" sz="2200" dirty="0">
                <a:solidFill>
                  <a:srgbClr val="008000"/>
                </a:solidFill>
                <a:latin typeface="Consolas" panose="020B0609020204030204" pitchFamily="49" charset="0"/>
              </a:rPr>
              <a:t>// "Hello "s += "world"</a:t>
            </a:r>
            <a:endParaRPr lang="en-US" sz="2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2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200" dirty="0">
                <a:solidFill>
                  <a:srgbClr val="000080"/>
                </a:solidFill>
                <a:latin typeface="Consolas" panose="020B0609020204030204" pitchFamily="49" charset="0"/>
              </a:rPr>
              <a:t>helloWorld1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>
                <a:solidFill>
                  <a:srgbClr val="008080"/>
                </a:solidFill>
                <a:latin typeface="Consolas" panose="020B0609020204030204" pitchFamily="49" charset="0"/>
              </a:rPr>
              <a:t>==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200" dirty="0" err="1">
                <a:solidFill>
                  <a:srgbClr val="000080"/>
                </a:solidFill>
                <a:latin typeface="Consolas" panose="020B0609020204030204" pitchFamily="49" charset="0"/>
              </a:rPr>
              <a:t>helloWorld</a:t>
            </a:r>
            <a:r>
              <a:rPr lang="en-US" sz="22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endParaRPr lang="ru-RU" sz="2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FA03D3-3D6D-C1F4-78A3-49FD609936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560897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Поиск внутри строки</a:t>
            </a:r>
          </a:p>
        </p:txBody>
      </p:sp>
      <p:sp>
        <p:nvSpPr>
          <p:cNvPr id="3" name="Rectangle 2"/>
          <p:cNvSpPr/>
          <p:nvPr/>
        </p:nvSpPr>
        <p:spPr>
          <a:xfrm>
            <a:off x="838200" y="1916832"/>
            <a:ext cx="9851256" cy="415498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"Hello world"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880000"/>
                </a:solidFill>
                <a:latin typeface="Consolas" panose="020B0609020204030204" pitchFamily="49" charset="0"/>
              </a:rPr>
              <a:t>find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'w'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 == 6);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880000"/>
                </a:solidFill>
                <a:latin typeface="Consolas" panose="020B0609020204030204" pitchFamily="49" charset="0"/>
              </a:rPr>
              <a:t>find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'x'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 == </a:t>
            </a:r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sz="2400" dirty="0" err="1">
                <a:solidFill>
                  <a:srgbClr val="000080"/>
                </a:solidFill>
                <a:latin typeface="Consolas" panose="020B0609020204030204" pitchFamily="49" charset="0"/>
              </a:rPr>
              <a:t>npos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880000"/>
                </a:solidFill>
                <a:latin typeface="Consolas" panose="020B0609020204030204" pitchFamily="49" charset="0"/>
              </a:rPr>
              <a:t>find_first_of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err="1">
                <a:solidFill>
                  <a:srgbClr val="A31515"/>
                </a:solidFill>
                <a:latin typeface="Consolas" panose="020B0609020204030204" pitchFamily="49" charset="0"/>
              </a:rPr>
              <a:t>aeiouy"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 == 1); 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// e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880000"/>
                </a:solidFill>
                <a:latin typeface="Consolas" panose="020B0609020204030204" pitchFamily="49" charset="0"/>
              </a:rPr>
              <a:t>find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err="1">
                <a:solidFill>
                  <a:srgbClr val="A31515"/>
                </a:solidFill>
                <a:latin typeface="Consolas" panose="020B0609020204030204" pitchFamily="49" charset="0"/>
              </a:rPr>
              <a:t>world"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 == 6);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880000"/>
                </a:solidFill>
                <a:latin typeface="Consolas" panose="020B0609020204030204" pitchFamily="49" charset="0"/>
              </a:rPr>
              <a:t>find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'o'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 == 4); 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// first 'o' letter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880000"/>
                </a:solidFill>
                <a:latin typeface="Consolas" panose="020B0609020204030204" pitchFamily="49" charset="0"/>
              </a:rPr>
              <a:t>rfind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'o'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 == 7); 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// last 'o' letter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880000"/>
                </a:solidFill>
                <a:latin typeface="Consolas" panose="020B0609020204030204" pitchFamily="49" charset="0"/>
              </a:rPr>
              <a:t>find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'o'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, 5) == 7);</a:t>
            </a:r>
            <a:endParaRPr lang="ru-RU" sz="24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805D190-D3A9-5CC9-D0B7-A80404EE55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02995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Замена фрагмента строки</a:t>
            </a:r>
          </a:p>
        </p:txBody>
      </p:sp>
      <p:sp>
        <p:nvSpPr>
          <p:cNvPr id="3" name="Rectangle 2"/>
          <p:cNvSpPr/>
          <p:nvPr/>
        </p:nvSpPr>
        <p:spPr>
          <a:xfrm>
            <a:off x="838200" y="2564904"/>
            <a:ext cx="9463136" cy="26776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"Hello </a:t>
            </a:r>
            <a:r>
              <a:rPr lang="en-US" sz="2400" dirty="0" err="1">
                <a:solidFill>
                  <a:srgbClr val="A31515"/>
                </a:solidFill>
                <a:latin typeface="Consolas" panose="020B0609020204030204" pitchFamily="49" charset="0"/>
              </a:rPr>
              <a:t>world"s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2400" dirty="0" err="1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 err="1">
                <a:solidFill>
                  <a:srgbClr val="880000"/>
                </a:solidFill>
                <a:latin typeface="Consolas" panose="020B0609020204030204" pitchFamily="49" charset="0"/>
              </a:rPr>
              <a:t>replace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(0, 5,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sz="2400" dirty="0" err="1">
                <a:solidFill>
                  <a:srgbClr val="A31515"/>
                </a:solidFill>
                <a:latin typeface="Consolas" panose="020B0609020204030204" pitchFamily="49" charset="0"/>
              </a:rPr>
              <a:t>Goodbye"s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8080"/>
                </a:solidFill>
                <a:latin typeface="Consolas" panose="020B0609020204030204" pitchFamily="49" charset="0"/>
              </a:rPr>
              <a:t>==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"Goodbye </a:t>
            </a:r>
            <a:r>
              <a:rPr lang="en-US" sz="2400" dirty="0" err="1">
                <a:solidFill>
                  <a:srgbClr val="A31515"/>
                </a:solidFill>
                <a:latin typeface="Consolas" panose="020B0609020204030204" pitchFamily="49" charset="0"/>
              </a:rPr>
              <a:t>world"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s1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"This is a </a:t>
            </a:r>
            <a:r>
              <a:rPr lang="en-US" sz="2400" dirty="0" err="1">
                <a:solidFill>
                  <a:srgbClr val="A31515"/>
                </a:solidFill>
                <a:latin typeface="Consolas" panose="020B0609020204030204" pitchFamily="49" charset="0"/>
              </a:rPr>
              <a:t>cat"s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s1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2400" dirty="0">
                <a:solidFill>
                  <a:srgbClr val="880000"/>
                </a:solidFill>
                <a:latin typeface="Consolas" panose="020B0609020204030204" pitchFamily="49" charset="0"/>
              </a:rPr>
              <a:t>replace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(10, 3, 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s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, 8, 5);</a:t>
            </a:r>
          </a:p>
          <a:p>
            <a:r>
              <a:rPr lang="en-US" sz="2400" dirty="0">
                <a:solidFill>
                  <a:srgbClr val="0000FF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>
                <a:solidFill>
                  <a:srgbClr val="000080"/>
                </a:solidFill>
                <a:latin typeface="Consolas" panose="020B0609020204030204" pitchFamily="49" charset="0"/>
              </a:rPr>
              <a:t>s1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8080"/>
                </a:solidFill>
                <a:latin typeface="Consolas" panose="020B0609020204030204" pitchFamily="49" charset="0"/>
              </a:rPr>
              <a:t>==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"This is a world"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endParaRPr lang="ru-RU" sz="24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F52C484-BA29-6A76-9E65-03E8A514B1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111138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string_view</a:t>
            </a:r>
            <a:endParaRPr lang="ru-RU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9C8756-21A4-EDC9-2118-86DA1C5334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86048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hlinkClick r:id="rId3"/>
              </a:rPr>
              <a:t>std::</a:t>
            </a:r>
            <a:r>
              <a:rPr lang="en-US" dirty="0" err="1">
                <a:hlinkClick r:id="rId3"/>
              </a:rPr>
              <a:t>string_view</a:t>
            </a:r>
            <a:endParaRPr lang="ru-RU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string_view</a:t>
            </a:r>
            <a:r>
              <a:rPr lang="ru-RU" dirty="0"/>
              <a:t> — </a:t>
            </a:r>
            <a:r>
              <a:rPr lang="ru-RU" dirty="0" err="1"/>
              <a:t>невладеющее</a:t>
            </a:r>
            <a:r>
              <a:rPr lang="ru-RU" dirty="0"/>
              <a:t> представление строки</a:t>
            </a:r>
          </a:p>
          <a:p>
            <a:pPr lvl="1"/>
            <a:r>
              <a:rPr lang="ru-RU" dirty="0"/>
              <a:t>Ссылается на непрерывную последовательность символов</a:t>
            </a:r>
          </a:p>
          <a:p>
            <a:pPr lvl="1"/>
            <a:r>
              <a:rPr lang="ru-RU" dirty="0"/>
              <a:t>Не копирует данные</a:t>
            </a:r>
          </a:p>
          <a:p>
            <a:pPr lvl="1"/>
            <a:r>
              <a:rPr lang="ru-RU" dirty="0"/>
              <a:t>Не управляет временем жизни строки</a:t>
            </a:r>
          </a:p>
          <a:p>
            <a:r>
              <a:rPr lang="ru-RU" dirty="0"/>
              <a:t>Особенности</a:t>
            </a:r>
          </a:p>
          <a:p>
            <a:pPr lvl="1"/>
            <a:r>
              <a:rPr lang="ru-RU" dirty="0"/>
              <a:t>Легковесный (по сути: указатель + длина)</a:t>
            </a:r>
          </a:p>
          <a:p>
            <a:pPr lvl="1"/>
            <a:r>
              <a:rPr lang="ru-RU" dirty="0"/>
              <a:t>Только для чтения</a:t>
            </a:r>
            <a:endParaRPr lang="en-US" dirty="0"/>
          </a:p>
          <a:p>
            <a:pPr lvl="1"/>
            <a:r>
              <a:rPr lang="ru-RU" dirty="0"/>
              <a:t>Не заканчивается на </a:t>
            </a:r>
            <a:r>
              <a:rPr lang="en-US" dirty="0"/>
              <a:t>\0</a:t>
            </a:r>
            <a:endParaRPr lang="ru-RU" dirty="0"/>
          </a:p>
          <a:p>
            <a:pPr lvl="1"/>
            <a:r>
              <a:rPr lang="ru-RU" dirty="0"/>
              <a:t>Может ссылаться на:</a:t>
            </a:r>
          </a:p>
          <a:p>
            <a:pPr lvl="2"/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string</a:t>
            </a:r>
            <a:endParaRPr lang="ru-RU" dirty="0"/>
          </a:p>
          <a:p>
            <a:pPr lvl="2"/>
            <a:r>
              <a:rPr lang="ru-RU" dirty="0"/>
              <a:t>строковый литерал</a:t>
            </a:r>
          </a:p>
          <a:p>
            <a:pPr lvl="2"/>
            <a:r>
              <a:rPr lang="ru-RU" dirty="0"/>
              <a:t>часть строки</a:t>
            </a:r>
          </a:p>
          <a:p>
            <a:r>
              <a:rPr lang="ru-RU" b="1" dirty="0"/>
              <a:t>Важно</a:t>
            </a:r>
            <a:r>
              <a:rPr lang="ru-RU" dirty="0"/>
              <a:t>: строка должна жить дольше, чем </a:t>
            </a:r>
            <a:r>
              <a:rPr lang="ru-RU" dirty="0" err="1"/>
              <a:t>string_view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E710487-79E5-966C-2A3F-77488224C7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2384" y="188640"/>
            <a:ext cx="2530059" cy="2552921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45B4774-2D99-1FCB-A261-4A351D461B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606639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8F931F59-35AE-EB55-D812-B01B50A41CBF}"/>
              </a:ext>
            </a:extLst>
          </p:cNvPr>
          <p:cNvSpPr/>
          <p:nvPr/>
        </p:nvSpPr>
        <p:spPr>
          <a:xfrm>
            <a:off x="2207568" y="3789040"/>
            <a:ext cx="1368152" cy="10801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6449A098-F3E6-279F-F10E-9B62CC87EE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Устройство </a:t>
            </a:r>
            <a:r>
              <a:rPr lang="en-US" dirty="0" err="1"/>
              <a:t>string_view</a:t>
            </a:r>
            <a:endParaRPr lang="ru-RU" dirty="0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999F08C0-2221-AF26-AA8B-2C7F5A001B70}"/>
              </a:ext>
            </a:extLst>
          </p:cNvPr>
          <p:cNvSpPr/>
          <p:nvPr/>
        </p:nvSpPr>
        <p:spPr>
          <a:xfrm>
            <a:off x="2567608" y="2060848"/>
            <a:ext cx="432048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</a:t>
            </a:r>
            <a:endParaRPr lang="ru-RU" dirty="0"/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7D3365BF-23F8-0243-E7D6-1D9FCB65E941}"/>
              </a:ext>
            </a:extLst>
          </p:cNvPr>
          <p:cNvSpPr/>
          <p:nvPr/>
        </p:nvSpPr>
        <p:spPr>
          <a:xfrm>
            <a:off x="2999656" y="2060848"/>
            <a:ext cx="432048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</a:t>
            </a:r>
            <a:endParaRPr lang="ru-RU" dirty="0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AEA10FEA-7FDC-FB61-7625-080937C0FBF3}"/>
              </a:ext>
            </a:extLst>
          </p:cNvPr>
          <p:cNvSpPr/>
          <p:nvPr/>
        </p:nvSpPr>
        <p:spPr>
          <a:xfrm>
            <a:off x="3431704" y="2060848"/>
            <a:ext cx="432048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</a:t>
            </a:r>
            <a:endParaRPr lang="ru-RU" dirty="0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825B55EE-8130-680B-C9EC-6C39CCC03812}"/>
              </a:ext>
            </a:extLst>
          </p:cNvPr>
          <p:cNvSpPr/>
          <p:nvPr/>
        </p:nvSpPr>
        <p:spPr>
          <a:xfrm>
            <a:off x="3863752" y="2060848"/>
            <a:ext cx="432048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</a:t>
            </a:r>
            <a:endParaRPr lang="ru-RU" dirty="0"/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2BDE4F55-2BFD-3489-3AE1-DC81FAD9AFFB}"/>
              </a:ext>
            </a:extLst>
          </p:cNvPr>
          <p:cNvSpPr/>
          <p:nvPr/>
        </p:nvSpPr>
        <p:spPr>
          <a:xfrm>
            <a:off x="4295800" y="2060848"/>
            <a:ext cx="432048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</a:t>
            </a:r>
            <a:endParaRPr lang="ru-RU" dirty="0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87AB4533-6759-49ED-85DC-7ACE69BE6A7B}"/>
              </a:ext>
            </a:extLst>
          </p:cNvPr>
          <p:cNvSpPr/>
          <p:nvPr/>
        </p:nvSpPr>
        <p:spPr>
          <a:xfrm>
            <a:off x="2334608" y="3935695"/>
            <a:ext cx="1152128" cy="360040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</a:t>
            </a:r>
            <a:endParaRPr lang="ru-RU" dirty="0"/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9875CA65-B73C-FAE2-9D23-065A6E48BAB8}"/>
              </a:ext>
            </a:extLst>
          </p:cNvPr>
          <p:cNvSpPr/>
          <p:nvPr/>
        </p:nvSpPr>
        <p:spPr>
          <a:xfrm>
            <a:off x="2334608" y="4410422"/>
            <a:ext cx="1152128" cy="360040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size: 5</a:t>
            </a:r>
            <a:endParaRPr lang="ru-RU" dirty="0"/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0AE3A8C6-178A-69D2-7332-44DE27A78B78}"/>
              </a:ext>
            </a:extLst>
          </p:cNvPr>
          <p:cNvSpPr/>
          <p:nvPr/>
        </p:nvSpPr>
        <p:spPr>
          <a:xfrm>
            <a:off x="4727848" y="2060848"/>
            <a:ext cx="432048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 </a:t>
            </a:r>
            <a:endParaRPr lang="ru-RU" dirty="0"/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45947C34-B4B8-713A-8FCA-723810285273}"/>
              </a:ext>
            </a:extLst>
          </p:cNvPr>
          <p:cNvSpPr/>
          <p:nvPr/>
        </p:nvSpPr>
        <p:spPr>
          <a:xfrm>
            <a:off x="5159896" y="2060848"/>
            <a:ext cx="432048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</a:t>
            </a:r>
            <a:endParaRPr lang="ru-RU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B026927F-353A-D2EF-1831-0FFA3AFE4FF2}"/>
              </a:ext>
            </a:extLst>
          </p:cNvPr>
          <p:cNvSpPr/>
          <p:nvPr/>
        </p:nvSpPr>
        <p:spPr>
          <a:xfrm>
            <a:off x="5591944" y="2060848"/>
            <a:ext cx="432048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</a:t>
            </a:r>
            <a:endParaRPr lang="ru-RU" dirty="0"/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7AF0D6D5-B92F-43F0-4B06-CAAC4AF20EC6}"/>
              </a:ext>
            </a:extLst>
          </p:cNvPr>
          <p:cNvSpPr/>
          <p:nvPr/>
        </p:nvSpPr>
        <p:spPr>
          <a:xfrm>
            <a:off x="6023992" y="2060848"/>
            <a:ext cx="432048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</a:t>
            </a:r>
            <a:endParaRPr lang="ru-RU" dirty="0"/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0A5C912D-1914-6353-13BD-8A6A48523943}"/>
              </a:ext>
            </a:extLst>
          </p:cNvPr>
          <p:cNvSpPr/>
          <p:nvPr/>
        </p:nvSpPr>
        <p:spPr>
          <a:xfrm>
            <a:off x="6456040" y="2060848"/>
            <a:ext cx="432048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</a:t>
            </a:r>
            <a:endParaRPr lang="ru-RU" dirty="0"/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764BC7BE-4FB8-29E1-72BB-C06CFA317FBA}"/>
              </a:ext>
            </a:extLst>
          </p:cNvPr>
          <p:cNvSpPr/>
          <p:nvPr/>
        </p:nvSpPr>
        <p:spPr>
          <a:xfrm>
            <a:off x="6888088" y="2060848"/>
            <a:ext cx="432048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</a:t>
            </a:r>
            <a:endParaRPr lang="ru-RU" dirty="0"/>
          </a:p>
        </p:txBody>
      </p:sp>
      <p:cxnSp>
        <p:nvCxnSpPr>
          <p:cNvPr id="19" name="Прямая со стрелкой 18">
            <a:extLst>
              <a:ext uri="{FF2B5EF4-FFF2-40B4-BE49-F238E27FC236}">
                <a16:creationId xmlns:a16="http://schemas.microsoft.com/office/drawing/2014/main" id="{78514393-AAD8-44CA-0C4D-4D13008F77D7}"/>
              </a:ext>
            </a:extLst>
          </p:cNvPr>
          <p:cNvCxnSpPr>
            <a:cxnSpLocks/>
            <a:stCxn id="10" idx="3"/>
            <a:endCxn id="5" idx="1"/>
          </p:cNvCxnSpPr>
          <p:nvPr/>
        </p:nvCxnSpPr>
        <p:spPr>
          <a:xfrm flipH="1" flipV="1">
            <a:off x="2567608" y="2312876"/>
            <a:ext cx="919128" cy="1802839"/>
          </a:xfrm>
          <a:prstGeom prst="curvedConnector5">
            <a:avLst>
              <a:gd name="adj1" fmla="val -24871"/>
              <a:gd name="adj2" fmla="val 48003"/>
              <a:gd name="adj3" fmla="val 124871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9B0AFCF0-0D56-7A5E-84F9-97A59BAF8641}"/>
              </a:ext>
            </a:extLst>
          </p:cNvPr>
          <p:cNvSpPr/>
          <p:nvPr/>
        </p:nvSpPr>
        <p:spPr>
          <a:xfrm>
            <a:off x="6096800" y="3789040"/>
            <a:ext cx="1368152" cy="10801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14890E1C-8B14-9B47-6F81-203074FAA8A4}"/>
              </a:ext>
            </a:extLst>
          </p:cNvPr>
          <p:cNvSpPr/>
          <p:nvPr/>
        </p:nvSpPr>
        <p:spPr>
          <a:xfrm>
            <a:off x="6223840" y="3935695"/>
            <a:ext cx="1152128" cy="360040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</a:t>
            </a:r>
            <a:endParaRPr lang="ru-RU" dirty="0"/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04F20227-4064-0527-25EA-F4B2C7AAE490}"/>
              </a:ext>
            </a:extLst>
          </p:cNvPr>
          <p:cNvSpPr/>
          <p:nvPr/>
        </p:nvSpPr>
        <p:spPr>
          <a:xfrm>
            <a:off x="6223840" y="4410422"/>
            <a:ext cx="1152128" cy="360040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size: 5</a:t>
            </a:r>
            <a:endParaRPr lang="ru-RU" dirty="0"/>
          </a:p>
        </p:txBody>
      </p:sp>
      <p:cxnSp>
        <p:nvCxnSpPr>
          <p:cNvPr id="28" name="Прямая со стрелкой 18">
            <a:extLst>
              <a:ext uri="{FF2B5EF4-FFF2-40B4-BE49-F238E27FC236}">
                <a16:creationId xmlns:a16="http://schemas.microsoft.com/office/drawing/2014/main" id="{F51D4F6F-4ED8-D73A-74D3-465397B10550}"/>
              </a:ext>
            </a:extLst>
          </p:cNvPr>
          <p:cNvCxnSpPr>
            <a:cxnSpLocks/>
            <a:stCxn id="26" idx="0"/>
            <a:endCxn id="13" idx="2"/>
          </p:cNvCxnSpPr>
          <p:nvPr/>
        </p:nvCxnSpPr>
        <p:spPr>
          <a:xfrm rot="16200000" flipV="1">
            <a:off x="5402518" y="2538308"/>
            <a:ext cx="1370791" cy="1423984"/>
          </a:xfrm>
          <a:prstGeom prst="curvedConnector3">
            <a:avLst>
              <a:gd name="adj1" fmla="val 50000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Left Brace 1">
            <a:extLst>
              <a:ext uri="{FF2B5EF4-FFF2-40B4-BE49-F238E27FC236}">
                <a16:creationId xmlns:a16="http://schemas.microsoft.com/office/drawing/2014/main" id="{73D7DB7E-810C-6934-AFB6-D7526FD1B1B3}"/>
              </a:ext>
            </a:extLst>
          </p:cNvPr>
          <p:cNvSpPr/>
          <p:nvPr/>
        </p:nvSpPr>
        <p:spPr>
          <a:xfrm rot="16200000">
            <a:off x="3476196" y="1807187"/>
            <a:ext cx="199048" cy="2016224"/>
          </a:xfrm>
          <a:prstGeom prst="leftBrac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Left Brace 17">
            <a:extLst>
              <a:ext uri="{FF2B5EF4-FFF2-40B4-BE49-F238E27FC236}">
                <a16:creationId xmlns:a16="http://schemas.microsoft.com/office/drawing/2014/main" id="{D768A2D8-E67E-7B99-69F8-6A1F9D6038D6}"/>
              </a:ext>
            </a:extLst>
          </p:cNvPr>
          <p:cNvSpPr/>
          <p:nvPr/>
        </p:nvSpPr>
        <p:spPr>
          <a:xfrm rot="16200000">
            <a:off x="6140492" y="1702231"/>
            <a:ext cx="199048" cy="2160240"/>
          </a:xfrm>
          <a:prstGeom prst="leftBrac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888319C6-7533-4ACB-4CC1-399D86F89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064340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Конструирование </a:t>
            </a:r>
            <a:r>
              <a:rPr lang="en-US" dirty="0" err="1"/>
              <a:t>string_view</a:t>
            </a:r>
            <a:endParaRPr lang="ru-RU" dirty="0"/>
          </a:p>
        </p:txBody>
      </p:sp>
      <p:sp>
        <p:nvSpPr>
          <p:cNvPr id="5" name="Rectangle 4"/>
          <p:cNvSpPr/>
          <p:nvPr/>
        </p:nvSpPr>
        <p:spPr>
          <a:xfrm>
            <a:off x="838200" y="1988841"/>
            <a:ext cx="10802416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it-IT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it-IT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it-IT" sz="2400" dirty="0" err="1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it-IT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it-IT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arr</a:t>
            </a:r>
            <a:r>
              <a:rPr lang="it-IT" sz="2400" dirty="0">
                <a:solidFill>
                  <a:srgbClr val="000000"/>
                </a:solidFill>
                <a:latin typeface="Consolas" panose="020B0609020204030204" pitchFamily="49" charset="0"/>
              </a:rPr>
              <a:t>[] = { </a:t>
            </a:r>
            <a:r>
              <a:rPr lang="it-IT" sz="2400" dirty="0">
                <a:solidFill>
                  <a:srgbClr val="A31515"/>
                </a:solidFill>
                <a:latin typeface="Consolas" panose="020B0609020204030204" pitchFamily="49" charset="0"/>
              </a:rPr>
              <a:t>'H'</a:t>
            </a:r>
            <a:r>
              <a:rPr lang="it-IT" sz="2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it-IT" sz="2400" dirty="0">
                <a:solidFill>
                  <a:srgbClr val="A31515"/>
                </a:solidFill>
                <a:latin typeface="Consolas" panose="020B0609020204030204" pitchFamily="49" charset="0"/>
              </a:rPr>
              <a:t>'e'</a:t>
            </a:r>
            <a:r>
              <a:rPr lang="it-IT" sz="2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it-IT" sz="2400" dirty="0">
                <a:solidFill>
                  <a:srgbClr val="A31515"/>
                </a:solidFill>
                <a:latin typeface="Consolas" panose="020B0609020204030204" pitchFamily="49" charset="0"/>
              </a:rPr>
              <a:t>'l'</a:t>
            </a:r>
            <a:r>
              <a:rPr lang="it-IT" sz="2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it-IT" sz="2400" dirty="0">
                <a:solidFill>
                  <a:srgbClr val="A31515"/>
                </a:solidFill>
                <a:latin typeface="Consolas" panose="020B0609020204030204" pitchFamily="49" charset="0"/>
              </a:rPr>
              <a:t>'l'</a:t>
            </a:r>
            <a:r>
              <a:rPr lang="it-IT" sz="2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it-IT" sz="2400" dirty="0">
                <a:solidFill>
                  <a:srgbClr val="A31515"/>
                </a:solidFill>
                <a:latin typeface="Consolas" panose="020B0609020204030204" pitchFamily="49" charset="0"/>
              </a:rPr>
              <a:t>'o'</a:t>
            </a:r>
            <a:r>
              <a:rPr lang="it-IT" sz="2400" dirty="0">
                <a:solidFill>
                  <a:srgbClr val="000000"/>
                </a:solidFill>
                <a:latin typeface="Consolas" panose="020B0609020204030204" pitchFamily="49" charset="0"/>
              </a:rPr>
              <a:t> };</a:t>
            </a:r>
          </a:p>
          <a:p>
            <a:r>
              <a:rPr lang="en-US" sz="2400" dirty="0" err="1">
                <a:solidFill>
                  <a:srgbClr val="2B91AF"/>
                </a:solidFill>
                <a:latin typeface="Consolas" panose="020B0609020204030204" pitchFamily="49" charset="0"/>
              </a:rPr>
              <a:t>string_view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v(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arr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, 5);</a:t>
            </a:r>
          </a:p>
          <a:p>
            <a:r>
              <a:rPr lang="en-US" sz="2400" dirty="0">
                <a:solidFill>
                  <a:srgbClr val="6F008A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v.length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() == 5);</a:t>
            </a:r>
          </a:p>
          <a:p>
            <a:r>
              <a:rPr lang="en-US" sz="2400" dirty="0">
                <a:solidFill>
                  <a:srgbClr val="6F008A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v.data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() == &amp;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arr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[0]); 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// v </a:t>
            </a:r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использует</a:t>
            </a:r>
            <a:r>
              <a:rPr lang="en-US" sz="2400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ru-RU" sz="2400" dirty="0">
                <a:solidFill>
                  <a:srgbClr val="008000"/>
                </a:solidFill>
                <a:latin typeface="Consolas" panose="020B0609020204030204" pitchFamily="49" charset="0"/>
              </a:rPr>
              <a:t>содержимое </a:t>
            </a:r>
            <a:r>
              <a:rPr lang="en-US" sz="2400" dirty="0" err="1">
                <a:solidFill>
                  <a:srgbClr val="008000"/>
                </a:solidFill>
                <a:latin typeface="Consolas" panose="020B0609020204030204" pitchFamily="49" charset="0"/>
              </a:rPr>
              <a:t>arr</a:t>
            </a:r>
            <a:endParaRPr lang="en-US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>
                <a:solidFill>
                  <a:srgbClr val="2B91AF"/>
                </a:solidFill>
                <a:latin typeface="Consolas" panose="020B0609020204030204" pitchFamily="49" charset="0"/>
              </a:rPr>
              <a:t>string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s(</a:t>
            </a:r>
            <a:r>
              <a:rPr lang="en-US" sz="2400" dirty="0">
                <a:solidFill>
                  <a:srgbClr val="A31515"/>
                </a:solidFill>
                <a:latin typeface="Consolas" panose="020B0609020204030204" pitchFamily="49" charset="0"/>
              </a:rPr>
              <a:t>"Hello"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sz="2400" dirty="0" err="1">
                <a:solidFill>
                  <a:srgbClr val="2B91AF"/>
                </a:solidFill>
                <a:latin typeface="Consolas" panose="020B0609020204030204" pitchFamily="49" charset="0"/>
              </a:rPr>
              <a:t>string_view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sv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= s;</a:t>
            </a:r>
          </a:p>
          <a:p>
            <a:r>
              <a:rPr lang="en-US" sz="2400" dirty="0">
                <a:solidFill>
                  <a:srgbClr val="6F008A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sv.data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() ==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s.data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());</a:t>
            </a:r>
          </a:p>
          <a:p>
            <a:r>
              <a:rPr lang="en-US" sz="2400" dirty="0">
                <a:solidFill>
                  <a:srgbClr val="6F008A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sv.length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() == 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s.length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());</a:t>
            </a:r>
          </a:p>
          <a:p>
            <a:endParaRPr lang="ru-RU" sz="2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sv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>
                <a:solidFill>
                  <a:srgbClr val="008080"/>
                </a:solidFill>
                <a:latin typeface="Consolas" panose="020B0609020204030204" pitchFamily="49" charset="0"/>
              </a:rPr>
              <a:t>=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400" dirty="0" err="1">
                <a:solidFill>
                  <a:srgbClr val="2B91AF"/>
                </a:solidFill>
                <a:latin typeface="Consolas" panose="020B0609020204030204" pitchFamily="49" charset="0"/>
              </a:rPr>
              <a:t>string_view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s.data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(), 4);</a:t>
            </a:r>
          </a:p>
          <a:p>
            <a:r>
              <a:rPr lang="en-US" sz="2400" dirty="0">
                <a:solidFill>
                  <a:srgbClr val="6F008A"/>
                </a:solidFill>
                <a:latin typeface="Consolas" panose="020B0609020204030204" pitchFamily="49" charset="0"/>
              </a:rPr>
              <a:t>assert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400" dirty="0" err="1">
                <a:solidFill>
                  <a:srgbClr val="000000"/>
                </a:solidFill>
                <a:latin typeface="Consolas" panose="020B0609020204030204" pitchFamily="49" charset="0"/>
              </a:rPr>
              <a:t>sv.length</a:t>
            </a:r>
            <a:r>
              <a:rPr lang="en-US" sz="2400" dirty="0">
                <a:solidFill>
                  <a:srgbClr val="000000"/>
                </a:solidFill>
                <a:latin typeface="Consolas" panose="020B0609020204030204" pitchFamily="49" charset="0"/>
              </a:rPr>
              <a:t>() == 4);</a:t>
            </a:r>
            <a:endParaRPr lang="ru-RU" sz="24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487D530-C171-1885-63A6-174F151A59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27926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  <a:r>
              <a:rPr lang="en-US" dirty="0"/>
              <a:t> – </a:t>
            </a:r>
            <a:r>
              <a:rPr lang="ru-RU" dirty="0"/>
              <a:t>ссылки на части </a:t>
            </a:r>
            <a:r>
              <a:rPr lang="en-US" dirty="0"/>
              <a:t>URL</a:t>
            </a:r>
            <a:endParaRPr lang="ru-RU" dirty="0"/>
          </a:p>
        </p:txBody>
      </p:sp>
      <p:sp>
        <p:nvSpPr>
          <p:cNvPr id="3" name="Rectangle 2"/>
          <p:cNvSpPr/>
          <p:nvPr/>
        </p:nvSpPr>
        <p:spPr>
          <a:xfrm>
            <a:off x="838200" y="1690688"/>
            <a:ext cx="10730408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url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"http://en.cppreference.com/w/</a:t>
            </a:r>
            <a:r>
              <a:rPr lang="en-US" sz="2000" dirty="0" err="1">
                <a:solidFill>
                  <a:srgbClr val="A31515"/>
                </a:solidFill>
                <a:latin typeface="Consolas" panose="020B0609020204030204" pitchFamily="49" charset="0"/>
              </a:rPr>
              <a:t>cpp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/string/</a:t>
            </a:r>
            <a:r>
              <a:rPr lang="en-US" sz="2000" dirty="0" err="1">
                <a:solidFill>
                  <a:srgbClr val="A31515"/>
                </a:solidFill>
                <a:latin typeface="Consolas" panose="020B0609020204030204" pitchFamily="49" charset="0"/>
              </a:rPr>
              <a:t>basic_string_view"s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endParaRPr lang="ru-RU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ru-RU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ru-RU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ru-RU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 err="1">
                <a:solidFill>
                  <a:srgbClr val="2B91AF"/>
                </a:solidFill>
                <a:latin typeface="Consolas" panose="020B0609020204030204" pitchFamily="49" charset="0"/>
              </a:rPr>
              <a:t>string_view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scheme(&amp;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url</a:t>
            </a:r>
            <a:r>
              <a:rPr lang="en-US" sz="2000" dirty="0">
                <a:solidFill>
                  <a:srgbClr val="008080"/>
                </a:solidFill>
                <a:latin typeface="Consolas" panose="020B0609020204030204" pitchFamily="49" charset="0"/>
              </a:rPr>
              <a:t>[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0</a:t>
            </a:r>
            <a:r>
              <a:rPr lang="en-US" sz="2000" dirty="0">
                <a:solidFill>
                  <a:srgbClr val="008080"/>
                </a:solidFill>
                <a:latin typeface="Consolas" panose="020B0609020204030204" pitchFamily="49" charset="0"/>
              </a:rPr>
              <a:t>]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, 4);</a:t>
            </a:r>
          </a:p>
          <a:p>
            <a:r>
              <a:rPr lang="en-US" sz="2000" dirty="0">
                <a:solidFill>
                  <a:srgbClr val="6F008A"/>
                </a:solidFill>
                <a:latin typeface="Consolas" panose="020B0609020204030204" pitchFamily="49" charset="0"/>
              </a:rPr>
              <a:t>assert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(scheme </a:t>
            </a:r>
            <a:r>
              <a:rPr lang="en-US" sz="2000" dirty="0">
                <a:solidFill>
                  <a:srgbClr val="008080"/>
                </a:solidFill>
                <a:latin typeface="Consolas" panose="020B0609020204030204" pitchFamily="49" charset="0"/>
              </a:rPr>
              <a:t>==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"http"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endParaRPr lang="ru-RU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ru-RU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ru-RU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2000" dirty="0" err="1">
                <a:solidFill>
                  <a:srgbClr val="2B91AF"/>
                </a:solidFill>
                <a:latin typeface="Consolas" panose="020B0609020204030204" pitchFamily="49" charset="0"/>
              </a:rPr>
              <a:t>string_view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domain(&amp;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url</a:t>
            </a:r>
            <a:r>
              <a:rPr lang="en-US" sz="2000" dirty="0">
                <a:solidFill>
                  <a:srgbClr val="008080"/>
                </a:solidFill>
                <a:latin typeface="Consolas" panose="020B0609020204030204" pitchFamily="49" charset="0"/>
              </a:rPr>
              <a:t>[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7</a:t>
            </a:r>
            <a:r>
              <a:rPr lang="en-US" sz="2000" dirty="0">
                <a:solidFill>
                  <a:srgbClr val="008080"/>
                </a:solidFill>
                <a:latin typeface="Consolas" panose="020B0609020204030204" pitchFamily="49" charset="0"/>
              </a:rPr>
              <a:t>]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, 19);</a:t>
            </a:r>
          </a:p>
          <a:p>
            <a:r>
              <a:rPr lang="en-US" sz="2000" dirty="0">
                <a:solidFill>
                  <a:srgbClr val="6F008A"/>
                </a:solidFill>
                <a:latin typeface="Consolas" panose="020B0609020204030204" pitchFamily="49" charset="0"/>
              </a:rPr>
              <a:t>assert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(domain </a:t>
            </a:r>
            <a:r>
              <a:rPr lang="en-US" sz="2000" dirty="0">
                <a:solidFill>
                  <a:srgbClr val="008080"/>
                </a:solidFill>
                <a:latin typeface="Consolas" panose="020B0609020204030204" pitchFamily="49" charset="0"/>
              </a:rPr>
              <a:t>==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"en.cppreference.com"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  <a:endParaRPr lang="ru-RU" sz="2000" dirty="0"/>
          </a:p>
        </p:txBody>
      </p:sp>
      <p:sp>
        <p:nvSpPr>
          <p:cNvPr id="4" name="Right Brace 3">
            <a:extLst>
              <a:ext uri="{FF2B5EF4-FFF2-40B4-BE49-F238E27FC236}">
                <a16:creationId xmlns:a16="http://schemas.microsoft.com/office/drawing/2014/main" id="{61F7F671-8741-2B2C-9DC3-2CB978601719}"/>
              </a:ext>
            </a:extLst>
          </p:cNvPr>
          <p:cNvSpPr/>
          <p:nvPr/>
        </p:nvSpPr>
        <p:spPr>
          <a:xfrm rot="5400000">
            <a:off x="2747628" y="1916832"/>
            <a:ext cx="216024" cy="576064"/>
          </a:xfrm>
          <a:prstGeom prst="righ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1C92DF5-C41A-6D5F-F81D-9C434C5281E9}"/>
              </a:ext>
            </a:extLst>
          </p:cNvPr>
          <p:cNvSpPr txBox="1"/>
          <p:nvPr/>
        </p:nvSpPr>
        <p:spPr>
          <a:xfrm>
            <a:off x="2351584" y="2329396"/>
            <a:ext cx="10081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scheme</a:t>
            </a:r>
            <a:endParaRPr lang="en-US" dirty="0"/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30ACEE26-B882-9C84-61AE-BBBB0077E52F}"/>
              </a:ext>
            </a:extLst>
          </p:cNvPr>
          <p:cNvSpPr/>
          <p:nvPr/>
        </p:nvSpPr>
        <p:spPr>
          <a:xfrm rot="5400000">
            <a:off x="4800129" y="872989"/>
            <a:ext cx="216024" cy="2663750"/>
          </a:xfrm>
          <a:prstGeom prst="righ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9EF0DC6-1F74-0A6B-CD7C-7CB3FD41BC02}"/>
              </a:ext>
            </a:extLst>
          </p:cNvPr>
          <p:cNvSpPr txBox="1"/>
          <p:nvPr/>
        </p:nvSpPr>
        <p:spPr>
          <a:xfrm>
            <a:off x="4511824" y="2329396"/>
            <a:ext cx="10081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domain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E6C74BF-9B13-4E82-ED5A-1E1E9630C4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08982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/>
      <p:bldP spid="7" grpId="0" animBg="1"/>
      <p:bldP spid="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94F59A1-36F4-6660-3600-2B463110C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std::array</a:t>
            </a:r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EC5C748-B379-7A00-A98B-CE502DB607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1D98382-C578-7AD4-25A4-7139D1229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30140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7EFBBCB5-884E-603C-0B01-B218186D31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hlinkClick r:id="rId3"/>
              </a:rPr>
              <a:t>std::array</a:t>
            </a:r>
            <a:endParaRPr lang="ru-RU" dirty="0"/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CEC0FF96-76FC-AF9A-A6C5-C6DE1A0026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Что это</a:t>
            </a:r>
          </a:p>
          <a:p>
            <a:pPr lvl="1"/>
            <a:r>
              <a:rPr lang="ru-RU" dirty="0"/>
              <a:t>Контейнер фиксированного размера (обёртка над C-массивом)</a:t>
            </a:r>
          </a:p>
          <a:p>
            <a:pPr lvl="1"/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array</a:t>
            </a:r>
            <a:r>
              <a:rPr lang="ru-RU" dirty="0"/>
              <a:t>&lt;</a:t>
            </a:r>
            <a:r>
              <a:rPr lang="ru-RU" dirty="0" err="1"/>
              <a:t>int</a:t>
            </a:r>
            <a:r>
              <a:rPr lang="ru-RU" dirty="0"/>
              <a:t>, 3&gt; a = {1, 2, 3};</a:t>
            </a:r>
          </a:p>
          <a:p>
            <a:r>
              <a:rPr lang="ru-RU" dirty="0"/>
              <a:t>Преимущества перед C-массивами</a:t>
            </a:r>
          </a:p>
          <a:p>
            <a:pPr lvl="1"/>
            <a:r>
              <a:rPr lang="ru-RU" dirty="0"/>
              <a:t>Знает свой размер (метод </a:t>
            </a:r>
            <a:r>
              <a:rPr lang="ru-RU" dirty="0" err="1"/>
              <a:t>size</a:t>
            </a:r>
            <a:r>
              <a:rPr lang="ru-RU" dirty="0"/>
              <a:t>())</a:t>
            </a:r>
          </a:p>
          <a:p>
            <a:pPr lvl="1"/>
            <a:r>
              <a:rPr lang="ru-RU" dirty="0"/>
              <a:t>Поддерживает алгоритмы стандартной библиотеки</a:t>
            </a:r>
          </a:p>
          <a:p>
            <a:pPr lvl="1"/>
            <a:r>
              <a:rPr lang="ru-RU" dirty="0"/>
              <a:t>Можно передавать и возвращать по значению</a:t>
            </a:r>
          </a:p>
          <a:p>
            <a:pPr lvl="1"/>
            <a:r>
              <a:rPr lang="ru-RU" dirty="0"/>
              <a:t>Можно хранить в других контейнерах (</a:t>
            </a:r>
            <a:r>
              <a:rPr lang="ru-RU" dirty="0" err="1"/>
              <a:t>optional</a:t>
            </a:r>
            <a:r>
              <a:rPr lang="ru-RU" dirty="0"/>
              <a:t>, </a:t>
            </a:r>
            <a:r>
              <a:rPr lang="ru-RU" dirty="0" err="1"/>
              <a:t>vector</a:t>
            </a:r>
            <a:r>
              <a:rPr lang="ru-RU" dirty="0"/>
              <a:t> и т.д.)</a:t>
            </a:r>
          </a:p>
          <a:p>
            <a:pPr lvl="1"/>
            <a:r>
              <a:rPr lang="ru-RU" dirty="0"/>
              <a:t>Поддерживает сравнение (==, &lt;, …)</a:t>
            </a:r>
          </a:p>
          <a:p>
            <a:r>
              <a:rPr lang="ru-RU" dirty="0"/>
              <a:t>Подключение</a:t>
            </a:r>
          </a:p>
          <a:p>
            <a:pPr lvl="1"/>
            <a:r>
              <a:rPr lang="ru-RU" dirty="0"/>
              <a:t>#include &lt;</a:t>
            </a:r>
            <a:r>
              <a:rPr lang="ru-RU" dirty="0" err="1"/>
              <a:t>array</a:t>
            </a:r>
            <a:r>
              <a:rPr lang="ru-RU" dirty="0"/>
              <a:t>&gt;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D12816F-B9AD-C108-DD85-2478864C21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14758" y="4221088"/>
            <a:ext cx="2226159" cy="2259286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80680C-D66A-5800-B611-B8ABF836F0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214792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466190-0794-D2D1-1936-9A5D4527DF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std::array vs C-</a:t>
            </a:r>
            <a:r>
              <a:rPr lang="ru-RU" dirty="0"/>
              <a:t>массив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BA9B8ADC-3B2E-244B-B6FF-7300C4FA5447}"/>
              </a:ext>
            </a:extLst>
          </p:cNvPr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2800169818"/>
              </p:ext>
            </p:extLst>
          </p:nvPr>
        </p:nvGraphicFramePr>
        <p:xfrm>
          <a:off x="838200" y="1825624"/>
          <a:ext cx="10658400" cy="28463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9200">
                  <a:extLst>
                    <a:ext uri="{9D8B030D-6E8A-4147-A177-3AD203B41FA5}">
                      <a16:colId xmlns:a16="http://schemas.microsoft.com/office/drawing/2014/main" val="1934229368"/>
                    </a:ext>
                  </a:extLst>
                </a:gridCol>
                <a:gridCol w="5329200">
                  <a:extLst>
                    <a:ext uri="{9D8B030D-6E8A-4147-A177-3AD203B41FA5}">
                      <a16:colId xmlns:a16="http://schemas.microsoft.com/office/drawing/2014/main" val="188665353"/>
                    </a:ext>
                  </a:extLst>
                </a:gridCol>
              </a:tblGrid>
              <a:tr h="4743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C-</a:t>
                      </a:r>
                      <a:r>
                        <a:rPr lang="ru-RU" dirty="0"/>
                        <a:t>массив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std::array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51354020"/>
                  </a:ext>
                </a:extLst>
              </a:tr>
              <a:tr h="47439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ru-RU" dirty="0"/>
                        <a:t>Не знает свой размер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size()</a:t>
                      </a:r>
                      <a:r>
                        <a:rPr lang="en-US" dirty="0"/>
                        <a:t> </a:t>
                      </a:r>
                      <a:r>
                        <a:rPr lang="ru-RU" dirty="0"/>
                        <a:t>возвращает размер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4631078"/>
                  </a:ext>
                </a:extLst>
              </a:tr>
              <a:tr h="474398">
                <a:tc>
                  <a:txBody>
                    <a:bodyPr/>
                    <a:lstStyle/>
                    <a:p>
                      <a:r>
                        <a:rPr lang="ru-RU" dirty="0"/>
                        <a:t>Не копируется как единое целое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Копируется и присваивается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0288763"/>
                  </a:ext>
                </a:extLst>
              </a:tr>
              <a:tr h="474398">
                <a:tc>
                  <a:txBody>
                    <a:bodyPr/>
                    <a:lstStyle/>
                    <a:p>
                      <a:r>
                        <a:rPr lang="ru-RU" dirty="0"/>
                        <a:t>Превращается в указатель при передаче в функцию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Передаётся как обычный объект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99329230"/>
                  </a:ext>
                </a:extLst>
              </a:tr>
              <a:tr h="474398">
                <a:tc>
                  <a:txBody>
                    <a:bodyPr/>
                    <a:lstStyle/>
                    <a:p>
                      <a:r>
                        <a:rPr lang="ru-RU" dirty="0"/>
                        <a:t>Нет методов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Имеет</a:t>
                      </a:r>
                      <a:r>
                        <a:rPr lang="en-US" dirty="0"/>
                        <a:t> 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begin()</a:t>
                      </a:r>
                      <a:r>
                        <a:rPr lang="en-US" dirty="0"/>
                        <a:t>, 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end()</a:t>
                      </a:r>
                      <a:r>
                        <a:rPr lang="en-US" dirty="0"/>
                        <a:t>, 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fill()</a:t>
                      </a:r>
                      <a:r>
                        <a:rPr lang="en-US" dirty="0"/>
                        <a:t>, 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at()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4189414"/>
                  </a:ext>
                </a:extLst>
              </a:tr>
              <a:tr h="474398">
                <a:tc>
                  <a:txBody>
                    <a:bodyPr/>
                    <a:lstStyle/>
                    <a:p>
                      <a:r>
                        <a:rPr lang="ru-RU" dirty="0"/>
                        <a:t>Нет встроенного сравнения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Поддерживает </a:t>
                      </a:r>
                      <a:r>
                        <a:rPr lang="ru-RU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==</a:t>
                      </a:r>
                      <a:r>
                        <a:rPr lang="ru-RU" dirty="0"/>
                        <a:t>, </a:t>
                      </a:r>
                      <a:r>
                        <a:rPr lang="ru-RU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&lt;</a:t>
                      </a:r>
                      <a:r>
                        <a:rPr lang="ru-RU" dirty="0"/>
                        <a:t>, …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197295"/>
                  </a:ext>
                </a:extLst>
              </a:tr>
            </a:tbl>
          </a:graphicData>
        </a:graphic>
      </p:graphicFrame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866B05E-DD4D-0966-680F-E5FE5BAE9A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200" y="4851399"/>
            <a:ext cx="10658400" cy="1325564"/>
          </a:xfrm>
        </p:spPr>
        <p:txBody>
          <a:bodyPr/>
          <a:lstStyle/>
          <a:p>
            <a:r>
              <a:rPr lang="ru-RU" dirty="0"/>
              <a:t>Итог</a:t>
            </a:r>
          </a:p>
          <a:p>
            <a:pPr lvl="1"/>
            <a:r>
              <a:rPr lang="ru-RU" dirty="0"/>
              <a:t>C-массив — низкоуровневый механизм</a:t>
            </a:r>
          </a:p>
          <a:p>
            <a:pPr lvl="1"/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array</a:t>
            </a:r>
            <a:r>
              <a:rPr lang="ru-RU" dirty="0"/>
              <a:t> — безопасная и удобная альтернатива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9BED14-66EC-62B3-DD19-C51CB5252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7647383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3CBD3D7-1977-73BB-34A7-B5EEDD167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Проверка индекса при доступе к элементам </a:t>
            </a:r>
            <a:r>
              <a:rPr lang="en-US" dirty="0"/>
              <a:t>std::array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3766739-6FBF-F622-A1B1-557A21CD1388}"/>
              </a:ext>
            </a:extLst>
          </p:cNvPr>
          <p:cNvSpPr txBox="1"/>
          <p:nvPr/>
        </p:nvSpPr>
        <p:spPr>
          <a:xfrm>
            <a:off x="838200" y="2276872"/>
            <a:ext cx="1051560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try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fibNumbers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itemIndex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&gt;&gt;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itemIndex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  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Метод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at()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выбросит исключение если индекс выходит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    // за пределы массива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fibNumbers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itemIndex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&lt;&lt;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catch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exception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cerr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what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813008A-AC4A-938A-4F50-FDB742DE983B}"/>
              </a:ext>
            </a:extLst>
          </p:cNvPr>
          <p:cNvSpPr txBox="1"/>
          <p:nvPr/>
        </p:nvSpPr>
        <p:spPr>
          <a:xfrm>
            <a:off x="2495600" y="6371709"/>
            <a:ext cx="60936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https://godbolt.org/z/xM1EcGTMz</a:t>
            </a:r>
            <a:r>
              <a:rPr lang="en-US" dirty="0"/>
              <a:t>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947C986-2280-6285-AF9A-03ABB929D6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08368" y="3978405"/>
            <a:ext cx="2705478" cy="2762636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00D8A09-6245-BD8D-4257-FE84384E3E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4387233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F8407BA-2AD1-E327-2D3D-F3F93A96204A}"/>
              </a:ext>
            </a:extLst>
          </p:cNvPr>
          <p:cNvSpPr txBox="1"/>
          <p:nvPr/>
        </p:nvSpPr>
        <p:spPr>
          <a:xfrm>
            <a:off x="551384" y="54493"/>
            <a:ext cx="10225136" cy="67490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iostream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optional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Matrix3x3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&gt;;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PrintMatrix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Matrix3x3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mat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row : mat)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item : row)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item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Matrix3x3 m{};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][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1.0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PrintMatrix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(m);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7CA8767-2B80-2638-8574-D3789EE6C6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48268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4032FAC-7FC2-9964-B167-48922BE16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std::</a:t>
            </a:r>
            <a:r>
              <a:rPr lang="en-US" dirty="0" err="1"/>
              <a:t>to_array</a:t>
            </a:r>
            <a:r>
              <a:rPr lang="en-US" dirty="0"/>
              <a:t> (C++20)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BE724F8-7974-A789-C233-65F3CE2BC9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25</a:t>
            </a:fld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35E537-6D1F-CCEA-8128-49BE1CB9CA70}"/>
              </a:ext>
            </a:extLst>
          </p:cNvPr>
          <p:cNvSpPr txBox="1"/>
          <p:nvPr/>
        </p:nvSpPr>
        <p:spPr>
          <a:xfrm>
            <a:off x="838200" y="1690688"/>
            <a:ext cx="1051560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array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raw[] = {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 =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to_array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(raw);      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std::array&lt;int, 4&gt;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 =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to_array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({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});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std::array&lt;int, 3&gt;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 =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to_array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"Hi"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     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std::array&lt;char, 3&gt; (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включая '\0')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auto copy = a;                    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копирование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std::array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E42ADE-2DED-8D5D-9F12-0F8175954DA1}"/>
              </a:ext>
            </a:extLst>
          </p:cNvPr>
          <p:cNvSpPr txBox="1"/>
          <p:nvPr/>
        </p:nvSpPr>
        <p:spPr>
          <a:xfrm>
            <a:off x="838200" y="5987018"/>
            <a:ext cx="60932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https://godbolt.org/z/vEcrGMxh8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721752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1F7618A1-8066-48FD-9768-0D1E0D858D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std::vector</a:t>
            </a:r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6CBE0ACE-5176-4178-A082-B46C84248C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E0E325-EB2C-AB3E-C17F-80A6C96F9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9645745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>
                <a:solidFill>
                  <a:srgbClr val="FF0000"/>
                </a:solidFill>
                <a:hlinkClick r:id="rId4"/>
              </a:rPr>
              <a:t>std::vector</a:t>
            </a:r>
            <a:endParaRPr lang="ru-RU" dirty="0">
              <a:solidFill>
                <a:srgbClr val="FF0000"/>
              </a:solidFill>
            </a:endParaRPr>
          </a:p>
        </p:txBody>
      </p:sp>
      <p:sp>
        <p:nvSpPr>
          <p:cNvPr id="39939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Динамический массив стандартной библиотеки</a:t>
            </a:r>
          </a:p>
          <a:p>
            <a:pPr lvl="1"/>
            <a:r>
              <a:rPr lang="ru-RU" dirty="0"/>
              <a:t>#include &lt;</a:t>
            </a:r>
            <a:r>
              <a:rPr lang="ru-RU" dirty="0" err="1"/>
              <a:t>vector</a:t>
            </a:r>
            <a:r>
              <a:rPr lang="ru-RU" dirty="0"/>
              <a:t>&gt;</a:t>
            </a:r>
          </a:p>
          <a:p>
            <a:r>
              <a:rPr lang="ru-RU" dirty="0"/>
              <a:t>Основные свойства</a:t>
            </a:r>
          </a:p>
          <a:p>
            <a:pPr lvl="1"/>
            <a:r>
              <a:rPr lang="ru-RU" dirty="0"/>
              <a:t>Хранит элементы одного типа</a:t>
            </a:r>
          </a:p>
          <a:p>
            <a:pPr lvl="1"/>
            <a:r>
              <a:rPr lang="ru-RU" dirty="0"/>
              <a:t>Размер может изменяться во время выполнения</a:t>
            </a:r>
          </a:p>
          <a:p>
            <a:pPr lvl="1"/>
            <a:r>
              <a:rPr lang="ru-RU" dirty="0"/>
              <a:t>Элементы расположены </a:t>
            </a:r>
            <a:r>
              <a:rPr lang="ru-RU" b="1" dirty="0"/>
              <a:t>непрерывно в памяти</a:t>
            </a:r>
            <a:endParaRPr lang="ru-RU" dirty="0"/>
          </a:p>
          <a:p>
            <a:pPr lvl="1"/>
            <a:r>
              <a:rPr lang="ru-RU" dirty="0"/>
              <a:t>Поддерживает индексированный доступ (</a:t>
            </a:r>
            <a:r>
              <a:rPr lang="ru-RU" dirty="0" err="1"/>
              <a:t>operator</a:t>
            </a:r>
            <a:r>
              <a:rPr lang="ru-RU" dirty="0"/>
              <a:t>[], </a:t>
            </a:r>
            <a:r>
              <a:rPr lang="ru-RU" dirty="0" err="1"/>
              <a:t>at</a:t>
            </a:r>
            <a:r>
              <a:rPr lang="ru-RU" dirty="0"/>
              <a:t>())</a:t>
            </a:r>
          </a:p>
          <a:p>
            <a:r>
              <a:rPr lang="ru-RU" dirty="0"/>
              <a:t>Преимущества</a:t>
            </a:r>
          </a:p>
          <a:p>
            <a:pPr lvl="1"/>
            <a:r>
              <a:rPr lang="ru-RU" dirty="0"/>
              <a:t>Автоматическое управление памятью</a:t>
            </a:r>
          </a:p>
          <a:p>
            <a:pPr lvl="1"/>
            <a:r>
              <a:rPr lang="ru-RU" dirty="0"/>
              <a:t>Эффективное добавление в конец (</a:t>
            </a:r>
            <a:r>
              <a:rPr lang="ru-RU" dirty="0" err="1"/>
              <a:t>push_back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Совместим со всеми стандартными алгоритмами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032569F-88B9-D3DA-38B0-8ECDB966ED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39079" y="4233765"/>
            <a:ext cx="2552921" cy="2598645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BE8E6A-A7EC-32E0-1E9F-3A0C71F30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27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85830902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CDD58C1D-46AF-DF06-368A-7D9272CE05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Внутреннее устройство </a:t>
            </a:r>
            <a:r>
              <a:rPr lang="en-US" dirty="0"/>
              <a:t>vector</a:t>
            </a:r>
            <a:endParaRPr lang="ru-RU" dirty="0"/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405BC081-18CA-ECB0-331B-060E53022847}"/>
              </a:ext>
            </a:extLst>
          </p:cNvPr>
          <p:cNvSpPr/>
          <p:nvPr/>
        </p:nvSpPr>
        <p:spPr>
          <a:xfrm>
            <a:off x="1828800" y="4559644"/>
            <a:ext cx="2376264" cy="1749675"/>
          </a:xfrm>
          <a:prstGeom prst="rect">
            <a:avLst/>
          </a:prstGeom>
          <a:solidFill>
            <a:srgbClr val="92D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ru-RU">
              <a:solidFill>
                <a:schemeClr val="tx1"/>
              </a:solidFill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EB237AF9-EA7F-6960-1B64-C15088279C84}"/>
              </a:ext>
            </a:extLst>
          </p:cNvPr>
          <p:cNvSpPr/>
          <p:nvPr/>
        </p:nvSpPr>
        <p:spPr>
          <a:xfrm>
            <a:off x="1981200" y="4712045"/>
            <a:ext cx="2079848" cy="43204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data</a:t>
            </a:r>
            <a:endParaRPr lang="ru-RU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90D0921C-1A44-F6B6-2F07-8625F0FA96AC}"/>
              </a:ext>
            </a:extLst>
          </p:cNvPr>
          <p:cNvSpPr/>
          <p:nvPr/>
        </p:nvSpPr>
        <p:spPr>
          <a:xfrm>
            <a:off x="1975076" y="5211909"/>
            <a:ext cx="2079848" cy="43204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size: 4</a:t>
            </a:r>
            <a:endParaRPr lang="ru-RU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5CF5FBC7-AE7F-2072-91F1-E9C587DDA79C}"/>
              </a:ext>
            </a:extLst>
          </p:cNvPr>
          <p:cNvSpPr/>
          <p:nvPr/>
        </p:nvSpPr>
        <p:spPr>
          <a:xfrm>
            <a:off x="1975076" y="5738661"/>
            <a:ext cx="2079848" cy="432048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capacity: 11</a:t>
            </a:r>
            <a:endParaRPr lang="ru-RU" dirty="0">
              <a:solidFill>
                <a:schemeClr val="tx1"/>
              </a:solidFill>
              <a:latin typeface="Consolas" panose="020B0609020204030204" pitchFamily="49" charset="0"/>
            </a:endParaRPr>
          </a:p>
        </p:txBody>
      </p:sp>
      <p:cxnSp>
        <p:nvCxnSpPr>
          <p:cNvPr id="10" name="Прямая со стрелкой 9">
            <a:extLst>
              <a:ext uri="{FF2B5EF4-FFF2-40B4-BE49-F238E27FC236}">
                <a16:creationId xmlns:a16="http://schemas.microsoft.com/office/drawing/2014/main" id="{7D3463FF-6C18-BB61-7971-BFF451456840}"/>
              </a:ext>
            </a:extLst>
          </p:cNvPr>
          <p:cNvCxnSpPr>
            <a:cxnSpLocks/>
            <a:stCxn id="7" idx="0"/>
            <a:endCxn id="16" idx="1"/>
          </p:cNvCxnSpPr>
          <p:nvPr/>
        </p:nvCxnSpPr>
        <p:spPr>
          <a:xfrm flipV="1">
            <a:off x="3021125" y="2316807"/>
            <a:ext cx="888827" cy="239523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Левая фигурная скобка 10">
            <a:extLst>
              <a:ext uri="{FF2B5EF4-FFF2-40B4-BE49-F238E27FC236}">
                <a16:creationId xmlns:a16="http://schemas.microsoft.com/office/drawing/2014/main" id="{BA519256-4672-A2BA-D799-57A8BB8E706C}"/>
              </a:ext>
            </a:extLst>
          </p:cNvPr>
          <p:cNvSpPr/>
          <p:nvPr/>
        </p:nvSpPr>
        <p:spPr>
          <a:xfrm rot="16200000">
            <a:off x="4384098" y="2094429"/>
            <a:ext cx="517154" cy="1465445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D2A655F-7930-F76B-77B5-51E25D3FDB05}"/>
              </a:ext>
            </a:extLst>
          </p:cNvPr>
          <p:cNvSpPr txBox="1"/>
          <p:nvPr/>
        </p:nvSpPr>
        <p:spPr>
          <a:xfrm>
            <a:off x="3935760" y="3095748"/>
            <a:ext cx="143963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size</a:t>
            </a:r>
            <a:endParaRPr lang="ru-RU" sz="2400" dirty="0"/>
          </a:p>
        </p:txBody>
      </p:sp>
      <p:sp>
        <p:nvSpPr>
          <p:cNvPr id="13" name="Левая фигурная скобка 12">
            <a:extLst>
              <a:ext uri="{FF2B5EF4-FFF2-40B4-BE49-F238E27FC236}">
                <a16:creationId xmlns:a16="http://schemas.microsoft.com/office/drawing/2014/main" id="{C9AFD61C-7DB2-3DFF-E26C-D9D93B878405}"/>
              </a:ext>
            </a:extLst>
          </p:cNvPr>
          <p:cNvSpPr/>
          <p:nvPr/>
        </p:nvSpPr>
        <p:spPr>
          <a:xfrm rot="16200000">
            <a:off x="5667130" y="1731001"/>
            <a:ext cx="517154" cy="4031510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9CFF6E7-6806-3B4E-F24F-11F5720E1EB9}"/>
              </a:ext>
            </a:extLst>
          </p:cNvPr>
          <p:cNvSpPr txBox="1"/>
          <p:nvPr/>
        </p:nvSpPr>
        <p:spPr>
          <a:xfrm>
            <a:off x="5174609" y="4017313"/>
            <a:ext cx="22490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capacity</a:t>
            </a:r>
            <a:endParaRPr lang="ru-RU" sz="2400" dirty="0"/>
          </a:p>
        </p:txBody>
      </p: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C96A504E-2E11-DB3B-BCEC-DE024D73BE2B}"/>
              </a:ext>
            </a:extLst>
          </p:cNvPr>
          <p:cNvSpPr/>
          <p:nvPr/>
        </p:nvSpPr>
        <p:spPr>
          <a:xfrm>
            <a:off x="3909952" y="2132857"/>
            <a:ext cx="367901" cy="36790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5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1B8B94C9-C40A-109C-D9C2-7A603FB00CE7}"/>
              </a:ext>
            </a:extLst>
          </p:cNvPr>
          <p:cNvSpPr/>
          <p:nvPr/>
        </p:nvSpPr>
        <p:spPr>
          <a:xfrm>
            <a:off x="4276313" y="2132857"/>
            <a:ext cx="367901" cy="36790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2</a:t>
            </a: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F71417C6-4DB4-BB5D-3436-BAD622FA09DE}"/>
              </a:ext>
            </a:extLst>
          </p:cNvPr>
          <p:cNvSpPr/>
          <p:nvPr/>
        </p:nvSpPr>
        <p:spPr>
          <a:xfrm>
            <a:off x="4642674" y="2132857"/>
            <a:ext cx="367901" cy="36790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8</a:t>
            </a: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96961E32-A16D-0E86-22EA-E09CF107C128}"/>
              </a:ext>
            </a:extLst>
          </p:cNvPr>
          <p:cNvSpPr/>
          <p:nvPr/>
        </p:nvSpPr>
        <p:spPr>
          <a:xfrm>
            <a:off x="5009035" y="2132857"/>
            <a:ext cx="367901" cy="36790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6</a:t>
            </a: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8F791E93-7097-C4C7-13E3-47B9FBA08201}"/>
              </a:ext>
            </a:extLst>
          </p:cNvPr>
          <p:cNvSpPr/>
          <p:nvPr/>
        </p:nvSpPr>
        <p:spPr>
          <a:xfrm>
            <a:off x="5375396" y="2132857"/>
            <a:ext cx="367901" cy="367901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?</a:t>
            </a:r>
            <a:endParaRPr lang="ru-RU" dirty="0"/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9A196B63-26F6-9408-FF08-377C830B35E6}"/>
              </a:ext>
            </a:extLst>
          </p:cNvPr>
          <p:cNvSpPr/>
          <p:nvPr/>
        </p:nvSpPr>
        <p:spPr>
          <a:xfrm>
            <a:off x="5741757" y="2132857"/>
            <a:ext cx="367901" cy="367901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?</a:t>
            </a:r>
            <a:endParaRPr lang="ru-RU" dirty="0"/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0D3029D2-E6BC-EB82-EDA9-C7D7FD90FD46}"/>
              </a:ext>
            </a:extLst>
          </p:cNvPr>
          <p:cNvSpPr/>
          <p:nvPr/>
        </p:nvSpPr>
        <p:spPr>
          <a:xfrm>
            <a:off x="6108118" y="2132857"/>
            <a:ext cx="367901" cy="367901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?</a:t>
            </a:r>
            <a:endParaRPr lang="ru-RU" dirty="0"/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8A82D1E3-D09B-282E-B03F-C47E854A2D86}"/>
              </a:ext>
            </a:extLst>
          </p:cNvPr>
          <p:cNvSpPr/>
          <p:nvPr/>
        </p:nvSpPr>
        <p:spPr>
          <a:xfrm>
            <a:off x="6474479" y="2132857"/>
            <a:ext cx="367901" cy="367901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?</a:t>
            </a:r>
            <a:endParaRPr lang="ru-RU" dirty="0"/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97546664-BF86-21B4-534B-CC5338DB37E5}"/>
              </a:ext>
            </a:extLst>
          </p:cNvPr>
          <p:cNvSpPr/>
          <p:nvPr/>
        </p:nvSpPr>
        <p:spPr>
          <a:xfrm>
            <a:off x="6840840" y="2132857"/>
            <a:ext cx="367901" cy="367901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?</a:t>
            </a:r>
            <a:endParaRPr lang="ru-RU" dirty="0"/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6E5252A3-C7BE-0E32-F3D5-DCA36335DA6F}"/>
              </a:ext>
            </a:extLst>
          </p:cNvPr>
          <p:cNvSpPr/>
          <p:nvPr/>
        </p:nvSpPr>
        <p:spPr>
          <a:xfrm>
            <a:off x="7207201" y="2132857"/>
            <a:ext cx="367901" cy="367901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?</a:t>
            </a:r>
            <a:endParaRPr lang="ru-RU" dirty="0"/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25EA523A-795D-430D-500C-8CC30C1EF23D}"/>
              </a:ext>
            </a:extLst>
          </p:cNvPr>
          <p:cNvSpPr/>
          <p:nvPr/>
        </p:nvSpPr>
        <p:spPr>
          <a:xfrm>
            <a:off x="7573562" y="2132857"/>
            <a:ext cx="367901" cy="367901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?</a:t>
            </a:r>
            <a:endParaRPr lang="ru-RU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6E6B55A-2F95-C25D-2476-CFB81CE9F1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28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9470220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53729D-B41B-6624-9E4F-09BBD9B11A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Чтение и реверсирование массива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4474F4-9BF7-3910-9F0F-DE8D0637B355}"/>
              </a:ext>
            </a:extLst>
          </p:cNvPr>
          <p:cNvSpPr txBox="1"/>
          <p:nvPr/>
        </p:nvSpPr>
        <p:spPr>
          <a:xfrm>
            <a:off x="838200" y="1690687"/>
            <a:ext cx="105156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1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push_back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1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numbers entered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/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swap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1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1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1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1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- </a:t>
            </a:r>
            <a:r>
              <a:rPr lang="en-US" b="1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 </a:t>
            </a:r>
            <a:r>
              <a:rPr lang="en-US" b="1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или 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std::reverse(</a:t>
            </a:r>
            <a:r>
              <a:rPr lang="en-US" dirty="0" err="1">
                <a:solidFill>
                  <a:srgbClr val="008000"/>
                </a:solidFill>
                <a:latin typeface="Consolas" panose="020B0609020204030204" pitchFamily="49" charset="0"/>
              </a:rPr>
              <a:t>numbers.begin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(), </a:t>
            </a:r>
            <a:r>
              <a:rPr lang="en-US" dirty="0" err="1">
                <a:solidFill>
                  <a:srgbClr val="008000"/>
                </a:solidFill>
                <a:latin typeface="Consolas" panose="020B0609020204030204" pitchFamily="49" charset="0"/>
              </a:rPr>
              <a:t>numbers.end</a:t>
            </a:r>
            <a:r>
              <a:rPr lang="en-US" dirty="0">
                <a:solidFill>
                  <a:srgbClr val="008000"/>
                </a:solidFill>
                <a:latin typeface="Consolas" panose="020B0609020204030204" pitchFamily="49" charset="0"/>
              </a:rPr>
              <a:t>());</a:t>
            </a:r>
          </a:p>
          <a:p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6FF3B53-22CE-46F4-C9D6-5336DC8838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27607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1498082" y="-22717"/>
            <a:ext cx="7766270" cy="69865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&lt;vector&gt;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4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iostream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&lt;string&gt;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using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namespace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struct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Point 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x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struct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PointDbl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double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x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i="1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main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 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vector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Point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points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{ 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{0, 0}, {20, 10}, {30, 30} 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auto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&amp;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: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points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pt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x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", 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pt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PointDbl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center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{0, 0};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auto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&amp;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: </a:t>
            </a:r>
            <a:r>
              <a:rPr lang="en-US" sz="14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points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r>
              <a:rPr lang="en-US" sz="1400" dirty="0"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center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x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+=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pt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x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center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+=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pt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center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x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/=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points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4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size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center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/=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points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4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size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4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center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x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", "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center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y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4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>
              <a:spcAft>
                <a:spcPts val="800"/>
              </a:spcAft>
            </a:pPr>
            <a:r>
              <a:rPr lang="ru-RU" sz="14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4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089E68E-4A72-693C-6705-2DA60FB4C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7013545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3B3F27D-9FD2-2351-9A6F-35E48203DCD2}"/>
              </a:ext>
            </a:extLst>
          </p:cNvPr>
          <p:cNvSpPr txBox="1"/>
          <p:nvPr/>
        </p:nvSpPr>
        <p:spPr>
          <a:xfrm>
            <a:off x="623392" y="4394228"/>
            <a:ext cx="1029836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std::vector&lt;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numbers;</a:t>
            </a:r>
          </a:p>
          <a:p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!!!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Сразу резервируем память под нужное количество элементов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numbers.reserve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1'000'000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1'000'000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numbers.push_back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</p:txBody>
      </p:sp>
      <p:sp>
        <p:nvSpPr>
          <p:cNvPr id="5" name="Заголовок 4">
            <a:extLst>
              <a:ext uri="{FF2B5EF4-FFF2-40B4-BE49-F238E27FC236}">
                <a16:creationId xmlns:a16="http://schemas.microsoft.com/office/drawing/2014/main" id="{D9091278-70F6-298A-A761-D0EBA1C706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Резервирование памяти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711975C3-A349-1C6A-B050-4965390155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Если при вставке не хватает места, </a:t>
            </a:r>
            <a:r>
              <a:rPr lang="en-US" dirty="0"/>
              <a:t>vector</a:t>
            </a:r>
            <a:r>
              <a:rPr lang="ru-RU" dirty="0"/>
              <a:t> автоматически увеличивает вместимость</a:t>
            </a:r>
          </a:p>
          <a:p>
            <a:pPr lvl="1"/>
            <a:r>
              <a:rPr lang="ru-RU" dirty="0"/>
              <a:t>Вставка в конец: </a:t>
            </a:r>
            <a:r>
              <a:rPr lang="en-US" dirty="0"/>
              <a:t>O(1)</a:t>
            </a:r>
            <a:r>
              <a:rPr lang="ru-RU" dirty="0"/>
              <a:t>+</a:t>
            </a:r>
          </a:p>
          <a:p>
            <a:r>
              <a:rPr lang="ru-RU" dirty="0"/>
              <a:t>Метод</a:t>
            </a:r>
            <a:r>
              <a:rPr lang="en-US" dirty="0"/>
              <a:t> </a:t>
            </a:r>
            <a:r>
              <a:rPr lang="en-US" b="1" dirty="0"/>
              <a:t>reserve</a:t>
            </a:r>
            <a:r>
              <a:rPr lang="ru-RU" dirty="0"/>
              <a:t> резервирует память для хранения заданного размера, не меняя содержимого вектора</a:t>
            </a:r>
          </a:p>
          <a:p>
            <a:pPr lvl="1"/>
            <a:r>
              <a:rPr lang="ru-RU" dirty="0"/>
              <a:t>Полезен, когда известно примерное количество элементов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6DCEE53-D0A8-5703-5C2B-8DA2815CF917}"/>
              </a:ext>
            </a:extLst>
          </p:cNvPr>
          <p:cNvSpPr txBox="1"/>
          <p:nvPr/>
        </p:nvSpPr>
        <p:spPr>
          <a:xfrm>
            <a:off x="4583832" y="6333220"/>
            <a:ext cx="59087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dirty="0">
                <a:hlinkClick r:id="rId3"/>
              </a:rPr>
              <a:t>https://quick-bench.com/q/i29UtpPOU0KqnZz1y9SLl7tWFt4</a:t>
            </a:r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6AE541-808D-3FBD-0FF9-8E53B3A8C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31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1706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D92A3B-0EC8-E1B5-8445-3A649299BD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Инвалидация</a:t>
            </a:r>
            <a:r>
              <a:rPr lang="ru-RU" dirty="0"/>
              <a:t> ссылок и итераторов </a:t>
            </a:r>
            <a:r>
              <a:rPr lang="en-US" dirty="0"/>
              <a:t>std::vector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66934B-5873-A704-0ABD-0EF7088CEF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dirty="0"/>
              <a:t>Когда происходит </a:t>
            </a:r>
            <a:r>
              <a:rPr lang="ru-RU" dirty="0" err="1"/>
              <a:t>инвалидация</a:t>
            </a:r>
            <a:endParaRPr lang="ru-RU" dirty="0"/>
          </a:p>
          <a:p>
            <a:pPr lvl="1"/>
            <a:r>
              <a:rPr lang="ru-RU" dirty="0"/>
              <a:t>Если происходит перераспределение памяти</a:t>
            </a:r>
          </a:p>
          <a:p>
            <a:pPr lvl="2"/>
            <a:r>
              <a:rPr lang="ru-RU" dirty="0" err="1"/>
              <a:t>push_back</a:t>
            </a:r>
            <a:endParaRPr lang="ru-RU" dirty="0"/>
          </a:p>
          <a:p>
            <a:pPr lvl="2"/>
            <a:r>
              <a:rPr lang="ru-RU" dirty="0" err="1"/>
              <a:t>emplace_back</a:t>
            </a:r>
            <a:endParaRPr lang="ru-RU" dirty="0"/>
          </a:p>
          <a:p>
            <a:pPr lvl="2"/>
            <a:r>
              <a:rPr lang="ru-RU" dirty="0" err="1"/>
              <a:t>insert</a:t>
            </a:r>
            <a:endParaRPr lang="ru-RU" dirty="0"/>
          </a:p>
          <a:p>
            <a:pPr lvl="2"/>
            <a:r>
              <a:rPr lang="ru-RU" dirty="0" err="1"/>
              <a:t>resize</a:t>
            </a:r>
            <a:endParaRPr lang="ru-RU" dirty="0"/>
          </a:p>
          <a:p>
            <a:pPr lvl="2"/>
            <a:r>
              <a:rPr lang="ru-RU" dirty="0" err="1"/>
              <a:t>reserve</a:t>
            </a:r>
            <a:endParaRPr lang="ru-RU" dirty="0"/>
          </a:p>
          <a:p>
            <a:pPr lvl="1"/>
            <a:r>
              <a:rPr lang="ru-RU" dirty="0"/>
              <a:t>➡ </a:t>
            </a:r>
            <a:r>
              <a:rPr lang="ru-RU" dirty="0" err="1"/>
              <a:t>Инвалидируются</a:t>
            </a:r>
            <a:r>
              <a:rPr lang="ru-RU" dirty="0"/>
              <a:t> все ссылки, указатели и итераторы</a:t>
            </a:r>
          </a:p>
          <a:p>
            <a:r>
              <a:rPr lang="ru-RU" dirty="0"/>
              <a:t>Если перераспределения нет</a:t>
            </a:r>
          </a:p>
          <a:p>
            <a:pPr lvl="1"/>
            <a:r>
              <a:rPr lang="ru-RU" dirty="0" err="1"/>
              <a:t>push_back</a:t>
            </a:r>
            <a:r>
              <a:rPr lang="ru-RU" dirty="0"/>
              <a:t> — </a:t>
            </a:r>
            <a:r>
              <a:rPr lang="ru-RU" dirty="0" err="1"/>
              <a:t>инвалидирует</a:t>
            </a:r>
            <a:r>
              <a:rPr lang="ru-RU" dirty="0"/>
              <a:t> только </a:t>
            </a:r>
            <a:r>
              <a:rPr lang="ru-RU" dirty="0" err="1"/>
              <a:t>end</a:t>
            </a:r>
            <a:r>
              <a:rPr lang="ru-RU" dirty="0"/>
              <a:t>()</a:t>
            </a:r>
          </a:p>
          <a:p>
            <a:pPr lvl="1"/>
            <a:r>
              <a:rPr lang="ru-RU" dirty="0" err="1"/>
              <a:t>erase</a:t>
            </a:r>
            <a:r>
              <a:rPr lang="ru-RU" dirty="0"/>
              <a:t> — </a:t>
            </a:r>
            <a:r>
              <a:rPr lang="ru-RU" dirty="0" err="1"/>
              <a:t>инвалидирует</a:t>
            </a:r>
            <a:r>
              <a:rPr lang="ru-RU" dirty="0"/>
              <a:t> ссылки и итераторы в точке удаления и следом за ней</a:t>
            </a:r>
          </a:p>
          <a:p>
            <a:r>
              <a:rPr lang="ru-RU" dirty="0"/>
              <a:t>Важно</a:t>
            </a:r>
          </a:p>
          <a:p>
            <a:pPr lvl="1"/>
            <a:r>
              <a:rPr lang="ru-RU" dirty="0"/>
              <a:t>После </a:t>
            </a:r>
            <a:r>
              <a:rPr lang="ru-RU" dirty="0" err="1"/>
              <a:t>инвалидации</a:t>
            </a:r>
            <a:r>
              <a:rPr lang="ru-RU" dirty="0"/>
              <a:t> использование старых ссылок и итераторов — неопределённое поведение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A1B8B1-36A2-5EDB-9257-98BE72C714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32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0787495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210AA17-522B-EDDB-DB6F-D58E0C6E26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err="1"/>
              <a:t>Инвалидация</a:t>
            </a:r>
            <a:r>
              <a:rPr lang="ru-RU" dirty="0"/>
              <a:t> ссылок и итераторов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69CE80-C72B-9A93-D124-66DCE15B3427}"/>
              </a:ext>
            </a:extLst>
          </p:cNvPr>
          <p:cNvSpPr txBox="1"/>
          <p:nvPr/>
        </p:nvSpPr>
        <p:spPr>
          <a:xfrm>
            <a:off x="838200" y="1844824"/>
            <a:ext cx="8859416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push_back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push_back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push_back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first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front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middle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/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];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+ std::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distance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/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push_back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12345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Ссылки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first, middle, last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больше использовать нельзя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Итераторы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b, e, m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также нельзя использовать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A41DD46-CA34-4C96-7CF7-35758FCA30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33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129803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0961E0E7-9082-6DD8-4C9F-CFBA832EAC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std::deque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26D847B-798A-AB8A-E357-1F3D203D59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A714CA6-8A77-466B-7C3B-56069264D7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34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8886385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ru-RU" dirty="0"/>
              <a:t>Двусторонняя очередь</a:t>
            </a:r>
            <a:r>
              <a:rPr lang="en-US" dirty="0"/>
              <a:t> (double-ended queue) </a:t>
            </a:r>
            <a:r>
              <a:rPr lang="en-US" dirty="0">
                <a:hlinkClick r:id="rId4"/>
              </a:rPr>
              <a:t>std::</a:t>
            </a:r>
            <a:r>
              <a:rPr lang="en-US" dirty="0" err="1">
                <a:hlinkClick r:id="rId4"/>
              </a:rPr>
              <a:t>deque</a:t>
            </a:r>
            <a:endParaRPr lang="ru-RU" dirty="0"/>
          </a:p>
        </p:txBody>
      </p:sp>
      <p:sp>
        <p:nvSpPr>
          <p:cNvPr id="35843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ru-RU" dirty="0"/>
              <a:t>Аналогична вектору, но обеспечивает</a:t>
            </a:r>
            <a:r>
              <a:rPr lang="en-US" dirty="0"/>
              <a:t> </a:t>
            </a:r>
            <a:r>
              <a:rPr lang="ru-RU" dirty="0"/>
              <a:t>эффективную вставку и удаление элементов не только в конце, но и в начале очереди</a:t>
            </a:r>
            <a:endParaRPr lang="en-US" dirty="0"/>
          </a:p>
          <a:p>
            <a:pPr lvl="1" eaLnBrk="1" hangingPunct="1"/>
            <a:r>
              <a:rPr lang="ru-RU" dirty="0"/>
              <a:t>В отличие от вектора </a:t>
            </a:r>
            <a:r>
              <a:rPr lang="ru-RU" b="1" dirty="0"/>
              <a:t>не гарантируется </a:t>
            </a:r>
            <a:r>
              <a:rPr lang="ru-RU" dirty="0"/>
              <a:t>последовательное хранение элементов в памяти</a:t>
            </a:r>
          </a:p>
          <a:p>
            <a:pPr lvl="1" eaLnBrk="1" hangingPunct="1"/>
            <a:r>
              <a:rPr lang="ru-RU" dirty="0"/>
              <a:t>Гарантируется константный доступ к элементу по его индексу</a:t>
            </a:r>
            <a:endParaRPr lang="en-US" dirty="0"/>
          </a:p>
          <a:p>
            <a:pPr lvl="1" eaLnBrk="1" hangingPunct="1"/>
            <a:r>
              <a:rPr lang="ru-RU" dirty="0"/>
              <a:t>Для использования необходимо подключить заголовочный файл </a:t>
            </a:r>
            <a:r>
              <a:rPr lang="en-US" dirty="0"/>
              <a:t>&lt;deque&gt;</a:t>
            </a:r>
            <a:endParaRPr lang="ru-RU" dirty="0"/>
          </a:p>
          <a:p>
            <a:r>
              <a:rPr lang="ru-RU" dirty="0"/>
              <a:t>Вставка в начало и конец двусторонней очереди не приводит к </a:t>
            </a:r>
            <a:r>
              <a:rPr lang="ru-RU" dirty="0" err="1"/>
              <a:t>инвалидации</a:t>
            </a:r>
            <a:r>
              <a:rPr lang="ru-RU" dirty="0"/>
              <a:t> ссылок и итераторов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F3E4380-0666-D9D6-1DF9-E3DAE5A1F9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00456" y="4993465"/>
            <a:ext cx="1848083" cy="1864535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7167EB-55AE-F883-838B-E24D1B14C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35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98500606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726D761E-84B6-4D5D-9847-4A88F986FE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Возможное устройство </a:t>
            </a:r>
            <a:r>
              <a:rPr lang="en-US" dirty="0"/>
              <a:t>deque</a:t>
            </a:r>
            <a:endParaRPr lang="ru-RU" dirty="0"/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07ED7F6E-331F-4ED1-AA2A-BE85D0148BB8}"/>
              </a:ext>
            </a:extLst>
          </p:cNvPr>
          <p:cNvSpPr/>
          <p:nvPr/>
        </p:nvSpPr>
        <p:spPr>
          <a:xfrm>
            <a:off x="3711773" y="2563636"/>
            <a:ext cx="576064" cy="57606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CB956963-7DE0-4A3B-8FA6-74E1F940DB3D}"/>
              </a:ext>
            </a:extLst>
          </p:cNvPr>
          <p:cNvSpPr/>
          <p:nvPr/>
        </p:nvSpPr>
        <p:spPr>
          <a:xfrm>
            <a:off x="4287837" y="2563636"/>
            <a:ext cx="576064" cy="57606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40EC6FF3-8433-4059-B476-95F2DF01FCD9}"/>
              </a:ext>
            </a:extLst>
          </p:cNvPr>
          <p:cNvSpPr/>
          <p:nvPr/>
        </p:nvSpPr>
        <p:spPr>
          <a:xfrm>
            <a:off x="4863901" y="2563636"/>
            <a:ext cx="576064" cy="57606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E5A7E699-30EC-45B7-9D88-6B83D57EAF66}"/>
              </a:ext>
            </a:extLst>
          </p:cNvPr>
          <p:cNvSpPr/>
          <p:nvPr/>
        </p:nvSpPr>
        <p:spPr>
          <a:xfrm>
            <a:off x="5439965" y="2563636"/>
            <a:ext cx="576064" cy="57606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2" name="Прямая со стрелкой 21">
            <a:extLst>
              <a:ext uri="{FF2B5EF4-FFF2-40B4-BE49-F238E27FC236}">
                <a16:creationId xmlns:a16="http://schemas.microsoft.com/office/drawing/2014/main" id="{754AA36A-6B7A-482F-80CC-CEBF0D9A2DD5}"/>
              </a:ext>
            </a:extLst>
          </p:cNvPr>
          <p:cNvCxnSpPr>
            <a:cxnSpLocks/>
            <a:stCxn id="17" idx="2"/>
            <a:endCxn id="5" idx="0"/>
          </p:cNvCxnSpPr>
          <p:nvPr/>
        </p:nvCxnSpPr>
        <p:spPr>
          <a:xfrm flipH="1">
            <a:off x="835570" y="3139700"/>
            <a:ext cx="3164235" cy="19987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 стрелкой 23">
            <a:extLst>
              <a:ext uri="{FF2B5EF4-FFF2-40B4-BE49-F238E27FC236}">
                <a16:creationId xmlns:a16="http://schemas.microsoft.com/office/drawing/2014/main" id="{15D17148-CF89-4295-BA03-6E589CCB7A14}"/>
              </a:ext>
            </a:extLst>
          </p:cNvPr>
          <p:cNvCxnSpPr>
            <a:cxnSpLocks/>
            <a:stCxn id="18" idx="2"/>
            <a:endCxn id="9" idx="0"/>
          </p:cNvCxnSpPr>
          <p:nvPr/>
        </p:nvCxnSpPr>
        <p:spPr>
          <a:xfrm flipH="1">
            <a:off x="3636887" y="3139700"/>
            <a:ext cx="938982" cy="19987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Прямая со стрелкой 26">
            <a:extLst>
              <a:ext uri="{FF2B5EF4-FFF2-40B4-BE49-F238E27FC236}">
                <a16:creationId xmlns:a16="http://schemas.microsoft.com/office/drawing/2014/main" id="{4A3CADFF-71EC-445E-B788-DC938FC6B2D4}"/>
              </a:ext>
            </a:extLst>
          </p:cNvPr>
          <p:cNvCxnSpPr>
            <a:cxnSpLocks/>
            <a:stCxn id="19" idx="2"/>
            <a:endCxn id="13" idx="0"/>
          </p:cNvCxnSpPr>
          <p:nvPr/>
        </p:nvCxnSpPr>
        <p:spPr>
          <a:xfrm>
            <a:off x="5151933" y="3139700"/>
            <a:ext cx="1286271" cy="19987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 стрелкой 38">
            <a:extLst>
              <a:ext uri="{FF2B5EF4-FFF2-40B4-BE49-F238E27FC236}">
                <a16:creationId xmlns:a16="http://schemas.microsoft.com/office/drawing/2014/main" id="{E04D58C0-E4D6-4892-89CC-FCB45EF65C87}"/>
              </a:ext>
            </a:extLst>
          </p:cNvPr>
          <p:cNvCxnSpPr>
            <a:cxnSpLocks/>
            <a:stCxn id="40" idx="2"/>
            <a:endCxn id="8" idx="0"/>
          </p:cNvCxnSpPr>
          <p:nvPr/>
        </p:nvCxnSpPr>
        <p:spPr>
          <a:xfrm>
            <a:off x="2656751" y="4704104"/>
            <a:ext cx="5765" cy="4343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7F656724-1D94-4C54-A646-A397AA38C886}"/>
              </a:ext>
            </a:extLst>
          </p:cNvPr>
          <p:cNvSpPr txBox="1"/>
          <p:nvPr/>
        </p:nvSpPr>
        <p:spPr>
          <a:xfrm>
            <a:off x="2296711" y="4334772"/>
            <a:ext cx="720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begin</a:t>
            </a:r>
            <a:endParaRPr lang="ru-RU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CF3E800-5B63-4210-BAAC-78BE397487F8}"/>
              </a:ext>
            </a:extLst>
          </p:cNvPr>
          <p:cNvSpPr txBox="1"/>
          <p:nvPr/>
        </p:nvSpPr>
        <p:spPr>
          <a:xfrm>
            <a:off x="6687146" y="4336357"/>
            <a:ext cx="720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end</a:t>
            </a:r>
            <a:endParaRPr lang="ru-RU" dirty="0"/>
          </a:p>
        </p:txBody>
      </p:sp>
      <p:cxnSp>
        <p:nvCxnSpPr>
          <p:cNvPr id="42" name="Прямая со стрелкой 41">
            <a:extLst>
              <a:ext uri="{FF2B5EF4-FFF2-40B4-BE49-F238E27FC236}">
                <a16:creationId xmlns:a16="http://schemas.microsoft.com/office/drawing/2014/main" id="{D7890B05-A957-4623-9456-E33E5A0578BE}"/>
              </a:ext>
            </a:extLst>
          </p:cNvPr>
          <p:cNvCxnSpPr>
            <a:cxnSpLocks/>
            <a:stCxn id="41" idx="2"/>
            <a:endCxn id="14" idx="0"/>
          </p:cNvCxnSpPr>
          <p:nvPr/>
        </p:nvCxnSpPr>
        <p:spPr>
          <a:xfrm>
            <a:off x="7047186" y="4705689"/>
            <a:ext cx="0" cy="4327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Левая фигурная скобка 47">
            <a:extLst>
              <a:ext uri="{FF2B5EF4-FFF2-40B4-BE49-F238E27FC236}">
                <a16:creationId xmlns:a16="http://schemas.microsoft.com/office/drawing/2014/main" id="{7ED414D1-8E08-46E6-907D-DEECC161B7D2}"/>
              </a:ext>
            </a:extLst>
          </p:cNvPr>
          <p:cNvSpPr/>
          <p:nvPr/>
        </p:nvSpPr>
        <p:spPr>
          <a:xfrm rot="16200000">
            <a:off x="1264532" y="5146029"/>
            <a:ext cx="360040" cy="1826946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C891A9B-F3EE-4C0A-B774-5D1720B69824}"/>
              </a:ext>
            </a:extLst>
          </p:cNvPr>
          <p:cNvSpPr txBox="1"/>
          <p:nvPr/>
        </p:nvSpPr>
        <p:spPr>
          <a:xfrm>
            <a:off x="912975" y="6374186"/>
            <a:ext cx="1080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m_offset</a:t>
            </a:r>
            <a:endParaRPr lang="ru-RU" dirty="0"/>
          </a:p>
        </p:txBody>
      </p:sp>
      <p:cxnSp>
        <p:nvCxnSpPr>
          <p:cNvPr id="53" name="Прямая со стрелкой 52">
            <a:extLst>
              <a:ext uri="{FF2B5EF4-FFF2-40B4-BE49-F238E27FC236}">
                <a16:creationId xmlns:a16="http://schemas.microsoft.com/office/drawing/2014/main" id="{B6CC4432-06CE-4A99-8C1A-43457ECCD47B}"/>
              </a:ext>
            </a:extLst>
          </p:cNvPr>
          <p:cNvCxnSpPr>
            <a:stCxn id="51" idx="3"/>
            <a:endCxn id="17" idx="1"/>
          </p:cNvCxnSpPr>
          <p:nvPr/>
        </p:nvCxnSpPr>
        <p:spPr>
          <a:xfrm>
            <a:off x="1986663" y="2143152"/>
            <a:ext cx="1725110" cy="7085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0" name="Группа 69">
            <a:extLst>
              <a:ext uri="{FF2B5EF4-FFF2-40B4-BE49-F238E27FC236}">
                <a16:creationId xmlns:a16="http://schemas.microsoft.com/office/drawing/2014/main" id="{E10BFB11-3F92-45AB-9195-5309A080BFA0}"/>
              </a:ext>
            </a:extLst>
          </p:cNvPr>
          <p:cNvGrpSpPr/>
          <p:nvPr/>
        </p:nvGrpSpPr>
        <p:grpSpPr>
          <a:xfrm>
            <a:off x="531079" y="5138482"/>
            <a:ext cx="10657184" cy="572287"/>
            <a:chOff x="191344" y="4960580"/>
            <a:chExt cx="12601400" cy="576064"/>
          </a:xfrm>
        </p:grpSpPr>
        <p:sp>
          <p:nvSpPr>
            <p:cNvPr id="5" name="Прямоугольник 4">
              <a:extLst>
                <a:ext uri="{FF2B5EF4-FFF2-40B4-BE49-F238E27FC236}">
                  <a16:creationId xmlns:a16="http://schemas.microsoft.com/office/drawing/2014/main" id="{B25792CE-38EC-4935-BEAD-2162743F16AD}"/>
                </a:ext>
              </a:extLst>
            </p:cNvPr>
            <p:cNvSpPr/>
            <p:nvPr/>
          </p:nvSpPr>
          <p:spPr>
            <a:xfrm>
              <a:off x="191344" y="4960580"/>
              <a:ext cx="720080" cy="57606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6" name="Прямоугольник 5">
              <a:extLst>
                <a:ext uri="{FF2B5EF4-FFF2-40B4-BE49-F238E27FC236}">
                  <a16:creationId xmlns:a16="http://schemas.microsoft.com/office/drawing/2014/main" id="{E00E0F79-3E9C-4520-B83C-80AC5B296991}"/>
                </a:ext>
              </a:extLst>
            </p:cNvPr>
            <p:cNvSpPr/>
            <p:nvPr/>
          </p:nvSpPr>
          <p:spPr>
            <a:xfrm>
              <a:off x="911424" y="4960580"/>
              <a:ext cx="720080" cy="57606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7" name="Прямоугольник 6">
              <a:extLst>
                <a:ext uri="{FF2B5EF4-FFF2-40B4-BE49-F238E27FC236}">
                  <a16:creationId xmlns:a16="http://schemas.microsoft.com/office/drawing/2014/main" id="{C619557D-0B61-4D1A-82F3-0EE48E661E9B}"/>
                </a:ext>
              </a:extLst>
            </p:cNvPr>
            <p:cNvSpPr/>
            <p:nvPr/>
          </p:nvSpPr>
          <p:spPr>
            <a:xfrm>
              <a:off x="1631504" y="4960580"/>
              <a:ext cx="720080" cy="57606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Прямоугольник 7">
              <a:extLst>
                <a:ext uri="{FF2B5EF4-FFF2-40B4-BE49-F238E27FC236}">
                  <a16:creationId xmlns:a16="http://schemas.microsoft.com/office/drawing/2014/main" id="{859497B3-97DF-4166-8803-1DD354E7F3DF}"/>
                </a:ext>
              </a:extLst>
            </p:cNvPr>
            <p:cNvSpPr/>
            <p:nvPr/>
          </p:nvSpPr>
          <p:spPr>
            <a:xfrm>
              <a:off x="2351584" y="4960580"/>
              <a:ext cx="720080" cy="5760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dirty="0"/>
                <a:t>0</a:t>
              </a:r>
            </a:p>
          </p:txBody>
        </p:sp>
        <p:sp>
          <p:nvSpPr>
            <p:cNvPr id="9" name="Прямоугольник 8">
              <a:extLst>
                <a:ext uri="{FF2B5EF4-FFF2-40B4-BE49-F238E27FC236}">
                  <a16:creationId xmlns:a16="http://schemas.microsoft.com/office/drawing/2014/main" id="{8E0AF047-C5E4-4E69-82B6-A6BCC2F4EFC9}"/>
                </a:ext>
              </a:extLst>
            </p:cNvPr>
            <p:cNvSpPr/>
            <p:nvPr/>
          </p:nvSpPr>
          <p:spPr>
            <a:xfrm>
              <a:off x="3503712" y="4960580"/>
              <a:ext cx="720080" cy="5760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dirty="0"/>
                <a:t>1</a:t>
              </a:r>
            </a:p>
          </p:txBody>
        </p:sp>
        <p:sp>
          <p:nvSpPr>
            <p:cNvPr id="10" name="Прямоугольник 9">
              <a:extLst>
                <a:ext uri="{FF2B5EF4-FFF2-40B4-BE49-F238E27FC236}">
                  <a16:creationId xmlns:a16="http://schemas.microsoft.com/office/drawing/2014/main" id="{6457DB51-E7D9-4E76-8407-F94D426F17D7}"/>
                </a:ext>
              </a:extLst>
            </p:cNvPr>
            <p:cNvSpPr/>
            <p:nvPr/>
          </p:nvSpPr>
          <p:spPr>
            <a:xfrm>
              <a:off x="4223792" y="4960580"/>
              <a:ext cx="720080" cy="5760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dirty="0"/>
                <a:t>2</a:t>
              </a:r>
            </a:p>
          </p:txBody>
        </p:sp>
        <p:sp>
          <p:nvSpPr>
            <p:cNvPr id="11" name="Прямоугольник 10">
              <a:extLst>
                <a:ext uri="{FF2B5EF4-FFF2-40B4-BE49-F238E27FC236}">
                  <a16:creationId xmlns:a16="http://schemas.microsoft.com/office/drawing/2014/main" id="{35459909-A137-4697-9CE1-0CC0485D1D56}"/>
                </a:ext>
              </a:extLst>
            </p:cNvPr>
            <p:cNvSpPr/>
            <p:nvPr/>
          </p:nvSpPr>
          <p:spPr>
            <a:xfrm>
              <a:off x="4943872" y="4960580"/>
              <a:ext cx="720080" cy="5760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dirty="0"/>
                <a:t>3</a:t>
              </a:r>
            </a:p>
          </p:txBody>
        </p:sp>
        <p:sp>
          <p:nvSpPr>
            <p:cNvPr id="12" name="Прямоугольник 11">
              <a:extLst>
                <a:ext uri="{FF2B5EF4-FFF2-40B4-BE49-F238E27FC236}">
                  <a16:creationId xmlns:a16="http://schemas.microsoft.com/office/drawing/2014/main" id="{1BA2627F-1CFF-437D-8EF9-C5F9BBC09890}"/>
                </a:ext>
              </a:extLst>
            </p:cNvPr>
            <p:cNvSpPr/>
            <p:nvPr/>
          </p:nvSpPr>
          <p:spPr>
            <a:xfrm>
              <a:off x="5663952" y="4960580"/>
              <a:ext cx="720080" cy="5760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dirty="0"/>
                <a:t>4</a:t>
              </a:r>
            </a:p>
          </p:txBody>
        </p:sp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4122403D-6D54-45B3-A0AB-C9349DF1814A}"/>
                </a:ext>
              </a:extLst>
            </p:cNvPr>
            <p:cNvSpPr/>
            <p:nvPr/>
          </p:nvSpPr>
          <p:spPr>
            <a:xfrm>
              <a:off x="6816080" y="4960580"/>
              <a:ext cx="720080" cy="576064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dirty="0"/>
                <a:t>5</a:t>
              </a:r>
            </a:p>
          </p:txBody>
        </p:sp>
        <p:sp>
          <p:nvSpPr>
            <p:cNvPr id="14" name="Прямоугольник 13">
              <a:extLst>
                <a:ext uri="{FF2B5EF4-FFF2-40B4-BE49-F238E27FC236}">
                  <a16:creationId xmlns:a16="http://schemas.microsoft.com/office/drawing/2014/main" id="{0C0962FD-75F8-4D45-A600-6F22D7D73A61}"/>
                </a:ext>
              </a:extLst>
            </p:cNvPr>
            <p:cNvSpPr/>
            <p:nvPr/>
          </p:nvSpPr>
          <p:spPr>
            <a:xfrm>
              <a:off x="7536160" y="4960580"/>
              <a:ext cx="720080" cy="57606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Прямоугольник 14">
              <a:extLst>
                <a:ext uri="{FF2B5EF4-FFF2-40B4-BE49-F238E27FC236}">
                  <a16:creationId xmlns:a16="http://schemas.microsoft.com/office/drawing/2014/main" id="{203261FF-A81F-403F-9041-1DC847CB679A}"/>
                </a:ext>
              </a:extLst>
            </p:cNvPr>
            <p:cNvSpPr/>
            <p:nvPr/>
          </p:nvSpPr>
          <p:spPr>
            <a:xfrm>
              <a:off x="8256240" y="4960580"/>
              <a:ext cx="720080" cy="57606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Прямоугольник 15">
              <a:extLst>
                <a:ext uri="{FF2B5EF4-FFF2-40B4-BE49-F238E27FC236}">
                  <a16:creationId xmlns:a16="http://schemas.microsoft.com/office/drawing/2014/main" id="{25DB68FA-C8AB-4C32-B6E9-726FBDFFB0D6}"/>
                </a:ext>
              </a:extLst>
            </p:cNvPr>
            <p:cNvSpPr/>
            <p:nvPr/>
          </p:nvSpPr>
          <p:spPr>
            <a:xfrm>
              <a:off x="8976320" y="4960580"/>
              <a:ext cx="720080" cy="57606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66" name="Прямоугольник 65">
              <a:extLst>
                <a:ext uri="{FF2B5EF4-FFF2-40B4-BE49-F238E27FC236}">
                  <a16:creationId xmlns:a16="http://schemas.microsoft.com/office/drawing/2014/main" id="{261C5B05-EFA5-454F-8367-78E7E1805EA6}"/>
                </a:ext>
              </a:extLst>
            </p:cNvPr>
            <p:cNvSpPr/>
            <p:nvPr/>
          </p:nvSpPr>
          <p:spPr>
            <a:xfrm>
              <a:off x="9912424" y="4960580"/>
              <a:ext cx="720080" cy="57606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67" name="Прямоугольник 66">
              <a:extLst>
                <a:ext uri="{FF2B5EF4-FFF2-40B4-BE49-F238E27FC236}">
                  <a16:creationId xmlns:a16="http://schemas.microsoft.com/office/drawing/2014/main" id="{E864194F-F535-4F74-886B-42C930950EE6}"/>
                </a:ext>
              </a:extLst>
            </p:cNvPr>
            <p:cNvSpPr/>
            <p:nvPr/>
          </p:nvSpPr>
          <p:spPr>
            <a:xfrm>
              <a:off x="10632504" y="4960580"/>
              <a:ext cx="720080" cy="57606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68" name="Прямоугольник 67">
              <a:extLst>
                <a:ext uri="{FF2B5EF4-FFF2-40B4-BE49-F238E27FC236}">
                  <a16:creationId xmlns:a16="http://schemas.microsoft.com/office/drawing/2014/main" id="{27107238-5A68-4D49-A7E7-E5CADAF89D55}"/>
                </a:ext>
              </a:extLst>
            </p:cNvPr>
            <p:cNvSpPr/>
            <p:nvPr/>
          </p:nvSpPr>
          <p:spPr>
            <a:xfrm>
              <a:off x="11352584" y="4960580"/>
              <a:ext cx="720080" cy="57606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69" name="Прямоугольник 68">
              <a:extLst>
                <a:ext uri="{FF2B5EF4-FFF2-40B4-BE49-F238E27FC236}">
                  <a16:creationId xmlns:a16="http://schemas.microsoft.com/office/drawing/2014/main" id="{4932DB37-ABB1-44F3-A227-691FC474E9C2}"/>
                </a:ext>
              </a:extLst>
            </p:cNvPr>
            <p:cNvSpPr/>
            <p:nvPr/>
          </p:nvSpPr>
          <p:spPr>
            <a:xfrm>
              <a:off x="12072664" y="4960580"/>
              <a:ext cx="720080" cy="57606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cxnSp>
        <p:nvCxnSpPr>
          <p:cNvPr id="74" name="Прямая со стрелкой 73">
            <a:extLst>
              <a:ext uri="{FF2B5EF4-FFF2-40B4-BE49-F238E27FC236}">
                <a16:creationId xmlns:a16="http://schemas.microsoft.com/office/drawing/2014/main" id="{4657374B-4926-4359-8953-609D963C23A2}"/>
              </a:ext>
            </a:extLst>
          </p:cNvPr>
          <p:cNvCxnSpPr>
            <a:cxnSpLocks/>
            <a:stCxn id="20" idx="2"/>
            <a:endCxn id="66" idx="0"/>
          </p:cNvCxnSpPr>
          <p:nvPr/>
        </p:nvCxnSpPr>
        <p:spPr>
          <a:xfrm>
            <a:off x="5727997" y="3139700"/>
            <a:ext cx="3328829" cy="19987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BB6E1F44-4E52-4AB4-83B4-EB6153FB99D2}"/>
              </a:ext>
            </a:extLst>
          </p:cNvPr>
          <p:cNvSpPr txBox="1"/>
          <p:nvPr/>
        </p:nvSpPr>
        <p:spPr>
          <a:xfrm>
            <a:off x="6304061" y="2031704"/>
            <a:ext cx="588793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Размер контейнера </a:t>
            </a:r>
            <a:r>
              <a:rPr lang="en-US" dirty="0" err="1"/>
              <a:t>m_map</a:t>
            </a:r>
            <a:r>
              <a:rPr lang="en-US" dirty="0"/>
              <a:t> </a:t>
            </a:r>
            <a:r>
              <a:rPr lang="ru-RU" dirty="0"/>
              <a:t>и самого блока – степень числа 2.</a:t>
            </a:r>
          </a:p>
          <a:p>
            <a:r>
              <a:rPr lang="ru-RU" dirty="0"/>
              <a:t>Блоки могут быть «закольцованы»</a:t>
            </a:r>
          </a:p>
        </p:txBody>
      </p:sp>
      <p:grpSp>
        <p:nvGrpSpPr>
          <p:cNvPr id="93" name="Группа 92">
            <a:extLst>
              <a:ext uri="{FF2B5EF4-FFF2-40B4-BE49-F238E27FC236}">
                <a16:creationId xmlns:a16="http://schemas.microsoft.com/office/drawing/2014/main" id="{D3E63BA1-2108-4F69-B87C-089EFD91FBBB}"/>
              </a:ext>
            </a:extLst>
          </p:cNvPr>
          <p:cNvGrpSpPr/>
          <p:nvPr/>
        </p:nvGrpSpPr>
        <p:grpSpPr>
          <a:xfrm>
            <a:off x="330479" y="1888167"/>
            <a:ext cx="1656184" cy="2468279"/>
            <a:chOff x="275611" y="1539505"/>
            <a:chExt cx="1656184" cy="2788176"/>
          </a:xfrm>
          <a:solidFill>
            <a:schemeClr val="tx1"/>
          </a:solidFill>
        </p:grpSpPr>
        <p:sp>
          <p:nvSpPr>
            <p:cNvPr id="51" name="Прямоугольник 50">
              <a:extLst>
                <a:ext uri="{FF2B5EF4-FFF2-40B4-BE49-F238E27FC236}">
                  <a16:creationId xmlns:a16="http://schemas.microsoft.com/office/drawing/2014/main" id="{352FAF6E-6C5F-4F4E-8B72-348A65141C36}"/>
                </a:ext>
              </a:extLst>
            </p:cNvPr>
            <p:cNvSpPr/>
            <p:nvPr/>
          </p:nvSpPr>
          <p:spPr>
            <a:xfrm>
              <a:off x="275611" y="1539505"/>
              <a:ext cx="1656184" cy="5760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 err="1"/>
                <a:t>m_map</a:t>
              </a:r>
              <a:endParaRPr lang="ru-RU" dirty="0"/>
            </a:p>
          </p:txBody>
        </p:sp>
        <p:sp>
          <p:nvSpPr>
            <p:cNvPr id="56" name="Прямоугольник 55">
              <a:extLst>
                <a:ext uri="{FF2B5EF4-FFF2-40B4-BE49-F238E27FC236}">
                  <a16:creationId xmlns:a16="http://schemas.microsoft.com/office/drawing/2014/main" id="{8F77F736-F82A-487B-AE36-21757ED48582}"/>
                </a:ext>
              </a:extLst>
            </p:cNvPr>
            <p:cNvSpPr/>
            <p:nvPr/>
          </p:nvSpPr>
          <p:spPr>
            <a:xfrm>
              <a:off x="275611" y="2083844"/>
              <a:ext cx="1656184" cy="5760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 err="1"/>
                <a:t>m_size</a:t>
              </a:r>
              <a:r>
                <a:rPr lang="en-US" dirty="0"/>
                <a:t>: 6</a:t>
              </a:r>
              <a:endParaRPr lang="ru-RU" dirty="0"/>
            </a:p>
          </p:txBody>
        </p:sp>
        <p:sp>
          <p:nvSpPr>
            <p:cNvPr id="57" name="Прямоугольник 56">
              <a:extLst>
                <a:ext uri="{FF2B5EF4-FFF2-40B4-BE49-F238E27FC236}">
                  <a16:creationId xmlns:a16="http://schemas.microsoft.com/office/drawing/2014/main" id="{7C89EBF2-504C-40BC-A277-2227E4325E9B}"/>
                </a:ext>
              </a:extLst>
            </p:cNvPr>
            <p:cNvSpPr/>
            <p:nvPr/>
          </p:nvSpPr>
          <p:spPr>
            <a:xfrm>
              <a:off x="275611" y="2659908"/>
              <a:ext cx="1656184" cy="5760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 err="1"/>
                <a:t>m_offset</a:t>
              </a:r>
              <a:r>
                <a:rPr lang="en-US" dirty="0"/>
                <a:t>: 3</a:t>
              </a:r>
              <a:endParaRPr lang="ru-RU" dirty="0"/>
            </a:p>
          </p:txBody>
        </p:sp>
        <p:sp>
          <p:nvSpPr>
            <p:cNvPr id="79" name="Прямоугольник 78">
              <a:extLst>
                <a:ext uri="{FF2B5EF4-FFF2-40B4-BE49-F238E27FC236}">
                  <a16:creationId xmlns:a16="http://schemas.microsoft.com/office/drawing/2014/main" id="{D3C0C2D5-87F4-49F6-ACF1-FBF205236827}"/>
                </a:ext>
              </a:extLst>
            </p:cNvPr>
            <p:cNvSpPr/>
            <p:nvPr/>
          </p:nvSpPr>
          <p:spPr>
            <a:xfrm>
              <a:off x="275611" y="3204247"/>
              <a:ext cx="1656184" cy="5760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 err="1"/>
                <a:t>m_blockSize</a:t>
              </a:r>
              <a:r>
                <a:rPr lang="en-US" dirty="0"/>
                <a:t>: 4</a:t>
              </a:r>
              <a:endParaRPr lang="ru-RU" dirty="0"/>
            </a:p>
          </p:txBody>
        </p:sp>
        <p:sp>
          <p:nvSpPr>
            <p:cNvPr id="80" name="Прямоугольник 79">
              <a:extLst>
                <a:ext uri="{FF2B5EF4-FFF2-40B4-BE49-F238E27FC236}">
                  <a16:creationId xmlns:a16="http://schemas.microsoft.com/office/drawing/2014/main" id="{103C5629-AF6B-4E68-97E5-64F349A3F19E}"/>
                </a:ext>
              </a:extLst>
            </p:cNvPr>
            <p:cNvSpPr/>
            <p:nvPr/>
          </p:nvSpPr>
          <p:spPr>
            <a:xfrm>
              <a:off x="275611" y="3751617"/>
              <a:ext cx="1656184" cy="5760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 err="1"/>
                <a:t>m_mapSize</a:t>
              </a:r>
              <a:r>
                <a:rPr lang="en-US" dirty="0"/>
                <a:t>: 4</a:t>
              </a:r>
              <a:endParaRPr lang="ru-RU" dirty="0"/>
            </a:p>
          </p:txBody>
        </p:sp>
      </p:grpSp>
      <p:sp>
        <p:nvSpPr>
          <p:cNvPr id="81" name="Левая фигурная скобка 80">
            <a:extLst>
              <a:ext uri="{FF2B5EF4-FFF2-40B4-BE49-F238E27FC236}">
                <a16:creationId xmlns:a16="http://schemas.microsoft.com/office/drawing/2014/main" id="{445F206C-5FC4-4711-9278-050758341055}"/>
              </a:ext>
            </a:extLst>
          </p:cNvPr>
          <p:cNvSpPr/>
          <p:nvPr/>
        </p:nvSpPr>
        <p:spPr>
          <a:xfrm rot="5400000">
            <a:off x="4745846" y="1141890"/>
            <a:ext cx="236108" cy="2304257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3C795FB-5732-4CBA-A943-7F012C5989F0}"/>
              </a:ext>
            </a:extLst>
          </p:cNvPr>
          <p:cNvSpPr txBox="1"/>
          <p:nvPr/>
        </p:nvSpPr>
        <p:spPr>
          <a:xfrm>
            <a:off x="4359845" y="1802904"/>
            <a:ext cx="1080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map size</a:t>
            </a:r>
            <a:endParaRPr lang="ru-RU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33047E4-DCAB-4CF9-9EF3-170B37968F59}"/>
              </a:ext>
            </a:extLst>
          </p:cNvPr>
          <p:cNvSpPr txBox="1"/>
          <p:nvPr/>
        </p:nvSpPr>
        <p:spPr>
          <a:xfrm>
            <a:off x="330479" y="1516151"/>
            <a:ext cx="14999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Deque</a:t>
            </a:r>
            <a:endParaRPr lang="ru-RU" dirty="0"/>
          </a:p>
        </p:txBody>
      </p:sp>
      <p:sp>
        <p:nvSpPr>
          <p:cNvPr id="2" name="Левая фигурная скобка 47">
            <a:extLst>
              <a:ext uri="{FF2B5EF4-FFF2-40B4-BE49-F238E27FC236}">
                <a16:creationId xmlns:a16="http://schemas.microsoft.com/office/drawing/2014/main" id="{B9779C37-229F-7931-D99D-2038650525C3}"/>
              </a:ext>
            </a:extLst>
          </p:cNvPr>
          <p:cNvSpPr/>
          <p:nvPr/>
        </p:nvSpPr>
        <p:spPr>
          <a:xfrm rot="16200000">
            <a:off x="4370340" y="4851461"/>
            <a:ext cx="360040" cy="2435928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556110-0084-F760-893B-34CE67E66D01}"/>
              </a:ext>
            </a:extLst>
          </p:cNvPr>
          <p:cNvSpPr txBox="1"/>
          <p:nvPr/>
        </p:nvSpPr>
        <p:spPr>
          <a:xfrm>
            <a:off x="3636887" y="6374186"/>
            <a:ext cx="18269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m_blockSize</a:t>
            </a:r>
            <a:endParaRPr lang="ru-RU" dirty="0"/>
          </a:p>
        </p:txBody>
      </p:sp>
      <p:sp>
        <p:nvSpPr>
          <p:cNvPr id="23" name="Slide Number Placeholder 22">
            <a:extLst>
              <a:ext uri="{FF2B5EF4-FFF2-40B4-BE49-F238E27FC236}">
                <a16:creationId xmlns:a16="http://schemas.microsoft.com/office/drawing/2014/main" id="{4C279D2E-0514-FF85-EB40-2035BE21D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36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9681609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16">
            <a:extLst>
              <a:ext uri="{FF2B5EF4-FFF2-40B4-BE49-F238E27FC236}">
                <a16:creationId xmlns:a16="http://schemas.microsoft.com/office/drawing/2014/main" id="{C128E09C-945F-A6E9-1E42-AD105921CF25}"/>
              </a:ext>
            </a:extLst>
          </p:cNvPr>
          <p:cNvSpPr/>
          <p:nvPr/>
        </p:nvSpPr>
        <p:spPr>
          <a:xfrm>
            <a:off x="3791744" y="1297216"/>
            <a:ext cx="576064" cy="57606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0</a:t>
            </a:r>
            <a:endParaRPr lang="ru-RU" dirty="0"/>
          </a:p>
        </p:txBody>
      </p:sp>
      <p:sp>
        <p:nvSpPr>
          <p:cNvPr id="4" name="Прямоугольник 17">
            <a:extLst>
              <a:ext uri="{FF2B5EF4-FFF2-40B4-BE49-F238E27FC236}">
                <a16:creationId xmlns:a16="http://schemas.microsoft.com/office/drawing/2014/main" id="{6C02CA1E-F2D2-6C70-6D89-E72B4AFD2F53}"/>
              </a:ext>
            </a:extLst>
          </p:cNvPr>
          <p:cNvSpPr/>
          <p:nvPr/>
        </p:nvSpPr>
        <p:spPr>
          <a:xfrm>
            <a:off x="4367808" y="1297216"/>
            <a:ext cx="576064" cy="57606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ru-RU" dirty="0"/>
          </a:p>
        </p:txBody>
      </p:sp>
      <p:sp>
        <p:nvSpPr>
          <p:cNvPr id="5" name="Прямоугольник 18">
            <a:extLst>
              <a:ext uri="{FF2B5EF4-FFF2-40B4-BE49-F238E27FC236}">
                <a16:creationId xmlns:a16="http://schemas.microsoft.com/office/drawing/2014/main" id="{5A2D582E-8FE4-EA76-85DC-EA407F4B1C38}"/>
              </a:ext>
            </a:extLst>
          </p:cNvPr>
          <p:cNvSpPr/>
          <p:nvPr/>
        </p:nvSpPr>
        <p:spPr>
          <a:xfrm>
            <a:off x="4943872" y="1297216"/>
            <a:ext cx="576064" cy="57606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endParaRPr lang="ru-RU" dirty="0"/>
          </a:p>
        </p:txBody>
      </p:sp>
      <p:sp>
        <p:nvSpPr>
          <p:cNvPr id="6" name="Прямоугольник 19">
            <a:extLst>
              <a:ext uri="{FF2B5EF4-FFF2-40B4-BE49-F238E27FC236}">
                <a16:creationId xmlns:a16="http://schemas.microsoft.com/office/drawing/2014/main" id="{1302E82D-967C-7D0D-FBF2-1E07788BB748}"/>
              </a:ext>
            </a:extLst>
          </p:cNvPr>
          <p:cNvSpPr/>
          <p:nvPr/>
        </p:nvSpPr>
        <p:spPr>
          <a:xfrm>
            <a:off x="5519936" y="1297216"/>
            <a:ext cx="576064" cy="576064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  <a:endParaRPr lang="ru-RU" dirty="0"/>
          </a:p>
        </p:txBody>
      </p:sp>
      <p:cxnSp>
        <p:nvCxnSpPr>
          <p:cNvPr id="7" name="Прямая со стрелкой 21">
            <a:extLst>
              <a:ext uri="{FF2B5EF4-FFF2-40B4-BE49-F238E27FC236}">
                <a16:creationId xmlns:a16="http://schemas.microsoft.com/office/drawing/2014/main" id="{D15B1CBD-DD1A-0C83-1A2F-E59664C047D1}"/>
              </a:ext>
            </a:extLst>
          </p:cNvPr>
          <p:cNvCxnSpPr>
            <a:cxnSpLocks/>
            <a:stCxn id="3" idx="2"/>
            <a:endCxn id="18" idx="0"/>
          </p:cNvCxnSpPr>
          <p:nvPr/>
        </p:nvCxnSpPr>
        <p:spPr>
          <a:xfrm flipH="1">
            <a:off x="691554" y="1873280"/>
            <a:ext cx="3388222" cy="18120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Прямая со стрелкой 23">
            <a:extLst>
              <a:ext uri="{FF2B5EF4-FFF2-40B4-BE49-F238E27FC236}">
                <a16:creationId xmlns:a16="http://schemas.microsoft.com/office/drawing/2014/main" id="{B586D84B-9E62-DCD0-61E4-65B4DA749715}"/>
              </a:ext>
            </a:extLst>
          </p:cNvPr>
          <p:cNvCxnSpPr>
            <a:cxnSpLocks/>
            <a:stCxn id="4" idx="2"/>
            <a:endCxn id="22" idx="0"/>
          </p:cNvCxnSpPr>
          <p:nvPr/>
        </p:nvCxnSpPr>
        <p:spPr>
          <a:xfrm flipH="1">
            <a:off x="3492871" y="1873280"/>
            <a:ext cx="1162969" cy="18120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Прямая со стрелкой 26">
            <a:extLst>
              <a:ext uri="{FF2B5EF4-FFF2-40B4-BE49-F238E27FC236}">
                <a16:creationId xmlns:a16="http://schemas.microsoft.com/office/drawing/2014/main" id="{9A7B2B32-6A0E-D68E-8EDF-60ADF8D470C5}"/>
              </a:ext>
            </a:extLst>
          </p:cNvPr>
          <p:cNvCxnSpPr>
            <a:cxnSpLocks/>
            <a:stCxn id="5" idx="2"/>
            <a:endCxn id="26" idx="0"/>
          </p:cNvCxnSpPr>
          <p:nvPr/>
        </p:nvCxnSpPr>
        <p:spPr>
          <a:xfrm>
            <a:off x="5231904" y="1873280"/>
            <a:ext cx="1062284" cy="18120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Прямая со стрелкой 38">
            <a:extLst>
              <a:ext uri="{FF2B5EF4-FFF2-40B4-BE49-F238E27FC236}">
                <a16:creationId xmlns:a16="http://schemas.microsoft.com/office/drawing/2014/main" id="{5907E10B-87D7-0CEA-5C38-15321731FD69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5356099" y="3250969"/>
            <a:ext cx="0" cy="4343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243BC143-4A6D-2268-5F46-E69BF2703DBC}"/>
              </a:ext>
            </a:extLst>
          </p:cNvPr>
          <p:cNvSpPr txBox="1"/>
          <p:nvPr/>
        </p:nvSpPr>
        <p:spPr>
          <a:xfrm>
            <a:off x="4996059" y="2881637"/>
            <a:ext cx="720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begin</a:t>
            </a:r>
            <a:endParaRPr lang="ru-RU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E39432-AE31-BBF4-7090-1A9103130AFD}"/>
              </a:ext>
            </a:extLst>
          </p:cNvPr>
          <p:cNvSpPr txBox="1"/>
          <p:nvPr/>
        </p:nvSpPr>
        <p:spPr>
          <a:xfrm>
            <a:off x="1605027" y="2881637"/>
            <a:ext cx="720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end</a:t>
            </a:r>
            <a:endParaRPr lang="ru-RU" dirty="0"/>
          </a:p>
        </p:txBody>
      </p:sp>
      <p:cxnSp>
        <p:nvCxnSpPr>
          <p:cNvPr id="13" name="Прямая со стрелкой 41">
            <a:extLst>
              <a:ext uri="{FF2B5EF4-FFF2-40B4-BE49-F238E27FC236}">
                <a16:creationId xmlns:a16="http://schemas.microsoft.com/office/drawing/2014/main" id="{9E326452-6C4D-DEE4-4EF0-1076D7A8C219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1965067" y="3250969"/>
            <a:ext cx="0" cy="4327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Левая фигурная скобка 47">
            <a:extLst>
              <a:ext uri="{FF2B5EF4-FFF2-40B4-BE49-F238E27FC236}">
                <a16:creationId xmlns:a16="http://schemas.microsoft.com/office/drawing/2014/main" id="{A4F33A29-CF2D-940A-8661-D3FFE58FCEBD}"/>
              </a:ext>
            </a:extLst>
          </p:cNvPr>
          <p:cNvSpPr/>
          <p:nvPr/>
        </p:nvSpPr>
        <p:spPr>
          <a:xfrm rot="16200000">
            <a:off x="2521174" y="2292235"/>
            <a:ext cx="360040" cy="4628263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509793B-15CE-85D7-C544-DD8F13941DA3}"/>
              </a:ext>
            </a:extLst>
          </p:cNvPr>
          <p:cNvSpPr txBox="1"/>
          <p:nvPr/>
        </p:nvSpPr>
        <p:spPr>
          <a:xfrm>
            <a:off x="6903170" y="5536578"/>
            <a:ext cx="1080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ighlight>
                  <a:srgbClr val="FF00FF"/>
                </a:highlight>
              </a:rPr>
              <a:t>pos</a:t>
            </a:r>
            <a:r>
              <a:rPr lang="en-US" dirty="0"/>
              <a:t> = 7</a:t>
            </a:r>
            <a:endParaRPr lang="ru-RU" dirty="0"/>
          </a:p>
        </p:txBody>
      </p:sp>
      <p:cxnSp>
        <p:nvCxnSpPr>
          <p:cNvPr id="16" name="Прямая со стрелкой 52">
            <a:extLst>
              <a:ext uri="{FF2B5EF4-FFF2-40B4-BE49-F238E27FC236}">
                <a16:creationId xmlns:a16="http://schemas.microsoft.com/office/drawing/2014/main" id="{68245ED2-BF47-DD9C-C57E-95200183ADD9}"/>
              </a:ext>
            </a:extLst>
          </p:cNvPr>
          <p:cNvCxnSpPr>
            <a:stCxn id="36" idx="3"/>
            <a:endCxn id="3" idx="1"/>
          </p:cNvCxnSpPr>
          <p:nvPr/>
        </p:nvCxnSpPr>
        <p:spPr>
          <a:xfrm>
            <a:off x="1842647" y="674032"/>
            <a:ext cx="1949097" cy="9112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Прямоугольник 4">
            <a:extLst>
              <a:ext uri="{FF2B5EF4-FFF2-40B4-BE49-F238E27FC236}">
                <a16:creationId xmlns:a16="http://schemas.microsoft.com/office/drawing/2014/main" id="{C0326071-9B04-0746-EBB9-5FBBC28FBF16}"/>
              </a:ext>
            </a:extLst>
          </p:cNvPr>
          <p:cNvSpPr/>
          <p:nvPr/>
        </p:nvSpPr>
        <p:spPr>
          <a:xfrm>
            <a:off x="387063" y="3685347"/>
            <a:ext cx="608982" cy="572287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9</a:t>
            </a:r>
          </a:p>
        </p:txBody>
      </p:sp>
      <p:sp>
        <p:nvSpPr>
          <p:cNvPr id="19" name="Прямоугольник 5">
            <a:extLst>
              <a:ext uri="{FF2B5EF4-FFF2-40B4-BE49-F238E27FC236}">
                <a16:creationId xmlns:a16="http://schemas.microsoft.com/office/drawing/2014/main" id="{77FF2FDF-6664-5A5E-D3F1-B4CAE05633F5}"/>
              </a:ext>
            </a:extLst>
          </p:cNvPr>
          <p:cNvSpPr/>
          <p:nvPr/>
        </p:nvSpPr>
        <p:spPr>
          <a:xfrm>
            <a:off x="996045" y="3685347"/>
            <a:ext cx="608982" cy="572287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10</a:t>
            </a:r>
          </a:p>
        </p:txBody>
      </p:sp>
      <p:sp>
        <p:nvSpPr>
          <p:cNvPr id="20" name="Прямоугольник 6">
            <a:extLst>
              <a:ext uri="{FF2B5EF4-FFF2-40B4-BE49-F238E27FC236}">
                <a16:creationId xmlns:a16="http://schemas.microsoft.com/office/drawing/2014/main" id="{DC9B841E-9B70-78DC-BF5B-2AEA0E21E85E}"/>
              </a:ext>
            </a:extLst>
          </p:cNvPr>
          <p:cNvSpPr/>
          <p:nvPr/>
        </p:nvSpPr>
        <p:spPr>
          <a:xfrm>
            <a:off x="1605027" y="3685347"/>
            <a:ext cx="608982" cy="57228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Прямоугольник 7">
            <a:extLst>
              <a:ext uri="{FF2B5EF4-FFF2-40B4-BE49-F238E27FC236}">
                <a16:creationId xmlns:a16="http://schemas.microsoft.com/office/drawing/2014/main" id="{EB14611A-89E6-931E-8274-26AB6EC82C22}"/>
              </a:ext>
            </a:extLst>
          </p:cNvPr>
          <p:cNvSpPr/>
          <p:nvPr/>
        </p:nvSpPr>
        <p:spPr>
          <a:xfrm>
            <a:off x="2214009" y="3685347"/>
            <a:ext cx="608982" cy="57228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Прямоугольник 8">
            <a:extLst>
              <a:ext uri="{FF2B5EF4-FFF2-40B4-BE49-F238E27FC236}">
                <a16:creationId xmlns:a16="http://schemas.microsoft.com/office/drawing/2014/main" id="{828C4D1B-7B7D-B14F-8BBE-450E16053437}"/>
              </a:ext>
            </a:extLst>
          </p:cNvPr>
          <p:cNvSpPr/>
          <p:nvPr/>
        </p:nvSpPr>
        <p:spPr>
          <a:xfrm>
            <a:off x="3188380" y="3685347"/>
            <a:ext cx="608982" cy="57228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Прямоугольник 9">
            <a:extLst>
              <a:ext uri="{FF2B5EF4-FFF2-40B4-BE49-F238E27FC236}">
                <a16:creationId xmlns:a16="http://schemas.microsoft.com/office/drawing/2014/main" id="{792BD7D9-CF9A-DBC4-AD74-75EC75A60D8F}"/>
              </a:ext>
            </a:extLst>
          </p:cNvPr>
          <p:cNvSpPr/>
          <p:nvPr/>
        </p:nvSpPr>
        <p:spPr>
          <a:xfrm>
            <a:off x="3797362" y="3685347"/>
            <a:ext cx="608982" cy="57228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4" name="Прямоугольник 10">
            <a:extLst>
              <a:ext uri="{FF2B5EF4-FFF2-40B4-BE49-F238E27FC236}">
                <a16:creationId xmlns:a16="http://schemas.microsoft.com/office/drawing/2014/main" id="{70D186E9-333C-2DB0-D634-2F9DD6971E95}"/>
              </a:ext>
            </a:extLst>
          </p:cNvPr>
          <p:cNvSpPr/>
          <p:nvPr/>
        </p:nvSpPr>
        <p:spPr>
          <a:xfrm>
            <a:off x="4406344" y="3685347"/>
            <a:ext cx="608982" cy="57228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Прямоугольник 11">
            <a:extLst>
              <a:ext uri="{FF2B5EF4-FFF2-40B4-BE49-F238E27FC236}">
                <a16:creationId xmlns:a16="http://schemas.microsoft.com/office/drawing/2014/main" id="{6FB28468-9D96-18B0-4C3F-A3C3D7BD523D}"/>
              </a:ext>
            </a:extLst>
          </p:cNvPr>
          <p:cNvSpPr/>
          <p:nvPr/>
        </p:nvSpPr>
        <p:spPr>
          <a:xfrm>
            <a:off x="5015326" y="3685347"/>
            <a:ext cx="608982" cy="572287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0</a:t>
            </a:r>
          </a:p>
        </p:txBody>
      </p:sp>
      <p:sp>
        <p:nvSpPr>
          <p:cNvPr id="26" name="Прямоугольник 12">
            <a:extLst>
              <a:ext uri="{FF2B5EF4-FFF2-40B4-BE49-F238E27FC236}">
                <a16:creationId xmlns:a16="http://schemas.microsoft.com/office/drawing/2014/main" id="{2A2A72F8-2A3E-8A0A-14FD-2DEB03AD748B}"/>
              </a:ext>
            </a:extLst>
          </p:cNvPr>
          <p:cNvSpPr/>
          <p:nvPr/>
        </p:nvSpPr>
        <p:spPr>
          <a:xfrm>
            <a:off x="5989697" y="3685347"/>
            <a:ext cx="608982" cy="572287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1</a:t>
            </a:r>
          </a:p>
        </p:txBody>
      </p:sp>
      <p:sp>
        <p:nvSpPr>
          <p:cNvPr id="27" name="Прямоугольник 13">
            <a:extLst>
              <a:ext uri="{FF2B5EF4-FFF2-40B4-BE49-F238E27FC236}">
                <a16:creationId xmlns:a16="http://schemas.microsoft.com/office/drawing/2014/main" id="{8C777EA9-5808-BAB1-ABE8-A96B8793A3FD}"/>
              </a:ext>
            </a:extLst>
          </p:cNvPr>
          <p:cNvSpPr/>
          <p:nvPr/>
        </p:nvSpPr>
        <p:spPr>
          <a:xfrm>
            <a:off x="6598679" y="3685347"/>
            <a:ext cx="608982" cy="572287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2</a:t>
            </a:r>
          </a:p>
        </p:txBody>
      </p:sp>
      <p:sp>
        <p:nvSpPr>
          <p:cNvPr id="28" name="Прямоугольник 14">
            <a:extLst>
              <a:ext uri="{FF2B5EF4-FFF2-40B4-BE49-F238E27FC236}">
                <a16:creationId xmlns:a16="http://schemas.microsoft.com/office/drawing/2014/main" id="{6A76C8D2-4797-C2E4-2D5A-5669819308B8}"/>
              </a:ext>
            </a:extLst>
          </p:cNvPr>
          <p:cNvSpPr/>
          <p:nvPr/>
        </p:nvSpPr>
        <p:spPr>
          <a:xfrm>
            <a:off x="7207661" y="3685347"/>
            <a:ext cx="608982" cy="572287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3</a:t>
            </a:r>
          </a:p>
        </p:txBody>
      </p:sp>
      <p:sp>
        <p:nvSpPr>
          <p:cNvPr id="29" name="Прямоугольник 15">
            <a:extLst>
              <a:ext uri="{FF2B5EF4-FFF2-40B4-BE49-F238E27FC236}">
                <a16:creationId xmlns:a16="http://schemas.microsoft.com/office/drawing/2014/main" id="{0196ED83-691D-6DE5-6F34-51F245F803C1}"/>
              </a:ext>
            </a:extLst>
          </p:cNvPr>
          <p:cNvSpPr/>
          <p:nvPr/>
        </p:nvSpPr>
        <p:spPr>
          <a:xfrm>
            <a:off x="7816643" y="3685347"/>
            <a:ext cx="608982" cy="572287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4</a:t>
            </a:r>
          </a:p>
        </p:txBody>
      </p:sp>
      <p:sp>
        <p:nvSpPr>
          <p:cNvPr id="30" name="Прямоугольник 65">
            <a:extLst>
              <a:ext uri="{FF2B5EF4-FFF2-40B4-BE49-F238E27FC236}">
                <a16:creationId xmlns:a16="http://schemas.microsoft.com/office/drawing/2014/main" id="{55142B47-770F-96EB-C3B8-2EC6A0BCAC55}"/>
              </a:ext>
            </a:extLst>
          </p:cNvPr>
          <p:cNvSpPr/>
          <p:nvPr/>
        </p:nvSpPr>
        <p:spPr>
          <a:xfrm>
            <a:off x="8608319" y="3685347"/>
            <a:ext cx="608982" cy="572287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5</a:t>
            </a:r>
          </a:p>
        </p:txBody>
      </p:sp>
      <p:sp>
        <p:nvSpPr>
          <p:cNvPr id="31" name="Прямоугольник 66">
            <a:extLst>
              <a:ext uri="{FF2B5EF4-FFF2-40B4-BE49-F238E27FC236}">
                <a16:creationId xmlns:a16="http://schemas.microsoft.com/office/drawing/2014/main" id="{42A18FC7-25AD-D8FF-0627-3B35F025E35D}"/>
              </a:ext>
            </a:extLst>
          </p:cNvPr>
          <p:cNvSpPr/>
          <p:nvPr/>
        </p:nvSpPr>
        <p:spPr>
          <a:xfrm>
            <a:off x="9217301" y="3685347"/>
            <a:ext cx="608982" cy="572287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6</a:t>
            </a:r>
          </a:p>
        </p:txBody>
      </p:sp>
      <p:sp>
        <p:nvSpPr>
          <p:cNvPr id="32" name="Прямоугольник 67">
            <a:extLst>
              <a:ext uri="{FF2B5EF4-FFF2-40B4-BE49-F238E27FC236}">
                <a16:creationId xmlns:a16="http://schemas.microsoft.com/office/drawing/2014/main" id="{F5132CE6-6CD2-738A-5447-0AF398C248C3}"/>
              </a:ext>
            </a:extLst>
          </p:cNvPr>
          <p:cNvSpPr/>
          <p:nvPr/>
        </p:nvSpPr>
        <p:spPr>
          <a:xfrm>
            <a:off x="9826283" y="3685347"/>
            <a:ext cx="608982" cy="572287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7</a:t>
            </a:r>
          </a:p>
        </p:txBody>
      </p:sp>
      <p:sp>
        <p:nvSpPr>
          <p:cNvPr id="33" name="Прямоугольник 68">
            <a:extLst>
              <a:ext uri="{FF2B5EF4-FFF2-40B4-BE49-F238E27FC236}">
                <a16:creationId xmlns:a16="http://schemas.microsoft.com/office/drawing/2014/main" id="{D980DE36-B91A-4ABD-A52C-6F63C4D68C88}"/>
              </a:ext>
            </a:extLst>
          </p:cNvPr>
          <p:cNvSpPr/>
          <p:nvPr/>
        </p:nvSpPr>
        <p:spPr>
          <a:xfrm>
            <a:off x="10435265" y="3685347"/>
            <a:ext cx="608982" cy="572287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8</a:t>
            </a:r>
          </a:p>
        </p:txBody>
      </p:sp>
      <p:cxnSp>
        <p:nvCxnSpPr>
          <p:cNvPr id="34" name="Прямая со стрелкой 73">
            <a:extLst>
              <a:ext uri="{FF2B5EF4-FFF2-40B4-BE49-F238E27FC236}">
                <a16:creationId xmlns:a16="http://schemas.microsoft.com/office/drawing/2014/main" id="{E26873CC-22EF-C0FB-F82A-AD0828132A7A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>
            <a:off x="5807968" y="1873280"/>
            <a:ext cx="3104842" cy="18120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5" name="Группа 92">
            <a:extLst>
              <a:ext uri="{FF2B5EF4-FFF2-40B4-BE49-F238E27FC236}">
                <a16:creationId xmlns:a16="http://schemas.microsoft.com/office/drawing/2014/main" id="{A90CD938-522A-BED0-EBBB-143EFC2097F0}"/>
              </a:ext>
            </a:extLst>
          </p:cNvPr>
          <p:cNvGrpSpPr/>
          <p:nvPr/>
        </p:nvGrpSpPr>
        <p:grpSpPr>
          <a:xfrm>
            <a:off x="186463" y="435033"/>
            <a:ext cx="1656184" cy="2313526"/>
            <a:chOff x="275611" y="1539505"/>
            <a:chExt cx="1656184" cy="2788176"/>
          </a:xfrm>
          <a:solidFill>
            <a:schemeClr val="tx1"/>
          </a:solidFill>
        </p:grpSpPr>
        <p:sp>
          <p:nvSpPr>
            <p:cNvPr id="36" name="Прямоугольник 50">
              <a:extLst>
                <a:ext uri="{FF2B5EF4-FFF2-40B4-BE49-F238E27FC236}">
                  <a16:creationId xmlns:a16="http://schemas.microsoft.com/office/drawing/2014/main" id="{4D6804C8-77CD-8E04-97B7-9DD59DAFB874}"/>
                </a:ext>
              </a:extLst>
            </p:cNvPr>
            <p:cNvSpPr/>
            <p:nvPr/>
          </p:nvSpPr>
          <p:spPr>
            <a:xfrm>
              <a:off x="275611" y="1539505"/>
              <a:ext cx="1656184" cy="5760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 err="1"/>
                <a:t>m_map</a:t>
              </a:r>
              <a:endParaRPr lang="ru-RU" dirty="0"/>
            </a:p>
          </p:txBody>
        </p:sp>
        <p:sp>
          <p:nvSpPr>
            <p:cNvPr id="37" name="Прямоугольник 55">
              <a:extLst>
                <a:ext uri="{FF2B5EF4-FFF2-40B4-BE49-F238E27FC236}">
                  <a16:creationId xmlns:a16="http://schemas.microsoft.com/office/drawing/2014/main" id="{DA56C232-9151-4DA2-B5B1-4D2CC2A34E99}"/>
                </a:ext>
              </a:extLst>
            </p:cNvPr>
            <p:cNvSpPr/>
            <p:nvPr/>
          </p:nvSpPr>
          <p:spPr>
            <a:xfrm>
              <a:off x="275611" y="2083844"/>
              <a:ext cx="1656184" cy="5760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 err="1"/>
                <a:t>m_size</a:t>
              </a:r>
              <a:r>
                <a:rPr lang="en-US" dirty="0"/>
                <a:t>: </a:t>
              </a:r>
              <a:r>
                <a:rPr lang="ru-RU" dirty="0"/>
                <a:t>11</a:t>
              </a:r>
            </a:p>
          </p:txBody>
        </p:sp>
        <p:sp>
          <p:nvSpPr>
            <p:cNvPr id="38" name="Прямоугольник 56">
              <a:extLst>
                <a:ext uri="{FF2B5EF4-FFF2-40B4-BE49-F238E27FC236}">
                  <a16:creationId xmlns:a16="http://schemas.microsoft.com/office/drawing/2014/main" id="{698740A2-00BF-C726-FA8E-EB43039843BB}"/>
                </a:ext>
              </a:extLst>
            </p:cNvPr>
            <p:cNvSpPr/>
            <p:nvPr/>
          </p:nvSpPr>
          <p:spPr>
            <a:xfrm>
              <a:off x="275611" y="2659908"/>
              <a:ext cx="1656184" cy="5760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 err="1"/>
                <a:t>m_offset</a:t>
              </a:r>
              <a:r>
                <a:rPr lang="en-US" dirty="0"/>
                <a:t>: </a:t>
              </a:r>
              <a:r>
                <a:rPr lang="ru-RU" dirty="0"/>
                <a:t>7</a:t>
              </a:r>
            </a:p>
          </p:txBody>
        </p:sp>
        <p:sp>
          <p:nvSpPr>
            <p:cNvPr id="39" name="Прямоугольник 78">
              <a:extLst>
                <a:ext uri="{FF2B5EF4-FFF2-40B4-BE49-F238E27FC236}">
                  <a16:creationId xmlns:a16="http://schemas.microsoft.com/office/drawing/2014/main" id="{DC799D1E-B69D-8F3B-C8D4-8C693721103A}"/>
                </a:ext>
              </a:extLst>
            </p:cNvPr>
            <p:cNvSpPr/>
            <p:nvPr/>
          </p:nvSpPr>
          <p:spPr>
            <a:xfrm>
              <a:off x="275611" y="3204247"/>
              <a:ext cx="1656184" cy="5760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 err="1"/>
                <a:t>m_blockSize</a:t>
              </a:r>
              <a:r>
                <a:rPr lang="en-US" dirty="0"/>
                <a:t>: 4</a:t>
              </a:r>
              <a:endParaRPr lang="ru-RU" dirty="0"/>
            </a:p>
          </p:txBody>
        </p:sp>
        <p:sp>
          <p:nvSpPr>
            <p:cNvPr id="40" name="Прямоугольник 79">
              <a:extLst>
                <a:ext uri="{FF2B5EF4-FFF2-40B4-BE49-F238E27FC236}">
                  <a16:creationId xmlns:a16="http://schemas.microsoft.com/office/drawing/2014/main" id="{78BDD662-828B-7AEC-CB1B-35F3543DA1B0}"/>
                </a:ext>
              </a:extLst>
            </p:cNvPr>
            <p:cNvSpPr/>
            <p:nvPr/>
          </p:nvSpPr>
          <p:spPr>
            <a:xfrm>
              <a:off x="275611" y="3751617"/>
              <a:ext cx="1656184" cy="576064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 err="1"/>
                <a:t>m_mapSize</a:t>
              </a:r>
              <a:r>
                <a:rPr lang="en-US" dirty="0"/>
                <a:t>: 4</a:t>
              </a:r>
              <a:endParaRPr lang="ru-RU" dirty="0"/>
            </a:p>
          </p:txBody>
        </p:sp>
      </p:grpSp>
      <p:sp>
        <p:nvSpPr>
          <p:cNvPr id="41" name="Левая фигурная скобка 80">
            <a:extLst>
              <a:ext uri="{FF2B5EF4-FFF2-40B4-BE49-F238E27FC236}">
                <a16:creationId xmlns:a16="http://schemas.microsoft.com/office/drawing/2014/main" id="{E6107FE0-98F6-073E-4B7E-FB343B1CAB10}"/>
              </a:ext>
            </a:extLst>
          </p:cNvPr>
          <p:cNvSpPr/>
          <p:nvPr/>
        </p:nvSpPr>
        <p:spPr>
          <a:xfrm rot="5400000">
            <a:off x="4825817" y="-124530"/>
            <a:ext cx="236108" cy="2304257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5CAD3F9-DB7A-E2CC-66E3-1E8F225C26D0}"/>
              </a:ext>
            </a:extLst>
          </p:cNvPr>
          <p:cNvSpPr txBox="1"/>
          <p:nvPr/>
        </p:nvSpPr>
        <p:spPr>
          <a:xfrm>
            <a:off x="4439816" y="536484"/>
            <a:ext cx="1080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map size</a:t>
            </a:r>
            <a:endParaRPr lang="ru-RU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A0842E1-7D73-BCE1-22FB-BF80236D6400}"/>
              </a:ext>
            </a:extLst>
          </p:cNvPr>
          <p:cNvSpPr txBox="1"/>
          <p:nvPr/>
        </p:nvSpPr>
        <p:spPr>
          <a:xfrm>
            <a:off x="186463" y="63016"/>
            <a:ext cx="14999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Deque</a:t>
            </a:r>
            <a:endParaRPr lang="ru-RU" dirty="0"/>
          </a:p>
        </p:txBody>
      </p:sp>
      <p:sp>
        <p:nvSpPr>
          <p:cNvPr id="44" name="Левая фигурная скобка 47">
            <a:extLst>
              <a:ext uri="{FF2B5EF4-FFF2-40B4-BE49-F238E27FC236}">
                <a16:creationId xmlns:a16="http://schemas.microsoft.com/office/drawing/2014/main" id="{89DA9227-D2A6-8ADD-0F14-88A21E540273}"/>
              </a:ext>
            </a:extLst>
          </p:cNvPr>
          <p:cNvSpPr/>
          <p:nvPr/>
        </p:nvSpPr>
        <p:spPr>
          <a:xfrm rot="16200000">
            <a:off x="6992182" y="3392999"/>
            <a:ext cx="360040" cy="2435928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FAFD715-63D1-C553-134A-93475EE05CDF}"/>
              </a:ext>
            </a:extLst>
          </p:cNvPr>
          <p:cNvSpPr txBox="1"/>
          <p:nvPr/>
        </p:nvSpPr>
        <p:spPr>
          <a:xfrm>
            <a:off x="6279660" y="4787832"/>
            <a:ext cx="17705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m_blockSize</a:t>
            </a:r>
            <a:r>
              <a:rPr lang="en-US" dirty="0"/>
              <a:t> = 4</a:t>
            </a:r>
            <a:endParaRPr lang="ru-RU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3A0A9C9-FECA-4295-810D-A19EABFA8B72}"/>
              </a:ext>
            </a:extLst>
          </p:cNvPr>
          <p:cNvSpPr txBox="1"/>
          <p:nvPr/>
        </p:nvSpPr>
        <p:spPr>
          <a:xfrm>
            <a:off x="6279660" y="96751"/>
            <a:ext cx="5736076" cy="170816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500" dirty="0">
                <a:latin typeface="Consolas" panose="020B0609020204030204" pitchFamily="49" charset="0"/>
              </a:rPr>
              <a:t>//</a:t>
            </a:r>
            <a:r>
              <a:rPr lang="ru-RU" sz="1500" dirty="0">
                <a:latin typeface="Consolas" panose="020B0609020204030204" pitchFamily="49" charset="0"/>
              </a:rPr>
              <a:t>Получение ссылки на элемент</a:t>
            </a:r>
            <a:r>
              <a:rPr lang="en-US" sz="1500" dirty="0">
                <a:latin typeface="Consolas" panose="020B0609020204030204" pitchFamily="49" charset="0"/>
              </a:rPr>
              <a:t> </a:t>
            </a:r>
            <a:r>
              <a:rPr lang="ru-RU" sz="1500" dirty="0">
                <a:latin typeface="Consolas" panose="020B0609020204030204" pitchFamily="49" charset="0"/>
              </a:rPr>
              <a:t>с индексом </a:t>
            </a:r>
            <a:r>
              <a:rPr lang="en-US" sz="1500" dirty="0">
                <a:latin typeface="Consolas" panose="020B0609020204030204" pitchFamily="49" charset="0"/>
              </a:rPr>
              <a:t>pos:</a:t>
            </a:r>
          </a:p>
          <a:p>
            <a:r>
              <a:rPr lang="en-US" sz="1500" dirty="0">
                <a:latin typeface="Consolas" panose="020B0609020204030204" pitchFamily="49" charset="0"/>
              </a:rPr>
              <a:t>Item&amp; deque&lt;Item&gt;::operator[](</a:t>
            </a:r>
            <a:r>
              <a:rPr lang="en-US" sz="1500" dirty="0" err="1">
                <a:latin typeface="Consolas" panose="020B0609020204030204" pitchFamily="49" charset="0"/>
              </a:rPr>
              <a:t>size_t</a:t>
            </a:r>
            <a:r>
              <a:rPr lang="en-US" sz="1500" dirty="0">
                <a:latin typeface="Consolas" panose="020B0609020204030204" pitchFamily="49" charset="0"/>
              </a:rPr>
              <a:t> </a:t>
            </a:r>
            <a:r>
              <a:rPr lang="en-US" sz="1500" dirty="0">
                <a:highlight>
                  <a:srgbClr val="FF00FF"/>
                </a:highlight>
                <a:latin typeface="Consolas" panose="020B0609020204030204" pitchFamily="49" charset="0"/>
              </a:rPr>
              <a:t>pos</a:t>
            </a:r>
            <a:r>
              <a:rPr lang="en-US" sz="1500" dirty="0">
                <a:latin typeface="Consolas" panose="020B0609020204030204" pitchFamily="49" charset="0"/>
              </a:rPr>
              <a:t>) {</a:t>
            </a:r>
          </a:p>
          <a:p>
            <a:r>
              <a:rPr lang="en-US" sz="1500" dirty="0">
                <a:latin typeface="Consolas" panose="020B0609020204030204" pitchFamily="49" charset="0"/>
              </a:rPr>
              <a:t>  auto </a:t>
            </a:r>
            <a:r>
              <a:rPr lang="en-US" sz="1500" dirty="0">
                <a:highlight>
                  <a:srgbClr val="00FFFF"/>
                </a:highlight>
                <a:latin typeface="Consolas" panose="020B0609020204030204" pitchFamily="49" charset="0"/>
              </a:rPr>
              <a:t>off</a:t>
            </a:r>
            <a:r>
              <a:rPr lang="en-US" sz="1500" dirty="0">
                <a:latin typeface="Consolas" panose="020B0609020204030204" pitchFamily="49" charset="0"/>
              </a:rPr>
              <a:t> = </a:t>
            </a:r>
            <a:r>
              <a:rPr lang="en-US" sz="1500" dirty="0">
                <a:highlight>
                  <a:srgbClr val="FF00FF"/>
                </a:highlight>
                <a:latin typeface="Consolas" panose="020B0609020204030204" pitchFamily="49" charset="0"/>
              </a:rPr>
              <a:t>pos</a:t>
            </a:r>
            <a:r>
              <a:rPr lang="en-US" sz="1500" dirty="0">
                <a:latin typeface="Consolas" panose="020B0609020204030204" pitchFamily="49" charset="0"/>
              </a:rPr>
              <a:t> + </a:t>
            </a:r>
            <a:r>
              <a:rPr lang="en-US" sz="1500" dirty="0" err="1">
                <a:latin typeface="Consolas" panose="020B0609020204030204" pitchFamily="49" charset="0"/>
              </a:rPr>
              <a:t>m_offset</a:t>
            </a:r>
            <a:r>
              <a:rPr lang="en-US" sz="1500" dirty="0">
                <a:latin typeface="Consolas" panose="020B0609020204030204" pitchFamily="49" charset="0"/>
              </a:rPr>
              <a:t>;</a:t>
            </a:r>
          </a:p>
          <a:p>
            <a:r>
              <a:rPr lang="en-US" sz="1500" dirty="0">
                <a:latin typeface="Consolas" panose="020B0609020204030204" pitchFamily="49" charset="0"/>
              </a:rPr>
              <a:t>  auto </a:t>
            </a:r>
            <a:r>
              <a:rPr lang="en-US" sz="1500" dirty="0">
                <a:highlight>
                  <a:srgbClr val="C0C0C0"/>
                </a:highlight>
                <a:latin typeface="Consolas" panose="020B0609020204030204" pitchFamily="49" charset="0"/>
              </a:rPr>
              <a:t>block</a:t>
            </a:r>
            <a:r>
              <a:rPr lang="en-US" sz="1500" dirty="0">
                <a:latin typeface="Consolas" panose="020B0609020204030204" pitchFamily="49" charset="0"/>
              </a:rPr>
              <a:t> = (off / </a:t>
            </a:r>
            <a:r>
              <a:rPr lang="en-US" sz="1500" dirty="0" err="1">
                <a:latin typeface="Consolas" panose="020B0609020204030204" pitchFamily="49" charset="0"/>
              </a:rPr>
              <a:t>m_blockSize</a:t>
            </a:r>
            <a:r>
              <a:rPr lang="en-US" sz="1500" dirty="0">
                <a:latin typeface="Consolas" panose="020B0609020204030204" pitchFamily="49" charset="0"/>
              </a:rPr>
              <a:t>) </a:t>
            </a:r>
            <a:r>
              <a:rPr lang="en-US" sz="1500" dirty="0">
                <a:highlight>
                  <a:srgbClr val="FFFF00"/>
                </a:highlight>
                <a:latin typeface="Consolas" panose="020B0609020204030204" pitchFamily="49" charset="0"/>
              </a:rPr>
              <a:t>&amp; (</a:t>
            </a:r>
            <a:r>
              <a:rPr lang="en-US" sz="1500" dirty="0" err="1">
                <a:highlight>
                  <a:srgbClr val="FFFF00"/>
                </a:highlight>
                <a:latin typeface="Consolas" panose="020B0609020204030204" pitchFamily="49" charset="0"/>
              </a:rPr>
              <a:t>m_mapSize</a:t>
            </a:r>
            <a:r>
              <a:rPr lang="en-US" sz="1500" dirty="0">
                <a:highlight>
                  <a:srgbClr val="FFFF00"/>
                </a:highlight>
                <a:latin typeface="Consolas" panose="020B0609020204030204" pitchFamily="49" charset="0"/>
              </a:rPr>
              <a:t> – 1)</a:t>
            </a:r>
            <a:r>
              <a:rPr lang="en-US" sz="1500" dirty="0">
                <a:latin typeface="Consolas" panose="020B0609020204030204" pitchFamily="49" charset="0"/>
              </a:rPr>
              <a:t>;</a:t>
            </a:r>
          </a:p>
          <a:p>
            <a:r>
              <a:rPr lang="en-US" sz="1500" dirty="0">
                <a:latin typeface="Consolas" panose="020B0609020204030204" pitchFamily="49" charset="0"/>
              </a:rPr>
              <a:t>  auto </a:t>
            </a:r>
            <a:r>
              <a:rPr lang="en-US" sz="1500" dirty="0" err="1">
                <a:highlight>
                  <a:srgbClr val="00FF00"/>
                </a:highlight>
                <a:latin typeface="Consolas" panose="020B0609020204030204" pitchFamily="49" charset="0"/>
              </a:rPr>
              <a:t>blockOff</a:t>
            </a:r>
            <a:r>
              <a:rPr lang="en-US" sz="1500" dirty="0">
                <a:latin typeface="Consolas" panose="020B0609020204030204" pitchFamily="49" charset="0"/>
              </a:rPr>
              <a:t> = off % </a:t>
            </a:r>
            <a:r>
              <a:rPr lang="en-US" sz="1500" dirty="0" err="1">
                <a:latin typeface="Consolas" panose="020B0609020204030204" pitchFamily="49" charset="0"/>
              </a:rPr>
              <a:t>m_blockSize</a:t>
            </a:r>
            <a:r>
              <a:rPr lang="en-US" sz="1500" dirty="0">
                <a:latin typeface="Consolas" panose="020B0609020204030204" pitchFamily="49" charset="0"/>
              </a:rPr>
              <a:t>;</a:t>
            </a:r>
          </a:p>
          <a:p>
            <a:r>
              <a:rPr lang="en-US" sz="1500" dirty="0">
                <a:latin typeface="Consolas" panose="020B0609020204030204" pitchFamily="49" charset="0"/>
              </a:rPr>
              <a:t>  return </a:t>
            </a:r>
            <a:r>
              <a:rPr lang="en-US" sz="1500" dirty="0" err="1">
                <a:latin typeface="Consolas" panose="020B0609020204030204" pitchFamily="49" charset="0"/>
              </a:rPr>
              <a:t>m_map</a:t>
            </a:r>
            <a:r>
              <a:rPr lang="en-US" sz="1500" dirty="0">
                <a:latin typeface="Consolas" panose="020B0609020204030204" pitchFamily="49" charset="0"/>
              </a:rPr>
              <a:t>[block][</a:t>
            </a:r>
            <a:r>
              <a:rPr lang="en-US" sz="1500" dirty="0" err="1">
                <a:latin typeface="Consolas" panose="020B0609020204030204" pitchFamily="49" charset="0"/>
              </a:rPr>
              <a:t>blockOff</a:t>
            </a:r>
            <a:r>
              <a:rPr lang="en-US" sz="1500" dirty="0">
                <a:latin typeface="Consolas" panose="020B0609020204030204" pitchFamily="49" charset="0"/>
              </a:rPr>
              <a:t>]</a:t>
            </a:r>
          </a:p>
          <a:p>
            <a:r>
              <a:rPr lang="en-US" sz="15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1CB5AC9-69B5-3055-3AF6-4FF329A30381}"/>
              </a:ext>
            </a:extLst>
          </p:cNvPr>
          <p:cNvSpPr txBox="1"/>
          <p:nvPr/>
        </p:nvSpPr>
        <p:spPr>
          <a:xfrm>
            <a:off x="8200590" y="1901230"/>
            <a:ext cx="40324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highlight>
                  <a:srgbClr val="FFFF00"/>
                </a:highlight>
              </a:rPr>
              <a:t>Поддержка </a:t>
            </a:r>
            <a:r>
              <a:rPr lang="ru-RU" dirty="0" err="1">
                <a:highlight>
                  <a:srgbClr val="FFFF00"/>
                </a:highlight>
              </a:rPr>
              <a:t>закольцованности</a:t>
            </a:r>
            <a:r>
              <a:rPr lang="en-US" dirty="0">
                <a:highlight>
                  <a:srgbClr val="FFFF00"/>
                </a:highlight>
              </a:rPr>
              <a:t> </a:t>
            </a:r>
            <a:r>
              <a:rPr lang="ru-RU" dirty="0">
                <a:highlight>
                  <a:srgbClr val="FFFF00"/>
                </a:highlight>
              </a:rPr>
              <a:t>блоков</a:t>
            </a:r>
            <a:endParaRPr lang="en-US" dirty="0">
              <a:highlight>
                <a:srgbClr val="FFFF00"/>
              </a:highlight>
            </a:endParaRPr>
          </a:p>
        </p:txBody>
      </p:sp>
      <p:sp>
        <p:nvSpPr>
          <p:cNvPr id="51" name="Левая фигурная скобка 47">
            <a:extLst>
              <a:ext uri="{FF2B5EF4-FFF2-40B4-BE49-F238E27FC236}">
                <a16:creationId xmlns:a16="http://schemas.microsoft.com/office/drawing/2014/main" id="{4F78A5B4-C51D-7DE8-B5A2-537224FAAF82}"/>
              </a:ext>
            </a:extLst>
          </p:cNvPr>
          <p:cNvSpPr/>
          <p:nvPr/>
        </p:nvSpPr>
        <p:spPr>
          <a:xfrm rot="16200000">
            <a:off x="7256250" y="3003129"/>
            <a:ext cx="360040" cy="4780026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8B976A6-E842-036B-9408-2FFF00AD0028}"/>
              </a:ext>
            </a:extLst>
          </p:cNvPr>
          <p:cNvSpPr txBox="1"/>
          <p:nvPr/>
        </p:nvSpPr>
        <p:spPr>
          <a:xfrm>
            <a:off x="1787721" y="4786387"/>
            <a:ext cx="18269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m_offset</a:t>
            </a:r>
            <a:r>
              <a:rPr lang="en-US" dirty="0"/>
              <a:t> = 7</a:t>
            </a:r>
            <a:endParaRPr lang="ru-RU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63B6FC2-A8FB-D977-0ACE-F8EF8105AC45}"/>
              </a:ext>
            </a:extLst>
          </p:cNvPr>
          <p:cNvSpPr txBox="1"/>
          <p:nvPr/>
        </p:nvSpPr>
        <p:spPr>
          <a:xfrm>
            <a:off x="4544188" y="6307123"/>
            <a:ext cx="1080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ighlight>
                  <a:srgbClr val="00FFFF"/>
                </a:highlight>
              </a:rPr>
              <a:t>off</a:t>
            </a:r>
            <a:r>
              <a:rPr lang="en-US" dirty="0"/>
              <a:t> = 14</a:t>
            </a:r>
            <a:endParaRPr lang="ru-RU" dirty="0"/>
          </a:p>
        </p:txBody>
      </p:sp>
      <p:sp>
        <p:nvSpPr>
          <p:cNvPr id="54" name="Левая фигурная скобка 47">
            <a:extLst>
              <a:ext uri="{FF2B5EF4-FFF2-40B4-BE49-F238E27FC236}">
                <a16:creationId xmlns:a16="http://schemas.microsoft.com/office/drawing/2014/main" id="{C67C2AE7-2C1C-C48B-B71B-32817E11DC15}"/>
              </a:ext>
            </a:extLst>
          </p:cNvPr>
          <p:cNvSpPr/>
          <p:nvPr/>
        </p:nvSpPr>
        <p:spPr>
          <a:xfrm rot="16200000">
            <a:off x="4926653" y="1350090"/>
            <a:ext cx="360040" cy="9439221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55" name="Прямая со стрелкой 38">
            <a:extLst>
              <a:ext uri="{FF2B5EF4-FFF2-40B4-BE49-F238E27FC236}">
                <a16:creationId xmlns:a16="http://schemas.microsoft.com/office/drawing/2014/main" id="{99F33DA6-4723-2D26-DFFB-48139FA14945}"/>
              </a:ext>
            </a:extLst>
          </p:cNvPr>
          <p:cNvCxnSpPr>
            <a:cxnSpLocks/>
            <a:stCxn id="56" idx="2"/>
          </p:cNvCxnSpPr>
          <p:nvPr/>
        </p:nvCxnSpPr>
        <p:spPr>
          <a:xfrm>
            <a:off x="10075226" y="3250969"/>
            <a:ext cx="0" cy="4343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8D54A2C9-72B1-93C9-58CE-56E21559BB52}"/>
              </a:ext>
            </a:extLst>
          </p:cNvPr>
          <p:cNvSpPr txBox="1"/>
          <p:nvPr/>
        </p:nvSpPr>
        <p:spPr>
          <a:xfrm>
            <a:off x="9488875" y="2881637"/>
            <a:ext cx="117270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deq</a:t>
            </a:r>
            <a:r>
              <a:rPr lang="en-US" dirty="0"/>
              <a:t>[7]</a:t>
            </a:r>
            <a:endParaRPr lang="ru-RU" dirty="0"/>
          </a:p>
        </p:txBody>
      </p:sp>
      <p:sp>
        <p:nvSpPr>
          <p:cNvPr id="2" name="Левая фигурная скобка 47">
            <a:extLst>
              <a:ext uri="{FF2B5EF4-FFF2-40B4-BE49-F238E27FC236}">
                <a16:creationId xmlns:a16="http://schemas.microsoft.com/office/drawing/2014/main" id="{CEF238DC-CCD4-1309-73F2-46FBE5C2648A}"/>
              </a:ext>
            </a:extLst>
          </p:cNvPr>
          <p:cNvSpPr/>
          <p:nvPr/>
        </p:nvSpPr>
        <p:spPr>
          <a:xfrm rot="16200000">
            <a:off x="4475819" y="1422828"/>
            <a:ext cx="360040" cy="1728194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761EF21-364C-A7EF-322A-8757865CC162}"/>
              </a:ext>
            </a:extLst>
          </p:cNvPr>
          <p:cNvSpPr txBox="1"/>
          <p:nvPr/>
        </p:nvSpPr>
        <p:spPr>
          <a:xfrm>
            <a:off x="4171606" y="2474234"/>
            <a:ext cx="10293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highlight>
                  <a:srgbClr val="C0C0C0"/>
                </a:highlight>
              </a:rPr>
              <a:t>block</a:t>
            </a:r>
            <a:r>
              <a:rPr lang="en-US" dirty="0"/>
              <a:t> = 3</a:t>
            </a:r>
            <a:endParaRPr lang="ru-RU" dirty="0"/>
          </a:p>
        </p:txBody>
      </p:sp>
      <p:sp>
        <p:nvSpPr>
          <p:cNvPr id="46" name="Левая фигурная скобка 47">
            <a:extLst>
              <a:ext uri="{FF2B5EF4-FFF2-40B4-BE49-F238E27FC236}">
                <a16:creationId xmlns:a16="http://schemas.microsoft.com/office/drawing/2014/main" id="{D59D9B2C-CABB-75DC-DFF9-8710722CB2E7}"/>
              </a:ext>
            </a:extLst>
          </p:cNvPr>
          <p:cNvSpPr/>
          <p:nvPr/>
        </p:nvSpPr>
        <p:spPr>
          <a:xfrm rot="16200000">
            <a:off x="9037281" y="3973531"/>
            <a:ext cx="360040" cy="1217964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89B1E1E-685D-BEA6-8AC4-2E5A48B1846C}"/>
              </a:ext>
            </a:extLst>
          </p:cNvPr>
          <p:cNvSpPr txBox="1"/>
          <p:nvPr/>
        </p:nvSpPr>
        <p:spPr>
          <a:xfrm>
            <a:off x="8534675" y="4786387"/>
            <a:ext cx="13652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>
                <a:highlight>
                  <a:srgbClr val="00FF00"/>
                </a:highlight>
              </a:rPr>
              <a:t>blockOff</a:t>
            </a:r>
            <a:r>
              <a:rPr lang="en-US" dirty="0"/>
              <a:t> = 2</a:t>
            </a:r>
            <a:endParaRPr lang="ru-RU" dirty="0"/>
          </a:p>
        </p:txBody>
      </p:sp>
      <p:sp>
        <p:nvSpPr>
          <p:cNvPr id="50" name="Slide Number Placeholder 49">
            <a:extLst>
              <a:ext uri="{FF2B5EF4-FFF2-40B4-BE49-F238E27FC236}">
                <a16:creationId xmlns:a16="http://schemas.microsoft.com/office/drawing/2014/main" id="{84CFCCCF-7534-C624-953C-3B978801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37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52007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000"/>
                            </p:stCondLst>
                            <p:childTnLst>
                              <p:par>
                                <p:cTn id="31" presetID="1" presetClass="emph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32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8C8C8C"/>
                                      </p:to>
                                    </p:animClr>
                                    <p:set>
                                      <p:cBhvr>
                                        <p:cTn id="33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34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3" grpId="0"/>
      <p:bldP spid="54" grpId="0" animBg="1"/>
      <p:bldP spid="2" grpId="0" animBg="1"/>
      <p:bldP spid="17" grpId="0"/>
      <p:bldP spid="46" grpId="0" animBg="1"/>
      <p:bldP spid="48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DF1CF9-1E9B-5F2B-A6EB-38B659FAE2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CCE4C31-1B74-64E4-20D9-F0AC3128A8E2}"/>
              </a:ext>
            </a:extLst>
          </p:cNvPr>
          <p:cNvSpPr txBox="1"/>
          <p:nvPr/>
        </p:nvSpPr>
        <p:spPr>
          <a:xfrm>
            <a:off x="838200" y="2132856"/>
            <a:ext cx="10370368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deque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tasks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tasks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push_back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Eat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tasks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push_back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Love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tasks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push_back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Pray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tasks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empty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Executing task: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tasks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front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tasks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pop_front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BFDD54D-7B4A-72FF-27F0-F6E7E439EC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38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482725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7564A4E-D445-4A99-A2D0-4C0902178E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std::list</a:t>
            </a:r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E4C88B6-B000-4EDD-B513-B6791A1088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C75105-D278-26FF-138E-6CBE47DC81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39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8001993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dirty="0"/>
              <a:t>Двусвязный список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  <a:hlinkClick r:id="rId4"/>
              </a:rPr>
              <a:t>std::list</a:t>
            </a:r>
            <a:endParaRPr lang="ru-RU" dirty="0">
              <a:solidFill>
                <a:srgbClr val="FF0000"/>
              </a:solidFill>
            </a:endParaRPr>
          </a:p>
        </p:txBody>
      </p:sp>
      <p:sp>
        <p:nvSpPr>
          <p:cNvPr id="34819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eaLnBrk="1" hangingPunct="1"/>
            <a:r>
              <a:rPr lang="ru-RU" dirty="0"/>
              <a:t>Контейнер на основе двусвязного списка</a:t>
            </a:r>
          </a:p>
          <a:p>
            <a:r>
              <a:rPr lang="ru-RU" dirty="0"/>
              <a:t>Особенности</a:t>
            </a:r>
          </a:p>
          <a:p>
            <a:pPr lvl="1"/>
            <a:r>
              <a:rPr lang="ru-RU" dirty="0"/>
              <a:t>Нет произвольного доступа по индексу</a:t>
            </a:r>
            <a:br>
              <a:rPr lang="ru-RU" dirty="0"/>
            </a:br>
            <a:r>
              <a:rPr lang="ru-RU" dirty="0"/>
              <a:t>(только последовательный через итераторы)</a:t>
            </a:r>
          </a:p>
          <a:p>
            <a:pPr lvl="1"/>
            <a:r>
              <a:rPr lang="ru-RU" dirty="0"/>
              <a:t>Вставка и удаление по итератору — </a:t>
            </a:r>
            <a:r>
              <a:rPr lang="ru-RU" b="1" dirty="0"/>
              <a:t>O(1)</a:t>
            </a:r>
            <a:endParaRPr lang="ru-RU" dirty="0"/>
          </a:p>
          <a:p>
            <a:pPr lvl="1"/>
            <a:r>
              <a:rPr lang="ru-RU" dirty="0"/>
              <a:t>Итераторы и ссылки не </a:t>
            </a:r>
            <a:r>
              <a:rPr lang="ru-RU" dirty="0" err="1"/>
              <a:t>инвалидируются</a:t>
            </a:r>
            <a:r>
              <a:rPr lang="ru-RU" dirty="0"/>
              <a:t> при вставке/удалении других элементов</a:t>
            </a:r>
          </a:p>
          <a:p>
            <a:pPr lvl="1"/>
            <a:r>
              <a:rPr lang="ru-RU" dirty="0"/>
              <a:t>Элементы не хранятся непрерывно в памяти</a:t>
            </a:r>
          </a:p>
          <a:p>
            <a:r>
              <a:rPr lang="ru-RU" dirty="0"/>
              <a:t>Когда использовать</a:t>
            </a:r>
          </a:p>
          <a:p>
            <a:pPr lvl="1"/>
            <a:r>
              <a:rPr lang="ru-RU" dirty="0"/>
              <a:t>Частые вставки/удаления в середине</a:t>
            </a:r>
          </a:p>
          <a:p>
            <a:pPr lvl="1"/>
            <a:r>
              <a:rPr lang="ru-RU" dirty="0"/>
              <a:t>Не нужен быстрый доступ по индексу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ED52F15-7B70-4EBB-88D0-DD91A8E724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52384" y="4149080"/>
            <a:ext cx="2505425" cy="254353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484F6F-4501-D9F1-B42D-8A9FB339B7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40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41551004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65DEAC4B-631E-47A9-9BBE-11E9DE2680FB}"/>
              </a:ext>
            </a:extLst>
          </p:cNvPr>
          <p:cNvSpPr/>
          <p:nvPr/>
        </p:nvSpPr>
        <p:spPr>
          <a:xfrm>
            <a:off x="5573152" y="4309917"/>
            <a:ext cx="1584176" cy="132556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374B37B0-2A0A-4325-BE5C-FA4E58ACA8CE}"/>
              </a:ext>
            </a:extLst>
          </p:cNvPr>
          <p:cNvSpPr/>
          <p:nvPr/>
        </p:nvSpPr>
        <p:spPr>
          <a:xfrm>
            <a:off x="3514845" y="4309917"/>
            <a:ext cx="1584176" cy="132556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A461F600-AFDE-4084-BA81-19742B1F3627}"/>
              </a:ext>
            </a:extLst>
          </p:cNvPr>
          <p:cNvSpPr/>
          <p:nvPr/>
        </p:nvSpPr>
        <p:spPr>
          <a:xfrm>
            <a:off x="1427442" y="4309917"/>
            <a:ext cx="1584176" cy="132556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D8285FF1-7D14-45B4-8D50-8F818DA5FC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Возможное устройство двусвязного списка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11689DA2-6520-4177-987F-4D848BC21E00}"/>
              </a:ext>
            </a:extLst>
          </p:cNvPr>
          <p:cNvSpPr/>
          <p:nvPr/>
        </p:nvSpPr>
        <p:spPr>
          <a:xfrm>
            <a:off x="1570181" y="4453932"/>
            <a:ext cx="1293205" cy="5280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data: 1</a:t>
            </a:r>
            <a:endParaRPr lang="ru-RU" dirty="0"/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793F122E-B19D-44FF-8969-CC49D87582A7}"/>
              </a:ext>
            </a:extLst>
          </p:cNvPr>
          <p:cNvSpPr/>
          <p:nvPr/>
        </p:nvSpPr>
        <p:spPr>
          <a:xfrm>
            <a:off x="1568712" y="4981991"/>
            <a:ext cx="650818" cy="5280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prev</a:t>
            </a:r>
            <a:endParaRPr lang="ru-RU" dirty="0"/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EDF4B042-5F51-456C-B319-003414BC68FB}"/>
              </a:ext>
            </a:extLst>
          </p:cNvPr>
          <p:cNvSpPr/>
          <p:nvPr/>
        </p:nvSpPr>
        <p:spPr>
          <a:xfrm>
            <a:off x="2212569" y="4981990"/>
            <a:ext cx="652287" cy="5280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next</a:t>
            </a:r>
            <a:endParaRPr lang="ru-RU" dirty="0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BCDAA20A-9BAD-4E58-A242-B36504B738BD}"/>
              </a:ext>
            </a:extLst>
          </p:cNvPr>
          <p:cNvSpPr/>
          <p:nvPr/>
        </p:nvSpPr>
        <p:spPr>
          <a:xfrm>
            <a:off x="3662619" y="4453933"/>
            <a:ext cx="1297976" cy="5280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data: 2</a:t>
            </a:r>
            <a:endParaRPr lang="ru-RU" dirty="0"/>
          </a:p>
        </p:txBody>
      </p:sp>
      <p:sp>
        <p:nvSpPr>
          <p:cNvPr id="14" name="Прямоугольник 13">
            <a:extLst>
              <a:ext uri="{FF2B5EF4-FFF2-40B4-BE49-F238E27FC236}">
                <a16:creationId xmlns:a16="http://schemas.microsoft.com/office/drawing/2014/main" id="{39AE207E-4705-4E73-8351-54576CE14B0D}"/>
              </a:ext>
            </a:extLst>
          </p:cNvPr>
          <p:cNvSpPr/>
          <p:nvPr/>
        </p:nvSpPr>
        <p:spPr>
          <a:xfrm>
            <a:off x="5710108" y="4453933"/>
            <a:ext cx="1303203" cy="5280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data: 3</a:t>
            </a:r>
            <a:endParaRPr lang="ru-RU" dirty="0"/>
          </a:p>
        </p:txBody>
      </p:sp>
      <p:cxnSp>
        <p:nvCxnSpPr>
          <p:cNvPr id="21" name="Прямая со стрелкой 20">
            <a:extLst>
              <a:ext uri="{FF2B5EF4-FFF2-40B4-BE49-F238E27FC236}">
                <a16:creationId xmlns:a16="http://schemas.microsoft.com/office/drawing/2014/main" id="{5EFFFB18-1C9A-405F-B5F0-4B3AD0ED3E55}"/>
              </a:ext>
            </a:extLst>
          </p:cNvPr>
          <p:cNvCxnSpPr>
            <a:cxnSpLocks/>
            <a:stCxn id="7" idx="3"/>
            <a:endCxn id="18" idx="1"/>
          </p:cNvCxnSpPr>
          <p:nvPr/>
        </p:nvCxnSpPr>
        <p:spPr>
          <a:xfrm flipV="1">
            <a:off x="2864856" y="4972698"/>
            <a:ext cx="649989" cy="2733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C8DE3BEC-AE0C-4850-BB82-BB96D050373F}"/>
              </a:ext>
            </a:extLst>
          </p:cNvPr>
          <p:cNvSpPr/>
          <p:nvPr/>
        </p:nvSpPr>
        <p:spPr>
          <a:xfrm>
            <a:off x="3658861" y="4981991"/>
            <a:ext cx="650818" cy="5280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prev</a:t>
            </a:r>
            <a:endParaRPr lang="ru-RU" dirty="0"/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B3601F5C-D468-47C5-8147-D7D39F28DFDD}"/>
              </a:ext>
            </a:extLst>
          </p:cNvPr>
          <p:cNvSpPr/>
          <p:nvPr/>
        </p:nvSpPr>
        <p:spPr>
          <a:xfrm>
            <a:off x="4302718" y="4981990"/>
            <a:ext cx="652287" cy="5280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next</a:t>
            </a:r>
            <a:endParaRPr lang="ru-RU" dirty="0"/>
          </a:p>
        </p:txBody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CC550A5E-51F3-4561-A240-4CAC3F7EAB9D}"/>
              </a:ext>
            </a:extLst>
          </p:cNvPr>
          <p:cNvSpPr/>
          <p:nvPr/>
        </p:nvSpPr>
        <p:spPr>
          <a:xfrm>
            <a:off x="5710107" y="4981991"/>
            <a:ext cx="657879" cy="5280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prev</a:t>
            </a:r>
            <a:endParaRPr lang="ru-RU" dirty="0"/>
          </a:p>
        </p:txBody>
      </p: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8BFB3541-A3DF-4540-A7D5-0781960726D6}"/>
              </a:ext>
            </a:extLst>
          </p:cNvPr>
          <p:cNvSpPr/>
          <p:nvPr/>
        </p:nvSpPr>
        <p:spPr>
          <a:xfrm>
            <a:off x="6361025" y="4981990"/>
            <a:ext cx="652287" cy="5280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next</a:t>
            </a:r>
            <a:endParaRPr lang="ru-RU" dirty="0"/>
          </a:p>
        </p:txBody>
      </p:sp>
      <p:cxnSp>
        <p:nvCxnSpPr>
          <p:cNvPr id="41" name="Прямая со стрелкой 40">
            <a:extLst>
              <a:ext uri="{FF2B5EF4-FFF2-40B4-BE49-F238E27FC236}">
                <a16:creationId xmlns:a16="http://schemas.microsoft.com/office/drawing/2014/main" id="{60BA1011-EABC-45EB-9357-1FA0B26310E2}"/>
              </a:ext>
            </a:extLst>
          </p:cNvPr>
          <p:cNvCxnSpPr>
            <a:cxnSpLocks/>
            <a:stCxn id="36" idx="1"/>
            <a:endCxn id="17" idx="3"/>
          </p:cNvCxnSpPr>
          <p:nvPr/>
        </p:nvCxnSpPr>
        <p:spPr>
          <a:xfrm flipH="1" flipV="1">
            <a:off x="3011618" y="4972698"/>
            <a:ext cx="647243" cy="2733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Прямая со стрелкой 48">
            <a:extLst>
              <a:ext uri="{FF2B5EF4-FFF2-40B4-BE49-F238E27FC236}">
                <a16:creationId xmlns:a16="http://schemas.microsoft.com/office/drawing/2014/main" id="{4BD26C2D-20E7-4D3A-8BEF-51000680E8D0}"/>
              </a:ext>
            </a:extLst>
          </p:cNvPr>
          <p:cNvCxnSpPr>
            <a:cxnSpLocks/>
            <a:stCxn id="38" idx="1"/>
            <a:endCxn id="18" idx="3"/>
          </p:cNvCxnSpPr>
          <p:nvPr/>
        </p:nvCxnSpPr>
        <p:spPr>
          <a:xfrm flipH="1" flipV="1">
            <a:off x="5099021" y="4972698"/>
            <a:ext cx="611086" cy="2733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Прямая со стрелкой 53">
            <a:extLst>
              <a:ext uri="{FF2B5EF4-FFF2-40B4-BE49-F238E27FC236}">
                <a16:creationId xmlns:a16="http://schemas.microsoft.com/office/drawing/2014/main" id="{DA6FC49C-B709-4ED5-86FD-3CAAF70C43E7}"/>
              </a:ext>
            </a:extLst>
          </p:cNvPr>
          <p:cNvCxnSpPr>
            <a:cxnSpLocks/>
            <a:stCxn id="37" idx="3"/>
            <a:endCxn id="19" idx="1"/>
          </p:cNvCxnSpPr>
          <p:nvPr/>
        </p:nvCxnSpPr>
        <p:spPr>
          <a:xfrm flipV="1">
            <a:off x="4955005" y="4972698"/>
            <a:ext cx="618147" cy="2733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Прямоугольник 57">
            <a:extLst>
              <a:ext uri="{FF2B5EF4-FFF2-40B4-BE49-F238E27FC236}">
                <a16:creationId xmlns:a16="http://schemas.microsoft.com/office/drawing/2014/main" id="{2980DF95-AFE0-45AA-BB76-93A292EEB683}"/>
              </a:ext>
            </a:extLst>
          </p:cNvPr>
          <p:cNvSpPr/>
          <p:nvPr/>
        </p:nvSpPr>
        <p:spPr>
          <a:xfrm>
            <a:off x="7608168" y="4293096"/>
            <a:ext cx="1584176" cy="132556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Sentinel</a:t>
            </a:r>
            <a:endParaRPr lang="ru-RU" dirty="0">
              <a:solidFill>
                <a:srgbClr val="FF0000"/>
              </a:solidFill>
            </a:endParaRPr>
          </a:p>
        </p:txBody>
      </p:sp>
      <p:sp>
        <p:nvSpPr>
          <p:cNvPr id="60" name="Прямоугольник 59">
            <a:extLst>
              <a:ext uri="{FF2B5EF4-FFF2-40B4-BE49-F238E27FC236}">
                <a16:creationId xmlns:a16="http://schemas.microsoft.com/office/drawing/2014/main" id="{8D06C6D3-12C6-4D30-BAB6-7A654FCE39A1}"/>
              </a:ext>
            </a:extLst>
          </p:cNvPr>
          <p:cNvSpPr/>
          <p:nvPr/>
        </p:nvSpPr>
        <p:spPr>
          <a:xfrm>
            <a:off x="8378906" y="4955875"/>
            <a:ext cx="652287" cy="5280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next</a:t>
            </a:r>
            <a:endParaRPr lang="ru-RU" dirty="0"/>
          </a:p>
        </p:txBody>
      </p:sp>
      <p:sp>
        <p:nvSpPr>
          <p:cNvPr id="61" name="Прямоугольник 60">
            <a:extLst>
              <a:ext uri="{FF2B5EF4-FFF2-40B4-BE49-F238E27FC236}">
                <a16:creationId xmlns:a16="http://schemas.microsoft.com/office/drawing/2014/main" id="{20166F30-7720-43C9-93A0-B27535563CA1}"/>
              </a:ext>
            </a:extLst>
          </p:cNvPr>
          <p:cNvSpPr/>
          <p:nvPr/>
        </p:nvSpPr>
        <p:spPr>
          <a:xfrm>
            <a:off x="7726619" y="4955875"/>
            <a:ext cx="652287" cy="52805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prev</a:t>
            </a:r>
            <a:endParaRPr lang="ru-RU" dirty="0"/>
          </a:p>
        </p:txBody>
      </p:sp>
      <p:cxnSp>
        <p:nvCxnSpPr>
          <p:cNvPr id="62" name="Прямая со стрелкой 61">
            <a:extLst>
              <a:ext uri="{FF2B5EF4-FFF2-40B4-BE49-F238E27FC236}">
                <a16:creationId xmlns:a16="http://schemas.microsoft.com/office/drawing/2014/main" id="{9A0A9FD5-D783-4CDA-8184-9546FB0C7576}"/>
              </a:ext>
            </a:extLst>
          </p:cNvPr>
          <p:cNvCxnSpPr>
            <a:cxnSpLocks/>
            <a:stCxn id="39" idx="3"/>
            <a:endCxn id="58" idx="1"/>
          </p:cNvCxnSpPr>
          <p:nvPr/>
        </p:nvCxnSpPr>
        <p:spPr>
          <a:xfrm flipV="1">
            <a:off x="7013312" y="4955877"/>
            <a:ext cx="594856" cy="2901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Прямая со стрелкой 64">
            <a:extLst>
              <a:ext uri="{FF2B5EF4-FFF2-40B4-BE49-F238E27FC236}">
                <a16:creationId xmlns:a16="http://schemas.microsoft.com/office/drawing/2014/main" id="{F5B42C2A-3A10-4A5B-838A-C8BA83D07A59}"/>
              </a:ext>
            </a:extLst>
          </p:cNvPr>
          <p:cNvCxnSpPr>
            <a:cxnSpLocks/>
            <a:stCxn id="61" idx="1"/>
            <a:endCxn id="19" idx="3"/>
          </p:cNvCxnSpPr>
          <p:nvPr/>
        </p:nvCxnSpPr>
        <p:spPr>
          <a:xfrm flipH="1" flipV="1">
            <a:off x="7157328" y="4972698"/>
            <a:ext cx="569291" cy="2472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Соединитель: уступ 69">
            <a:extLst>
              <a:ext uri="{FF2B5EF4-FFF2-40B4-BE49-F238E27FC236}">
                <a16:creationId xmlns:a16="http://schemas.microsoft.com/office/drawing/2014/main" id="{7146795F-1802-487E-9BCD-F12860B29510}"/>
              </a:ext>
            </a:extLst>
          </p:cNvPr>
          <p:cNvCxnSpPr>
            <a:stCxn id="6" idx="1"/>
            <a:endCxn id="58" idx="3"/>
          </p:cNvCxnSpPr>
          <p:nvPr/>
        </p:nvCxnSpPr>
        <p:spPr>
          <a:xfrm rot="10800000" flipH="1">
            <a:off x="1568712" y="4955877"/>
            <a:ext cx="7623632" cy="290144"/>
          </a:xfrm>
          <a:prstGeom prst="bentConnector5">
            <a:avLst>
              <a:gd name="adj1" fmla="val -4665"/>
              <a:gd name="adj2" fmla="val -262482"/>
              <a:gd name="adj3" fmla="val 102999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Соединитель: уступ 72">
            <a:extLst>
              <a:ext uri="{FF2B5EF4-FFF2-40B4-BE49-F238E27FC236}">
                <a16:creationId xmlns:a16="http://schemas.microsoft.com/office/drawing/2014/main" id="{E98B9ACF-6DA8-402E-B8BC-E50D0BF2F72B}"/>
              </a:ext>
            </a:extLst>
          </p:cNvPr>
          <p:cNvCxnSpPr>
            <a:cxnSpLocks/>
            <a:stCxn id="60" idx="3"/>
            <a:endCxn id="17" idx="1"/>
          </p:cNvCxnSpPr>
          <p:nvPr/>
        </p:nvCxnSpPr>
        <p:spPr>
          <a:xfrm flipH="1" flipV="1">
            <a:off x="1427442" y="4972698"/>
            <a:ext cx="7603751" cy="247207"/>
          </a:xfrm>
          <a:prstGeom prst="bentConnector5">
            <a:avLst>
              <a:gd name="adj1" fmla="val -7849"/>
              <a:gd name="adj2" fmla="val -459012"/>
              <a:gd name="adj3" fmla="val 10551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Прямая со стрелкой 78">
            <a:extLst>
              <a:ext uri="{FF2B5EF4-FFF2-40B4-BE49-F238E27FC236}">
                <a16:creationId xmlns:a16="http://schemas.microsoft.com/office/drawing/2014/main" id="{3B10D1E2-4ED3-48AB-9B90-BCFC42FE008E}"/>
              </a:ext>
            </a:extLst>
          </p:cNvPr>
          <p:cNvCxnSpPr>
            <a:cxnSpLocks/>
            <a:stCxn id="83" idx="2"/>
            <a:endCxn id="17" idx="0"/>
          </p:cNvCxnSpPr>
          <p:nvPr/>
        </p:nvCxnSpPr>
        <p:spPr>
          <a:xfrm>
            <a:off x="2212569" y="3894344"/>
            <a:ext cx="6961" cy="4155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0FA62C96-A462-4970-97B8-EFED3E21EA18}"/>
              </a:ext>
            </a:extLst>
          </p:cNvPr>
          <p:cNvSpPr txBox="1"/>
          <p:nvPr/>
        </p:nvSpPr>
        <p:spPr>
          <a:xfrm>
            <a:off x="1755106" y="3525012"/>
            <a:ext cx="9149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begin</a:t>
            </a:r>
            <a:endParaRPr lang="ru-RU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61B64848-FA61-4A53-ABDA-90BC36BC8C33}"/>
              </a:ext>
            </a:extLst>
          </p:cNvPr>
          <p:cNvSpPr txBox="1"/>
          <p:nvPr/>
        </p:nvSpPr>
        <p:spPr>
          <a:xfrm>
            <a:off x="7942793" y="3534308"/>
            <a:ext cx="9149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end</a:t>
            </a:r>
            <a:endParaRPr lang="ru-RU" dirty="0"/>
          </a:p>
        </p:txBody>
      </p:sp>
      <p:cxnSp>
        <p:nvCxnSpPr>
          <p:cNvPr id="87" name="Прямая со стрелкой 86">
            <a:extLst>
              <a:ext uri="{FF2B5EF4-FFF2-40B4-BE49-F238E27FC236}">
                <a16:creationId xmlns:a16="http://schemas.microsoft.com/office/drawing/2014/main" id="{67B4498E-9592-4AF0-941A-A1ADE9E56A5D}"/>
              </a:ext>
            </a:extLst>
          </p:cNvPr>
          <p:cNvCxnSpPr>
            <a:cxnSpLocks/>
            <a:stCxn id="86" idx="2"/>
            <a:endCxn id="58" idx="0"/>
          </p:cNvCxnSpPr>
          <p:nvPr/>
        </p:nvCxnSpPr>
        <p:spPr>
          <a:xfrm>
            <a:off x="8400256" y="3903640"/>
            <a:ext cx="0" cy="3894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Прямоугольник 89">
            <a:extLst>
              <a:ext uri="{FF2B5EF4-FFF2-40B4-BE49-F238E27FC236}">
                <a16:creationId xmlns:a16="http://schemas.microsoft.com/office/drawing/2014/main" id="{755C5223-533B-4E5F-904A-9A859E8C988F}"/>
              </a:ext>
            </a:extLst>
          </p:cNvPr>
          <p:cNvSpPr/>
          <p:nvPr/>
        </p:nvSpPr>
        <p:spPr>
          <a:xfrm>
            <a:off x="4414945" y="1849413"/>
            <a:ext cx="1368152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size:3</a:t>
            </a:r>
            <a:endParaRPr lang="ru-RU" dirty="0"/>
          </a:p>
        </p:txBody>
      </p:sp>
      <p:sp>
        <p:nvSpPr>
          <p:cNvPr id="91" name="Прямоугольник 90">
            <a:extLst>
              <a:ext uri="{FF2B5EF4-FFF2-40B4-BE49-F238E27FC236}">
                <a16:creationId xmlns:a16="http://schemas.microsoft.com/office/drawing/2014/main" id="{747DC024-FD39-4836-92B5-5199B45D1778}"/>
              </a:ext>
            </a:extLst>
          </p:cNvPr>
          <p:cNvSpPr/>
          <p:nvPr/>
        </p:nvSpPr>
        <p:spPr>
          <a:xfrm>
            <a:off x="4414945" y="2353469"/>
            <a:ext cx="1368152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begin</a:t>
            </a:r>
            <a:endParaRPr lang="ru-RU" dirty="0"/>
          </a:p>
        </p:txBody>
      </p:sp>
      <p:sp>
        <p:nvSpPr>
          <p:cNvPr id="92" name="Прямоугольник 91">
            <a:extLst>
              <a:ext uri="{FF2B5EF4-FFF2-40B4-BE49-F238E27FC236}">
                <a16:creationId xmlns:a16="http://schemas.microsoft.com/office/drawing/2014/main" id="{B00B3690-5DE3-4C99-A953-F2E2F8C5BAD7}"/>
              </a:ext>
            </a:extLst>
          </p:cNvPr>
          <p:cNvSpPr/>
          <p:nvPr/>
        </p:nvSpPr>
        <p:spPr>
          <a:xfrm>
            <a:off x="4414945" y="2857525"/>
            <a:ext cx="1368152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end</a:t>
            </a:r>
            <a:endParaRPr lang="ru-RU" dirty="0"/>
          </a:p>
        </p:txBody>
      </p:sp>
      <p:cxnSp>
        <p:nvCxnSpPr>
          <p:cNvPr id="96" name="Прямая со стрелкой 95">
            <a:extLst>
              <a:ext uri="{FF2B5EF4-FFF2-40B4-BE49-F238E27FC236}">
                <a16:creationId xmlns:a16="http://schemas.microsoft.com/office/drawing/2014/main" id="{E09BFEF3-A87B-4C7F-8EFD-D0CC56220AC4}"/>
              </a:ext>
            </a:extLst>
          </p:cNvPr>
          <p:cNvCxnSpPr>
            <a:stCxn id="91" idx="1"/>
            <a:endCxn id="17" idx="0"/>
          </p:cNvCxnSpPr>
          <p:nvPr/>
        </p:nvCxnSpPr>
        <p:spPr>
          <a:xfrm flipH="1">
            <a:off x="2219530" y="2605497"/>
            <a:ext cx="2195415" cy="17044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Прямая со стрелкой 97">
            <a:extLst>
              <a:ext uri="{FF2B5EF4-FFF2-40B4-BE49-F238E27FC236}">
                <a16:creationId xmlns:a16="http://schemas.microsoft.com/office/drawing/2014/main" id="{C984D755-D8F6-43C5-B3BA-52960B2F2D0A}"/>
              </a:ext>
            </a:extLst>
          </p:cNvPr>
          <p:cNvCxnSpPr>
            <a:stCxn id="92" idx="3"/>
            <a:endCxn id="58" idx="0"/>
          </p:cNvCxnSpPr>
          <p:nvPr/>
        </p:nvCxnSpPr>
        <p:spPr>
          <a:xfrm>
            <a:off x="5783097" y="3109553"/>
            <a:ext cx="2617159" cy="118354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9049AE7-AAE3-D971-DCDE-EC9C12F231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41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3895849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56E04-FA08-8213-A745-7CCDF158D6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Пример: список задач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CACD8F1-30F6-75CF-BF0B-7C3CED81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42</a:t>
            </a:fld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124C46A-34CA-1F2A-FE7B-BE302431A812}"/>
              </a:ext>
            </a:extLst>
          </p:cNvPr>
          <p:cNvSpPr txBox="1"/>
          <p:nvPr/>
        </p:nvSpPr>
        <p:spPr>
          <a:xfrm>
            <a:off x="838200" y="1460738"/>
            <a:ext cx="10658400" cy="54168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std::list&lt;std::string&gt; tasks =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"Write report"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"Fix bug"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"Call client"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"Fix bug"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"All tasks:\n"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task : tasks)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"- 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task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"\n"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Удаляем все задачи "</a:t>
            </a:r>
            <a:r>
              <a:rPr lang="en-US" sz="16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Fix bug"</a:t>
            </a: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tasks.remove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"Fix bug"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"\</a:t>
            </a:r>
            <a:r>
              <a:rPr lang="en-US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nRemaining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tasks:\n"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task : tasks)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"- 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task &lt;&lt; 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"\n"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F1A459-24FC-4D20-F711-087CA27D21A9}"/>
              </a:ext>
            </a:extLst>
          </p:cNvPr>
          <p:cNvSpPr txBox="1"/>
          <p:nvPr/>
        </p:nvSpPr>
        <p:spPr>
          <a:xfrm>
            <a:off x="8610600" y="4188141"/>
            <a:ext cx="36544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https://godbolt.org/z/nET1j77co</a:t>
            </a:r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96466E2-85FD-7BC5-D9D2-8B89A9296C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91122" y="1328936"/>
            <a:ext cx="2705478" cy="2724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774528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45E706C-018B-3D1E-BB0C-E7E668216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Вставка в последовательные контейнеры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3B5FAD3-D2EA-3180-064E-1AF8234DDA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Миллион вставок к конец контейнера</a:t>
            </a:r>
          </a:p>
          <a:p>
            <a:r>
              <a:rPr lang="en-US" dirty="0"/>
              <a:t>vector</a:t>
            </a:r>
          </a:p>
          <a:p>
            <a:pPr lvl="1"/>
            <a:r>
              <a:rPr lang="ru-RU" dirty="0"/>
              <a:t>С </a:t>
            </a:r>
            <a:r>
              <a:rPr lang="en-US" dirty="0"/>
              <a:t>reserve </a:t>
            </a:r>
            <a:r>
              <a:rPr lang="ru-RU" dirty="0"/>
              <a:t>и без</a:t>
            </a:r>
          </a:p>
          <a:p>
            <a:r>
              <a:rPr lang="en-US" dirty="0"/>
              <a:t>deque</a:t>
            </a:r>
          </a:p>
          <a:p>
            <a:r>
              <a:rPr lang="en-US" dirty="0"/>
              <a:t>list</a:t>
            </a:r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75F5FD-FF5B-9B98-9569-C715D2E6CB3A}"/>
              </a:ext>
            </a:extLst>
          </p:cNvPr>
          <p:cNvSpPr txBox="1"/>
          <p:nvPr/>
        </p:nvSpPr>
        <p:spPr>
          <a:xfrm>
            <a:off x="3503712" y="6400800"/>
            <a:ext cx="68511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ru-RU" dirty="0">
                <a:hlinkClick r:id="rId3"/>
              </a:rPr>
              <a:t>https://quick-bench.com/q/W1if_qgPSZ7neHLRNylHrAwpvOs</a:t>
            </a:r>
            <a:endParaRPr lang="ru-RU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F300627B-3412-4B9E-B18A-A8737F8AAB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5317" y="4509120"/>
            <a:ext cx="2261012" cy="2261012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F7F45E-7D1B-06E1-50FC-5713764746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43</a:t>
            </a:fld>
            <a:endParaRPr lang="ru-RU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FCC1629-609C-516B-1361-6526DE190C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49903" y="2733664"/>
            <a:ext cx="6842097" cy="3510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580556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4207BB9-71FD-E954-C9D3-E74FA4F4F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std::map </a:t>
            </a:r>
            <a:r>
              <a:rPr lang="ru-RU" dirty="0"/>
              <a:t>и </a:t>
            </a:r>
            <a:r>
              <a:rPr lang="en-US" dirty="0"/>
              <a:t>std::multimap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10D2821-5192-3237-BBDF-015E19ED19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BF52E14-73D8-14FF-A9F4-07DD39A7C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44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3402483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hangingPunct="1">
              <a:defRPr/>
            </a:pPr>
            <a:r>
              <a:rPr lang="ru-RU" dirty="0">
                <a:latin typeface="+mj-lt"/>
              </a:rPr>
              <a:t>Классы </a:t>
            </a:r>
            <a:r>
              <a:rPr lang="en-US" dirty="0">
                <a:latin typeface="+mj-lt"/>
                <a:hlinkClick r:id="rId4"/>
              </a:rPr>
              <a:t>std::map</a:t>
            </a:r>
            <a:r>
              <a:rPr lang="en-US" dirty="0">
                <a:latin typeface="+mj-lt"/>
              </a:rPr>
              <a:t> </a:t>
            </a:r>
            <a:r>
              <a:rPr lang="ru-RU" dirty="0">
                <a:latin typeface="+mj-lt"/>
              </a:rPr>
              <a:t>и </a:t>
            </a:r>
            <a:r>
              <a:rPr lang="en-US" dirty="0">
                <a:latin typeface="+mj-lt"/>
                <a:hlinkClick r:id="rId5"/>
              </a:rPr>
              <a:t>std::</a:t>
            </a:r>
            <a:r>
              <a:rPr lang="en-US" dirty="0" err="1">
                <a:latin typeface="+mj-lt"/>
                <a:hlinkClick r:id="rId5"/>
              </a:rPr>
              <a:t>multimap</a:t>
            </a:r>
            <a:endParaRPr lang="ru-RU" dirty="0">
              <a:latin typeface="+mj-lt"/>
            </a:endParaRPr>
          </a:p>
        </p:txBody>
      </p:sp>
      <p:sp>
        <p:nvSpPr>
          <p:cNvPr id="36867" name="Rectangle 3"/>
          <p:cNvSpPr>
            <a:spLocks noGrp="1" noChangeArrowheads="1"/>
          </p:cNvSpPr>
          <p:nvPr>
            <p:ph idx="1"/>
          </p:nvPr>
        </p:nvSpPr>
        <p:spPr>
          <a:xfrm>
            <a:off x="838200" y="1825625"/>
            <a:ext cx="8426152" cy="4351338"/>
          </a:xfrm>
        </p:spPr>
        <p:txBody>
          <a:bodyPr>
            <a:normAutofit fontScale="92500" lnSpcReduction="10000"/>
          </a:bodyPr>
          <a:lstStyle/>
          <a:p>
            <a:r>
              <a:rPr lang="ru-RU" dirty="0"/>
              <a:t>Упорядоченные ассоциативные контейнеры (обычно реализованы на основе сбалансированного дерева)</a:t>
            </a:r>
          </a:p>
          <a:p>
            <a:r>
              <a:rPr lang="ru-RU" dirty="0"/>
              <a:t>Особенности</a:t>
            </a:r>
          </a:p>
          <a:p>
            <a:pPr lvl="1"/>
            <a:r>
              <a:rPr lang="ru-RU" dirty="0"/>
              <a:t>Хранят пары ключ → значение</a:t>
            </a:r>
          </a:p>
          <a:p>
            <a:pPr lvl="1"/>
            <a:r>
              <a:rPr lang="ru-RU" dirty="0"/>
              <a:t>Элементы автоматически упорядочены по ключу</a:t>
            </a:r>
          </a:p>
          <a:p>
            <a:pPr lvl="1"/>
            <a:r>
              <a:rPr lang="ru-RU" dirty="0"/>
              <a:t>Доступ, вставка, удаление — O(</a:t>
            </a:r>
            <a:r>
              <a:rPr lang="ru-RU" dirty="0" err="1"/>
              <a:t>log</a:t>
            </a:r>
            <a:r>
              <a:rPr lang="ru-RU" dirty="0"/>
              <a:t> n)</a:t>
            </a:r>
          </a:p>
          <a:p>
            <a:r>
              <a:rPr lang="ru-RU" dirty="0"/>
              <a:t>Различия</a:t>
            </a:r>
          </a:p>
          <a:p>
            <a:pPr lvl="1"/>
            <a:r>
              <a:rPr lang="ru-RU" dirty="0" err="1"/>
              <a:t>map</a:t>
            </a:r>
            <a:r>
              <a:rPr lang="ru-RU" dirty="0"/>
              <a:t> — ключи уникальны</a:t>
            </a:r>
          </a:p>
          <a:p>
            <a:pPr lvl="1"/>
            <a:r>
              <a:rPr lang="ru-RU" dirty="0" err="1"/>
              <a:t>multimap</a:t>
            </a:r>
            <a:r>
              <a:rPr lang="ru-RU" dirty="0"/>
              <a:t> — ключи могут повторяться</a:t>
            </a:r>
          </a:p>
          <a:p>
            <a:r>
              <a:rPr lang="ru-RU" dirty="0"/>
              <a:t>Требования к ключу</a:t>
            </a:r>
          </a:p>
          <a:p>
            <a:pPr lvl="1"/>
            <a:r>
              <a:rPr lang="ru-RU" dirty="0"/>
              <a:t>Определён строгий порядок (по умолчанию используется </a:t>
            </a:r>
            <a:r>
              <a:rPr lang="ru-RU" dirty="0" err="1"/>
              <a:t>operator</a:t>
            </a:r>
            <a:r>
              <a:rPr lang="ru-RU" dirty="0"/>
              <a:t>&lt;)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230B63A-9EEB-4DE7-A76E-125E442681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08368" y="1627188"/>
            <a:ext cx="2534004" cy="2534004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CFCC1F3-4A2F-477D-B454-932CBC7AF13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04424" y="4279420"/>
            <a:ext cx="2514951" cy="2553056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8BD5C9-4C3B-BBD1-2E6F-9B8CBE13B7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45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73229207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Заголовок 7">
            <a:extLst>
              <a:ext uri="{FF2B5EF4-FFF2-40B4-BE49-F238E27FC236}">
                <a16:creationId xmlns:a16="http://schemas.microsoft.com/office/drawing/2014/main" id="{2DD7EB90-FCC9-4060-886C-1D03FBF5F7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Красно-чёрное дерево</a:t>
            </a:r>
          </a:p>
        </p:txBody>
      </p:sp>
      <p:pic>
        <p:nvPicPr>
          <p:cNvPr id="9" name="Объект 4">
            <a:extLst>
              <a:ext uri="{FF2B5EF4-FFF2-40B4-BE49-F238E27FC236}">
                <a16:creationId xmlns:a16="http://schemas.microsoft.com/office/drawing/2014/main" id="{BFC6AF39-F93E-4582-8A4A-FD4D1EBE55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721517" y="2060848"/>
            <a:ext cx="8748966" cy="4351338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61110CC-9B06-1635-5A9C-2648C341F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46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2390943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68DFE7-75BA-11C0-CA9E-343B1DB61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Пример: подсчёт частоты встречаемости слов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D4C7B7C-2F5F-B368-543B-EC631C0B73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47</a:t>
            </a:fld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8F8580-7F79-06A7-6670-C9BDF42F4ED7}"/>
              </a:ext>
            </a:extLst>
          </p:cNvPr>
          <p:cNvSpPr txBox="1"/>
          <p:nvPr/>
        </p:nvSpPr>
        <p:spPr>
          <a:xfrm>
            <a:off x="838200" y="2060847"/>
            <a:ext cx="1051560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std::map&lt;std::string,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wordCount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std::string word;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&gt;&gt; word)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++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wordCount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[word];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если слова нет — создаётся со значением 0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Word frequencies: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[key, value] :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wordCount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key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value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01167011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D519B4C-674B-4DE1-859E-1AD14B0D2FE3}"/>
              </a:ext>
            </a:extLst>
          </p:cNvPr>
          <p:cNvSpPr/>
          <p:nvPr/>
        </p:nvSpPr>
        <p:spPr>
          <a:xfrm>
            <a:off x="1631504" y="116632"/>
            <a:ext cx="9036496" cy="640354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</a:pPr>
            <a:r>
              <a:rPr lang="en-US" sz="16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map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char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 </a:t>
            </a:r>
            <a:r>
              <a:rPr lang="en-US" sz="1600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BuildCharCounters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&amp;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word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map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char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counters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for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char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: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word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++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counters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[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ch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]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counters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Anagrams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"Enter two words: 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word1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word2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cin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&gt;&gt;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word1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&gt;&gt;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word2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if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1600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BuildCharCounters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word1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==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BuildCharCounters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word2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))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6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word1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and 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word2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are anagrams"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else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{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en-US" sz="16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word1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and 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word2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are not anagrams"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i="1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066DF1-3769-4EA6-9EB9-87FF32360CA7}"/>
              </a:ext>
            </a:extLst>
          </p:cNvPr>
          <p:cNvSpPr txBox="1"/>
          <p:nvPr/>
        </p:nvSpPr>
        <p:spPr>
          <a:xfrm>
            <a:off x="6779568" y="1776725"/>
            <a:ext cx="38884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Enter two words: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live evil</a:t>
            </a:r>
          </a:p>
          <a:p>
            <a:r>
              <a:rPr lang="en-US" dirty="0">
                <a:latin typeface="Consolas" panose="020B0609020204030204" pitchFamily="49" charset="0"/>
              </a:rPr>
              <a:t>live and evil are anagrams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97973B-5A8E-BB6F-9FE7-F0CA9436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48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83491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B80A003D-2956-FB1A-EFCF-28E1109267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Пример: несколько студентов с одинаковым баллом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969F21-44C2-3CB5-4596-0D5B2B294A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49</a:t>
            </a:fld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69D453-3A30-3C3B-B58E-FE1F76EE446B}"/>
              </a:ext>
            </a:extLst>
          </p:cNvPr>
          <p:cNvSpPr txBox="1"/>
          <p:nvPr/>
        </p:nvSpPr>
        <p:spPr>
          <a:xfrm>
            <a:off x="838200" y="1844824"/>
            <a:ext cx="10515600" cy="5170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multimap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sz="16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students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b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students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insert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({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90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Alice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students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insert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({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75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Bob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students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insert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({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90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Charlie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students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insert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({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David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});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Students sorted by score: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[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: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students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sz="16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</a:t>
            </a:r>
            <a:r>
              <a:rPr lang="en-US" sz="1600" b="0" dirty="0" err="1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sz="1600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Students</a:t>
            </a:r>
            <a:r>
              <a:rPr lang="en-US" sz="16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with score 90: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sz="16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students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equal_range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90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sz="16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16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-&gt;second &lt;&lt; 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16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73C9E7-7269-41A3-018B-18D5E1F40E70}"/>
              </a:ext>
            </a:extLst>
          </p:cNvPr>
          <p:cNvSpPr txBox="1"/>
          <p:nvPr/>
        </p:nvSpPr>
        <p:spPr>
          <a:xfrm>
            <a:off x="7722468" y="3616891"/>
            <a:ext cx="4249688" cy="2585323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l">
              <a:buNone/>
            </a:pPr>
            <a:r>
              <a:rPr lang="en-US" b="0" i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Students sorted by score:</a:t>
            </a:r>
          </a:p>
          <a:p>
            <a:pPr algn="l">
              <a:buNone/>
            </a:pPr>
            <a:r>
              <a:rPr lang="en-US" b="0" i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60 : David</a:t>
            </a:r>
          </a:p>
          <a:p>
            <a:pPr algn="l">
              <a:buNone/>
            </a:pPr>
            <a:r>
              <a:rPr lang="en-US" b="0" i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75 : Bob</a:t>
            </a:r>
          </a:p>
          <a:p>
            <a:pPr algn="l">
              <a:buNone/>
            </a:pPr>
            <a:r>
              <a:rPr lang="en-US" b="0" i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90 : Alice</a:t>
            </a:r>
          </a:p>
          <a:p>
            <a:pPr algn="l">
              <a:buNone/>
            </a:pPr>
            <a:r>
              <a:rPr lang="en-US" b="0" i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90 : Charlie</a:t>
            </a:r>
          </a:p>
          <a:p>
            <a:pPr algn="l">
              <a:buNone/>
            </a:pPr>
            <a:endParaRPr lang="en-US" b="0" i="0" dirty="0">
              <a:solidFill>
                <a:schemeClr val="bg1"/>
              </a:solidFill>
              <a:effectLst/>
              <a:latin typeface="Consolas" panose="020B0609020204030204" pitchFamily="49" charset="0"/>
            </a:endParaRPr>
          </a:p>
          <a:p>
            <a:pPr algn="l">
              <a:buNone/>
            </a:pPr>
            <a:r>
              <a:rPr lang="en-US" b="0" i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Students with score 90:</a:t>
            </a:r>
          </a:p>
          <a:p>
            <a:pPr algn="l">
              <a:buNone/>
            </a:pPr>
            <a:r>
              <a:rPr lang="en-US" b="0" i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Alice</a:t>
            </a:r>
          </a:p>
          <a:p>
            <a:pPr algn="l">
              <a:buNone/>
            </a:pPr>
            <a:r>
              <a:rPr lang="en-US" b="0" i="0" dirty="0">
                <a:solidFill>
                  <a:schemeClr val="bg1"/>
                </a:solidFill>
                <a:effectLst/>
                <a:latin typeface="Consolas" panose="020B0609020204030204" pitchFamily="49" charset="0"/>
              </a:rPr>
              <a:t>Charlie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3808E0-4F04-9732-F139-266E664D5E1C}"/>
              </a:ext>
            </a:extLst>
          </p:cNvPr>
          <p:cNvSpPr txBox="1"/>
          <p:nvPr/>
        </p:nvSpPr>
        <p:spPr>
          <a:xfrm>
            <a:off x="5192685" y="6352143"/>
            <a:ext cx="609322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https://godbolt.org/z/8saaMMn4v</a:t>
            </a:r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1E44B6F-5B20-F891-CF9D-E8E1A80023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0336" y="655786"/>
            <a:ext cx="2695951" cy="2686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684198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08888FB-14EB-4C6F-9300-8D28CD0FB3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std::</a:t>
            </a:r>
            <a:r>
              <a:rPr lang="en-US" dirty="0" err="1"/>
              <a:t>unordered_map</a:t>
            </a:r>
            <a:r>
              <a:rPr lang="en-US" dirty="0"/>
              <a:t> </a:t>
            </a:r>
            <a:r>
              <a:rPr lang="ru-RU" dirty="0"/>
              <a:t>и </a:t>
            </a:r>
            <a:r>
              <a:rPr lang="en-US" dirty="0"/>
              <a:t>std::</a:t>
            </a:r>
            <a:r>
              <a:rPr lang="en-US" dirty="0" err="1"/>
              <a:t>unordered_multimap</a:t>
            </a:r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58315AC3-596B-47D4-A678-9A92A72A72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728AAA2-E8A2-5BC9-E0CA-6B47CA2E4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50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812207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hangingPunct="1">
              <a:defRPr/>
            </a:pPr>
            <a:r>
              <a:rPr lang="ru-RU" dirty="0">
                <a:latin typeface="+mj-lt"/>
              </a:rPr>
              <a:t>Классы </a:t>
            </a:r>
            <a:r>
              <a:rPr lang="en-US" dirty="0" err="1">
                <a:latin typeface="+mj-lt"/>
                <a:hlinkClick r:id="rId4"/>
              </a:rPr>
              <a:t>std</a:t>
            </a:r>
            <a:r>
              <a:rPr lang="en-US" dirty="0">
                <a:latin typeface="+mj-lt"/>
                <a:hlinkClick r:id="rId4"/>
              </a:rPr>
              <a:t>::</a:t>
            </a:r>
            <a:r>
              <a:rPr lang="en-US" dirty="0" err="1">
                <a:latin typeface="+mj-lt"/>
                <a:hlinkClick r:id="rId4"/>
              </a:rPr>
              <a:t>unordered_map</a:t>
            </a:r>
            <a:r>
              <a:rPr lang="en-US" dirty="0">
                <a:latin typeface="+mj-lt"/>
              </a:rPr>
              <a:t> </a:t>
            </a:r>
            <a:r>
              <a:rPr lang="ru-RU" dirty="0">
                <a:latin typeface="+mj-lt"/>
              </a:rPr>
              <a:t>и </a:t>
            </a:r>
            <a:r>
              <a:rPr lang="en-US" dirty="0" err="1">
                <a:latin typeface="+mj-lt"/>
                <a:hlinkClick r:id="rId5"/>
              </a:rPr>
              <a:t>std</a:t>
            </a:r>
            <a:r>
              <a:rPr lang="en-US" dirty="0">
                <a:latin typeface="+mj-lt"/>
                <a:hlinkClick r:id="rId5"/>
              </a:rPr>
              <a:t>::</a:t>
            </a:r>
            <a:r>
              <a:rPr lang="en-US" dirty="0" err="1">
                <a:latin typeface="+mj-lt"/>
                <a:hlinkClick r:id="rId5"/>
              </a:rPr>
              <a:t>unordered_multimap</a:t>
            </a:r>
            <a:endParaRPr lang="ru-RU" dirty="0">
              <a:latin typeface="+mj-lt"/>
            </a:endParaRPr>
          </a:p>
        </p:txBody>
      </p:sp>
      <p:sp>
        <p:nvSpPr>
          <p:cNvPr id="36867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Ассоциативные контейнеры на основе хеш-таблицы</a:t>
            </a:r>
          </a:p>
          <a:p>
            <a:r>
              <a:rPr lang="ru-RU" dirty="0"/>
              <a:t>Особенности</a:t>
            </a:r>
          </a:p>
          <a:p>
            <a:pPr lvl="1"/>
            <a:r>
              <a:rPr lang="ru-RU" dirty="0"/>
              <a:t>Хранят пары ключ → значение</a:t>
            </a:r>
          </a:p>
          <a:p>
            <a:pPr lvl="1"/>
            <a:r>
              <a:rPr lang="ru-RU" dirty="0"/>
              <a:t>Элементы </a:t>
            </a:r>
            <a:r>
              <a:rPr lang="ru-RU" b="1" dirty="0"/>
              <a:t>не упорядочены</a:t>
            </a:r>
            <a:endParaRPr lang="ru-RU" dirty="0"/>
          </a:p>
          <a:p>
            <a:pPr lvl="1"/>
            <a:r>
              <a:rPr lang="ru-RU" dirty="0"/>
              <a:t>Поиск, вставка, удаление — в среднем O(1)</a:t>
            </a:r>
          </a:p>
          <a:p>
            <a:pPr lvl="1"/>
            <a:r>
              <a:rPr lang="ru-RU" dirty="0"/>
              <a:t>В худшем случае — O(n)</a:t>
            </a:r>
          </a:p>
          <a:p>
            <a:r>
              <a:rPr lang="ru-RU" dirty="0"/>
              <a:t>Различия</a:t>
            </a:r>
          </a:p>
          <a:p>
            <a:pPr lvl="1"/>
            <a:r>
              <a:rPr lang="ru-RU" dirty="0" err="1"/>
              <a:t>unordered_map</a:t>
            </a:r>
            <a:r>
              <a:rPr lang="ru-RU" dirty="0"/>
              <a:t> — ключи уникальны</a:t>
            </a:r>
          </a:p>
          <a:p>
            <a:pPr lvl="1"/>
            <a:r>
              <a:rPr lang="ru-RU" dirty="0" err="1"/>
              <a:t>unordered_multimap</a:t>
            </a:r>
            <a:r>
              <a:rPr lang="ru-RU" dirty="0"/>
              <a:t> — ключи могут повторяться</a:t>
            </a:r>
          </a:p>
          <a:p>
            <a:r>
              <a:rPr lang="ru-RU" dirty="0"/>
              <a:t>Требования к ключу</a:t>
            </a:r>
          </a:p>
          <a:p>
            <a:pPr lvl="1"/>
            <a:r>
              <a:rPr lang="ru-RU" dirty="0"/>
              <a:t>Оператор равенства ==</a:t>
            </a:r>
          </a:p>
          <a:p>
            <a:pPr lvl="1"/>
            <a:r>
              <a:rPr lang="ru-RU" dirty="0"/>
              <a:t>Функция хеширования (по умолчанию 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hash</a:t>
            </a:r>
            <a:r>
              <a:rPr lang="ru-RU" dirty="0"/>
              <a:t>&lt;Key&gt;)</a:t>
            </a:r>
          </a:p>
          <a:p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8433148-08C9-4FD5-BF9A-DF1DC2E1C5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68408" y="4556844"/>
            <a:ext cx="2268248" cy="2276872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E45EBE-0CAF-71A0-7A3F-1BFB2A2E0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51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95730682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1524000" y="1"/>
            <a:ext cx="9144000" cy="64940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6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unordered_map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&lt;string&gt;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600" dirty="0" err="1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iostream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using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namespace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solidFill>
                <a:srgbClr val="000000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enum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class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Gender</a:t>
            </a:r>
            <a:r>
              <a:rPr lang="ru-RU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 </a:t>
            </a:r>
            <a:r>
              <a:rPr lang="en-US" sz="16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Female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</a:t>
            </a: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};</a:t>
            </a:r>
            <a:endParaRPr lang="ru-RU" sz="1600" dirty="0">
              <a:solidFill>
                <a:srgbClr val="000000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GenderToString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Gender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gender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(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gender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==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Gender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6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?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"male"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: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"female"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i="1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main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i="1" dirty="0" err="1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unordered_map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600" i="1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Gender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 </a:t>
            </a:r>
            <a:r>
              <a:rPr lang="en-US" sz="1600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nameToGender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= {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{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"Sarah"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Gender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6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Female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},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{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"John"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Gender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6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},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{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"Leonardo"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Gender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6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},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{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"Richard"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Gender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6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Male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},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{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"Tanya"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Gender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::</a:t>
            </a:r>
            <a:r>
              <a:rPr lang="en-US" sz="1600" dirty="0">
                <a:solidFill>
                  <a:srgbClr val="A000A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Female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};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"Tanya is a 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endParaRPr lang="ru-RU" sz="1600" dirty="0">
              <a:solidFill>
                <a:srgbClr val="000000"/>
              </a:solidFill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ru-RU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GenderToString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nameToGender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600" i="1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"Tanya"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))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name.\n"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i="1" dirty="0" err="1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"John is a 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GenderToString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000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nameToGender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</a:t>
            </a:r>
            <a:r>
              <a:rPr lang="en-US" sz="1600" i="1" dirty="0">
                <a:solidFill>
                  <a:srgbClr val="88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"John"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)) </a:t>
            </a:r>
            <a:r>
              <a:rPr lang="en-US" sz="160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 name.\n"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  <a:p>
            <a:pPr>
              <a:spcAft>
                <a:spcPts val="800"/>
              </a:spcAft>
            </a:pPr>
            <a:r>
              <a:rPr lang="ru-RU" sz="160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600" dirty="0">
              <a:latin typeface="Consolas" panose="020B0609020204030204" pitchFamily="49" charset="0"/>
              <a:ea typeface="Calibri" panose="020F0502020204030204" pitchFamily="34" charset="0"/>
              <a:cs typeface="Consolas" panose="020B0609020204030204" pitchFamily="49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859AB0B-C2C8-F2F6-4466-91CAE73F88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52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857156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6FA4A8CF-7F31-C8AF-69C1-3C97BD368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Возможное устройство </a:t>
            </a:r>
            <a:r>
              <a:rPr lang="en-US" dirty="0"/>
              <a:t> </a:t>
            </a:r>
            <a:r>
              <a:rPr lang="en-US" dirty="0" err="1"/>
              <a:t>unordered_map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9E532B5-0206-485A-47A8-472E0A154E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53</a:t>
            </a:fld>
            <a:endParaRPr lang="ru-RU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CCFD09C9-5F5E-8F4F-83AB-CB6F6E74F1F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05347" y="1889579"/>
            <a:ext cx="9181306" cy="49831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7568519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3BAECCC-266C-CCD2-E59A-79CE37ABE9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Создаём простой </a:t>
            </a:r>
            <a:r>
              <a:rPr lang="en-US" dirty="0"/>
              <a:t>LRU</a:t>
            </a:r>
            <a:r>
              <a:rPr lang="ru-RU" dirty="0"/>
              <a:t> </a:t>
            </a:r>
            <a:r>
              <a:rPr lang="en-US" dirty="0"/>
              <a:t>Cache (</a:t>
            </a:r>
            <a:r>
              <a:rPr lang="en-US" dirty="0" err="1"/>
              <a:t>unordered_map</a:t>
            </a:r>
            <a:r>
              <a:rPr lang="en-US" dirty="0"/>
              <a:t> + list)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B6F98D-41FE-6E4E-D178-6161F6E8FD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1FD68E3-2C33-F146-D514-8A74FA13B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54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874143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0E43FD7-784D-F7D4-5243-32B7740BCB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Пример: </a:t>
            </a:r>
            <a:r>
              <a:rPr lang="en-US" dirty="0"/>
              <a:t>LRU (Least Recently Used) Cache</a:t>
            </a:r>
            <a:r>
              <a:rPr lang="ru-RU" dirty="0"/>
              <a:t> (Инициализация и поиск)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6B272D2-B73C-5EFF-FDF5-0AC2FCA43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55</a:t>
            </a:fld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41F1C4-230C-2E40-D52D-27117318BB04}"/>
              </a:ext>
            </a:extLst>
          </p:cNvPr>
          <p:cNvSpPr txBox="1"/>
          <p:nvPr/>
        </p:nvSpPr>
        <p:spPr>
          <a:xfrm>
            <a:off x="838200" y="1922068"/>
            <a:ext cx="11233248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2B91AF"/>
                </a:solidFill>
                <a:latin typeface="Consolas" panose="020B0609020204030204" pitchFamily="49" charset="0"/>
              </a:rPr>
              <a:t>LRUCache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using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</a:rPr>
              <a:t>Items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= std::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</a:rPr>
              <a:t>list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&lt;std::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</a:rPr>
              <a:t>pair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&gt;&gt;;</a:t>
            </a:r>
          </a:p>
          <a:p>
            <a:pPr>
              <a:buNone/>
            </a:pPr>
            <a:b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sz="1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400" dirty="0" err="1">
                <a:solidFill>
                  <a:srgbClr val="2B91AF"/>
                </a:solidFill>
                <a:latin typeface="Consolas" panose="020B0609020204030204" pitchFamily="49" charset="0"/>
              </a:rPr>
              <a:t>size_t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capacity;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</a:rPr>
              <a:t>Items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Consolas" panose="020B0609020204030204" pitchFamily="49" charset="0"/>
              </a:rPr>
              <a:t>items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    std::</a:t>
            </a:r>
            <a:r>
              <a:rPr lang="en-US" sz="1400" dirty="0" err="1">
                <a:solidFill>
                  <a:srgbClr val="2B91AF"/>
                </a:solidFill>
                <a:latin typeface="Consolas" panose="020B0609020204030204" pitchFamily="49" charset="0"/>
              </a:rPr>
              <a:t>unordered_map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sz="1400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</a:rPr>
              <a:t>Items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sz="1400" dirty="0">
                <a:solidFill>
                  <a:srgbClr val="2B91AF"/>
                </a:solidFill>
                <a:latin typeface="Consolas" panose="020B0609020204030204" pitchFamily="49" charset="0"/>
              </a:rPr>
              <a:t>iterator</a:t>
            </a: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&gt; map;</a:t>
            </a:r>
          </a:p>
          <a:p>
            <a:pPr>
              <a:buNone/>
            </a:pPr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InitCache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LRUCache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cache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capacity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cache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.capacity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capacity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LRUCache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cache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key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cache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.map.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key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cache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.map.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-</a:t>
            </a:r>
            <a:r>
              <a:rPr lang="en-US" sz="14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Перемещаем элемент в начало</a:t>
            </a:r>
            <a:r>
              <a:rPr lang="en-US" sz="1400" dirty="0">
                <a:solidFill>
                  <a:srgbClr val="008000"/>
                </a:solidFill>
                <a:latin typeface="Consolas" panose="020B0609020204030204" pitchFamily="49" charset="0"/>
              </a:rPr>
              <a:t>. </a:t>
            </a:r>
            <a:r>
              <a:rPr lang="ru-RU" sz="1400" dirty="0">
                <a:solidFill>
                  <a:srgbClr val="008000"/>
                </a:solidFill>
                <a:latin typeface="Consolas" panose="020B0609020204030204" pitchFamily="49" charset="0"/>
              </a:rPr>
              <a:t>Теперь он – </a:t>
            </a:r>
            <a:r>
              <a:rPr lang="ru-RU" sz="14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самый "свежий"</a:t>
            </a:r>
            <a:endParaRPr lang="ru-RU" sz="1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cache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.items.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splice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cache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.items.</a:t>
            </a:r>
            <a:r>
              <a:rPr lang="en-US" sz="14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sz="14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cache</a:t>
            </a:r>
            <a:r>
              <a:rPr lang="en-US" sz="14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.items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-&gt;second);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-&gt;second-&gt;second;</a:t>
            </a:r>
          </a:p>
          <a:p>
            <a:pPr>
              <a:buNone/>
            </a:pP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FC06229-0831-4340-C8CD-1B8C967EC4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6444" y="1628343"/>
            <a:ext cx="2715004" cy="267689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0773147-7620-5312-4BC1-A08A95B9FCCA}"/>
              </a:ext>
            </a:extLst>
          </p:cNvPr>
          <p:cNvSpPr txBox="1"/>
          <p:nvPr/>
        </p:nvSpPr>
        <p:spPr>
          <a:xfrm>
            <a:off x="8892565" y="4746741"/>
            <a:ext cx="36427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https://godbolt.org/z/oYrf4hhv1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949975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86A91D-B986-815C-3146-5DB99690FA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LRU Cache</a:t>
            </a:r>
            <a:r>
              <a:rPr lang="ru-RU" dirty="0"/>
              <a:t> – вставка элемента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806C33F-CE30-67E1-5957-FAED10075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56</a:t>
            </a:fld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DBFD1B-2E8E-4AE0-0515-0E62DFAFAF65}"/>
              </a:ext>
            </a:extLst>
          </p:cNvPr>
          <p:cNvSpPr txBox="1"/>
          <p:nvPr/>
        </p:nvSpPr>
        <p:spPr>
          <a:xfrm>
            <a:off x="838200" y="1779687"/>
            <a:ext cx="106584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LRUCache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cache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key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cache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.map.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key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cache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.map.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-&gt;second-&gt;second =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cache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.items.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splice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cache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.items.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cache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.items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-&gt;second);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cache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.items.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==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cache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.capacity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cache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.items.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cache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.map.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erase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last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.first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cache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.items.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pop_back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cache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.items.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emplace_front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key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cache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.map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key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=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cache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.items.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28334241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766615-B266-EA16-948F-7B4058E80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LRU Cache - </a:t>
            </a:r>
            <a:r>
              <a:rPr lang="ru-RU" dirty="0"/>
              <a:t>использование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8A717A5-694A-95BF-1B86-D908304B15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57</a:t>
            </a:fld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786EA9-6ECD-893A-6A21-8BB0FF524B53}"/>
              </a:ext>
            </a:extLst>
          </p:cNvPr>
          <p:cNvSpPr txBox="1"/>
          <p:nvPr/>
        </p:nvSpPr>
        <p:spPr>
          <a:xfrm>
            <a:off x="838200" y="2453858"/>
            <a:ext cx="1051560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LRUCache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cache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InitCache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cache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cache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cache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cache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10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cache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           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удалится ключ 2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cache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-1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27471121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4EBF6AB-CB25-460D-8C0A-993952F5DF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std::set </a:t>
            </a:r>
            <a:r>
              <a:rPr lang="ru-RU" dirty="0"/>
              <a:t>и </a:t>
            </a:r>
            <a:r>
              <a:rPr lang="en-US" dirty="0"/>
              <a:t>std::multiset</a:t>
            </a:r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9B7739C-1309-44C3-B8E2-3F2EAB40B6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7AACBC-EF17-2428-4838-71F7719FB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58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5919477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eaLnBrk="1" hangingPunct="1"/>
            <a:r>
              <a:rPr lang="ru-RU" dirty="0"/>
              <a:t>Классы множеств </a:t>
            </a:r>
            <a:r>
              <a:rPr lang="en-US" dirty="0">
                <a:hlinkClick r:id="rId4"/>
              </a:rPr>
              <a:t>std::set</a:t>
            </a:r>
            <a:r>
              <a:rPr lang="en-US" dirty="0"/>
              <a:t> </a:t>
            </a:r>
            <a:r>
              <a:rPr lang="ru-RU" dirty="0"/>
              <a:t>и </a:t>
            </a:r>
            <a:r>
              <a:rPr lang="en-US" dirty="0">
                <a:hlinkClick r:id="rId5"/>
              </a:rPr>
              <a:t>std::</a:t>
            </a:r>
            <a:r>
              <a:rPr lang="en-US" dirty="0" err="1">
                <a:hlinkClick r:id="rId5"/>
              </a:rPr>
              <a:t>multiset</a:t>
            </a:r>
            <a:endParaRPr lang="ru-RU" dirty="0"/>
          </a:p>
        </p:txBody>
      </p:sp>
      <p:sp>
        <p:nvSpPr>
          <p:cNvPr id="37891" name="Rectangle 3"/>
          <p:cNvSpPr>
            <a:spLocks noGrp="1" noChangeArrowheads="1"/>
          </p:cNvSpPr>
          <p:nvPr>
            <p:ph idx="1"/>
          </p:nvPr>
        </p:nvSpPr>
        <p:spPr>
          <a:xfrm>
            <a:off x="838200" y="1825625"/>
            <a:ext cx="8138120" cy="4351338"/>
          </a:xfrm>
        </p:spPr>
        <p:txBody>
          <a:bodyPr>
            <a:normAutofit fontScale="85000" lnSpcReduction="10000"/>
          </a:bodyPr>
          <a:lstStyle/>
          <a:p>
            <a:r>
              <a:rPr lang="ru-RU" dirty="0"/>
              <a:t>Упорядоченные ассоциативные контейнеры</a:t>
            </a:r>
            <a:br>
              <a:rPr lang="ru-RU" dirty="0"/>
            </a:br>
            <a:r>
              <a:rPr lang="ru-RU" dirty="0"/>
              <a:t>(обычно реализованы на основе красно-чёрного дерева)</a:t>
            </a:r>
          </a:p>
          <a:p>
            <a:r>
              <a:rPr lang="ru-RU" dirty="0"/>
              <a:t>Особенности</a:t>
            </a:r>
          </a:p>
          <a:p>
            <a:pPr lvl="1"/>
            <a:r>
              <a:rPr lang="ru-RU" dirty="0"/>
              <a:t>Хранят </a:t>
            </a:r>
            <a:r>
              <a:rPr lang="ru-RU" b="1" dirty="0"/>
              <a:t>только значения</a:t>
            </a:r>
            <a:r>
              <a:rPr lang="ru-RU" dirty="0"/>
              <a:t> (без пары ключ–значение)</a:t>
            </a:r>
          </a:p>
          <a:p>
            <a:pPr lvl="1"/>
            <a:r>
              <a:rPr lang="ru-RU" dirty="0"/>
              <a:t>Элементы автоматически упорядочены</a:t>
            </a:r>
          </a:p>
          <a:p>
            <a:pPr lvl="1"/>
            <a:r>
              <a:rPr lang="ru-RU" dirty="0"/>
              <a:t>Поиск, вставка, удаление — O(</a:t>
            </a:r>
            <a:r>
              <a:rPr lang="ru-RU" dirty="0" err="1"/>
              <a:t>log</a:t>
            </a:r>
            <a:r>
              <a:rPr lang="ru-RU" dirty="0"/>
              <a:t> n)</a:t>
            </a:r>
          </a:p>
          <a:p>
            <a:r>
              <a:rPr lang="ru-RU" dirty="0"/>
              <a:t>Различия</a:t>
            </a:r>
          </a:p>
          <a:p>
            <a:pPr lvl="1"/>
            <a:r>
              <a:rPr lang="ru-RU" dirty="0" err="1"/>
              <a:t>set</a:t>
            </a:r>
            <a:r>
              <a:rPr lang="ru-RU" dirty="0"/>
              <a:t> — элементы уникальны</a:t>
            </a:r>
          </a:p>
          <a:p>
            <a:pPr lvl="1"/>
            <a:r>
              <a:rPr lang="ru-RU" dirty="0" err="1"/>
              <a:t>multiset</a:t>
            </a:r>
            <a:r>
              <a:rPr lang="ru-RU" dirty="0"/>
              <a:t> — допускаются повторения</a:t>
            </a:r>
          </a:p>
          <a:p>
            <a:r>
              <a:rPr lang="ru-RU" dirty="0"/>
              <a:t>Требования к элементам</a:t>
            </a:r>
          </a:p>
          <a:p>
            <a:pPr lvl="1"/>
            <a:r>
              <a:rPr lang="ru-RU" dirty="0"/>
              <a:t>Определён строгий порядок (по умолчанию используется </a:t>
            </a:r>
            <a:r>
              <a:rPr lang="ru-RU" dirty="0" err="1"/>
              <a:t>operator</a:t>
            </a:r>
            <a:r>
              <a:rPr lang="ru-RU" dirty="0"/>
              <a:t>&lt;)</a:t>
            </a:r>
          </a:p>
          <a:p>
            <a:pPr lvl="1"/>
            <a:r>
              <a:rPr lang="ru-RU" dirty="0"/>
              <a:t>Можно задать собственный компаратор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109B2A6-E4B4-4276-987A-F60886CEBD8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32924" y="1438711"/>
            <a:ext cx="2572109" cy="2562583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614747C-66E6-49E2-B7A5-C1494B073E7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64352" y="4227747"/>
            <a:ext cx="2524477" cy="2562583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62FEE5-663D-BE28-8C84-8AA722B2D0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59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69150334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659EDA-FD9F-31D4-9A14-053B972274BF}"/>
              </a:ext>
            </a:extLst>
          </p:cNvPr>
          <p:cNvSpPr txBox="1"/>
          <p:nvPr/>
        </p:nvSpPr>
        <p:spPr>
          <a:xfrm>
            <a:off x="838200" y="1916832"/>
            <a:ext cx="10730408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maleNames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Ivan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Peter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Vasily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maleNames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insert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Alexey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getline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maleNames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contains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is a male name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maleNames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Alexey, Ivan, Peter, Vasily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3FD5C0A-7443-BC0F-D853-BCC2F30E0D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60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7611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BBBAEE1-B3F0-CC41-B4FD-2974EEA1F5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unordered_set</a:t>
            </a:r>
            <a:r>
              <a:rPr lang="en-US" dirty="0"/>
              <a:t> </a:t>
            </a:r>
            <a:r>
              <a:rPr lang="ru-RU" dirty="0"/>
              <a:t>и </a:t>
            </a:r>
            <a:r>
              <a:rPr lang="en-US" dirty="0" err="1"/>
              <a:t>unordered_multiset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DC4E666-FA59-11AC-3FC2-D53B4D4054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75424EE-D0B3-E106-61F3-C14F5766F4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61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0356663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D02ED9E-D7EF-6BF1-CD6B-314D28842A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unordered_set</a:t>
            </a:r>
            <a:r>
              <a:rPr lang="en-US" dirty="0"/>
              <a:t> </a:t>
            </a:r>
            <a:r>
              <a:rPr lang="ru-RU" dirty="0"/>
              <a:t>и </a:t>
            </a:r>
            <a:r>
              <a:rPr lang="en-US" dirty="0" err="1"/>
              <a:t>unordered_multiset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5BBB331-FF94-24BC-B73F-0F3E1AC6F0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Ассоциативные контейнеры-множества на основе хеш-таблицы</a:t>
            </a:r>
          </a:p>
          <a:p>
            <a:r>
              <a:rPr lang="ru-RU" dirty="0"/>
              <a:t>Особенности</a:t>
            </a:r>
          </a:p>
          <a:p>
            <a:pPr lvl="1"/>
            <a:r>
              <a:rPr lang="ru-RU" dirty="0"/>
              <a:t>Хранят </a:t>
            </a:r>
            <a:r>
              <a:rPr lang="ru-RU" b="1" dirty="0"/>
              <a:t>только значения</a:t>
            </a:r>
            <a:endParaRPr lang="ru-RU" dirty="0"/>
          </a:p>
          <a:p>
            <a:pPr lvl="1"/>
            <a:r>
              <a:rPr lang="ru-RU" dirty="0"/>
              <a:t>Элементы </a:t>
            </a:r>
            <a:r>
              <a:rPr lang="ru-RU" b="1" dirty="0"/>
              <a:t>не упорядочены</a:t>
            </a:r>
            <a:endParaRPr lang="ru-RU" dirty="0"/>
          </a:p>
          <a:p>
            <a:pPr lvl="1"/>
            <a:r>
              <a:rPr lang="ru-RU" dirty="0"/>
              <a:t>Поиск, вставка, удаление — в среднем O(1)</a:t>
            </a:r>
          </a:p>
          <a:p>
            <a:pPr lvl="1"/>
            <a:r>
              <a:rPr lang="ru-RU" dirty="0"/>
              <a:t>В худшем случае — O(n)</a:t>
            </a:r>
          </a:p>
          <a:p>
            <a:r>
              <a:rPr lang="ru-RU" dirty="0"/>
              <a:t>Различия</a:t>
            </a:r>
          </a:p>
          <a:p>
            <a:pPr lvl="1"/>
            <a:r>
              <a:rPr lang="ru-RU" dirty="0" err="1"/>
              <a:t>unordered_set</a:t>
            </a:r>
            <a:r>
              <a:rPr lang="ru-RU" dirty="0"/>
              <a:t> — элементы уникальны</a:t>
            </a:r>
          </a:p>
          <a:p>
            <a:pPr lvl="1"/>
            <a:r>
              <a:rPr lang="ru-RU" dirty="0" err="1"/>
              <a:t>unordered_multiset</a:t>
            </a:r>
            <a:r>
              <a:rPr lang="ru-RU" dirty="0"/>
              <a:t> — допускаются дубликаты</a:t>
            </a:r>
          </a:p>
          <a:p>
            <a:r>
              <a:rPr lang="ru-RU" dirty="0"/>
              <a:t>Требования к элементам</a:t>
            </a:r>
          </a:p>
          <a:p>
            <a:pPr lvl="1"/>
            <a:r>
              <a:rPr lang="ru-RU" dirty="0"/>
              <a:t>Оператор равенства ==</a:t>
            </a:r>
          </a:p>
          <a:p>
            <a:pPr lvl="1"/>
            <a:r>
              <a:rPr lang="ru-RU" dirty="0"/>
              <a:t>Функция хеширования (по умолчанию используется </a:t>
            </a:r>
            <a:r>
              <a:rPr lang="ru-RU" dirty="0" err="1"/>
              <a:t>std</a:t>
            </a:r>
            <a:r>
              <a:rPr lang="ru-RU" dirty="0"/>
              <a:t>::</a:t>
            </a:r>
            <a:r>
              <a:rPr lang="ru-RU" dirty="0" err="1"/>
              <a:t>hash</a:t>
            </a:r>
            <a:r>
              <a:rPr lang="ru-RU" dirty="0"/>
              <a:t>&lt;T&gt;)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731768-1B99-4767-13FC-01841B6A61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62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460878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F66DB08-F78C-D8A2-8196-D89EDF6A11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Пример: удаление повторяющихся чисел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4449FF-CDFE-E352-EB1E-8A8BF9332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63</a:t>
            </a:fld>
            <a:endParaRPr lang="ru-R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3E96DE-8196-56F8-3072-73B57D783565}"/>
              </a:ext>
            </a:extLst>
          </p:cNvPr>
          <p:cNvSpPr txBox="1"/>
          <p:nvPr/>
        </p:nvSpPr>
        <p:spPr>
          <a:xfrm>
            <a:off x="838200" y="1988840"/>
            <a:ext cx="105156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unordered_set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uniqueNumbers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Enter numbers: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number;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&gt;&gt; number)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uniqueNumbers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insert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(number);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</a:t>
            </a:r>
            <a:r>
              <a:rPr lang="en-US" b="0" dirty="0" err="1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Unique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numbers: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value :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uniqueNumbers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value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71872761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0E2D92-5A13-B5A3-DC2F-E134AA090F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Пример: подсчёт повторяющихся оценок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B27DEC5-3D72-D955-E2C4-BC77405AE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64</a:t>
            </a:fld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908DB4-13F1-64CF-8CF0-D812A5DCBFC2}"/>
              </a:ext>
            </a:extLst>
          </p:cNvPr>
          <p:cNvSpPr txBox="1"/>
          <p:nvPr/>
        </p:nvSpPr>
        <p:spPr>
          <a:xfrm>
            <a:off x="838200" y="2070796"/>
            <a:ext cx="105156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unordered_multiset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grades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{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All grades: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grade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grades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grade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\n\</a:t>
            </a:r>
            <a:r>
              <a:rPr lang="en-US" b="0" dirty="0" err="1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Number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of students with grade 5: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grades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count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Number of students with grade 4: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grades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count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23309469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19EFD60E-D7D6-4BE1-170B-7CADC40AB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std::function</a:t>
            </a:r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9DDE1E7C-A625-218A-949F-9582D1C1A2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562A5B-5F10-FAA0-545E-77AB46718D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65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326856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0A0138C0-8AE5-B1D5-6A53-0E3E58718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std::function</a:t>
            </a:r>
            <a:endParaRPr lang="ru-RU" dirty="0"/>
          </a:p>
        </p:txBody>
      </p:sp>
      <p:sp>
        <p:nvSpPr>
          <p:cNvPr id="5" name="Объект 4">
            <a:extLst>
              <a:ext uri="{FF2B5EF4-FFF2-40B4-BE49-F238E27FC236}">
                <a16:creationId xmlns:a16="http://schemas.microsoft.com/office/drawing/2014/main" id="{226C2A16-4059-3AF3-59C6-360C065700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Полиморфная обёртка функции общего назначения</a:t>
            </a:r>
          </a:p>
          <a:p>
            <a:r>
              <a:rPr lang="ru-RU" dirty="0"/>
              <a:t>Экземпляры </a:t>
            </a:r>
            <a:r>
              <a:rPr lang="en-US" dirty="0"/>
              <a:t>std::function </a:t>
            </a:r>
            <a:r>
              <a:rPr lang="ru-RU" dirty="0"/>
              <a:t>могут оборачивать:</a:t>
            </a:r>
          </a:p>
          <a:p>
            <a:pPr lvl="1"/>
            <a:r>
              <a:rPr lang="ru-RU" dirty="0"/>
              <a:t>Обычные функции</a:t>
            </a:r>
          </a:p>
          <a:p>
            <a:pPr lvl="1"/>
            <a:r>
              <a:rPr lang="ru-RU" dirty="0"/>
              <a:t>Лямбда-выражения</a:t>
            </a:r>
          </a:p>
          <a:p>
            <a:pPr lvl="1"/>
            <a:r>
              <a:rPr lang="en-US" dirty="0"/>
              <a:t>bind-</a:t>
            </a:r>
            <a:r>
              <a:rPr lang="ru-RU" dirty="0"/>
              <a:t>выражения</a:t>
            </a:r>
            <a:endParaRPr lang="en-US" dirty="0"/>
          </a:p>
          <a:p>
            <a:pPr lvl="1"/>
            <a:r>
              <a:rPr lang="ru-RU" dirty="0"/>
              <a:t>Функциональные объекты</a:t>
            </a:r>
            <a:endParaRPr lang="en-US" dirty="0"/>
          </a:p>
          <a:p>
            <a:r>
              <a:rPr lang="ru-RU" dirty="0"/>
              <a:t>Объявлена в заголовочном файле </a:t>
            </a:r>
            <a:r>
              <a:rPr lang="en-US" dirty="0"/>
              <a:t>&lt;functional&gt;</a:t>
            </a:r>
            <a:endParaRPr lang="ru-RU" dirty="0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9AFE066-FA7D-439B-8CDD-7C31351A66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6360" y="4077072"/>
            <a:ext cx="2524477" cy="2562583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BA8D-80A3-22C1-9DFD-C33E00B79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66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631748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ECE3C93-8BBF-E5EB-165A-BCD7F5F5B4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Задача – поиск текста в потоке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FB54EA-3D01-E1D9-0DF1-C7E61ED35DA8}"/>
              </a:ext>
            </a:extLst>
          </p:cNvPr>
          <p:cNvSpPr txBox="1"/>
          <p:nvPr/>
        </p:nvSpPr>
        <p:spPr>
          <a:xfrm>
            <a:off x="825717" y="1690688"/>
            <a:ext cx="10515600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FindStringInStream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istream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haystack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needle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std::string line;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found 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lineIndex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getline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(haystack, line); ++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lineIndex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pos =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line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(needle);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(pos != std::string::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npos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found 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lineIndex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found;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FindStringInStream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needle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?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011F986D-3CC2-4202-18FC-445787A233AC}"/>
              </a:ext>
            </a:extLst>
          </p:cNvPr>
          <p:cNvSpPr/>
          <p:nvPr/>
        </p:nvSpPr>
        <p:spPr>
          <a:xfrm>
            <a:off x="4655840" y="4293096"/>
            <a:ext cx="6337920" cy="586184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Обработка результатов поиска зашита в функцию</a:t>
            </a:r>
            <a:r>
              <a:rPr lang="en-US" dirty="0"/>
              <a:t> </a:t>
            </a:r>
            <a:r>
              <a:rPr lang="ru-RU" dirty="0"/>
              <a:t>поиска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9753B3-4984-825D-F806-C4F98D3E04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67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776688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3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8" dur="700" fill="hold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1F1F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5A4E7E7-528B-94BC-9005-C16D187C5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Решение – передаём обработчик результатов снаружи, используя </a:t>
            </a:r>
            <a:r>
              <a:rPr lang="en-US" dirty="0"/>
              <a:t>function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3A9F9D1-3368-5F5D-1A74-A7B20888F296}"/>
              </a:ext>
            </a:extLst>
          </p:cNvPr>
          <p:cNvSpPr txBox="1"/>
          <p:nvPr/>
        </p:nvSpPr>
        <p:spPr>
          <a:xfrm>
            <a:off x="119336" y="1968560"/>
            <a:ext cx="12072664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using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Callback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lineIndex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line,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foundPos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)&gt;;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FindStringInStream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istream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haystack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needle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Callback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callback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Callback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found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lineIndex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getline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haystack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 ++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lineIndex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pos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line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needle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pos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npos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found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8F08C4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808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callback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</a:t>
            </a:r>
            <a:r>
              <a:rPr lang="ru-RU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        </a:t>
            </a:r>
            <a:r>
              <a:rPr lang="en-US" b="0" dirty="0">
                <a:solidFill>
                  <a:srgbClr val="80808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callback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lineIndex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1F377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line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1F377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pos</a:t>
            </a:r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        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found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1E1B03-1A35-C08D-8136-DA1DA99726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68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503677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9A97E91-FF84-B66A-5472-09989F6B6A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Обрабатываем результаты в обычной функции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10916E8-A009-AC16-F490-CC3ABC93B95D}"/>
              </a:ext>
            </a:extLst>
          </p:cNvPr>
          <p:cNvSpPr txBox="1"/>
          <p:nvPr/>
        </p:nvSpPr>
        <p:spPr>
          <a:xfrm>
            <a:off x="838200" y="2136338"/>
            <a:ext cx="11054444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PrintLine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lineIndex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foundPos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lineIndex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FindStringInStream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needle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PrintLine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?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98AAF12-145D-8BD8-191D-00A9A14860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69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9978516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CEFE62-5FE7-DBF1-C013-6454CFCAD8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Лямбда-выражение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4BE11B-FBE0-B7A1-1DFC-5706202E5F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Анонимная функция, которая может быть определена прямо в месте использования</a:t>
            </a:r>
            <a:endParaRPr lang="en-US" dirty="0"/>
          </a:p>
          <a:p>
            <a:r>
              <a:rPr lang="ru-RU" dirty="0"/>
              <a:t>Позволяет передавать функцию как аргумент</a:t>
            </a:r>
          </a:p>
          <a:p>
            <a:r>
              <a:rPr lang="ru-RU" dirty="0"/>
              <a:t>Может захватывать переменные из окружающего контекста</a:t>
            </a:r>
            <a:r>
              <a:rPr lang="en-US" dirty="0"/>
              <a:t>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0D2BB0D-6131-1FE6-DA50-47D1971A199A}"/>
              </a:ext>
            </a:extLst>
          </p:cNvPr>
          <p:cNvSpPr txBox="1"/>
          <p:nvPr/>
        </p:nvSpPr>
        <p:spPr>
          <a:xfrm>
            <a:off x="551384" y="4422637"/>
            <a:ext cx="554461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[](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num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6C2E9D9-3B86-623C-611F-998164462FEB}"/>
              </a:ext>
            </a:extLst>
          </p:cNvPr>
          <p:cNvSpPr txBox="1"/>
          <p:nvPr/>
        </p:nvSpPr>
        <p:spPr>
          <a:xfrm>
            <a:off x="6096000" y="4422637"/>
            <a:ext cx="5904656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[</a:t>
            </a:r>
            <a:r>
              <a:rPr lang="ru-RU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{</a:t>
            </a:r>
          </a:p>
          <a:p>
            <a:pPr>
              <a:buNone/>
            </a:pP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// x захватывается по значению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ru-RU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ru-RU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x = </a:t>
            </a:r>
            <a:r>
              <a:rPr lang="ru-RU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ru-RU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ru-RU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};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42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55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42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02543D-E84C-004B-D41B-8A2FD8EE9D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70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035597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9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717D7-47B5-8811-DA3D-8949A98B25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у лямбда-функции под капотом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340CC2-5C8E-8322-AF26-4D7B9CB785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Компилятор создаёт внутри функции класс с перегруженным оператором вызова функции</a:t>
            </a:r>
            <a:endParaRPr lang="en-US" dirty="0"/>
          </a:p>
          <a:p>
            <a:pPr lvl="1"/>
            <a:r>
              <a:rPr lang="ru-RU" dirty="0"/>
              <a:t>Захваченные переменные хранятся в виде полей класса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2A48BF-0715-CA22-1AC0-D86E1C80CF6C}"/>
              </a:ext>
            </a:extLst>
          </p:cNvPr>
          <p:cNvSpPr txBox="1"/>
          <p:nvPr/>
        </p:nvSpPr>
        <p:spPr>
          <a:xfrm>
            <a:off x="6096000" y="6176963"/>
            <a:ext cx="59046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https://cppinsights.io/s/6c5bdd4c</a:t>
            </a:r>
            <a:r>
              <a:rPr lang="ru-RU" dirty="0"/>
              <a:t> 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D07576E-5BF4-3C31-8544-C4C2263350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1488" y="4127234"/>
            <a:ext cx="1895740" cy="1914792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4E65FD-4426-8841-FF9E-17D9DDFBB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71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021990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80095DC0-8440-9DA8-D314-C5541DBD7244}"/>
              </a:ext>
            </a:extLst>
          </p:cNvPr>
          <p:cNvSpPr txBox="1"/>
          <p:nvPr/>
        </p:nvSpPr>
        <p:spPr>
          <a:xfrm>
            <a:off x="6096000" y="249007"/>
            <a:ext cx="6096000" cy="6186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__lambda_7_12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__lambda_7_12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_x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: x{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_x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{}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operator()()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x 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“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x &lt;&lt;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__lambda_7_12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__lambda_7_12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D085A57-4C66-544A-8A72-D32D57DE2610}"/>
              </a:ext>
            </a:extLst>
          </p:cNvPr>
          <p:cNvSpPr txBox="1"/>
          <p:nvPr/>
        </p:nvSpPr>
        <p:spPr>
          <a:xfrm>
            <a:off x="0" y="249007"/>
            <a:ext cx="580796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[=] {</a:t>
            </a: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// x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захватывается по значению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x 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72363CD-DA22-D898-E262-9646A1EBAA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72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675010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B5C202-EDA6-DEB7-D1FE-79CB9D046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Захват переменной по ссылке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33093B-82E9-C7DB-E0F6-6A830F3B3C28}"/>
              </a:ext>
            </a:extLst>
          </p:cNvPr>
          <p:cNvSpPr txBox="1"/>
          <p:nvPr/>
        </p:nvSpPr>
        <p:spPr>
          <a:xfrm>
            <a:off x="838200" y="1988840"/>
            <a:ext cx="83058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[&amp;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 {</a:t>
            </a: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    // x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захватывается по ссылке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x 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42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55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08AB50-52A4-99E9-10B7-D81ED76B402F}"/>
              </a:ext>
            </a:extLst>
          </p:cNvPr>
          <p:cNvSpPr txBox="1"/>
          <p:nvPr/>
        </p:nvSpPr>
        <p:spPr>
          <a:xfrm>
            <a:off x="6096000" y="602128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https://cppinsights.io/s/89499d9b</a:t>
            </a:r>
            <a:r>
              <a:rPr lang="en-US" dirty="0"/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F41224A-3784-8FEB-5126-52155F242C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40416" y="1950722"/>
            <a:ext cx="1838582" cy="1905266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01F901-3742-734C-8CC1-CBF50DAE5E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73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6115011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936CEB-C66A-ECD6-4211-C18DB69502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Изменение захваченного значения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41B742E-8F0B-6DF8-2F6C-FAF5AF709524}"/>
              </a:ext>
            </a:extLst>
          </p:cNvPr>
          <p:cNvSpPr txBox="1"/>
          <p:nvPr/>
        </p:nvSpPr>
        <p:spPr>
          <a:xfrm>
            <a:off x="838200" y="2204865"/>
            <a:ext cx="1051560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ru-RU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ru-RU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[</a:t>
            </a:r>
            <a:r>
              <a:rPr lang="ru-RU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]() </a:t>
            </a:r>
            <a:r>
              <a:rPr lang="ru-RU" b="0" dirty="0" err="1">
                <a:solidFill>
                  <a:srgbClr val="0000FF"/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mutable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    // x захватывается по значению (которое можно менять внутри лямбды)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ru-RU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ru-RU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x = </a:t>
            </a:r>
            <a:r>
              <a:rPr lang="ru-RU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ru-RU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ru-RU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r>
              <a:rPr lang="ru-RU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47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ru-RU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55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внутри лямбды значение не изменится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52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8535A74-845B-9DDA-ED11-C06F021E2939}"/>
              </a:ext>
            </a:extLst>
          </p:cNvPr>
          <p:cNvSpPr txBox="1"/>
          <p:nvPr/>
        </p:nvSpPr>
        <p:spPr>
          <a:xfrm>
            <a:off x="6096000" y="618704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https://cppinsights.io/s/4264e60a</a:t>
            </a:r>
            <a:r>
              <a:rPr lang="en-US" dirty="0"/>
              <a:t>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14DD88A-38BC-208D-D8F5-91F5C815C4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6639" y="3630982"/>
            <a:ext cx="1867161" cy="1857634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9442AF-3A5B-A1B6-421B-AC9556662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74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6025885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6CB9EE-3BA4-274B-3086-880D1A339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Не вызывайте лямбда-функцию, если захваченная по ссылке переменная разрушена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20D1C2-DE82-2569-8D5C-21ADE057989F}"/>
              </a:ext>
            </a:extLst>
          </p:cNvPr>
          <p:cNvSpPr txBox="1"/>
          <p:nvPr/>
        </p:nvSpPr>
        <p:spPr>
          <a:xfrm>
            <a:off x="838200" y="1988840"/>
            <a:ext cx="10802416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()&gt;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msg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 long string that should not be optimized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lambda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[&amp;]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msg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msg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msg 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msg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lambda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еще нормально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msg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:)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lambda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если </a:t>
            </a:r>
            <a:r>
              <a:rPr lang="ru-RU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раскомментировать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следующую строчку, то будет неопр. поведение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fn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E4C133-898C-CFE7-B3D9-86FEBBD330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75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43276395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8BA1D03-FF69-8E57-FB67-331BF81D25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Обрабатываем результаты в лямбда-функции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1FE1767-F4E7-A0C8-E644-15BCD8714F5E}"/>
              </a:ext>
            </a:extLst>
          </p:cNvPr>
          <p:cNvSpPr txBox="1"/>
          <p:nvPr/>
        </p:nvSpPr>
        <p:spPr>
          <a:xfrm>
            <a:off x="838200" y="2852935"/>
            <a:ext cx="11018440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endParaRPr lang="ru-RU" sz="22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2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FindStringInStream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2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2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2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needle</a:t>
            </a:r>
            <a:r>
              <a:rPr lang="en-US" sz="22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[](</a:t>
            </a:r>
            <a:r>
              <a:rPr lang="en-US" sz="2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lineIndex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2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22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22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line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2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2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foundPos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std::</a:t>
            </a:r>
            <a:r>
              <a:rPr lang="en-US" sz="22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22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lineIndex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sz="22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});</a:t>
            </a:r>
          </a:p>
          <a:p>
            <a:r>
              <a:rPr lang="en-US" sz="22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4871730-2E24-8843-7603-951434EF3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76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3855966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A4E2CF-9830-3F77-BC21-3736926243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B2CC70A-6926-965C-0395-50F1ECBDA0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Обрабатываем результаты в лямбда-функции, захватывающей переменные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67263E-D73F-DA77-2897-8AC0C3829D9A}"/>
              </a:ext>
            </a:extLst>
          </p:cNvPr>
          <p:cNvSpPr txBox="1"/>
          <p:nvPr/>
        </p:nvSpPr>
        <p:spPr>
          <a:xfrm>
            <a:off x="838200" y="2924944"/>
            <a:ext cx="11018440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20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lines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endParaRPr lang="en-US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FindStringInStream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sz="20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0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needle</a:t>
            </a:r>
            <a:r>
              <a:rPr lang="en-US" sz="20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[&amp;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lines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](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lineIndex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sz="2000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sz="2000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line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foundPos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2000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lines</a:t>
            </a:r>
            <a:r>
              <a:rPr lang="en-US" sz="20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2000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push_back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lineIndex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});</a:t>
            </a:r>
          </a:p>
          <a:p>
            <a:endParaRPr lang="en-US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ru-RU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Можно использовать </a:t>
            </a:r>
            <a:r>
              <a:rPr lang="en-US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lines</a:t>
            </a:r>
            <a:endParaRPr lang="en-US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11ABAB-9C3E-FD7D-795F-5B6A20995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77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86169208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C7D24D-7AE4-AEFC-5694-D5459D5E9E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Обрабатываем результаты в методе класса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0278B67-76E4-46DE-5D59-780CC80F4AC8}"/>
              </a:ext>
            </a:extLst>
          </p:cNvPr>
          <p:cNvSpPr txBox="1"/>
          <p:nvPr/>
        </p:nvSpPr>
        <p:spPr>
          <a:xfrm>
            <a:off x="838200" y="2060848"/>
            <a:ext cx="11234464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Printer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public: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lineIndex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line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size_t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foundPos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++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.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lineIndex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private: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m_index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{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Printer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printer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FindStringInStream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needle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bind_front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(&amp;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Printer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printer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387CC7-534F-8224-B7BE-254AF468E8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78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6867847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3B3056D-1D23-48B9-8C58-322DFDCCAE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Ввод-вывод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1C0F14-8178-4798-B9E2-A664596965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D1379A-E682-A8BD-E210-F556816E0A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79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0572651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9BE1138-DEA7-4101-A275-212F1260A3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Стандартные потоки ввода-вывода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08069EA-C9A3-4111-AF80-63FF9460D6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std::</a:t>
            </a:r>
            <a:r>
              <a:rPr lang="en-US" dirty="0" err="1"/>
              <a:t>cout</a:t>
            </a:r>
            <a:r>
              <a:rPr lang="en-US" dirty="0"/>
              <a:t> </a:t>
            </a:r>
            <a:r>
              <a:rPr lang="ru-RU" dirty="0"/>
              <a:t>—</a:t>
            </a:r>
            <a:r>
              <a:rPr lang="en-US" dirty="0"/>
              <a:t> </a:t>
            </a:r>
            <a:r>
              <a:rPr lang="ru-RU" dirty="0"/>
              <a:t>глобальный объект, связанный со </a:t>
            </a:r>
            <a:r>
              <a:rPr lang="ru-RU" b="1" dirty="0"/>
              <a:t>стандартным потоком вывода</a:t>
            </a:r>
            <a:r>
              <a:rPr lang="en-US" dirty="0"/>
              <a:t> </a:t>
            </a:r>
            <a:r>
              <a:rPr lang="en-US" dirty="0" err="1"/>
              <a:t>stdout</a:t>
            </a:r>
            <a:endParaRPr lang="ru-RU" dirty="0"/>
          </a:p>
          <a:p>
            <a:pPr lvl="1"/>
            <a:r>
              <a:rPr lang="ru-RU" dirty="0"/>
              <a:t>Перенаправление потока вывода в файл при запуске из консоли:</a:t>
            </a:r>
            <a:br>
              <a:rPr lang="ru-RU" dirty="0"/>
            </a:br>
            <a:r>
              <a:rPr lang="en-US" dirty="0">
                <a:latin typeface="Consolas" panose="020B0609020204030204" pitchFamily="49" charset="0"/>
              </a:rPr>
              <a:t>app.exe &gt; stdout.txt</a:t>
            </a:r>
          </a:p>
          <a:p>
            <a:r>
              <a:rPr lang="en-US" dirty="0"/>
              <a:t>std::</a:t>
            </a:r>
            <a:r>
              <a:rPr lang="en-US" dirty="0" err="1"/>
              <a:t>cin</a:t>
            </a:r>
            <a:r>
              <a:rPr lang="ru-RU" dirty="0"/>
              <a:t> – глобальный объект, связанный со </a:t>
            </a:r>
            <a:r>
              <a:rPr lang="ru-RU" b="1" dirty="0"/>
              <a:t>стандартным потоком ввода</a:t>
            </a:r>
            <a:r>
              <a:rPr lang="ru-RU" dirty="0"/>
              <a:t> </a:t>
            </a:r>
            <a:r>
              <a:rPr lang="en-US" dirty="0"/>
              <a:t>stdin</a:t>
            </a:r>
            <a:endParaRPr lang="ru-RU" dirty="0"/>
          </a:p>
          <a:p>
            <a:pPr lvl="1"/>
            <a:r>
              <a:rPr lang="ru-RU" dirty="0"/>
              <a:t>Перенаправление потока ввода на чтение из файла при запуске приложения:</a:t>
            </a:r>
            <a:br>
              <a:rPr lang="ru-RU" dirty="0"/>
            </a:br>
            <a:r>
              <a:rPr lang="en-US" dirty="0">
                <a:latin typeface="Consolas" panose="020B0609020204030204" pitchFamily="49" charset="0"/>
              </a:rPr>
              <a:t>app.exe &lt; stdin.txt</a:t>
            </a:r>
          </a:p>
          <a:p>
            <a:r>
              <a:rPr lang="en-US" dirty="0"/>
              <a:t>std::</a:t>
            </a:r>
            <a:r>
              <a:rPr lang="en-US" dirty="0" err="1"/>
              <a:t>cerr</a:t>
            </a:r>
            <a:r>
              <a:rPr lang="en-US" dirty="0"/>
              <a:t> – </a:t>
            </a:r>
            <a:r>
              <a:rPr lang="ru-RU" dirty="0"/>
              <a:t>глобальный объект, связанный со </a:t>
            </a:r>
            <a:r>
              <a:rPr lang="ru-RU" b="1" dirty="0"/>
              <a:t>стандартным потоком ошибок</a:t>
            </a:r>
            <a:endParaRPr lang="en-US" b="1" dirty="0"/>
          </a:p>
          <a:p>
            <a:pPr lvl="1"/>
            <a:r>
              <a:rPr lang="ru-RU" dirty="0"/>
              <a:t>Перенаправление потока ошибок в файл при запуске из консоли:</a:t>
            </a:r>
            <a:br>
              <a:rPr lang="ru-RU" dirty="0"/>
            </a:br>
            <a:r>
              <a:rPr lang="en-US" dirty="0">
                <a:latin typeface="Consolas" panose="020B0609020204030204" pitchFamily="49" charset="0"/>
              </a:rPr>
              <a:t>app.exe 2&gt; stderr.txt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0E19B1F-30F1-9D50-16B3-39CC857B9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80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15330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ED62C-D0FE-4F48-A14A-68BD8AFB6A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Операции ввода-вывода в поток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5F2D0F8-B1ED-475E-AD5C-976788414ED6}"/>
              </a:ext>
            </a:extLst>
          </p:cNvPr>
          <p:cNvSpPr/>
          <p:nvPr/>
        </p:nvSpPr>
        <p:spPr>
          <a:xfrm>
            <a:off x="838200" y="1988839"/>
            <a:ext cx="10802416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StandardIO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number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Читаем число из потока в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number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&gt;&gt;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number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Выводим число из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number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 поток вывода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number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Выводим число из </a:t>
            </a:r>
            <a:r>
              <a:rPr lang="de-DE" dirty="0" err="1">
                <a:solidFill>
                  <a:srgbClr val="008000"/>
                </a:solidFill>
                <a:latin typeface="Consolas" panose="020B0609020204030204" pitchFamily="49" charset="0"/>
              </a:rPr>
              <a:t>number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в поток ошибок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cerr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number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!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&gt;&gt;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number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))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       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При чтении числа произошла ошибка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endParaRPr lang="ru-RU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9EA0E1D-6663-EA37-2FFB-7A5DD142EF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81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08959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2A6116-D476-4B9B-9E81-31E7F07E9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Манипуляторы ввода-вывода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0782682-78C7-42AD-89D4-5C8CD73ACAC3}"/>
              </a:ext>
            </a:extLst>
          </p:cNvPr>
          <p:cNvSpPr/>
          <p:nvPr/>
        </p:nvSpPr>
        <p:spPr>
          <a:xfrm>
            <a:off x="838200" y="1556792"/>
            <a:ext cx="11018440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>
                <a:solidFill>
                  <a:srgbClr val="AF00DB"/>
                </a:solidFill>
                <a:latin typeface="Consolas" panose="020B0609020204030204" pitchFamily="49" charset="0"/>
              </a:rPr>
              <a:t>#</a:t>
            </a:r>
            <a:r>
              <a:rPr lang="de-DE" dirty="0" err="1">
                <a:solidFill>
                  <a:srgbClr val="AF00DB"/>
                </a:solidFill>
                <a:latin typeface="Consolas" panose="020B0609020204030204" pitchFamily="49" charset="0"/>
              </a:rPr>
              <a:t>include</a:t>
            </a:r>
            <a:r>
              <a:rPr lang="de-DE" dirty="0">
                <a:solidFill>
                  <a:srgbClr val="0000FF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&lt;</a:t>
            </a:r>
            <a:r>
              <a:rPr lang="de-DE" dirty="0" err="1">
                <a:solidFill>
                  <a:srgbClr val="A31515"/>
                </a:solidFill>
                <a:latin typeface="Consolas" panose="020B0609020204030204" pitchFamily="49" charset="0"/>
              </a:rPr>
              <a:t>iomanip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&gt;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void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IOManip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</a:t>
            </a:r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number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cin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&gt;&gt;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hex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&gt;&gt;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number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 // 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Считываем число в </a:t>
            </a:r>
            <a:r>
              <a:rPr lang="de-DE" dirty="0">
                <a:solidFill>
                  <a:srgbClr val="008000"/>
                </a:solidFill>
                <a:latin typeface="Consolas" panose="020B0609020204030204" pitchFamily="49" charset="0"/>
              </a:rPr>
              <a:t>hex-</a:t>
            </a:r>
            <a:r>
              <a:rPr lang="ru-RU" dirty="0">
                <a:solidFill>
                  <a:srgbClr val="008000"/>
                </a:solidFill>
                <a:latin typeface="Consolas" panose="020B0609020204030204" pitchFamily="49" charset="0"/>
              </a:rPr>
              <a:t>формате</a:t>
            </a:r>
            <a:endParaRPr lang="ru-RU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number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hex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"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number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"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oct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number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"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dec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number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b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0000FF"/>
                </a:solidFill>
                <a:latin typeface="Consolas" panose="020B0609020204030204" pitchFamily="49" charset="0"/>
              </a:rPr>
              <a:t>auto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defaultPrecision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precision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numbers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pi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"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setprecision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15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numbers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pi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"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setprecision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098658"/>
                </a:solidFill>
                <a:latin typeface="Consolas" panose="020B0609020204030204" pitchFamily="49" charset="0"/>
              </a:rPr>
              <a:t>3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numbers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pi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 "</a:t>
            </a:r>
            <a:endParaRPr lang="de-DE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 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setprecision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dirty="0" err="1">
                <a:solidFill>
                  <a:srgbClr val="001080"/>
                </a:solidFill>
                <a:latin typeface="Consolas" panose="020B0609020204030204" pitchFamily="49" charset="0"/>
              </a:rPr>
              <a:t>defaultPrecision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)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numbers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3B3B3B"/>
                </a:solidFill>
                <a:latin typeface="Consolas" panose="020B0609020204030204" pitchFamily="49" charset="0"/>
              </a:rPr>
              <a:t>pi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&lt;&lt;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dirty="0" err="1">
                <a:solidFill>
                  <a:srgbClr val="795E26"/>
                </a:solidFill>
                <a:latin typeface="Consolas" panose="020B0609020204030204" pitchFamily="49" charset="0"/>
              </a:rPr>
              <a:t>endl</a:t>
            </a:r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  <a:endParaRPr lang="de-DE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8272CA5-9595-42B3-A1AB-610A2726A641}"/>
              </a:ext>
            </a:extLst>
          </p:cNvPr>
          <p:cNvSpPr/>
          <p:nvPr/>
        </p:nvSpPr>
        <p:spPr>
          <a:xfrm>
            <a:off x="6640647" y="5805264"/>
            <a:ext cx="5184576" cy="938624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latin typeface="Consolas" panose="020B0609020204030204" pitchFamily="49" charset="0"/>
              </a:rPr>
              <a:t>FF</a:t>
            </a:r>
          </a:p>
          <a:p>
            <a:r>
              <a:rPr lang="en-US" dirty="0">
                <a:latin typeface="Consolas" panose="020B0609020204030204" pitchFamily="49" charset="0"/>
              </a:rPr>
              <a:t>255 ff 377 255</a:t>
            </a:r>
          </a:p>
          <a:p>
            <a:r>
              <a:rPr lang="en-US" dirty="0">
                <a:latin typeface="Consolas" panose="020B0609020204030204" pitchFamily="49" charset="0"/>
              </a:rPr>
              <a:t>3.14159 3.14159265358979 3.14 3.14159</a:t>
            </a:r>
            <a:endParaRPr lang="ru-RU" dirty="0">
              <a:latin typeface="Consolas" panose="020B0609020204030204" pitchFamily="49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DE28A1A-F1EF-47C6-8777-247281D168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52383" y="353169"/>
            <a:ext cx="2238875" cy="2238875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9273E51F-1B5B-458F-BD97-5E940D3A43A2}"/>
              </a:ext>
            </a:extLst>
          </p:cNvPr>
          <p:cNvSpPr/>
          <p:nvPr/>
        </p:nvSpPr>
        <p:spPr>
          <a:xfrm>
            <a:off x="7392144" y="0"/>
            <a:ext cx="457830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hlinkClick r:id="rId3"/>
              </a:rPr>
              <a:t>https://en.cppreference.com/w/cpp/io/manip</a:t>
            </a:r>
            <a:r>
              <a:rPr lang="en-US" dirty="0"/>
              <a:t> </a:t>
            </a:r>
            <a:endParaRPr lang="ru-RU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08FE7EC-3373-EDA7-46C6-08A1F16FF0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82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87742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18AF2C-6E64-48B9-814E-D0A76F34F5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Текстовый поток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9B6C62-ABC7-42EF-9FE8-E6B95185E6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8743586" cy="4351338"/>
          </a:xfrm>
        </p:spPr>
        <p:txBody>
          <a:bodyPr>
            <a:normAutofit fontScale="85000" lnSpcReduction="20000"/>
          </a:bodyPr>
          <a:lstStyle/>
          <a:p>
            <a:r>
              <a:rPr lang="ru-RU" dirty="0"/>
              <a:t>Текстовый поток – последовательность символов, разбитая на строки из 0 или более символов</a:t>
            </a:r>
          </a:p>
          <a:p>
            <a:pPr lvl="1"/>
            <a:r>
              <a:rPr lang="ru-RU" dirty="0"/>
              <a:t>Строки завершаются символом </a:t>
            </a:r>
            <a:r>
              <a:rPr lang="en-US" dirty="0">
                <a:solidFill>
                  <a:srgbClr val="FF0000"/>
                </a:solidFill>
              </a:rPr>
              <a:t>\n</a:t>
            </a:r>
          </a:p>
          <a:p>
            <a:pPr lvl="1"/>
            <a:r>
              <a:rPr lang="ru-RU" dirty="0"/>
              <a:t>Реализация может добавлять или удалять символы для соответствия стандарту, принятому в ОС</a:t>
            </a:r>
          </a:p>
          <a:p>
            <a:pPr lvl="2"/>
            <a:r>
              <a:rPr lang="en-US" dirty="0"/>
              <a:t>Windows</a:t>
            </a:r>
            <a:r>
              <a:rPr lang="ru-RU" dirty="0"/>
              <a:t> преобразовывает </a:t>
            </a:r>
            <a:r>
              <a:rPr lang="en-US" dirty="0">
                <a:solidFill>
                  <a:srgbClr val="FF0000"/>
                </a:solidFill>
              </a:rPr>
              <a:t>\n</a:t>
            </a:r>
            <a:r>
              <a:rPr lang="en-US" dirty="0"/>
              <a:t> </a:t>
            </a:r>
            <a:r>
              <a:rPr lang="ru-RU" dirty="0"/>
              <a:t>как </a:t>
            </a:r>
            <a:r>
              <a:rPr lang="en-US" dirty="0">
                <a:solidFill>
                  <a:srgbClr val="FF0000"/>
                </a:solidFill>
              </a:rPr>
              <a:t>\r\n</a:t>
            </a:r>
            <a:r>
              <a:rPr lang="ru-RU" dirty="0"/>
              <a:t> при выводе, при чтении </a:t>
            </a:r>
            <a:r>
              <a:rPr lang="en-US" dirty="0">
                <a:solidFill>
                  <a:srgbClr val="FF0000"/>
                </a:solidFill>
              </a:rPr>
              <a:t>\r\n</a:t>
            </a:r>
            <a:r>
              <a:rPr lang="ru-RU" dirty="0"/>
              <a:t> преобразовывает в </a:t>
            </a:r>
            <a:r>
              <a:rPr lang="en-US" dirty="0">
                <a:solidFill>
                  <a:srgbClr val="FF0000"/>
                </a:solidFill>
              </a:rPr>
              <a:t>\n</a:t>
            </a:r>
          </a:p>
          <a:p>
            <a:r>
              <a:rPr lang="ru-RU" dirty="0"/>
              <a:t>Данные, читаемые из текстового потока будут равны ранее записанным в этот поток, только если выполнены условия</a:t>
            </a:r>
          </a:p>
          <a:p>
            <a:pPr lvl="1"/>
            <a:r>
              <a:rPr lang="ru-RU" dirty="0"/>
              <a:t>Выводятся только печатаемые символы и/или символы </a:t>
            </a:r>
            <a:r>
              <a:rPr lang="en-US" dirty="0">
                <a:solidFill>
                  <a:srgbClr val="FF0000"/>
                </a:solidFill>
              </a:rPr>
              <a:t>\t </a:t>
            </a:r>
            <a:r>
              <a:rPr lang="ru-RU" dirty="0"/>
              <a:t>и </a:t>
            </a:r>
            <a:r>
              <a:rPr lang="en-US" dirty="0">
                <a:solidFill>
                  <a:srgbClr val="FF0000"/>
                </a:solidFill>
              </a:rPr>
              <a:t>\n</a:t>
            </a:r>
            <a:r>
              <a:rPr lang="en-US" dirty="0"/>
              <a:t>.</a:t>
            </a:r>
          </a:p>
          <a:p>
            <a:pPr lvl="1"/>
            <a:r>
              <a:rPr lang="ru-RU" dirty="0"/>
              <a:t>Перед </a:t>
            </a:r>
            <a:r>
              <a:rPr lang="en-US" dirty="0">
                <a:solidFill>
                  <a:srgbClr val="FF0000"/>
                </a:solidFill>
              </a:rPr>
              <a:t>\n</a:t>
            </a:r>
            <a:r>
              <a:rPr lang="ru-RU" dirty="0"/>
              <a:t> не выводились пробельные символы</a:t>
            </a:r>
          </a:p>
          <a:p>
            <a:pPr lvl="1"/>
            <a:r>
              <a:rPr lang="ru-RU" dirty="0"/>
              <a:t>Последний выведенный символ </a:t>
            </a:r>
            <a:r>
              <a:rPr lang="en-US" dirty="0"/>
              <a:t>—</a:t>
            </a:r>
            <a:r>
              <a:rPr lang="ru-RU" dirty="0"/>
              <a:t> </a:t>
            </a:r>
            <a:r>
              <a:rPr lang="ru-RU" dirty="0">
                <a:solidFill>
                  <a:srgbClr val="FF0000"/>
                </a:solidFill>
              </a:rPr>
              <a:t>\</a:t>
            </a:r>
            <a:r>
              <a:rPr lang="en-US" dirty="0">
                <a:solidFill>
                  <a:srgbClr val="FF0000"/>
                </a:solidFill>
              </a:rPr>
              <a:t>n</a:t>
            </a:r>
            <a:endParaRPr lang="ru-RU" dirty="0">
              <a:solidFill>
                <a:srgbClr val="FF0000"/>
              </a:solidFill>
            </a:endParaRPr>
          </a:p>
          <a:p>
            <a:r>
              <a:rPr lang="ru-RU" b="1" dirty="0">
                <a:solidFill>
                  <a:srgbClr val="000000"/>
                </a:solidFill>
              </a:rPr>
              <a:t>Двоичный поток</a:t>
            </a:r>
            <a:r>
              <a:rPr lang="ru-RU" dirty="0">
                <a:solidFill>
                  <a:srgbClr val="000000"/>
                </a:solidFill>
              </a:rPr>
              <a:t> – последовательность символов, которые всегда считываются в том же виде, в каком были записаны.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CBF16F2-D927-4499-A924-53AAE63D76B6}"/>
              </a:ext>
            </a:extLst>
          </p:cNvPr>
          <p:cNvSpPr/>
          <p:nvPr/>
        </p:nvSpPr>
        <p:spPr>
          <a:xfrm>
            <a:off x="983432" y="6311900"/>
            <a:ext cx="693643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hlinkClick r:id="rId2"/>
              </a:rPr>
              <a:t>https://en.cppreference.com/w/cpp/io/c/FILE#Binary_and_text_modes</a:t>
            </a:r>
            <a:r>
              <a:rPr lang="ru-RU" dirty="0"/>
              <a:t> 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24F4776F-9A6C-451A-B941-AA4B350818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0376" y="1690688"/>
            <a:ext cx="2610214" cy="2638793"/>
          </a:xfrm>
          <a:prstGeom prst="rect">
            <a:avLst/>
          </a:prstGeo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767E31-CF33-194A-60D0-91B0C9B35B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83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659247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0E1598-147B-494D-BD50-00DDF6B3CC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Файловый ввод-вывод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75CD3A-943E-4856-A969-858A2D98DE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Потоки, связанные с файлами объявленные в </a:t>
            </a:r>
            <a:r>
              <a:rPr lang="en-US" dirty="0"/>
              <a:t>&lt;</a:t>
            </a:r>
            <a:r>
              <a:rPr lang="en-US" dirty="0" err="1"/>
              <a:t>fstream</a:t>
            </a:r>
            <a:r>
              <a:rPr lang="en-US" dirty="0"/>
              <a:t>&gt;</a:t>
            </a:r>
            <a:endParaRPr lang="ru-RU" dirty="0"/>
          </a:p>
          <a:p>
            <a:pPr lvl="1"/>
            <a:r>
              <a:rPr lang="en-US" dirty="0"/>
              <a:t>std::</a:t>
            </a:r>
            <a:r>
              <a:rPr lang="en-US" dirty="0" err="1"/>
              <a:t>ifstream</a:t>
            </a:r>
            <a:r>
              <a:rPr lang="en-US" dirty="0"/>
              <a:t> – </a:t>
            </a:r>
            <a:r>
              <a:rPr lang="ru-RU" dirty="0"/>
              <a:t>поток чтения из файла</a:t>
            </a:r>
          </a:p>
          <a:p>
            <a:pPr lvl="1"/>
            <a:r>
              <a:rPr lang="en-US" dirty="0"/>
              <a:t>std::</a:t>
            </a:r>
            <a:r>
              <a:rPr lang="en-US" dirty="0" err="1"/>
              <a:t>ofstream</a:t>
            </a:r>
            <a:r>
              <a:rPr lang="en-US" dirty="0"/>
              <a:t> – </a:t>
            </a:r>
            <a:r>
              <a:rPr lang="ru-RU" dirty="0"/>
              <a:t>поток вывода в файл</a:t>
            </a:r>
          </a:p>
          <a:p>
            <a:pPr lvl="1"/>
            <a:r>
              <a:rPr lang="en-US" dirty="0"/>
              <a:t>std::</a:t>
            </a:r>
            <a:r>
              <a:rPr lang="en-US" dirty="0" err="1"/>
              <a:t>fstream</a:t>
            </a:r>
            <a:r>
              <a:rPr lang="en-US" dirty="0"/>
              <a:t> – </a:t>
            </a:r>
            <a:r>
              <a:rPr lang="ru-RU" dirty="0"/>
              <a:t>поток ввода-вывода из файла</a:t>
            </a:r>
          </a:p>
          <a:p>
            <a:r>
              <a:rPr lang="ru-RU" dirty="0"/>
              <a:t>При открытии файла можно указать режим, в котором они открываются</a:t>
            </a:r>
          </a:p>
          <a:p>
            <a:pPr lvl="1"/>
            <a:r>
              <a:rPr lang="en-US" dirty="0"/>
              <a:t>std::</a:t>
            </a:r>
            <a:r>
              <a:rPr lang="en-US" dirty="0" err="1"/>
              <a:t>ios_base</a:t>
            </a:r>
            <a:r>
              <a:rPr lang="en-US" dirty="0"/>
              <a:t>::app – </a:t>
            </a:r>
            <a:r>
              <a:rPr lang="ru-RU" dirty="0"/>
              <a:t>выполнять запись в конец потока</a:t>
            </a:r>
            <a:endParaRPr lang="en-US" dirty="0"/>
          </a:p>
          <a:p>
            <a:pPr lvl="1"/>
            <a:r>
              <a:rPr lang="en-US" dirty="0"/>
              <a:t>std::</a:t>
            </a:r>
            <a:r>
              <a:rPr lang="en-US" dirty="0" err="1"/>
              <a:t>ios_base</a:t>
            </a:r>
            <a:r>
              <a:rPr lang="en-US" dirty="0"/>
              <a:t>::binary – </a:t>
            </a:r>
            <a:r>
              <a:rPr lang="ru-RU" dirty="0"/>
              <a:t>открыть в двоичном режиме</a:t>
            </a:r>
          </a:p>
          <a:p>
            <a:pPr lvl="1"/>
            <a:r>
              <a:rPr lang="en-US" dirty="0"/>
              <a:t>std::</a:t>
            </a:r>
            <a:r>
              <a:rPr lang="en-US" dirty="0" err="1"/>
              <a:t>ios_base</a:t>
            </a:r>
            <a:r>
              <a:rPr lang="en-US" dirty="0"/>
              <a:t>::in – </a:t>
            </a:r>
            <a:r>
              <a:rPr lang="ru-RU" dirty="0"/>
              <a:t>открыть для чтения (по умолчанию для </a:t>
            </a:r>
            <a:r>
              <a:rPr lang="en-US" dirty="0"/>
              <a:t>std::</a:t>
            </a:r>
            <a:r>
              <a:rPr lang="en-US" dirty="0" err="1"/>
              <a:t>ifstream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std::</a:t>
            </a:r>
            <a:r>
              <a:rPr lang="en-US" dirty="0" err="1"/>
              <a:t>ios_base</a:t>
            </a:r>
            <a:r>
              <a:rPr lang="en-US" dirty="0"/>
              <a:t>::out – </a:t>
            </a:r>
            <a:r>
              <a:rPr lang="ru-RU" dirty="0"/>
              <a:t>открыть для записи (по умолчанию для </a:t>
            </a:r>
            <a:r>
              <a:rPr lang="en-US" dirty="0"/>
              <a:t>std::</a:t>
            </a:r>
            <a:r>
              <a:rPr lang="en-US" dirty="0" err="1"/>
              <a:t>ofstream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std::</a:t>
            </a:r>
            <a:r>
              <a:rPr lang="en-US" dirty="0" err="1"/>
              <a:t>ios_base</a:t>
            </a:r>
            <a:r>
              <a:rPr lang="en-US" dirty="0"/>
              <a:t>::</a:t>
            </a:r>
            <a:r>
              <a:rPr lang="en-US" dirty="0" err="1"/>
              <a:t>trunc</a:t>
            </a:r>
            <a:r>
              <a:rPr lang="en-US" dirty="0"/>
              <a:t> – </a:t>
            </a:r>
            <a:r>
              <a:rPr lang="ru-RU" dirty="0"/>
              <a:t>при открытии отбросить содержимое потока</a:t>
            </a:r>
          </a:p>
          <a:p>
            <a:pPr lvl="1"/>
            <a:r>
              <a:rPr lang="en-US" dirty="0"/>
              <a:t>std::</a:t>
            </a:r>
            <a:r>
              <a:rPr lang="en-US" dirty="0" err="1"/>
              <a:t>ios_base</a:t>
            </a:r>
            <a:r>
              <a:rPr lang="en-US" dirty="0"/>
              <a:t>::ate – </a:t>
            </a:r>
            <a:r>
              <a:rPr lang="ru-RU" dirty="0"/>
              <a:t>переместиться в конец потока после открытия</a:t>
            </a:r>
          </a:p>
          <a:p>
            <a:pPr lvl="1"/>
            <a:r>
              <a:rPr lang="en-US" dirty="0"/>
              <a:t>std::</a:t>
            </a:r>
            <a:r>
              <a:rPr lang="en-US" dirty="0" err="1"/>
              <a:t>ios_base</a:t>
            </a:r>
            <a:r>
              <a:rPr lang="en-US" dirty="0"/>
              <a:t>::</a:t>
            </a:r>
            <a:r>
              <a:rPr lang="en-US" dirty="0" err="1"/>
              <a:t>noreplace</a:t>
            </a:r>
            <a:r>
              <a:rPr lang="en-US" dirty="0"/>
              <a:t> – </a:t>
            </a:r>
            <a:r>
              <a:rPr lang="ru-RU" dirty="0"/>
              <a:t>открыть в эксклюзивном режиме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42094D-F940-22F6-0ADE-5E7999C3A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84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15781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3DA0B8-F6A9-44DF-A9AC-F74D85DEB0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Тонкости работы с файловыми потоками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D22CA4-008A-4515-AD59-406AC391C5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При выходе из блока видимости переменной поток закрывается</a:t>
            </a:r>
          </a:p>
          <a:p>
            <a:pPr lvl="1"/>
            <a:r>
              <a:rPr lang="ru-RU" dirty="0"/>
              <a:t>Не нужно вызывать </a:t>
            </a:r>
            <a:r>
              <a:rPr lang="en-US" dirty="0"/>
              <a:t>close </a:t>
            </a:r>
            <a:r>
              <a:rPr lang="ru-RU" dirty="0"/>
              <a:t>явно</a:t>
            </a:r>
          </a:p>
          <a:p>
            <a:r>
              <a:rPr lang="ru-RU" dirty="0"/>
              <a:t>Потоки буферизируют читаемые и записываемые данные</a:t>
            </a:r>
          </a:p>
          <a:p>
            <a:r>
              <a:rPr lang="ru-RU" dirty="0"/>
              <a:t>При закрытии потока буфер сбрасывается в файл</a:t>
            </a:r>
          </a:p>
          <a:p>
            <a:pPr lvl="1"/>
            <a:r>
              <a:rPr lang="ru-RU" dirty="0"/>
              <a:t>Можно принудительно сбросить буфер в файл методом </a:t>
            </a:r>
            <a:r>
              <a:rPr lang="en-US" dirty="0"/>
              <a:t>flush()</a:t>
            </a:r>
          </a:p>
          <a:p>
            <a:r>
              <a:rPr lang="ru-RU" dirty="0"/>
              <a:t>После операций записи и чтения следует проверить состояние потока</a:t>
            </a:r>
          </a:p>
          <a:p>
            <a:pPr lvl="1"/>
            <a:r>
              <a:rPr lang="ru-RU" dirty="0"/>
              <a:t>Могут быть выставлены флаги </a:t>
            </a:r>
            <a:r>
              <a:rPr lang="en-US" dirty="0" err="1"/>
              <a:t>eof</a:t>
            </a:r>
            <a:r>
              <a:rPr lang="en-US" dirty="0"/>
              <a:t>, fail, bad</a:t>
            </a:r>
            <a:endParaRPr lang="ru-RU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686AF08-0DB0-FEA6-1991-474E3CBC0A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85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920415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FD85E3C-D254-4BF7-89D5-5911F0B819DE}"/>
              </a:ext>
            </a:extLst>
          </p:cNvPr>
          <p:cNvSpPr/>
          <p:nvPr/>
        </p:nvSpPr>
        <p:spPr>
          <a:xfrm>
            <a:off x="407368" y="0"/>
            <a:ext cx="12385376" cy="67864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500" dirty="0" err="1">
                <a:solidFill>
                  <a:srgbClr val="267F99"/>
                </a:solidFill>
                <a:latin typeface="Consolas" panose="020B0609020204030204" pitchFamily="49" charset="0"/>
              </a:rPr>
              <a:t>ifstream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 err="1">
                <a:solidFill>
                  <a:srgbClr val="001080"/>
                </a:solidFill>
                <a:latin typeface="Consolas" panose="020B0609020204030204" pitchFamily="49" charset="0"/>
              </a:rPr>
              <a:t>input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"Input.txt" </a:t>
            </a:r>
            <a:r>
              <a:rPr lang="ru-RU" sz="1500" dirty="0">
                <a:solidFill>
                  <a:srgbClr val="008000"/>
                </a:solidFill>
                <a:latin typeface="Consolas" panose="020B0609020204030204" pitchFamily="49" charset="0"/>
              </a:rPr>
              <a:t>/*</a:t>
            </a:r>
            <a:r>
              <a:rPr lang="en-US" sz="1500" dirty="0">
                <a:solidFill>
                  <a:srgbClr val="008000"/>
                </a:solidFill>
                <a:latin typeface="Consolas" panose="020B0609020204030204" pitchFamily="49" charset="0"/>
              </a:rPr>
              <a:t>, std::</a:t>
            </a:r>
            <a:r>
              <a:rPr lang="en-US" sz="1500" dirty="0" err="1">
                <a:solidFill>
                  <a:srgbClr val="008000"/>
                </a:solidFill>
                <a:latin typeface="Consolas" panose="020B0609020204030204" pitchFamily="49" charset="0"/>
              </a:rPr>
              <a:t>ios_base</a:t>
            </a:r>
            <a:r>
              <a:rPr lang="en-US" sz="1500" dirty="0">
                <a:solidFill>
                  <a:srgbClr val="008000"/>
                </a:solidFill>
                <a:latin typeface="Consolas" panose="020B0609020204030204" pitchFamily="49" charset="0"/>
              </a:rPr>
              <a:t>::binary </a:t>
            </a:r>
            <a:r>
              <a:rPr lang="ru-RU" sz="1500" dirty="0">
                <a:solidFill>
                  <a:srgbClr val="008000"/>
                </a:solidFill>
                <a:latin typeface="Consolas" panose="020B0609020204030204" pitchFamily="49" charset="0"/>
              </a:rPr>
              <a:t>*/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  <a:b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ru-RU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500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sz="1500" dirty="0">
                <a:solidFill>
                  <a:srgbClr val="000000"/>
                </a:solidFill>
                <a:latin typeface="Consolas" panose="020B0609020204030204" pitchFamily="49" charset="0"/>
              </a:rPr>
              <a:t>!</a:t>
            </a:r>
            <a:r>
              <a:rPr lang="de-DE" sz="1500" dirty="0" err="1">
                <a:solidFill>
                  <a:srgbClr val="001080"/>
                </a:solidFill>
                <a:latin typeface="Consolas" panose="020B0609020204030204" pitchFamily="49" charset="0"/>
              </a:rPr>
              <a:t>input</a:t>
            </a:r>
            <a:r>
              <a:rPr lang="de-DE" sz="1500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sz="1500" dirty="0" err="1">
                <a:solidFill>
                  <a:srgbClr val="795E26"/>
                </a:solidFill>
                <a:latin typeface="Consolas" panose="020B0609020204030204" pitchFamily="49" charset="0"/>
              </a:rPr>
              <a:t>is_open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()) </a:t>
            </a:r>
            <a:r>
              <a:rPr lang="en-US" sz="1500" dirty="0">
                <a:solidFill>
                  <a:srgbClr val="008000"/>
                </a:solidFill>
                <a:latin typeface="Consolas" panose="020B0609020204030204" pitchFamily="49" charset="0"/>
              </a:rPr>
              <a:t>//</a:t>
            </a:r>
            <a:r>
              <a:rPr lang="ru-RU" sz="1500" dirty="0">
                <a:solidFill>
                  <a:srgbClr val="008000"/>
                </a:solidFill>
                <a:latin typeface="Consolas" panose="020B0609020204030204" pitchFamily="49" charset="0"/>
              </a:rPr>
              <a:t> Или </a:t>
            </a:r>
            <a:r>
              <a:rPr lang="en-US" sz="1500" dirty="0">
                <a:solidFill>
                  <a:srgbClr val="008000"/>
                </a:solidFill>
                <a:latin typeface="Consolas" panose="020B0609020204030204" pitchFamily="49" charset="0"/>
              </a:rPr>
              <a:t>if (!input)</a:t>
            </a:r>
            <a:endParaRPr lang="de-DE" sz="15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{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500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Failed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to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 open 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for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reading</a:t>
            </a:r>
            <a:r>
              <a:rPr lang="de-DE" sz="1500" dirty="0">
                <a:solidFill>
                  <a:srgbClr val="EE0000"/>
                </a:solidFill>
                <a:latin typeface="Consolas" panose="020B0609020204030204" pitchFamily="49" charset="0"/>
              </a:rPr>
              <a:t>\n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500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endParaRPr lang="ru-RU" sz="15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500" dirty="0" err="1">
                <a:solidFill>
                  <a:srgbClr val="267F99"/>
                </a:solidFill>
                <a:latin typeface="Consolas" panose="020B0609020204030204" pitchFamily="49" charset="0"/>
              </a:rPr>
              <a:t>ofstream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 err="1">
                <a:solidFill>
                  <a:srgbClr val="001080"/>
                </a:solidFill>
                <a:latin typeface="Consolas" panose="020B0609020204030204" pitchFamily="49" charset="0"/>
              </a:rPr>
              <a:t>output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"Output.txt"</a:t>
            </a:r>
            <a:r>
              <a:rPr lang="ru-RU" sz="1500" dirty="0">
                <a:solidFill>
                  <a:srgbClr val="008000"/>
                </a:solidFill>
                <a:latin typeface="Consolas" panose="020B0609020204030204" pitchFamily="49" charset="0"/>
              </a:rPr>
              <a:t> /*</a:t>
            </a:r>
            <a:r>
              <a:rPr lang="en-US" sz="1500" dirty="0">
                <a:solidFill>
                  <a:srgbClr val="008000"/>
                </a:solidFill>
                <a:latin typeface="Consolas" panose="020B0609020204030204" pitchFamily="49" charset="0"/>
              </a:rPr>
              <a:t>, std::</a:t>
            </a:r>
            <a:r>
              <a:rPr lang="en-US" sz="1500" dirty="0" err="1">
                <a:solidFill>
                  <a:srgbClr val="008000"/>
                </a:solidFill>
                <a:latin typeface="Consolas" panose="020B0609020204030204" pitchFamily="49" charset="0"/>
              </a:rPr>
              <a:t>ios_base</a:t>
            </a:r>
            <a:r>
              <a:rPr lang="en-US" sz="1500" dirty="0">
                <a:solidFill>
                  <a:srgbClr val="008000"/>
                </a:solidFill>
                <a:latin typeface="Consolas" panose="020B0609020204030204" pitchFamily="49" charset="0"/>
              </a:rPr>
              <a:t>::binary </a:t>
            </a:r>
            <a:r>
              <a:rPr lang="ru-RU" sz="1500" dirty="0">
                <a:solidFill>
                  <a:srgbClr val="008000"/>
                </a:solidFill>
                <a:latin typeface="Consolas" panose="020B0609020204030204" pitchFamily="49" charset="0"/>
              </a:rPr>
              <a:t>*/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500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sz="1500" dirty="0">
                <a:solidFill>
                  <a:srgbClr val="000000"/>
                </a:solidFill>
                <a:latin typeface="Consolas" panose="020B0609020204030204" pitchFamily="49" charset="0"/>
              </a:rPr>
              <a:t>!</a:t>
            </a:r>
            <a:r>
              <a:rPr lang="de-DE" sz="1500" dirty="0" err="1">
                <a:solidFill>
                  <a:srgbClr val="001080"/>
                </a:solidFill>
                <a:latin typeface="Consolas" panose="020B0609020204030204" pitchFamily="49" charset="0"/>
              </a:rPr>
              <a:t>output</a:t>
            </a:r>
            <a:r>
              <a:rPr lang="de-DE" sz="1500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sz="1500" dirty="0" err="1">
                <a:solidFill>
                  <a:srgbClr val="795E26"/>
                </a:solidFill>
                <a:latin typeface="Consolas" panose="020B0609020204030204" pitchFamily="49" charset="0"/>
              </a:rPr>
              <a:t>is_open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())</a:t>
            </a:r>
            <a:r>
              <a:rPr lang="ru-RU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500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Failed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to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 open 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file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for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writing</a:t>
            </a:r>
            <a:r>
              <a:rPr lang="de-DE" sz="1500" dirty="0">
                <a:solidFill>
                  <a:srgbClr val="EE0000"/>
                </a:solidFill>
                <a:latin typeface="Consolas" panose="020B0609020204030204" pitchFamily="49" charset="0"/>
              </a:rPr>
              <a:t>\n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500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b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500" dirty="0" err="1">
                <a:solidFill>
                  <a:srgbClr val="0000FF"/>
                </a:solidFill>
                <a:latin typeface="Consolas" panose="020B0609020204030204" pitchFamily="49" charset="0"/>
              </a:rPr>
              <a:t>char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 err="1">
                <a:solidFill>
                  <a:srgbClr val="001080"/>
                </a:solidFill>
                <a:latin typeface="Consolas" panose="020B0609020204030204" pitchFamily="49" charset="0"/>
              </a:rPr>
              <a:t>ch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ru-RU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500" dirty="0" err="1">
                <a:solidFill>
                  <a:srgbClr val="AF00DB"/>
                </a:solidFill>
                <a:latin typeface="Consolas" panose="020B0609020204030204" pitchFamily="49" charset="0"/>
              </a:rPr>
              <a:t>while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sz="1500" dirty="0" err="1">
                <a:solidFill>
                  <a:srgbClr val="001080"/>
                </a:solidFill>
                <a:latin typeface="Consolas" panose="020B0609020204030204" pitchFamily="49" charset="0"/>
              </a:rPr>
              <a:t>input</a:t>
            </a:r>
            <a:r>
              <a:rPr lang="de-DE" sz="1500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sz="1500" dirty="0" err="1">
                <a:solidFill>
                  <a:srgbClr val="795E26"/>
                </a:solidFill>
                <a:latin typeface="Consolas" panose="020B0609020204030204" pitchFamily="49" charset="0"/>
              </a:rPr>
              <a:t>get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500" dirty="0" err="1">
                <a:solidFill>
                  <a:srgbClr val="001080"/>
                </a:solidFill>
                <a:latin typeface="Consolas" panose="020B0609020204030204" pitchFamily="49" charset="0"/>
              </a:rPr>
              <a:t>ch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))</a:t>
            </a:r>
            <a:r>
              <a:rPr lang="ru-RU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500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sz="1500" dirty="0">
                <a:solidFill>
                  <a:srgbClr val="795E26"/>
                </a:solidFill>
                <a:latin typeface="Consolas" panose="020B0609020204030204" pitchFamily="49" charset="0"/>
              </a:rPr>
              <a:t>!</a:t>
            </a:r>
            <a:r>
              <a:rPr lang="de-DE" sz="1500" dirty="0" err="1">
                <a:solidFill>
                  <a:srgbClr val="001080"/>
                </a:solidFill>
                <a:latin typeface="Consolas" panose="020B0609020204030204" pitchFamily="49" charset="0"/>
              </a:rPr>
              <a:t>output</a:t>
            </a:r>
            <a:r>
              <a:rPr lang="de-DE" sz="1500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sz="1500" dirty="0" err="1">
                <a:solidFill>
                  <a:srgbClr val="795E26"/>
                </a:solidFill>
                <a:latin typeface="Consolas" panose="020B0609020204030204" pitchFamily="49" charset="0"/>
              </a:rPr>
              <a:t>put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500" dirty="0" err="1">
                <a:solidFill>
                  <a:srgbClr val="001080"/>
                </a:solidFill>
                <a:latin typeface="Consolas" panose="020B0609020204030204" pitchFamily="49" charset="0"/>
              </a:rPr>
              <a:t>ch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))</a:t>
            </a:r>
            <a:r>
              <a:rPr lang="ru-RU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</a:t>
            </a:r>
            <a:r>
              <a:rPr lang="de-DE" sz="1500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Failed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to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 save 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data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 on 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disk</a:t>
            </a:r>
            <a:r>
              <a:rPr lang="de-DE" sz="1500" dirty="0">
                <a:solidFill>
                  <a:srgbClr val="EE0000"/>
                </a:solidFill>
                <a:latin typeface="Consolas" panose="020B0609020204030204" pitchFamily="49" charset="0"/>
              </a:rPr>
              <a:t>\n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</a:t>
            </a:r>
            <a:r>
              <a:rPr lang="de-DE" sz="1500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}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  <a:endParaRPr lang="ru-RU" sz="15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en-US" sz="1500" dirty="0">
                <a:solidFill>
                  <a:srgbClr val="3B3B3B"/>
                </a:solidFill>
                <a:latin typeface="Consolas" panose="020B0609020204030204" pitchFamily="49" charset="0"/>
              </a:rPr>
              <a:t>   </a:t>
            </a:r>
            <a:r>
              <a:rPr lang="ru-RU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sz="1500" dirty="0">
                <a:solidFill>
                  <a:srgbClr val="795E26"/>
                </a:solidFill>
                <a:latin typeface="Consolas" panose="020B0609020204030204" pitchFamily="49" charset="0"/>
              </a:rPr>
              <a:t>!</a:t>
            </a:r>
            <a:r>
              <a:rPr lang="de-DE" sz="1500" dirty="0" err="1">
                <a:solidFill>
                  <a:srgbClr val="001080"/>
                </a:solidFill>
                <a:latin typeface="Consolas" panose="020B0609020204030204" pitchFamily="49" charset="0"/>
              </a:rPr>
              <a:t>input</a:t>
            </a:r>
            <a:r>
              <a:rPr lang="de-DE" sz="1500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sz="1500" dirty="0" err="1">
                <a:solidFill>
                  <a:srgbClr val="795E26"/>
                </a:solidFill>
                <a:latin typeface="Consolas" panose="020B0609020204030204" pitchFamily="49" charset="0"/>
              </a:rPr>
              <a:t>eof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()) {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500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Failed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to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read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file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500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</a:p>
          <a:p>
            <a:endParaRPr lang="de-DE" sz="15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ru-RU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500" dirty="0" err="1">
                <a:solidFill>
                  <a:srgbClr val="AF00DB"/>
                </a:solidFill>
                <a:latin typeface="Consolas" panose="020B0609020204030204" pitchFamily="49" charset="0"/>
              </a:rPr>
              <a:t>if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(</a:t>
            </a:r>
            <a:r>
              <a:rPr lang="de-DE" sz="1500" dirty="0">
                <a:solidFill>
                  <a:srgbClr val="795E26"/>
                </a:solidFill>
                <a:latin typeface="Consolas" panose="020B0609020204030204" pitchFamily="49" charset="0"/>
              </a:rPr>
              <a:t>!</a:t>
            </a:r>
            <a:r>
              <a:rPr lang="de-DE" sz="1500" dirty="0" err="1">
                <a:solidFill>
                  <a:srgbClr val="001080"/>
                </a:solidFill>
                <a:latin typeface="Consolas" panose="020B0609020204030204" pitchFamily="49" charset="0"/>
              </a:rPr>
              <a:t>output</a:t>
            </a:r>
            <a:r>
              <a:rPr lang="de-DE" sz="1500" dirty="0" err="1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sz="1500" dirty="0" err="1">
                <a:solidFill>
                  <a:srgbClr val="795E26"/>
                </a:solidFill>
                <a:latin typeface="Consolas" panose="020B0609020204030204" pitchFamily="49" charset="0"/>
              </a:rPr>
              <a:t>flush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())</a:t>
            </a:r>
            <a:r>
              <a:rPr lang="de-DE" sz="1500" dirty="0">
                <a:solidFill>
                  <a:srgbClr val="008000"/>
                </a:solidFill>
                <a:latin typeface="Consolas" panose="020B0609020204030204" pitchFamily="49" charset="0"/>
              </a:rPr>
              <a:t> </a:t>
            </a:r>
            <a:r>
              <a:rPr lang="ru-RU" sz="1500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ru-RU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500" dirty="0" err="1">
                <a:solidFill>
                  <a:srgbClr val="001080"/>
                </a:solidFill>
                <a:latin typeface="Consolas" panose="020B0609020204030204" pitchFamily="49" charset="0"/>
              </a:rPr>
              <a:t>cout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795E26"/>
                </a:solidFill>
                <a:latin typeface="Consolas" panose="020B0609020204030204" pitchFamily="49" charset="0"/>
              </a:rPr>
              <a:t>&lt;&lt;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Failed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to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 save 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data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 on </a:t>
            </a:r>
            <a:r>
              <a:rPr lang="de-DE" sz="1500" dirty="0" err="1">
                <a:solidFill>
                  <a:srgbClr val="A31515"/>
                </a:solidFill>
                <a:latin typeface="Consolas" panose="020B0609020204030204" pitchFamily="49" charset="0"/>
              </a:rPr>
              <a:t>disk</a:t>
            </a:r>
            <a:r>
              <a:rPr lang="de-DE" sz="1500" dirty="0">
                <a:solidFill>
                  <a:srgbClr val="EE0000"/>
                </a:solidFill>
                <a:latin typeface="Consolas" panose="020B0609020204030204" pitchFamily="49" charset="0"/>
              </a:rPr>
              <a:t>\n</a:t>
            </a:r>
            <a:r>
              <a:rPr lang="de-DE" sz="15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</a:t>
            </a:r>
            <a:r>
              <a:rPr lang="de-DE" sz="1500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500" dirty="0">
                <a:solidFill>
                  <a:srgbClr val="098658"/>
                </a:solidFill>
                <a:latin typeface="Consolas" panose="020B0609020204030204" pitchFamily="49" charset="0"/>
              </a:rPr>
              <a:t>1</a:t>
            </a:r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500" dirty="0">
                <a:solidFill>
                  <a:srgbClr val="3B3B3B"/>
                </a:solidFill>
                <a:latin typeface="Consolas" panose="020B0609020204030204" pitchFamily="49" charset="0"/>
              </a:rPr>
              <a:t>    }</a:t>
            </a:r>
            <a:endParaRPr lang="de-DE" sz="1500" b="0" dirty="0">
              <a:solidFill>
                <a:srgbClr val="3B3B3B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7F7F958-EC14-A7F0-E43B-3FAB817D7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86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498681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4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4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4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4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7598524-E03D-48DE-8B22-361FFA058D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Потоки чтения из строки и записи в строку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B878AD6-9139-4985-9F3B-D81C0E78DB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33061" cy="4351338"/>
          </a:xfrm>
        </p:spPr>
        <p:txBody>
          <a:bodyPr/>
          <a:lstStyle/>
          <a:p>
            <a:r>
              <a:rPr lang="en-US" dirty="0"/>
              <a:t>std::</a:t>
            </a:r>
            <a:r>
              <a:rPr lang="en-US" dirty="0" err="1"/>
              <a:t>istringstream</a:t>
            </a:r>
            <a:r>
              <a:rPr lang="en-US" dirty="0"/>
              <a:t> – </a:t>
            </a:r>
            <a:r>
              <a:rPr lang="ru-RU" dirty="0"/>
              <a:t>поток ввода из строки</a:t>
            </a:r>
            <a:endParaRPr lang="en-US" dirty="0"/>
          </a:p>
          <a:p>
            <a:r>
              <a:rPr lang="en-US" dirty="0"/>
              <a:t>std::</a:t>
            </a:r>
            <a:r>
              <a:rPr lang="en-US" dirty="0" err="1"/>
              <a:t>ostringstream</a:t>
            </a:r>
            <a:r>
              <a:rPr lang="en-US" dirty="0"/>
              <a:t> – </a:t>
            </a:r>
            <a:r>
              <a:rPr lang="ru-RU" dirty="0"/>
              <a:t>поток вывода в строку</a:t>
            </a:r>
          </a:p>
          <a:p>
            <a:r>
              <a:rPr lang="en-US" dirty="0"/>
              <a:t>std::</a:t>
            </a:r>
            <a:r>
              <a:rPr lang="en-US" dirty="0" err="1"/>
              <a:t>stringstream</a:t>
            </a:r>
            <a:r>
              <a:rPr lang="en-US" dirty="0"/>
              <a:t> –</a:t>
            </a:r>
            <a:r>
              <a:rPr lang="ru-RU" dirty="0"/>
              <a:t> поток ввода-вывода, связанный со строкой</a:t>
            </a:r>
            <a:endParaRPr lang="en-US" dirty="0"/>
          </a:p>
          <a:p>
            <a:r>
              <a:rPr lang="ru-RU" dirty="0"/>
              <a:t>Эти потоки объявлены в файле </a:t>
            </a:r>
            <a:r>
              <a:rPr lang="en-US" dirty="0"/>
              <a:t>&lt;</a:t>
            </a:r>
            <a:r>
              <a:rPr lang="en-US" dirty="0" err="1"/>
              <a:t>sstream</a:t>
            </a:r>
            <a:r>
              <a:rPr lang="en-US" dirty="0"/>
              <a:t>&gt;</a:t>
            </a:r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9201AC-E661-4125-BEEC-29F33EB7510E}"/>
              </a:ext>
            </a:extLst>
          </p:cNvPr>
          <p:cNvSpPr txBox="1"/>
          <p:nvPr/>
        </p:nvSpPr>
        <p:spPr>
          <a:xfrm>
            <a:off x="6384032" y="1825625"/>
            <a:ext cx="5351122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cassert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&gt;</a:t>
            </a:r>
          </a:p>
          <a:p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sstream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std::</a:t>
            </a:r>
            <a:r>
              <a:rPr lang="en-US" b="1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istringstream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in{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 42"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std::string hello;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n;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in &gt;&gt; hello &gt;&gt; n;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assert(hello ==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"Hello"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n ==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std::</a:t>
            </a:r>
            <a:r>
              <a:rPr lang="en-US" b="1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ostringstream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out;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out &lt;&lt;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"Hi 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123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assert(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out.str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==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"Hi 123"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6962D3-A293-D9CD-4083-C139BB958C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87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88111894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5B4A0B-2FAE-4C9F-A89D-4EAAF36A7C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Итераторы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B12C1A-B12B-47AB-AF95-150605A7C2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2D100F-EEF5-494D-F18F-689F1C98FA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88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98164773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/>
              <a:t>Итераторы</a:t>
            </a:r>
          </a:p>
        </p:txBody>
      </p:sp>
      <p:sp>
        <p:nvSpPr>
          <p:cNvPr id="46083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1" hangingPunct="1">
              <a:defRPr/>
            </a:pPr>
            <a:r>
              <a:rPr lang="ru-RU" sz="2800" dirty="0"/>
              <a:t>Итератор – объект, позволяющий программисту осуществлять перебор элементов контейнера вне зависимости от деталей его реализации</a:t>
            </a:r>
            <a:endParaRPr lang="en-US" sz="2800" dirty="0"/>
          </a:p>
          <a:p>
            <a:pPr lvl="1" eaLnBrk="1" hangingPunct="1">
              <a:defRPr/>
            </a:pPr>
            <a:r>
              <a:rPr lang="ru-RU" dirty="0">
                <a:latin typeface="+mn-lt"/>
              </a:rPr>
              <a:t>Вставка диапазона элементов одного контейнера в другой</a:t>
            </a:r>
          </a:p>
          <a:p>
            <a:pPr lvl="1" eaLnBrk="1" hangingPunct="1">
              <a:defRPr/>
            </a:pPr>
            <a:r>
              <a:rPr lang="ru-RU" dirty="0"/>
              <a:t>Один и тот же код может использоваться для обработки элементов разных контейнеров</a:t>
            </a:r>
            <a:endParaRPr lang="ru-RU" dirty="0">
              <a:latin typeface="+mn-lt"/>
            </a:endParaRPr>
          </a:p>
          <a:p>
            <a:pPr eaLnBrk="1" hangingPunct="1">
              <a:defRPr/>
            </a:pPr>
            <a:r>
              <a:rPr lang="ru-RU" sz="2800" dirty="0"/>
              <a:t>Итераторы используются в </a:t>
            </a:r>
            <a:r>
              <a:rPr lang="en-US" sz="2800" dirty="0"/>
              <a:t>STL </a:t>
            </a:r>
            <a:r>
              <a:rPr lang="ru-RU" sz="2800" dirty="0"/>
              <a:t>для доступа к элементам контейнеров</a:t>
            </a:r>
          </a:p>
          <a:p>
            <a:pPr lvl="1" eaLnBrk="1" hangingPunct="1">
              <a:defRPr/>
            </a:pPr>
            <a:r>
              <a:rPr lang="ru-RU" dirty="0">
                <a:latin typeface="+mn-lt"/>
              </a:rPr>
              <a:t>Обобщенные реализации алгоритмов используют итераторы для обработки элементов контейнеров</a:t>
            </a:r>
          </a:p>
          <a:p>
            <a:pPr lvl="2" eaLnBrk="1" hangingPunct="1">
              <a:defRPr/>
            </a:pPr>
            <a:r>
              <a:rPr lang="ru-RU" sz="2000" b="1" dirty="0"/>
              <a:t>Итератор – связующее звено между контейнером и алгоритмом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54CD940-3219-45DD-C0A8-1305BA171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89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9668990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60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608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608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608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608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08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608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6083" grpId="0" build="p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17C06FA9-B9BA-B65B-C4C9-7A6E2A021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Контейнеры и итераторы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6C632AD4-BF38-D8C2-6F0F-E688030DE43F}"/>
              </a:ext>
            </a:extLst>
          </p:cNvPr>
          <p:cNvSpPr/>
          <p:nvPr/>
        </p:nvSpPr>
        <p:spPr>
          <a:xfrm>
            <a:off x="2279576" y="2060848"/>
            <a:ext cx="5112568" cy="125106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Овал 6">
            <a:extLst>
              <a:ext uri="{FF2B5EF4-FFF2-40B4-BE49-F238E27FC236}">
                <a16:creationId xmlns:a16="http://schemas.microsoft.com/office/drawing/2014/main" id="{E989BD23-EC75-9A2D-CBCF-6E999BDEAF6E}"/>
              </a:ext>
            </a:extLst>
          </p:cNvPr>
          <p:cNvSpPr/>
          <p:nvPr/>
        </p:nvSpPr>
        <p:spPr>
          <a:xfrm>
            <a:off x="2567608" y="2348880"/>
            <a:ext cx="720080" cy="648072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>
            <a:extLst>
              <a:ext uri="{FF2B5EF4-FFF2-40B4-BE49-F238E27FC236}">
                <a16:creationId xmlns:a16="http://schemas.microsoft.com/office/drawing/2014/main" id="{288CF709-8717-9D3B-99D6-EF9B3D3BB269}"/>
              </a:ext>
            </a:extLst>
          </p:cNvPr>
          <p:cNvSpPr/>
          <p:nvPr/>
        </p:nvSpPr>
        <p:spPr>
          <a:xfrm>
            <a:off x="3520958" y="2362343"/>
            <a:ext cx="720080" cy="648072"/>
          </a:xfrm>
          <a:prstGeom prst="ellipse">
            <a:avLst/>
          </a:prstGeom>
          <a:solidFill>
            <a:srgbClr val="00B0F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Овал 8">
            <a:extLst>
              <a:ext uri="{FF2B5EF4-FFF2-40B4-BE49-F238E27FC236}">
                <a16:creationId xmlns:a16="http://schemas.microsoft.com/office/drawing/2014/main" id="{D61004F3-F08F-3CDE-C4C4-891452C3188A}"/>
              </a:ext>
            </a:extLst>
          </p:cNvPr>
          <p:cNvSpPr/>
          <p:nvPr/>
        </p:nvSpPr>
        <p:spPr>
          <a:xfrm>
            <a:off x="4474308" y="2375806"/>
            <a:ext cx="720080" cy="648072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Овал 9">
            <a:extLst>
              <a:ext uri="{FF2B5EF4-FFF2-40B4-BE49-F238E27FC236}">
                <a16:creationId xmlns:a16="http://schemas.microsoft.com/office/drawing/2014/main" id="{15C46FF8-4F82-ECF1-FEA7-C95BD23A6570}"/>
              </a:ext>
            </a:extLst>
          </p:cNvPr>
          <p:cNvSpPr/>
          <p:nvPr/>
        </p:nvSpPr>
        <p:spPr>
          <a:xfrm>
            <a:off x="5427658" y="2389269"/>
            <a:ext cx="720080" cy="648072"/>
          </a:xfrm>
          <a:prstGeom prst="ellipse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Овал 10">
            <a:extLst>
              <a:ext uri="{FF2B5EF4-FFF2-40B4-BE49-F238E27FC236}">
                <a16:creationId xmlns:a16="http://schemas.microsoft.com/office/drawing/2014/main" id="{65E400A4-64ED-ABFE-16C1-30F4191DCBDA}"/>
              </a:ext>
            </a:extLst>
          </p:cNvPr>
          <p:cNvSpPr/>
          <p:nvPr/>
        </p:nvSpPr>
        <p:spPr>
          <a:xfrm>
            <a:off x="6381008" y="2402732"/>
            <a:ext cx="720080" cy="648072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: скругленные углы 11">
            <a:extLst>
              <a:ext uri="{FF2B5EF4-FFF2-40B4-BE49-F238E27FC236}">
                <a16:creationId xmlns:a16="http://schemas.microsoft.com/office/drawing/2014/main" id="{47851DDA-B42C-3E8B-EFB2-089D316CF504}"/>
              </a:ext>
            </a:extLst>
          </p:cNvPr>
          <p:cNvSpPr/>
          <p:nvPr/>
        </p:nvSpPr>
        <p:spPr>
          <a:xfrm>
            <a:off x="2495600" y="4581128"/>
            <a:ext cx="864096" cy="64807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4" name="Прямая со стрелкой 13">
            <a:extLst>
              <a:ext uri="{FF2B5EF4-FFF2-40B4-BE49-F238E27FC236}">
                <a16:creationId xmlns:a16="http://schemas.microsoft.com/office/drawing/2014/main" id="{5EB3600E-8DAF-B47F-3976-C8C5AED225A7}"/>
              </a:ext>
            </a:extLst>
          </p:cNvPr>
          <p:cNvCxnSpPr>
            <a:stCxn id="12" idx="0"/>
            <a:endCxn id="7" idx="4"/>
          </p:cNvCxnSpPr>
          <p:nvPr/>
        </p:nvCxnSpPr>
        <p:spPr>
          <a:xfrm flipV="1">
            <a:off x="2927648" y="2996952"/>
            <a:ext cx="0" cy="1584176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Прямоугольник: скругленные углы 15">
            <a:extLst>
              <a:ext uri="{FF2B5EF4-FFF2-40B4-BE49-F238E27FC236}">
                <a16:creationId xmlns:a16="http://schemas.microsoft.com/office/drawing/2014/main" id="{C3A21665-80D4-98D4-B149-B9608BF7C15F}"/>
              </a:ext>
            </a:extLst>
          </p:cNvPr>
          <p:cNvSpPr/>
          <p:nvPr/>
        </p:nvSpPr>
        <p:spPr>
          <a:xfrm>
            <a:off x="7490020" y="4581128"/>
            <a:ext cx="864096" cy="64807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FED216D-66F1-FBF7-90C1-4D35B21EF9C6}"/>
              </a:ext>
            </a:extLst>
          </p:cNvPr>
          <p:cNvSpPr txBox="1"/>
          <p:nvPr/>
        </p:nvSpPr>
        <p:spPr>
          <a:xfrm>
            <a:off x="2331314" y="1552146"/>
            <a:ext cx="2232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Контейнер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FEFDB01-798E-A9A5-52E1-97877917A9E0}"/>
              </a:ext>
            </a:extLst>
          </p:cNvPr>
          <p:cNvSpPr txBox="1"/>
          <p:nvPr/>
        </p:nvSpPr>
        <p:spPr>
          <a:xfrm>
            <a:off x="1981200" y="5305854"/>
            <a:ext cx="2232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container.begin</a:t>
            </a:r>
            <a:r>
              <a:rPr lang="en-US" dirty="0"/>
              <a:t>()</a:t>
            </a:r>
            <a:endParaRPr lang="ru-RU" dirty="0"/>
          </a:p>
        </p:txBody>
      </p:sp>
      <p:sp>
        <p:nvSpPr>
          <p:cNvPr id="20" name="Овал 19">
            <a:extLst>
              <a:ext uri="{FF2B5EF4-FFF2-40B4-BE49-F238E27FC236}">
                <a16:creationId xmlns:a16="http://schemas.microsoft.com/office/drawing/2014/main" id="{86F061E3-F749-688A-A97E-48001941C5A1}"/>
              </a:ext>
            </a:extLst>
          </p:cNvPr>
          <p:cNvSpPr/>
          <p:nvPr/>
        </p:nvSpPr>
        <p:spPr>
          <a:xfrm>
            <a:off x="7490020" y="2389269"/>
            <a:ext cx="720080" cy="648072"/>
          </a:xfrm>
          <a:prstGeom prst="ellipse">
            <a:avLst/>
          </a:prstGeom>
          <a:noFill/>
          <a:ln w="34925" cmpd="sng"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1" name="Прямая со стрелкой 20">
            <a:extLst>
              <a:ext uri="{FF2B5EF4-FFF2-40B4-BE49-F238E27FC236}">
                <a16:creationId xmlns:a16="http://schemas.microsoft.com/office/drawing/2014/main" id="{8C41324E-0E42-0D4F-5A94-3519FF9C9FED}"/>
              </a:ext>
            </a:extLst>
          </p:cNvPr>
          <p:cNvCxnSpPr>
            <a:cxnSpLocks/>
            <a:stCxn id="16" idx="0"/>
            <a:endCxn id="20" idx="4"/>
          </p:cNvCxnSpPr>
          <p:nvPr/>
        </p:nvCxnSpPr>
        <p:spPr>
          <a:xfrm flipH="1" flipV="1">
            <a:off x="7850060" y="3037342"/>
            <a:ext cx="72008" cy="1543787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A054CB5-73F6-B180-8287-4D889B267108}"/>
              </a:ext>
            </a:extLst>
          </p:cNvPr>
          <p:cNvSpPr txBox="1"/>
          <p:nvPr/>
        </p:nvSpPr>
        <p:spPr>
          <a:xfrm>
            <a:off x="6960096" y="5305854"/>
            <a:ext cx="2232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container.end</a:t>
            </a:r>
            <a:r>
              <a:rPr lang="en-US" dirty="0"/>
              <a:t>()</a:t>
            </a:r>
            <a:endParaRPr lang="ru-RU" dirty="0"/>
          </a:p>
        </p:txBody>
      </p:sp>
      <p:sp>
        <p:nvSpPr>
          <p:cNvPr id="25" name="Прямоугольник: скругленные углы 24">
            <a:extLst>
              <a:ext uri="{FF2B5EF4-FFF2-40B4-BE49-F238E27FC236}">
                <a16:creationId xmlns:a16="http://schemas.microsoft.com/office/drawing/2014/main" id="{957C3330-FB4D-DE6C-FA28-0131C045426C}"/>
              </a:ext>
            </a:extLst>
          </p:cNvPr>
          <p:cNvSpPr/>
          <p:nvPr/>
        </p:nvSpPr>
        <p:spPr>
          <a:xfrm>
            <a:off x="4782457" y="4581128"/>
            <a:ext cx="864096" cy="64807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6" name="Прямая со стрелкой 25">
            <a:extLst>
              <a:ext uri="{FF2B5EF4-FFF2-40B4-BE49-F238E27FC236}">
                <a16:creationId xmlns:a16="http://schemas.microsoft.com/office/drawing/2014/main" id="{BEC516FB-862A-3BA4-D956-D16578D08237}"/>
              </a:ext>
            </a:extLst>
          </p:cNvPr>
          <p:cNvCxnSpPr>
            <a:cxnSpLocks/>
            <a:stCxn id="25" idx="0"/>
            <a:endCxn id="9" idx="4"/>
          </p:cNvCxnSpPr>
          <p:nvPr/>
        </p:nvCxnSpPr>
        <p:spPr>
          <a:xfrm flipH="1" flipV="1">
            <a:off x="4834349" y="3023878"/>
            <a:ext cx="380157" cy="1557250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2DCB640-6DB9-1A22-39A7-BF0C1FB23F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90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84746513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AC75D-D5A5-49B1-A23D-8CEC806B67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Методы для получения итераторов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5218C8-5043-4530-8308-E931006EF8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Прямые итераторы</a:t>
            </a:r>
            <a:endParaRPr lang="en-US" dirty="0"/>
          </a:p>
          <a:p>
            <a:pPr lvl="1"/>
            <a:r>
              <a:rPr lang="en-US" dirty="0"/>
              <a:t>begin</a:t>
            </a:r>
          </a:p>
          <a:p>
            <a:pPr lvl="1"/>
            <a:r>
              <a:rPr lang="en-US" dirty="0"/>
              <a:t>end</a:t>
            </a:r>
            <a:endParaRPr lang="ru-RU" dirty="0"/>
          </a:p>
          <a:p>
            <a:r>
              <a:rPr lang="ru-RU" dirty="0"/>
              <a:t>Обратные итераторы</a:t>
            </a:r>
            <a:endParaRPr lang="en-US" dirty="0"/>
          </a:p>
          <a:p>
            <a:pPr lvl="1"/>
            <a:r>
              <a:rPr lang="en-US" dirty="0" err="1"/>
              <a:t>rbegin</a:t>
            </a:r>
            <a:endParaRPr lang="ru-RU" dirty="0"/>
          </a:p>
          <a:p>
            <a:pPr lvl="1"/>
            <a:r>
              <a:rPr lang="en-US" dirty="0"/>
              <a:t>rend</a:t>
            </a:r>
          </a:p>
          <a:p>
            <a:r>
              <a:rPr lang="ru-RU" dirty="0"/>
              <a:t>Константные итераторы</a:t>
            </a:r>
          </a:p>
          <a:p>
            <a:pPr lvl="1"/>
            <a:r>
              <a:rPr lang="en-US" dirty="0" err="1"/>
              <a:t>cbegin</a:t>
            </a:r>
            <a:r>
              <a:rPr lang="en-US" dirty="0"/>
              <a:t>, </a:t>
            </a:r>
            <a:r>
              <a:rPr lang="en-US" dirty="0" err="1"/>
              <a:t>cend</a:t>
            </a:r>
            <a:endParaRPr lang="en-US" dirty="0"/>
          </a:p>
          <a:p>
            <a:pPr lvl="1"/>
            <a:r>
              <a:rPr lang="en-US" dirty="0" err="1"/>
              <a:t>crbegin</a:t>
            </a:r>
            <a:r>
              <a:rPr lang="en-US" dirty="0"/>
              <a:t>, </a:t>
            </a:r>
            <a:r>
              <a:rPr lang="en-US" dirty="0" err="1"/>
              <a:t>crend</a:t>
            </a:r>
            <a:endParaRPr lang="en-US" dirty="0"/>
          </a:p>
          <a:p>
            <a:r>
              <a:rPr lang="ru-RU" dirty="0"/>
              <a:t>Функции вроде </a:t>
            </a:r>
          </a:p>
          <a:p>
            <a:pPr lvl="1"/>
            <a:r>
              <a:rPr lang="en-US" dirty="0"/>
              <a:t>std::begin(</a:t>
            </a:r>
            <a:r>
              <a:rPr lang="ru-RU" dirty="0"/>
              <a:t>контейнер)</a:t>
            </a:r>
          </a:p>
          <a:p>
            <a:pPr lvl="1"/>
            <a:r>
              <a:rPr lang="en-US" dirty="0"/>
              <a:t>std::end(</a:t>
            </a:r>
            <a:r>
              <a:rPr lang="ru-RU" dirty="0"/>
              <a:t>контейнер)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60C854E-802C-1A6B-F9C8-8017292707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91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07441847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F768A13-4845-7564-AE5F-0BD439E2BF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Категории итераторов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771A623-0EE9-037B-253B-8FFF571953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 err="1">
                <a:hlinkClick r:id="rId2"/>
              </a:rPr>
              <a:t>LegacyInputIterator</a:t>
            </a:r>
            <a:endParaRPr lang="ru-RU" dirty="0"/>
          </a:p>
          <a:p>
            <a:pPr lvl="1"/>
            <a:r>
              <a:rPr lang="ru-RU" dirty="0"/>
              <a:t>Однопроходное чтение</a:t>
            </a:r>
          </a:p>
          <a:p>
            <a:r>
              <a:rPr lang="en-US" dirty="0" err="1">
                <a:hlinkClick r:id="rId3"/>
              </a:rPr>
              <a:t>LegacyOutputIterator</a:t>
            </a:r>
            <a:endParaRPr lang="ru-RU" dirty="0"/>
          </a:p>
          <a:p>
            <a:pPr lvl="1"/>
            <a:r>
              <a:rPr lang="ru-RU" dirty="0"/>
              <a:t>Однопроходная запись</a:t>
            </a:r>
          </a:p>
          <a:p>
            <a:r>
              <a:rPr lang="en-US" dirty="0" err="1">
                <a:hlinkClick r:id="rId4"/>
              </a:rPr>
              <a:t>LegacyForwardIterator</a:t>
            </a:r>
            <a:endParaRPr lang="en-US" dirty="0"/>
          </a:p>
          <a:p>
            <a:pPr lvl="1"/>
            <a:r>
              <a:rPr lang="ru-RU" dirty="0"/>
              <a:t>Может использоваться в многопроходных алгоритмах</a:t>
            </a:r>
          </a:p>
          <a:p>
            <a:pPr lvl="1"/>
            <a:r>
              <a:rPr lang="ru-RU" dirty="0"/>
              <a:t>Допускает чтение и запись</a:t>
            </a:r>
          </a:p>
          <a:p>
            <a:pPr lvl="1"/>
            <a:r>
              <a:rPr lang="ru-RU" dirty="0"/>
              <a:t>Доступен только инкремент</a:t>
            </a:r>
            <a:endParaRPr lang="en-US" dirty="0"/>
          </a:p>
          <a:p>
            <a:r>
              <a:rPr lang="en-US" dirty="0" err="1">
                <a:hlinkClick r:id="rId5"/>
              </a:rPr>
              <a:t>LegacyBidirectionalIterator</a:t>
            </a:r>
            <a:endParaRPr lang="en-US" dirty="0"/>
          </a:p>
          <a:p>
            <a:pPr lvl="1"/>
            <a:r>
              <a:rPr lang="ru-RU" dirty="0"/>
              <a:t>Все возможности </a:t>
            </a:r>
            <a:r>
              <a:rPr lang="en-US" dirty="0" err="1"/>
              <a:t>LegacyForwardIterator</a:t>
            </a:r>
            <a:r>
              <a:rPr lang="ru-RU" dirty="0"/>
              <a:t> + декремент</a:t>
            </a:r>
            <a:endParaRPr lang="en-US" dirty="0"/>
          </a:p>
          <a:p>
            <a:r>
              <a:rPr lang="en-US" dirty="0" err="1">
                <a:hlinkClick r:id="rId6"/>
              </a:rPr>
              <a:t>LegacyRandomAccessIterator</a:t>
            </a:r>
            <a:endParaRPr lang="en-US" dirty="0"/>
          </a:p>
          <a:p>
            <a:pPr lvl="1"/>
            <a:r>
              <a:rPr lang="ru-RU" dirty="0"/>
              <a:t>Доступ к элементам относительно итератора за константное время</a:t>
            </a:r>
            <a:endParaRPr lang="en-US" dirty="0"/>
          </a:p>
          <a:p>
            <a:r>
              <a:rPr lang="en-US" dirty="0" err="1">
                <a:hlinkClick r:id="rId7"/>
              </a:rPr>
              <a:t>LegacyContiguousIterator</a:t>
            </a:r>
            <a:endParaRPr lang="ru-RU" dirty="0"/>
          </a:p>
          <a:p>
            <a:pPr lvl="1"/>
            <a:r>
              <a:rPr lang="ru-RU" dirty="0"/>
              <a:t>Хранение объектов в непрерывной области памяти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987AE80-2FB1-982D-1A09-EC469A0968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92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3880313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FD0E433-D869-D6CE-D713-B06BFEA9A3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Категории итераторов</a:t>
            </a:r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801BA83F-4CAD-77B2-7C23-4C43160981D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862589"/>
            <a:ext cx="10515600" cy="4277409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41ED11-24B4-861A-7B69-C56B0C6FC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93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28166811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5CFF804F-0921-4AA1-8BB6-A5D8974EEB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Исследуем </a:t>
            </a:r>
            <a:r>
              <a:rPr lang="en-US" dirty="0"/>
              <a:t>range-based for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C268AC9-B047-4C58-BEC6-86F0CC2E3F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D6B7202-3860-848F-7458-C35EA08A25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94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8922389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74E3900-0B67-8DA9-30ED-CFD623F4E3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Заглядываем внутрь </a:t>
            </a:r>
            <a:r>
              <a:rPr lang="en-US" dirty="0"/>
              <a:t>range-based for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DAA79C7-1EF2-2E3C-3DF3-F49E772D9A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defTabSz="354013"/>
            <a:r>
              <a:rPr lang="ru-RU" dirty="0"/>
              <a:t>Синтаксис цикла</a:t>
            </a:r>
            <a:endParaRPr lang="en-US" dirty="0"/>
          </a:p>
          <a:p>
            <a:pPr marL="0" indent="0" defTabSz="354013">
              <a:buNone/>
            </a:pP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b="1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i="1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init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-statement</a:t>
            </a:r>
            <a:r>
              <a:rPr lang="en-US" sz="2000" b="0" dirty="0">
                <a:solidFill>
                  <a:srgbClr val="00B050"/>
                </a:solidFill>
                <a:effectLst/>
                <a:latin typeface="Consolas" panose="020B0609020204030204" pitchFamily="49" charset="0"/>
              </a:rPr>
              <a:t>(optional)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i="1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r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ange-declaration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range-expression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marL="0" indent="0" defTabSz="354013">
              <a:buNone/>
            </a:pPr>
            <a:r>
              <a:rPr lang="en-US" i="1" dirty="0">
                <a:solidFill>
                  <a:srgbClr val="000000"/>
                </a:solidFill>
                <a:latin typeface="Consolas" panose="020B0609020204030204" pitchFamily="49" charset="0"/>
              </a:rPr>
              <a:t>		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loop-statement</a:t>
            </a:r>
          </a:p>
          <a:p>
            <a:pPr defTabSz="354013"/>
            <a:r>
              <a:rPr lang="ru-RU" dirty="0"/>
              <a:t>Компилятором он разворачивается в такую конструкцию:</a:t>
            </a:r>
          </a:p>
          <a:p>
            <a:pPr marL="0" indent="0" defTabSz="354013">
              <a:lnSpc>
                <a:spcPct val="120000"/>
              </a:lnSpc>
              <a:spcBef>
                <a:spcPts val="0"/>
              </a:spcBef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marL="0" indent="0" defTabSz="354013">
              <a:lnSpc>
                <a:spcPct val="120000"/>
              </a:lnSpc>
              <a:spcBef>
                <a:spcPts val="0"/>
              </a:spcBef>
              <a:buNone/>
            </a:pP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		</a:t>
            </a:r>
            <a:r>
              <a:rPr lang="en-US" b="0" i="1" dirty="0" err="1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init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-statement</a:t>
            </a:r>
            <a:endParaRPr lang="en-US" b="1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 defTabSz="354013">
              <a:lnSpc>
                <a:spcPct val="120000"/>
              </a:lnSpc>
              <a:spcBef>
                <a:spcPts val="0"/>
              </a:spcBef>
              <a:buNone/>
            </a:pPr>
            <a:r>
              <a:rPr lang="ru-RU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		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__range = 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range-expression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 defTabSz="354013">
              <a:lnSpc>
                <a:spcPct val="120000"/>
              </a:lnSpc>
              <a:spcBef>
                <a:spcPts val="0"/>
              </a:spcBef>
              <a:buNone/>
            </a:pPr>
            <a:r>
              <a:rPr lang="ru-RU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		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__begin = 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begin-expr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 defTabSz="354013">
              <a:lnSpc>
                <a:spcPct val="120000"/>
              </a:lnSpc>
              <a:spcBef>
                <a:spcPts val="0"/>
              </a:spcBef>
              <a:buNone/>
            </a:pPr>
            <a:r>
              <a:rPr lang="ru-RU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		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__end = 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end-expr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 defTabSz="354013">
              <a:lnSpc>
                <a:spcPct val="120000"/>
              </a:lnSpc>
              <a:spcBef>
                <a:spcPts val="0"/>
              </a:spcBef>
              <a:buNone/>
            </a:pPr>
            <a:r>
              <a:rPr lang="ru-RU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		</a:t>
            </a:r>
            <a:r>
              <a:rPr lang="en-US" b="1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 ; __begin != __end; ++__begin)</a:t>
            </a:r>
            <a:r>
              <a:rPr lang="ru-RU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endParaRPr lang="ru-RU" b="1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 defTabSz="354013">
              <a:lnSpc>
                <a:spcPct val="120000"/>
              </a:lnSpc>
              <a:spcBef>
                <a:spcPts val="0"/>
              </a:spcBef>
              <a:buNone/>
            </a:pPr>
            <a:r>
              <a:rPr lang="ru-RU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			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range-declaration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*__begin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indent="0" defTabSz="354013">
              <a:lnSpc>
                <a:spcPct val="120000"/>
              </a:lnSpc>
              <a:spcBef>
                <a:spcPts val="0"/>
              </a:spcBef>
              <a:buNone/>
            </a:pPr>
            <a:r>
              <a:rPr lang="ru-RU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			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loop-statement</a:t>
            </a:r>
            <a:endParaRPr lang="ru-RU" b="0" i="1" dirty="0">
              <a:solidFill>
                <a:schemeClr val="tx1">
                  <a:lumMod val="50000"/>
                  <a:lumOff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indent="0" defTabSz="354013">
              <a:lnSpc>
                <a:spcPct val="120000"/>
              </a:lnSpc>
              <a:spcBef>
                <a:spcPts val="0"/>
              </a:spcBef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ru-RU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indent="0" defTabSz="354013">
              <a:lnSpc>
                <a:spcPct val="120000"/>
              </a:lnSpc>
              <a:spcBef>
                <a:spcPts val="0"/>
              </a:spcBef>
              <a:buNone/>
            </a:pPr>
            <a:r>
              <a:rPr lang="ru-RU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99708B-DF3E-4534-89D5-B41C78D0A17B}"/>
              </a:ext>
            </a:extLst>
          </p:cNvPr>
          <p:cNvSpPr txBox="1"/>
          <p:nvPr/>
        </p:nvSpPr>
        <p:spPr>
          <a:xfrm>
            <a:off x="2567608" y="630820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hlinkClick r:id="rId3"/>
              </a:rPr>
              <a:t>https://en.cppreference.com/w/cpp/language/range-for</a:t>
            </a:r>
            <a:r>
              <a:rPr lang="en-US" dirty="0"/>
              <a:t> </a:t>
            </a:r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ECDB009E-1F4F-4878-B83E-E1789E9D35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2344" y="4105432"/>
            <a:ext cx="2553056" cy="2572109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B789A3-4390-81C1-E35C-A63B132365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95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95528391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4D135ED-E91C-E2C0-FB14-D375A500D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init</a:t>
            </a:r>
            <a:r>
              <a:rPr lang="en-US" dirty="0"/>
              <a:t>-statement (</a:t>
            </a:r>
            <a:r>
              <a:rPr lang="ru-RU" dirty="0"/>
              <a:t>начиная с </a:t>
            </a:r>
            <a:r>
              <a:rPr lang="en-US" dirty="0"/>
              <a:t>C++20)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0A9836C-5396-F601-664A-43C06C4306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defTabSz="354013"/>
            <a:r>
              <a:rPr lang="ru-RU" dirty="0"/>
              <a:t>Выражение, например:</a:t>
            </a:r>
          </a:p>
          <a:p>
            <a:pPr marL="0" indent="0" defTabSz="354013">
              <a:buNone/>
            </a:pPr>
            <a:r>
              <a:rPr lang="en-US" dirty="0">
                <a:latin typeface="Consolas" panose="020B0609020204030204" pitchFamily="49" charset="0"/>
              </a:rPr>
              <a:t>	n=n+5;</a:t>
            </a:r>
            <a:endParaRPr lang="ru-RU" dirty="0">
              <a:latin typeface="Consolas" panose="020B0609020204030204" pitchFamily="49" charset="0"/>
            </a:endParaRPr>
          </a:p>
          <a:p>
            <a:pPr defTabSz="354013"/>
            <a:r>
              <a:rPr lang="ru-RU" dirty="0"/>
              <a:t>Объявление переменной с инициализатором или нескольких переменных</a:t>
            </a:r>
          </a:p>
          <a:p>
            <a:pPr defTabSz="354013"/>
            <a:r>
              <a:rPr lang="en-US" dirty="0"/>
              <a:t>Structured-binding</a:t>
            </a:r>
          </a:p>
          <a:p>
            <a:pPr marL="0" indent="0" defTabSz="354013">
              <a:buNone/>
            </a:pPr>
            <a:r>
              <a:rPr lang="en-US" dirty="0">
                <a:latin typeface="Consolas" panose="020B0609020204030204" pitchFamily="49" charset="0"/>
              </a:rPr>
              <a:t>	auto [x, y] = </a:t>
            </a:r>
            <a:r>
              <a:rPr lang="en-US" dirty="0" err="1">
                <a:latin typeface="Consolas" panose="020B0609020204030204" pitchFamily="49" charset="0"/>
              </a:rPr>
              <a:t>GetPoint</a:t>
            </a:r>
            <a:r>
              <a:rPr lang="en-US" dirty="0">
                <a:latin typeface="Consolas" panose="020B0609020204030204" pitchFamily="49" charset="0"/>
              </a:rPr>
              <a:t>();</a:t>
            </a:r>
          </a:p>
          <a:p>
            <a:pPr defTabSz="354013"/>
            <a:r>
              <a:rPr lang="ru-RU" dirty="0"/>
              <a:t>Объявление синонима типа</a:t>
            </a:r>
            <a:endParaRPr lang="en-US" dirty="0"/>
          </a:p>
          <a:p>
            <a:pPr marL="0" indent="0" defTabSz="354013">
              <a:buNone/>
            </a:pPr>
            <a:r>
              <a:rPr lang="en-US" dirty="0">
                <a:latin typeface="Consolas" panose="020B0609020204030204" pitchFamily="49" charset="0"/>
              </a:rPr>
              <a:t>	using Number = int;</a:t>
            </a:r>
            <a:endParaRPr lang="ru-RU" dirty="0"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E9CC98F-E611-86E7-AD83-D855F5A51BFE}"/>
              </a:ext>
            </a:extLst>
          </p:cNvPr>
          <p:cNvSpPr txBox="1"/>
          <p:nvPr/>
        </p:nvSpPr>
        <p:spPr>
          <a:xfrm>
            <a:off x="6600056" y="3861048"/>
            <a:ext cx="5472608" cy="28623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0" defTabSz="354013">
              <a:spcBef>
                <a:spcPts val="0"/>
              </a:spcBef>
              <a:buNone/>
            </a:pP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defTabSz="354013"/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	</a:t>
            </a:r>
            <a:r>
              <a:rPr lang="en-US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init</a:t>
            </a:r>
            <a:r>
              <a:rPr lang="en-US" i="1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-statement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__range = 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range-expression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__begin = 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begin-expr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__end = 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end-expr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1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b="1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 ; __begin != __end; ++__begin)</a:t>
            </a:r>
            <a:r>
              <a:rPr lang="ru-RU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endParaRPr lang="ru-RU" b="1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		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range-declaration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 *__begin;</a:t>
            </a:r>
            <a:endParaRPr lang="ru-RU" b="1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		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loop-statement</a:t>
            </a:r>
            <a:endParaRPr lang="ru-RU" b="0" i="1" dirty="0">
              <a:solidFill>
                <a:schemeClr val="tx1">
                  <a:lumMod val="50000"/>
                  <a:lumOff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defTabSz="354013">
              <a:spcBef>
                <a:spcPts val="0"/>
              </a:spcBef>
              <a:buNone/>
            </a:pP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b="1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A69A48-E151-5A8F-EBBB-DEA2B6658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96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0082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318BF3-F89D-727E-8DE6-641ECE94D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begin-expr </a:t>
            </a:r>
            <a:r>
              <a:rPr lang="ru-RU" dirty="0"/>
              <a:t>и </a:t>
            </a:r>
            <a:r>
              <a:rPr lang="en-US" dirty="0"/>
              <a:t>end-expr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0410B82-C48E-4FC9-FD52-36D56AE932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Если </a:t>
            </a:r>
            <a:r>
              <a:rPr lang="en-US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range-expression</a:t>
            </a:r>
            <a:r>
              <a:rPr lang="en-US" dirty="0"/>
              <a:t> – </a:t>
            </a:r>
            <a:r>
              <a:rPr lang="ru-RU" dirty="0"/>
              <a:t>массив</a:t>
            </a:r>
            <a:endParaRPr lang="en-US" dirty="0"/>
          </a:p>
          <a:p>
            <a:pPr lvl="1"/>
            <a:r>
              <a:rPr lang="en-US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begin-expr</a:t>
            </a:r>
            <a:r>
              <a:rPr lang="en-US" dirty="0"/>
              <a:t> – </a:t>
            </a:r>
            <a:r>
              <a:rPr lang="ru-RU" dirty="0">
                <a:latin typeface="Consolas" panose="020B0609020204030204" pitchFamily="49" charset="0"/>
              </a:rPr>
              <a:t>__</a:t>
            </a:r>
            <a:r>
              <a:rPr lang="en-US" dirty="0">
                <a:latin typeface="Consolas" panose="020B0609020204030204" pitchFamily="49" charset="0"/>
              </a:rPr>
              <a:t>range</a:t>
            </a:r>
          </a:p>
          <a:p>
            <a:pPr lvl="1"/>
            <a:r>
              <a:rPr lang="en-US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end-expr</a:t>
            </a:r>
            <a:r>
              <a:rPr lang="en-US" dirty="0"/>
              <a:t> — 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ru-RU" dirty="0">
                <a:latin typeface="Consolas" panose="020B0609020204030204" pitchFamily="49" charset="0"/>
              </a:rPr>
              <a:t>__</a:t>
            </a:r>
            <a:r>
              <a:rPr lang="en-US" dirty="0">
                <a:latin typeface="Consolas" panose="020B0609020204030204" pitchFamily="49" charset="0"/>
              </a:rPr>
              <a:t>range + __bound)</a:t>
            </a:r>
            <a:r>
              <a:rPr lang="ru-RU" dirty="0"/>
              <a:t>, где </a:t>
            </a:r>
            <a:r>
              <a:rPr lang="en-US" dirty="0">
                <a:latin typeface="Consolas" panose="020B0609020204030204" pitchFamily="49" charset="0"/>
              </a:rPr>
              <a:t>__bound</a:t>
            </a:r>
            <a:r>
              <a:rPr lang="en-US" dirty="0"/>
              <a:t> –</a:t>
            </a:r>
            <a:r>
              <a:rPr lang="ru-RU" dirty="0"/>
              <a:t> размер массива</a:t>
            </a:r>
            <a:endParaRPr lang="en-US" dirty="0"/>
          </a:p>
          <a:p>
            <a:r>
              <a:rPr lang="ru-RU" dirty="0"/>
              <a:t>Если </a:t>
            </a:r>
            <a:r>
              <a:rPr lang="en-US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range-expression</a:t>
            </a:r>
            <a:r>
              <a:rPr lang="en-US" dirty="0"/>
              <a:t> – </a:t>
            </a:r>
            <a:r>
              <a:rPr lang="ru-RU" dirty="0"/>
              <a:t>класс или структура с методами </a:t>
            </a:r>
            <a:r>
              <a:rPr lang="en-US" dirty="0">
                <a:latin typeface="Consolas" panose="020B0609020204030204" pitchFamily="49" charset="0"/>
              </a:rPr>
              <a:t>begin</a:t>
            </a:r>
            <a:r>
              <a:rPr lang="en-US" dirty="0"/>
              <a:t> </a:t>
            </a:r>
            <a:r>
              <a:rPr lang="ru-RU" dirty="0"/>
              <a:t>и </a:t>
            </a:r>
            <a:r>
              <a:rPr lang="en-US" dirty="0">
                <a:latin typeface="Consolas" panose="020B0609020204030204" pitchFamily="49" charset="0"/>
              </a:rPr>
              <a:t>end</a:t>
            </a:r>
          </a:p>
          <a:p>
            <a:pPr lvl="1"/>
            <a:r>
              <a:rPr lang="en-US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begin-expr</a:t>
            </a:r>
            <a:r>
              <a:rPr lang="en-US" dirty="0"/>
              <a:t> – </a:t>
            </a:r>
            <a:r>
              <a:rPr lang="en-US" dirty="0">
                <a:latin typeface="Consolas" panose="020B0609020204030204" pitchFamily="49" charset="0"/>
              </a:rPr>
              <a:t>__</a:t>
            </a:r>
            <a:r>
              <a:rPr lang="en-US" dirty="0" err="1">
                <a:latin typeface="Consolas" panose="020B0609020204030204" pitchFamily="49" charset="0"/>
              </a:rPr>
              <a:t>range.begin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lvl="1"/>
            <a:r>
              <a:rPr lang="en-US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end-expr</a:t>
            </a:r>
            <a:r>
              <a:rPr lang="en-US" dirty="0"/>
              <a:t>  — </a:t>
            </a:r>
            <a:r>
              <a:rPr lang="en-US" dirty="0">
                <a:latin typeface="Consolas" panose="020B0609020204030204" pitchFamily="49" charset="0"/>
              </a:rPr>
              <a:t>__</a:t>
            </a:r>
            <a:r>
              <a:rPr lang="en-US" dirty="0" err="1">
                <a:latin typeface="Consolas" panose="020B0609020204030204" pitchFamily="49" charset="0"/>
              </a:rPr>
              <a:t>range.end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r>
              <a:rPr lang="ru-RU" dirty="0"/>
              <a:t>В остальных случаях</a:t>
            </a:r>
          </a:p>
          <a:p>
            <a:pPr lvl="1"/>
            <a:r>
              <a:rPr lang="en-US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begin-expr</a:t>
            </a:r>
            <a:r>
              <a:rPr lang="en-US" dirty="0"/>
              <a:t> – </a:t>
            </a:r>
            <a:r>
              <a:rPr lang="en-US">
                <a:latin typeface="Consolas" panose="020B0609020204030204" pitchFamily="49" charset="0"/>
              </a:rPr>
              <a:t>begin(__range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lvl="1"/>
            <a:r>
              <a:rPr lang="en-US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end-expr</a:t>
            </a:r>
            <a:r>
              <a:rPr lang="en-US" dirty="0"/>
              <a:t>  — </a:t>
            </a:r>
            <a:r>
              <a:rPr lang="en-US" dirty="0">
                <a:latin typeface="Consolas" panose="020B0609020204030204" pitchFamily="49" charset="0"/>
              </a:rPr>
              <a:t>end(__range)</a:t>
            </a:r>
            <a:endParaRPr lang="ru-RU" dirty="0"/>
          </a:p>
          <a:p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F22B0C-DB0D-39DD-F3D6-EF458E35B93C}"/>
              </a:ext>
            </a:extLst>
          </p:cNvPr>
          <p:cNvSpPr txBox="1"/>
          <p:nvPr/>
        </p:nvSpPr>
        <p:spPr>
          <a:xfrm>
            <a:off x="6600056" y="3861048"/>
            <a:ext cx="5472608" cy="286232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0" defTabSz="354013">
              <a:spcBef>
                <a:spcPts val="0"/>
              </a:spcBef>
              <a:buNone/>
            </a:pP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defTabSz="354013"/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	</a:t>
            </a:r>
            <a:r>
              <a:rPr lang="en-US" i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init</a:t>
            </a:r>
            <a:r>
              <a:rPr lang="en-US" i="1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-statement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__range = 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range-expression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__begin = 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begin-expr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b="1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__end = 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end-expr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1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b="1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 ; __begin != __end; ++__begin)</a:t>
            </a:r>
            <a:r>
              <a:rPr lang="ru-RU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  <a:endParaRPr lang="ru-RU" b="1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		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range-declaration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= *__begin;</a:t>
            </a:r>
            <a:endParaRPr lang="ru-RU" b="1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		</a:t>
            </a:r>
            <a:r>
              <a:rPr lang="en-US" b="0" i="1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loop-statement</a:t>
            </a:r>
            <a:endParaRPr lang="ru-RU" b="0" i="1" dirty="0">
              <a:solidFill>
                <a:schemeClr val="tx1">
                  <a:lumMod val="50000"/>
                  <a:lumOff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defTabSz="354013">
              <a:spcBef>
                <a:spcPts val="0"/>
              </a:spcBef>
              <a:buNone/>
            </a:pPr>
            <a:r>
              <a:rPr lang="ru-RU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	</a:t>
            </a: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marL="0" defTabSz="354013">
              <a:spcBef>
                <a:spcPts val="0"/>
              </a:spcBef>
              <a:buNone/>
            </a:pPr>
            <a:r>
              <a:rPr lang="en-US" b="1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b="1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B94945-3EED-ACFA-F0BB-079CDA02EB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97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040791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8035C3E-1832-ECB0-797B-DC8E03F251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7C5D54-2889-83DC-9306-EA5D030D15D6}"/>
              </a:ext>
            </a:extLst>
          </p:cNvPr>
          <p:cNvSpPr txBox="1"/>
          <p:nvPr/>
        </p:nvSpPr>
        <p:spPr>
          <a:xfrm>
            <a:off x="838200" y="1690688"/>
            <a:ext cx="8309487" cy="132343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primes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[] = { </a:t>
            </a:r>
            <a:r>
              <a:rPr lang="en-US" sz="20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11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13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17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19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000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23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r>
              <a:rPr lang="en-US" sz="20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prime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primes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sz="20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prime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20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20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9EDC7C-F623-645C-4D6B-A30F546039D5}"/>
              </a:ext>
            </a:extLst>
          </p:cNvPr>
          <p:cNvSpPr txBox="1"/>
          <p:nvPr/>
        </p:nvSpPr>
        <p:spPr>
          <a:xfrm>
            <a:off x="838200" y="3343254"/>
            <a:ext cx="10730408" cy="34778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__range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primes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              // int (&amp;__range)[9]</a:t>
            </a:r>
            <a:endParaRPr lang="en-US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__begin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__range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               // int* __begin</a:t>
            </a:r>
            <a:endParaRPr lang="en-US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__end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__range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std::</a:t>
            </a:r>
            <a:r>
              <a:rPr lang="en-US" sz="2000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size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primes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int* __end</a:t>
            </a:r>
            <a:endParaRPr lang="en-US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(; 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__begin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__end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__begin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2000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prime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*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__begin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               </a:t>
            </a:r>
            <a:r>
              <a:rPr lang="en-US" sz="2000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int prime</a:t>
            </a:r>
            <a:endParaRPr lang="en-US" sz="20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{</a:t>
            </a: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std::</a:t>
            </a:r>
            <a:r>
              <a:rPr lang="en-US" sz="2000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2000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prime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sz="20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2000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r>
              <a:rPr lang="en-US" sz="2000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DE005E-36A1-6F62-53DA-E69568D831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98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899729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1255C3B-AB69-68BE-5062-2BC07D03F4FC}"/>
              </a:ext>
            </a:extLst>
          </p:cNvPr>
          <p:cNvSpPr txBox="1"/>
          <p:nvPr/>
        </p:nvSpPr>
        <p:spPr>
          <a:xfrm>
            <a:off x="335360" y="332656"/>
            <a:ext cx="11280576" cy="175432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hello world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isEven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isEven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toupper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)));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isEven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!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isEven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E06F55-9906-9437-C4F2-C2BFD25D8325}"/>
              </a:ext>
            </a:extLst>
          </p:cNvPr>
          <p:cNvSpPr txBox="1"/>
          <p:nvPr/>
        </p:nvSpPr>
        <p:spPr>
          <a:xfrm>
            <a:off x="336749" y="2532884"/>
            <a:ext cx="11279187" cy="397031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defTabSz="354013"/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defTabSz="354013"/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isEven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false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defTabSz="354013"/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&amp;&amp;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__range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text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            // std::string&amp; __range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defTabSz="354013"/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__begin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begin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    // std::string::iterator __begin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defTabSz="354013"/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range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   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  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std::string::iterator __end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defTabSz="354013"/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__begin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!=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++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__begin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 defTabSz="354013"/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*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__begin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             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char&amp;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ch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 defTabSz="354013"/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 defTabSz="354013"/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isEven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 defTabSz="354013"/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toupper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static_cast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unsigned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char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)));</a:t>
            </a:r>
          </a:p>
          <a:p>
            <a:pPr defTabSz="354013"/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isEven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!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isEven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 defTabSz="354013"/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defTabSz="354013"/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 defTabSz="354013"/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34BCDFE-D981-51FF-6DED-E026E2869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99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74655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FA42E22-B030-470B-915D-BED4E97E1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Алгоритмы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EA12-DD58-4CB6-B32C-6D02DBE226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DA4C38F-E8FF-B376-5AF9-FF584C02CB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100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0928752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ru-RU" dirty="0"/>
              <a:t>Алгоритмы стандартной библиотеки</a:t>
            </a:r>
          </a:p>
        </p:txBody>
      </p:sp>
      <p:sp>
        <p:nvSpPr>
          <p:cNvPr id="39939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Обобщённые функции для обработки последовательностей</a:t>
            </a:r>
          </a:p>
          <a:p>
            <a:pPr lvl="1"/>
            <a:r>
              <a:rPr lang="ru-RU" dirty="0"/>
              <a:t>сортировка (</a:t>
            </a:r>
            <a:r>
              <a:rPr lang="en-US" dirty="0"/>
              <a:t>sort)</a:t>
            </a:r>
          </a:p>
          <a:p>
            <a:pPr lvl="1"/>
            <a:r>
              <a:rPr lang="ru-RU" dirty="0"/>
              <a:t>поиск (</a:t>
            </a:r>
            <a:r>
              <a:rPr lang="en-US" dirty="0"/>
              <a:t>find, </a:t>
            </a:r>
            <a:r>
              <a:rPr lang="en-US" dirty="0" err="1"/>
              <a:t>find_if</a:t>
            </a:r>
            <a:r>
              <a:rPr lang="en-US" dirty="0"/>
              <a:t>)</a:t>
            </a:r>
          </a:p>
          <a:p>
            <a:pPr lvl="1"/>
            <a:r>
              <a:rPr lang="ru-RU" dirty="0"/>
              <a:t>копирование (</a:t>
            </a:r>
            <a:r>
              <a:rPr lang="en-US" dirty="0"/>
              <a:t>copy)</a:t>
            </a:r>
          </a:p>
          <a:p>
            <a:pPr lvl="1"/>
            <a:r>
              <a:rPr lang="ru-RU" dirty="0"/>
              <a:t>проверка условий (</a:t>
            </a:r>
            <a:r>
              <a:rPr lang="en-US" dirty="0" err="1"/>
              <a:t>any_of</a:t>
            </a:r>
            <a:r>
              <a:rPr lang="en-US" dirty="0"/>
              <a:t>, </a:t>
            </a:r>
            <a:r>
              <a:rPr lang="en-US" dirty="0" err="1"/>
              <a:t>all_of</a:t>
            </a:r>
            <a:r>
              <a:rPr lang="en-US" dirty="0"/>
              <a:t>)</a:t>
            </a:r>
          </a:p>
          <a:p>
            <a:pPr lvl="1"/>
            <a:r>
              <a:rPr lang="ru-RU" dirty="0"/>
              <a:t>преобразование (</a:t>
            </a:r>
            <a:r>
              <a:rPr lang="en-US" dirty="0"/>
              <a:t>transform)</a:t>
            </a:r>
          </a:p>
          <a:p>
            <a:pPr lvl="1"/>
            <a:r>
              <a:rPr lang="ru-RU" dirty="0"/>
              <a:t>перемешивание (</a:t>
            </a:r>
            <a:r>
              <a:rPr lang="en-US" dirty="0"/>
              <a:t>shuffle)</a:t>
            </a:r>
            <a:endParaRPr lang="ru-RU" dirty="0"/>
          </a:p>
          <a:p>
            <a:r>
              <a:rPr lang="ru-RU" dirty="0"/>
              <a:t>Алгоритмы работают </a:t>
            </a:r>
            <a:r>
              <a:rPr lang="ru-RU" b="1" dirty="0"/>
              <a:t>не с контейнерами</a:t>
            </a:r>
            <a:r>
              <a:rPr lang="ru-RU" dirty="0"/>
              <a:t>, а с </a:t>
            </a:r>
            <a:r>
              <a:rPr lang="ru-RU" b="1" dirty="0"/>
              <a:t>итераторами</a:t>
            </a:r>
            <a:r>
              <a:rPr lang="ru-RU" dirty="0"/>
              <a:t>.</a:t>
            </a:r>
          </a:p>
          <a:p>
            <a:pPr lvl="1"/>
            <a:r>
              <a:rPr lang="ru-RU" dirty="0"/>
              <a:t>Диапазон элементов: [</a:t>
            </a:r>
            <a:r>
              <a:rPr lang="ru-RU" dirty="0" err="1"/>
              <a:t>first</a:t>
            </a:r>
            <a:r>
              <a:rPr lang="ru-RU" dirty="0"/>
              <a:t>, </a:t>
            </a:r>
            <a:r>
              <a:rPr lang="ru-RU" dirty="0" err="1"/>
              <a:t>last</a:t>
            </a:r>
            <a:r>
              <a:rPr lang="ru-RU" dirty="0"/>
              <a:t>)</a:t>
            </a:r>
          </a:p>
          <a:p>
            <a:r>
              <a:rPr lang="ru-RU" dirty="0"/>
              <a:t>Основной заголовочный файл: </a:t>
            </a:r>
            <a:r>
              <a:rPr lang="en-US" dirty="0"/>
              <a:t>&lt;algorithm&gt;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7133B0F-A77E-2C37-3A5E-B166D94F89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101</a:t>
            </a:fld>
            <a:endParaRPr lang="ru-RU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237874668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5D3AC0-5706-DDFC-6F15-36E6F8F3E8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Копирование из контейнера в </a:t>
            </a:r>
            <a:r>
              <a:rPr lang="en-US" dirty="0" err="1"/>
              <a:t>stdout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0E236B-ACF9-5121-FF16-15D6C8D2A7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102</a:t>
            </a:fld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8C1FDC-6D13-EE16-062B-854BA8360B86}"/>
              </a:ext>
            </a:extLst>
          </p:cNvPr>
          <p:cNvSpPr txBox="1"/>
          <p:nvPr/>
        </p:nvSpPr>
        <p:spPr>
          <a:xfrm>
            <a:off x="17980" y="1779687"/>
            <a:ext cx="1219200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algorithm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iostream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iterator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std::vector&lt;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numbers{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std::copy(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numbers.cbegin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numbers.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ostream_iterator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", 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);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std::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"\n"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std::copy(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numbers.crbegin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(),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numbers.crend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(), std::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ostream_iterator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&gt;(std::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",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    std::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&lt;&lt;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"\n"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CDB004-BBFD-7BB1-E853-C1CE5F94A3E5}"/>
              </a:ext>
            </a:extLst>
          </p:cNvPr>
          <p:cNvSpPr txBox="1"/>
          <p:nvPr/>
        </p:nvSpPr>
        <p:spPr>
          <a:xfrm>
            <a:off x="8145996" y="3284984"/>
            <a:ext cx="3672408" cy="646331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1, 2, 3,</a:t>
            </a:r>
          </a:p>
          <a:p>
            <a:r>
              <a:rPr lang="en-US" dirty="0">
                <a:latin typeface="Consolas" panose="020B0609020204030204" pitchFamily="49" charset="0"/>
              </a:rPr>
              <a:t>3, 2, 1,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3DAC217-8AD2-766D-71B2-27E44DC24E87}"/>
              </a:ext>
            </a:extLst>
          </p:cNvPr>
          <p:cNvSpPr txBox="1"/>
          <p:nvPr/>
        </p:nvSpPr>
        <p:spPr>
          <a:xfrm>
            <a:off x="3864034" y="6308209"/>
            <a:ext cx="61181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https://godbolt.org/z/Gzs9159Tj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81305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82B62B-CEF7-7B29-0B42-0BD4688F2A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F7DBE68-DCAA-EA5E-B6F2-E640228C28C7}"/>
              </a:ext>
            </a:extLst>
          </p:cNvPr>
          <p:cNvSpPr txBox="1"/>
          <p:nvPr/>
        </p:nvSpPr>
        <p:spPr>
          <a:xfrm>
            <a:off x="373596" y="2564904"/>
            <a:ext cx="11818404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std::vector&lt;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numbers{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std::deque&lt;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d;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std::copy(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numbers.begin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numbers.end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back_inserter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(d));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std::copy(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d.begin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d.end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front_inserter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(d));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std::copy(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d.begin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d.end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ostream_iterator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", 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0DA621E-0B54-2BFC-371F-B4F0EB8F60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Копирование из контейнера в </a:t>
            </a:r>
            <a:r>
              <a:rPr lang="en-US" dirty="0" err="1"/>
              <a:t>stdout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5BD7E0-092C-7D78-178F-19C51A0674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103</a:t>
            </a:fld>
            <a:endParaRPr lang="ru-R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51E624-BFDB-ADD9-67FF-5489ABA8EC76}"/>
              </a:ext>
            </a:extLst>
          </p:cNvPr>
          <p:cNvSpPr txBox="1"/>
          <p:nvPr/>
        </p:nvSpPr>
        <p:spPr>
          <a:xfrm>
            <a:off x="8145996" y="3284984"/>
            <a:ext cx="3672408" cy="369332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3, 2, 1, 1, 2, 3,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0534188-8768-F61A-D976-A9E36C9DE01D}"/>
              </a:ext>
            </a:extLst>
          </p:cNvPr>
          <p:cNvSpPr txBox="1"/>
          <p:nvPr/>
        </p:nvSpPr>
        <p:spPr>
          <a:xfrm>
            <a:off x="3864034" y="6308209"/>
            <a:ext cx="61181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https://godbolt.org/z/fjardsE1T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97543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dirty="0"/>
              <a:t>Сортировка</a:t>
            </a:r>
            <a:r>
              <a:rPr lang="en-US" dirty="0"/>
              <a:t> </a:t>
            </a:r>
            <a:r>
              <a:rPr lang="ru-RU" dirty="0"/>
              <a:t>вектора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130733D-8CBD-57B4-0AAE-CCE87DAA5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104</a:t>
            </a:fld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F56E36-BEF8-8E39-7988-CCA2EE8F1816}"/>
              </a:ext>
            </a:extLst>
          </p:cNvPr>
          <p:cNvSpPr txBox="1"/>
          <p:nvPr/>
        </p:nvSpPr>
        <p:spPr>
          <a:xfrm>
            <a:off x="191344" y="2453858"/>
            <a:ext cx="1173730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std::vector&lt;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numbers = {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9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std::sort(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numbers.begin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numbers.end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std::copy(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numbers.begin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numbers.end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ostream_iterator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", 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319B7E-4335-68EE-E9AC-62A166E4B41F}"/>
              </a:ext>
            </a:extLst>
          </p:cNvPr>
          <p:cNvSpPr txBox="1"/>
          <p:nvPr/>
        </p:nvSpPr>
        <p:spPr>
          <a:xfrm>
            <a:off x="191344" y="5022569"/>
            <a:ext cx="3528392" cy="37580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/>
              <a:t>1, 3, 5, 7, 9, 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B07D8BF-7132-B07B-9B6A-92FCFC3520D2}"/>
              </a:ext>
            </a:extLst>
          </p:cNvPr>
          <p:cNvSpPr txBox="1"/>
          <p:nvPr/>
        </p:nvSpPr>
        <p:spPr>
          <a:xfrm>
            <a:off x="4583832" y="616310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https://godbolt.org/z/nYMfx1r6n</a:t>
            </a:r>
            <a:endParaRPr lang="en-US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507657161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9CE58E-575A-BFFB-247B-C9B407C7A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Сортировка с компаратором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D716853-BCB0-96CD-C5BB-7BCA877F6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105</a:t>
            </a:fld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88569D1-47A8-6A18-311B-1AC9C274F196}"/>
              </a:ext>
            </a:extLst>
          </p:cNvPr>
          <p:cNvSpPr txBox="1"/>
          <p:nvPr/>
        </p:nvSpPr>
        <p:spPr>
          <a:xfrm>
            <a:off x="263352" y="2348880"/>
            <a:ext cx="11665296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std::vector&lt;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numbers = {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9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std::sort(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numbers.begin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numbers.end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std::greater&lt;&gt;());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std::copy(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numbers.begin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numbers.end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ostream_iterator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", 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DC650DE-5EF7-58CC-B36E-C77F270ED2C4}"/>
              </a:ext>
            </a:extLst>
          </p:cNvPr>
          <p:cNvSpPr txBox="1"/>
          <p:nvPr/>
        </p:nvSpPr>
        <p:spPr>
          <a:xfrm>
            <a:off x="294184" y="5137445"/>
            <a:ext cx="6096000" cy="36933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/>
              <a:t>9, 7, 5, 3, 1, 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E351BA-F183-D4FC-9652-A6E9FBC38F0D}"/>
              </a:ext>
            </a:extLst>
          </p:cNvPr>
          <p:cNvSpPr txBox="1"/>
          <p:nvPr/>
        </p:nvSpPr>
        <p:spPr>
          <a:xfrm>
            <a:off x="4367808" y="609801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https://godbolt.org/z/Wb9jj9zYK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3654120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FC09F8-C3E7-FD21-C9FA-035B29EC8E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Сортировка с лямбдой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CC1DC8D-44B7-9341-A309-AE9ED09CF6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106</a:t>
            </a:fld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AF26AF-257D-DE6F-8FA8-314DC9E54C4B}"/>
              </a:ext>
            </a:extLst>
          </p:cNvPr>
          <p:cNvSpPr txBox="1"/>
          <p:nvPr/>
        </p:nvSpPr>
        <p:spPr>
          <a:xfrm>
            <a:off x="191344" y="2132856"/>
            <a:ext cx="12000656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std::vector&lt;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numbers = {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9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std::sort(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numbers.begin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numbers.end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[](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a,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b) {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Возвращаем 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true, </a:t>
            </a:r>
            <a:r>
              <a:rPr lang="ru-RU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если элементы упорядочены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a &gt; b;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});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std::copy(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numbers.begin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numbers.end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ostream_iterator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", 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D8A28E4-D046-EA93-6D06-62B055B1EF2D}"/>
              </a:ext>
            </a:extLst>
          </p:cNvPr>
          <p:cNvSpPr txBox="1"/>
          <p:nvPr/>
        </p:nvSpPr>
        <p:spPr>
          <a:xfrm>
            <a:off x="191344" y="5653762"/>
            <a:ext cx="6096000" cy="36933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/>
              <a:t>9, 7, 5, 3, 1,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1846709-A16C-7C50-DD59-EA757E2A9A89}"/>
              </a:ext>
            </a:extLst>
          </p:cNvPr>
          <p:cNvSpPr txBox="1"/>
          <p:nvPr/>
        </p:nvSpPr>
        <p:spPr>
          <a:xfrm>
            <a:off x="3719736" y="6308209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2"/>
              </a:rPr>
              <a:t>https://godbolt.org/z/T8c7Ee1q7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5222842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E6085A4-A8FA-4607-9153-926DCFB5A9D4}"/>
              </a:ext>
            </a:extLst>
          </p:cNvPr>
          <p:cNvSpPr/>
          <p:nvPr/>
        </p:nvSpPr>
        <p:spPr>
          <a:xfrm>
            <a:off x="0" y="1673939"/>
            <a:ext cx="12192000" cy="504753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>
                <a:solidFill>
                  <a:srgbClr val="267F99"/>
                </a:solidFill>
                <a:latin typeface="Consolas" panose="020B0609020204030204" pitchFamily="49" charset="0"/>
              </a:rPr>
              <a:t>Student 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4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400" dirty="0" err="1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 err="1">
                <a:solidFill>
                  <a:srgbClr val="001080"/>
                </a:solidFill>
                <a:latin typeface="Consolas" panose="020B0609020204030204" pitchFamily="49" charset="0"/>
              </a:rPr>
              <a:t>name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 err="1">
                <a:solidFill>
                  <a:srgbClr val="001080"/>
                </a:solidFill>
                <a:latin typeface="Consolas" panose="020B0609020204030204" pitchFamily="49" charset="0"/>
              </a:rPr>
              <a:t>age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b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bool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 err="1">
                <a:solidFill>
                  <a:srgbClr val="795E26"/>
                </a:solidFill>
                <a:latin typeface="Consolas" panose="020B0609020204030204" pitchFamily="49" charset="0"/>
              </a:rPr>
              <a:t>CompareStudentsByAge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400" dirty="0">
                <a:solidFill>
                  <a:srgbClr val="267F99"/>
                </a:solidFill>
                <a:latin typeface="Consolas" panose="020B0609020204030204" pitchFamily="49" charset="0"/>
              </a:rPr>
              <a:t>Student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sz="1400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>
                <a:solidFill>
                  <a:srgbClr val="001080"/>
                </a:solidFill>
                <a:latin typeface="Consolas" panose="020B0609020204030204" pitchFamily="49" charset="0"/>
              </a:rPr>
              <a:t>s1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400" dirty="0">
                <a:solidFill>
                  <a:srgbClr val="267F99"/>
                </a:solidFill>
                <a:latin typeface="Consolas" panose="020B0609020204030204" pitchFamily="49" charset="0"/>
              </a:rPr>
              <a:t>Student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sz="1400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>
                <a:solidFill>
                  <a:srgbClr val="001080"/>
                </a:solidFill>
                <a:latin typeface="Consolas" panose="020B0609020204030204" pitchFamily="49" charset="0"/>
              </a:rPr>
              <a:t>s2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400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>
                <a:solidFill>
                  <a:srgbClr val="001080"/>
                </a:solidFill>
                <a:latin typeface="Consolas" panose="020B0609020204030204" pitchFamily="49" charset="0"/>
              </a:rPr>
              <a:t>s1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sz="1400" dirty="0">
                <a:solidFill>
                  <a:srgbClr val="001080"/>
                </a:solidFill>
                <a:latin typeface="Consolas" panose="020B0609020204030204" pitchFamily="49" charset="0"/>
              </a:rPr>
              <a:t>age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>
                <a:solidFill>
                  <a:srgbClr val="001080"/>
                </a:solidFill>
                <a:latin typeface="Consolas" panose="020B0609020204030204" pitchFamily="49" charset="0"/>
              </a:rPr>
              <a:t>s2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sz="1400" dirty="0">
                <a:solidFill>
                  <a:srgbClr val="001080"/>
                </a:solidFill>
                <a:latin typeface="Consolas" panose="020B0609020204030204" pitchFamily="49" charset="0"/>
              </a:rPr>
              <a:t>age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  <a:p>
            <a:b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() {</a:t>
            </a:r>
          </a:p>
          <a:p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400" dirty="0">
                <a:solidFill>
                  <a:srgbClr val="267F99"/>
                </a:solidFill>
                <a:latin typeface="Consolas" panose="020B0609020204030204" pitchFamily="49" charset="0"/>
              </a:rPr>
              <a:t>Student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 err="1">
                <a:solidFill>
                  <a:srgbClr val="001080"/>
                </a:solidFill>
                <a:latin typeface="Consolas" panose="020B0609020204030204" pitchFamily="49" charset="0"/>
              </a:rPr>
              <a:t>students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[] 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{ </a:t>
            </a:r>
            <a:r>
              <a:rPr lang="de-DE" sz="1400" dirty="0">
                <a:solidFill>
                  <a:srgbClr val="A31515"/>
                </a:solidFill>
                <a:latin typeface="Consolas" panose="020B0609020204030204" pitchFamily="49" charset="0"/>
              </a:rPr>
              <a:t>"Ivan"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400" dirty="0">
                <a:solidFill>
                  <a:srgbClr val="098658"/>
                </a:solidFill>
                <a:latin typeface="Consolas" panose="020B0609020204030204" pitchFamily="49" charset="0"/>
              </a:rPr>
              <a:t>20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{ </a:t>
            </a:r>
            <a:r>
              <a:rPr lang="de-DE" sz="1400" dirty="0">
                <a:solidFill>
                  <a:srgbClr val="A31515"/>
                </a:solidFill>
                <a:latin typeface="Consolas" panose="020B0609020204030204" pitchFamily="49" charset="0"/>
              </a:rPr>
              <a:t>"Alexey"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400" dirty="0">
                <a:solidFill>
                  <a:srgbClr val="098658"/>
                </a:solidFill>
                <a:latin typeface="Consolas" panose="020B0609020204030204" pitchFamily="49" charset="0"/>
              </a:rPr>
              <a:t>21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{ </a:t>
            </a:r>
            <a:r>
              <a:rPr lang="de-DE" sz="1400" dirty="0">
                <a:solidFill>
                  <a:srgbClr val="A31515"/>
                </a:solidFill>
                <a:latin typeface="Consolas" panose="020B0609020204030204" pitchFamily="49" charset="0"/>
              </a:rPr>
              <a:t>"Sergey"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400" dirty="0">
                <a:solidFill>
                  <a:srgbClr val="098658"/>
                </a:solidFill>
                <a:latin typeface="Consolas" panose="020B0609020204030204" pitchFamily="49" charset="0"/>
              </a:rPr>
              <a:t>19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    };</a:t>
            </a:r>
          </a:p>
          <a:p>
            <a:b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4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400" dirty="0" err="1">
                <a:solidFill>
                  <a:srgbClr val="795E26"/>
                </a:solidFill>
                <a:latin typeface="Consolas" panose="020B0609020204030204" pitchFamily="49" charset="0"/>
              </a:rPr>
              <a:t>sort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4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400" dirty="0" err="1">
                <a:solidFill>
                  <a:srgbClr val="795E26"/>
                </a:solidFill>
                <a:latin typeface="Consolas" panose="020B0609020204030204" pitchFamily="49" charset="0"/>
              </a:rPr>
              <a:t>begin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400" dirty="0" err="1">
                <a:solidFill>
                  <a:srgbClr val="001080"/>
                </a:solidFill>
                <a:latin typeface="Consolas" panose="020B0609020204030204" pitchFamily="49" charset="0"/>
              </a:rPr>
              <a:t>students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), </a:t>
            </a:r>
            <a:r>
              <a:rPr lang="de-DE" sz="14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400" dirty="0">
                <a:solidFill>
                  <a:srgbClr val="795E26"/>
                </a:solidFill>
                <a:latin typeface="Consolas" panose="020B0609020204030204" pitchFamily="49" charset="0"/>
              </a:rPr>
              <a:t>end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400" dirty="0" err="1">
                <a:solidFill>
                  <a:srgbClr val="001080"/>
                </a:solidFill>
                <a:latin typeface="Consolas" panose="020B0609020204030204" pitchFamily="49" charset="0"/>
              </a:rPr>
              <a:t>students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),</a:t>
            </a:r>
          </a:p>
          <a:p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[](</a:t>
            </a:r>
            <a:r>
              <a:rPr lang="de-DE" sz="1400" dirty="0">
                <a:solidFill>
                  <a:srgbClr val="267F99"/>
                </a:solidFill>
                <a:latin typeface="Consolas" panose="020B0609020204030204" pitchFamily="49" charset="0"/>
              </a:rPr>
              <a:t>Student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sz="1400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>
                <a:solidFill>
                  <a:srgbClr val="001080"/>
                </a:solidFill>
                <a:latin typeface="Consolas" panose="020B0609020204030204" pitchFamily="49" charset="0"/>
              </a:rPr>
              <a:t>s1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400" dirty="0">
                <a:solidFill>
                  <a:srgbClr val="267F99"/>
                </a:solidFill>
                <a:latin typeface="Consolas" panose="020B0609020204030204" pitchFamily="49" charset="0"/>
              </a:rPr>
              <a:t>Student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DE" sz="1400" dirty="0">
                <a:solidFill>
                  <a:srgbClr val="0000FF"/>
                </a:solidFill>
                <a:latin typeface="Consolas" panose="020B0609020204030204" pitchFamily="49" charset="0"/>
              </a:rPr>
              <a:t>&amp;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>
                <a:solidFill>
                  <a:srgbClr val="001080"/>
                </a:solidFill>
                <a:latin typeface="Consolas" panose="020B0609020204030204" pitchFamily="49" charset="0"/>
              </a:rPr>
              <a:t>s2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    </a:t>
            </a:r>
            <a:r>
              <a:rPr lang="de-DE" sz="1400" dirty="0" err="1">
                <a:solidFill>
                  <a:srgbClr val="AF00DB"/>
                </a:solidFill>
                <a:latin typeface="Consolas" panose="020B0609020204030204" pitchFamily="49" charset="0"/>
              </a:rPr>
              <a:t>return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>
                <a:solidFill>
                  <a:srgbClr val="001080"/>
                </a:solidFill>
                <a:latin typeface="Consolas" panose="020B0609020204030204" pitchFamily="49" charset="0"/>
              </a:rPr>
              <a:t>s1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sz="1400" dirty="0">
                <a:solidFill>
                  <a:srgbClr val="001080"/>
                </a:solidFill>
                <a:latin typeface="Consolas" panose="020B0609020204030204" pitchFamily="49" charset="0"/>
              </a:rPr>
              <a:t>name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>
                <a:solidFill>
                  <a:srgbClr val="795E26"/>
                </a:solidFill>
                <a:latin typeface="Consolas" panose="020B0609020204030204" pitchFamily="49" charset="0"/>
              </a:rPr>
              <a:t>&lt;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400" dirty="0">
                <a:solidFill>
                  <a:srgbClr val="001080"/>
                </a:solidFill>
                <a:latin typeface="Consolas" panose="020B0609020204030204" pitchFamily="49" charset="0"/>
              </a:rPr>
              <a:t>s2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.</a:t>
            </a:r>
            <a:r>
              <a:rPr lang="de-DE" sz="1400" dirty="0">
                <a:solidFill>
                  <a:srgbClr val="001080"/>
                </a:solidFill>
                <a:latin typeface="Consolas" panose="020B0609020204030204" pitchFamily="49" charset="0"/>
              </a:rPr>
              <a:t>name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});</a:t>
            </a:r>
            <a:r>
              <a:rPr lang="de-DE" sz="1400" dirty="0">
                <a:solidFill>
                  <a:srgbClr val="008000"/>
                </a:solidFill>
                <a:latin typeface="Consolas" panose="020B0609020204030204" pitchFamily="49" charset="0"/>
              </a:rPr>
              <a:t> // Alexey, Ivan Sergey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b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4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400" dirty="0" err="1">
                <a:solidFill>
                  <a:srgbClr val="795E26"/>
                </a:solidFill>
                <a:latin typeface="Consolas" panose="020B0609020204030204" pitchFamily="49" charset="0"/>
              </a:rPr>
              <a:t>sort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de-DE" sz="1400" dirty="0" err="1">
                <a:solidFill>
                  <a:srgbClr val="001080"/>
                </a:solidFill>
                <a:latin typeface="Consolas" panose="020B0609020204030204" pitchFamily="49" charset="0"/>
              </a:rPr>
              <a:t>students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[</a:t>
            </a:r>
            <a:r>
              <a:rPr lang="de-DE" sz="1400" dirty="0">
                <a:solidFill>
                  <a:srgbClr val="098658"/>
                </a:solidFill>
                <a:latin typeface="Consolas" panose="020B0609020204030204" pitchFamily="49" charset="0"/>
              </a:rPr>
              <a:t>0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], </a:t>
            </a:r>
            <a:r>
              <a:rPr lang="de-DE" sz="14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de-DE" sz="1400" dirty="0" err="1">
                <a:solidFill>
                  <a:srgbClr val="001080"/>
                </a:solidFill>
                <a:latin typeface="Consolas" panose="020B0609020204030204" pitchFamily="49" charset="0"/>
              </a:rPr>
              <a:t>students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[</a:t>
            </a:r>
            <a:r>
              <a:rPr lang="de-DE" sz="14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400" dirty="0" err="1">
                <a:solidFill>
                  <a:srgbClr val="795E26"/>
                </a:solidFill>
                <a:latin typeface="Consolas" panose="020B0609020204030204" pitchFamily="49" charset="0"/>
              </a:rPr>
              <a:t>size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400" dirty="0" err="1">
                <a:solidFill>
                  <a:srgbClr val="001080"/>
                </a:solidFill>
                <a:latin typeface="Consolas" panose="020B0609020204030204" pitchFamily="49" charset="0"/>
              </a:rPr>
              <a:t>students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)], </a:t>
            </a:r>
            <a:r>
              <a:rPr lang="de-DE" sz="1400" dirty="0" err="1">
                <a:solidFill>
                  <a:srgbClr val="795E26"/>
                </a:solidFill>
                <a:latin typeface="Consolas" panose="020B0609020204030204" pitchFamily="49" charset="0"/>
              </a:rPr>
              <a:t>CompareStudentsByAge</a:t>
            </a:r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  <a:r>
              <a:rPr lang="de-DE" sz="1400" dirty="0">
                <a:solidFill>
                  <a:srgbClr val="008000"/>
                </a:solidFill>
                <a:latin typeface="Consolas" panose="020B0609020204030204" pitchFamily="49" charset="0"/>
              </a:rPr>
              <a:t> // Sergey, Ivan, Alexey</a:t>
            </a:r>
            <a:endParaRPr lang="de-DE" sz="14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400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E289D0A-88E2-DA2E-B749-8B3970F411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Сортировка структур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9D8C4B-8052-2FD7-A584-5CD07B67B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107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191279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E0FF4C-5480-041B-07F0-6D389F6A88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Пример: поиск медианы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D67D9CF-F8DD-228A-F1C5-67E9EDC6D0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108</a:t>
            </a:fld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4E3393-CF89-CDF8-EFD0-A162CE251E80}"/>
              </a:ext>
            </a:extLst>
          </p:cNvPr>
          <p:cNvSpPr txBox="1"/>
          <p:nvPr/>
        </p:nvSpPr>
        <p:spPr>
          <a:xfrm>
            <a:off x="838200" y="2276872"/>
            <a:ext cx="10874424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std::vector&lt;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numbers{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9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mid 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numbers.begin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+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numbers.size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/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nth_element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numbers.begin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(), mid,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numbers.end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"Median = 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*mid &lt;&lt;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endl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5D90BE-CA1F-1C39-7C69-F86323E207EA}"/>
              </a:ext>
            </a:extLst>
          </p:cNvPr>
          <p:cNvSpPr txBox="1"/>
          <p:nvPr/>
        </p:nvSpPr>
        <p:spPr>
          <a:xfrm>
            <a:off x="838200" y="5424606"/>
            <a:ext cx="3817640" cy="36933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dirty="0"/>
              <a:t>Median = 5</a:t>
            </a:r>
          </a:p>
        </p:txBody>
      </p:sp>
    </p:spTree>
    <p:extLst>
      <p:ext uri="{BB962C8B-B14F-4D97-AF65-F5344CB8AC3E}">
        <p14:creationId xmlns:p14="http://schemas.microsoft.com/office/powerpoint/2010/main" val="217307826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838200" y="1690688"/>
            <a:ext cx="9845306" cy="5078313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#include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&lt;algorithm&gt;</a:t>
            </a:r>
            <a:endParaRPr lang="en-US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#include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</a:t>
            </a:r>
            <a:r>
              <a:rPr lang="en-US" dirty="0" err="1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iostream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&gt;</a:t>
            </a:r>
            <a:endParaRPr lang="en-US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#include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&lt;string&gt;</a:t>
            </a:r>
            <a:endParaRPr lang="ru-RU" dirty="0"/>
          </a:p>
          <a:p>
            <a:pPr defTabSz="363538"/>
            <a:endParaRPr lang="en-US" dirty="0">
              <a:solidFill>
                <a:srgbClr val="0000FF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SearchingForRabbit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()</a:t>
            </a:r>
          </a:p>
          <a:p>
            <a:pPr defTabSz="363538"/>
            <a:r>
              <a:rPr lang="ru-RU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</a:p>
          <a:p>
            <a:pPr defTabSz="363538"/>
            <a:r>
              <a:rPr lang="en-US" dirty="0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string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animals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[] = {</a:t>
            </a:r>
          </a:p>
          <a:p>
            <a:pPr defTabSz="363538"/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"fox"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"wolf"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"snake"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"turtle"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"bear"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"rabbit"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"hare"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};</a:t>
            </a:r>
          </a:p>
          <a:p>
            <a:pPr defTabSz="363538"/>
            <a:endParaRPr lang="ru-RU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if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(</a:t>
            </a:r>
            <a:r>
              <a:rPr lang="en-US" dirty="0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find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begin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animals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), </a:t>
            </a:r>
            <a:r>
              <a:rPr lang="en-US" dirty="0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end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animals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),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"rabbit"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 != </a:t>
            </a:r>
            <a:r>
              <a:rPr lang="en-US" dirty="0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end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animals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))</a:t>
            </a:r>
          </a:p>
          <a:p>
            <a:pPr defTabSz="363538"/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ru-RU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</a:p>
          <a:p>
            <a:pPr defTabSz="363538"/>
            <a:r>
              <a:rPr lang="en-US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	</a:t>
            </a:r>
            <a:r>
              <a:rPr lang="en-US" dirty="0" err="1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&lt;&lt;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"There is a rabbit among the animals"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&lt;&lt; </a:t>
            </a:r>
            <a:r>
              <a:rPr lang="en-US" dirty="0" err="1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endl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defTabSz="363538"/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ru-RU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  <a:p>
            <a:pPr defTabSz="363538"/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else</a:t>
            </a:r>
            <a:endParaRPr lang="en-US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ru-RU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</a:p>
          <a:p>
            <a:pPr defTabSz="363538"/>
            <a:r>
              <a:rPr lang="en-US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	</a:t>
            </a:r>
            <a:r>
              <a:rPr lang="en-US" dirty="0" err="1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&lt;&lt;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"There are no rabbits"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&lt;&lt; </a:t>
            </a:r>
            <a:r>
              <a:rPr lang="en-US" dirty="0" err="1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endl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defTabSz="363538"/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ru-RU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  <a:p>
            <a:pPr defTabSz="363538"/>
            <a:r>
              <a:rPr lang="ru-RU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  <a:endParaRPr lang="ru-RU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C890DA2-ECFA-8D39-485B-3FC8CE01E8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Поиск элемента в массиве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7D5B78E-B143-2DFE-9123-B5F266B1FA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109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88053186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1703512" y="404665"/>
            <a:ext cx="8820472" cy="618630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defTabSz="363538"/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#include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</a:t>
            </a:r>
            <a:r>
              <a:rPr lang="en-US" dirty="0" err="1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iostream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&gt;</a:t>
            </a:r>
            <a:endParaRPr lang="en-US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#include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&lt;vector&gt;</a:t>
            </a:r>
            <a:endParaRPr lang="en-US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#include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&lt;functional&gt;</a:t>
            </a:r>
            <a:endParaRPr lang="en-US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endParaRPr lang="ru-RU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using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namespace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std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defTabSz="363538"/>
            <a:endParaRPr lang="ru-RU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dirty="0" err="1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bool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IsEven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value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</a:t>
            </a:r>
          </a:p>
          <a:p>
            <a:pPr defTabSz="363538"/>
            <a:r>
              <a:rPr lang="ru-RU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</a:p>
          <a:p>
            <a:pPr defTabSz="363538"/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return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(</a:t>
            </a:r>
            <a:r>
              <a:rPr lang="en-US" dirty="0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value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% 2) == 0;</a:t>
            </a:r>
          </a:p>
          <a:p>
            <a:pPr defTabSz="363538"/>
            <a:r>
              <a:rPr lang="ru-RU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  <a:p>
            <a:pPr defTabSz="363538"/>
            <a:endParaRPr lang="ru-RU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void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FindFirstEvenValueInArray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()</a:t>
            </a:r>
          </a:p>
          <a:p>
            <a:pPr defTabSz="363538"/>
            <a:r>
              <a:rPr lang="ru-RU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</a:p>
          <a:p>
            <a:pPr defTabSz="363538"/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en-US" dirty="0" err="1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numbers[] = { 1, 3, 9, 10, 17, 12, 21 };</a:t>
            </a:r>
          </a:p>
          <a:p>
            <a:pPr defTabSz="363538"/>
            <a:endParaRPr lang="ru-RU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auto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it = </a:t>
            </a:r>
            <a:r>
              <a:rPr lang="en-US" dirty="0" err="1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find_if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cbegin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(numbers), </a:t>
            </a:r>
            <a:r>
              <a:rPr lang="en-US" dirty="0" err="1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cend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(numbers), </a:t>
            </a:r>
            <a:r>
              <a:rPr lang="en-US" dirty="0" err="1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IsEven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);</a:t>
            </a:r>
          </a:p>
          <a:p>
            <a:pPr defTabSz="363538"/>
            <a:endParaRPr lang="ru-RU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if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(it != </a:t>
            </a:r>
            <a:r>
              <a:rPr lang="en-US" dirty="0" err="1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cend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(numbers))</a:t>
            </a:r>
          </a:p>
          <a:p>
            <a:pPr defTabSz="363538"/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ru-RU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</a:p>
          <a:p>
            <a:pPr defTabSz="363538"/>
            <a:r>
              <a:rPr lang="en-US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	</a:t>
            </a:r>
            <a:r>
              <a:rPr lang="en-US" dirty="0" err="1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&lt;&lt; </a:t>
            </a:r>
            <a:r>
              <a:rPr lang="en-US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"First even number in array is "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&lt;&lt; *it &lt;&lt; </a:t>
            </a:r>
            <a:r>
              <a:rPr lang="en-US" dirty="0" err="1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endl</a:t>
            </a:r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defTabSz="363538"/>
            <a:r>
              <a:rPr lang="en-US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ru-RU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  <a:p>
            <a:pPr defTabSz="363538"/>
            <a:r>
              <a:rPr lang="ru-RU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07E170-9E9F-4C79-D78B-7AE2C5EFF5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37173998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839416" y="188641"/>
            <a:ext cx="9684568" cy="6555641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defTabSz="363538"/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#include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&lt;algorithm&gt;</a:t>
            </a:r>
            <a:endParaRPr lang="en-US" sz="1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#include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</a:t>
            </a:r>
            <a:r>
              <a:rPr lang="en-US" sz="1400" dirty="0" err="1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iostream</a:t>
            </a:r>
            <a:r>
              <a:rPr lang="en-US" sz="14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&gt;</a:t>
            </a:r>
            <a:endParaRPr lang="en-US" sz="1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#include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&lt;string&gt;</a:t>
            </a:r>
            <a:endParaRPr lang="en-US" sz="1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endParaRPr lang="ru-RU" sz="1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using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namespace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std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defTabSz="363538"/>
            <a:endParaRPr lang="ru-RU" sz="1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sz="1400" dirty="0" err="1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struct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Person</a:t>
            </a:r>
            <a:endParaRPr lang="en-US" sz="1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ru-RU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</a:p>
          <a:p>
            <a:pPr defTabSz="363538"/>
            <a:r>
              <a:rPr lang="en-US" sz="1400" dirty="0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string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name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defTabSz="363538"/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en-US" sz="1400" dirty="0" err="1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int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age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defTabSz="363538"/>
            <a:r>
              <a:rPr lang="ru-RU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};</a:t>
            </a:r>
          </a:p>
          <a:p>
            <a:pPr defTabSz="363538"/>
            <a:endParaRPr lang="ru-RU" sz="1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void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TestWhetherThereIsAtLeastOneAdult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()</a:t>
            </a:r>
          </a:p>
          <a:p>
            <a:pPr defTabSz="363538"/>
            <a:r>
              <a:rPr lang="ru-RU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</a:p>
          <a:p>
            <a:pPr defTabSz="363538"/>
            <a:r>
              <a:rPr lang="en-US" sz="1400" dirty="0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Person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400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people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[] = { </a:t>
            </a:r>
          </a:p>
          <a:p>
            <a:pPr defTabSz="363538"/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	{ </a:t>
            </a:r>
            <a:r>
              <a:rPr lang="en-US" sz="14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"Ivan"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, 4 }, { </a:t>
            </a:r>
            <a:r>
              <a:rPr lang="en-US" sz="14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"Sergey"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, 16 }, { </a:t>
            </a:r>
            <a:r>
              <a:rPr lang="en-US" sz="14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</a:t>
            </a:r>
            <a:r>
              <a:rPr lang="en-US" sz="1400" dirty="0" err="1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Stepan</a:t>
            </a:r>
            <a:r>
              <a:rPr lang="en-US" sz="14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Anatolievich</a:t>
            </a:r>
            <a:r>
              <a:rPr lang="en-US" sz="14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, 65 }, </a:t>
            </a:r>
          </a:p>
          <a:p>
            <a:pPr defTabSz="363538"/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	{ </a:t>
            </a:r>
            <a:r>
              <a:rPr lang="en-US" sz="14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"Maria </a:t>
            </a:r>
            <a:r>
              <a:rPr lang="en-US" sz="1400" dirty="0" err="1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Semenovna</a:t>
            </a:r>
            <a:r>
              <a:rPr lang="en-US" sz="14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, 36 }, { </a:t>
            </a:r>
            <a:r>
              <a:rPr lang="en-US" sz="14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</a:t>
            </a:r>
            <a:r>
              <a:rPr lang="en-US" sz="1400" dirty="0" err="1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Egor</a:t>
            </a:r>
            <a:r>
              <a:rPr lang="en-US" sz="14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, 13 } </a:t>
            </a:r>
          </a:p>
          <a:p>
            <a:pPr defTabSz="363538"/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ru-RU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};</a:t>
            </a:r>
          </a:p>
          <a:p>
            <a:pPr defTabSz="363538"/>
            <a:endParaRPr lang="ru-RU" sz="1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if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(</a:t>
            </a:r>
            <a:r>
              <a:rPr lang="en-US" sz="1400" dirty="0" err="1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any_of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begin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people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), </a:t>
            </a:r>
            <a:r>
              <a:rPr lang="en-US" sz="1400" dirty="0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end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(</a:t>
            </a:r>
            <a:r>
              <a:rPr lang="en-US" sz="1400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people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), [](</a:t>
            </a:r>
            <a:r>
              <a:rPr lang="en-US" sz="1400" dirty="0">
                <a:solidFill>
                  <a:srgbClr val="216F8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Person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const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&amp; </a:t>
            </a:r>
            <a:r>
              <a:rPr lang="en-US" sz="1400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person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){</a:t>
            </a:r>
          </a:p>
          <a:p>
            <a:pPr defTabSz="363538"/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	return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</a:t>
            </a:r>
            <a:r>
              <a:rPr lang="en-US" sz="1400" dirty="0" err="1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person</a:t>
            </a:r>
            <a:r>
              <a:rPr lang="en-US" sz="1400" dirty="0" err="1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.</a:t>
            </a:r>
            <a:r>
              <a:rPr lang="en-US" sz="1400" dirty="0" err="1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age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&gt;= 18;</a:t>
            </a:r>
          </a:p>
          <a:p>
            <a:pPr defTabSz="363538"/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ru-RU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}))</a:t>
            </a:r>
          </a:p>
          <a:p>
            <a:pPr defTabSz="363538"/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ru-RU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</a:p>
          <a:p>
            <a:pPr defTabSz="363538"/>
            <a:r>
              <a:rPr lang="en-US" sz="1400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	</a:t>
            </a:r>
            <a:r>
              <a:rPr lang="en-US" sz="1400" dirty="0" err="1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&lt;&lt; </a:t>
            </a:r>
            <a:r>
              <a:rPr lang="en-US" sz="14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"At least one person is an adult"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&lt;&lt; </a:t>
            </a:r>
            <a:r>
              <a:rPr lang="en-US" sz="1400" dirty="0" err="1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endl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defTabSz="363538"/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ru-RU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  <a:p>
            <a:pPr defTabSz="363538"/>
            <a:r>
              <a:rPr lang="en-US" sz="1400" dirty="0">
                <a:solidFill>
                  <a:srgbClr val="0000FF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else</a:t>
            </a:r>
            <a:endParaRPr lang="en-US" sz="1400" dirty="0">
              <a:solidFill>
                <a:srgbClr val="000000"/>
              </a:solidFill>
              <a:highlight>
                <a:srgbClr val="FFFFFF"/>
              </a:highlight>
              <a:latin typeface="Consolas" panose="020B0609020204030204" pitchFamily="49" charset="0"/>
            </a:endParaRPr>
          </a:p>
          <a:p>
            <a:pPr defTabSz="363538"/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ru-RU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{</a:t>
            </a:r>
          </a:p>
          <a:p>
            <a:pPr defTabSz="363538"/>
            <a:r>
              <a:rPr lang="en-US" sz="1400" dirty="0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	</a:t>
            </a:r>
            <a:r>
              <a:rPr lang="en-US" sz="1400" dirty="0" err="1">
                <a:solidFill>
                  <a:srgbClr val="00008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cout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&lt;&lt; </a:t>
            </a:r>
            <a:r>
              <a:rPr lang="en-US" sz="1400" dirty="0">
                <a:solidFill>
                  <a:srgbClr val="A31515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"There are no adults"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 &lt;&lt; </a:t>
            </a:r>
            <a:r>
              <a:rPr lang="en-US" sz="1400" dirty="0" err="1">
                <a:solidFill>
                  <a:srgbClr val="88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endl</a:t>
            </a:r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;</a:t>
            </a:r>
          </a:p>
          <a:p>
            <a:pPr defTabSz="363538"/>
            <a:r>
              <a:rPr lang="en-US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	</a:t>
            </a:r>
            <a:r>
              <a:rPr lang="ru-RU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  <a:p>
            <a:pPr defTabSz="363538"/>
            <a:r>
              <a:rPr lang="ru-RU" sz="1400" dirty="0">
                <a:solidFill>
                  <a:srgbClr val="000000"/>
                </a:solidFill>
                <a:highlight>
                  <a:srgbClr val="FFFFFF"/>
                </a:highlight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AA50A7-2590-0E61-44A2-E4BFBFCBE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543834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2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26" end="2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2">
                                            <p:txEl>
                                              <p:pRg st="27" end="2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8" end="2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">
                                            <p:txEl>
                                              <p:pRg st="28" end="2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67AC3D-74EB-4CDB-B29E-C7314F1A02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Двоичный поиск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62117BC-7CFB-4922-8899-646B2B872D0B}"/>
              </a:ext>
            </a:extLst>
          </p:cNvPr>
          <p:cNvSpPr/>
          <p:nvPr/>
        </p:nvSpPr>
        <p:spPr>
          <a:xfrm>
            <a:off x="266822" y="2055426"/>
            <a:ext cx="360040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ru-RU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40FB6B5-DF92-460B-9D76-0DD248C9620A}"/>
              </a:ext>
            </a:extLst>
          </p:cNvPr>
          <p:cNvSpPr/>
          <p:nvPr/>
        </p:nvSpPr>
        <p:spPr>
          <a:xfrm>
            <a:off x="751642" y="2055426"/>
            <a:ext cx="360040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endParaRPr lang="ru-RU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24A86F8-C7BF-4F7A-9355-E8FF681C7A29}"/>
              </a:ext>
            </a:extLst>
          </p:cNvPr>
          <p:cNvSpPr/>
          <p:nvPr/>
        </p:nvSpPr>
        <p:spPr>
          <a:xfrm>
            <a:off x="1236462" y="2055426"/>
            <a:ext cx="360040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  <a:endParaRPr lang="ru-RU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0043C84-41A6-468F-831A-F022E828E206}"/>
              </a:ext>
            </a:extLst>
          </p:cNvPr>
          <p:cNvSpPr/>
          <p:nvPr/>
        </p:nvSpPr>
        <p:spPr>
          <a:xfrm>
            <a:off x="1721282" y="2055426"/>
            <a:ext cx="360040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6</a:t>
            </a:r>
            <a:endParaRPr lang="ru-RU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DE86C9E-B018-4F18-9574-6A5922579F8D}"/>
              </a:ext>
            </a:extLst>
          </p:cNvPr>
          <p:cNvSpPr/>
          <p:nvPr/>
        </p:nvSpPr>
        <p:spPr>
          <a:xfrm>
            <a:off x="2206102" y="2055426"/>
            <a:ext cx="360040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7</a:t>
            </a:r>
            <a:endParaRPr lang="ru-RU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036BABA-3641-443B-90BA-0E146CE47EA5}"/>
              </a:ext>
            </a:extLst>
          </p:cNvPr>
          <p:cNvSpPr/>
          <p:nvPr/>
        </p:nvSpPr>
        <p:spPr>
          <a:xfrm>
            <a:off x="2690922" y="2055426"/>
            <a:ext cx="360040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7</a:t>
            </a:r>
            <a:endParaRPr lang="ru-RU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625CB65-8969-45A0-85C8-C2208F368FEE}"/>
              </a:ext>
            </a:extLst>
          </p:cNvPr>
          <p:cNvSpPr/>
          <p:nvPr/>
        </p:nvSpPr>
        <p:spPr>
          <a:xfrm>
            <a:off x="3169466" y="2055426"/>
            <a:ext cx="360040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8</a:t>
            </a:r>
            <a:endParaRPr lang="ru-RU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61C5E59-5D8A-4376-9727-C9225BCF996A}"/>
              </a:ext>
            </a:extLst>
          </p:cNvPr>
          <p:cNvSpPr/>
          <p:nvPr/>
        </p:nvSpPr>
        <p:spPr>
          <a:xfrm>
            <a:off x="3648010" y="2055426"/>
            <a:ext cx="360040" cy="36004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9</a:t>
            </a:r>
            <a:endParaRPr lang="ru-RU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4A2CC4D-530E-4B8F-92B3-1CBA57D5FB97}"/>
              </a:ext>
            </a:extLst>
          </p:cNvPr>
          <p:cNvGrpSpPr/>
          <p:nvPr/>
        </p:nvGrpSpPr>
        <p:grpSpPr>
          <a:xfrm>
            <a:off x="1341646" y="2559482"/>
            <a:ext cx="3818532" cy="369332"/>
            <a:chOff x="2118432" y="2852936"/>
            <a:chExt cx="3818532" cy="369332"/>
          </a:xfrm>
        </p:grpSpPr>
        <p:sp>
          <p:nvSpPr>
            <p:cNvPr id="12" name="Arrow: Down 11">
              <a:extLst>
                <a:ext uri="{FF2B5EF4-FFF2-40B4-BE49-F238E27FC236}">
                  <a16:creationId xmlns:a16="http://schemas.microsoft.com/office/drawing/2014/main" id="{0CA657D2-ABE2-415F-AE2C-00D448B4B953}"/>
                </a:ext>
              </a:extLst>
            </p:cNvPr>
            <p:cNvSpPr/>
            <p:nvPr/>
          </p:nvSpPr>
          <p:spPr>
            <a:xfrm rot="5400000" flipV="1">
              <a:off x="2118432" y="2862228"/>
              <a:ext cx="360040" cy="36004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F27D157-2655-43E1-AFCA-B91EF4F1D71C}"/>
                </a:ext>
              </a:extLst>
            </p:cNvPr>
            <p:cNvSpPr txBox="1"/>
            <p:nvPr/>
          </p:nvSpPr>
          <p:spPr>
            <a:xfrm>
              <a:off x="2555776" y="2852936"/>
              <a:ext cx="338118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/>
                <a:t>lower_bound</a:t>
              </a:r>
              <a:r>
                <a:rPr lang="en-US" dirty="0"/>
                <a:t>(numbers, 5)</a:t>
              </a:r>
              <a:endParaRPr lang="ru-RU" dirty="0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B2C63FF-D7AC-48BC-93A3-10E0A50E3585}"/>
              </a:ext>
            </a:extLst>
          </p:cNvPr>
          <p:cNvGrpSpPr/>
          <p:nvPr/>
        </p:nvGrpSpPr>
        <p:grpSpPr>
          <a:xfrm>
            <a:off x="2825660" y="2991552"/>
            <a:ext cx="3782702" cy="369332"/>
            <a:chOff x="2154262" y="2852936"/>
            <a:chExt cx="3782702" cy="369332"/>
          </a:xfrm>
        </p:grpSpPr>
        <p:sp>
          <p:nvSpPr>
            <p:cNvPr id="16" name="Arrow: Down 15">
              <a:extLst>
                <a:ext uri="{FF2B5EF4-FFF2-40B4-BE49-F238E27FC236}">
                  <a16:creationId xmlns:a16="http://schemas.microsoft.com/office/drawing/2014/main" id="{73D2A989-6ADD-4D13-B82D-F2228D417BF9}"/>
                </a:ext>
              </a:extLst>
            </p:cNvPr>
            <p:cNvSpPr/>
            <p:nvPr/>
          </p:nvSpPr>
          <p:spPr>
            <a:xfrm rot="5400000" flipV="1">
              <a:off x="2154262" y="2857582"/>
              <a:ext cx="360040" cy="36004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6B1AE55B-7DF0-4577-9549-0AB6AA7B5E46}"/>
                </a:ext>
              </a:extLst>
            </p:cNvPr>
            <p:cNvSpPr txBox="1"/>
            <p:nvPr/>
          </p:nvSpPr>
          <p:spPr>
            <a:xfrm>
              <a:off x="2691768" y="2852936"/>
              <a:ext cx="324519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/>
                <a:t>lower_bound</a:t>
              </a:r>
              <a:r>
                <a:rPr lang="en-US" dirty="0"/>
                <a:t>(numbers, 8)</a:t>
              </a:r>
              <a:endParaRPr lang="ru-RU" dirty="0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02BA6A6-51AA-4C66-8B48-12116B89211E}"/>
              </a:ext>
            </a:extLst>
          </p:cNvPr>
          <p:cNvGrpSpPr/>
          <p:nvPr/>
        </p:nvGrpSpPr>
        <p:grpSpPr>
          <a:xfrm>
            <a:off x="1721282" y="3558346"/>
            <a:ext cx="3438896" cy="369332"/>
            <a:chOff x="2498068" y="2852936"/>
            <a:chExt cx="3438896" cy="369332"/>
          </a:xfrm>
        </p:grpSpPr>
        <p:sp>
          <p:nvSpPr>
            <p:cNvPr id="19" name="Arrow: Down 18">
              <a:extLst>
                <a:ext uri="{FF2B5EF4-FFF2-40B4-BE49-F238E27FC236}">
                  <a16:creationId xmlns:a16="http://schemas.microsoft.com/office/drawing/2014/main" id="{F537954E-E904-4D0A-A2C7-16B6C64168FE}"/>
                </a:ext>
              </a:extLst>
            </p:cNvPr>
            <p:cNvSpPr/>
            <p:nvPr/>
          </p:nvSpPr>
          <p:spPr>
            <a:xfrm rot="16200000" flipV="1">
              <a:off x="2498068" y="2852936"/>
              <a:ext cx="360040" cy="36004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D21CBC8-0361-43AB-B541-2602398C7FAF}"/>
                </a:ext>
              </a:extLst>
            </p:cNvPr>
            <p:cNvSpPr txBox="1"/>
            <p:nvPr/>
          </p:nvSpPr>
          <p:spPr>
            <a:xfrm>
              <a:off x="2912628" y="2852936"/>
              <a:ext cx="302433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/>
                <a:t>upper_bound</a:t>
              </a:r>
              <a:r>
                <a:rPr lang="en-US" dirty="0"/>
                <a:t>(numbers, 5)</a:t>
              </a:r>
              <a:endParaRPr lang="ru-RU" dirty="0"/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24433750-D643-451D-B985-79D203320A71}"/>
              </a:ext>
            </a:extLst>
          </p:cNvPr>
          <p:cNvGrpSpPr/>
          <p:nvPr/>
        </p:nvGrpSpPr>
        <p:grpSpPr>
          <a:xfrm>
            <a:off x="3641467" y="4057400"/>
            <a:ext cx="3438896" cy="369332"/>
            <a:chOff x="2498068" y="2852936"/>
            <a:chExt cx="3438896" cy="369332"/>
          </a:xfrm>
        </p:grpSpPr>
        <p:sp>
          <p:nvSpPr>
            <p:cNvPr id="22" name="Arrow: Down 21">
              <a:extLst>
                <a:ext uri="{FF2B5EF4-FFF2-40B4-BE49-F238E27FC236}">
                  <a16:creationId xmlns:a16="http://schemas.microsoft.com/office/drawing/2014/main" id="{7BE19E02-75F3-4519-8EF1-11BBF17093A3}"/>
                </a:ext>
              </a:extLst>
            </p:cNvPr>
            <p:cNvSpPr/>
            <p:nvPr/>
          </p:nvSpPr>
          <p:spPr>
            <a:xfrm rot="16200000" flipV="1">
              <a:off x="2498068" y="2852936"/>
              <a:ext cx="360040" cy="36004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8AFD642-282A-46F7-A44C-2072BFDF2845}"/>
                </a:ext>
              </a:extLst>
            </p:cNvPr>
            <p:cNvSpPr txBox="1"/>
            <p:nvPr/>
          </p:nvSpPr>
          <p:spPr>
            <a:xfrm>
              <a:off x="2912628" y="2852936"/>
              <a:ext cx="302433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/>
                <a:t>upper_bound</a:t>
              </a:r>
              <a:r>
                <a:rPr lang="en-US" dirty="0"/>
                <a:t>(numbers, 8)</a:t>
              </a:r>
              <a:endParaRPr lang="ru-RU" dirty="0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0E9668D-D3B0-48CF-814C-95A1221B2A8D}"/>
              </a:ext>
            </a:extLst>
          </p:cNvPr>
          <p:cNvGrpSpPr/>
          <p:nvPr/>
        </p:nvGrpSpPr>
        <p:grpSpPr>
          <a:xfrm>
            <a:off x="1831272" y="4719722"/>
            <a:ext cx="4412214" cy="369332"/>
            <a:chOff x="2120361" y="2852936"/>
            <a:chExt cx="4412214" cy="369332"/>
          </a:xfrm>
        </p:grpSpPr>
        <p:sp>
          <p:nvSpPr>
            <p:cNvPr id="25" name="Arrow: Down 24">
              <a:extLst>
                <a:ext uri="{FF2B5EF4-FFF2-40B4-BE49-F238E27FC236}">
                  <a16:creationId xmlns:a16="http://schemas.microsoft.com/office/drawing/2014/main" id="{AC787B5F-4061-45D8-9D2B-3B1751022C37}"/>
                </a:ext>
              </a:extLst>
            </p:cNvPr>
            <p:cNvSpPr/>
            <p:nvPr/>
          </p:nvSpPr>
          <p:spPr>
            <a:xfrm rot="5400000" flipV="1">
              <a:off x="2120361" y="2857582"/>
              <a:ext cx="360040" cy="36004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DAC90E20-1968-4DFB-BBE1-2A727B892E57}"/>
                </a:ext>
              </a:extLst>
            </p:cNvPr>
            <p:cNvSpPr txBox="1"/>
            <p:nvPr/>
          </p:nvSpPr>
          <p:spPr>
            <a:xfrm>
              <a:off x="3937100" y="2852936"/>
              <a:ext cx="25954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/>
                <a:t>equal_range</a:t>
              </a:r>
              <a:r>
                <a:rPr lang="en-US" dirty="0"/>
                <a:t>(numbers, 7)</a:t>
              </a:r>
              <a:endParaRPr lang="ru-RU" dirty="0"/>
            </a:p>
          </p:txBody>
        </p:sp>
        <p:sp>
          <p:nvSpPr>
            <p:cNvPr id="27" name="Arrow: Down 26">
              <a:extLst>
                <a:ext uri="{FF2B5EF4-FFF2-40B4-BE49-F238E27FC236}">
                  <a16:creationId xmlns:a16="http://schemas.microsoft.com/office/drawing/2014/main" id="{EAE52642-3A9D-4FEB-AA81-A17750DDA075}"/>
                </a:ext>
              </a:extLst>
            </p:cNvPr>
            <p:cNvSpPr/>
            <p:nvPr/>
          </p:nvSpPr>
          <p:spPr>
            <a:xfrm rot="16200000" flipV="1">
              <a:off x="3476290" y="2857582"/>
              <a:ext cx="360040" cy="36004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</p:grp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AC67A313-F255-401F-90DD-65749CD1CAE1}"/>
              </a:ext>
            </a:extLst>
          </p:cNvPr>
          <p:cNvCxnSpPr>
            <a:cxnSpLocks/>
            <a:stCxn id="9" idx="1"/>
          </p:cNvCxnSpPr>
          <p:nvPr/>
        </p:nvCxnSpPr>
        <p:spPr>
          <a:xfrm>
            <a:off x="3169467" y="2235446"/>
            <a:ext cx="12743" cy="3056936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2D0B3C2D-475F-4FC5-B2AE-C923EC19D813}"/>
              </a:ext>
            </a:extLst>
          </p:cNvPr>
          <p:cNvCxnSpPr>
            <a:cxnSpLocks/>
            <a:stCxn id="7" idx="1"/>
          </p:cNvCxnSpPr>
          <p:nvPr/>
        </p:nvCxnSpPr>
        <p:spPr>
          <a:xfrm>
            <a:off x="2206102" y="2235446"/>
            <a:ext cx="0" cy="2988332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2C63193-1127-4910-A0F3-9F383416813C}"/>
              </a:ext>
            </a:extLst>
          </p:cNvPr>
          <p:cNvCxnSpPr>
            <a:cxnSpLocks/>
          </p:cNvCxnSpPr>
          <p:nvPr/>
        </p:nvCxnSpPr>
        <p:spPr>
          <a:xfrm>
            <a:off x="2693451" y="2199442"/>
            <a:ext cx="12607" cy="3024336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7E49D400-FCA6-4B2A-9429-7E55F6B4F427}"/>
              </a:ext>
            </a:extLst>
          </p:cNvPr>
          <p:cNvSpPr/>
          <p:nvPr/>
        </p:nvSpPr>
        <p:spPr>
          <a:xfrm>
            <a:off x="6803719" y="6363017"/>
            <a:ext cx="515486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dirty="0">
                <a:hlinkClick r:id="rId3"/>
              </a:rPr>
              <a:t>https://wandbox.org/permlink/MSu4VTL6jHwk4vfN</a:t>
            </a:r>
            <a:r>
              <a:rPr lang="de-DE" dirty="0"/>
              <a:t> </a:t>
            </a:r>
            <a:endParaRPr lang="ru-RU" dirty="0"/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D2EFDD80-5B6E-41F2-8300-E8DD550B1F1A}"/>
              </a:ext>
            </a:extLst>
          </p:cNvPr>
          <p:cNvGrpSpPr/>
          <p:nvPr/>
        </p:nvGrpSpPr>
        <p:grpSpPr>
          <a:xfrm>
            <a:off x="1343472" y="5268227"/>
            <a:ext cx="3396939" cy="384196"/>
            <a:chOff x="2047350" y="2838072"/>
            <a:chExt cx="3396939" cy="384196"/>
          </a:xfrm>
        </p:grpSpPr>
        <p:sp>
          <p:nvSpPr>
            <p:cNvPr id="38" name="Arrow: Down 37">
              <a:extLst>
                <a:ext uri="{FF2B5EF4-FFF2-40B4-BE49-F238E27FC236}">
                  <a16:creationId xmlns:a16="http://schemas.microsoft.com/office/drawing/2014/main" id="{5A2CF22C-180F-4C8D-8A26-06CDCDDFC989}"/>
                </a:ext>
              </a:extLst>
            </p:cNvPr>
            <p:cNvSpPr/>
            <p:nvPr/>
          </p:nvSpPr>
          <p:spPr>
            <a:xfrm rot="5400000" flipV="1">
              <a:off x="2047350" y="2852936"/>
              <a:ext cx="360040" cy="36004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C897AB7-8C51-44F0-A161-C60418B5AF33}"/>
                </a:ext>
              </a:extLst>
            </p:cNvPr>
            <p:cNvSpPr txBox="1"/>
            <p:nvPr/>
          </p:nvSpPr>
          <p:spPr>
            <a:xfrm>
              <a:off x="2848814" y="2838072"/>
              <a:ext cx="259547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err="1"/>
                <a:t>equal_range</a:t>
              </a:r>
              <a:r>
                <a:rPr lang="en-US" dirty="0"/>
                <a:t>(numbers, 5)</a:t>
              </a:r>
              <a:endParaRPr lang="ru-RU" dirty="0"/>
            </a:p>
          </p:txBody>
        </p:sp>
        <p:sp>
          <p:nvSpPr>
            <p:cNvPr id="40" name="Arrow: Down 39">
              <a:extLst>
                <a:ext uri="{FF2B5EF4-FFF2-40B4-BE49-F238E27FC236}">
                  <a16:creationId xmlns:a16="http://schemas.microsoft.com/office/drawing/2014/main" id="{C9EE6096-419A-4049-90A4-904748F90D84}"/>
                </a:ext>
              </a:extLst>
            </p:cNvPr>
            <p:cNvSpPr/>
            <p:nvPr/>
          </p:nvSpPr>
          <p:spPr>
            <a:xfrm rot="16200000" flipV="1">
              <a:off x="2461730" y="2862228"/>
              <a:ext cx="360040" cy="360040"/>
            </a:xfrm>
            <a:prstGeom prst="down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</p:grp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07C10AA1-F130-4818-88F7-B0F45D99D8FC}"/>
              </a:ext>
            </a:extLst>
          </p:cNvPr>
          <p:cNvCxnSpPr>
            <a:cxnSpLocks/>
            <a:stCxn id="6" idx="1"/>
          </p:cNvCxnSpPr>
          <p:nvPr/>
        </p:nvCxnSpPr>
        <p:spPr>
          <a:xfrm>
            <a:off x="1721282" y="2235446"/>
            <a:ext cx="0" cy="3996444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28">
            <a:extLst>
              <a:ext uri="{FF2B5EF4-FFF2-40B4-BE49-F238E27FC236}">
                <a16:creationId xmlns:a16="http://schemas.microsoft.com/office/drawing/2014/main" id="{372C817B-2323-5E2A-7AA7-D3FF24849FFC}"/>
              </a:ext>
            </a:extLst>
          </p:cNvPr>
          <p:cNvCxnSpPr>
            <a:cxnSpLocks/>
          </p:cNvCxnSpPr>
          <p:nvPr/>
        </p:nvCxnSpPr>
        <p:spPr>
          <a:xfrm>
            <a:off x="3631808" y="2259739"/>
            <a:ext cx="12743" cy="3056936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C992FDC0-9134-77D9-31F3-D7ED4E04FE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78315" y="309307"/>
            <a:ext cx="2499577" cy="2552921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E0350702-484D-9D43-E329-715CF3A90981}"/>
              </a:ext>
            </a:extLst>
          </p:cNvPr>
          <p:cNvSpPr txBox="1"/>
          <p:nvPr/>
        </p:nvSpPr>
        <p:spPr>
          <a:xfrm>
            <a:off x="6803719" y="3558346"/>
            <a:ext cx="498091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>
                <a:latin typeface="Consolas" panose="020B0609020204030204" pitchFamily="49" charset="0"/>
              </a:rPr>
              <a:t>lower_bound</a:t>
            </a:r>
            <a:r>
              <a:rPr lang="en-US" dirty="0"/>
              <a:t> </a:t>
            </a:r>
            <a:r>
              <a:rPr lang="ru-RU" dirty="0"/>
              <a:t>возвращает итератор на первый элемент, не предшествующий (т.е. </a:t>
            </a:r>
            <a:r>
              <a:rPr lang="en-US" dirty="0"/>
              <a:t>&gt;=)</a:t>
            </a:r>
            <a:r>
              <a:rPr lang="ru-RU" dirty="0"/>
              <a:t> искомому</a:t>
            </a:r>
          </a:p>
          <a:p>
            <a:endParaRPr lang="ru-RU" dirty="0"/>
          </a:p>
          <a:p>
            <a:r>
              <a:rPr lang="en-US" b="1" dirty="0" err="1">
                <a:latin typeface="Consolas" panose="020B0609020204030204" pitchFamily="49" charset="0"/>
              </a:rPr>
              <a:t>upper_bound</a:t>
            </a:r>
            <a:r>
              <a:rPr lang="en-US" dirty="0"/>
              <a:t> </a:t>
            </a:r>
            <a:r>
              <a:rPr lang="ru-RU" dirty="0"/>
              <a:t>возвращает итератор на первый элемент, который больше искомого</a:t>
            </a:r>
            <a:endParaRPr lang="en-US" dirty="0"/>
          </a:p>
        </p:txBody>
      </p:sp>
      <p:sp>
        <p:nvSpPr>
          <p:cNvPr id="33" name="Slide Number Placeholder 32">
            <a:extLst>
              <a:ext uri="{FF2B5EF4-FFF2-40B4-BE49-F238E27FC236}">
                <a16:creationId xmlns:a16="http://schemas.microsoft.com/office/drawing/2014/main" id="{028DBD00-CB80-D5E2-7886-EFE8F20ED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6867255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AB7AC82-11E8-A172-7F39-7BC1B34D95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Алгоритмы из библиотеки </a:t>
            </a:r>
            <a:r>
              <a:rPr lang="en-US" dirty="0"/>
              <a:t>&lt;ranges&gt; (C++20)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8DD85E3-FB6F-611C-48AD-C81BBE6FE2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681736" cy="4351338"/>
          </a:xfrm>
        </p:spPr>
        <p:txBody>
          <a:bodyPr>
            <a:normAutofit fontScale="85000" lnSpcReduction="10000"/>
          </a:bodyPr>
          <a:lstStyle/>
          <a:p>
            <a:r>
              <a:rPr lang="ru-RU" dirty="0"/>
              <a:t>Алгоритмы могут работать не с итераторами, а сразу</a:t>
            </a:r>
            <a:r>
              <a:rPr lang="ru-RU" b="1" dirty="0"/>
              <a:t> с диапазонами</a:t>
            </a:r>
            <a:endParaRPr lang="en-US" b="1" dirty="0"/>
          </a:p>
          <a:p>
            <a:pPr lvl="1"/>
            <a:r>
              <a:rPr lang="en-US" dirty="0"/>
              <a:t>std::ranges::sort(container);</a:t>
            </a:r>
          </a:p>
          <a:p>
            <a:pPr lvl="1"/>
            <a:r>
              <a:rPr lang="ru-RU" dirty="0"/>
              <a:t>вместо</a:t>
            </a:r>
          </a:p>
          <a:p>
            <a:pPr lvl="1"/>
            <a:r>
              <a:rPr lang="en-US" dirty="0"/>
              <a:t>std::sort(</a:t>
            </a:r>
            <a:r>
              <a:rPr lang="en-US" dirty="0" err="1"/>
              <a:t>container.begin</a:t>
            </a:r>
            <a:r>
              <a:rPr lang="en-US" dirty="0"/>
              <a:t>(), </a:t>
            </a:r>
            <a:r>
              <a:rPr lang="en-US" dirty="0" err="1"/>
              <a:t>container.end</a:t>
            </a:r>
            <a:r>
              <a:rPr lang="en-US" dirty="0"/>
              <a:t>());</a:t>
            </a:r>
            <a:endParaRPr lang="ru-RU" dirty="0"/>
          </a:p>
          <a:p>
            <a:r>
              <a:rPr lang="ru-RU" dirty="0"/>
              <a:t>Преимущества</a:t>
            </a:r>
          </a:p>
          <a:p>
            <a:pPr lvl="1"/>
            <a:r>
              <a:rPr lang="ru-RU" dirty="0"/>
              <a:t>Более короткий и читаемый код</a:t>
            </a:r>
          </a:p>
          <a:p>
            <a:pPr lvl="1"/>
            <a:r>
              <a:rPr lang="ru-RU" dirty="0"/>
              <a:t>Меньше ошибок с </a:t>
            </a:r>
            <a:r>
              <a:rPr lang="ru-RU" dirty="0" err="1"/>
              <a:t>begin</a:t>
            </a:r>
            <a:r>
              <a:rPr lang="ru-RU" dirty="0"/>
              <a:t>() / </a:t>
            </a:r>
            <a:r>
              <a:rPr lang="ru-RU" dirty="0" err="1"/>
              <a:t>end</a:t>
            </a:r>
            <a:r>
              <a:rPr lang="ru-RU" dirty="0"/>
              <a:t>()</a:t>
            </a:r>
          </a:p>
          <a:p>
            <a:pPr lvl="1"/>
            <a:r>
              <a:rPr lang="ru-RU" dirty="0"/>
              <a:t>Поддержка проекций</a:t>
            </a:r>
          </a:p>
          <a:p>
            <a:pPr lvl="1"/>
            <a:r>
              <a:rPr lang="ru-RU" dirty="0"/>
              <a:t>Лучше работают с композициями алгоритмов</a:t>
            </a:r>
          </a:p>
          <a:p>
            <a:endParaRPr lang="ru-RU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F066E1B-FCDF-65FC-1A34-7692B1EC14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113</a:t>
            </a:fld>
            <a:endParaRPr lang="ru-R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7E74D65-0020-8AEB-CD75-4CE47DD7BF9D}"/>
              </a:ext>
            </a:extLst>
          </p:cNvPr>
          <p:cNvSpPr txBox="1"/>
          <p:nvPr/>
        </p:nvSpPr>
        <p:spPr>
          <a:xfrm>
            <a:off x="5807968" y="1859161"/>
            <a:ext cx="6384032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std::vector&lt;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numbers = {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9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std::ranges::sort(numbers);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std::ranges::reverse(numbers);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std::ranges::copy(numbers,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ostream_iterator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", 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252874230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625C78A-10D3-449B-99CF-F95950E85ECC}"/>
              </a:ext>
            </a:extLst>
          </p:cNvPr>
          <p:cNvSpPr/>
          <p:nvPr/>
        </p:nvSpPr>
        <p:spPr>
          <a:xfrm>
            <a:off x="838200" y="2324477"/>
            <a:ext cx="10946432" cy="40318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Student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string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name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age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};</a:t>
            </a:r>
          </a:p>
          <a:p>
            <a:b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6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main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() 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Student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students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[]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=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{ 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"Ivan"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600" dirty="0">
                <a:solidFill>
                  <a:srgbClr val="098658"/>
                </a:solidFill>
                <a:latin typeface="Consolas" panose="020B0609020204030204" pitchFamily="49" charset="0"/>
              </a:rPr>
              <a:t>20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{ 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"Alexey"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600" dirty="0">
                <a:solidFill>
                  <a:srgbClr val="098658"/>
                </a:solidFill>
                <a:latin typeface="Consolas" panose="020B0609020204030204" pitchFamily="49" charset="0"/>
              </a:rPr>
              <a:t>21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    { </a:t>
            </a:r>
            <a:r>
              <a:rPr lang="de-DE" sz="1600" dirty="0">
                <a:solidFill>
                  <a:srgbClr val="A31515"/>
                </a:solidFill>
                <a:latin typeface="Consolas" panose="020B0609020204030204" pitchFamily="49" charset="0"/>
              </a:rPr>
              <a:t>"Sergey"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600" dirty="0">
                <a:solidFill>
                  <a:srgbClr val="098658"/>
                </a:solidFill>
                <a:latin typeface="Consolas" panose="020B0609020204030204" pitchFamily="49" charset="0"/>
              </a:rPr>
              <a:t>19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 },</a:t>
            </a: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};</a:t>
            </a:r>
          </a:p>
          <a:p>
            <a:b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</a:b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ranges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sort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students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, {},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Student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name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 // Alexey, Ivan, Sergey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ranges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sort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students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, {},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Student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age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 // Sergey, Ivan, Alexey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   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ranges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795E26"/>
                </a:solidFill>
                <a:latin typeface="Consolas" panose="020B0609020204030204" pitchFamily="49" charset="0"/>
              </a:rPr>
              <a:t>sort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(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students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, 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std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267F99"/>
                </a:solidFill>
                <a:latin typeface="Consolas" panose="020B0609020204030204" pitchFamily="49" charset="0"/>
              </a:rPr>
              <a:t>greater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&lt;&gt;(), </a:t>
            </a:r>
            <a:r>
              <a:rPr lang="de-DE" sz="1600" dirty="0">
                <a:solidFill>
                  <a:srgbClr val="000000"/>
                </a:solidFill>
                <a:latin typeface="Consolas" panose="020B0609020204030204" pitchFamily="49" charset="0"/>
              </a:rPr>
              <a:t>&amp;</a:t>
            </a:r>
            <a:r>
              <a:rPr lang="de-DE" sz="1600" dirty="0">
                <a:solidFill>
                  <a:srgbClr val="267F99"/>
                </a:solidFill>
                <a:latin typeface="Consolas" panose="020B0609020204030204" pitchFamily="49" charset="0"/>
              </a:rPr>
              <a:t>Student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::</a:t>
            </a:r>
            <a:r>
              <a:rPr lang="de-DE" sz="1600" dirty="0" err="1">
                <a:solidFill>
                  <a:srgbClr val="001080"/>
                </a:solidFill>
                <a:latin typeface="Consolas" panose="020B0609020204030204" pitchFamily="49" charset="0"/>
              </a:rPr>
              <a:t>age</a:t>
            </a:r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);</a:t>
            </a:r>
            <a:r>
              <a:rPr lang="de-DE" sz="1600" dirty="0">
                <a:solidFill>
                  <a:srgbClr val="008000"/>
                </a:solidFill>
                <a:latin typeface="Consolas" panose="020B0609020204030204" pitchFamily="49" charset="0"/>
              </a:rPr>
              <a:t> // Alexey, Ivan, Sergey</a:t>
            </a:r>
            <a:endParaRPr lang="de-DE" sz="1600" dirty="0">
              <a:solidFill>
                <a:srgbClr val="3B3B3B"/>
              </a:solidFill>
              <a:latin typeface="Consolas" panose="020B0609020204030204" pitchFamily="49" charset="0"/>
            </a:endParaRPr>
          </a:p>
          <a:p>
            <a:r>
              <a:rPr lang="de-DE" sz="1600" dirty="0">
                <a:solidFill>
                  <a:srgbClr val="3B3B3B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CD435B6-B44C-9C08-4250-449367919D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Проекции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186588-85EE-1EC4-20F2-D882A88AE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515223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54B6F2-1D9C-D62A-FCFF-0BAFCBE0E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Конвейер обработки данных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34D9B50-CCFD-6041-40DC-3BED7B8CEB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115</a:t>
            </a:fld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CE1A0FC-046F-D27C-3F98-5C8D64278D34}"/>
              </a:ext>
            </a:extLst>
          </p:cNvPr>
          <p:cNvSpPr txBox="1"/>
          <p:nvPr/>
        </p:nvSpPr>
        <p:spPr>
          <a:xfrm>
            <a:off x="695400" y="2492896"/>
            <a:ext cx="11377264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std::vector&lt;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numbers{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9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result =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numbers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| std::views::filter([](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x){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 %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 })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| std::views::transform([](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x){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x * x; });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std::ranges::copy(result,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ostream_iterator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", 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63918176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CFAB2B4-BCA3-24B1-8817-D25FDE648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Идиома </a:t>
            </a:r>
            <a:r>
              <a:rPr lang="en-US" dirty="0"/>
              <a:t>erase-remove</a:t>
            </a:r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65B6C92-F7B6-E30D-2E4B-D4FF61FCAA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475227F-4DD7-2251-C087-48B6DAD2E3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42397521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A390D053-2BC6-CA6E-277C-1E931C95C10A}"/>
              </a:ext>
            </a:extLst>
          </p:cNvPr>
          <p:cNvSpPr txBox="1"/>
          <p:nvPr/>
        </p:nvSpPr>
        <p:spPr>
          <a:xfrm>
            <a:off x="1524000" y="-1"/>
            <a:ext cx="91440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kern="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&lt;algorithm&gt;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kern="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&lt;iostream&gt;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kern="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&lt;iterator&gt;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#include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kern="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&lt;vector&gt;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void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Print(</a:t>
            </a:r>
            <a:r>
              <a:rPr lang="en-US" sz="16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const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std::</a:t>
            </a:r>
            <a:r>
              <a:rPr lang="en-US" sz="1600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vector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6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&gt;&amp; </a:t>
            </a:r>
            <a:r>
              <a:rPr lang="en-US" sz="1600" kern="0" dirty="0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</a:t>
            </a:r>
            <a:r>
              <a:rPr lang="en-US" sz="1600" kern="100" dirty="0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std::copy(</a:t>
            </a:r>
            <a:r>
              <a:rPr lang="en-US" sz="1600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</a:t>
            </a:r>
            <a:r>
              <a:rPr lang="en-US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.begin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(), </a:t>
            </a:r>
            <a:r>
              <a:rPr lang="en-US" sz="1600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</a:t>
            </a:r>
            <a:r>
              <a:rPr lang="en-US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.end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(), std::</a:t>
            </a:r>
            <a:r>
              <a:rPr lang="en-US" sz="1600" kern="0" dirty="0" err="1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ostream_iterator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6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&gt;(std::</a:t>
            </a:r>
            <a:r>
              <a:rPr lang="en-US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, </a:t>
            </a:r>
            <a:r>
              <a:rPr lang="en-US" sz="1600" kern="0" dirty="0">
                <a:solidFill>
                  <a:srgbClr val="A31515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", "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));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std::</a:t>
            </a:r>
            <a:r>
              <a:rPr lang="en-US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cout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kern="0" dirty="0">
                <a:solidFill>
                  <a:srgbClr val="0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&lt;&lt;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std::</a:t>
            </a:r>
            <a:r>
              <a:rPr lang="en-US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endl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;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main()</a:t>
            </a:r>
            <a:r>
              <a:rPr lang="en-US" sz="1600" kern="100" dirty="0">
                <a:latin typeface="Consolas" panose="020B06090202040302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{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std::</a:t>
            </a:r>
            <a:r>
              <a:rPr lang="en-US" sz="1600" kern="0" dirty="0">
                <a:solidFill>
                  <a:srgbClr val="2B91A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vector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&lt;</a:t>
            </a:r>
            <a:r>
              <a:rPr lang="en-US" sz="16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&gt; numbers{ 9, 3, 0, 2, 0, 7, 8, 13, 6 };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Print(numbers);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auto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it = std::remove(</a:t>
            </a:r>
            <a:r>
              <a:rPr lang="en-US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numbers.begin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(), </a:t>
            </a:r>
            <a:r>
              <a:rPr lang="en-US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numbers.end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(), 0);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Print(numbers);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numbers.erase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(it, </a:t>
            </a:r>
            <a:r>
              <a:rPr lang="en-US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numbers.end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());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Print(numbers);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 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</a:t>
            </a:r>
            <a:r>
              <a:rPr lang="en-US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numbers.erase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std::</a:t>
            </a:r>
            <a:r>
              <a:rPr lang="en-US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remove_if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</a:t>
            </a: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</a:t>
            </a:r>
            <a:r>
              <a:rPr lang="en-US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numbers.begin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(), </a:t>
            </a:r>
            <a:r>
              <a:rPr lang="en-US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numbers.end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(),</a:t>
            </a: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  [](</a:t>
            </a:r>
            <a:r>
              <a:rPr lang="en-US" sz="16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int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 { </a:t>
            </a:r>
            <a:r>
              <a:rPr lang="en-US" sz="1600" kern="0" dirty="0">
                <a:solidFill>
                  <a:srgbClr val="0000FF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return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</a:t>
            </a:r>
            <a:r>
              <a:rPr lang="en-US" sz="1600" kern="0" dirty="0" err="1">
                <a:solidFill>
                  <a:srgbClr val="80808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i</a:t>
            </a:r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% 2 == 0; }), 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en-US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  </a:t>
            </a:r>
            <a:r>
              <a:rPr lang="ru-RU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numbers.end</a:t>
            </a:r>
            <a:r>
              <a:rPr lang="ru-RU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());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  Print(</a:t>
            </a:r>
            <a:r>
              <a:rPr lang="ru-RU" sz="1600" kern="0" dirty="0" err="1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numbers</a:t>
            </a:r>
            <a:r>
              <a:rPr lang="ru-RU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);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r>
              <a:rPr lang="ru-RU" sz="1600" kern="0" dirty="0">
                <a:solidFill>
                  <a:srgbClr val="0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onsolas" panose="020B0609020204030204" pitchFamily="49" charset="0"/>
              </a:rPr>
              <a:t>}</a:t>
            </a:r>
            <a:endParaRPr lang="ru-RU" sz="1600" kern="100" dirty="0">
              <a:latin typeface="Consolas" panose="020B06090202040302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A9BC0BD2-9773-04B2-6269-19B1840C3A0E}"/>
              </a:ext>
            </a:extLst>
          </p:cNvPr>
          <p:cNvSpPr/>
          <p:nvPr/>
        </p:nvSpPr>
        <p:spPr>
          <a:xfrm>
            <a:off x="6456040" y="5372154"/>
            <a:ext cx="3995936" cy="136815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ru-RU" dirty="0">
                <a:latin typeface="Consolas" panose="020B0609020204030204" pitchFamily="49" charset="0"/>
              </a:rPr>
              <a:t>9, 3, 0, 2, 0, 7, 8, 13, 6, </a:t>
            </a:r>
          </a:p>
          <a:p>
            <a:r>
              <a:rPr lang="ru-RU" dirty="0">
                <a:latin typeface="Consolas" panose="020B0609020204030204" pitchFamily="49" charset="0"/>
              </a:rPr>
              <a:t>9, 3, 2, 7, 8, 13, 6, </a:t>
            </a:r>
            <a:r>
              <a:rPr lang="ru-RU" dirty="0">
                <a:solidFill>
                  <a:srgbClr val="FF0000"/>
                </a:solidFill>
                <a:latin typeface="Consolas" panose="020B0609020204030204" pitchFamily="49" charset="0"/>
              </a:rPr>
              <a:t>13, 6, </a:t>
            </a:r>
          </a:p>
          <a:p>
            <a:r>
              <a:rPr lang="ru-RU" dirty="0">
                <a:latin typeface="Consolas" panose="020B0609020204030204" pitchFamily="49" charset="0"/>
              </a:rPr>
              <a:t>9, 3, 2, 7, 8, 13, 6, </a:t>
            </a:r>
          </a:p>
          <a:p>
            <a:r>
              <a:rPr lang="ru-RU" dirty="0">
                <a:latin typeface="Consolas" panose="020B0609020204030204" pitchFamily="49" charset="0"/>
              </a:rPr>
              <a:t>9, 3, 7, 13,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67A9FED-FC86-0B77-1AA1-BB4088DB82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998423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6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6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6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6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6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6">
                                            <p:txEl>
                                              <p:pRg st="24" end="2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6">
                                            <p:txEl>
                                              <p:pRg st="25" end="2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4BD66BF-A710-700C-7996-71F7633D3A24}"/>
              </a:ext>
            </a:extLst>
          </p:cNvPr>
          <p:cNvSpPr txBox="1"/>
          <p:nvPr/>
        </p:nvSpPr>
        <p:spPr>
          <a:xfrm>
            <a:off x="767408" y="2132856"/>
            <a:ext cx="10225136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vector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8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};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erase_if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[](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&gt;=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&amp;&amp; </a:t>
            </a: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&lt;= 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// 1, 7, 8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std::ranges::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copy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numbers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std::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ostream_iterator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&gt;(std::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));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081ADF6-5D34-AC74-08BE-F12A1B615C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std::erase / std::</a:t>
            </a:r>
            <a:r>
              <a:rPr lang="en-US" dirty="0" err="1"/>
              <a:t>erase_if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FE4F2C-09A4-2E42-3904-D8C088DA6F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34154951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95A410D-70D9-2679-E80D-98C717DDF3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std::optional</a:t>
            </a:r>
            <a:endParaRPr lang="ru-RU"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BF8AEF0-A3E5-1CD9-C96A-F265F8906E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27DEC1-CD3F-E27F-7CBA-456CCE1355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41413070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hlinkClick r:id="rId3"/>
              </a:rPr>
              <a:t>std::optional</a:t>
            </a:r>
            <a:endParaRPr lang="ru-RU" dirty="0"/>
          </a:p>
        </p:txBody>
      </p:sp>
      <p:sp>
        <p:nvSpPr>
          <p:cNvPr id="5" name="Объект 4"/>
          <p:cNvSpPr>
            <a:spLocks noGrp="1"/>
          </p:cNvSpPr>
          <p:nvPr>
            <p:ph idx="1"/>
          </p:nvPr>
        </p:nvSpPr>
        <p:spPr>
          <a:xfrm>
            <a:off x="838198" y="1825625"/>
            <a:ext cx="9804095" cy="4351338"/>
          </a:xfrm>
        </p:spPr>
        <p:txBody>
          <a:bodyPr>
            <a:normAutofit/>
          </a:bodyPr>
          <a:lstStyle/>
          <a:p>
            <a:r>
              <a:rPr lang="ru-RU" dirty="0"/>
              <a:t>Опциональное значение</a:t>
            </a:r>
          </a:p>
          <a:p>
            <a:r>
              <a:rPr lang="ru-RU" dirty="0"/>
              <a:t>Не использует динамическое выделение памяти</a:t>
            </a:r>
          </a:p>
          <a:p>
            <a:r>
              <a:rPr lang="ru-RU" dirty="0"/>
              <a:t>Применение</a:t>
            </a:r>
          </a:p>
          <a:p>
            <a:pPr lvl="1"/>
            <a:r>
              <a:rPr lang="ru-RU" dirty="0"/>
              <a:t>Значение, которого может и не быть</a:t>
            </a:r>
          </a:p>
          <a:p>
            <a:pPr lvl="2"/>
            <a:r>
              <a:rPr lang="ru-RU" dirty="0"/>
              <a:t>Результат поиска</a:t>
            </a:r>
          </a:p>
          <a:p>
            <a:pPr lvl="2"/>
            <a:r>
              <a:rPr lang="en-US" dirty="0"/>
              <a:t>Undefined-</a:t>
            </a:r>
            <a:r>
              <a:rPr lang="ru-RU" dirty="0"/>
              <a:t>значение (если сам тип его не имеет)</a:t>
            </a:r>
          </a:p>
          <a:p>
            <a:pPr lvl="1"/>
            <a:r>
              <a:rPr lang="ru-RU" dirty="0"/>
              <a:t>Отложенное конструирование объекта</a:t>
            </a:r>
          </a:p>
          <a:p>
            <a:pPr lvl="2"/>
            <a:r>
              <a:rPr lang="ru-RU" dirty="0"/>
              <a:t>Поле класса не может быть проинициализировано в конструкторе</a:t>
            </a:r>
          </a:p>
          <a:p>
            <a:pPr lvl="2"/>
            <a:r>
              <a:rPr lang="ru-RU" dirty="0"/>
              <a:t>Ленивые вычисления</a:t>
            </a:r>
          </a:p>
          <a:p>
            <a:pPr lvl="1"/>
            <a:r>
              <a:rPr lang="ru-RU" dirty="0"/>
              <a:t>Простейшее информирование об ошибке</a:t>
            </a:r>
            <a:endParaRPr lang="en-US" dirty="0"/>
          </a:p>
        </p:txBody>
      </p:sp>
      <p:pic>
        <p:nvPicPr>
          <p:cNvPr id="1032" name="Коробка (зад)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75910" y="137418"/>
            <a:ext cx="2982226" cy="23066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30" name="Шарик" descr="C:\Users\Vivid\AppData\Local\Microsoft\Windows\INetCache\IE\WS3H632O\Blue_sphere.svg[1].png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50477" y="607946"/>
            <a:ext cx="1033094" cy="10330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1" name="Коробка (перед)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75910" y="137417"/>
            <a:ext cx="2982226" cy="23066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E02D6676-6FD6-4AE0-A190-7D7D39D36DD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33659" y="4148473"/>
            <a:ext cx="2524477" cy="2572109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B1337A-C151-C11C-3E05-A0993A3FD7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57676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0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FFC27AD-C05A-8F4D-77A0-5EFEEEE2FBC2}"/>
              </a:ext>
            </a:extLst>
          </p:cNvPr>
          <p:cNvSpPr txBox="1"/>
          <p:nvPr/>
        </p:nvSpPr>
        <p:spPr>
          <a:xfrm>
            <a:off x="1524000" y="15273"/>
            <a:ext cx="8136904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solidFill>
                  <a:srgbClr val="0000FF"/>
                </a:solidFill>
                <a:latin typeface="Consolas" panose="020B0609020204030204" pitchFamily="49" charset="0"/>
              </a:rPr>
              <a:t>enum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class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{ </a:t>
            </a:r>
            <a:r>
              <a:rPr lang="en-US" dirty="0">
                <a:solidFill>
                  <a:srgbClr val="2F4F4F"/>
                </a:solidFill>
                <a:latin typeface="Consolas" panose="020B0609020204030204" pitchFamily="49" charset="0"/>
              </a:rPr>
              <a:t>Red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2F4F4F"/>
                </a:solidFill>
                <a:latin typeface="Consolas" panose="020B0609020204030204" pitchFamily="49" charset="0"/>
              </a:rPr>
              <a:t>Yellow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2F4F4F"/>
                </a:solidFill>
                <a:latin typeface="Consolas" panose="020B0609020204030204" pitchFamily="49" charset="0"/>
              </a:rPr>
              <a:t>Green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2F4F4F"/>
                </a:solidFill>
                <a:latin typeface="Consolas" panose="020B0609020204030204" pitchFamily="49" charset="0"/>
              </a:rPr>
              <a:t>Black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2F4F4F"/>
                </a:solidFill>
                <a:latin typeface="Consolas" panose="020B0609020204030204" pitchFamily="49" charset="0"/>
              </a:rPr>
              <a:t>White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};</a:t>
            </a:r>
          </a:p>
          <a:p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Point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double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x, y;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</a:p>
          <a:p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struct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Triangle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  Point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vertex1, vertex2, vertex3;</a:t>
            </a:r>
          </a:p>
          <a:p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  optional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&gt;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outlineColor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  optional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&lt;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&gt;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fillColor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};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dirty="0">
              <a:solidFill>
                <a:srgbClr val="2B91AF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string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ColorToString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switch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case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dirty="0">
                <a:solidFill>
                  <a:srgbClr val="2F4F4F"/>
                </a:solidFill>
                <a:latin typeface="Consolas" panose="020B0609020204030204" pitchFamily="49" charset="0"/>
              </a:rPr>
              <a:t>Red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"red"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case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dirty="0">
                <a:solidFill>
                  <a:srgbClr val="2F4F4F"/>
                </a:solidFill>
                <a:latin typeface="Consolas" panose="020B0609020204030204" pitchFamily="49" charset="0"/>
              </a:rPr>
              <a:t>Yellow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"yellow"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case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dirty="0">
                <a:solidFill>
                  <a:srgbClr val="2F4F4F"/>
                </a:solidFill>
                <a:latin typeface="Consolas" panose="020B0609020204030204" pitchFamily="49" charset="0"/>
              </a:rPr>
              <a:t>Green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"green"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case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dirty="0">
                <a:solidFill>
                  <a:srgbClr val="2F4F4F"/>
                </a:solidFill>
                <a:latin typeface="Consolas" panose="020B0609020204030204" pitchFamily="49" charset="0"/>
              </a:rPr>
              <a:t>Black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"black"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case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dirty="0">
                <a:solidFill>
                  <a:srgbClr val="2F4F4F"/>
                </a:solidFill>
                <a:latin typeface="Consolas" panose="020B0609020204030204" pitchFamily="49" charset="0"/>
              </a:rPr>
              <a:t>White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: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"white"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default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solidFill>
                  <a:srgbClr val="6F008A"/>
                </a:solidFill>
                <a:latin typeface="Consolas" panose="020B0609020204030204" pitchFamily="49" charset="0"/>
              </a:rPr>
              <a:t>    assert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(!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"unknown color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    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Равнобедренный треугольник 5">
            <a:extLst>
              <a:ext uri="{FF2B5EF4-FFF2-40B4-BE49-F238E27FC236}">
                <a16:creationId xmlns:a16="http://schemas.microsoft.com/office/drawing/2014/main" id="{6F87663C-6802-AC77-4763-FC5D0F3D425A}"/>
              </a:ext>
            </a:extLst>
          </p:cNvPr>
          <p:cNvSpPr/>
          <p:nvPr/>
        </p:nvSpPr>
        <p:spPr>
          <a:xfrm>
            <a:off x="7053437" y="1876553"/>
            <a:ext cx="2160240" cy="1080120"/>
          </a:xfrm>
          <a:prstGeom prst="triangle">
            <a:avLst>
              <a:gd name="adj" fmla="val 16701"/>
            </a:avLst>
          </a:prstGeom>
          <a:solidFill>
            <a:srgbClr val="00B0F0"/>
          </a:solidFill>
          <a:ln w="762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Равнобедренный треугольник 6">
            <a:extLst>
              <a:ext uri="{FF2B5EF4-FFF2-40B4-BE49-F238E27FC236}">
                <a16:creationId xmlns:a16="http://schemas.microsoft.com/office/drawing/2014/main" id="{BBEE4595-B777-7DAF-B902-9A4AB8619656}"/>
              </a:ext>
            </a:extLst>
          </p:cNvPr>
          <p:cNvSpPr/>
          <p:nvPr/>
        </p:nvSpPr>
        <p:spPr>
          <a:xfrm rot="19109283">
            <a:off x="7008271" y="1518133"/>
            <a:ext cx="2495941" cy="1733503"/>
          </a:xfrm>
          <a:prstGeom prst="triangle">
            <a:avLst>
              <a:gd name="adj" fmla="val 50000"/>
            </a:avLst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Равнобедренный треугольник 7">
            <a:extLst>
              <a:ext uri="{FF2B5EF4-FFF2-40B4-BE49-F238E27FC236}">
                <a16:creationId xmlns:a16="http://schemas.microsoft.com/office/drawing/2014/main" id="{2C862EE2-A0EB-56AE-429C-9D4F7E93DDCA}"/>
              </a:ext>
            </a:extLst>
          </p:cNvPr>
          <p:cNvSpPr/>
          <p:nvPr/>
        </p:nvSpPr>
        <p:spPr>
          <a:xfrm rot="2892151">
            <a:off x="7735492" y="2690081"/>
            <a:ext cx="2160240" cy="1437560"/>
          </a:xfrm>
          <a:prstGeom prst="triangle">
            <a:avLst>
              <a:gd name="adj" fmla="val 100000"/>
            </a:avLst>
          </a:prstGeom>
          <a:solidFill>
            <a:srgbClr val="92D050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99C1DD4-E158-4768-62AD-C69793065F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580438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5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5">
                                            <p:txEl>
                                              <p:pRg st="23" end="2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2E220DB-123D-FA08-E6E6-1EA9D4E2BF47}"/>
              </a:ext>
            </a:extLst>
          </p:cNvPr>
          <p:cNvSpPr txBox="1"/>
          <p:nvPr/>
        </p:nvSpPr>
        <p:spPr>
          <a:xfrm>
            <a:off x="1541488" y="14168"/>
            <a:ext cx="9126512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std::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</a:rPr>
              <a:t>ostream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operator&lt;&lt;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</a:rPr>
              <a:t>ostream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strm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Point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point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ru-RU" dirty="0">
                <a:solidFill>
                  <a:srgbClr val="0000FF"/>
                </a:solidFill>
                <a:latin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strm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"{"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point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.x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",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point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.y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"}"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</a:rPr>
              <a:t>ostream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operator&lt;&lt;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 err="1">
                <a:solidFill>
                  <a:srgbClr val="2B91AF"/>
                </a:solidFill>
                <a:latin typeface="Consolas" panose="020B0609020204030204" pitchFamily="49" charset="0"/>
              </a:rPr>
              <a:t>ostream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strm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Triangle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&amp;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ru-RU" dirty="0">
                <a:solidFill>
                  <a:srgbClr val="808080"/>
                </a:solidFill>
                <a:latin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strm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"{p1: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.vertex1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", p2: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.vertex2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", p3: 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808080"/>
                </a:solidFill>
                <a:latin typeface="Consolas" panose="020B0609020204030204" pitchFamily="49" charset="0"/>
              </a:rPr>
              <a:t>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.vertex3;</a:t>
            </a:r>
          </a:p>
          <a:p>
            <a:r>
              <a:rPr lang="ru-RU" dirty="0">
                <a:solidFill>
                  <a:srgbClr val="808080"/>
                </a:solidFill>
                <a:latin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strm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", </a:t>
            </a:r>
            <a:r>
              <a:rPr lang="en-US" dirty="0" err="1">
                <a:solidFill>
                  <a:srgbClr val="A31515"/>
                </a:solidFill>
                <a:latin typeface="Consolas" panose="020B0609020204030204" pitchFamily="49" charset="0"/>
              </a:rPr>
              <a:t>outlineColor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: "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t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.outlineColor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?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ColorToString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*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t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.outlineColor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: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dirty="0" err="1">
                <a:solidFill>
                  <a:srgbClr val="A31515"/>
                </a:solidFill>
                <a:latin typeface="Consolas" panose="020B0609020204030204" pitchFamily="49" charset="0"/>
              </a:rPr>
              <a:t>none"s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ru-RU" dirty="0">
                <a:solidFill>
                  <a:srgbClr val="808080"/>
                </a:solidFill>
                <a:latin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strm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", </a:t>
            </a:r>
            <a:r>
              <a:rPr lang="en-US" dirty="0" err="1">
                <a:solidFill>
                  <a:srgbClr val="A31515"/>
                </a:solidFill>
                <a:latin typeface="Consolas" panose="020B0609020204030204" pitchFamily="49" charset="0"/>
              </a:rPr>
              <a:t>fillColor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: "</a:t>
            </a:r>
            <a:endParaRPr 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t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.fillColor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?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ColorToString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*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t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.fillColor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 :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en-US" dirty="0" err="1">
                <a:solidFill>
                  <a:srgbClr val="A31515"/>
                </a:solidFill>
                <a:latin typeface="Consolas" panose="020B0609020204030204" pitchFamily="49" charset="0"/>
              </a:rPr>
              <a:t>none"s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ru-RU" dirty="0">
                <a:solidFill>
                  <a:srgbClr val="0000FF"/>
                </a:solidFill>
                <a:latin typeface="Consolas" panose="020B0609020204030204" pitchFamily="49" charset="0"/>
              </a:rPr>
              <a:t>  </a:t>
            </a: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return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808080"/>
                </a:solidFill>
                <a:latin typeface="Consolas" panose="020B0609020204030204" pitchFamily="49" charset="0"/>
              </a:rPr>
              <a:t>strm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A31515"/>
                </a:solidFill>
                <a:latin typeface="Consolas" panose="020B0609020204030204" pitchFamily="49" charset="0"/>
              </a:rPr>
              <a:t>"}"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endParaRPr lang="ru-RU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main()</a:t>
            </a:r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{</a:t>
            </a:r>
          </a:p>
          <a:p>
            <a:r>
              <a:rPr lang="ru-RU" dirty="0">
                <a:solidFill>
                  <a:srgbClr val="2B91AF"/>
                </a:solidFill>
                <a:latin typeface="Consolas" panose="020B0609020204030204" pitchFamily="49" charset="0"/>
              </a:rPr>
              <a:t> 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Triangle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t{ { 0, 0 }, { 0, 1 }, { 1, 0 }, </a:t>
            </a:r>
            <a:r>
              <a:rPr lang="en-US" dirty="0">
                <a:solidFill>
                  <a:srgbClr val="2B91AF"/>
                </a:solidFill>
                <a:latin typeface="Consolas" panose="020B0609020204030204" pitchFamily="49" charset="0"/>
              </a:rPr>
              <a:t>Color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::</a:t>
            </a:r>
            <a:r>
              <a:rPr lang="en-US" dirty="0">
                <a:solidFill>
                  <a:srgbClr val="2F4F4F"/>
                </a:solidFill>
                <a:latin typeface="Consolas" panose="020B0609020204030204" pitchFamily="49" charset="0"/>
              </a:rPr>
              <a:t>Red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nullopt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};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cout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t </a:t>
            </a:r>
            <a:r>
              <a:rPr lang="en-US" dirty="0">
                <a:solidFill>
                  <a:srgbClr val="008080"/>
                </a:solidFill>
                <a:latin typeface="Consolas" panose="020B0609020204030204" pitchFamily="49" charset="0"/>
              </a:rPr>
              <a:t>&lt;&lt;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endl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ru-RU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4" name="Равнобедренный треугольник 3">
            <a:extLst>
              <a:ext uri="{FF2B5EF4-FFF2-40B4-BE49-F238E27FC236}">
                <a16:creationId xmlns:a16="http://schemas.microsoft.com/office/drawing/2014/main" id="{C943E33C-060A-FCE3-2226-7D535EDDC567}"/>
              </a:ext>
            </a:extLst>
          </p:cNvPr>
          <p:cNvSpPr/>
          <p:nvPr/>
        </p:nvSpPr>
        <p:spPr>
          <a:xfrm flipH="1">
            <a:off x="8544272" y="4941168"/>
            <a:ext cx="1008112" cy="1008112"/>
          </a:xfrm>
          <a:prstGeom prst="triangle">
            <a:avLst>
              <a:gd name="adj" fmla="val 100000"/>
            </a:avLst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6" name="Прямая со стрелкой 5">
            <a:extLst>
              <a:ext uri="{FF2B5EF4-FFF2-40B4-BE49-F238E27FC236}">
                <a16:creationId xmlns:a16="http://schemas.microsoft.com/office/drawing/2014/main" id="{BC834473-717C-BC1A-3985-186B1DD0ED9C}"/>
              </a:ext>
            </a:extLst>
          </p:cNvPr>
          <p:cNvCxnSpPr>
            <a:cxnSpLocks/>
          </p:cNvCxnSpPr>
          <p:nvPr/>
        </p:nvCxnSpPr>
        <p:spPr>
          <a:xfrm>
            <a:off x="7896200" y="5949280"/>
            <a:ext cx="2304256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Прямая со стрелкой 8">
            <a:extLst>
              <a:ext uri="{FF2B5EF4-FFF2-40B4-BE49-F238E27FC236}">
                <a16:creationId xmlns:a16="http://schemas.microsoft.com/office/drawing/2014/main" id="{58C96BB8-B27C-77BF-5936-BDF602DAA71F}"/>
              </a:ext>
            </a:extLst>
          </p:cNvPr>
          <p:cNvCxnSpPr>
            <a:cxnSpLocks/>
          </p:cNvCxnSpPr>
          <p:nvPr/>
        </p:nvCxnSpPr>
        <p:spPr>
          <a:xfrm flipV="1">
            <a:off x="8544272" y="4571592"/>
            <a:ext cx="0" cy="173772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C670D4E2-03D1-4164-33A5-CD1FA1EC80C1}"/>
              </a:ext>
            </a:extLst>
          </p:cNvPr>
          <p:cNvSpPr txBox="1"/>
          <p:nvPr/>
        </p:nvSpPr>
        <p:spPr>
          <a:xfrm>
            <a:off x="1442480" y="6371167"/>
            <a:ext cx="93245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dirty="0">
                <a:latin typeface="Consolas" panose="020B0609020204030204" pitchFamily="49" charset="0"/>
              </a:rPr>
              <a:t>{p1: {0, 0}, p2: {0, 1}, p3: {1, 0},  </a:t>
            </a:r>
            <a:r>
              <a:rPr lang="ru-RU" sz="1600" dirty="0" err="1">
                <a:latin typeface="Consolas" panose="020B0609020204030204" pitchFamily="49" charset="0"/>
              </a:rPr>
              <a:t>outlineColor</a:t>
            </a:r>
            <a:r>
              <a:rPr lang="ru-RU" sz="1600" dirty="0">
                <a:latin typeface="Consolas" panose="020B0609020204030204" pitchFamily="49" charset="0"/>
              </a:rPr>
              <a:t>: </a:t>
            </a:r>
            <a:r>
              <a:rPr lang="ru-RU" sz="1600" dirty="0" err="1">
                <a:latin typeface="Consolas" panose="020B0609020204030204" pitchFamily="49" charset="0"/>
              </a:rPr>
              <a:t>red</a:t>
            </a:r>
            <a:r>
              <a:rPr lang="ru-RU" sz="1600" dirty="0">
                <a:latin typeface="Consolas" panose="020B0609020204030204" pitchFamily="49" charset="0"/>
              </a:rPr>
              <a:t> </a:t>
            </a:r>
            <a:r>
              <a:rPr lang="ru-RU" sz="1600" dirty="0" err="1">
                <a:latin typeface="Consolas" panose="020B0609020204030204" pitchFamily="49" charset="0"/>
              </a:rPr>
              <a:t>fillColor</a:t>
            </a:r>
            <a:r>
              <a:rPr lang="ru-RU" sz="1600" dirty="0">
                <a:latin typeface="Consolas" panose="020B0609020204030204" pitchFamily="49" charset="0"/>
              </a:rPr>
              <a:t>: </a:t>
            </a:r>
            <a:r>
              <a:rPr lang="ru-RU" sz="1600" dirty="0" err="1">
                <a:latin typeface="Consolas" panose="020B0609020204030204" pitchFamily="49" charset="0"/>
              </a:rPr>
              <a:t>none</a:t>
            </a:r>
            <a:r>
              <a:rPr lang="ru-RU" sz="1600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A49095A-88F7-B3C5-F090-857B1443E1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09439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937F2B1-1617-4CBA-44D3-A7B8AD0CFB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Работа с файловой системой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6F748A-4FFD-3F6B-6BB1-EE545372AC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FF9570F-C000-7228-7217-4695836ECD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90757395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ED466C1-3097-C333-C2CC-DBE5B0065B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Библиотека </a:t>
            </a:r>
            <a:r>
              <a:rPr lang="en-US" dirty="0"/>
              <a:t>std::filesystem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BB61E9-14D3-9D66-3DA8-769D734C39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ru-RU" dirty="0"/>
              <a:t>Позволяет работать с:</a:t>
            </a:r>
          </a:p>
          <a:p>
            <a:pPr lvl="1"/>
            <a:r>
              <a:rPr lang="ru-RU" dirty="0"/>
              <a:t>путями (</a:t>
            </a:r>
            <a:r>
              <a:rPr lang="ru-RU" dirty="0" err="1"/>
              <a:t>path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файлами</a:t>
            </a:r>
          </a:p>
          <a:p>
            <a:pPr lvl="1"/>
            <a:r>
              <a:rPr lang="ru-RU" dirty="0"/>
              <a:t>директориями</a:t>
            </a:r>
          </a:p>
          <a:p>
            <a:pPr lvl="1"/>
            <a:r>
              <a:rPr lang="ru-RU" dirty="0"/>
              <a:t>атрибутами файлов</a:t>
            </a:r>
          </a:p>
          <a:p>
            <a:pPr lvl="1"/>
            <a:r>
              <a:rPr lang="ru-RU" dirty="0"/>
              <a:t>обходом директорий</a:t>
            </a:r>
          </a:p>
          <a:p>
            <a:r>
              <a:rPr lang="ru-RU" dirty="0"/>
              <a:t>Основные возможности</a:t>
            </a:r>
          </a:p>
          <a:p>
            <a:pPr lvl="1"/>
            <a:r>
              <a:rPr lang="ru-RU" dirty="0"/>
              <a:t>получение текущей директории</a:t>
            </a:r>
          </a:p>
          <a:p>
            <a:pPr lvl="1"/>
            <a:r>
              <a:rPr lang="ru-RU" dirty="0"/>
              <a:t>создание и удаление файлов и папок</a:t>
            </a:r>
          </a:p>
          <a:p>
            <a:pPr lvl="1"/>
            <a:r>
              <a:rPr lang="ru-RU" dirty="0"/>
              <a:t>копирование и перемещение файлов</a:t>
            </a:r>
          </a:p>
          <a:p>
            <a:pPr lvl="1"/>
            <a:r>
              <a:rPr lang="ru-RU" dirty="0"/>
              <a:t>проверка существования файлов</a:t>
            </a:r>
          </a:p>
          <a:p>
            <a:pPr lvl="1"/>
            <a:r>
              <a:rPr lang="ru-RU" dirty="0"/>
              <a:t>обход директорий</a:t>
            </a:r>
            <a:endParaRPr lang="en-US" dirty="0"/>
          </a:p>
          <a:p>
            <a:r>
              <a:rPr lang="ru-RU" dirty="0"/>
              <a:t>Использование:</a:t>
            </a:r>
          </a:p>
          <a:p>
            <a:pPr lvl="1"/>
            <a:r>
              <a:rPr lang="ru-RU" dirty="0"/>
              <a:t>Заголовочный файл </a:t>
            </a:r>
            <a:r>
              <a:rPr lang="en-US" dirty="0"/>
              <a:t>&lt;filesystem&gt;</a:t>
            </a:r>
          </a:p>
          <a:p>
            <a:pPr lvl="1"/>
            <a:r>
              <a:rPr lang="ru-RU" dirty="0"/>
              <a:t>Пространству имён </a:t>
            </a:r>
            <a:r>
              <a:rPr lang="en-US" dirty="0"/>
              <a:t>std::filesystem</a:t>
            </a:r>
            <a:endParaRPr lang="ru-RU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ACB10B-809C-47B0-A0F7-9EFCF01056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25503388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32F4EC1-E427-D933-1E85-9432C8A37C2C}"/>
              </a:ext>
            </a:extLst>
          </p:cNvPr>
          <p:cNvSpPr txBox="1"/>
          <p:nvPr/>
        </p:nvSpPr>
        <p:spPr>
          <a:xfrm>
            <a:off x="0" y="0"/>
            <a:ext cx="12192000" cy="6740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iostream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filesystem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fs = std::filesystem;</a:t>
            </a:r>
          </a:p>
          <a:p>
            <a:pPr>
              <a:buNone/>
            </a:pP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currentPath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fs::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current_path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currentPath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currentPath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currentPath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generic_string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parent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currentPath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parent_path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parent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currentPath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filename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textFile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parent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/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file.txt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textFile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textFile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stem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textFile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extension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textFile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replace_extension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dat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textFile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---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entry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: fs::</a:t>
            </a:r>
            <a:r>
              <a:rPr lang="en-US" b="0" dirty="0" err="1">
                <a:solidFill>
                  <a:srgbClr val="2B91AF"/>
                </a:solidFill>
                <a:effectLst/>
                <a:latin typeface="Consolas" panose="020B0609020204030204" pitchFamily="49" charset="0"/>
              </a:rPr>
              <a:t>recursive_directory_iterator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currentPath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))</a:t>
            </a:r>
            <a:r>
              <a:rPr lang="ru-RU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 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 err="1">
                <a:solidFill>
                  <a:srgbClr val="1F377F"/>
                </a:solidFill>
                <a:effectLst/>
                <a:latin typeface="Consolas" panose="020B0609020204030204" pitchFamily="49" charset="0"/>
              </a:rPr>
              <a:t>entry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path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&lt;&lt;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B776FB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 }</a:t>
            </a:r>
          </a:p>
          <a:p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A92736-39A1-7451-DCA4-BC282115F8BD}"/>
              </a:ext>
            </a:extLst>
          </p:cNvPr>
          <p:cNvSpPr txBox="1"/>
          <p:nvPr/>
        </p:nvSpPr>
        <p:spPr>
          <a:xfrm>
            <a:off x="6672064" y="332656"/>
            <a:ext cx="5519936" cy="2492990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1200" dirty="0">
                <a:latin typeface="Consolas" panose="020B0609020204030204" pitchFamily="49" charset="0"/>
              </a:rPr>
              <a:t>"C:\\test\\file_sys\\out\\build\\x64-debug"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C:\test\file_sys\out\build\x64-debug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C:/test/file_sys/out/build/x64-debug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"C:\\test\\file_sys\\out\\build"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"x64-debug"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"C:\\test\\file_sys\\out\\build\\file.txt"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"file"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".txt"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"C:\\test\\file_sys\\out\\build\\file.dat"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---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"C:\\test\\file_sys\\out\\build\\x64-debug\\.cmake"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"C:\\test\\file_sys\\out\\build\\x64-debug\\.cmake\\api"</a:t>
            </a:r>
          </a:p>
          <a:p>
            <a:r>
              <a:rPr lang="en-US" sz="1200" dirty="0">
                <a:latin typeface="Consolas" panose="020B0609020204030204" pitchFamily="49" charset="0"/>
              </a:rPr>
              <a:t>"C:\\test\\file_sys\\out\\build\\x64-debug\\.cmake\\api\\v1"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0732B25-7EE1-E79D-8A0D-561206CEF1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75238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5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5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5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5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5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2" fill="hold">
                      <p:stCondLst>
                        <p:cond delay="indefinite"/>
                      </p:stCondLst>
                      <p:childTnLst>
                        <p:par>
                          <p:cTn id="103" fill="hold">
                            <p:stCondLst>
                              <p:cond delay="0"/>
                            </p:stCondLst>
                            <p:childTnLst>
                              <p:par>
                                <p:cTn id="10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5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2" fill="hold">
                      <p:stCondLst>
                        <p:cond delay="indefinite"/>
                      </p:stCondLst>
                      <p:childTnLst>
                        <p:par>
                          <p:cTn id="113" fill="hold">
                            <p:stCondLst>
                              <p:cond delay="0"/>
                            </p:stCondLst>
                            <p:childTnLst>
                              <p:par>
                                <p:cTn id="11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5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5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500"/>
                                        <p:tgtEl>
                                          <p:spTgt spid="5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7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7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13D48B0-B6A5-4501-7373-49D6DE8FF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Пример: поиск и удаление файлов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C174E10-33E4-E0E7-05B0-B7B939383E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126</a:t>
            </a:fld>
            <a:endParaRPr lang="ru-R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1517577-863D-6BD3-D989-F197169F6AD2}"/>
              </a:ext>
            </a:extLst>
          </p:cNvPr>
          <p:cNvSpPr txBox="1"/>
          <p:nvPr/>
        </p:nvSpPr>
        <p:spPr>
          <a:xfrm>
            <a:off x="838200" y="1690688"/>
            <a:ext cx="11090448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namespace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fs = std::filesystem;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main()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fs::path root = fs::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current_path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&amp; entry : fs::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recursive_directory_iterator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(root))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(!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entry.is_regular_file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())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continue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auto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p = 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entry.path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();</a:t>
            </a: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p.stem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 ==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"virus"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std::</a:t>
            </a:r>
            <a:r>
              <a:rPr lang="en-US" b="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cout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"Deleting 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p &lt;&lt; 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"\n"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    fs::remove(p);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108169524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BDDF1-DE41-B61B-59D6-E90809F8B2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Вопросы</a:t>
            </a:r>
            <a:r>
              <a:rPr lang="en-US" dirty="0"/>
              <a:t>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FDE950-5891-AABF-0BB2-358ECC38AE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00F5C2D-9AD4-6FEC-2EEA-7F90FDDF7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FDEFA0-FF01-4CA2-B8AA-E5F5B71BEE8D}" type="slidenum">
              <a:rPr lang="ru-RU" smtClean="0"/>
              <a:pPr/>
              <a:t>127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4783087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_PRESENTER" val="c3a95a37d3a97989ff551949289caca977b538d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aaefb5e4-2fd5-41dd-b373-e5ed0a0c7dc6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182e97d2-f20a-4606-be19-23a7de49a78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5585c847-70f5-4e89-8337-ff3ca9bbafb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cb6f6964-58fe-459c-b140-825c3f00fcfd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5a838e2c-4a2c-49a3-bc1d-3cd578301d5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c1f769ac-bdfe-41fa-ae75-f65691b298e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5a93f2bf-bdfb-4f8a-83f7-95d0927702f8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95bd3461-00c3-4a96-a922-fc48dc2356c2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95bd3461-00c3-4a96-a922-fc48dc2356c2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07ab4edb-91d0-4af7-9d0b-2c96dec1732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adadbec7-5857-48a6-8b75-4868b9f4040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a77969e6-0576-4669-9cad-43411d005071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SLIDE_GUID" val="189faae1-ba61-49dc-9476-0fcf3871f8da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8068</TotalTime>
  <Words>17656</Words>
  <Application>Microsoft Office PowerPoint</Application>
  <PresentationFormat>Widescreen</PresentationFormat>
  <Paragraphs>2362</Paragraphs>
  <Slides>127</Slides>
  <Notes>78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127</vt:i4>
      </vt:variant>
    </vt:vector>
  </HeadingPairs>
  <TitlesOfParts>
    <vt:vector size="132" baseType="lpstr">
      <vt:lpstr>Arial</vt:lpstr>
      <vt:lpstr>Calibri</vt:lpstr>
      <vt:lpstr>Calibri Light</vt:lpstr>
      <vt:lpstr>Consolas</vt:lpstr>
      <vt:lpstr>Office Theme</vt:lpstr>
      <vt:lpstr>Стандартная библиотека C++</vt:lpstr>
      <vt:lpstr>Стандартная библиотека C++</vt:lpstr>
      <vt:lpstr>Контейнеры стандартной библиотеки</vt:lpstr>
      <vt:lpstr>Основные контейнеры стандартной библиотеки</vt:lpstr>
      <vt:lpstr>std::string</vt:lpstr>
      <vt:lpstr>Строка std::string</vt:lpstr>
      <vt:lpstr>Внутреннее устройство string*</vt:lpstr>
      <vt:lpstr>Создание строки</vt:lpstr>
      <vt:lpstr>Размер и вместимость</vt:lpstr>
      <vt:lpstr>Сравнение строк</vt:lpstr>
      <vt:lpstr>Конкатенация строк</vt:lpstr>
      <vt:lpstr>Извлечение подстроки</vt:lpstr>
      <vt:lpstr>Поиск внутри строки</vt:lpstr>
      <vt:lpstr>Замена фрагмента строки</vt:lpstr>
      <vt:lpstr>string_view</vt:lpstr>
      <vt:lpstr>std::string_view</vt:lpstr>
      <vt:lpstr>Устройство string_view</vt:lpstr>
      <vt:lpstr>Конструирование string_view</vt:lpstr>
      <vt:lpstr>Пример – ссылки на части URL</vt:lpstr>
      <vt:lpstr>std::array</vt:lpstr>
      <vt:lpstr>std::array</vt:lpstr>
      <vt:lpstr>std::array vs C-массив</vt:lpstr>
      <vt:lpstr>Проверка индекса при доступе к элементам std::array</vt:lpstr>
      <vt:lpstr>PowerPoint Presentation</vt:lpstr>
      <vt:lpstr>std::to_array (C++20)</vt:lpstr>
      <vt:lpstr>std::vector</vt:lpstr>
      <vt:lpstr>std::vector</vt:lpstr>
      <vt:lpstr>Внутреннее устройство vector</vt:lpstr>
      <vt:lpstr>Чтение и реверсирование массива</vt:lpstr>
      <vt:lpstr>PowerPoint Presentation</vt:lpstr>
      <vt:lpstr>Резервирование памяти</vt:lpstr>
      <vt:lpstr>Инвалидация ссылок и итераторов std::vector</vt:lpstr>
      <vt:lpstr>Инвалидация ссылок и итераторов</vt:lpstr>
      <vt:lpstr>std::deque</vt:lpstr>
      <vt:lpstr>Двусторонняя очередь (double-ended queue) std::deque</vt:lpstr>
      <vt:lpstr>Возможное устройство deque</vt:lpstr>
      <vt:lpstr>PowerPoint Presentation</vt:lpstr>
      <vt:lpstr>Пример</vt:lpstr>
      <vt:lpstr>std::list</vt:lpstr>
      <vt:lpstr>Двусвязный список std::list</vt:lpstr>
      <vt:lpstr>Возможное устройство двусвязного списка</vt:lpstr>
      <vt:lpstr>Пример: список задач</vt:lpstr>
      <vt:lpstr>Вставка в последовательные контейнеры</vt:lpstr>
      <vt:lpstr>std::map и std::multimap</vt:lpstr>
      <vt:lpstr>Классы std::map и std::multimap</vt:lpstr>
      <vt:lpstr>Красно-чёрное дерево</vt:lpstr>
      <vt:lpstr>Пример: подсчёт частоты встречаемости слов</vt:lpstr>
      <vt:lpstr>PowerPoint Presentation</vt:lpstr>
      <vt:lpstr>Пример: несколько студентов с одинаковым баллом</vt:lpstr>
      <vt:lpstr>std::unordered_map и std::unordered_multimap</vt:lpstr>
      <vt:lpstr>Классы std::unordered_map и std::unordered_multimap</vt:lpstr>
      <vt:lpstr>PowerPoint Presentation</vt:lpstr>
      <vt:lpstr>Возможное устройство  unordered_map</vt:lpstr>
      <vt:lpstr>Создаём простой LRU Cache (unordered_map + list)</vt:lpstr>
      <vt:lpstr>Пример: LRU (Least Recently Used) Cache (Инициализация и поиск)</vt:lpstr>
      <vt:lpstr>LRU Cache – вставка элемента</vt:lpstr>
      <vt:lpstr>LRU Cache - использование</vt:lpstr>
      <vt:lpstr>std::set и std::multiset</vt:lpstr>
      <vt:lpstr>Классы множеств std::set и std::multiset</vt:lpstr>
      <vt:lpstr>Пример</vt:lpstr>
      <vt:lpstr>unordered_set и unordered_multiset</vt:lpstr>
      <vt:lpstr>unordered_set и unordered_multiset</vt:lpstr>
      <vt:lpstr>Пример: удаление повторяющихся чисел</vt:lpstr>
      <vt:lpstr>Пример: подсчёт повторяющихся оценок</vt:lpstr>
      <vt:lpstr>std::function</vt:lpstr>
      <vt:lpstr>std::function</vt:lpstr>
      <vt:lpstr>Задача – поиск текста в потоке</vt:lpstr>
      <vt:lpstr>Решение – передаём обработчик результатов снаружи, используя function</vt:lpstr>
      <vt:lpstr>Обрабатываем результаты в обычной функции</vt:lpstr>
      <vt:lpstr>Лямбда-выражение</vt:lpstr>
      <vt:lpstr>Что у лямбда-функции под капотом?</vt:lpstr>
      <vt:lpstr>PowerPoint Presentation</vt:lpstr>
      <vt:lpstr>Захват переменной по ссылке</vt:lpstr>
      <vt:lpstr>Изменение захваченного значения</vt:lpstr>
      <vt:lpstr>Не вызывайте лямбда-функцию, если захваченная по ссылке переменная разрушена</vt:lpstr>
      <vt:lpstr>Обрабатываем результаты в лямбда-функции</vt:lpstr>
      <vt:lpstr>Обрабатываем результаты в лямбда-функции, захватывающей переменные</vt:lpstr>
      <vt:lpstr>Обрабатываем результаты в методе класса</vt:lpstr>
      <vt:lpstr>Ввод-вывод</vt:lpstr>
      <vt:lpstr>Стандартные потоки ввода-вывода</vt:lpstr>
      <vt:lpstr>Операции ввода-вывода в поток</vt:lpstr>
      <vt:lpstr>Манипуляторы ввода-вывода</vt:lpstr>
      <vt:lpstr>Текстовый поток</vt:lpstr>
      <vt:lpstr>Файловый ввод-вывод</vt:lpstr>
      <vt:lpstr>Тонкости работы с файловыми потоками</vt:lpstr>
      <vt:lpstr>PowerPoint Presentation</vt:lpstr>
      <vt:lpstr>Потоки чтения из строки и записи в строку</vt:lpstr>
      <vt:lpstr>Итераторы</vt:lpstr>
      <vt:lpstr>Итераторы</vt:lpstr>
      <vt:lpstr>Контейнеры и итераторы</vt:lpstr>
      <vt:lpstr>Методы для получения итераторов</vt:lpstr>
      <vt:lpstr>Категории итераторов</vt:lpstr>
      <vt:lpstr>Категории итераторов</vt:lpstr>
      <vt:lpstr>Исследуем range-based for</vt:lpstr>
      <vt:lpstr>Заглядываем внутрь range-based for</vt:lpstr>
      <vt:lpstr>init-statement (начиная с C++20)</vt:lpstr>
      <vt:lpstr>begin-expr и end-expr</vt:lpstr>
      <vt:lpstr>Пример</vt:lpstr>
      <vt:lpstr>PowerPoint Presentation</vt:lpstr>
      <vt:lpstr>Алгоритмы</vt:lpstr>
      <vt:lpstr>Алгоритмы стандартной библиотеки</vt:lpstr>
      <vt:lpstr>Копирование из контейнера в stdout</vt:lpstr>
      <vt:lpstr>Копирование из контейнера в stdout</vt:lpstr>
      <vt:lpstr>Сортировка вектора</vt:lpstr>
      <vt:lpstr>Сортировка с компаратором</vt:lpstr>
      <vt:lpstr>Сортировка с лямбдой</vt:lpstr>
      <vt:lpstr>Сортировка структур</vt:lpstr>
      <vt:lpstr>Пример: поиск медианы</vt:lpstr>
      <vt:lpstr>Поиск элемента в массиве</vt:lpstr>
      <vt:lpstr>PowerPoint Presentation</vt:lpstr>
      <vt:lpstr>PowerPoint Presentation</vt:lpstr>
      <vt:lpstr>Двоичный поиск</vt:lpstr>
      <vt:lpstr>Алгоритмы из библиотеки &lt;ranges&gt; (C++20)</vt:lpstr>
      <vt:lpstr>Проекции</vt:lpstr>
      <vt:lpstr>Конвейер обработки данных</vt:lpstr>
      <vt:lpstr>Идиома erase-remove</vt:lpstr>
      <vt:lpstr>PowerPoint Presentation</vt:lpstr>
      <vt:lpstr>std::erase / std::erase_if</vt:lpstr>
      <vt:lpstr>std::optional</vt:lpstr>
      <vt:lpstr>std::optional</vt:lpstr>
      <vt:lpstr>PowerPoint Presentation</vt:lpstr>
      <vt:lpstr>PowerPoint Presentation</vt:lpstr>
      <vt:lpstr>Работа с файловой системой</vt:lpstr>
      <vt:lpstr>Библиотека std::filesystem</vt:lpstr>
      <vt:lpstr>PowerPoint Presentation</vt:lpstr>
      <vt:lpstr>Пример: поиск и удаление файлов</vt:lpstr>
      <vt:lpstr>Вопросы?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Vivid</dc:creator>
  <cp:lastModifiedBy>Алексей Малов</cp:lastModifiedBy>
  <cp:revision>341</cp:revision>
  <dcterms:created xsi:type="dcterms:W3CDTF">2016-02-02T19:36:42Z</dcterms:created>
  <dcterms:modified xsi:type="dcterms:W3CDTF">2026-03-31T20:07:19Z</dcterms:modified>
</cp:coreProperties>
</file>