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7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8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ink/ink1.xml" ContentType="application/inkml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tags/tag9.xml" ContentType="application/vnd.openxmlformats-officedocument.presentationml.tags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tags/tag10.xml" ContentType="application/vnd.openxmlformats-officedocument.presentationml.tags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tags/tag11.xml" ContentType="application/vnd.openxmlformats-officedocument.presentationml.tags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tags/tag14.xml" ContentType="application/vnd.openxmlformats-officedocument.presentationml.tags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tags/tag15.xml" ContentType="application/vnd.openxmlformats-officedocument.presentationml.tags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tags/tag16.xml" ContentType="application/vnd.openxmlformats-officedocument.presentationml.tags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171"/>
  </p:notesMasterIdLst>
  <p:sldIdLst>
    <p:sldId id="642" r:id="rId2"/>
    <p:sldId id="626" r:id="rId3"/>
    <p:sldId id="627" r:id="rId4"/>
    <p:sldId id="628" r:id="rId5"/>
    <p:sldId id="281" r:id="rId6"/>
    <p:sldId id="377" r:id="rId7"/>
    <p:sldId id="378" r:id="rId8"/>
    <p:sldId id="290" r:id="rId9"/>
    <p:sldId id="643" r:id="rId10"/>
    <p:sldId id="292" r:id="rId11"/>
    <p:sldId id="644" r:id="rId12"/>
    <p:sldId id="294" r:id="rId13"/>
    <p:sldId id="645" r:id="rId14"/>
    <p:sldId id="646" r:id="rId15"/>
    <p:sldId id="380" r:id="rId16"/>
    <p:sldId id="293" r:id="rId17"/>
    <p:sldId id="381" r:id="rId18"/>
    <p:sldId id="282" r:id="rId19"/>
    <p:sldId id="305" r:id="rId20"/>
    <p:sldId id="283" r:id="rId21"/>
    <p:sldId id="307" r:id="rId22"/>
    <p:sldId id="382" r:id="rId23"/>
    <p:sldId id="383" r:id="rId24"/>
    <p:sldId id="259" r:id="rId25"/>
    <p:sldId id="384" r:id="rId26"/>
    <p:sldId id="665" r:id="rId27"/>
    <p:sldId id="385" r:id="rId28"/>
    <p:sldId id="387" r:id="rId29"/>
    <p:sldId id="386" r:id="rId30"/>
    <p:sldId id="389" r:id="rId31"/>
    <p:sldId id="388" r:id="rId32"/>
    <p:sldId id="391" r:id="rId33"/>
    <p:sldId id="664" r:id="rId34"/>
    <p:sldId id="268" r:id="rId35"/>
    <p:sldId id="392" r:id="rId36"/>
    <p:sldId id="393" r:id="rId37"/>
    <p:sldId id="666" r:id="rId38"/>
    <p:sldId id="270" r:id="rId39"/>
    <p:sldId id="647" r:id="rId40"/>
    <p:sldId id="648" r:id="rId41"/>
    <p:sldId id="649" r:id="rId42"/>
    <p:sldId id="398" r:id="rId43"/>
    <p:sldId id="395" r:id="rId44"/>
    <p:sldId id="396" r:id="rId45"/>
    <p:sldId id="667" r:id="rId46"/>
    <p:sldId id="261" r:id="rId47"/>
    <p:sldId id="262" r:id="rId48"/>
    <p:sldId id="400" r:id="rId49"/>
    <p:sldId id="260" r:id="rId50"/>
    <p:sldId id="263" r:id="rId51"/>
    <p:sldId id="291" r:id="rId52"/>
    <p:sldId id="264" r:id="rId53"/>
    <p:sldId id="308" r:id="rId54"/>
    <p:sldId id="668" r:id="rId55"/>
    <p:sldId id="285" r:id="rId56"/>
    <p:sldId id="405" r:id="rId57"/>
    <p:sldId id="407" r:id="rId58"/>
    <p:sldId id="408" r:id="rId59"/>
    <p:sldId id="287" r:id="rId60"/>
    <p:sldId id="356" r:id="rId61"/>
    <p:sldId id="406" r:id="rId62"/>
    <p:sldId id="650" r:id="rId63"/>
    <p:sldId id="401" r:id="rId64"/>
    <p:sldId id="402" r:id="rId65"/>
    <p:sldId id="266" r:id="rId66"/>
    <p:sldId id="403" r:id="rId67"/>
    <p:sldId id="404" r:id="rId68"/>
    <p:sldId id="651" r:id="rId69"/>
    <p:sldId id="652" r:id="rId70"/>
    <p:sldId id="653" r:id="rId71"/>
    <p:sldId id="357" r:id="rId72"/>
    <p:sldId id="358" r:id="rId73"/>
    <p:sldId id="654" r:id="rId74"/>
    <p:sldId id="272" r:id="rId75"/>
    <p:sldId id="273" r:id="rId76"/>
    <p:sldId id="277" r:id="rId77"/>
    <p:sldId id="359" r:id="rId78"/>
    <p:sldId id="361" r:id="rId79"/>
    <p:sldId id="410" r:id="rId80"/>
    <p:sldId id="655" r:id="rId81"/>
    <p:sldId id="656" r:id="rId82"/>
    <p:sldId id="657" r:id="rId83"/>
    <p:sldId id="658" r:id="rId84"/>
    <p:sldId id="279" r:id="rId85"/>
    <p:sldId id="278" r:id="rId86"/>
    <p:sldId id="659" r:id="rId87"/>
    <p:sldId id="409" r:id="rId88"/>
    <p:sldId id="669" r:id="rId89"/>
    <p:sldId id="363" r:id="rId90"/>
    <p:sldId id="364" r:id="rId91"/>
    <p:sldId id="362" r:id="rId92"/>
    <p:sldId id="365" r:id="rId93"/>
    <p:sldId id="630" r:id="rId94"/>
    <p:sldId id="411" r:id="rId95"/>
    <p:sldId id="274" r:id="rId96"/>
    <p:sldId id="325" r:id="rId97"/>
    <p:sldId id="670" r:id="rId98"/>
    <p:sldId id="328" r:id="rId99"/>
    <p:sldId id="631" r:id="rId100"/>
    <p:sldId id="329" r:id="rId101"/>
    <p:sldId id="330" r:id="rId102"/>
    <p:sldId id="331" r:id="rId103"/>
    <p:sldId id="333" r:id="rId104"/>
    <p:sldId id="332" r:id="rId105"/>
    <p:sldId id="326" r:id="rId106"/>
    <p:sldId id="327" r:id="rId107"/>
    <p:sldId id="334" r:id="rId108"/>
    <p:sldId id="297" r:id="rId109"/>
    <p:sldId id="298" r:id="rId110"/>
    <p:sldId id="412" r:id="rId111"/>
    <p:sldId id="413" r:id="rId112"/>
    <p:sldId id="660" r:id="rId113"/>
    <p:sldId id="632" r:id="rId114"/>
    <p:sldId id="299" r:id="rId115"/>
    <p:sldId id="414" r:id="rId116"/>
    <p:sldId id="301" r:id="rId117"/>
    <p:sldId id="633" r:id="rId118"/>
    <p:sldId id="303" r:id="rId119"/>
    <p:sldId id="638" r:id="rId120"/>
    <p:sldId id="639" r:id="rId121"/>
    <p:sldId id="640" r:id="rId122"/>
    <p:sldId id="366" r:id="rId123"/>
    <p:sldId id="367" r:id="rId124"/>
    <p:sldId id="368" r:id="rId125"/>
    <p:sldId id="635" r:id="rId126"/>
    <p:sldId id="634" r:id="rId127"/>
    <p:sldId id="371" r:id="rId128"/>
    <p:sldId id="335" r:id="rId129"/>
    <p:sldId id="339" r:id="rId130"/>
    <p:sldId id="661" r:id="rId131"/>
    <p:sldId id="341" r:id="rId132"/>
    <p:sldId id="671" r:id="rId133"/>
    <p:sldId id="673" r:id="rId134"/>
    <p:sldId id="674" r:id="rId135"/>
    <p:sldId id="675" r:id="rId136"/>
    <p:sldId id="676" r:id="rId137"/>
    <p:sldId id="677" r:id="rId138"/>
    <p:sldId id="672" r:id="rId139"/>
    <p:sldId id="662" r:id="rId140"/>
    <p:sldId id="663" r:id="rId141"/>
    <p:sldId id="344" r:id="rId142"/>
    <p:sldId id="349" r:id="rId143"/>
    <p:sldId id="636" r:id="rId144"/>
    <p:sldId id="679" r:id="rId145"/>
    <p:sldId id="373" r:id="rId146"/>
    <p:sldId id="637" r:id="rId147"/>
    <p:sldId id="678" r:id="rId148"/>
    <p:sldId id="680" r:id="rId149"/>
    <p:sldId id="641" r:id="rId150"/>
    <p:sldId id="375" r:id="rId151"/>
    <p:sldId id="376" r:id="rId152"/>
    <p:sldId id="313" r:id="rId153"/>
    <p:sldId id="415" r:id="rId154"/>
    <p:sldId id="416" r:id="rId155"/>
    <p:sldId id="417" r:id="rId156"/>
    <p:sldId id="418" r:id="rId157"/>
    <p:sldId id="420" r:id="rId158"/>
    <p:sldId id="422" r:id="rId159"/>
    <p:sldId id="419" r:id="rId160"/>
    <p:sldId id="421" r:id="rId161"/>
    <p:sldId id="423" r:id="rId162"/>
    <p:sldId id="424" r:id="rId163"/>
    <p:sldId id="425" r:id="rId164"/>
    <p:sldId id="426" r:id="rId165"/>
    <p:sldId id="427" r:id="rId166"/>
    <p:sldId id="319" r:id="rId167"/>
    <p:sldId id="320" r:id="rId168"/>
    <p:sldId id="321" r:id="rId169"/>
    <p:sldId id="355" r:id="rId170"/>
  </p:sldIdLst>
  <p:sldSz cx="12192000" cy="6858000"/>
  <p:notesSz cx="6858000" cy="9144000"/>
  <p:custDataLst>
    <p:tags r:id="rId17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ъектно-ориентированная парадигма" id="{7651F0BE-0BE9-4323-9B09-74B694D24A6F}">
          <p14:sldIdLst>
            <p14:sldId id="642"/>
          </p14:sldIdLst>
        </p14:section>
        <p14:section name="Объектно-ориентированная парадигма" id="{1318F023-8DD9-4A8A-8DDB-CB2EB0C1E05B}">
          <p14:sldIdLst>
            <p14:sldId id="626"/>
            <p14:sldId id="627"/>
            <p14:sldId id="628"/>
            <p14:sldId id="281"/>
            <p14:sldId id="377"/>
            <p14:sldId id="378"/>
            <p14:sldId id="290"/>
            <p14:sldId id="643"/>
            <p14:sldId id="292"/>
            <p14:sldId id="644"/>
            <p14:sldId id="294"/>
            <p14:sldId id="645"/>
            <p14:sldId id="646"/>
            <p14:sldId id="380"/>
            <p14:sldId id="293"/>
          </p14:sldIdLst>
        </p14:section>
        <p14:section name="Классы" id="{5675DF16-8B35-4E93-8050-02B7373D0E36}">
          <p14:sldIdLst>
            <p14:sldId id="381"/>
            <p14:sldId id="282"/>
            <p14:sldId id="305"/>
            <p14:sldId id="283"/>
            <p14:sldId id="307"/>
            <p14:sldId id="382"/>
            <p14:sldId id="383"/>
            <p14:sldId id="259"/>
            <p14:sldId id="384"/>
          </p14:sldIdLst>
        </p14:section>
        <p14:section name="Методы" id="{2460A18B-B030-44FB-B015-B1D6C22FE6A9}">
          <p14:sldIdLst>
            <p14:sldId id="665"/>
            <p14:sldId id="385"/>
            <p14:sldId id="387"/>
            <p14:sldId id="386"/>
            <p14:sldId id="389"/>
            <p14:sldId id="388"/>
            <p14:sldId id="391"/>
          </p14:sldIdLst>
        </p14:section>
        <p14:section name="Константные методы" id="{FD3F81DB-3EC9-4500-BF93-61EFF2A19914}">
          <p14:sldIdLst>
            <p14:sldId id="664"/>
            <p14:sldId id="268"/>
            <p14:sldId id="392"/>
            <p14:sldId id="393"/>
            <p14:sldId id="666"/>
            <p14:sldId id="270"/>
            <p14:sldId id="647"/>
            <p14:sldId id="648"/>
            <p14:sldId id="649"/>
            <p14:sldId id="398"/>
            <p14:sldId id="395"/>
            <p14:sldId id="396"/>
          </p14:sldIdLst>
        </p14:section>
        <p14:section name="Классы и файлы" id="{924A951C-4B01-4304-BC7D-E39B518F7F15}">
          <p14:sldIdLst>
            <p14:sldId id="667"/>
            <p14:sldId id="261"/>
            <p14:sldId id="262"/>
          </p14:sldIdLst>
        </p14:section>
        <p14:section name="Уровни доступа в классе" id="{C25A9056-7118-4BAF-B166-81B0ECD66DE0}">
          <p14:sldIdLst>
            <p14:sldId id="400"/>
            <p14:sldId id="260"/>
            <p14:sldId id="263"/>
            <p14:sldId id="291"/>
            <p14:sldId id="264"/>
            <p14:sldId id="308"/>
          </p14:sldIdLst>
        </p14:section>
        <p14:section name="Свойства" id="{639C4329-66D6-41C4-BF95-6D03EB932BCC}">
          <p14:sldIdLst>
            <p14:sldId id="668"/>
            <p14:sldId id="285"/>
            <p14:sldId id="405"/>
            <p14:sldId id="407"/>
            <p14:sldId id="408"/>
            <p14:sldId id="287"/>
            <p14:sldId id="356"/>
          </p14:sldIdLst>
        </p14:section>
        <p14:section name="Ссылка на текущий объект" id="{CE112920-A474-4EBB-B41C-276B7CE584FA}">
          <p14:sldIdLst>
            <p14:sldId id="406"/>
            <p14:sldId id="650"/>
            <p14:sldId id="401"/>
            <p14:sldId id="402"/>
            <p14:sldId id="266"/>
            <p14:sldId id="403"/>
            <p14:sldId id="404"/>
            <p14:sldId id="651"/>
            <p14:sldId id="652"/>
            <p14:sldId id="653"/>
          </p14:sldIdLst>
        </p14:section>
        <p14:section name="Конструкторы" id="{EE43C98B-3C4C-493E-BAF8-24727E8F731D}">
          <p14:sldIdLst>
            <p14:sldId id="357"/>
            <p14:sldId id="358"/>
            <p14:sldId id="654"/>
            <p14:sldId id="272"/>
            <p14:sldId id="273"/>
          </p14:sldIdLst>
        </p14:section>
        <p14:section name="Конструктор по умолчанию" id="{4D781A25-E570-4344-9FD4-28D3ED173F50}">
          <p14:sldIdLst>
            <p14:sldId id="277"/>
            <p14:sldId id="359"/>
            <p14:sldId id="361"/>
          </p14:sldIdLst>
        </p14:section>
        <p14:section name="Список инициализации" id="{D9FE5545-3168-4D59-9341-260CE5B479B5}">
          <p14:sldIdLst>
            <p14:sldId id="410"/>
            <p14:sldId id="655"/>
            <p14:sldId id="656"/>
            <p14:sldId id="657"/>
            <p14:sldId id="658"/>
            <p14:sldId id="279"/>
            <p14:sldId id="278"/>
            <p14:sldId id="659"/>
            <p14:sldId id="409"/>
          </p14:sldIdLst>
        </p14:section>
        <p14:section name="Конвертирующий конструктор" id="{47E4EB29-3CFA-4622-8F9D-9F8E9FCE2693}">
          <p14:sldIdLst>
            <p14:sldId id="669"/>
            <p14:sldId id="363"/>
            <p14:sldId id="364"/>
            <p14:sldId id="362"/>
            <p14:sldId id="365"/>
            <p14:sldId id="630"/>
          </p14:sldIdLst>
        </p14:section>
        <p14:section name="Деструктор" id="{0E83F095-11A2-4245-A4FF-38A37F2912DC}">
          <p14:sldIdLst>
            <p14:sldId id="411"/>
            <p14:sldId id="274"/>
            <p14:sldId id="325"/>
            <p14:sldId id="670"/>
            <p14:sldId id="328"/>
            <p14:sldId id="631"/>
            <p14:sldId id="329"/>
            <p14:sldId id="330"/>
            <p14:sldId id="331"/>
            <p14:sldId id="333"/>
            <p14:sldId id="332"/>
            <p14:sldId id="326"/>
            <p14:sldId id="327"/>
            <p14:sldId id="334"/>
          </p14:sldIdLst>
        </p14:section>
        <p14:section name="Копирование объектов" id="{8F6D1FD3-87F0-4368-8009-6784FA00768F}">
          <p14:sldIdLst>
            <p14:sldId id="297"/>
            <p14:sldId id="298"/>
            <p14:sldId id="412"/>
            <p14:sldId id="413"/>
            <p14:sldId id="660"/>
            <p14:sldId id="632"/>
            <p14:sldId id="299"/>
            <p14:sldId id="414"/>
            <p14:sldId id="301"/>
            <p14:sldId id="633"/>
            <p14:sldId id="303"/>
          </p14:sldIdLst>
        </p14:section>
        <p14:section name="Делегирующий конструктор" id="{07CC2094-6037-4257-9848-BC8B6463EE11}">
          <p14:sldIdLst>
            <p14:sldId id="638"/>
            <p14:sldId id="639"/>
            <p14:sldId id="640"/>
          </p14:sldIdLst>
        </p14:section>
        <p14:section name="Присваивание" id="{77E6D7F3-DC7F-408E-8008-6B540BF9F9B2}">
          <p14:sldIdLst>
            <p14:sldId id="366"/>
            <p14:sldId id="367"/>
            <p14:sldId id="368"/>
            <p14:sldId id="635"/>
            <p14:sldId id="634"/>
            <p14:sldId id="371"/>
          </p14:sldIdLst>
        </p14:section>
        <p14:section name="Семантика перемещения" id="{EFF35AB7-F4C1-4162-A2AF-4218E20817B7}">
          <p14:sldIdLst>
            <p14:sldId id="335"/>
            <p14:sldId id="339"/>
            <p14:sldId id="661"/>
            <p14:sldId id="341"/>
            <p14:sldId id="671"/>
            <p14:sldId id="673"/>
            <p14:sldId id="674"/>
            <p14:sldId id="675"/>
            <p14:sldId id="676"/>
            <p14:sldId id="677"/>
            <p14:sldId id="672"/>
            <p14:sldId id="662"/>
            <p14:sldId id="663"/>
            <p14:sldId id="344"/>
            <p14:sldId id="349"/>
            <p14:sldId id="636"/>
            <p14:sldId id="679"/>
            <p14:sldId id="373"/>
            <p14:sldId id="637"/>
            <p14:sldId id="678"/>
            <p14:sldId id="680"/>
          </p14:sldIdLst>
        </p14:section>
        <p14:section name="Конструкторы, деструкторы и операции присваивания в действии" id="{4AE03C3A-7426-4978-A966-CC465AED4171}">
          <p14:sldIdLst>
            <p14:sldId id="641"/>
            <p14:sldId id="375"/>
            <p14:sldId id="376"/>
          </p14:sldIdLst>
        </p14:section>
        <p14:section name="Статические методы" id="{667FB414-5B1D-411C-99C4-894326E198AB}">
          <p14:sldIdLst>
            <p14:sldId id="313"/>
            <p14:sldId id="415"/>
            <p14:sldId id="416"/>
            <p14:sldId id="417"/>
            <p14:sldId id="418"/>
          </p14:sldIdLst>
        </p14:section>
        <p14:section name="Статические данные" id="{8CADD5A7-E311-4EBE-B0AD-C0AE2EA9AB46}">
          <p14:sldIdLst>
            <p14:sldId id="420"/>
            <p14:sldId id="422"/>
            <p14:sldId id="419"/>
            <p14:sldId id="421"/>
            <p14:sldId id="423"/>
            <p14:sldId id="424"/>
            <p14:sldId id="425"/>
            <p14:sldId id="426"/>
            <p14:sldId id="427"/>
          </p14:sldIdLst>
        </p14:section>
        <p14:section name="Кладбище" id="{40389D9F-E49B-47F9-BDB9-3860F2E86801}">
          <p14:sldIdLst>
            <p14:sldId id="319"/>
            <p14:sldId id="320"/>
            <p14:sldId id="321"/>
            <p14:sldId id="3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67840" autoAdjust="0"/>
  </p:normalViewPr>
  <p:slideViewPr>
    <p:cSldViewPr>
      <p:cViewPr varScale="1">
        <p:scale>
          <a:sx n="70" d="100"/>
          <a:sy n="70" d="100"/>
        </p:scale>
        <p:origin x="113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7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tags" Target="tags/tag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theme" Target="theme/theme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16:04:29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681 0 784,'-265'13'352,"36"-3"-352,42 19-800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7A01C-1EBA-4F57-910C-24A56814DEBC}" type="datetimeFigureOut">
              <a:rPr lang="ru-RU" smtClean="0"/>
              <a:pPr/>
              <a:t>25.05.2026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66AAE-56D7-4996-AF0D-BCEC07780D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812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848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мы вводим важное понятие — </a:t>
            </a:r>
            <a:r>
              <a:rPr lang="ru-RU" b="1" dirty="0"/>
              <a:t>парадигма программирования</a:t>
            </a:r>
            <a:r>
              <a:rPr lang="ru-RU" dirty="0"/>
              <a:t>.</a:t>
            </a:r>
          </a:p>
          <a:p>
            <a:r>
              <a:rPr lang="ru-RU" dirty="0"/>
              <a:t>Парадигма — это </a:t>
            </a:r>
            <a:r>
              <a:rPr lang="ru-RU" b="1" dirty="0"/>
              <a:t>общий способ мышления при разработке программы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Она определяет, </a:t>
            </a:r>
            <a:r>
              <a:rPr lang="ru-RU" b="1" dirty="0"/>
              <a:t>как программист представляет задачу и организует решение в коде</a:t>
            </a:r>
            <a:r>
              <a:rPr lang="ru-RU" dirty="0"/>
              <a:t>.</a:t>
            </a:r>
          </a:p>
          <a:p>
            <a:r>
              <a:rPr lang="ru-RU" dirty="0"/>
              <a:t>Важно понимать, что парадигма </a:t>
            </a:r>
            <a:r>
              <a:rPr lang="ru-RU" b="1" dirty="0"/>
              <a:t>не зависит от конкретного языка программирования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Это скорее </a:t>
            </a:r>
            <a:r>
              <a:rPr lang="ru-RU" b="1" dirty="0"/>
              <a:t>подход или модель решения задач</a:t>
            </a:r>
            <a:r>
              <a:rPr lang="ru-RU" dirty="0"/>
              <a:t>.</a:t>
            </a:r>
          </a:p>
          <a:p>
            <a:r>
              <a:rPr lang="ru-RU" dirty="0"/>
              <a:t>Например, одну и ту же задачу можно решить: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последовательность действий,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взаимодействие объектов,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набор функций без состояния.</a:t>
            </a:r>
          </a:p>
          <a:p>
            <a:r>
              <a:rPr lang="ru-RU" dirty="0"/>
              <a:t>Эти разные способы решения и называются </a:t>
            </a:r>
            <a:r>
              <a:rPr lang="ru-RU" b="1" dirty="0"/>
              <a:t>парадигмами программирования</a:t>
            </a:r>
            <a:r>
              <a:rPr lang="ru-RU" dirty="0"/>
              <a:t>.</a:t>
            </a:r>
          </a:p>
          <a:p>
            <a:r>
              <a:rPr lang="ru-RU" dirty="0"/>
              <a:t>Современные языки программирования обычно </a:t>
            </a:r>
            <a:r>
              <a:rPr lang="ru-RU" b="1" dirty="0"/>
              <a:t>поддерживают несколько парадигм одновременно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Например:</a:t>
            </a:r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Python,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C++,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JavaScript.</a:t>
            </a:r>
          </a:p>
          <a:p>
            <a:endParaRPr lang="ru-RU" dirty="0"/>
          </a:p>
          <a:p>
            <a:r>
              <a:rPr lang="ru-RU" dirty="0"/>
              <a:t>В них можно писать и процедурный код, и объектно-ориентированный, а иногда и функциональный.</a:t>
            </a:r>
          </a:p>
          <a:p>
            <a:r>
              <a:rPr lang="ru-RU" dirty="0"/>
              <a:t>В этой лекции мы будем говорить о </a:t>
            </a:r>
            <a:r>
              <a:rPr lang="ru-RU" b="1" dirty="0"/>
              <a:t>объектно-ориентированной парадигме</a:t>
            </a:r>
            <a:r>
              <a:rPr lang="ru-RU" dirty="0"/>
              <a:t>, которая является одной из самых распространённых в современной разработке.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937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Исторически одной из первых широко признанных парадигм стало </a:t>
            </a:r>
            <a:r>
              <a:rPr lang="ru-RU" b="1" dirty="0"/>
              <a:t>структурное программирование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Эта идея была предложена </a:t>
            </a:r>
            <a:r>
              <a:rPr lang="ru-RU" b="1" dirty="0" err="1"/>
              <a:t>Эдсгером</a:t>
            </a:r>
            <a:r>
              <a:rPr lang="ru-RU" b="1" dirty="0"/>
              <a:t> </a:t>
            </a:r>
            <a:r>
              <a:rPr lang="ru-RU" b="1" dirty="0" err="1"/>
              <a:t>Дейкстрой</a:t>
            </a:r>
            <a:r>
              <a:rPr lang="ru-RU" b="1" dirty="0"/>
              <a:t> в 1968 году</a:t>
            </a:r>
            <a:r>
              <a:rPr lang="ru-RU" dirty="0"/>
              <a:t>. Он обратил внимание на проблему, которая существовала в ранних программах: программисты активно использовали оператор </a:t>
            </a:r>
            <a:r>
              <a:rPr lang="ru-RU" b="1" dirty="0" err="1"/>
              <a:t>goto</a:t>
            </a:r>
            <a:r>
              <a:rPr lang="ru-RU" dirty="0"/>
              <a:t>, позволяющий перейти к любой строке программы.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Из-за большого количества таких переходов программа быстро превращалась в так называемый </a:t>
            </a:r>
            <a:r>
              <a:rPr lang="ru-RU" b="1" dirty="0"/>
              <a:t>«</a:t>
            </a:r>
            <a:r>
              <a:rPr lang="ru-RU" b="1" dirty="0" err="1"/>
              <a:t>spaghetti</a:t>
            </a:r>
            <a:r>
              <a:rPr lang="ru-RU" b="1" dirty="0"/>
              <a:t> </a:t>
            </a:r>
            <a:r>
              <a:rPr lang="ru-RU" b="1" dirty="0" err="1"/>
              <a:t>code</a:t>
            </a:r>
            <a:r>
              <a:rPr lang="ru-RU" b="1" dirty="0"/>
              <a:t>»</a:t>
            </a:r>
            <a:r>
              <a:rPr lang="ru-RU" dirty="0"/>
              <a:t> — код, в котором очень трудно понять логику выполнения.</a:t>
            </a:r>
          </a:p>
          <a:p>
            <a:r>
              <a:rPr lang="ru-RU" dirty="0" err="1"/>
              <a:t>Дейкстра</a:t>
            </a:r>
            <a:r>
              <a:rPr lang="ru-RU" dirty="0"/>
              <a:t> предложил ограничить произвольные переходы и строить программы только из нескольких </a:t>
            </a:r>
            <a:r>
              <a:rPr lang="ru-RU" b="1" dirty="0"/>
              <a:t>понятных управляющих конструкций</a:t>
            </a:r>
            <a:r>
              <a:rPr lang="ru-RU" dirty="0"/>
              <a:t>.</a:t>
            </a:r>
          </a:p>
          <a:p>
            <a:r>
              <a:rPr lang="ru-RU" dirty="0"/>
              <a:t>Таких конструкций всего три.</a:t>
            </a:r>
          </a:p>
          <a:p>
            <a:endParaRPr lang="ru-RU" dirty="0"/>
          </a:p>
          <a:p>
            <a:r>
              <a:rPr lang="ru-RU" dirty="0"/>
              <a:t>Первая — </a:t>
            </a:r>
            <a:r>
              <a:rPr lang="ru-RU" b="1" dirty="0"/>
              <a:t>последовательность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Инструкции выполняются одна за другой в том порядке, в котором они записаны.</a:t>
            </a:r>
          </a:p>
          <a:p>
            <a:endParaRPr lang="ru-RU" dirty="0"/>
          </a:p>
          <a:p>
            <a:r>
              <a:rPr lang="ru-RU" dirty="0"/>
              <a:t>Вторая — </a:t>
            </a:r>
            <a:r>
              <a:rPr lang="ru-RU" b="1" dirty="0"/>
              <a:t>ветвление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Программа может выбрать один из нескольких вариантов выполнения в зависимости от условия. Обычно это реализуется через конструкции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Третья — </a:t>
            </a:r>
            <a:r>
              <a:rPr lang="ru-RU" b="1" dirty="0"/>
              <a:t>циклы</a:t>
            </a:r>
            <a:r>
              <a:rPr lang="ru-RU" dirty="0"/>
              <a:t>, которые позволяют выполнять одно и то же действие несколько раз.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do-while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Главная идея структурного программирования состоит в том, что </a:t>
            </a:r>
            <a:r>
              <a:rPr lang="ru-RU" b="1" dirty="0"/>
              <a:t>управление программой должно быть прозрачным и предсказуемым</a:t>
            </a:r>
            <a:r>
              <a:rPr lang="ru-RU" dirty="0"/>
              <a:t>, а не строиться на произвольных переходах.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Эта парадигма стала фундаментом для большинства современных языков программирования и подготовила основу для появления </a:t>
            </a:r>
            <a:r>
              <a:rPr lang="ru-RU" b="1" dirty="0"/>
              <a:t>объектно-ориентированного программирования</a:t>
            </a:r>
            <a:r>
              <a:rPr lang="ru-RU" dirty="0"/>
              <a:t>, о котором мы будем говорить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494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Следующим этапом развития идей структурного программирования стало </a:t>
            </a:r>
            <a:r>
              <a:rPr lang="ru-RU" b="1" dirty="0"/>
              <a:t>процедурное программирование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структурное программирование отвечает на вопрос </a:t>
            </a:r>
            <a:r>
              <a:rPr lang="ru-RU" b="1" dirty="0"/>
              <a:t>как управлять потоком выполнения программы</a:t>
            </a:r>
            <a:r>
              <a:rPr lang="ru-RU" dirty="0"/>
              <a:t>, то процедурное программирование добавляет ещё одну важную идею — </a:t>
            </a:r>
            <a:r>
              <a:rPr lang="ru-RU" b="1" dirty="0"/>
              <a:t>разбиение программы на подпрограммы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Вместо того чтобы писать весь код одной длинной последовательностью инструкций, программист выделяет отдельные логические части программы и оформляет их в виде </a:t>
            </a:r>
            <a:r>
              <a:rPr lang="ru-RU" b="1" dirty="0"/>
              <a:t>процедур или функций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Каждая такая подпрограмма выполняет </a:t>
            </a:r>
            <a:r>
              <a:rPr lang="ru-RU" b="1" dirty="0"/>
              <a:t>конкретную задачу</a:t>
            </a:r>
            <a:r>
              <a:rPr lang="ru-RU" dirty="0"/>
              <a:t>. 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вычисление значения,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обработку данных,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вывод информации.</a:t>
            </a:r>
          </a:p>
          <a:p>
            <a:r>
              <a:rPr lang="ru-RU" dirty="0"/>
              <a:t>Это даёт несколько важных преимуществ.</a:t>
            </a:r>
          </a:p>
          <a:p>
            <a:endParaRPr lang="ru-RU" dirty="0"/>
          </a:p>
          <a:p>
            <a:r>
              <a:rPr lang="ru-RU" dirty="0"/>
              <a:t>Во-первых, появляется </a:t>
            </a:r>
            <a:r>
              <a:rPr lang="ru-RU" b="1" dirty="0"/>
              <a:t>повторное использование кода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Одна и та же функция может вызываться из разных частей программы.</a:t>
            </a:r>
          </a:p>
          <a:p>
            <a:endParaRPr lang="ru-RU" dirty="0"/>
          </a:p>
          <a:p>
            <a:r>
              <a:rPr lang="ru-RU" dirty="0"/>
              <a:t>Во-вторых, программа становится </a:t>
            </a:r>
            <a:r>
              <a:rPr lang="ru-RU" b="1" dirty="0"/>
              <a:t>проще для чтения и понимания</a:t>
            </a:r>
            <a:r>
              <a:rPr lang="ru-RU" dirty="0"/>
              <a:t>, потому что она разбита на небольшие логические блоки.</a:t>
            </a:r>
          </a:p>
          <a:p>
            <a:endParaRPr lang="ru-RU" dirty="0"/>
          </a:p>
          <a:p>
            <a:r>
              <a:rPr lang="ru-RU" dirty="0"/>
              <a:t>Кроме того, такой подход </a:t>
            </a:r>
            <a:r>
              <a:rPr lang="ru-RU" b="1" dirty="0"/>
              <a:t>упрощает разработку и сопровождение программы</a:t>
            </a:r>
            <a:r>
              <a:rPr lang="ru-RU" dirty="0"/>
              <a:t>, поскольку изменения можно вносить внутри отдельных функций, не затрагивая всю систему.</a:t>
            </a:r>
          </a:p>
          <a:p>
            <a:endParaRPr lang="ru-RU" dirty="0"/>
          </a:p>
          <a:p>
            <a:r>
              <a:rPr lang="ru-RU" dirty="0"/>
              <a:t>Процедурное программирование долгое время было основным подходом к разработке программ и лежит в основе таких языков, как </a:t>
            </a:r>
            <a:r>
              <a:rPr lang="ru-RU" b="1" dirty="0"/>
              <a:t>C, </a:t>
            </a:r>
            <a:r>
              <a:rPr lang="ru-RU" b="1" dirty="0" err="1"/>
              <a:t>Pascal</a:t>
            </a:r>
            <a:r>
              <a:rPr lang="ru-RU" b="1" dirty="0"/>
              <a:t> и ранние версии BASIC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Однако со временем стало ясно, что для сложных программ этого подхода недостаточно. Это привело к развитию </a:t>
            </a:r>
            <a:r>
              <a:rPr lang="ru-RU" b="1" dirty="0"/>
              <a:t>объектно-ориентированного программирования</a:t>
            </a:r>
            <a:r>
              <a:rPr lang="ru-RU" dirty="0"/>
              <a:t>, которое мы рассмотрим далее.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598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перейдём к основной теме нашей лекции — </a:t>
            </a:r>
            <a:r>
              <a:rPr lang="ru-RU" b="1" dirty="0"/>
              <a:t>объектно-ориентированному программированию</a:t>
            </a:r>
            <a:r>
              <a:rPr lang="ru-RU" dirty="0"/>
              <a:t>, или сокращённо </a:t>
            </a:r>
            <a:r>
              <a:rPr lang="ru-RU" b="1" dirty="0"/>
              <a:t>ООП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отличие от процедурного подхода, где программа рассматривается как набор функций и процедур, в ООП программа строится вокруг </a:t>
            </a:r>
            <a:r>
              <a:rPr lang="ru-RU" b="1" dirty="0"/>
              <a:t>объектов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/>
              <a:t>Объект</a:t>
            </a:r>
            <a:r>
              <a:rPr lang="ru-RU" dirty="0"/>
              <a:t> — это сущность, которая объединяет: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данные</a:t>
            </a:r>
            <a:r>
              <a:rPr lang="ru-RU" dirty="0"/>
              <a:t>, описывающие состояние объекта,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</a:t>
            </a:r>
            <a:r>
              <a:rPr lang="ru-RU" b="1" dirty="0"/>
              <a:t>операции</a:t>
            </a:r>
            <a:r>
              <a:rPr lang="ru-RU" dirty="0"/>
              <a:t>, которые можно выполнять с этими данными.</a:t>
            </a:r>
          </a:p>
          <a:p>
            <a:r>
              <a:rPr lang="ru-RU" dirty="0"/>
              <a:t>Такие объекты взаимодействуют между собой, передавая сообщения или вызывая методы друг друга.</a:t>
            </a:r>
          </a:p>
          <a:p>
            <a:endParaRPr lang="ru-RU" dirty="0"/>
          </a:p>
          <a:p>
            <a:r>
              <a:rPr lang="ru-RU" dirty="0"/>
              <a:t>Важная идея ООП заключается в том, что программа пытается </a:t>
            </a:r>
            <a:r>
              <a:rPr lang="ru-RU" b="1" dirty="0"/>
              <a:t>моделировать элементы реального мира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Например, в системе интернет-магазина могут существовать объекты: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пользователь,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товар,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заказ,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корзина.</a:t>
            </a:r>
          </a:p>
          <a:p>
            <a:endParaRPr lang="ru-RU" dirty="0"/>
          </a:p>
          <a:p>
            <a:r>
              <a:rPr lang="ru-RU" dirty="0"/>
              <a:t>Каждый объект имеет собственные данные и набор действий, которые он может выполнять.</a:t>
            </a:r>
          </a:p>
          <a:p>
            <a:endParaRPr lang="ru-RU" dirty="0"/>
          </a:p>
          <a:p>
            <a:r>
              <a:rPr lang="ru-RU" dirty="0"/>
              <a:t>Объекты создаются на основе </a:t>
            </a:r>
            <a:r>
              <a:rPr lang="ru-RU" b="1" dirty="0"/>
              <a:t>классов</a:t>
            </a:r>
            <a:r>
              <a:rPr lang="ru-RU" dirty="0"/>
              <a:t> — специальных шаблонов, которые определяют структуру данных и доступные операции.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Такой подход помогает: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лучше структурировать большие программы,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уменьшать сложность системы,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делать код более понятным и расширяемым.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Далее мы подробно рассмотрим основные принципы объектно-ориентированного программирования и то, как они реализуются в современных языках программирования.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386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764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Одним из ключевых понятий объектно-ориентированного программирования является абстракция.</a:t>
            </a:r>
          </a:p>
          <a:p>
            <a:r>
              <a:rPr lang="ru-RU" b="0" dirty="0"/>
              <a:t>Абстракция означает, что при работе с объектом мы используем только те характеристики, которые важны для нашей задачи, и игнорируем детали, которые не имеют значения.</a:t>
            </a:r>
          </a:p>
          <a:p>
            <a:endParaRPr lang="ru-RU" b="0" dirty="0"/>
          </a:p>
          <a:p>
            <a:r>
              <a:rPr lang="ru-RU" b="0" dirty="0"/>
              <a:t>Другими словами, абстракция отвечает на вопрос что делает объект, но не требует знать как именно он это делает внутри.</a:t>
            </a:r>
          </a:p>
          <a:p>
            <a:endParaRPr lang="ru-RU" b="0" dirty="0"/>
          </a:p>
          <a:p>
            <a:r>
              <a:rPr lang="ru-RU" b="0" dirty="0"/>
              <a:t>В программировании абстракция часто реализуется через так называемую абстракцию данных.</a:t>
            </a:r>
            <a:br>
              <a:rPr lang="ru-RU" b="0" dirty="0"/>
            </a:br>
            <a:r>
              <a:rPr lang="ru-RU" b="0" dirty="0"/>
              <a:t>Её идея состоит в том, что тип данных связывается с набором операций, которые можно над ним выполнять.</a:t>
            </a:r>
          </a:p>
          <a:p>
            <a:r>
              <a:rPr lang="ru-RU" b="0" dirty="0"/>
              <a:t>При этом пользователь этого типа данных не имеет прямого доступа к его внутреннему устройству.</a:t>
            </a:r>
            <a:br>
              <a:rPr lang="ru-RU" b="0" dirty="0"/>
            </a:br>
            <a:r>
              <a:rPr lang="ru-RU" b="0" dirty="0"/>
              <a:t>Он работает с данными через предоставленные методы и операции.</a:t>
            </a:r>
          </a:p>
          <a:p>
            <a:endParaRPr lang="ru-RU" b="0" dirty="0"/>
          </a:p>
          <a:p>
            <a:r>
              <a:rPr lang="ru-RU" b="0" dirty="0"/>
              <a:t>Например, в языке C++ класс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b="0" dirty="0"/>
              <a:t> представляет тип данных </a:t>
            </a:r>
            <a:r>
              <a:rPr lang="ru-RU" b="0" i="1" dirty="0"/>
              <a:t>строка</a:t>
            </a:r>
            <a:r>
              <a:rPr lang="ru-RU" b="0" dirty="0"/>
              <a:t>.</a:t>
            </a:r>
            <a:br>
              <a:rPr lang="ru-RU" b="0" dirty="0"/>
            </a:br>
            <a:r>
              <a:rPr lang="ru-RU" b="0" dirty="0"/>
              <a:t>Мы можем выполнять операции — например, соединять строки, искать символы или получать длину строки — но нам не нужно знать, как именно строка хранится в памяти.</a:t>
            </a:r>
          </a:p>
          <a:p>
            <a:endParaRPr lang="ru-RU" b="0" dirty="0"/>
          </a:p>
          <a:p>
            <a:r>
              <a:rPr lang="ru-RU" b="0" dirty="0"/>
              <a:t>Аналогично можно создать собственные типы данных: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класс </a:t>
            </a:r>
            <a:r>
              <a:rPr lang="ru-RU" b="0" dirty="0" err="1"/>
              <a:t>Rational</a:t>
            </a:r>
            <a:r>
              <a:rPr lang="ru-RU" b="0" dirty="0"/>
              <a:t>, представляющий дроби,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0" dirty="0"/>
              <a:t>класс </a:t>
            </a:r>
            <a:r>
              <a:rPr lang="ru-RU" b="0" dirty="0" err="1"/>
              <a:t>Complex</a:t>
            </a:r>
            <a:r>
              <a:rPr lang="ru-RU" b="0" dirty="0"/>
              <a:t>, представляющий комплексные числа.</a:t>
            </a:r>
          </a:p>
          <a:p>
            <a:endParaRPr lang="ru-RU" b="0" dirty="0"/>
          </a:p>
          <a:p>
            <a:r>
              <a:rPr lang="ru-RU" b="0" dirty="0"/>
              <a:t>Главное преимущество абстракции заключается в том, что внутреннюю реализацию можно менять, не затрагивая код, который использует этот тип данных.</a:t>
            </a:r>
          </a:p>
          <a:p>
            <a:endParaRPr lang="ru-RU" b="0" dirty="0"/>
          </a:p>
          <a:p>
            <a:r>
              <a:rPr lang="ru-RU" b="0" dirty="0"/>
              <a:t>Это делает программы более гибкими, понятными и удобными для развития.</a:t>
            </a:r>
          </a:p>
          <a:p>
            <a:r>
              <a:rPr lang="ru-RU" b="0" dirty="0"/>
              <a:t>Абстракция является одной из фундаментальных идей объектно-ориентированного программирования и лежит в основе многих других принципов ООП.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455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 важный принцип объектно-ориентированного программирования — </a:t>
            </a:r>
            <a:r>
              <a:rPr lang="ru-RU" b="1" dirty="0"/>
              <a:t>инкапсуляция</a:t>
            </a:r>
            <a:r>
              <a:rPr lang="ru-RU" dirty="0"/>
              <a:t>.</a:t>
            </a:r>
          </a:p>
          <a:p>
            <a:r>
              <a:rPr lang="ru-RU" dirty="0"/>
              <a:t>Инкапсуляция означает, что объект </a:t>
            </a:r>
            <a:r>
              <a:rPr lang="ru-RU" b="1" dirty="0"/>
              <a:t>скрывает своё внутреннее устройство</a:t>
            </a:r>
            <a:r>
              <a:rPr lang="ru-RU" dirty="0"/>
              <a:t> от внешнего мира.</a:t>
            </a:r>
            <a:br>
              <a:rPr lang="ru-RU" dirty="0"/>
            </a:br>
            <a:r>
              <a:rPr lang="ru-RU" dirty="0"/>
              <a:t>Другие части программы не должны знать, </a:t>
            </a:r>
            <a:r>
              <a:rPr lang="ru-RU" b="1" dirty="0"/>
              <a:t>как именно объект реализован внутри</a:t>
            </a:r>
            <a:r>
              <a:rPr lang="ru-RU" dirty="0"/>
              <a:t>.</a:t>
            </a:r>
          </a:p>
          <a:p>
            <a:r>
              <a:rPr lang="ru-RU" dirty="0"/>
              <a:t>Поэтому класс часто рассматривают как </a:t>
            </a:r>
            <a:r>
              <a:rPr lang="ru-RU" b="1" dirty="0"/>
              <a:t>«чёрный ящик»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Снаружи мы видим только </a:t>
            </a:r>
            <a:r>
              <a:rPr lang="ru-RU" b="1" dirty="0"/>
              <a:t>его интерфейс</a:t>
            </a:r>
            <a:r>
              <a:rPr lang="ru-RU" dirty="0"/>
              <a:t> — то есть набор операций, которые можно выполнять с объектом.</a:t>
            </a:r>
          </a:p>
          <a:p>
            <a:r>
              <a:rPr lang="ru-RU" dirty="0"/>
              <a:t>При этом внутренние детали — структура данных, алгоритмы и вспомогательные методы — остаются </a:t>
            </a:r>
            <a:r>
              <a:rPr lang="ru-RU" b="1" dirty="0"/>
              <a:t>скрытыми внутри реализации класса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любой класс можно условно разделить на две части: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интерфейс</a:t>
            </a:r>
            <a:r>
              <a:rPr lang="ru-RU" dirty="0"/>
              <a:t>, через который происходит взаимодействие с объектом,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реализация</a:t>
            </a:r>
            <a:r>
              <a:rPr lang="ru-RU" dirty="0"/>
              <a:t>, которая определяет, как именно выполняются операции.</a:t>
            </a:r>
          </a:p>
          <a:p>
            <a:endParaRPr lang="ru-RU" dirty="0"/>
          </a:p>
          <a:p>
            <a:r>
              <a:rPr lang="ru-RU" dirty="0"/>
              <a:t>Ещё одна важная роль инкапсуляции — </a:t>
            </a:r>
            <a:r>
              <a:rPr lang="ru-RU" b="1" dirty="0"/>
              <a:t>поддержание инвариантов класса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Инварианты — это условия, которые всегда должны оставаться истинными для корректного состояния объекта.</a:t>
            </a:r>
            <a:br>
              <a:rPr lang="ru-RU" dirty="0"/>
            </a:br>
            <a:r>
              <a:rPr lang="ru-RU" dirty="0"/>
              <a:t>Например, в классе банковского счёта баланс может не должен становиться отрицательным, если это запрещено правилами системы.</a:t>
            </a:r>
          </a:p>
          <a:p>
            <a:endParaRPr lang="ru-RU" dirty="0"/>
          </a:p>
          <a:p>
            <a:r>
              <a:rPr lang="ru-RU" dirty="0"/>
              <a:t>Поскольку доступ к данным контролируется через методы класса, именно реализация класса отвечает за то, чтобы такие условия не нарушались.</a:t>
            </a:r>
          </a:p>
          <a:p>
            <a:endParaRPr lang="ru-RU" dirty="0"/>
          </a:p>
          <a:p>
            <a:r>
              <a:rPr lang="ru-RU" dirty="0"/>
              <a:t>Инкапсуляция также помогает </a:t>
            </a:r>
            <a:r>
              <a:rPr lang="ru-RU" b="1" dirty="0"/>
              <a:t>уменьшить количество зависимостей между классами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означает, что один класс можно изменить, не затрагивая другие части программы.</a:t>
            </a:r>
          </a:p>
          <a:p>
            <a:endParaRPr lang="ru-RU" dirty="0"/>
          </a:p>
          <a:p>
            <a:r>
              <a:rPr lang="ru-RU" dirty="0"/>
              <a:t>В результате код становится </a:t>
            </a:r>
            <a:r>
              <a:rPr lang="ru-RU" b="1" dirty="0"/>
              <a:t>более устойчивым к изменениям, проще тестируется и легче поддерживается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396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Текст докладчика</a:t>
            </a:r>
          </a:p>
          <a:p>
            <a:r>
              <a:rPr lang="ru-RU" dirty="0"/>
              <a:t>На этом слайде приведён пример класса </a:t>
            </a:r>
            <a:r>
              <a:rPr lang="ru-RU" b="1" dirty="0"/>
              <a:t>Car</a:t>
            </a:r>
            <a:r>
              <a:rPr lang="ru-RU" dirty="0"/>
              <a:t>, который хорошо иллюстрирует принцип </a:t>
            </a:r>
            <a:r>
              <a:rPr lang="ru-RU" b="1" dirty="0"/>
              <a:t>инкапсуляции</a:t>
            </a:r>
            <a:r>
              <a:rPr lang="ru-RU" dirty="0"/>
              <a:t>.</a:t>
            </a:r>
          </a:p>
          <a:p>
            <a:r>
              <a:rPr lang="ru-RU" dirty="0"/>
              <a:t>Этот класс моделирует простой объект — </a:t>
            </a:r>
            <a:r>
              <a:rPr lang="ru-RU" b="1" dirty="0"/>
              <a:t>автомобиль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У него есть состояние и набор операций, которые можно с ним выполнять.</a:t>
            </a:r>
          </a:p>
          <a:p>
            <a:r>
              <a:rPr lang="ru-RU" dirty="0"/>
              <a:t>Начнём с </a:t>
            </a:r>
            <a:r>
              <a:rPr lang="ru-RU" b="1" dirty="0"/>
              <a:t>внутреннего состояния объекта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В классе есть два поля: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m_isTurnedOn</a:t>
            </a:r>
            <a:r>
              <a:rPr lang="ru-RU" dirty="0"/>
              <a:t> — показывает, включён ли двигатель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m_speed</a:t>
            </a:r>
            <a:r>
              <a:rPr lang="ru-RU" dirty="0"/>
              <a:t> — текущая скорость автомобиля</a:t>
            </a:r>
          </a:p>
          <a:p>
            <a:endParaRPr lang="ru-RU" dirty="0"/>
          </a:p>
          <a:p>
            <a:r>
              <a:rPr lang="ru-RU" dirty="0"/>
              <a:t>Обратите внимание, что эти поля находятся в разделе </a:t>
            </a:r>
            <a:r>
              <a:rPr lang="ru-RU" b="1" dirty="0" err="1"/>
              <a:t>private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означает, что </a:t>
            </a:r>
            <a:r>
              <a:rPr lang="ru-RU" b="1" dirty="0"/>
              <a:t>напрямую изменить их извне нельзя</a:t>
            </a:r>
            <a:r>
              <a:rPr lang="ru-RU" dirty="0"/>
              <a:t>.</a:t>
            </a:r>
          </a:p>
          <a:p>
            <a:r>
              <a:rPr lang="ru-RU" dirty="0"/>
              <a:t>Другими словами, внешний код </a:t>
            </a:r>
            <a:r>
              <a:rPr lang="ru-RU" b="1" dirty="0"/>
              <a:t>не может просто взять и изменить скорость или состояние двигателя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должен делать это только через методы класса.</a:t>
            </a:r>
          </a:p>
          <a:p>
            <a:r>
              <a:rPr lang="ru-RU" dirty="0"/>
              <a:t>Теперь посмотрим на </a:t>
            </a:r>
            <a:r>
              <a:rPr lang="ru-RU" b="1" dirty="0"/>
              <a:t>публичный интерфейс</a:t>
            </a:r>
            <a:r>
              <a:rPr lang="ru-RU" dirty="0"/>
              <a:t> — раздел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r>
              <a:rPr lang="ru-RU" dirty="0"/>
              <a:t>.</a:t>
            </a:r>
          </a:p>
          <a:p>
            <a:r>
              <a:rPr lang="ru-RU" dirty="0"/>
              <a:t>Здесь находятся методы, через которые пользователь класса взаимодействует с </a:t>
            </a:r>
          </a:p>
          <a:p>
            <a:r>
              <a:rPr lang="ru-RU" dirty="0"/>
              <a:t>автомобилем: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TurnEngineOn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включает двигатель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IsEngineTurnedOn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позволяет узнать, работает ли двигатель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Stop()</a:t>
            </a:r>
            <a:r>
              <a:rPr lang="ru-RU" dirty="0"/>
              <a:t> — останавливает автомобиль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GetSpeed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возвращает текущую скорость</a:t>
            </a:r>
          </a:p>
          <a:p>
            <a:endParaRPr lang="ru-RU" dirty="0"/>
          </a:p>
          <a:p>
            <a:r>
              <a:rPr lang="ru-RU" dirty="0"/>
              <a:t>Есть также более сложные методы.</a:t>
            </a:r>
          </a:p>
          <a:p>
            <a:r>
              <a:rPr lang="ru-RU" dirty="0"/>
              <a:t>Например, метод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TurnEngineOff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выключает двигатель </a:t>
            </a:r>
            <a:r>
              <a:rPr lang="ru-RU" b="1" dirty="0"/>
              <a:t>только если скорость равна нулю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автомобиль движется, двигатель выключить нельзя.</a:t>
            </a:r>
          </a:p>
          <a:p>
            <a:r>
              <a:rPr lang="ru-RU" dirty="0"/>
              <a:t>Это хороший пример того, как класс </a:t>
            </a:r>
            <a:r>
              <a:rPr lang="ru-RU" b="1" dirty="0"/>
              <a:t>контролирует корректность своего состояния</a:t>
            </a:r>
            <a:r>
              <a:rPr lang="ru-RU" dirty="0"/>
              <a:t>.</a:t>
            </a:r>
          </a:p>
          <a:p>
            <a:r>
              <a:rPr lang="ru-RU" dirty="0"/>
              <a:t>Другой пример — метод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Drive()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Он позволяет задать скорость автомобиля, но только если выполняются условия: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двигатель включён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скорость находится в допустимом диапазоне — от 0 до 150</a:t>
            </a:r>
          </a:p>
          <a:p>
            <a:r>
              <a:rPr lang="ru-RU" dirty="0"/>
              <a:t>Если условия не выполняются, метод просто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класс </a:t>
            </a:r>
            <a:r>
              <a:rPr lang="ru-RU" b="1" dirty="0"/>
              <a:t>не позволяет объекту перейти в некорректное состояние</a:t>
            </a:r>
            <a:r>
              <a:rPr lang="ru-RU" dirty="0"/>
              <a:t>.</a:t>
            </a:r>
          </a:p>
          <a:p>
            <a:r>
              <a:rPr lang="ru-RU" dirty="0"/>
              <a:t>Именно в этом и проявляется инкапсуляция: внутренние данные скрыты, а доступ к ним возможен только через методы, которые </a:t>
            </a:r>
            <a:r>
              <a:rPr lang="ru-RU" b="1" dirty="0"/>
              <a:t>контролируют допустимые операции</a:t>
            </a:r>
            <a:r>
              <a:rPr lang="ru-RU" dirty="0"/>
              <a:t>.</a:t>
            </a:r>
          </a:p>
          <a:p>
            <a:r>
              <a:rPr lang="ru-RU" dirty="0"/>
              <a:t>В результате объект </a:t>
            </a:r>
            <a:r>
              <a:rPr lang="ru-RU" b="1" dirty="0"/>
              <a:t>сам отвечает за корректность своего состояния</a:t>
            </a:r>
            <a:r>
              <a:rPr lang="ru-RU" dirty="0"/>
              <a:t>, а внешний код работает только через понятный и безопасный интерфейс.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936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488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приведён пример, демонстрирующий использование </a:t>
            </a:r>
            <a:r>
              <a:rPr lang="ru-RU" b="1" dirty="0"/>
              <a:t>наследования</a:t>
            </a:r>
            <a:r>
              <a:rPr lang="ru-RU" dirty="0"/>
              <a:t>.</a:t>
            </a:r>
          </a:p>
          <a:p>
            <a:r>
              <a:rPr lang="ru-RU" dirty="0"/>
              <a:t>Сначала определим несколько простых структур.</a:t>
            </a:r>
          </a:p>
          <a:p>
            <a:r>
              <a:rPr lang="ru-RU" dirty="0"/>
              <a:t>Структура </a:t>
            </a:r>
            <a:r>
              <a:rPr lang="ru-RU" b="1" dirty="0"/>
              <a:t>Point</a:t>
            </a:r>
            <a:r>
              <a:rPr lang="ru-RU" dirty="0"/>
              <a:t> описывает точку на плоскости и содержит две координаты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.</a:t>
            </a:r>
          </a:p>
          <a:p>
            <a:r>
              <a:rPr lang="ru-RU" dirty="0"/>
              <a:t>Далее определён класс </a:t>
            </a:r>
            <a:r>
              <a:rPr lang="ru-RU" b="1" dirty="0" err="1"/>
              <a:t>GameObject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Это базовый класс, который описывает </a:t>
            </a:r>
            <a:r>
              <a:rPr lang="ru-RU" b="1" dirty="0"/>
              <a:t>любой объект в игре</a:t>
            </a:r>
            <a:r>
              <a:rPr lang="ru-RU" dirty="0"/>
              <a:t>, имеющий положение в пространстве.</a:t>
            </a:r>
          </a:p>
          <a:p>
            <a:r>
              <a:rPr lang="ru-RU" dirty="0"/>
              <a:t>У него есть приватное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m_position</a:t>
            </a:r>
            <a:r>
              <a:rPr lang="ru-RU" dirty="0"/>
              <a:t>, которое хранит координаты объекта.</a:t>
            </a:r>
            <a:br>
              <a:rPr lang="ru-RU" dirty="0"/>
            </a:br>
            <a:r>
              <a:rPr lang="ru-RU" dirty="0"/>
              <a:t>Для работы с этим полем предоставлены два метода: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GetPosition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возвращает текущую позицию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SetPosition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устанавливает новую позицию</a:t>
            </a:r>
          </a:p>
          <a:p>
            <a:r>
              <a:rPr lang="ru-RU" dirty="0"/>
              <a:t>Таким образом, любой объект, унаследованный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GameObject</a:t>
            </a:r>
            <a:r>
              <a:rPr lang="ru-RU" dirty="0"/>
              <a:t>, автоматически получает возможность </a:t>
            </a:r>
            <a:r>
              <a:rPr lang="ru-RU" b="1" dirty="0"/>
              <a:t>хранить и изменять свою позицию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Далее определена структура </a:t>
            </a:r>
            <a:r>
              <a:rPr lang="ru-RU" b="1" dirty="0" err="1"/>
              <a:t>Vector</a:t>
            </a:r>
            <a:r>
              <a:rPr lang="ru-RU" dirty="0"/>
              <a:t>, которая описывает вектор скорости.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Теперь рассмотрим класс </a:t>
            </a:r>
            <a:r>
              <a:rPr lang="ru-RU" b="1" dirty="0" err="1"/>
              <a:t>Rocket</a:t>
            </a:r>
            <a:r>
              <a:rPr lang="ru-RU" dirty="0"/>
              <a:t>.</a:t>
            </a:r>
          </a:p>
          <a:p>
            <a:r>
              <a:rPr lang="ru-RU" dirty="0"/>
              <a:t>Этот класс </a:t>
            </a:r>
            <a:r>
              <a:rPr lang="ru-RU" b="1" dirty="0"/>
              <a:t>наследуется от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GameObject</a:t>
            </a:r>
            <a:r>
              <a:rPr lang="ru-RU" dirty="0"/>
              <a:t>, что видно из записи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Rocket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GameObject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означает, что ракета автоматически получает все возможности базового класса — например, хранение позиции и методы для работы с ней.</a:t>
            </a:r>
          </a:p>
          <a:p>
            <a:endParaRPr lang="ru-RU" dirty="0"/>
          </a:p>
          <a:p>
            <a:r>
              <a:rPr lang="ru-RU" dirty="0"/>
              <a:t>В классе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Rocket</a:t>
            </a:r>
            <a:r>
              <a:rPr lang="ru-RU" dirty="0"/>
              <a:t> добавляется новое поле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m_speed</a:t>
            </a:r>
            <a:r>
              <a:rPr lang="ru-RU" dirty="0"/>
              <a:t>, которое хранит скорость ракеты.</a:t>
            </a:r>
          </a:p>
          <a:p>
            <a:r>
              <a:rPr lang="ru-RU" dirty="0"/>
              <a:t>Также добавляется метод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SetSpeed</a:t>
            </a:r>
            <a:r>
              <a:rPr lang="ru-RU" dirty="0"/>
              <a:t>, позволяющий задать скорость.</a:t>
            </a:r>
          </a:p>
          <a:p>
            <a:r>
              <a:rPr lang="ru-RU" dirty="0"/>
              <a:t>Главная логика находится в методе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Этот метод обновляет положение ракеты в зависимости от её скорости и прошедшего времени.</a:t>
            </a:r>
          </a:p>
          <a:p>
            <a:r>
              <a:rPr lang="ru-RU" dirty="0"/>
              <a:t>Сначала текущая позиция считывается с помощью метода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GetPosition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Затем координаты изменяются согласно формуле движения:</a:t>
            </a:r>
          </a:p>
          <a:p>
            <a:r>
              <a:rPr lang="ru-RU" dirty="0"/>
              <a:t>новая координата равна старой координате плюс скорость, умноженная на время.</a:t>
            </a:r>
          </a:p>
          <a:p>
            <a:endParaRPr lang="ru-RU" dirty="0"/>
          </a:p>
          <a:p>
            <a:r>
              <a:rPr lang="ru-RU" dirty="0"/>
              <a:t>После этого обновлённая позиция записывается обратно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SetPosition</a:t>
            </a:r>
            <a:r>
              <a:rPr lang="ru-RU" dirty="0"/>
              <a:t>.</a:t>
            </a:r>
          </a:p>
          <a:p>
            <a:r>
              <a:rPr lang="ru-RU" dirty="0"/>
              <a:t>В функции </a:t>
            </a:r>
            <a:r>
              <a:rPr lang="ru-RU" b="1" dirty="0" err="1"/>
              <a:t>main</a:t>
            </a:r>
            <a:r>
              <a:rPr lang="ru-RU" dirty="0"/>
              <a:t> создаётся объект ракеты.</a:t>
            </a:r>
          </a:p>
          <a:p>
            <a:r>
              <a:rPr lang="ru-RU" dirty="0"/>
              <a:t>Мы задаём ей скорость — 10 по оси X и 20 по оси Y.</a:t>
            </a:r>
            <a:br>
              <a:rPr lang="ru-RU" dirty="0"/>
            </a:br>
            <a:r>
              <a:rPr lang="ru-RU" dirty="0"/>
              <a:t>Затем вызываем метод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ru-RU" dirty="0"/>
              <a:t>, передавая время, равное одной секунде.</a:t>
            </a:r>
          </a:p>
          <a:p>
            <a:r>
              <a:rPr lang="ru-RU" dirty="0"/>
              <a:t>После этого получаем новую позицию ракеты и выводим её на экран.</a:t>
            </a:r>
          </a:p>
          <a:p>
            <a:endParaRPr lang="ru-RU" dirty="0"/>
          </a:p>
          <a:p>
            <a:r>
              <a:rPr lang="ru-RU" dirty="0"/>
              <a:t>Таким образом, пример показывает, как </a:t>
            </a:r>
            <a:r>
              <a:rPr lang="ru-RU" b="1" dirty="0"/>
              <a:t>наследование позволяет повторно использовать код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Rocket</a:t>
            </a:r>
            <a:r>
              <a:rPr lang="ru-RU" dirty="0"/>
              <a:t> не реализует хранение позиции заново — он просто </a:t>
            </a:r>
            <a:r>
              <a:rPr lang="ru-RU" b="1" dirty="0"/>
              <a:t>наследует эту функциональность от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GameObject</a:t>
            </a:r>
            <a:r>
              <a:rPr lang="ru-RU" dirty="0"/>
              <a:t> и добавляет только ту логику, которая относится непосредственно к ракете.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050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 важный принцип объектно-ориентированного программирования — </a:t>
            </a:r>
            <a:r>
              <a:rPr lang="ru-RU" b="1" dirty="0"/>
              <a:t>полиморфизм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Полиморфизм означает, что </a:t>
            </a:r>
            <a:r>
              <a:rPr lang="ru-RU" b="1" dirty="0"/>
              <a:t>разные объекты можно использовать через один и тот же интерфейс</a:t>
            </a:r>
            <a:r>
              <a:rPr lang="ru-RU" dirty="0"/>
              <a:t>. При этом конкретная реализация операции может отличаться в разных классах.</a:t>
            </a:r>
          </a:p>
          <a:p>
            <a:endParaRPr lang="ru-RU" dirty="0"/>
          </a:p>
          <a:p>
            <a:r>
              <a:rPr lang="ru-RU" dirty="0"/>
              <a:t>Обычно это реализуется с помощью </a:t>
            </a:r>
            <a:r>
              <a:rPr lang="ru-RU" b="1" dirty="0"/>
              <a:t>наследования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Есть базовый класс, который задаёт общий интерфейс, и несколько производных классов, которые реализуют методы по-своему.</a:t>
            </a:r>
          </a:p>
          <a:p>
            <a:endParaRPr lang="ru-RU" dirty="0"/>
          </a:p>
          <a:p>
            <a:r>
              <a:rPr lang="ru-RU" dirty="0"/>
              <a:t>Например, можно иметь базовый класс </a:t>
            </a:r>
            <a:r>
              <a:rPr lang="ru-RU" b="1" dirty="0" err="1"/>
              <a:t>Shape</a:t>
            </a:r>
            <a:r>
              <a:rPr lang="ru-RU" dirty="0"/>
              <a:t> с методом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Классы </a:t>
            </a:r>
            <a:r>
              <a:rPr lang="ru-RU" b="1" dirty="0" err="1"/>
              <a:t>Circle</a:t>
            </a:r>
            <a:r>
              <a:rPr lang="ru-RU" dirty="0"/>
              <a:t>, </a:t>
            </a:r>
            <a:r>
              <a:rPr lang="ru-RU" b="1" dirty="0" err="1"/>
              <a:t>Rectangle</a:t>
            </a:r>
            <a:r>
              <a:rPr lang="ru-RU" dirty="0"/>
              <a:t> и </a:t>
            </a:r>
            <a:r>
              <a:rPr lang="ru-RU" b="1" dirty="0" err="1"/>
              <a:t>Triangle</a:t>
            </a:r>
            <a:r>
              <a:rPr lang="ru-RU" dirty="0"/>
              <a:t> будут реализовывать этот метод по-разному.</a:t>
            </a:r>
          </a:p>
          <a:p>
            <a:endParaRPr lang="ru-RU" dirty="0"/>
          </a:p>
          <a:p>
            <a:r>
              <a:rPr lang="ru-RU" dirty="0"/>
              <a:t>При этом программа может работать со всеми этими объектами одинаково — просто вызывая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r>
              <a:rPr lang="ru-RU" dirty="0"/>
              <a:t>Таким образом, полиморфизм позволяет писать </a:t>
            </a:r>
            <a:r>
              <a:rPr lang="ru-RU" b="1" dirty="0"/>
              <a:t>более универсальный и расширяемый код</a:t>
            </a:r>
            <a:r>
              <a:rPr lang="ru-RU" dirty="0"/>
              <a:t>, который легко дополнять новыми типами объектов.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06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как работает </a:t>
            </a:r>
            <a:r>
              <a:rPr lang="ru-RU" b="1" dirty="0"/>
              <a:t>полиморфизм</a:t>
            </a:r>
            <a:r>
              <a:rPr lang="ru-RU" dirty="0"/>
              <a:t>.</a:t>
            </a:r>
          </a:p>
          <a:p>
            <a:r>
              <a:rPr lang="ru-RU" dirty="0"/>
              <a:t>Сначала определён базовый класс </a:t>
            </a:r>
            <a:r>
              <a:rPr lang="ru-RU" b="1" dirty="0" err="1"/>
              <a:t>GameObject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хранит позицию объекта и объявляет виртуальный метод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ru-RU" dirty="0"/>
              <a:t>, который отвечает за обновление состояния объекта.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1933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Далее определены два класса-наследника: </a:t>
            </a:r>
            <a:r>
              <a:rPr lang="ru-RU" b="0" dirty="0" err="1"/>
              <a:t>Rocket</a:t>
            </a:r>
            <a:r>
              <a:rPr lang="ru-RU" b="0" dirty="0"/>
              <a:t> и </a:t>
            </a:r>
            <a:r>
              <a:rPr lang="ru-RU" b="0" dirty="0" err="1"/>
              <a:t>Ball</a:t>
            </a:r>
            <a:r>
              <a:rPr lang="ru-RU" b="0" dirty="0"/>
              <a:t>.</a:t>
            </a:r>
            <a:br>
              <a:rPr lang="ru-RU" b="0" dirty="0"/>
            </a:br>
            <a:r>
              <a:rPr lang="ru-RU" b="0" dirty="0"/>
              <a:t>Оба класса переопределяют метод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ru-RU" b="0" dirty="0"/>
              <a:t>, но делают это по-разному.</a:t>
            </a:r>
          </a:p>
          <a:p>
            <a:r>
              <a:rPr lang="ru-RU" b="0" dirty="0"/>
              <a:t>Ракета просто перемещается с постоянной скоростью.</a:t>
            </a:r>
            <a:br>
              <a:rPr lang="ru-RU" b="0" dirty="0"/>
            </a:br>
            <a:r>
              <a:rPr lang="ru-RU" b="0" dirty="0"/>
              <a:t>А мяч дополнительно учитывает гравитацию, которая изменяет вертикальную скорость.</a:t>
            </a:r>
          </a:p>
          <a:p>
            <a:r>
              <a:rPr lang="ru-RU" b="0" dirty="0"/>
              <a:t>Функция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UpdateGameObject</a:t>
            </a:r>
            <a:r>
              <a:rPr lang="ru-RU" b="0" dirty="0"/>
              <a:t> принимает ссылку на базовый класс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GameObject</a:t>
            </a:r>
            <a:r>
              <a:rPr lang="ru-RU" b="0" dirty="0"/>
              <a:t> и вызывает метод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ru-RU" b="0" dirty="0"/>
              <a:t>.</a:t>
            </a:r>
          </a:p>
          <a:p>
            <a:r>
              <a:rPr lang="ru-RU" b="0" dirty="0"/>
              <a:t>В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b="0" dirty="0"/>
              <a:t> мы создаём объекты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Rocket</a:t>
            </a:r>
            <a:r>
              <a:rPr lang="ru-RU" b="0" dirty="0"/>
              <a:t> и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Ball</a:t>
            </a:r>
            <a:r>
              <a:rPr lang="ru-RU" b="0" dirty="0"/>
              <a:t> и передаём их в эту функцию.</a:t>
            </a:r>
          </a:p>
          <a:p>
            <a:r>
              <a:rPr lang="ru-RU" b="0" dirty="0"/>
              <a:t>Хотя функция работает с типом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GameObject</a:t>
            </a:r>
            <a:r>
              <a:rPr lang="ru-RU" b="0" dirty="0"/>
              <a:t>, во время выполнения вызывается правильная реализация метода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ru-RU" b="0" dirty="0"/>
              <a:t> для каждого объекта.</a:t>
            </a:r>
          </a:p>
          <a:p>
            <a:r>
              <a:rPr lang="ru-RU" b="0" dirty="0"/>
              <a:t>Это и есть полиморфизм — возможность работать с разными объектами через общий интерфейс.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1094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показывает, как в C++ используется </a:t>
            </a:r>
            <a:r>
              <a:rPr lang="ru-RU" b="1" dirty="0"/>
              <a:t>полиморфизм потоков ввода и вывода</a:t>
            </a:r>
            <a:r>
              <a:rPr lang="ru-RU" dirty="0"/>
              <a:t>.</a:t>
            </a:r>
          </a:p>
          <a:p>
            <a:r>
              <a:rPr lang="ru-RU" dirty="0"/>
              <a:t>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ReadPoint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WritePoint</a:t>
            </a:r>
            <a:r>
              <a:rPr lang="ru-RU" dirty="0"/>
              <a:t> работают не с конкретными типами потоков, а с базовыми типами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istream</a:t>
            </a:r>
            <a:r>
              <a:rPr lang="ru-RU" dirty="0"/>
              <a:t> и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ostream</a:t>
            </a:r>
            <a:r>
              <a:rPr lang="ru-RU" dirty="0"/>
              <a:t>.</a:t>
            </a:r>
          </a:p>
          <a:p>
            <a:r>
              <a:rPr lang="ru-RU" dirty="0"/>
              <a:t>Благодаря этому одна и та же функция может работать с разными источниками данных: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строковым потоком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istringstream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файловыми потоками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ifstream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ofstream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также стандартными потоками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ru-RU" dirty="0"/>
              <a:t>.</a:t>
            </a:r>
          </a:p>
          <a:p>
            <a:r>
              <a:rPr lang="ru-RU" dirty="0"/>
              <a:t>Например, сначала точки читаются из строки, затем записываются в файл, после чего снова читаются из файла.</a:t>
            </a:r>
          </a:p>
          <a:p>
            <a:r>
              <a:rPr lang="ru-RU" dirty="0"/>
              <a:t>При этом код функций </a:t>
            </a:r>
            <a:r>
              <a:rPr lang="ru-RU" b="1" dirty="0"/>
              <a:t>не меняется</a:t>
            </a:r>
            <a:r>
              <a:rPr lang="ru-RU" dirty="0"/>
              <a:t>, потому что все эти типы потоков имеют общий интерфейс.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хороший пример </a:t>
            </a:r>
            <a:r>
              <a:rPr lang="ru-RU" b="1" dirty="0"/>
              <a:t>полиморфизма в стандартной библиотеке C++</a:t>
            </a:r>
            <a:r>
              <a:rPr lang="ru-RU" dirty="0"/>
              <a:t>, когда разные объекты можно использовать через один и тот же интерфейс.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487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 использование </a:t>
            </a:r>
            <a:r>
              <a:rPr lang="ru-RU" b="1" dirty="0"/>
              <a:t>полиморфизма через абстрактный базовый класс</a:t>
            </a:r>
            <a:r>
              <a:rPr lang="ru-RU" dirty="0"/>
              <a:t>.</a:t>
            </a:r>
          </a:p>
          <a:p>
            <a:r>
              <a:rPr lang="ru-RU" dirty="0"/>
              <a:t>Класс </a:t>
            </a:r>
            <a:r>
              <a:rPr lang="ru-RU" b="1" dirty="0" err="1"/>
              <a:t>Shape</a:t>
            </a:r>
            <a:r>
              <a:rPr lang="ru-RU" dirty="0"/>
              <a:t> описывает общую идею геометрической фигуры.</a:t>
            </a:r>
          </a:p>
          <a:p>
            <a:br>
              <a:rPr lang="ru-RU" dirty="0"/>
            </a:br>
            <a:r>
              <a:rPr lang="ru-RU" dirty="0"/>
              <a:t>Он содержит общее свойство — </a:t>
            </a:r>
            <a:r>
              <a:rPr lang="ru-RU" b="1" dirty="0"/>
              <a:t>цвет</a:t>
            </a:r>
            <a:r>
              <a:rPr lang="ru-RU" dirty="0"/>
              <a:t>, а также объявляет чисто виртуальный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GetArea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который должен вычислять площадь фигуры.</a:t>
            </a:r>
          </a:p>
          <a:p>
            <a:endParaRPr lang="ru-RU" dirty="0"/>
          </a:p>
          <a:p>
            <a:r>
              <a:rPr lang="ru-RU" dirty="0"/>
              <a:t>Поскольку этот метод объявлен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 0</a:t>
            </a:r>
            <a:r>
              <a:rPr lang="ru-RU" dirty="0"/>
              <a:t>, класс </a:t>
            </a:r>
            <a:r>
              <a:rPr lang="ru-RU" b="1" dirty="0" err="1"/>
              <a:t>Shape</a:t>
            </a:r>
            <a:r>
              <a:rPr lang="ru-RU" b="1" dirty="0"/>
              <a:t> является абстрактным</a:t>
            </a:r>
            <a:r>
              <a:rPr lang="ru-RU" dirty="0"/>
              <a:t> — объекты этого класса создавать нельзя.</a:t>
            </a:r>
          </a:p>
          <a:p>
            <a:endParaRPr lang="ru-RU" dirty="0"/>
          </a:p>
          <a:p>
            <a:r>
              <a:rPr lang="ru-RU" dirty="0"/>
              <a:t>Далее определён класс </a:t>
            </a:r>
            <a:r>
              <a:rPr lang="ru-RU" b="1" dirty="0" err="1"/>
              <a:t>Circle</a:t>
            </a:r>
            <a:r>
              <a:rPr lang="ru-RU" dirty="0"/>
              <a:t>, который наследуется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 и реализует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GetArea</a:t>
            </a:r>
            <a:r>
              <a:rPr lang="ru-RU" dirty="0"/>
              <a:t>, вычисляя площадь круга.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b="1" dirty="0" err="1"/>
              <a:t>PrintShapeInfo</a:t>
            </a:r>
            <a:r>
              <a:rPr lang="ru-RU" dirty="0"/>
              <a:t> принимает ссылку на базовый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Она выводит цвет фигуры и вызывает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GetArea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При передаче в эту функцию объектов разных типов фигур будет автоматически вызываться </a:t>
            </a:r>
            <a:r>
              <a:rPr lang="ru-RU" b="1" dirty="0"/>
              <a:t>соответствующая реализация метода</a:t>
            </a:r>
            <a:r>
              <a:rPr lang="ru-RU" dirty="0"/>
              <a:t>, что и демонстрирует полиморфизм.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8366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2437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введём два основных понятия объектно-ориентированного программирования — </a:t>
            </a:r>
            <a:r>
              <a:rPr lang="ru-RU" b="1" dirty="0"/>
              <a:t>класс</a:t>
            </a:r>
            <a:r>
              <a:rPr lang="ru-RU" dirty="0"/>
              <a:t> и </a:t>
            </a:r>
            <a:r>
              <a:rPr lang="ru-RU" b="1" dirty="0"/>
              <a:t>объект</a:t>
            </a:r>
            <a:r>
              <a:rPr lang="ru-RU" dirty="0"/>
              <a:t>.</a:t>
            </a:r>
          </a:p>
          <a:p>
            <a:r>
              <a:rPr lang="ru-RU" b="1" dirty="0"/>
              <a:t>Класс</a:t>
            </a:r>
            <a:r>
              <a:rPr lang="ru-RU" dirty="0"/>
              <a:t> — это пользовательский тип данных, который объединяет </a:t>
            </a:r>
            <a:r>
              <a:rPr lang="ru-RU" b="1" dirty="0"/>
              <a:t>данные и методы для работы с ними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Фактически класс описывает, </a:t>
            </a:r>
            <a:r>
              <a:rPr lang="ru-RU" b="1" dirty="0"/>
              <a:t>как устроен объект и что он умеет делать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/>
              <a:t>Объект</a:t>
            </a:r>
            <a:r>
              <a:rPr lang="ru-RU" dirty="0"/>
              <a:t> — это </a:t>
            </a:r>
            <a:r>
              <a:rPr lang="ru-RU" b="1" dirty="0"/>
              <a:t>конкретный экземпляр класса</a:t>
            </a:r>
            <a:r>
              <a:rPr lang="ru-RU" dirty="0"/>
              <a:t>, созданный в программе.</a:t>
            </a:r>
          </a:p>
          <a:p>
            <a:endParaRPr lang="ru-RU" dirty="0"/>
          </a:p>
          <a:p>
            <a:r>
              <a:rPr lang="ru-RU" dirty="0"/>
              <a:t>Можно провести простую аналогию.</a:t>
            </a:r>
            <a:br>
              <a:rPr lang="ru-RU" dirty="0"/>
            </a:br>
            <a:r>
              <a:rPr lang="ru-RU" dirty="0"/>
              <a:t>Например, </a:t>
            </a:r>
            <a:r>
              <a:rPr lang="ru-RU" b="1" dirty="0"/>
              <a:t>«собака»</a:t>
            </a:r>
            <a:r>
              <a:rPr lang="ru-RU" dirty="0"/>
              <a:t> — это класс, то есть общее описание.</a:t>
            </a:r>
            <a:br>
              <a:rPr lang="ru-RU" dirty="0"/>
            </a:br>
            <a:r>
              <a:rPr lang="ru-RU" dirty="0"/>
              <a:t>А </a:t>
            </a:r>
            <a:r>
              <a:rPr lang="ru-RU" b="1" dirty="0"/>
              <a:t>собака Жучка</a:t>
            </a:r>
            <a:r>
              <a:rPr lang="ru-RU" dirty="0"/>
              <a:t> — это конкретный объект этого класса.</a:t>
            </a:r>
          </a:p>
          <a:p>
            <a:endParaRPr lang="ru-RU" dirty="0"/>
          </a:p>
          <a:p>
            <a:r>
              <a:rPr lang="ru-RU" dirty="0"/>
              <a:t>Ещё одна аналогия — </a:t>
            </a:r>
            <a:r>
              <a:rPr lang="ru-RU" b="1" dirty="0"/>
              <a:t>чертёж дома</a:t>
            </a:r>
            <a:r>
              <a:rPr lang="ru-RU" dirty="0"/>
              <a:t> и </a:t>
            </a:r>
            <a:r>
              <a:rPr lang="ru-RU" b="1" dirty="0"/>
              <a:t>построенный дом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Чертёж описывает структуру — это класс.</a:t>
            </a:r>
          </a:p>
          <a:p>
            <a:br>
              <a:rPr lang="ru-RU" dirty="0"/>
            </a:br>
            <a:r>
              <a:rPr lang="ru-RU" dirty="0"/>
              <a:t>А дом, построенный по этому чертежу, — это объект.</a:t>
            </a:r>
          </a:p>
          <a:p>
            <a:r>
              <a:rPr lang="ru-RU" dirty="0"/>
              <a:t>Таким образом, класс задаёт </a:t>
            </a:r>
            <a:r>
              <a:rPr lang="ru-RU" b="1" dirty="0"/>
              <a:t>шаблон</a:t>
            </a:r>
            <a:r>
              <a:rPr lang="ru-RU" dirty="0"/>
              <a:t>, а объекты — это </a:t>
            </a:r>
            <a:r>
              <a:rPr lang="ru-RU" b="1" dirty="0"/>
              <a:t>конкретные реализации этого шаблона в программе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5203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4328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Каждый объект в программе хранит определённую информацию о своём состоянии.</a:t>
            </a:r>
            <a:br>
              <a:rPr lang="ru-RU" dirty="0"/>
            </a:br>
            <a:r>
              <a:rPr lang="ru-RU" dirty="0"/>
              <a:t>Эта информация хранится в </a:t>
            </a:r>
            <a:r>
              <a:rPr lang="ru-RU" b="1" dirty="0"/>
              <a:t>членах-данных</a:t>
            </a:r>
            <a:r>
              <a:rPr lang="ru-RU" dirty="0"/>
              <a:t>, которые также называют </a:t>
            </a:r>
            <a:r>
              <a:rPr lang="ru-RU" b="1" dirty="0"/>
              <a:t>переменными объекта</a:t>
            </a:r>
            <a:r>
              <a:rPr lang="ru-RU" dirty="0"/>
              <a:t>.</a:t>
            </a:r>
          </a:p>
          <a:p>
            <a:r>
              <a:rPr lang="ru-RU" dirty="0"/>
              <a:t>Члены-данные описывают </a:t>
            </a:r>
            <a:r>
              <a:rPr lang="ru-RU" b="1" dirty="0"/>
              <a:t>характеристики объекта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Например, для объекта автомобиля это может быть скорость, состояние двигателя или уровень топлива.</a:t>
            </a:r>
          </a:p>
          <a:p>
            <a:r>
              <a:rPr lang="ru-RU" dirty="0"/>
              <a:t>Именно эти данные определяют </a:t>
            </a:r>
            <a:r>
              <a:rPr lang="ru-RU" b="1" dirty="0"/>
              <a:t>текущее состояние объекта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Когда состояние объекта меняется, на самом деле происходит </a:t>
            </a:r>
            <a:r>
              <a:rPr lang="ru-RU" b="1" dirty="0"/>
              <a:t>изменение значений его данных</a:t>
            </a:r>
            <a:r>
              <a:rPr lang="ru-RU" dirty="0"/>
              <a:t>.</a:t>
            </a:r>
          </a:p>
          <a:p>
            <a:r>
              <a:rPr lang="ru-RU" dirty="0"/>
              <a:t>Важно также понимать, что </a:t>
            </a:r>
            <a:r>
              <a:rPr lang="ru-RU" b="1" dirty="0"/>
              <a:t>каждый объект имеет собственный набор данных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Например, если в программе создано несколько объектов автомобиля, у каждого из них будет </a:t>
            </a:r>
            <a:r>
              <a:rPr lang="ru-RU" b="1" dirty="0"/>
              <a:t>своя скорость и своё состояние двигателя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8774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простой пример класса </a:t>
            </a:r>
            <a:r>
              <a:rPr lang="ru-RU" b="1" dirty="0"/>
              <a:t>Car</a:t>
            </a:r>
            <a:r>
              <a:rPr lang="ru-RU" dirty="0"/>
              <a:t>, который описывает объект «автомобиль».</a:t>
            </a:r>
          </a:p>
          <a:p>
            <a:r>
              <a:rPr lang="ru-RU" dirty="0"/>
              <a:t>Сначала объявлены перечисления </a:t>
            </a:r>
            <a:r>
              <a:rPr lang="ru-RU" b="1" dirty="0" err="1"/>
              <a:t>MakeOfCar</a:t>
            </a:r>
            <a:r>
              <a:rPr lang="ru-RU" dirty="0"/>
              <a:t> и </a:t>
            </a:r>
            <a:r>
              <a:rPr lang="ru-RU" b="1" dirty="0"/>
              <a:t>Color</a:t>
            </a:r>
            <a:r>
              <a:rPr lang="ru-RU" dirty="0"/>
              <a:t>, которые задают возможные значения марки автомобиля и его цвета.</a:t>
            </a:r>
          </a:p>
          <a:p>
            <a:endParaRPr lang="ru-RU" dirty="0"/>
          </a:p>
          <a:p>
            <a:r>
              <a:rPr lang="ru-RU" dirty="0"/>
              <a:t>Далее определён класс </a:t>
            </a:r>
            <a:r>
              <a:rPr lang="ru-RU" b="1" dirty="0"/>
              <a:t>Car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Внутри класса находятся </a:t>
            </a:r>
            <a:r>
              <a:rPr lang="ru-RU" b="1" dirty="0"/>
              <a:t>члены-данные</a:t>
            </a:r>
            <a:r>
              <a:rPr lang="ru-RU" dirty="0"/>
              <a:t>, которые описывают состояние автомобиля.</a:t>
            </a:r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m_make</a:t>
            </a:r>
            <a:r>
              <a:rPr lang="ru-RU" dirty="0"/>
              <a:t> — марка автомобиля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m_yearOfManufacture</a:t>
            </a:r>
            <a:r>
              <a:rPr lang="ru-RU" dirty="0"/>
              <a:t> — год выпуска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m_color</a:t>
            </a:r>
            <a:r>
              <a:rPr lang="ru-RU" dirty="0"/>
              <a:t> — цвет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m_fuel</a:t>
            </a:r>
            <a:r>
              <a:rPr lang="ru-RU" dirty="0"/>
              <a:t> — количество топлива</a:t>
            </a:r>
          </a:p>
          <a:p>
            <a:endParaRPr lang="ru-RU" dirty="0"/>
          </a:p>
          <a:p>
            <a:r>
              <a:rPr lang="ru-RU" dirty="0"/>
              <a:t>Эти переменные хранят </a:t>
            </a:r>
            <a:r>
              <a:rPr lang="ru-RU" b="1" dirty="0"/>
              <a:t>характеристики конкретного автомобиля</a:t>
            </a:r>
            <a:r>
              <a:rPr lang="ru-RU" dirty="0"/>
              <a:t>.</a:t>
            </a:r>
          </a:p>
          <a:p>
            <a:r>
              <a:rPr lang="ru-RU" dirty="0"/>
              <a:t>Когда в программе создаётся объект класса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</a:t>
            </a:r>
            <a:r>
              <a:rPr lang="ru-RU" dirty="0"/>
              <a:t>, он будет иметь </a:t>
            </a:r>
            <a:r>
              <a:rPr lang="ru-RU" b="1" dirty="0"/>
              <a:t>собственный набор этих данных</a:t>
            </a:r>
            <a:r>
              <a:rPr lang="ru-RU" dirty="0"/>
              <a:t>, которые определяют его текущее состояние.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9732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показано, что </a:t>
            </a:r>
            <a:r>
              <a:rPr lang="ru-RU" b="1" dirty="0"/>
              <a:t>один и тот же объект можно представить разными способами</a:t>
            </a:r>
            <a:r>
              <a:rPr lang="ru-RU" dirty="0"/>
              <a:t>.</a:t>
            </a:r>
          </a:p>
          <a:p>
            <a:r>
              <a:rPr lang="ru-RU" dirty="0"/>
              <a:t>В первом варианте класс </a:t>
            </a:r>
            <a:r>
              <a:rPr lang="ru-RU" b="1" dirty="0"/>
              <a:t>Time</a:t>
            </a:r>
            <a:r>
              <a:rPr lang="ru-RU" dirty="0"/>
              <a:t> хранит время как три отдельных поля: часы, минуты и секунды.</a:t>
            </a:r>
          </a:p>
          <a:p>
            <a:endParaRPr lang="ru-RU" dirty="0"/>
          </a:p>
          <a:p>
            <a:r>
              <a:rPr lang="ru-RU" dirty="0"/>
              <a:t>Во втором варианте время хранится как </a:t>
            </a:r>
            <a:r>
              <a:rPr lang="ru-RU" b="1" dirty="0"/>
              <a:t>общее количество секунд с полуночи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Обе реализации описывают один и тот же объект — время, но используют </a:t>
            </a:r>
            <a:r>
              <a:rPr lang="ru-RU" b="1" dirty="0"/>
              <a:t>разное внутреннее представление данных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хороший пример того, что </a:t>
            </a:r>
            <a:r>
              <a:rPr lang="ru-RU" b="1" dirty="0"/>
              <a:t>внутренняя реализация класса может отличаться</a:t>
            </a:r>
            <a:r>
              <a:rPr lang="ru-RU" dirty="0"/>
              <a:t>, а внешний интерфейс при этом может оставаться одинаковым.</a:t>
            </a:r>
          </a:p>
          <a:p>
            <a:br>
              <a:rPr lang="ru-RU" dirty="0"/>
            </a:br>
            <a:r>
              <a:rPr lang="ru-RU" dirty="0"/>
              <a:t>Благодаря инкапсуляции пользователю класса не важно, </a:t>
            </a:r>
            <a:r>
              <a:rPr lang="ru-RU" b="1" dirty="0"/>
              <a:t>как именно данные хранятся внутри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5533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у </a:t>
            </a:r>
            <a:r>
              <a:rPr lang="ru-RU" b="1" dirty="0"/>
              <a:t>классов по умолчанию все члены имеют закрытый доступ (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</a:t>
            </a:r>
            <a:r>
              <a:rPr lang="ru-RU" b="1" dirty="0"/>
              <a:t>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означает, что </a:t>
            </a:r>
            <a:r>
              <a:rPr lang="ru-RU" b="1" dirty="0"/>
              <a:t>внешний код не может напрямую обращаться к данным класса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примере создаётся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r>
              <a:rPr lang="ru-RU" dirty="0"/>
              <a:t>, после чего выполняется попытка изменить его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m_secondsSinceMidnight</a:t>
            </a:r>
            <a:r>
              <a:rPr lang="ru-RU" dirty="0"/>
              <a:t>. Компилятор выдаст ошибку, потому что это поле </a:t>
            </a:r>
            <a:r>
              <a:rPr lang="ru-RU" b="1" dirty="0"/>
              <a:t>закрыто для доступа извне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Такое поведение поддерживает принцип </a:t>
            </a:r>
            <a:r>
              <a:rPr lang="ru-RU" b="1" dirty="0"/>
              <a:t>инкапсуляции</a:t>
            </a:r>
            <a:r>
              <a:rPr lang="ru-RU" dirty="0"/>
              <a:t> — данные объекта защищены и могут изменяться только через методы класса.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6140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каждый член класса или структуры имеет </a:t>
            </a:r>
            <a:r>
              <a:rPr lang="ru-RU" b="1" dirty="0"/>
              <a:t>уровень доступа</a:t>
            </a:r>
            <a:r>
              <a:rPr lang="ru-RU" dirty="0"/>
              <a:t>, который определяет, откуда к нему можно обращаться.</a:t>
            </a:r>
          </a:p>
          <a:p>
            <a:r>
              <a:rPr lang="ru-RU" dirty="0"/>
              <a:t>Существует три основных уровня доступа.</a:t>
            </a:r>
          </a:p>
          <a:p>
            <a:r>
              <a:rPr lang="ru-RU" b="1" dirty="0"/>
              <a:t>Public</a:t>
            </a:r>
            <a:r>
              <a:rPr lang="ru-RU" dirty="0"/>
              <a:t> — это открытый доступ. К таким членам можно обращаться из любого места программы. В структурах это уровень по умолчанию.</a:t>
            </a:r>
          </a:p>
          <a:p>
            <a:r>
              <a:rPr lang="ru-RU" b="1" dirty="0"/>
              <a:t>Private</a:t>
            </a:r>
            <a:r>
              <a:rPr lang="ru-RU" dirty="0"/>
              <a:t> — закрытый доступ. Такие члены доступны только внутри самого класса. В классах это уровень доступа по умолчанию.</a:t>
            </a:r>
          </a:p>
          <a:p>
            <a:r>
              <a:rPr lang="ru-RU" b="1" dirty="0" err="1"/>
              <a:t>Protected</a:t>
            </a:r>
            <a:r>
              <a:rPr lang="ru-RU" dirty="0"/>
              <a:t> — промежуточный вариант. Эти члены доступны внутри класса и также в его </a:t>
            </a:r>
            <a:r>
              <a:rPr lang="ru-RU" b="1" dirty="0"/>
              <a:t>наследниках</a:t>
            </a:r>
            <a:r>
              <a:rPr lang="ru-RU" dirty="0"/>
              <a:t>.</a:t>
            </a:r>
          </a:p>
          <a:p>
            <a:r>
              <a:rPr lang="ru-RU" dirty="0"/>
              <a:t>Механизм уровней доступа позволяет </a:t>
            </a:r>
            <a:r>
              <a:rPr lang="ru-RU" b="1" dirty="0"/>
              <a:t>контролировать использование данных и поддерживать инкапсуляцию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3272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Текст докладчика</a:t>
            </a:r>
          </a:p>
          <a:p>
            <a:r>
              <a:rPr lang="ru-RU" dirty="0"/>
              <a:t>На этом слайде показано, чем отличаются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b="1" dirty="0"/>
              <a:t> и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b="1" dirty="0"/>
              <a:t> в C++</a:t>
            </a:r>
            <a:r>
              <a:rPr lang="ru-RU" dirty="0"/>
              <a:t> с точки зрения уровней доступа.</a:t>
            </a:r>
          </a:p>
          <a:p>
            <a:r>
              <a:rPr lang="ru-RU" dirty="0"/>
              <a:t>На самом деле между ними почти нет функциональной разницы. Основное отличие — </a:t>
            </a:r>
            <a:r>
              <a:rPr lang="ru-RU" b="1" dirty="0"/>
              <a:t>уровень доступа по умолчанию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структуре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dirty="0"/>
              <a:t>) члены по умолчанию имеют уровень доступа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означает, что поля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hours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minutes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seconds</a:t>
            </a:r>
            <a:r>
              <a:rPr lang="ru-RU" dirty="0"/>
              <a:t> доступны из любого места программы.</a:t>
            </a:r>
          </a:p>
          <a:p>
            <a:r>
              <a:rPr lang="ru-RU" dirty="0"/>
              <a:t>В классе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) ситуация обратная — члены по умолчанию имеют уровень доступа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Поэтому поля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m_hours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m_minutes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m_seconds</a:t>
            </a:r>
            <a:r>
              <a:rPr lang="ru-RU" dirty="0"/>
              <a:t> скрыты от внешнего кода.</a:t>
            </a:r>
          </a:p>
          <a:p>
            <a:endParaRPr lang="ru-RU" dirty="0"/>
          </a:p>
          <a:p>
            <a:r>
              <a:rPr lang="ru-RU" dirty="0"/>
              <a:t>Именно поэтому в классах обычно используется </a:t>
            </a:r>
            <a:r>
              <a:rPr lang="ru-RU" b="1" dirty="0"/>
              <a:t>префикс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</a:t>
            </a:r>
            <a:r>
              <a:rPr lang="ru-RU" b="1" dirty="0"/>
              <a:t> для полей</a:t>
            </a:r>
            <a:r>
              <a:rPr lang="ru-RU" dirty="0"/>
              <a:t>, чтобы подчеркнуть, что это внутренние данные объекта.</a:t>
            </a:r>
          </a:p>
          <a:p>
            <a:endParaRPr lang="ru-RU" dirty="0"/>
          </a:p>
          <a:p>
            <a:r>
              <a:rPr lang="ru-RU" dirty="0"/>
              <a:t>Таким образом, главное отличие между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 в C++ — это </a:t>
            </a:r>
            <a:r>
              <a:rPr lang="ru-RU" b="1" dirty="0"/>
              <a:t>уровень доступа по умолчанию</a:t>
            </a:r>
            <a:r>
              <a:rPr lang="ru-RU" dirty="0"/>
              <a:t>, а все остальные возможности у них одинаковые.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3472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5397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объектно-ориентированном программировании доступ к данным объекта обычно выполняется </a:t>
            </a:r>
            <a:r>
              <a:rPr lang="ru-RU" b="1" dirty="0"/>
              <a:t>не напрямую, а через методы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Метод</a:t>
            </a:r>
            <a:r>
              <a:rPr lang="ru-RU" dirty="0"/>
              <a:t> — это функция, объявленная внутри класса.</a:t>
            </a:r>
            <a:br>
              <a:rPr lang="ru-RU" dirty="0"/>
            </a:br>
            <a:r>
              <a:rPr lang="ru-RU" dirty="0"/>
              <a:t>Такие функции также называют </a:t>
            </a:r>
            <a:r>
              <a:rPr lang="ru-RU" b="1" dirty="0"/>
              <a:t>функциями-членами класса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Методы определяют </a:t>
            </a:r>
            <a:r>
              <a:rPr lang="ru-RU" b="1" dirty="0"/>
              <a:t>операции, которые можно выполнять над объектом</a:t>
            </a:r>
            <a:r>
              <a:rPr lang="ru-RU" dirty="0"/>
              <a:t>, и при этом имеют доступ к его внутренним данным.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Обычно используется следующий принцип: </a:t>
            </a:r>
            <a:r>
              <a:rPr lang="ru-RU" b="1" dirty="0"/>
              <a:t>данные делают приватными, а методы — публичными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позволяет контролировать, как именно изменяется состояние объекта и поддерживает принцип </a:t>
            </a:r>
            <a:r>
              <a:rPr lang="ru-RU" b="1" dirty="0"/>
              <a:t>инкапсуляции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05139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показано, </a:t>
            </a:r>
            <a:r>
              <a:rPr lang="ru-RU" b="1" dirty="0"/>
              <a:t>как объявляется метод класса</a:t>
            </a:r>
            <a:r>
              <a:rPr lang="ru-RU" dirty="0"/>
              <a:t>.</a:t>
            </a:r>
          </a:p>
          <a:p>
            <a:r>
              <a:rPr lang="ru-RU" dirty="0"/>
              <a:t>Метод выглядит почти так же, как обычная функция, но он </a:t>
            </a:r>
            <a:r>
              <a:rPr lang="ru-RU" b="1" dirty="0"/>
              <a:t>объявляется внутри класса</a:t>
            </a:r>
            <a:r>
              <a:rPr lang="ru-RU" dirty="0"/>
              <a:t> и работает с данными этого класса.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примере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SomeClass</a:t>
            </a:r>
            <a:r>
              <a:rPr lang="ru-RU" dirty="0"/>
              <a:t> содержит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SetData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Этот метод принимает параметр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 и записывает его значение во внутреннее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m_data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внимание, что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m_data</a:t>
            </a:r>
            <a:r>
              <a:rPr lang="ru-RU" dirty="0"/>
              <a:t> объявлено в разделе </a:t>
            </a:r>
            <a:r>
              <a:rPr lang="ru-RU" b="1" dirty="0" err="1"/>
              <a:t>private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означает, что напрямую изменить его извне нельзя.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Однако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SetData</a:t>
            </a:r>
            <a:r>
              <a:rPr lang="ru-RU" dirty="0"/>
              <a:t>, находясь внутри класса, имеет </a:t>
            </a:r>
            <a:r>
              <a:rPr lang="ru-RU" b="1" dirty="0"/>
              <a:t>полный доступ к приватным данным</a:t>
            </a:r>
            <a:r>
              <a:rPr lang="ru-RU" dirty="0"/>
              <a:t> и может их изменять.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методы выступают </a:t>
            </a:r>
            <a:r>
              <a:rPr lang="ru-RU" b="1" dirty="0"/>
              <a:t>контролируемым способом работы с внутренними данными объекта</a:t>
            </a:r>
            <a:r>
              <a:rPr lang="ru-RU" dirty="0"/>
              <a:t>, что поддерживает принцип </a:t>
            </a:r>
            <a:r>
              <a:rPr lang="ru-RU" b="1" dirty="0"/>
              <a:t>инкапсуляции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4418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пример класса </a:t>
            </a:r>
            <a:r>
              <a:rPr lang="ru-RU" b="1" dirty="0"/>
              <a:t>Time</a:t>
            </a:r>
            <a:r>
              <a:rPr lang="ru-RU" dirty="0"/>
              <a:t>, который демонстрирует использование методов для работы с внутренними данными объекта.</a:t>
            </a:r>
          </a:p>
          <a:p>
            <a:r>
              <a:rPr lang="ru-RU" dirty="0"/>
              <a:t>Внутри класса время хранится в виде </a:t>
            </a:r>
            <a:r>
              <a:rPr lang="ru-RU" b="1" dirty="0"/>
              <a:t>количества секунд с полуночи</a:t>
            </a:r>
            <a:r>
              <a:rPr lang="ru-RU" dirty="0"/>
              <a:t> —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m_secondsSinceMidnight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внутреннее представление данных, и оно скрыто от внешнего кода.</a:t>
            </a:r>
          </a:p>
          <a:p>
            <a:endParaRPr lang="ru-RU" dirty="0"/>
          </a:p>
          <a:p>
            <a:r>
              <a:rPr lang="ru-RU" dirty="0"/>
              <a:t>Для доступа к значениям часов, минут и секунд используются специальные методы: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GetHours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GetMinutes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GetSeconds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Они вычисляют соответствующие значения на основе общего количества секунд.</a:t>
            </a:r>
          </a:p>
          <a:p>
            <a:r>
              <a:rPr lang="ru-RU" dirty="0"/>
              <a:t>Также есть метод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SetTime</a:t>
            </a:r>
            <a:r>
              <a:rPr lang="ru-RU" dirty="0"/>
              <a:t>, который позволяет установить время.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Перед изменением данных он проверяет корректность переданных значений: часы должны быть от 0 до 23, а минуты и секунды — от 0 до 59.</a:t>
            </a:r>
          </a:p>
          <a:p>
            <a:r>
              <a:rPr lang="ru-RU" dirty="0"/>
              <a:t>Если данные некорректны, метод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Если всё корректно — пересчитывает количество секунд и сохраняет его.</a:t>
            </a:r>
          </a:p>
          <a:p>
            <a:r>
              <a:rPr lang="ru-RU" dirty="0"/>
              <a:t>Таким образом, класс </a:t>
            </a:r>
            <a:r>
              <a:rPr lang="ru-RU" b="1" dirty="0"/>
              <a:t>контролирует корректность своих данных</a:t>
            </a:r>
            <a:r>
              <a:rPr lang="ru-RU" dirty="0"/>
              <a:t>, а внешний код работает только через методы. Это пример </a:t>
            </a:r>
            <a:r>
              <a:rPr lang="ru-RU" b="1" dirty="0"/>
              <a:t>инкапсуляции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4313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что методы могут </a:t>
            </a:r>
            <a:r>
              <a:rPr lang="ru-RU" b="1" dirty="0"/>
              <a:t>не только предоставлять доступ к данным</a:t>
            </a:r>
            <a:r>
              <a:rPr lang="ru-RU" dirty="0"/>
              <a:t>, но и выполнять </a:t>
            </a:r>
            <a:r>
              <a:rPr lang="ru-RU" b="1" dirty="0"/>
              <a:t>дополнительную логику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Circle</a:t>
            </a:r>
            <a:r>
              <a:rPr lang="ru-RU" dirty="0"/>
              <a:t> хранит только одно поле — радиус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m_radius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SetRadius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GetRadius</a:t>
            </a:r>
            <a:r>
              <a:rPr lang="ru-RU" dirty="0"/>
              <a:t> позволяют установить и получить его значение.</a:t>
            </a:r>
          </a:p>
          <a:p>
            <a:r>
              <a:rPr lang="ru-RU" dirty="0"/>
              <a:t>Но метод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GetArea</a:t>
            </a:r>
            <a:r>
              <a:rPr lang="ru-RU" dirty="0"/>
              <a:t> делает больше — он </a:t>
            </a:r>
            <a:r>
              <a:rPr lang="ru-RU" b="1" dirty="0"/>
              <a:t>вычисляет площадь круга</a:t>
            </a:r>
            <a:r>
              <a:rPr lang="ru-RU" dirty="0"/>
              <a:t> по формуле π·r².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Обратите внимание, что площадь </a:t>
            </a:r>
            <a:r>
              <a:rPr lang="ru-RU" b="1" dirty="0"/>
              <a:t>не хранится в объекте</a:t>
            </a:r>
            <a:r>
              <a:rPr lang="ru-RU" dirty="0"/>
              <a:t>, а вычисляется при необходимости.</a:t>
            </a:r>
            <a:endParaRPr lang="en-US" dirty="0"/>
          </a:p>
          <a:p>
            <a:br>
              <a:rPr lang="ru-RU" dirty="0"/>
            </a:br>
            <a:r>
              <a:rPr lang="ru-RU" dirty="0"/>
              <a:t>Таким образом методы могут не просто возвращать данные, а </a:t>
            </a:r>
            <a:r>
              <a:rPr lang="ru-RU" b="1" dirty="0"/>
              <a:t>выполнять вычисления и реализовывать поведение объекта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5663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Состояние объекта определяется значениями его </a:t>
            </a:r>
            <a:r>
              <a:rPr lang="ru-RU" b="1" dirty="0"/>
              <a:t>членов-данных</a:t>
            </a:r>
            <a:r>
              <a:rPr lang="ru-RU" dirty="0"/>
              <a:t>.</a:t>
            </a:r>
          </a:p>
          <a:p>
            <a:r>
              <a:rPr lang="ru-RU" dirty="0"/>
              <a:t>Когда состояние объекта меняется, на самом деле происходит </a:t>
            </a:r>
            <a:r>
              <a:rPr lang="ru-RU" b="1" dirty="0"/>
              <a:t>изменение этих данных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Поскольку в ООП данные обычно делают </a:t>
            </a:r>
            <a:r>
              <a:rPr lang="ru-RU" b="1" dirty="0"/>
              <a:t>приватными</a:t>
            </a:r>
            <a:r>
              <a:rPr lang="ru-RU" dirty="0"/>
              <a:t>, изменить их можно только через </a:t>
            </a:r>
            <a:r>
              <a:rPr lang="ru-RU" b="1" dirty="0"/>
              <a:t>методы класса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возникает вопрос: </a:t>
            </a:r>
            <a:r>
              <a:rPr lang="ru-RU" b="1" dirty="0"/>
              <a:t>что делать с константными объектами?</a:t>
            </a:r>
            <a:endParaRPr lang="ru-RU" dirty="0"/>
          </a:p>
          <a:p>
            <a:r>
              <a:rPr lang="ru-RU" dirty="0"/>
              <a:t>Если объект объявлен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, его состояние </a:t>
            </a:r>
            <a:r>
              <a:rPr lang="ru-RU" b="1" dirty="0"/>
              <a:t>нельзя изменять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Следовательно, методы, которые изменяют данные объекта, </a:t>
            </a:r>
            <a:r>
              <a:rPr lang="ru-RU" b="1" dirty="0"/>
              <a:t>нельзя вызывать</a:t>
            </a:r>
            <a:r>
              <a:rPr lang="ru-RU" dirty="0"/>
              <a:t> для таких объектов.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837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PrintCircle</a:t>
            </a:r>
            <a:r>
              <a:rPr lang="ru-RU" dirty="0"/>
              <a:t> принимает объект как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Circle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, то есть обещает </a:t>
            </a:r>
            <a:r>
              <a:rPr lang="ru-RU" b="1" dirty="0"/>
              <a:t>не изменять его состояние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Однако при компиляции возникает ошибка, когда мы пытаемся вызвать 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GetRadius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GetArea</a:t>
            </a:r>
            <a:r>
              <a:rPr lang="ru-RU" dirty="0"/>
              <a:t>.</a:t>
            </a:r>
          </a:p>
          <a:p>
            <a:r>
              <a:rPr lang="ru-RU" dirty="0"/>
              <a:t>На первый взгляд это кажется странным, потому что эти методы </a:t>
            </a:r>
            <a:r>
              <a:rPr lang="ru-RU" b="1" dirty="0"/>
              <a:t>не изменяют состояние объекта</a:t>
            </a:r>
            <a:r>
              <a:rPr lang="ru-RU" dirty="0"/>
              <a:t> — они просто возвращают значения и выполняют вычисления.</a:t>
            </a:r>
          </a:p>
          <a:p>
            <a:r>
              <a:rPr lang="ru-RU" dirty="0"/>
              <a:t>Но важно понимать одну вещь: </a:t>
            </a:r>
            <a:r>
              <a:rPr lang="ru-RU" b="1" dirty="0"/>
              <a:t>компилятор не анализирует тело метода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Он не заглядывает внутрь и не проверяет, меняет ли метод данные объекта.</a:t>
            </a:r>
          </a:p>
          <a:p>
            <a:r>
              <a:rPr lang="ru-RU" dirty="0"/>
              <a:t>Для компилятора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SetRadius</a:t>
            </a:r>
            <a:r>
              <a:rPr lang="ru-RU" dirty="0"/>
              <a:t>, который действительно изменяет радиус, и 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GetRadius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GetArea</a:t>
            </a:r>
            <a:r>
              <a:rPr lang="ru-RU" dirty="0"/>
              <a:t>, которые только читают данные, </a:t>
            </a:r>
            <a:r>
              <a:rPr lang="ru-RU" b="1" dirty="0"/>
              <a:t>выглядят одинаково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Поэтому компилятор руководствуется </a:t>
            </a:r>
            <a:r>
              <a:rPr lang="ru-RU" b="1" dirty="0"/>
              <a:t>другим механизмом</a:t>
            </a:r>
            <a:r>
              <a:rPr lang="ru-RU" dirty="0"/>
              <a:t>, который позволяет явно указать, может ли метод изменять объект.</a:t>
            </a:r>
            <a:br>
              <a:rPr lang="ru-RU" dirty="0"/>
            </a:br>
            <a:r>
              <a:rPr lang="ru-RU" dirty="0"/>
              <a:t>Как раз об этом мы поговорим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5453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9404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компилятор понимал, какие методы </a:t>
            </a:r>
            <a:r>
              <a:rPr lang="ru-RU" b="1" dirty="0"/>
              <a:t>не изменяют состояние объекта</a:t>
            </a:r>
            <a:r>
              <a:rPr lang="ru-RU" dirty="0"/>
              <a:t>, в C++ используется спецификатор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.</a:t>
            </a:r>
          </a:p>
          <a:p>
            <a:r>
              <a:rPr lang="ru-RU" dirty="0"/>
              <a:t>Если метод объявлен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, это означает, что внутри него </a:t>
            </a:r>
            <a:r>
              <a:rPr lang="ru-RU" b="1" dirty="0"/>
              <a:t>запрещено изменять данные объекта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Компилятор строго контролирует это правило.</a:t>
            </a:r>
            <a:br>
              <a:rPr lang="ru-RU" dirty="0"/>
            </a:br>
            <a:r>
              <a:rPr lang="ru-RU" dirty="0"/>
              <a:t>В таком методе нельзя изменять поля класса, вызывать </a:t>
            </a:r>
            <a:r>
              <a:rPr lang="ru-RU" dirty="0" err="1"/>
              <a:t>неконстантные</a:t>
            </a:r>
            <a:r>
              <a:rPr lang="ru-RU" dirty="0"/>
              <a:t> методы или передавать поля объекта в функции, которые могут их изменить.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Главная причина существования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-методов — работа с </a:t>
            </a:r>
            <a:r>
              <a:rPr lang="ru-RU" b="1" dirty="0"/>
              <a:t>константными объектами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объект объявлен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или передан по </a:t>
            </a:r>
            <a:r>
              <a:rPr lang="ru-RU" b="1" dirty="0"/>
              <a:t>константной ссылке</a:t>
            </a:r>
            <a:r>
              <a:rPr lang="ru-RU" dirty="0"/>
              <a:t>, у него можно вызывать </a:t>
            </a:r>
            <a:r>
              <a:rPr lang="ru-RU" b="1" dirty="0"/>
              <a:t>только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b="1" dirty="0"/>
              <a:t>-методы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-методы позволяют компилятору гарантировать, что объект </a:t>
            </a:r>
            <a:r>
              <a:rPr lang="ru-RU" b="1" dirty="0"/>
              <a:t>не будет изменён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4451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решить проблему с константным объектом, 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GetRadius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GetArea</a:t>
            </a:r>
            <a:r>
              <a:rPr lang="ru-RU" dirty="0"/>
              <a:t> объявлены как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означает, что они </a:t>
            </a:r>
            <a:r>
              <a:rPr lang="ru-RU" b="1" dirty="0"/>
              <a:t>не изменяют состояние объекта</a:t>
            </a:r>
            <a:r>
              <a:rPr lang="ru-RU" dirty="0"/>
              <a:t>, а только читают данные.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их можно вызывать у объектов, переданных по </a:t>
            </a:r>
            <a:r>
              <a:rPr lang="ru-RU" b="1" dirty="0"/>
              <a:t>константной ссылке</a:t>
            </a:r>
            <a:r>
              <a:rPr lang="ru-RU" dirty="0"/>
              <a:t>, как 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PrintCircle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сообщает компилятору, что метод </a:t>
            </a:r>
            <a:r>
              <a:rPr lang="ru-RU" b="1" dirty="0"/>
              <a:t>безопасен для вызова у константных объектов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0549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различают </a:t>
            </a:r>
            <a:r>
              <a:rPr lang="ru-RU" b="1" dirty="0"/>
              <a:t>физическую</a:t>
            </a:r>
            <a:r>
              <a:rPr lang="ru-RU" dirty="0"/>
              <a:t> и </a:t>
            </a:r>
            <a:r>
              <a:rPr lang="ru-RU" b="1" dirty="0"/>
              <a:t>логическую константность</a:t>
            </a:r>
            <a:r>
              <a:rPr lang="ru-RU" dirty="0"/>
              <a:t>.</a:t>
            </a:r>
          </a:p>
          <a:p>
            <a:r>
              <a:rPr lang="ru-RU" b="1" dirty="0"/>
              <a:t>Физическая константность</a:t>
            </a:r>
            <a:r>
              <a:rPr lang="ru-RU" dirty="0"/>
              <a:t> означает, что объект объявлен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, и его поля </a:t>
            </a:r>
            <a:r>
              <a:rPr lang="ru-RU" b="1" dirty="0"/>
              <a:t>нельзя изменять</a:t>
            </a:r>
            <a:r>
              <a:rPr lang="ru-RU" dirty="0"/>
              <a:t> — это контролируется компилятором.</a:t>
            </a:r>
          </a:p>
          <a:p>
            <a:endParaRPr lang="ru-RU" dirty="0"/>
          </a:p>
          <a:p>
            <a:r>
              <a:rPr lang="ru-RU" b="1" dirty="0"/>
              <a:t>Логическая константность</a:t>
            </a:r>
            <a:r>
              <a:rPr lang="ru-RU" dirty="0"/>
              <a:t> — более гибкое понятие.</a:t>
            </a:r>
            <a:br>
              <a:rPr lang="ru-RU" dirty="0"/>
            </a:br>
            <a:r>
              <a:rPr lang="ru-RU" dirty="0"/>
              <a:t>С точки зрения пользователя объект </a:t>
            </a:r>
            <a:r>
              <a:rPr lang="ru-RU" b="1" dirty="0"/>
              <a:t>не меняется</a:t>
            </a:r>
            <a:r>
              <a:rPr lang="ru-RU" dirty="0"/>
              <a:t>, хотя внутри могут происходить служебные изменения.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объект может </a:t>
            </a:r>
            <a:r>
              <a:rPr lang="ru-RU" b="1" dirty="0"/>
              <a:t>кэшировать результат вычислений</a:t>
            </a:r>
            <a:r>
              <a:rPr lang="ru-RU" dirty="0"/>
              <a:t>, чтобы не пересчитывать его каждый раз.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этом внешнее поведение объекта остаётся тем же самым, поэтому логически он всё ещё считается </a:t>
            </a:r>
            <a:r>
              <a:rPr lang="ru-RU" b="1" dirty="0"/>
              <a:t>константным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0173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типичную практическую ситуацию.</a:t>
            </a:r>
          </a:p>
          <a:p>
            <a:r>
              <a:rPr lang="ru-RU" dirty="0"/>
              <a:t>Пусть у нас есть класс </a:t>
            </a:r>
            <a:r>
              <a:rPr lang="ru-RU" b="1" dirty="0" err="1"/>
              <a:t>Polygon</a:t>
            </a:r>
            <a:r>
              <a:rPr lang="ru-RU" dirty="0"/>
              <a:t>, который хранит набор точек многоугольника.</a:t>
            </a:r>
            <a:br>
              <a:rPr lang="ru-RU" dirty="0"/>
            </a:br>
            <a:r>
              <a:rPr lang="ru-RU" dirty="0"/>
              <a:t>Мы хотим иметь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GetArea</a:t>
            </a:r>
            <a:r>
              <a:rPr lang="ru-RU" dirty="0"/>
              <a:t>, который возвращает площадь.</a:t>
            </a:r>
          </a:p>
          <a:p>
            <a:endParaRPr lang="ru-RU" dirty="0"/>
          </a:p>
          <a:p>
            <a:r>
              <a:rPr lang="ru-RU" dirty="0"/>
              <a:t>Вычисление площади может быть относительно дорогой операцией, поэтому разумно </a:t>
            </a:r>
            <a:r>
              <a:rPr lang="ru-RU" b="1" dirty="0" err="1"/>
              <a:t>закэшировать</a:t>
            </a:r>
            <a:r>
              <a:rPr lang="ru-RU" b="1" dirty="0"/>
              <a:t> результат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Если многоугольник не изменился, можно просто вернуть уже вычисленную площадь.</a:t>
            </a:r>
          </a:p>
          <a:p>
            <a:r>
              <a:rPr lang="ru-RU" dirty="0"/>
              <a:t>Для этого мы добавляем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m_area</a:t>
            </a:r>
            <a:r>
              <a:rPr lang="ru-RU" dirty="0"/>
              <a:t>, которое хранит вычисленное значение площади.</a:t>
            </a:r>
          </a:p>
          <a:p>
            <a:r>
              <a:rPr lang="ru-RU" dirty="0"/>
              <a:t>Логика метода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GetArea</a:t>
            </a:r>
            <a:r>
              <a:rPr lang="ru-RU" dirty="0"/>
              <a:t> такая:</a:t>
            </a:r>
            <a:r>
              <a:rPr lang="en-US" dirty="0"/>
              <a:t> </a:t>
            </a:r>
            <a:r>
              <a:rPr lang="ru-RU" dirty="0"/>
              <a:t>если площадь ещё не вычислялась — вычислить её и сохранить, иначе просто вернуть сохранённое значение.</a:t>
            </a:r>
          </a:p>
          <a:p>
            <a:r>
              <a:rPr lang="ru-RU" dirty="0"/>
              <a:t>Но здесь возникает проблема.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GetArea</a:t>
            </a:r>
            <a:r>
              <a:rPr lang="ru-RU" dirty="0"/>
              <a:t> объявлен как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, потому что с точки зрения пользователя он </a:t>
            </a:r>
            <a:r>
              <a:rPr lang="ru-RU" b="1" dirty="0"/>
              <a:t>не изменяет многоугольник</a:t>
            </a:r>
            <a:r>
              <a:rPr lang="ru-RU" dirty="0"/>
              <a:t>.</a:t>
            </a:r>
          </a:p>
          <a:p>
            <a:r>
              <a:rPr lang="ru-RU" dirty="0"/>
              <a:t>Однако внутри метода мы </a:t>
            </a:r>
            <a:r>
              <a:rPr lang="ru-RU" b="1" dirty="0"/>
              <a:t>изменяем поле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m_area</a:t>
            </a:r>
            <a:r>
              <a:rPr lang="ru-RU" dirty="0"/>
              <a:t>, когда сохраняем вычисленный результат.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Компилятор запрещает это, потому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-метод </a:t>
            </a:r>
            <a:r>
              <a:rPr lang="ru-RU" b="1" dirty="0"/>
              <a:t>не должен менять состояние объекта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этом с точки зрения </a:t>
            </a:r>
            <a:r>
              <a:rPr lang="ru-RU" b="1" dirty="0"/>
              <a:t>логической константности</a:t>
            </a:r>
            <a:r>
              <a:rPr lang="ru-RU" dirty="0"/>
              <a:t> объект не меняется — мы лишь сохраняем служебный кэш.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Как решить такую ситуацию корректно в C++ — как раз и помогает специальный механизм, о котором мы поговорим на следующем слайде.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4351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решить проблему с кэшированием из предыдущего примера, в C++ существует специальный спецификатор —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поле объявлено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dirty="0"/>
              <a:t>, его </a:t>
            </a:r>
            <a:r>
              <a:rPr lang="ru-RU" b="1" dirty="0"/>
              <a:t>разрешается изменять даже внутри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b="1" dirty="0"/>
              <a:t>-методов</a:t>
            </a:r>
            <a:r>
              <a:rPr lang="ru-RU" dirty="0"/>
              <a:t> и даже если объект объявлен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означает, что такое поле </a:t>
            </a:r>
            <a:r>
              <a:rPr lang="ru-RU" b="1" dirty="0"/>
              <a:t>не считается частью логического состояния объекта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Оно используется только для служебных целей.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Типичные примеры применения — </a:t>
            </a:r>
            <a:r>
              <a:rPr lang="ru-RU" b="1" dirty="0"/>
              <a:t>кэширование результатов вычислений</a:t>
            </a:r>
            <a:r>
              <a:rPr lang="ru-RU" dirty="0"/>
              <a:t>, </a:t>
            </a:r>
            <a:r>
              <a:rPr lang="ru-RU" b="1" dirty="0"/>
              <a:t>ленивые вычисления</a:t>
            </a:r>
            <a:r>
              <a:rPr lang="ru-RU" dirty="0"/>
              <a:t>, а также </a:t>
            </a:r>
            <a:r>
              <a:rPr lang="ru-RU" b="1" dirty="0"/>
              <a:t>мьютексы</a:t>
            </a:r>
            <a:r>
              <a:rPr lang="ru-RU" dirty="0"/>
              <a:t>, которые используются для синхронизации в многопоточных программах.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нашем примере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m_area</a:t>
            </a:r>
            <a:r>
              <a:rPr lang="ru-RU" dirty="0"/>
              <a:t> объявляется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dirty="0"/>
              <a:t>, и тогда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GetArea</a:t>
            </a:r>
            <a:r>
              <a:rPr lang="ru-RU" dirty="0"/>
              <a:t> может сохранять вычисленную площадь, оставаясь при этом </a:t>
            </a:r>
            <a:r>
              <a:rPr lang="ru-RU" b="1" dirty="0"/>
              <a:t>константным с точки зрения интерфейса класса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8667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 задачи — </a:t>
            </a:r>
            <a:r>
              <a:rPr lang="ru-RU" b="1" dirty="0"/>
              <a:t>подбор пароля по известному </a:t>
            </a:r>
            <a:r>
              <a:rPr lang="ru-RU" b="1" dirty="0" err="1"/>
              <a:t>хешу</a:t>
            </a:r>
            <a:r>
              <a:rPr lang="ru-RU" dirty="0"/>
              <a:t>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GetHash</a:t>
            </a:r>
            <a:r>
              <a:rPr lang="ru-RU" dirty="0"/>
              <a:t> вычисляет </a:t>
            </a:r>
            <a:r>
              <a:rPr lang="ru-RU" dirty="0" err="1"/>
              <a:t>хеш</a:t>
            </a:r>
            <a:r>
              <a:rPr lang="ru-RU" dirty="0"/>
              <a:t> строки с помощью стандартной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hash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PasswordCracker</a:t>
            </a:r>
            <a:r>
              <a:rPr lang="ru-RU" dirty="0"/>
              <a:t> реализует простой алгоритм </a:t>
            </a:r>
            <a:r>
              <a:rPr lang="ru-RU" b="1" dirty="0"/>
              <a:t>перебора всех возможных строк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CrackPassword</a:t>
            </a:r>
            <a:r>
              <a:rPr lang="ru-RU" dirty="0"/>
              <a:t> получает </a:t>
            </a:r>
            <a:r>
              <a:rPr lang="ru-RU" dirty="0" err="1"/>
              <a:t>хеш</a:t>
            </a:r>
            <a:r>
              <a:rPr lang="ru-RU" dirty="0"/>
              <a:t> и максимальную длину пароля.</a:t>
            </a:r>
          </a:p>
          <a:p>
            <a:endParaRPr lang="ru-RU" dirty="0"/>
          </a:p>
          <a:p>
            <a:r>
              <a:rPr lang="ru-RU" dirty="0"/>
              <a:t>Далее запускается рекурсивный перебор.</a:t>
            </a:r>
            <a:br>
              <a:rPr lang="ru-RU" dirty="0"/>
            </a:br>
            <a:r>
              <a:rPr lang="ru-RU" dirty="0"/>
              <a:t>Мы постепенно строим строку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prefix</a:t>
            </a:r>
            <a:r>
              <a:rPr lang="ru-RU" dirty="0"/>
              <a:t>, добавляя символы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'A'</a:t>
            </a:r>
            <a:r>
              <a:rPr lang="ru-RU" dirty="0"/>
              <a:t> до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'Z'</a:t>
            </a:r>
            <a:r>
              <a:rPr lang="ru-RU" dirty="0"/>
              <a:t>.</a:t>
            </a:r>
          </a:p>
          <a:p>
            <a:r>
              <a:rPr lang="ru-RU" dirty="0"/>
              <a:t>На каждом шаге проверяется: совпадает ли </a:t>
            </a:r>
            <a:r>
              <a:rPr lang="ru-RU" dirty="0" err="1"/>
              <a:t>хеш</a:t>
            </a:r>
            <a:r>
              <a:rPr lang="ru-RU" dirty="0"/>
              <a:t> текущей строки с заданным.</a:t>
            </a:r>
            <a:br>
              <a:rPr lang="ru-RU" dirty="0"/>
            </a:br>
            <a:r>
              <a:rPr lang="ru-RU" dirty="0"/>
              <a:t>Если совпадает — пароль найден.</a:t>
            </a:r>
          </a:p>
          <a:p>
            <a:endParaRPr lang="ru-RU" dirty="0"/>
          </a:p>
          <a:p>
            <a:r>
              <a:rPr lang="ru-RU" dirty="0"/>
              <a:t>Если достигнута максимальная длина строки и совпадения нет — перебор для этой ветки заканчивается.</a:t>
            </a:r>
          </a:p>
          <a:p>
            <a:r>
              <a:rPr lang="ru-RU" dirty="0"/>
              <a:t>Таким образом алгоритм </a:t>
            </a:r>
            <a:r>
              <a:rPr lang="ru-RU" b="1" dirty="0"/>
              <a:t>перебирает все возможные комбинации символов</a:t>
            </a:r>
            <a:r>
              <a:rPr lang="ru-RU" dirty="0"/>
              <a:t>, пока не найдёт строку с нужным </a:t>
            </a:r>
            <a:r>
              <a:rPr lang="ru-RU" dirty="0" err="1"/>
              <a:t>хешем</a:t>
            </a:r>
            <a:r>
              <a:rPr lang="ru-RU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1048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используется наш класс.</a:t>
            </a:r>
          </a:p>
          <a:p>
            <a:r>
              <a:rPr lang="ru-RU" dirty="0"/>
              <a:t>Мы создаём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PasswordCracker</a:t>
            </a:r>
            <a:r>
              <a:rPr lang="ru-RU" dirty="0"/>
              <a:t>, после чего вызываем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CrackPassword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качестве аргументов передаём </a:t>
            </a:r>
            <a:r>
              <a:rPr lang="ru-RU" dirty="0" err="1"/>
              <a:t>хеш</a:t>
            </a:r>
            <a:r>
              <a:rPr lang="ru-RU" dirty="0"/>
              <a:t> строки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"HELLO"</a:t>
            </a:r>
            <a:r>
              <a:rPr lang="ru-RU" dirty="0"/>
              <a:t> и максимальную длину пароля — 5 символов.</a:t>
            </a:r>
          </a:p>
          <a:p>
            <a:r>
              <a:rPr lang="ru-RU" dirty="0"/>
              <a:t>Также мы измеряем время выполнения программы.</a:t>
            </a:r>
          </a:p>
          <a:p>
            <a:r>
              <a:rPr lang="ru-RU" dirty="0"/>
              <a:t>В результате программа находит пароль </a:t>
            </a:r>
            <a:r>
              <a:rPr lang="ru-RU" b="1" dirty="0"/>
              <a:t>HELLO</a:t>
            </a:r>
            <a:r>
              <a:rPr lang="ru-RU" dirty="0"/>
              <a:t> и выводит время работы.</a:t>
            </a:r>
          </a:p>
          <a:p>
            <a:r>
              <a:rPr lang="ru-RU" dirty="0"/>
              <a:t>Обратите внимание, что перебор занимает некоторое время, потому что алгоритм </a:t>
            </a:r>
            <a:r>
              <a:rPr lang="ru-RU" b="1" dirty="0"/>
              <a:t>проверяет большое количество вариантов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9867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попробуем ускорить алгоритм.</a:t>
            </a:r>
          </a:p>
          <a:p>
            <a:r>
              <a:rPr lang="ru-RU" dirty="0"/>
              <a:t>Идея очень простая: если мы </a:t>
            </a:r>
            <a:r>
              <a:rPr lang="ru-RU" b="1" dirty="0"/>
              <a:t>уже подбирали пароль для какого-то </a:t>
            </a:r>
            <a:r>
              <a:rPr lang="ru-RU" b="1" dirty="0" err="1"/>
              <a:t>хеша</a:t>
            </a:r>
            <a:r>
              <a:rPr lang="ru-RU" dirty="0"/>
              <a:t>, можно сохранить результат и в следующий раз сразу вернуть его.</a:t>
            </a:r>
          </a:p>
          <a:p>
            <a:endParaRPr lang="ru-RU" dirty="0"/>
          </a:p>
          <a:p>
            <a:r>
              <a:rPr lang="ru-RU" dirty="0"/>
              <a:t>Для этого в классе добавлено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m_passwordCache</a:t>
            </a:r>
            <a:r>
              <a:rPr lang="ru-RU" dirty="0"/>
              <a:t> — это хеш-таблица, которая хранит соответствие между </a:t>
            </a:r>
            <a:r>
              <a:rPr lang="ru-RU" dirty="0" err="1"/>
              <a:t>хешем</a:t>
            </a:r>
            <a:r>
              <a:rPr lang="ru-RU" dirty="0"/>
              <a:t> и найденным паролем.</a:t>
            </a:r>
          </a:p>
          <a:p>
            <a:endParaRPr lang="ru-RU" dirty="0"/>
          </a:p>
          <a:p>
            <a:r>
              <a:rPr lang="ru-RU" dirty="0"/>
              <a:t>В начале метода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CrackPassword</a:t>
            </a:r>
            <a:r>
              <a:rPr lang="ru-RU" dirty="0"/>
              <a:t> мы проверяем: есть ли уже результат в кэше.</a:t>
            </a:r>
            <a:br>
              <a:rPr lang="ru-RU" dirty="0"/>
            </a:br>
            <a:r>
              <a:rPr lang="ru-RU" dirty="0"/>
              <a:t>Если есть — сразу возвращаем его, не выполняя перебор.</a:t>
            </a:r>
          </a:p>
          <a:p>
            <a:r>
              <a:rPr lang="ru-RU" dirty="0"/>
              <a:t>Когда пароль найден, мы сохраняем его в кэше.</a:t>
            </a:r>
          </a:p>
          <a:p>
            <a:endParaRPr lang="ru-RU" dirty="0"/>
          </a:p>
          <a:p>
            <a:r>
              <a:rPr lang="ru-RU" dirty="0"/>
              <a:t>Обратите внимание, что поле кэша объявлено как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позволяет изменять его даже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-метода.</a:t>
            </a:r>
          </a:p>
          <a:p>
            <a:r>
              <a:rPr lang="ru-RU" dirty="0"/>
              <a:t>С точки зрения пользователя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PasswordCracker</a:t>
            </a:r>
            <a:r>
              <a:rPr lang="ru-RU" dirty="0"/>
              <a:t> </a:t>
            </a:r>
            <a:r>
              <a:rPr lang="ru-RU" b="1" dirty="0"/>
              <a:t>не меняет своё логическое состояние</a:t>
            </a:r>
            <a:r>
              <a:rPr lang="ru-RU" dirty="0"/>
              <a:t> — он просто запоминает ранее вычисленные результаты.</a:t>
            </a:r>
          </a:p>
          <a:p>
            <a:endParaRPr lang="ru-RU" dirty="0"/>
          </a:p>
          <a:p>
            <a:r>
              <a:rPr lang="ru-RU" dirty="0"/>
              <a:t>В результате повторный запрос выполняется </a:t>
            </a:r>
            <a:r>
              <a:rPr lang="ru-RU" b="1" dirty="0"/>
              <a:t>практически мгновенно</a:t>
            </a:r>
            <a:r>
              <a:rPr lang="ru-RU" dirty="0"/>
              <a:t>, что и видно по измеренному времени.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6440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b="0" dirty="0"/>
              <a:t> — полезный, но довольно опасный инструмент, поэтому использовать его нужно аккуратно.</a:t>
            </a:r>
          </a:p>
          <a:p>
            <a:r>
              <a:rPr lang="ru-RU" b="0" dirty="0"/>
              <a:t>Его основное назначение — поддержка логической константности.</a:t>
            </a:r>
          </a:p>
          <a:p>
            <a:br>
              <a:rPr lang="ru-RU" b="0" dirty="0"/>
            </a:br>
            <a:r>
              <a:rPr lang="ru-RU" b="0" dirty="0"/>
              <a:t>Объект может изменять некоторые внутренние служебные данные, но его наблюдаемое состояние снаружи не должно меняться. Типичный пример — кэширование.</a:t>
            </a:r>
          </a:p>
          <a:p>
            <a:endParaRPr lang="ru-RU" b="0" dirty="0"/>
          </a:p>
          <a:p>
            <a:r>
              <a:rPr lang="ru-RU" b="0" dirty="0"/>
              <a:t>Важно помнить, что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b="0" dirty="0"/>
              <a:t>-методы можно вызывать одновременно из разных потоков.</a:t>
            </a:r>
            <a:br>
              <a:rPr lang="ru-RU" b="0" dirty="0"/>
            </a:br>
            <a:r>
              <a:rPr lang="ru-RU" b="0" dirty="0"/>
              <a:t>Если внутри такого метода изменяются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b="0" dirty="0"/>
              <a:t>-поля, это может привести к гонкам данных, поэтому нужно обеспечивать правильную синхронизацию в многопоточных программах.</a:t>
            </a:r>
          </a:p>
          <a:p>
            <a:endParaRPr lang="ru-RU" b="0" dirty="0"/>
          </a:p>
          <a:p>
            <a:r>
              <a:rPr lang="ru-RU" b="0" dirty="0"/>
              <a:t>Есть и низкоуровневая деталь: компилятор знает, содержит ли класс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b="0" dirty="0"/>
              <a:t>-поля.</a:t>
            </a:r>
            <a:br>
              <a:rPr lang="ru-RU" b="0" dirty="0"/>
            </a:br>
            <a:r>
              <a:rPr lang="ru-RU" b="0" dirty="0"/>
              <a:t>Поэтому даже глобальный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b="0" dirty="0"/>
              <a:t>-объект такого типа может быть размещён в RW-памяти, а не в </a:t>
            </a:r>
            <a:r>
              <a:rPr lang="ru-RU" b="0" dirty="0" err="1"/>
              <a:t>read-only</a:t>
            </a:r>
            <a:r>
              <a:rPr lang="ru-RU" b="0" dirty="0"/>
              <a:t> сегменте.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8974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показаны два похожих класса: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dirty="0"/>
              <a:t> и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Immutable</a:t>
            </a:r>
            <a:r>
              <a:rPr lang="ru-RU" dirty="0"/>
              <a:t>.</a:t>
            </a:r>
          </a:p>
          <a:p>
            <a:r>
              <a:rPr lang="ru-RU" dirty="0"/>
              <a:t>В классе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dirty="0"/>
              <a:t>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m_value</a:t>
            </a:r>
            <a:r>
              <a:rPr lang="ru-RU" dirty="0"/>
              <a:t> объявлено как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Поэтому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GetValue</a:t>
            </a:r>
            <a:r>
              <a:rPr lang="ru-RU" dirty="0"/>
              <a:t>, несмотря на то что он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, может изменять это поле — например, вычислить значение и сохранить его.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классе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Immutable</a:t>
            </a:r>
            <a:r>
              <a:rPr lang="ru-RU" dirty="0"/>
              <a:t> никаких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dirty="0"/>
              <a:t>-полей нет.</a:t>
            </a:r>
            <a:br>
              <a:rPr lang="ru-RU" dirty="0"/>
            </a:br>
            <a:r>
              <a:rPr lang="ru-RU" dirty="0"/>
              <a:t>Его данные считаются </a:t>
            </a:r>
            <a:r>
              <a:rPr lang="ru-RU" b="1" dirty="0"/>
              <a:t>обычной частью состояния объекта</a:t>
            </a:r>
            <a:r>
              <a:rPr lang="ru-RU" dirty="0"/>
              <a:t> и изменяться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-методов не могут.</a:t>
            </a:r>
          </a:p>
          <a:p>
            <a:r>
              <a:rPr lang="ru-RU" dirty="0"/>
              <a:t>Также в обоих классах есть метод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</a:t>
            </a:r>
            <a:r>
              <a:rPr lang="ru-RU" dirty="0"/>
              <a:t>, который изменяет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m_counter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1686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создаются </a:t>
            </a:r>
            <a:r>
              <a:rPr lang="ru-RU" b="1" dirty="0"/>
              <a:t>два глобальных константных объекта</a:t>
            </a:r>
            <a:r>
              <a:rPr lang="ru-RU" dirty="0"/>
              <a:t>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immut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Далее в программе мы снимаем константность с помощью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const_cast</a:t>
            </a:r>
            <a:r>
              <a:rPr lang="ru-RU" dirty="0"/>
              <a:t> и вызываем метод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</a:t>
            </a:r>
            <a:r>
              <a:rPr lang="ru-RU" dirty="0"/>
              <a:t>.</a:t>
            </a:r>
          </a:p>
          <a:p>
            <a:r>
              <a:rPr lang="ru-RU" dirty="0"/>
              <a:t>В случае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dirty="0"/>
              <a:t> программа работает — значение счётчика успешно увеличивается.</a:t>
            </a:r>
          </a:p>
          <a:p>
            <a:r>
              <a:rPr lang="ru-RU" dirty="0"/>
              <a:t>А вот для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Immutable</a:t>
            </a:r>
            <a:r>
              <a:rPr lang="ru-RU" dirty="0"/>
              <a:t> происходит проблема: программа зависает или падает.</a:t>
            </a:r>
          </a:p>
          <a:p>
            <a:br>
              <a:rPr lang="ru-RU" dirty="0"/>
            </a:br>
            <a:r>
              <a:rPr lang="ru-RU" dirty="0"/>
              <a:t>Это происходит потому, что мы </a:t>
            </a:r>
            <a:r>
              <a:rPr lang="ru-RU" b="1" dirty="0"/>
              <a:t>изменяем действительно константный объект</a:t>
            </a:r>
            <a:r>
              <a:rPr lang="ru-RU" dirty="0"/>
              <a:t>, что приводит к </a:t>
            </a:r>
            <a:r>
              <a:rPr lang="ru-RU" b="1" dirty="0"/>
              <a:t>неопределённому поведению (UB)</a:t>
            </a:r>
            <a:r>
              <a:rPr lang="ru-RU" dirty="0"/>
              <a:t>.</a:t>
            </a:r>
          </a:p>
          <a:p>
            <a:r>
              <a:rPr lang="ru-RU" dirty="0"/>
              <a:t>Причина в том, что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Immutable</a:t>
            </a:r>
            <a:r>
              <a:rPr lang="ru-RU" dirty="0"/>
              <a:t> может быть размещён в </a:t>
            </a:r>
            <a:r>
              <a:rPr lang="ru-RU" b="1" dirty="0" err="1"/>
              <a:t>read-only</a:t>
            </a:r>
            <a:r>
              <a:rPr lang="ru-RU" b="1" dirty="0"/>
              <a:t> памяти</a:t>
            </a:r>
            <a:r>
              <a:rPr lang="ru-RU" dirty="0"/>
              <a:t>, тогда как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dirty="0"/>
              <a:t> компилятор размещает в </a:t>
            </a:r>
            <a:r>
              <a:rPr lang="ru-RU" b="1" dirty="0"/>
              <a:t>RW-области</a:t>
            </a:r>
            <a:r>
              <a:rPr lang="ru-RU" dirty="0"/>
              <a:t>, так как знает, что у него есть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ru-RU" dirty="0"/>
              <a:t>-поля.</a:t>
            </a:r>
          </a:p>
          <a:p>
            <a:endParaRPr lang="ru-RU" dirty="0"/>
          </a:p>
          <a:p>
            <a:r>
              <a:rPr lang="ru-RU" dirty="0"/>
              <a:t>Главный вывод: </a:t>
            </a:r>
            <a:r>
              <a:rPr lang="ru-RU" b="1" dirty="0"/>
              <a:t>снимать константность с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b="1" dirty="0"/>
              <a:t>-объектов нельзя</a:t>
            </a:r>
            <a:r>
              <a:rPr lang="ru-RU" dirty="0"/>
              <a:t> — это приводит к неопределённому поведению.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6676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83206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принято разделять </a:t>
            </a:r>
            <a:r>
              <a:rPr lang="ru-RU" b="1" dirty="0"/>
              <a:t>объявление класса и его реализацию</a:t>
            </a:r>
            <a:r>
              <a:rPr lang="ru-RU" dirty="0"/>
              <a:t>.</a:t>
            </a:r>
          </a:p>
          <a:p>
            <a:r>
              <a:rPr lang="ru-RU" dirty="0"/>
              <a:t>Объявление класса помещают в </a:t>
            </a:r>
            <a:r>
              <a:rPr lang="ru-RU" b="1" dirty="0"/>
              <a:t>заголовочный файл</a:t>
            </a:r>
            <a:r>
              <a:rPr lang="ru-RU" dirty="0"/>
              <a:t> — обычно с расширением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.h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hpp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Там описывается структура класса и сигнатуры его методов.</a:t>
            </a:r>
          </a:p>
          <a:p>
            <a:r>
              <a:rPr lang="ru-RU" dirty="0"/>
              <a:t>Реализация методов размещается в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cpp</a:t>
            </a:r>
            <a:r>
              <a:rPr lang="ru-RU" b="1" dirty="0"/>
              <a:t> файле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Такой подход делает код более структурированным: класс легко найти, и его можно использовать в других файлах через директиву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Кроме того, это уменьшает время сборки программы — при изменении реализации </a:t>
            </a:r>
            <a:r>
              <a:rPr lang="ru-RU" b="1" dirty="0"/>
              <a:t>не требуется перекомпилировать весь проект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04935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75149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84658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Публичная часть класса определяет его </a:t>
            </a:r>
            <a:r>
              <a:rPr lang="ru-RU" b="1" dirty="0"/>
              <a:t>интерфейс</a:t>
            </a:r>
            <a:r>
              <a:rPr lang="ru-RU" dirty="0"/>
              <a:t> — то есть то, как класс используется снаружи.</a:t>
            </a:r>
          </a:p>
          <a:p>
            <a:r>
              <a:rPr lang="ru-RU" dirty="0"/>
              <a:t>Все члены, объявленные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r>
              <a:rPr lang="ru-RU" dirty="0"/>
              <a:t>, доступны из любого места программы.</a:t>
            </a:r>
            <a:br>
              <a:rPr lang="ru-RU" dirty="0"/>
            </a:br>
            <a:r>
              <a:rPr lang="ru-RU" dirty="0"/>
              <a:t>Именно через них пользователи взаимодействуют с объектом.</a:t>
            </a:r>
          </a:p>
          <a:p>
            <a:endParaRPr lang="ru-RU" dirty="0"/>
          </a:p>
          <a:p>
            <a:r>
              <a:rPr lang="ru-RU" dirty="0"/>
              <a:t>Поэтому в публичной области класса стоит размещать </a:t>
            </a:r>
            <a:r>
              <a:rPr lang="ru-RU" b="1" dirty="0"/>
              <a:t>только необходимый набор операций</a:t>
            </a:r>
            <a:r>
              <a:rPr lang="ru-RU" dirty="0"/>
              <a:t>, которые описывают поведение объекта на высоком уровне.</a:t>
            </a:r>
          </a:p>
          <a:p>
            <a:endParaRPr lang="ru-RU" dirty="0"/>
          </a:p>
          <a:p>
            <a:r>
              <a:rPr lang="ru-RU" dirty="0"/>
              <a:t>Хороший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r>
              <a:rPr lang="ru-RU" dirty="0"/>
              <a:t>-метод должен переводить объект </a:t>
            </a:r>
            <a:r>
              <a:rPr lang="ru-RU" b="1" dirty="0"/>
              <a:t>из одного корректного состояния в другое</a:t>
            </a:r>
            <a:r>
              <a:rPr lang="ru-RU" dirty="0"/>
              <a:t>, либо не изменять его состояние вовсе.</a:t>
            </a:r>
          </a:p>
          <a:p>
            <a:endParaRPr lang="ru-RU" dirty="0"/>
          </a:p>
          <a:p>
            <a:r>
              <a:rPr lang="ru-RU" dirty="0"/>
              <a:t>При этом </a:t>
            </a:r>
            <a:r>
              <a:rPr lang="ru-RU" b="1" dirty="0"/>
              <a:t>публичные данные обычно считаются плохой практикой</a:t>
            </a:r>
            <a:r>
              <a:rPr lang="ru-RU" dirty="0"/>
              <a:t>, потому что в этом случае внешний код может изменять состояние объекта напрямую.</a:t>
            </a:r>
          </a:p>
          <a:p>
            <a:endParaRPr lang="ru-RU" dirty="0"/>
          </a:p>
          <a:p>
            <a:r>
              <a:rPr lang="ru-RU" dirty="0"/>
              <a:t>Правильный подход — когда </a:t>
            </a:r>
            <a:r>
              <a:rPr lang="ru-RU" b="1" dirty="0"/>
              <a:t>класс сам управляет своими данными</a:t>
            </a:r>
            <a:r>
              <a:rPr lang="ru-RU" dirty="0"/>
              <a:t>, а внешний код работает с объектом только через методы.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5093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Закрытая часть класса описывает </a:t>
            </a:r>
            <a:r>
              <a:rPr lang="ru-RU" b="1" dirty="0"/>
              <a:t>внутреннюю реализацию</a:t>
            </a:r>
            <a:r>
              <a:rPr lang="ru-RU" dirty="0"/>
              <a:t>.</a:t>
            </a:r>
          </a:p>
          <a:p>
            <a:r>
              <a:rPr lang="ru-RU" dirty="0"/>
              <a:t>Члены, объявленные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</a:t>
            </a:r>
            <a:r>
              <a:rPr lang="ru-RU" dirty="0"/>
              <a:t>, доступны </a:t>
            </a:r>
            <a:r>
              <a:rPr lang="ru-RU" b="1" dirty="0"/>
              <a:t>только внутри самого класса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Внешний код не может обращаться к ним напрямую.</a:t>
            </a:r>
          </a:p>
          <a:p>
            <a:endParaRPr lang="ru-RU" dirty="0"/>
          </a:p>
          <a:p>
            <a:r>
              <a:rPr lang="ru-RU" dirty="0"/>
              <a:t>Обычно </a:t>
            </a:r>
            <a:r>
              <a:rPr lang="ru-RU" b="1" dirty="0"/>
              <a:t>все данные класса делают приватными</a:t>
            </a:r>
            <a:r>
              <a:rPr lang="ru-RU" dirty="0"/>
              <a:t>, чтобы класс полностью контролировал своё состояние.</a:t>
            </a:r>
          </a:p>
          <a:p>
            <a:r>
              <a:rPr lang="ru-RU" dirty="0"/>
              <a:t>Работа с этими данными выполняется через методы класса.</a:t>
            </a:r>
          </a:p>
          <a:p>
            <a:endParaRPr lang="ru-RU" dirty="0"/>
          </a:p>
          <a:p>
            <a:r>
              <a:rPr lang="ru-RU" dirty="0"/>
              <a:t>Приватные методы, как правило, используются для </a:t>
            </a:r>
            <a:r>
              <a:rPr lang="ru-RU" b="1" dirty="0"/>
              <a:t>реализации внутренней логики</a:t>
            </a:r>
            <a:r>
              <a:rPr lang="ru-RU" dirty="0"/>
              <a:t> и вызываются из публичных или защищённых методов.</a:t>
            </a:r>
          </a:p>
          <a:p>
            <a:endParaRPr lang="ru-RU" dirty="0"/>
          </a:p>
          <a:p>
            <a:r>
              <a:rPr lang="ru-RU" dirty="0"/>
              <a:t>Они помогают </a:t>
            </a:r>
            <a:r>
              <a:rPr lang="ru-RU" b="1" dirty="0"/>
              <a:t>разделить сложные операции на более простые части</a:t>
            </a:r>
            <a:r>
              <a:rPr lang="ru-RU" dirty="0"/>
              <a:t>.</a:t>
            </a:r>
          </a:p>
          <a:p>
            <a:r>
              <a:rPr lang="ru-RU" dirty="0"/>
              <a:t>И наконец, если приватный метод больше не используется, его стоит </a:t>
            </a:r>
            <a:r>
              <a:rPr lang="ru-RU" b="1" dirty="0"/>
              <a:t>удалить</a:t>
            </a:r>
            <a:r>
              <a:rPr lang="ru-RU" dirty="0"/>
              <a:t>, чтобы не усложнять код.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613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как </a:t>
            </a:r>
            <a:r>
              <a:rPr lang="ru-RU" b="1" dirty="0"/>
              <a:t>приватные методы используются для внутренней реализации класса</a:t>
            </a:r>
            <a:r>
              <a:rPr lang="ru-RU" dirty="0"/>
              <a:t>.</a:t>
            </a:r>
          </a:p>
          <a:p>
            <a:r>
              <a:rPr lang="ru-RU" dirty="0"/>
              <a:t>Публичный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ru-RU" dirty="0"/>
              <a:t> устанавливает время и </a:t>
            </a:r>
            <a:r>
              <a:rPr lang="ru-RU" b="1" dirty="0"/>
              <a:t>проверяет корректность аргументов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значения допустимы, он вызывает приватный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SetUnchecked</a:t>
            </a:r>
            <a:r>
              <a:rPr lang="ru-RU" dirty="0"/>
              <a:t>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SetUnchecked</a:t>
            </a:r>
            <a:r>
              <a:rPr lang="ru-RU" dirty="0"/>
              <a:t> устанавливает время </a:t>
            </a:r>
            <a:r>
              <a:rPr lang="ru-RU" b="1" dirty="0"/>
              <a:t>без проверок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Он используется только внутри класса, когда мы уверены, что данные уже корректны.</a:t>
            </a:r>
          </a:p>
          <a:p>
            <a:r>
              <a:rPr lang="ru-RU" dirty="0"/>
              <a:t>Например, его также вызывает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SetMidnight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Такой подход позволяет </a:t>
            </a:r>
            <a:r>
              <a:rPr lang="ru-RU" b="1" dirty="0"/>
              <a:t>не дублировать код</a:t>
            </a:r>
            <a:r>
              <a:rPr lang="ru-RU" dirty="0"/>
              <a:t> и отделить </a:t>
            </a:r>
            <a:r>
              <a:rPr lang="ru-RU" b="1" dirty="0"/>
              <a:t>проверку данных от самой операции изменения состояния объекта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5386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Уровень доступа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protected</a:t>
            </a:r>
            <a:r>
              <a:rPr lang="ru-RU" dirty="0"/>
              <a:t> занимает промежуточное положение между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</a:t>
            </a:r>
            <a:r>
              <a:rPr lang="ru-RU" dirty="0"/>
              <a:t>.</a:t>
            </a:r>
          </a:p>
          <a:p>
            <a:r>
              <a:rPr lang="ru-RU" dirty="0"/>
              <a:t>Такие члены доступны </a:t>
            </a:r>
            <a:r>
              <a:rPr lang="ru-RU" b="1" dirty="0"/>
              <a:t>внутри самого класса</a:t>
            </a:r>
            <a:r>
              <a:rPr lang="ru-RU" dirty="0"/>
              <a:t>, а также </a:t>
            </a:r>
            <a:r>
              <a:rPr lang="ru-RU" b="1" dirty="0"/>
              <a:t>в его производных классах</a:t>
            </a:r>
            <a:r>
              <a:rPr lang="ru-RU" dirty="0"/>
              <a:t>, но при этом </a:t>
            </a:r>
            <a:r>
              <a:rPr lang="ru-RU" b="1" dirty="0"/>
              <a:t>не видны внешнему коду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Этот уровень доступа используется, когда нужно предоставить </a:t>
            </a:r>
            <a:r>
              <a:rPr lang="ru-RU" b="1" dirty="0"/>
              <a:t>определённые возможности классам-наследникам</a:t>
            </a:r>
            <a:r>
              <a:rPr lang="ru-RU" dirty="0"/>
              <a:t>, но не делать их частью публичного интерфейса.</a:t>
            </a:r>
          </a:p>
          <a:p>
            <a:endParaRPr lang="ru-RU" dirty="0"/>
          </a:p>
          <a:p>
            <a:r>
              <a:rPr lang="ru-RU" dirty="0"/>
              <a:t>Например, производный класс может использовать защищённые методы или переопределять их.</a:t>
            </a:r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protected</a:t>
            </a:r>
            <a:r>
              <a:rPr lang="ru-RU" dirty="0"/>
              <a:t> помогает определить </a:t>
            </a:r>
            <a:r>
              <a:rPr lang="ru-RU" b="1" dirty="0"/>
              <a:t>интерфейс для наследования</a:t>
            </a:r>
            <a:r>
              <a:rPr lang="ru-RU" dirty="0"/>
              <a:t>.</a:t>
            </a:r>
          </a:p>
          <a:p>
            <a:r>
              <a:rPr lang="ru-RU" dirty="0"/>
              <a:t>Подробнее этот механизм мы рассмотрим позже, когда будем говорить о </a:t>
            </a:r>
            <a:r>
              <a:rPr lang="ru-RU" b="1" dirty="0"/>
              <a:t>наследовании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96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59716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94563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Во многих языках программирования существует понятие свойства.</a:t>
            </a:r>
          </a:p>
          <a:p>
            <a:r>
              <a:rPr lang="ru-RU" b="0" dirty="0"/>
              <a:t>Свойство похоже на обычное поле объекта — к нему можно обращаться как к переменной.</a:t>
            </a:r>
            <a:endParaRPr lang="en-US" b="0" dirty="0"/>
          </a:p>
          <a:p>
            <a:br>
              <a:rPr lang="ru-RU" b="0" dirty="0"/>
            </a:br>
            <a:r>
              <a:rPr lang="ru-RU" b="0" dirty="0"/>
              <a:t>Но на самом деле за чтением и записью могут стоять методы, которые выполняют дополнительную логику.</a:t>
            </a:r>
            <a:endParaRPr lang="en-US" b="0" dirty="0"/>
          </a:p>
          <a:p>
            <a:endParaRPr lang="ru-RU" b="0" dirty="0"/>
          </a:p>
          <a:p>
            <a:r>
              <a:rPr lang="ru-RU" b="0" dirty="0"/>
              <a:t>Например, при записи можно проверять корректность данных, а при чтении — вычислять значение.</a:t>
            </a:r>
            <a:endParaRPr lang="en-US" b="0" dirty="0"/>
          </a:p>
          <a:p>
            <a:endParaRPr lang="ru-RU" b="0" dirty="0"/>
          </a:p>
          <a:p>
            <a:r>
              <a:rPr lang="ru-RU" b="0" dirty="0"/>
              <a:t>Свойства могут быть только для чтения, только для записи или для чтения и записи.</a:t>
            </a:r>
            <a:endParaRPr lang="en-US" b="0" dirty="0"/>
          </a:p>
          <a:p>
            <a:endParaRPr lang="ru-RU" b="0" dirty="0"/>
          </a:p>
          <a:p>
            <a:r>
              <a:rPr lang="ru-RU" b="0" dirty="0"/>
              <a:t>Важно, что методы чтения — так называемые </a:t>
            </a:r>
            <a:r>
              <a:rPr lang="ru-RU" b="0" dirty="0" err="1"/>
              <a:t>getter'ы</a:t>
            </a:r>
            <a:r>
              <a:rPr lang="ru-RU" b="0" dirty="0"/>
              <a:t> — не должны иметь заметных побочных эффектов.</a:t>
            </a:r>
            <a:endParaRPr lang="en-US" b="0" dirty="0"/>
          </a:p>
          <a:p>
            <a:endParaRPr lang="ru-RU" b="0" dirty="0"/>
          </a:p>
          <a:p>
            <a:r>
              <a:rPr lang="ru-RU" b="0" dirty="0"/>
              <a:t>В языке C++ свойства как элемент языка отсутствуют, поэтому обычно их эмулируют с помощью методов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b="0" dirty="0"/>
              <a:t> и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ru-RU" b="0" dirty="0"/>
              <a:t>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51725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</a:t>
            </a:r>
            <a:r>
              <a:rPr lang="ru-RU" b="1" dirty="0"/>
              <a:t>свойства в языке C#</a:t>
            </a:r>
            <a:r>
              <a:rPr lang="ru-RU" dirty="0"/>
              <a:t>.</a:t>
            </a:r>
          </a:p>
          <a:p>
            <a:r>
              <a:rPr lang="ru-RU" dirty="0"/>
              <a:t>Свойство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Hours</a:t>
            </a:r>
            <a:r>
              <a:rPr lang="ru-RU" dirty="0"/>
              <a:t> выглядит как обычное поле, но на самом деле оно состоит из двух частей: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b="1" dirty="0"/>
              <a:t> и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ru-RU" dirty="0"/>
              <a:t>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dirty="0"/>
              <a:t> выполняется при чтении свойства и вычисляет количество часов на основе значения в секундах.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ru-RU" dirty="0"/>
              <a:t> выполняется при записи свойства. В нём можно выполнить </a:t>
            </a:r>
            <a:r>
              <a:rPr lang="ru-RU" b="1" dirty="0"/>
              <a:t>проверку корректности данных</a:t>
            </a:r>
            <a:r>
              <a:rPr lang="ru-RU" dirty="0"/>
              <a:t>. В данном случае проверяется, что значение находится в диапазоне от 0 до 24.</a:t>
            </a:r>
          </a:p>
          <a:p>
            <a:endParaRPr lang="ru-RU" dirty="0"/>
          </a:p>
          <a:p>
            <a:r>
              <a:rPr lang="ru-RU" dirty="0"/>
              <a:t>Если значение корректно, оно преобразуется в секунды и сохраняется во внутреннем поле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 свойства позволяют </a:t>
            </a:r>
            <a:r>
              <a:rPr lang="ru-RU" b="1" dirty="0"/>
              <a:t>обращаться к данным как к полям</a:t>
            </a:r>
            <a:r>
              <a:rPr lang="ru-RU" dirty="0"/>
              <a:t>, но при этом выполнять дополнительную логику при чтении и записи.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94181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 использование </a:t>
            </a:r>
            <a:r>
              <a:rPr lang="ru-RU" b="1" dirty="0"/>
              <a:t>свойств в C# на примере класса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Circle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Свойство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Radius</a:t>
            </a:r>
            <a:r>
              <a:rPr lang="ru-RU" dirty="0"/>
              <a:t> предоставляет доступ к радиусу круга.</a:t>
            </a:r>
            <a:br>
              <a:rPr lang="ru-RU" dirty="0"/>
            </a:br>
            <a:r>
              <a:rPr lang="ru-RU" dirty="0"/>
              <a:t>При записи значения выполняется </a:t>
            </a:r>
            <a:r>
              <a:rPr lang="ru-RU" b="1" dirty="0"/>
              <a:t>проверка</a:t>
            </a:r>
            <a:r>
              <a:rPr lang="ru-RU" dirty="0"/>
              <a:t> — радиус не может быть отрицательным.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Свойство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Area</a:t>
            </a:r>
            <a:r>
              <a:rPr lang="ru-RU" dirty="0"/>
              <a:t> является </a:t>
            </a:r>
            <a:r>
              <a:rPr lang="ru-RU" b="1" dirty="0"/>
              <a:t>только для чтения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Его значение не хранится в объекте, а </a:t>
            </a:r>
            <a:r>
              <a:rPr lang="ru-RU" b="1" dirty="0"/>
              <a:t>вычисляется при обращении</a:t>
            </a:r>
            <a:r>
              <a:rPr lang="ru-RU" dirty="0"/>
              <a:t> по формуле площади круга.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 свойства позволяют </a:t>
            </a:r>
            <a:r>
              <a:rPr lang="ru-RU" b="1" dirty="0"/>
              <a:t>контролировать доступ к данным</a:t>
            </a:r>
            <a:r>
              <a:rPr lang="ru-RU" dirty="0"/>
              <a:t>, выполнять проверки и вычисления, при этом пользоваться ими так же удобно, как обычными полями.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61228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показывает </a:t>
            </a:r>
            <a:r>
              <a:rPr lang="ru-RU" b="1" dirty="0"/>
              <a:t>неудачное использование свойств</a:t>
            </a:r>
            <a:r>
              <a:rPr lang="ru-RU" dirty="0"/>
              <a:t>.</a:t>
            </a:r>
          </a:p>
          <a:p>
            <a:r>
              <a:rPr lang="ru-RU" dirty="0"/>
              <a:t>В первом свойстве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 при чтении происходит </a:t>
            </a:r>
            <a:r>
              <a:rPr lang="ru-RU" b="1" dirty="0"/>
              <a:t>изменение состояния объекта</a:t>
            </a:r>
            <a:r>
              <a:rPr lang="ru-RU" dirty="0"/>
              <a:t> — значение увеличивается.</a:t>
            </a:r>
            <a:endParaRPr lang="en-US" dirty="0"/>
          </a:p>
          <a:p>
            <a:br>
              <a:rPr lang="ru-RU" dirty="0"/>
            </a:br>
            <a:r>
              <a:rPr lang="ru-RU" dirty="0"/>
              <a:t>Это неожиданно, потому что чтение свойства обычно воспринимается как </a:t>
            </a:r>
            <a:r>
              <a:rPr lang="ru-RU" b="1" dirty="0"/>
              <a:t>безопасная операция без побочных эффектов</a:t>
            </a:r>
            <a:r>
              <a:rPr lang="ru-RU" dirty="0"/>
              <a:t>. Даже простой просмотр свойства в отладчике будет менять значение.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 втором свойстве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LongCalculation</a:t>
            </a:r>
            <a:r>
              <a:rPr lang="ru-RU" dirty="0"/>
              <a:t> проблема другая — </a:t>
            </a:r>
            <a:r>
              <a:rPr lang="ru-RU" b="1" dirty="0"/>
              <a:t>очень длительное вычисление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отладчик попытается показать значение свойства, программа может надолго зависнуть.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хорошая практика такая: </a:t>
            </a:r>
            <a:r>
              <a:rPr lang="ru-RU" b="1" dirty="0" err="1"/>
              <a:t>getter</a:t>
            </a:r>
            <a:r>
              <a:rPr lang="ru-RU" b="1" dirty="0"/>
              <a:t> свойства должен быть быстрым и не иметь побочных эффектов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11100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свойства как отдельный элемент языка </a:t>
            </a:r>
            <a:r>
              <a:rPr lang="ru-RU" b="1" dirty="0"/>
              <a:t>не поддерживаются</a:t>
            </a:r>
            <a:r>
              <a:rPr lang="ru-RU" dirty="0"/>
              <a:t>, поэтому их обычно </a:t>
            </a:r>
            <a:r>
              <a:rPr lang="ru-RU" b="1" dirty="0"/>
              <a:t>эмулируют с помощью методов</a:t>
            </a:r>
            <a:r>
              <a:rPr lang="ru-RU" dirty="0"/>
              <a:t>.</a:t>
            </a:r>
          </a:p>
          <a:p>
            <a:r>
              <a:rPr lang="ru-RU" dirty="0"/>
              <a:t>В этом примере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ru-RU" dirty="0"/>
              <a:t> хранит только </a:t>
            </a:r>
            <a:r>
              <a:rPr lang="ru-RU" b="1" dirty="0"/>
              <a:t>три вершины</a:t>
            </a:r>
            <a:r>
              <a:rPr lang="ru-RU" dirty="0"/>
              <a:t>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m_p0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m_p1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m_p2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Но при этом он предоставляет 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GetArea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GetPerimeter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GetCenter</a:t>
            </a:r>
            <a:r>
              <a:rPr lang="ru-RU" dirty="0"/>
              <a:t>.</a:t>
            </a:r>
          </a:p>
          <a:p>
            <a:r>
              <a:rPr lang="ru-RU" dirty="0"/>
              <a:t>Эти значения </a:t>
            </a:r>
            <a:r>
              <a:rPr lang="ru-RU" b="1" dirty="0"/>
              <a:t>не хранятся в полях класса</a:t>
            </a:r>
            <a:r>
              <a:rPr lang="ru-RU" dirty="0"/>
              <a:t>, а </a:t>
            </a:r>
            <a:r>
              <a:rPr lang="ru-RU" b="1" dirty="0"/>
              <a:t>вычисляются при обращении</a:t>
            </a:r>
            <a:r>
              <a:rPr lang="ru-RU" dirty="0"/>
              <a:t>.</a:t>
            </a:r>
          </a:p>
          <a:p>
            <a:r>
              <a:rPr lang="ru-RU" dirty="0"/>
              <a:t>Это важная идея: свойства объекта </a:t>
            </a:r>
            <a:r>
              <a:rPr lang="ru-RU" b="1" dirty="0"/>
              <a:t>не обязаны напрямую соответствовать полям класса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Они могут быть </a:t>
            </a:r>
            <a:r>
              <a:rPr lang="ru-RU" b="1" dirty="0"/>
              <a:t>вычисляемыми характеристиками</a:t>
            </a:r>
            <a:r>
              <a:rPr lang="ru-RU" dirty="0"/>
              <a:t>, которые получаются на основе внутренних данных объекта.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25865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проектировании класса важно </a:t>
            </a:r>
            <a:r>
              <a:rPr lang="ru-RU" b="1" dirty="0"/>
              <a:t>не хранить избыточные данные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для прямоугольника достаточно хранить </a:t>
            </a:r>
            <a:r>
              <a:rPr lang="ru-RU" b="1" dirty="0"/>
              <a:t>левый верхний угол, ширину и высоту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Этой информации достаточно, чтобы вычислить все остальные характеристики — например, правый нижний угол.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же дополнительно хранить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RightBottom</a:t>
            </a:r>
            <a:r>
              <a:rPr lang="ru-RU" dirty="0"/>
              <a:t>, данные будут </a:t>
            </a:r>
            <a:r>
              <a:rPr lang="ru-RU" b="1" dirty="0"/>
              <a:t>дублироваться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Тогда придётся постоянно следить за тем, чтобы все связанные поля </a:t>
            </a:r>
            <a:r>
              <a:rPr lang="ru-RU" b="1" dirty="0"/>
              <a:t>оставались согласованными</a:t>
            </a:r>
            <a:r>
              <a:rPr lang="ru-RU" dirty="0"/>
              <a:t> при каждом изменении.</a:t>
            </a:r>
          </a:p>
          <a:p>
            <a:r>
              <a:rPr lang="ru-RU" dirty="0"/>
              <a:t>Это усложняет код и увеличивает вероятность ошибок.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общее правило такое: </a:t>
            </a:r>
            <a:r>
              <a:rPr lang="ru-RU" b="1" dirty="0"/>
              <a:t>не хранить данные, которые можно вычислить из других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Исключение делают только в тех случаях, когда дублирование действительно </a:t>
            </a:r>
            <a:r>
              <a:rPr lang="ru-RU" b="1" dirty="0"/>
              <a:t>критично для производительности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38840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9521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Метод — это функция, которая принадлежит классу и вызывается для конкретного объекта.</a:t>
            </a:r>
            <a:endParaRPr lang="en-US" b="0" dirty="0"/>
          </a:p>
          <a:p>
            <a:endParaRPr lang="ru-RU" b="0" dirty="0"/>
          </a:p>
          <a:p>
            <a:r>
              <a:rPr lang="ru-RU" b="0" dirty="0"/>
              <a:t>Поэтому метод имеет доступ к внутренним данным объекта, включая приватные и защищённые поля.</a:t>
            </a:r>
            <a:endParaRPr lang="en-US" b="0" dirty="0"/>
          </a:p>
          <a:p>
            <a:endParaRPr lang="ru-RU" b="0" dirty="0"/>
          </a:p>
          <a:p>
            <a:r>
              <a:rPr lang="ru-RU" b="0" dirty="0"/>
              <a:t>Кроме того, методы могут быть виртуальными, что используется для реализации полиморфизма.</a:t>
            </a:r>
            <a:endParaRPr lang="en-US" b="0" dirty="0"/>
          </a:p>
          <a:p>
            <a:endParaRPr lang="ru-RU" b="0" dirty="0"/>
          </a:p>
          <a:p>
            <a:r>
              <a:rPr lang="ru-RU" b="0" dirty="0"/>
              <a:t>Обычная функция, в отличие от метода, не связана ни с каким объектом.</a:t>
            </a:r>
            <a:endParaRPr lang="en-US" b="0" dirty="0"/>
          </a:p>
          <a:p>
            <a:br>
              <a:rPr lang="ru-RU" b="0" dirty="0"/>
            </a:br>
            <a:r>
              <a:rPr lang="ru-RU" b="0" dirty="0"/>
              <a:t>Она работает только со своими параметрами или с глобальным состоянием.</a:t>
            </a:r>
          </a:p>
          <a:p>
            <a:r>
              <a:rPr lang="ru-RU" b="0" dirty="0"/>
              <a:t>Таким образом ключевое отличие — у метода есть</a:t>
            </a:r>
            <a:r>
              <a:rPr lang="en-US" b="0" dirty="0"/>
              <a:t> </a:t>
            </a:r>
            <a:r>
              <a:rPr lang="ru-RU" b="0" dirty="0"/>
              <a:t>ассоциированный объект, а у обычной функции его нет.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13682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показана </a:t>
            </a:r>
            <a:r>
              <a:rPr lang="ru-RU" b="1" dirty="0"/>
              <a:t>обычная функция</a:t>
            </a:r>
            <a:r>
              <a:rPr lang="ru-RU" dirty="0"/>
              <a:t>, которая работает с объектами.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MovePoint</a:t>
            </a:r>
            <a:r>
              <a:rPr lang="ru-RU" dirty="0"/>
              <a:t> принимает </a:t>
            </a:r>
            <a:r>
              <a:rPr lang="ru-RU" b="1" dirty="0"/>
              <a:t>ссылку на точку</a:t>
            </a:r>
            <a:r>
              <a:rPr lang="ru-RU" dirty="0"/>
              <a:t> и вектор смещения.</a:t>
            </a:r>
            <a:br>
              <a:rPr lang="ru-RU" dirty="0"/>
            </a:br>
            <a:r>
              <a:rPr lang="ru-RU" dirty="0"/>
              <a:t>Внутри функции мы изменяем координаты точки, прибавляя компоненты вектора.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Обратите внимание, что функция </a:t>
            </a:r>
            <a:r>
              <a:rPr lang="ru-RU" b="1" dirty="0"/>
              <a:t>не принадлежит никакому классу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Она просто работает с объектом, который передан ей в качестве параметра.</a:t>
            </a:r>
          </a:p>
          <a:p>
            <a:r>
              <a:rPr lang="ru-RU" dirty="0"/>
              <a:t>Внутри функции точка доступна по имени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, и именно через этот параметр мы изменяем её состояние.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6209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тот же пример, но уже в виде </a:t>
            </a:r>
            <a:r>
              <a:rPr lang="ru-RU" b="1" dirty="0"/>
              <a:t>метода класса</a:t>
            </a:r>
            <a:r>
              <a:rPr lang="ru-RU" dirty="0"/>
              <a:t>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ru-RU" dirty="0"/>
              <a:t> объявлен внутри структуры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перемещает точку на заданный вектор.</a:t>
            </a:r>
          </a:p>
          <a:p>
            <a:r>
              <a:rPr lang="ru-RU" dirty="0"/>
              <a:t>Обратите внимание, что среди параметров метода </a:t>
            </a:r>
            <a:r>
              <a:rPr lang="ru-RU" b="1" dirty="0"/>
              <a:t>нет самой точки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Тем не менее внутри метода мы можем обращаться к её полям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 напрямую.</a:t>
            </a:r>
          </a:p>
          <a:p>
            <a:endParaRPr lang="ru-RU" dirty="0"/>
          </a:p>
          <a:p>
            <a:r>
              <a:rPr lang="ru-RU" dirty="0"/>
              <a:t>Это происходит потому, что при вызове метода мы </a:t>
            </a:r>
            <a:r>
              <a:rPr lang="ru-RU" b="1" dirty="0"/>
              <a:t>указываем объект</a:t>
            </a:r>
            <a:r>
              <a:rPr lang="ru-RU" dirty="0"/>
              <a:t>, для которого выполняется вызов —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p1.MoveBy(...)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Информация о том, </a:t>
            </a:r>
            <a:r>
              <a:rPr lang="ru-RU" b="1" dirty="0"/>
              <a:t>какой именно объект вызвал метод</a:t>
            </a:r>
            <a:r>
              <a:rPr lang="ru-RU" dirty="0"/>
              <a:t>, передаётся внутрь метода через специальный неявный параметр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 — указатель на текущий объект.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внутри метода можно обращаться к полям объекта просто по имени, и они будут относиться именно к тому объекту, для которого был выполнен вызов.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12492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вызываем метод у объекта,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point.MoveBy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(v)</a:t>
            </a:r>
            <a:r>
              <a:rPr lang="ru-RU" dirty="0"/>
              <a:t>, компилятор </a:t>
            </a:r>
            <a:r>
              <a:rPr lang="ru-RU" b="1" dirty="0"/>
              <a:t>неявно передаёт внутрь метода указатель на этот объект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Этот указатель называется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.</a:t>
            </a:r>
          </a:p>
          <a:p>
            <a:r>
              <a:rPr lang="ru-RU" dirty="0"/>
              <a:t>Поэтому внутри метода можно обращаться к полям объекта просто по имени — фактически компилятор понимает это как обращение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.</a:t>
            </a:r>
          </a:p>
          <a:p>
            <a:r>
              <a:rPr lang="ru-RU" dirty="0"/>
              <a:t>Таким образом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 — это </a:t>
            </a:r>
            <a:r>
              <a:rPr lang="ru-RU" b="1" dirty="0"/>
              <a:t>указатель на текущий объект</a:t>
            </a:r>
            <a:r>
              <a:rPr lang="ru-RU" dirty="0"/>
              <a:t>, для которого выполняется метод.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19493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вызываем метод у объекта, компилятор </a:t>
            </a:r>
            <a:r>
              <a:rPr lang="ru-RU" b="1" dirty="0"/>
              <a:t>неявно передаёт в него указатель на этот объект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Этот указатель называется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.</a:t>
            </a:r>
          </a:p>
          <a:p>
            <a:r>
              <a:rPr lang="ru-RU" dirty="0"/>
              <a:t>Поэтому внутри метода обращения к полям объекта фактически происходят </a:t>
            </a:r>
            <a:r>
              <a:rPr lang="ru-RU" b="1" dirty="0"/>
              <a:t>через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.</a:t>
            </a:r>
          </a:p>
          <a:p>
            <a:r>
              <a:rPr lang="ru-RU" dirty="0"/>
              <a:t>Например, запись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+=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v.x</a:t>
            </a:r>
            <a:r>
              <a:rPr lang="ru-RU" dirty="0"/>
              <a:t> компилятор понимает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-&gt;x +=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v.x</a:t>
            </a:r>
            <a:r>
              <a:rPr lang="ru-RU" dirty="0"/>
              <a:t>.</a:t>
            </a:r>
          </a:p>
          <a:p>
            <a:r>
              <a:rPr lang="ru-RU" dirty="0"/>
              <a:t>Таким образом метод можно представить как обычную функцию, </a:t>
            </a:r>
            <a:r>
              <a:rPr lang="ru-RU" b="1" dirty="0"/>
              <a:t>первым параметром которой передаётся указатель на объект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62532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у метода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ru-RU" dirty="0"/>
              <a:t> есть параметры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, и при этом у класса есть поля с теми же именами.</a:t>
            </a:r>
          </a:p>
          <a:p>
            <a:r>
              <a:rPr lang="ru-RU" dirty="0"/>
              <a:t>Внутри метода имена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 относятся </a:t>
            </a:r>
            <a:r>
              <a:rPr lang="ru-RU" b="1" dirty="0"/>
              <a:t>к параметрам функции</a:t>
            </a:r>
            <a:r>
              <a:rPr lang="ru-RU" dirty="0"/>
              <a:t>, а не к полям объекта.</a:t>
            </a:r>
            <a:br>
              <a:rPr lang="ru-RU" dirty="0"/>
            </a:br>
            <a:r>
              <a:rPr lang="ru-RU" dirty="0"/>
              <a:t>Это явление называется </a:t>
            </a:r>
            <a:r>
              <a:rPr lang="ru-RU" b="1" dirty="0"/>
              <a:t>затенением имён</a:t>
            </a:r>
            <a:r>
              <a:rPr lang="ru-RU" dirty="0"/>
              <a:t>.</a:t>
            </a:r>
          </a:p>
          <a:p>
            <a:r>
              <a:rPr lang="ru-RU" dirty="0"/>
              <a:t>Чтобы явно обратиться к полям объекта,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dirty="0"/>
              <a:t>.</a:t>
            </a:r>
          </a:p>
          <a:p>
            <a:r>
              <a:rPr lang="ru-RU" dirty="0"/>
              <a:t>Поэтому запись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-&gt;x = x</a:t>
            </a:r>
            <a:r>
              <a:rPr lang="ru-RU" dirty="0"/>
              <a:t> означает: присвоить </a:t>
            </a:r>
            <a:r>
              <a:rPr lang="ru-RU" b="1" dirty="0"/>
              <a:t>полю объекта</a:t>
            </a:r>
            <a:r>
              <a:rPr lang="ru-RU" dirty="0"/>
              <a:t> значение </a:t>
            </a:r>
            <a:r>
              <a:rPr lang="ru-RU" b="1" dirty="0"/>
              <a:t>параметра метода</a:t>
            </a:r>
            <a:r>
              <a:rPr lang="ru-RU" dirty="0"/>
              <a:t>.</a:t>
            </a:r>
          </a:p>
          <a:p>
            <a:r>
              <a:rPr lang="ru-RU" dirty="0"/>
              <a:t>Такие ситуации лучше по возможности избегать, потому что они </a:t>
            </a:r>
            <a:r>
              <a:rPr lang="ru-RU" b="1" dirty="0"/>
              <a:t>ухудшают читаемость кода</a:t>
            </a:r>
            <a:r>
              <a:rPr lang="ru-RU" dirty="0"/>
              <a:t> и легко приводят к ошибкам.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377211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 используется </a:t>
            </a:r>
            <a:r>
              <a:rPr lang="ru-RU" b="1" dirty="0"/>
              <a:t>довольно редко</a:t>
            </a:r>
            <a:r>
              <a:rPr lang="ru-RU" dirty="0"/>
              <a:t>.</a:t>
            </a:r>
          </a:p>
          <a:p>
            <a:r>
              <a:rPr lang="ru-RU" dirty="0"/>
              <a:t>Общее правило простое: </a:t>
            </a:r>
            <a:r>
              <a:rPr lang="ru-RU" b="1" dirty="0"/>
              <a:t>используйте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b="1" dirty="0"/>
              <a:t>, только когда это действительно нужно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Во всех остальных случаях его писать не принято.</a:t>
            </a:r>
          </a:p>
          <a:p>
            <a:r>
              <a:rPr lang="ru-RU" dirty="0"/>
              <a:t>Дело в том, что компилятор </a:t>
            </a:r>
            <a:r>
              <a:rPr lang="ru-RU" b="1" dirty="0"/>
              <a:t>неявно добавляет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 при обращении к полям и методам объекта, поэтому дополнительная запись обычно не нужна.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Есть несколько типичных ситуаций, когда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 действительно используется.</a:t>
            </a:r>
          </a:p>
          <a:p>
            <a:r>
              <a:rPr lang="ru-RU" dirty="0"/>
              <a:t>Например, когда нужно </a:t>
            </a:r>
            <a:r>
              <a:rPr lang="ru-RU" b="1" dirty="0"/>
              <a:t>вернуть текущий объект</a:t>
            </a:r>
            <a:r>
              <a:rPr lang="ru-RU" dirty="0"/>
              <a:t> или передать </a:t>
            </a:r>
            <a:r>
              <a:rPr lang="ru-RU" b="1" dirty="0"/>
              <a:t>указатель на него</a:t>
            </a:r>
            <a:r>
              <a:rPr lang="ru-RU" dirty="0"/>
              <a:t> в другую функцию.</a:t>
            </a:r>
          </a:p>
          <a:p>
            <a:r>
              <a:rPr lang="ru-RU" dirty="0"/>
              <a:t>Ещё один важный случай — </a:t>
            </a:r>
            <a:r>
              <a:rPr lang="ru-RU" b="1" dirty="0"/>
              <a:t>шаблонные классы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Там иногда требуется явно писать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dirty="0"/>
              <a:t>, чтобы компилятор смог правильно найти члены базового класса.</a:t>
            </a:r>
          </a:p>
          <a:p>
            <a:r>
              <a:rPr lang="ru-RU" dirty="0"/>
              <a:t>Во всех остальных ситуациях лучше </a:t>
            </a:r>
            <a:r>
              <a:rPr lang="ru-RU" b="1" dirty="0"/>
              <a:t>не писать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b="1" dirty="0"/>
              <a:t> без необходимости</a:t>
            </a:r>
            <a:r>
              <a:rPr lang="ru-RU" dirty="0"/>
              <a:t>, чтобы код оставался более чистым и читаемым.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75112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 используется, чтобы </a:t>
            </a:r>
            <a:r>
              <a:rPr lang="ru-RU" b="1" dirty="0"/>
              <a:t>вернуть текущий объект</a:t>
            </a:r>
            <a:r>
              <a:rPr lang="ru-RU" dirty="0"/>
              <a:t>.</a:t>
            </a:r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+=</a:t>
            </a:r>
            <a:r>
              <a:rPr lang="ru-RU" dirty="0"/>
              <a:t> изменяет координаты вектора, прибавляя координаты другого вектора.</a:t>
            </a:r>
          </a:p>
          <a:p>
            <a:r>
              <a:rPr lang="ru-RU" dirty="0"/>
              <a:t>В конце метода возвращается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 — то есть </a:t>
            </a:r>
            <a:r>
              <a:rPr lang="ru-RU" b="1" dirty="0"/>
              <a:t>ссылка на тот же объект</a:t>
            </a:r>
            <a:r>
              <a:rPr lang="ru-RU" dirty="0"/>
              <a:t>, для которого был вызван метод.</a:t>
            </a:r>
          </a:p>
          <a:p>
            <a:r>
              <a:rPr lang="ru-RU" dirty="0"/>
              <a:t>Это позволяет писать </a:t>
            </a:r>
            <a:r>
              <a:rPr lang="ru-RU" b="1" dirty="0"/>
              <a:t>цепочки операций</a:t>
            </a:r>
            <a:r>
              <a:rPr lang="ru-RU" dirty="0"/>
              <a:t>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v1 += v2 += v3</a:t>
            </a:r>
            <a:r>
              <a:rPr lang="ru-RU" dirty="0"/>
              <a:t>.</a:t>
            </a:r>
          </a:p>
          <a:p>
            <a:r>
              <a:rPr lang="ru-RU" dirty="0"/>
              <a:t>Сначала выполняется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v2 += v3</a:t>
            </a:r>
            <a:r>
              <a:rPr lang="ru-RU" dirty="0"/>
              <a:t>, после чего возвращается ссылка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v2</a:t>
            </a:r>
            <a:r>
              <a:rPr lang="ru-RU" dirty="0"/>
              <a:t>, и затем результат используется в операции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v1 += ...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19509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Иногда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 требуется по техническим причинам.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этом примере есть базовый класс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</a:t>
            </a:r>
            <a:r>
              <a:rPr lang="ru-RU" dirty="0"/>
              <a:t>, который хранит значение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m_value</a:t>
            </a:r>
            <a:r>
              <a:rPr lang="ru-RU" dirty="0"/>
              <a:t>, и производный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Derived</a:t>
            </a:r>
            <a:r>
              <a:rPr lang="ru-RU" dirty="0"/>
              <a:t>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PrintValue</a:t>
            </a:r>
            <a:r>
              <a:rPr lang="ru-RU" dirty="0"/>
              <a:t> пытается вывести это значение.</a:t>
            </a:r>
          </a:p>
          <a:p>
            <a:r>
              <a:rPr lang="ru-RU" dirty="0"/>
              <a:t>Однако из-за особенностей шаблонов компилятор не всегда может автоматически найти члены базового класса.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приходится писать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m_value</a:t>
            </a:r>
            <a:r>
              <a:rPr lang="ru-RU" dirty="0"/>
              <a:t>, чтобы явно указать, что поле принадлежит текущему объекту.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Пока достаточно просто запомнить: </a:t>
            </a:r>
            <a:r>
              <a:rPr lang="ru-RU" b="1" dirty="0"/>
              <a:t>в шаблонных классах иногда требуется писать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b="1" dirty="0"/>
              <a:t> при обращении к членам базового класса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993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39522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Состояние объекта определяется значениями его </a:t>
            </a:r>
            <a:r>
              <a:rPr lang="ru-RU" b="1" dirty="0"/>
              <a:t>полей</a:t>
            </a:r>
            <a:r>
              <a:rPr lang="ru-RU" dirty="0"/>
              <a:t>.</a:t>
            </a:r>
          </a:p>
          <a:p>
            <a:r>
              <a:rPr lang="ru-RU" dirty="0"/>
              <a:t>Чтобы гарантировать корректность состояния, данные обычно делают </a:t>
            </a:r>
            <a:r>
              <a:rPr lang="ru-RU" b="1" dirty="0"/>
              <a:t>приватными</a:t>
            </a:r>
            <a:r>
              <a:rPr lang="ru-RU" dirty="0"/>
              <a:t>, а доступ к ним осуществляется через методы.</a:t>
            </a:r>
          </a:p>
          <a:p>
            <a:r>
              <a:rPr lang="ru-RU" dirty="0"/>
              <a:t>Публичные методы должны либо переводить объект </a:t>
            </a:r>
            <a:r>
              <a:rPr lang="ru-RU" b="1" dirty="0"/>
              <a:t>из одного корректного состояния в другое</a:t>
            </a:r>
            <a:r>
              <a:rPr lang="ru-RU" dirty="0"/>
              <a:t>, либо не изменять его вовсе.</a:t>
            </a:r>
          </a:p>
          <a:p>
            <a:r>
              <a:rPr lang="ru-RU" dirty="0"/>
              <a:t>Из этого следует важное требование: </a:t>
            </a:r>
            <a:r>
              <a:rPr lang="ru-RU" b="1" dirty="0"/>
              <a:t>объект должен быть валиден сразу после создания</a:t>
            </a:r>
            <a:r>
              <a:rPr lang="ru-RU" dirty="0"/>
              <a:t>.</a:t>
            </a:r>
          </a:p>
          <a:p>
            <a:r>
              <a:rPr lang="ru-RU" dirty="0"/>
              <a:t>То есть после создания должно выполниться некоторое действие, которое приводит объект в корректное начальное состояние — этим обычно занимается </a:t>
            </a:r>
            <a:r>
              <a:rPr lang="ru-RU" b="1" dirty="0"/>
              <a:t>конструктор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3789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Попытавшись использовать этот класс, вы столкнётесь с несколькими проблемами. Первая — неудобство. Чтобы создать не равную нулю дробь, нужно написать две или три строки: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Вторая проблема более серьёзная. Непонятно, как создать константную дробь. У константной переменной можно вызывать только константные методы. Но константные методы не позволяют изменить значение дроби.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Можно было бы создать функцию </a:t>
            </a:r>
            <a:r>
              <a:rPr lang="ru-RU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ru-RU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CreateRational</a:t>
            </a:r>
            <a:r>
              <a:rPr lang="ru-RU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ru-RU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ru-RU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)`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и вызывать её для создания дроби. Однако этот способ выглядит как «костыль», потому что им и является. Инициализация — это важный шаг жизненного цикла объекта. И для этого в языке есть особое средство: конструктор.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80532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Конструктор — это специальный метод класса, который отвечает за </a:t>
            </a:r>
            <a:r>
              <a:rPr lang="ru-RU" b="1" dirty="0"/>
              <a:t>инициализацию объекта</a:t>
            </a:r>
            <a:r>
              <a:rPr lang="ru-RU" dirty="0"/>
              <a:t>.</a:t>
            </a:r>
          </a:p>
          <a:p>
            <a:r>
              <a:rPr lang="ru-RU" dirty="0"/>
              <a:t>Он вызывается автоматически в момент создания объекта — например, при объявлении переменной или при использовании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dirty="0"/>
              <a:t>.</a:t>
            </a:r>
          </a:p>
          <a:p>
            <a:r>
              <a:rPr lang="ru-RU" dirty="0"/>
              <a:t>Конструктор выполняется </a:t>
            </a:r>
            <a:r>
              <a:rPr lang="ru-RU" b="1" dirty="0"/>
              <a:t>ровно один раз</a:t>
            </a:r>
            <a:r>
              <a:rPr lang="ru-RU" dirty="0"/>
              <a:t> и должен привести объект в </a:t>
            </a:r>
            <a:r>
              <a:rPr lang="ru-RU" b="1" dirty="0"/>
              <a:t>корректное начальное состояние</a:t>
            </a:r>
            <a:r>
              <a:rPr lang="ru-RU" dirty="0"/>
              <a:t>.</a:t>
            </a:r>
          </a:p>
          <a:p>
            <a:r>
              <a:rPr lang="ru-RU" dirty="0"/>
              <a:t>В классе может быть несколько конструкторов.</a:t>
            </a:r>
            <a:br>
              <a:rPr lang="ru-RU" dirty="0"/>
            </a:br>
            <a:r>
              <a:rPr lang="ru-RU" dirty="0"/>
              <a:t>Они отличаются </a:t>
            </a:r>
            <a:r>
              <a:rPr lang="ru-RU" b="1" dirty="0"/>
              <a:t>количеством или типами параметров</a:t>
            </a:r>
            <a:r>
              <a:rPr lang="ru-RU" dirty="0"/>
              <a:t>, что позволяет создавать объекты разными способами.</a:t>
            </a:r>
          </a:p>
          <a:p>
            <a:r>
              <a:rPr lang="ru-RU" dirty="0"/>
              <a:t>При создании объекта выбирается и вызывается </a:t>
            </a:r>
            <a:r>
              <a:rPr lang="ru-RU" b="1" dirty="0"/>
              <a:t>один подходящий конструктор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44514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 конструктор класса </a:t>
            </a:r>
            <a:r>
              <a:rPr lang="ru-RU" b="1" dirty="0" err="1"/>
              <a:t>Rational</a:t>
            </a:r>
            <a:r>
              <a:rPr lang="ru-RU" dirty="0"/>
              <a:t>, который инициализирует дробь.</a:t>
            </a:r>
          </a:p>
          <a:p>
            <a:r>
              <a:rPr lang="ru-RU" dirty="0"/>
              <a:t>Конструктор принимает числитель и знаменатель, проверяет корректность данных и сохраняет их в поля класса.</a:t>
            </a:r>
          </a:p>
          <a:p>
            <a:r>
              <a:rPr lang="ru-RU" dirty="0"/>
              <a:t>Обратите внимание, что конструктор вызывается </a:t>
            </a:r>
            <a:r>
              <a:rPr lang="ru-RU" b="1" dirty="0"/>
              <a:t>только при создании объекта</a:t>
            </a:r>
            <a:r>
              <a:rPr lang="ru-RU" dirty="0"/>
              <a:t> — например, при записи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{1, 2}</a:t>
            </a:r>
            <a:r>
              <a:rPr lang="ru-RU" dirty="0"/>
              <a:t>.</a:t>
            </a:r>
          </a:p>
          <a:p>
            <a:r>
              <a:rPr lang="ru-RU" dirty="0"/>
              <a:t>После этого объект уже находится в </a:t>
            </a:r>
            <a:r>
              <a:rPr lang="ru-RU" b="1" dirty="0"/>
              <a:t>корректном состоянии</a:t>
            </a:r>
            <a:r>
              <a:rPr lang="ru-RU" dirty="0"/>
              <a:t>.</a:t>
            </a:r>
          </a:p>
          <a:p>
            <a:r>
              <a:rPr lang="ru-RU" dirty="0"/>
              <a:t>Важно: конструктор нельзя вызвать как обычный метод.</a:t>
            </a:r>
            <a:br>
              <a:rPr lang="ru-RU" dirty="0"/>
            </a:br>
            <a:r>
              <a:rPr lang="ru-RU" dirty="0"/>
              <a:t>Его можно выполнить </a:t>
            </a:r>
            <a:r>
              <a:rPr lang="ru-RU" b="1" dirty="0"/>
              <a:t>только создавая новый объект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29519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143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708267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89553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показывает </a:t>
            </a:r>
            <a:r>
              <a:rPr lang="ru-RU" b="1" dirty="0"/>
              <a:t>момент вызова конструктора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 на порядок вывода в программе.</a:t>
            </a:r>
          </a:p>
          <a:p>
            <a:endParaRPr lang="ru-RU" dirty="0"/>
          </a:p>
          <a:p>
            <a:r>
              <a:rPr lang="ru-RU" dirty="0"/>
              <a:t>Сначала выводится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"Enter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, затем создаётся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alice</a:t>
            </a:r>
            <a:r>
              <a:rPr lang="ru-RU" dirty="0"/>
              <a:t>, и сразу вызывается его конструктор — мы видим сообщение </a:t>
            </a:r>
            <a:r>
              <a:rPr lang="ru-RU" i="1" dirty="0"/>
              <a:t>"</a:t>
            </a:r>
            <a:r>
              <a:rPr lang="ru-RU" i="1" dirty="0" err="1"/>
              <a:t>Alice</a:t>
            </a:r>
            <a:r>
              <a:rPr lang="ru-RU" i="1" dirty="0"/>
              <a:t> </a:t>
            </a:r>
            <a:r>
              <a:rPr lang="ru-RU" i="1" dirty="0" err="1"/>
              <a:t>is</a:t>
            </a:r>
            <a:r>
              <a:rPr lang="ru-RU" i="1" dirty="0"/>
              <a:t> </a:t>
            </a:r>
            <a:r>
              <a:rPr lang="ru-RU" i="1" dirty="0" err="1"/>
              <a:t>created</a:t>
            </a:r>
            <a:r>
              <a:rPr lang="ru-RU" i="1" dirty="0"/>
              <a:t>"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Далее создаётся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bob</a:t>
            </a:r>
            <a:r>
              <a:rPr lang="ru-RU" dirty="0"/>
              <a:t>, и его конструктор вызывается в этот же момент.</a:t>
            </a:r>
          </a:p>
          <a:p>
            <a:r>
              <a:rPr lang="ru-RU" dirty="0"/>
              <a:t>Затем создаётся ещё один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alice2</a:t>
            </a:r>
            <a:r>
              <a:rPr lang="ru-RU" dirty="0"/>
              <a:t>, и снова сразу вызывается конструктор.</a:t>
            </a:r>
          </a:p>
          <a:p>
            <a:endParaRPr lang="ru-RU" dirty="0"/>
          </a:p>
          <a:p>
            <a:r>
              <a:rPr lang="ru-RU" dirty="0"/>
              <a:t>Из этого можно сделать важный вывод:</a:t>
            </a:r>
            <a:br>
              <a:rPr lang="ru-RU" dirty="0"/>
            </a:br>
            <a:r>
              <a:rPr lang="ru-RU" b="1" dirty="0"/>
              <a:t>конструктор вызывается не в начале функции, а в тот момент, когда выполнение доходит до объявления переменной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То есть объект создаётся и инициализируется </a:t>
            </a:r>
            <a:r>
              <a:rPr lang="ru-RU" b="1" dirty="0"/>
              <a:t>ровно в точке своего объявления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66719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</a:t>
            </a:r>
            <a:r>
              <a:rPr lang="ru-RU" b="1" dirty="0"/>
              <a:t>как инициализируются поля класса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Carol</a:t>
            </a:r>
            <a:r>
              <a:rPr lang="ru-RU" dirty="0"/>
              <a:t> содержит два поля: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Alice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Bob</a:t>
            </a:r>
            <a:r>
              <a:rPr lang="ru-RU" dirty="0"/>
              <a:t>.</a:t>
            </a:r>
          </a:p>
          <a:p>
            <a:r>
              <a:rPr lang="ru-RU" dirty="0"/>
              <a:t>При создании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Carol</a:t>
            </a:r>
            <a:r>
              <a:rPr lang="ru-RU" dirty="0"/>
              <a:t> сначала вызываются </a:t>
            </a:r>
            <a:r>
              <a:rPr lang="ru-RU" b="1" dirty="0"/>
              <a:t>конструкторы его полей</a:t>
            </a:r>
            <a:r>
              <a:rPr lang="ru-RU" dirty="0"/>
              <a:t> — сначала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Alice</a:t>
            </a:r>
            <a:r>
              <a:rPr lang="ru-RU" dirty="0"/>
              <a:t>, затем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Bob</a:t>
            </a:r>
            <a:r>
              <a:rPr lang="ru-RU" dirty="0"/>
              <a:t>.</a:t>
            </a:r>
          </a:p>
          <a:p>
            <a:r>
              <a:rPr lang="ru-RU" dirty="0"/>
              <a:t>И только после этого выполняется </a:t>
            </a:r>
            <a:r>
              <a:rPr lang="ru-RU" b="1" dirty="0"/>
              <a:t>тело конструктора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Carol</a:t>
            </a:r>
            <a:r>
              <a:rPr lang="ru-RU" dirty="0"/>
              <a:t>, что видно по порядку вывода.</a:t>
            </a:r>
          </a:p>
          <a:p>
            <a:endParaRPr lang="ru-RU" dirty="0"/>
          </a:p>
          <a:p>
            <a:r>
              <a:rPr lang="ru-RU" dirty="0"/>
              <a:t>Отсюда важное правило:</a:t>
            </a:r>
            <a:br>
              <a:rPr lang="ru-RU" dirty="0"/>
            </a:br>
            <a:r>
              <a:rPr lang="ru-RU" b="1" dirty="0"/>
              <a:t>сначала инициализируются все поля класса в порядке их объявления, и только потом выполняется код конструктора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гарантирует, что к моменту выполнения конструктора все поля уже находятся в </a:t>
            </a:r>
            <a:r>
              <a:rPr lang="ru-RU" b="1" dirty="0"/>
              <a:t>корректном состоянии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30894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типичная проблема при инициализации полей.</a:t>
            </a:r>
          </a:p>
          <a:p>
            <a:r>
              <a:rPr lang="ru-RU" dirty="0"/>
              <a:t>В классе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Carol</a:t>
            </a:r>
            <a:r>
              <a:rPr lang="ru-RU" dirty="0"/>
              <a:t> мы пытаемся инициализировать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m_alice</a:t>
            </a:r>
            <a:r>
              <a:rPr lang="ru-RU" dirty="0"/>
              <a:t> внутри тела конструктора.</a:t>
            </a:r>
          </a:p>
          <a:p>
            <a:r>
              <a:rPr lang="ru-RU" dirty="0"/>
              <a:t>Но важно помнить: </a:t>
            </a:r>
            <a:r>
              <a:rPr lang="ru-RU" b="1" dirty="0"/>
              <a:t>к моменту входа в конструктор поле уже создано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Сначала вызывается </a:t>
            </a:r>
            <a:r>
              <a:rPr lang="ru-RU" b="1" dirty="0"/>
              <a:t>конструктор по умолчанию для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m_alice</a:t>
            </a:r>
            <a:r>
              <a:rPr lang="ru-RU" dirty="0"/>
              <a:t>, и только потом выполняется тело конструктора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Carol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 внутри конструктора мы делаем присваивание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m_alice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Alice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То есть объект сначала </a:t>
            </a:r>
            <a:r>
              <a:rPr lang="ru-RU" b="1" dirty="0"/>
              <a:t>создаётся без параметров</a:t>
            </a:r>
            <a:r>
              <a:rPr lang="ru-RU" dirty="0"/>
              <a:t>, а затем </a:t>
            </a:r>
            <a:r>
              <a:rPr lang="ru-RU" b="1" dirty="0"/>
              <a:t>перезаписывается</a:t>
            </a:r>
            <a:r>
              <a:rPr lang="ru-RU" dirty="0"/>
              <a:t> новым значением.</a:t>
            </a:r>
          </a:p>
          <a:p>
            <a:r>
              <a:rPr lang="ru-RU" dirty="0"/>
              <a:t>Это лишняя работа и может быть неэффективно.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21115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ситуация становится ещё более серьёзной.</a:t>
            </a:r>
          </a:p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Alice</a:t>
            </a:r>
            <a:r>
              <a:rPr lang="ru-RU" dirty="0"/>
              <a:t> больше </a:t>
            </a:r>
            <a:r>
              <a:rPr lang="ru-RU" b="1" dirty="0"/>
              <a:t>не имеет конструктора по умолчанию</a:t>
            </a:r>
            <a:r>
              <a:rPr lang="ru-RU" dirty="0"/>
              <a:t> — он требует параметр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m_alice</a:t>
            </a:r>
            <a:r>
              <a:rPr lang="ru-RU" dirty="0"/>
              <a:t> в классе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Carol</a:t>
            </a:r>
            <a:r>
              <a:rPr lang="ru-RU" dirty="0"/>
              <a:t> всё равно должно быть создано </a:t>
            </a:r>
            <a:r>
              <a:rPr lang="ru-RU" b="1" dirty="0"/>
              <a:t>до входа в конструктор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Carol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Компилятор пытается вызвать конструктор без параметров — но его нет, поэтому возникает </a:t>
            </a:r>
            <a:r>
              <a:rPr lang="ru-RU" b="1" dirty="0"/>
              <a:t>ошибка компиляции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Присваивание внутри конструктора уже не помогает, потому что объект должен быть создан </a:t>
            </a:r>
            <a:r>
              <a:rPr lang="ru-RU" b="1" dirty="0"/>
              <a:t>раньше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 чтобы решить эту проблему и проблему с лишним созданием и перезаписыванием объекта, в C++ используется </a:t>
            </a:r>
            <a:r>
              <a:rPr lang="ru-RU" b="1" dirty="0"/>
              <a:t>список инициализации конструктора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63590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Поля класса могут быть не только примитивными типами, но и </a:t>
            </a:r>
            <a:r>
              <a:rPr lang="ru-RU" b="1" dirty="0"/>
              <a:t>другими объектами</a:t>
            </a:r>
            <a:r>
              <a:rPr lang="ru-RU" dirty="0"/>
              <a:t>.</a:t>
            </a:r>
          </a:p>
          <a:p>
            <a:r>
              <a:rPr lang="ru-RU" dirty="0"/>
              <a:t>Важно, что они инициализируются </a:t>
            </a:r>
            <a:r>
              <a:rPr lang="ru-RU" b="1" dirty="0"/>
              <a:t>до выполнения тела конструктора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По умолчанию для них вызывается </a:t>
            </a:r>
            <a:r>
              <a:rPr lang="ru-RU" b="1" dirty="0"/>
              <a:t>конструктор без параметров</a:t>
            </a:r>
            <a:r>
              <a:rPr lang="ru-RU" dirty="0"/>
              <a:t>.</a:t>
            </a:r>
          </a:p>
          <a:p>
            <a:r>
              <a:rPr lang="ru-RU" dirty="0"/>
              <a:t>Но это подходит не всегда.</a:t>
            </a:r>
            <a:br>
              <a:rPr lang="ru-RU" dirty="0"/>
            </a:br>
            <a:r>
              <a:rPr lang="ru-RU" dirty="0"/>
              <a:t>У класса может не быть конструктора по умолчанию, или поле может быть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или ссылкой — такие поля </a:t>
            </a:r>
            <a:r>
              <a:rPr lang="ru-RU" b="1" dirty="0"/>
              <a:t>обязательно нужно инициализировать сразу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Кроме того, инициализация через присваивание внутри конструктора может приводить к </a:t>
            </a:r>
            <a:r>
              <a:rPr lang="ru-RU" b="1" dirty="0"/>
              <a:t>лишней работе</a:t>
            </a:r>
            <a:r>
              <a:rPr lang="ru-RU" dirty="0"/>
              <a:t>.</a:t>
            </a:r>
          </a:p>
          <a:p>
            <a:r>
              <a:rPr lang="ru-RU" dirty="0"/>
              <a:t>Поэтому в C++ используется специальный механизм — </a:t>
            </a:r>
            <a:r>
              <a:rPr lang="ru-RU" b="1" dirty="0"/>
              <a:t>список инициализации конструктора</a:t>
            </a:r>
            <a:r>
              <a:rPr lang="ru-RU" dirty="0"/>
              <a:t>, который позволяет корректно и эффективно инициализировать поля.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71898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Список инициализации позволяет </a:t>
            </a:r>
            <a:r>
              <a:rPr lang="ru-RU" b="1" dirty="0"/>
              <a:t>сразу создать поля с нужными значениями</a:t>
            </a:r>
            <a:r>
              <a:rPr lang="ru-RU" dirty="0"/>
              <a:t>, ещё до выполнения тела конструктора.</a:t>
            </a:r>
          </a:p>
          <a:p>
            <a:endParaRPr lang="ru-RU" dirty="0"/>
          </a:p>
          <a:p>
            <a:r>
              <a:rPr lang="ru-RU" dirty="0"/>
              <a:t>Он записывается после заголовка конструктора и задаёт, </a:t>
            </a:r>
            <a:r>
              <a:rPr lang="ru-RU" b="1" dirty="0"/>
              <a:t>как именно должны быть инициализированы поля</a:t>
            </a:r>
            <a:r>
              <a:rPr lang="ru-RU" dirty="0"/>
              <a:t>.</a:t>
            </a:r>
          </a:p>
          <a:p>
            <a:r>
              <a:rPr lang="ru-RU" dirty="0"/>
              <a:t>В некоторых случаях это не просто удобно, а </a:t>
            </a:r>
            <a:r>
              <a:rPr lang="ru-RU" b="1" dirty="0"/>
              <a:t>обязательно</a:t>
            </a:r>
            <a:r>
              <a:rPr lang="ru-RU" dirty="0"/>
              <a:t> — например, для полей без конструктора по умолчанию, а также 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и ссылок.</a:t>
            </a:r>
          </a:p>
          <a:p>
            <a:endParaRPr lang="ru-RU" dirty="0"/>
          </a:p>
          <a:p>
            <a:r>
              <a:rPr lang="ru-RU" dirty="0"/>
              <a:t>Кроме того, список инициализации позволяет избежать </a:t>
            </a:r>
            <a:r>
              <a:rPr lang="ru-RU" b="1" dirty="0"/>
              <a:t>лишнего создания объекта с последующим присваиванием</a:t>
            </a:r>
            <a:r>
              <a:rPr lang="ru-RU" dirty="0"/>
              <a:t>, делая код более эффективным.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68520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</a:t>
            </a:r>
            <a:r>
              <a:rPr lang="ru-RU" b="1" dirty="0"/>
              <a:t>список инициализации в реальном коде</a:t>
            </a:r>
            <a:r>
              <a:rPr lang="ru-RU" dirty="0"/>
              <a:t>.</a:t>
            </a:r>
          </a:p>
          <a:p>
            <a:r>
              <a:rPr lang="ru-RU" dirty="0"/>
              <a:t>Перед телом конструктора мы явно указываем, как должны быть инициализированы поля: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m_alice</a:t>
            </a:r>
            <a:r>
              <a:rPr lang="ru-RU" dirty="0"/>
              <a:t> создаётся с параметром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aliceAge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m_name</a:t>
            </a:r>
            <a:r>
              <a:rPr lang="ru-RU" dirty="0"/>
              <a:t> инициализируется строкой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Luis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endParaRPr lang="ru-RU" dirty="0"/>
          </a:p>
          <a:p>
            <a:r>
              <a:rPr lang="ru-RU" dirty="0"/>
              <a:t>При этом конструкторы полей вызываются </a:t>
            </a:r>
            <a:r>
              <a:rPr lang="ru-RU" b="1" dirty="0"/>
              <a:t>сразу с нужными параметрами</a:t>
            </a:r>
            <a:r>
              <a:rPr lang="ru-RU" dirty="0"/>
              <a:t>, без промежуточного создания и присваивания.</a:t>
            </a:r>
          </a:p>
          <a:p>
            <a:r>
              <a:rPr lang="ru-RU" dirty="0"/>
              <a:t>Обратите внимание, что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m_bob</a:t>
            </a:r>
            <a:r>
              <a:rPr lang="ru-RU" dirty="0"/>
              <a:t> не указано в списке — для него будет вызван </a:t>
            </a:r>
            <a:r>
              <a:rPr lang="ru-RU" b="1" dirty="0"/>
              <a:t>конструктор по умолчанию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 список инициализации позволяет </a:t>
            </a:r>
            <a:r>
              <a:rPr lang="ru-RU" b="1" dirty="0"/>
              <a:t>точно контролировать процесс создания полей и делать это эффективно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03173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как список инициализации используется для </a:t>
            </a:r>
            <a:r>
              <a:rPr lang="ru-RU" b="1" dirty="0"/>
              <a:t>инициализации ссылок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RemoteControl</a:t>
            </a:r>
            <a:r>
              <a:rPr lang="ru-RU" dirty="0"/>
              <a:t> хранит ссылки на объекты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TV</a:t>
            </a:r>
            <a:r>
              <a:rPr lang="ru-RU" dirty="0"/>
              <a:t>, а также на потоки ввода и вывода.</a:t>
            </a:r>
          </a:p>
          <a:p>
            <a:endParaRPr lang="ru-RU" dirty="0"/>
          </a:p>
          <a:p>
            <a:r>
              <a:rPr lang="ru-RU" dirty="0"/>
              <a:t>Такие поля </a:t>
            </a:r>
            <a:r>
              <a:rPr lang="ru-RU" b="1" dirty="0"/>
              <a:t>обязательно нужно инициализировать в списке инициализации</a:t>
            </a:r>
            <a:r>
              <a:rPr lang="ru-RU" dirty="0"/>
              <a:t>, потому что ссылки нельзя сначала создать, а потом присвоить им значение.</a:t>
            </a:r>
          </a:p>
          <a:p>
            <a:r>
              <a:rPr lang="ru-RU" dirty="0"/>
              <a:t>В конструкторе мы передаём все необходимые объекты и сразу связываем поля с ними.</a:t>
            </a:r>
          </a:p>
          <a:p>
            <a:r>
              <a:rPr lang="ru-RU" dirty="0"/>
              <a:t>После этого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ExecuteCommand</a:t>
            </a:r>
            <a:r>
              <a:rPr lang="ru-RU" dirty="0"/>
              <a:t> использует эти объекты для чтения команды, управления телевизором и вывода результата.</a:t>
            </a:r>
          </a:p>
          <a:p>
            <a:r>
              <a:rPr lang="ru-RU" dirty="0"/>
              <a:t>Таким образом список инициализации позволяет корректно работать с </a:t>
            </a:r>
            <a:r>
              <a:rPr lang="ru-RU" b="1" dirty="0"/>
              <a:t>ссылками и внешними зависимостями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93894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Конструктор, который не помечен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explicit</a:t>
            </a:r>
            <a:r>
              <a:rPr lang="ru-RU" dirty="0"/>
              <a:t>, называется </a:t>
            </a:r>
            <a:r>
              <a:rPr lang="ru-RU" b="1" dirty="0"/>
              <a:t>преобразующим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компилятор может использовать его для </a:t>
            </a:r>
            <a:r>
              <a:rPr lang="ru-RU" b="1" dirty="0"/>
              <a:t>неявного преобразования типов</a:t>
            </a:r>
            <a:r>
              <a:rPr lang="ru-RU" dirty="0"/>
              <a:t>.</a:t>
            </a:r>
          </a:p>
          <a:p>
            <a:r>
              <a:rPr lang="ru-RU" dirty="0"/>
              <a:t>Например, если у класса есть конструктор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можно написать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 = 5</a:t>
            </a:r>
            <a:r>
              <a:rPr lang="ru-RU" dirty="0"/>
              <a:t>, и компилятор автоматически создаст объект.</a:t>
            </a:r>
          </a:p>
          <a:p>
            <a:r>
              <a:rPr lang="ru-RU" dirty="0"/>
              <a:t>С одной стороны, это удобно.</a:t>
            </a:r>
            <a:br>
              <a:rPr lang="ru-RU" dirty="0"/>
            </a:br>
            <a:r>
              <a:rPr lang="ru-RU" dirty="0"/>
              <a:t>С другой — может приводить к </a:t>
            </a:r>
            <a:r>
              <a:rPr lang="ru-RU" b="1" dirty="0"/>
              <a:t>неожиданным преобразованиям и ошибкам</a:t>
            </a:r>
            <a:r>
              <a:rPr lang="ru-RU" dirty="0"/>
              <a:t>.</a:t>
            </a:r>
          </a:p>
          <a:p>
            <a:r>
              <a:rPr lang="ru-RU" dirty="0"/>
              <a:t>Поэтому такие конструкторы нужно использовать </a:t>
            </a:r>
            <a:r>
              <a:rPr lang="ru-RU" b="1" dirty="0"/>
              <a:t>осознанно</a:t>
            </a:r>
            <a:r>
              <a:rPr lang="ru-RU" dirty="0"/>
              <a:t>, а в большинстве случаев — явно помечать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explicit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96458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как работает </a:t>
            </a:r>
            <a:r>
              <a:rPr lang="ru-RU" b="1" dirty="0"/>
              <a:t>преобразующий конструктор на практике</a:t>
            </a:r>
            <a:r>
              <a:rPr lang="ru-RU" dirty="0"/>
              <a:t>.</a:t>
            </a:r>
          </a:p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Complex</a:t>
            </a:r>
            <a:r>
              <a:rPr lang="ru-RU" dirty="0"/>
              <a:t> имеет конструктор с параметрами по умолчанию, поэтому его можно вызывать с одним аргументом или без аргументов.</a:t>
            </a:r>
          </a:p>
          <a:p>
            <a:r>
              <a:rPr lang="ru-RU" dirty="0"/>
              <a:t>Благодаря этому компилятор может </a:t>
            </a:r>
            <a:r>
              <a:rPr lang="ru-RU" b="1" dirty="0"/>
              <a:t>неявно преобразовывать числа в комплексные числа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Например, в вызове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(3, {1.2, 2.3})</a:t>
            </a:r>
            <a:r>
              <a:rPr lang="ru-RU" dirty="0"/>
              <a:t> число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</a:t>
            </a:r>
            <a:r>
              <a:rPr lang="ru-RU" dirty="0"/>
              <a:t> автоматически превращается в комплексное число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 + 0i</a:t>
            </a:r>
            <a:r>
              <a:rPr lang="ru-RU" dirty="0"/>
              <a:t>.</a:t>
            </a:r>
          </a:p>
          <a:p>
            <a:r>
              <a:rPr lang="ru-RU" dirty="0"/>
              <a:t>То же самое происходит в строке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= 3.2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Также показаны разные способы создания объектов: с параметрами, без параметров и через список инициализации.</a:t>
            </a:r>
          </a:p>
          <a:p>
            <a:r>
              <a:rPr lang="ru-RU" dirty="0"/>
              <a:t>Этот пример демонстрирует удобство неявных преобразований, но важно помнить, что они могут быть </a:t>
            </a:r>
            <a:r>
              <a:rPr lang="ru-RU" b="1" dirty="0"/>
              <a:t>неочевидными</a:t>
            </a:r>
            <a:r>
              <a:rPr lang="ru-RU" dirty="0"/>
              <a:t>, поэтому использовать их нужно аккуратно.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99619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показана проблема </a:t>
            </a:r>
            <a:r>
              <a:rPr lang="ru-RU" b="1" dirty="0"/>
              <a:t>неявных преобразований через конструктор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У класса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TV</a:t>
            </a:r>
            <a:r>
              <a:rPr lang="ru-RU" dirty="0"/>
              <a:t> есть конструктор, принимающий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Поскольку он не помечен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explicit</a:t>
            </a:r>
            <a:r>
              <a:rPr lang="ru-RU" dirty="0"/>
              <a:t>, компилятор может использовать его для </a:t>
            </a:r>
            <a:r>
              <a:rPr lang="ru-RU" b="1" dirty="0"/>
              <a:t>неявных преобразований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результате возникают странные ситуации: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TV tv1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PrintInfo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  <a:endParaRPr lang="ru-RU" dirty="0"/>
          </a:p>
          <a:p>
            <a:r>
              <a:rPr lang="ru-RU" dirty="0"/>
              <a:t>В обоих случаях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 автоматически превращается в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TV</a:t>
            </a:r>
            <a:r>
              <a:rPr lang="ru-RU" dirty="0"/>
              <a:t>.</a:t>
            </a:r>
          </a:p>
          <a:p>
            <a:r>
              <a:rPr lang="ru-RU" dirty="0"/>
              <a:t>Это выглядит неожиданно и может приводить к ошибкам.</a:t>
            </a:r>
          </a:p>
          <a:p>
            <a:r>
              <a:rPr lang="ru-RU" dirty="0"/>
              <a:t>Поэтому такие конструкторы обычно помечают ключевым словом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explicit</a:t>
            </a:r>
            <a:r>
              <a:rPr lang="ru-RU" dirty="0"/>
              <a:t>, чтобы запретить неявные преобразования.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09345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та же ситуация, но конструктор объявлен с ключевым словом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компилятор </a:t>
            </a:r>
            <a:r>
              <a:rPr lang="ru-RU" b="1" dirty="0"/>
              <a:t>запрещает неявные преобразования</a:t>
            </a:r>
            <a:r>
              <a:rPr lang="ru-RU" dirty="0"/>
              <a:t>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ru-RU" dirty="0"/>
              <a:t>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TV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Поэтому строки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TV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PrintInfo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приводят к </a:t>
            </a:r>
            <a:r>
              <a:rPr lang="ru-RU" b="1" dirty="0"/>
              <a:t>ошибке компиляции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Создать объект теперь можно только явно, например: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TV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explicit</a:t>
            </a:r>
            <a:r>
              <a:rPr lang="ru-RU" dirty="0"/>
              <a:t> делает код </a:t>
            </a:r>
            <a:r>
              <a:rPr lang="ru-RU" b="1" dirty="0"/>
              <a:t>более безопасным и понятным</a:t>
            </a:r>
            <a:r>
              <a:rPr lang="ru-RU" dirty="0"/>
              <a:t>, предотвращая неожиданные преобразования типов.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07561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важно запомнить простое практическое правило.</a:t>
            </a:r>
          </a:p>
          <a:p>
            <a:r>
              <a:rPr lang="ru-RU" dirty="0"/>
              <a:t>Если у конструктора </a:t>
            </a:r>
            <a:r>
              <a:rPr lang="ru-RU" b="1" dirty="0"/>
              <a:t>один параметр</a:t>
            </a:r>
            <a:r>
              <a:rPr lang="ru-RU" dirty="0"/>
              <a:t>, его почти всегда стоит объявлять как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explicit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Это защищает от неожиданных неявных преобразований.</a:t>
            </a:r>
          </a:p>
          <a:p>
            <a:r>
              <a:rPr lang="ru-RU" dirty="0"/>
              <a:t>Исключение — случаи, когда такие преобразования действительно задуманы и полезны.</a:t>
            </a:r>
          </a:p>
          <a:p>
            <a:endParaRPr lang="ru-RU" dirty="0"/>
          </a:p>
          <a:p>
            <a:r>
              <a:rPr lang="ru-RU" dirty="0"/>
              <a:t>Если у конструктора </a:t>
            </a:r>
            <a:r>
              <a:rPr lang="ru-RU" b="1" dirty="0"/>
              <a:t>несколько параметров</a:t>
            </a:r>
            <a:r>
              <a:rPr lang="ru-RU" dirty="0"/>
              <a:t>, 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explicit</a:t>
            </a:r>
            <a:r>
              <a:rPr lang="ru-RU" dirty="0"/>
              <a:t> обычно не нужен, потому что такие конструкторы и так не участвуют в неявных преобразованиях.</a:t>
            </a:r>
          </a:p>
          <a:p>
            <a:endParaRPr lang="ru-RU" dirty="0"/>
          </a:p>
          <a:p>
            <a:r>
              <a:rPr lang="ru-RU" dirty="0"/>
              <a:t>Общее правило: лучше делать преобразования </a:t>
            </a:r>
            <a:r>
              <a:rPr lang="ru-RU" b="1" dirty="0"/>
              <a:t>явными</a:t>
            </a:r>
            <a:r>
              <a:rPr lang="ru-RU" dirty="0"/>
              <a:t>, чтобы код был более понятным и предсказуемым.</a:t>
            </a:r>
          </a:p>
          <a:p>
            <a:endParaRPr lang="ru-RU" dirty="0"/>
          </a:p>
          <a:p>
            <a:r>
              <a:rPr lang="ru-RU" dirty="0"/>
              <a:t>И это не просто рекомендация — это отражено в </a:t>
            </a:r>
            <a:r>
              <a:rPr lang="ru-RU" b="1" dirty="0"/>
              <a:t>C++ Core </a:t>
            </a:r>
            <a:r>
              <a:rPr lang="ru-RU" b="1" dirty="0" err="1"/>
              <a:t>Guidelines</a:t>
            </a:r>
            <a:r>
              <a:rPr lang="ru-RU" dirty="0"/>
              <a:t>, правило C.46.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4935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 время работы объект может использовать различные ресурсы — например, память, файлы или сетевые соединения.</a:t>
            </a:r>
          </a:p>
          <a:p>
            <a:endParaRPr lang="ru-RU" dirty="0"/>
          </a:p>
          <a:p>
            <a:r>
              <a:rPr lang="ru-RU" dirty="0"/>
              <a:t>Важно, чтобы при уничтожении объекта эти ресурсы </a:t>
            </a:r>
            <a:r>
              <a:rPr lang="ru-RU" b="1" dirty="0"/>
              <a:t>были корректно освобождены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C++ для этого используется специальный метод — </a:t>
            </a:r>
            <a:r>
              <a:rPr lang="ru-RU" b="1" dirty="0"/>
              <a:t>деструктор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Он вызывается автоматически, когда объект уничтожается, и отвечает за </a:t>
            </a:r>
            <a:r>
              <a:rPr lang="ru-RU" b="1" dirty="0"/>
              <a:t>очистку и освобождение ресурсов</a:t>
            </a:r>
            <a:r>
              <a:rPr lang="ru-RU" dirty="0"/>
              <a:t>, которыми владеет объект.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45270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Деструктор — это специальный метод, имя которого совпадает с именем класса, но перед ним ставится символ </a:t>
            </a:r>
            <a:r>
              <a:rPr lang="ru-RU" b="1" dirty="0"/>
              <a:t>тильда</a:t>
            </a:r>
            <a:r>
              <a:rPr lang="ru-RU" dirty="0"/>
              <a:t>.</a:t>
            </a:r>
          </a:p>
          <a:p>
            <a:r>
              <a:rPr lang="ru-RU" dirty="0"/>
              <a:t>У деструктора нет параметров и он ничего не возвращает. В классе может быть только </a:t>
            </a:r>
            <a:r>
              <a:rPr lang="ru-RU" b="1" dirty="0"/>
              <a:t>один деструктор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Вызывается он автоматически, когда объект уничтожается.</a:t>
            </a:r>
          </a:p>
          <a:p>
            <a:endParaRPr lang="ru-RU" dirty="0"/>
          </a:p>
          <a:p>
            <a:r>
              <a:rPr lang="ru-RU" dirty="0"/>
              <a:t>Это происходит либо при выходе объекта </a:t>
            </a:r>
            <a:r>
              <a:rPr lang="ru-RU" b="1" dirty="0"/>
              <a:t>из области видимости</a:t>
            </a:r>
            <a:r>
              <a:rPr lang="ru-RU" dirty="0"/>
              <a:t>, либо при явном удалении через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Важно: </a:t>
            </a:r>
            <a:r>
              <a:rPr lang="ru-RU" b="1" dirty="0"/>
              <a:t>вы не должны вызывать деструктор явно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Есть несколько редких случаев, когда это допускается, но их мы рассмотрим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84732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показывает </a:t>
            </a:r>
            <a:r>
              <a:rPr lang="ru-RU" b="1" dirty="0"/>
              <a:t>жизненный цикл объекта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При создании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</a:t>
            </a:r>
            <a:r>
              <a:rPr lang="ru-RU" dirty="0"/>
              <a:t> вызывается конструктор, и мы видим сообщение </a:t>
            </a:r>
            <a:r>
              <a:rPr lang="ru-RU" i="1" dirty="0"/>
              <a:t>"</a:t>
            </a:r>
            <a:r>
              <a:rPr lang="ru-RU" i="1" dirty="0" err="1"/>
              <a:t>object</a:t>
            </a:r>
            <a:r>
              <a:rPr lang="ru-RU" i="1" dirty="0"/>
              <a:t> </a:t>
            </a:r>
            <a:r>
              <a:rPr lang="ru-RU" i="1" dirty="0" err="1"/>
              <a:t>is</a:t>
            </a:r>
            <a:r>
              <a:rPr lang="ru-RU" i="1" dirty="0"/>
              <a:t> </a:t>
            </a:r>
            <a:r>
              <a:rPr lang="ru-RU" i="1" dirty="0" err="1"/>
              <a:t>created</a:t>
            </a:r>
            <a:r>
              <a:rPr lang="ru-RU" i="1" dirty="0"/>
              <a:t>"</a:t>
            </a:r>
            <a:r>
              <a:rPr lang="ru-RU" dirty="0"/>
              <a:t>.</a:t>
            </a:r>
          </a:p>
          <a:p>
            <a:r>
              <a:rPr lang="ru-RU" dirty="0"/>
              <a:t>Затем выполняется остальной код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r>
              <a:rPr lang="ru-RU" dirty="0"/>
              <a:t>Когда выполнение выходит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, объект выходит из области видимости, и автоматически вызывается </a:t>
            </a:r>
            <a:r>
              <a:rPr lang="ru-RU" b="1" dirty="0"/>
              <a:t>деструктор</a:t>
            </a:r>
            <a:r>
              <a:rPr lang="ru-RU" dirty="0"/>
              <a:t> — мы видим сообщение </a:t>
            </a:r>
            <a:r>
              <a:rPr lang="ru-RU" i="1" dirty="0"/>
              <a:t>"</a:t>
            </a:r>
            <a:r>
              <a:rPr lang="ru-RU" i="1" dirty="0" err="1"/>
              <a:t>object</a:t>
            </a:r>
            <a:r>
              <a:rPr lang="ru-RU" i="1" dirty="0"/>
              <a:t> </a:t>
            </a:r>
            <a:r>
              <a:rPr lang="ru-RU" i="1" dirty="0" err="1"/>
              <a:t>is</a:t>
            </a:r>
            <a:r>
              <a:rPr lang="ru-RU" i="1" dirty="0"/>
              <a:t> </a:t>
            </a:r>
            <a:r>
              <a:rPr lang="ru-RU" i="1" dirty="0" err="1"/>
              <a:t>destroyed</a:t>
            </a:r>
            <a:r>
              <a:rPr lang="ru-RU" i="1" dirty="0"/>
              <a:t>"</a:t>
            </a:r>
            <a:r>
              <a:rPr lang="ru-RU" dirty="0"/>
              <a:t>.</a:t>
            </a:r>
          </a:p>
          <a:p>
            <a:r>
              <a:rPr lang="ru-RU" dirty="0"/>
              <a:t>Важно, что деструктор вызывается </a:t>
            </a:r>
            <a:r>
              <a:rPr lang="ru-RU" b="1" dirty="0"/>
              <a:t>автоматически</a:t>
            </a:r>
            <a:r>
              <a:rPr lang="ru-RU" dirty="0"/>
              <a:t>, когда объект перестаёт существовать.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205679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деструкторе размещается код, который выполняется при </a:t>
            </a:r>
            <a:r>
              <a:rPr lang="ru-RU" b="1" dirty="0"/>
              <a:t>уничтожении объекта</a:t>
            </a:r>
            <a:r>
              <a:rPr lang="ru-RU" dirty="0"/>
              <a:t>.</a:t>
            </a:r>
          </a:p>
          <a:p>
            <a:r>
              <a:rPr lang="ru-RU" dirty="0"/>
              <a:t>Его основная задача — </a:t>
            </a:r>
            <a:r>
              <a:rPr lang="ru-RU" b="1" dirty="0"/>
              <a:t>освободить ресурсы</a:t>
            </a:r>
            <a:r>
              <a:rPr lang="ru-RU" dirty="0"/>
              <a:t>, которыми объект владел в течение своей жизни.</a:t>
            </a:r>
          </a:p>
          <a:p>
            <a:endParaRPr lang="ru-RU" dirty="0"/>
          </a:p>
          <a:p>
            <a:r>
              <a:rPr lang="ru-RU" dirty="0"/>
              <a:t>Это может быть память, файлы, сетевые соединения и другие системные ресурсы.</a:t>
            </a:r>
          </a:p>
          <a:p>
            <a:endParaRPr lang="ru-RU" dirty="0"/>
          </a:p>
          <a:p>
            <a:r>
              <a:rPr lang="ru-RU" dirty="0"/>
              <a:t>По сути, деструктор завершает жизненный цикл объекта и приводит систему в корректное состояние.</a:t>
            </a:r>
          </a:p>
          <a:p>
            <a:endParaRPr lang="ru-RU" dirty="0"/>
          </a:p>
          <a:p>
            <a:r>
              <a:rPr lang="ru-RU" dirty="0"/>
              <a:t>Важно, чтобы деструктор работал </a:t>
            </a:r>
            <a:r>
              <a:rPr lang="ru-RU" b="1" dirty="0"/>
              <a:t>надёжно и безопасно</a:t>
            </a:r>
            <a:r>
              <a:rPr lang="ru-RU" dirty="0"/>
              <a:t>, поскольку он вызывается автоматически.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201850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, который </a:t>
            </a:r>
            <a:r>
              <a:rPr lang="ru-RU" b="1" dirty="0"/>
              <a:t>сам управляет динамической памятью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конструкторе выделяется память и копируются символы строки.</a:t>
            </a:r>
          </a:p>
          <a:p>
            <a:endParaRPr lang="ru-RU" dirty="0"/>
          </a:p>
          <a:p>
            <a:r>
              <a:rPr lang="ru-RU" dirty="0"/>
              <a:t>В деструкторе происходит </a:t>
            </a:r>
            <a:r>
              <a:rPr lang="ru-RU" b="1" dirty="0"/>
              <a:t>освобождение ресурсов</a:t>
            </a:r>
            <a:r>
              <a:rPr lang="ru-RU" dirty="0"/>
              <a:t>: сначала уничтожаются символы, затем освобождается выделенная память.</a:t>
            </a:r>
          </a:p>
          <a:p>
            <a:endParaRPr lang="ru-RU" dirty="0"/>
          </a:p>
          <a:p>
            <a:r>
              <a:rPr lang="ru-RU" dirty="0"/>
              <a:t>Обратите внимание на проверку: если используется специальная пустая строка, память освобождать не нужно.</a:t>
            </a:r>
          </a:p>
          <a:p>
            <a:endParaRPr lang="ru-RU" dirty="0"/>
          </a:p>
          <a:p>
            <a:r>
              <a:rPr lang="ru-RU" dirty="0"/>
              <a:t>Этот пример иллюстрирует основную роль деструктора — </a:t>
            </a:r>
            <a:r>
              <a:rPr lang="ru-RU" b="1" dirty="0"/>
              <a:t>очистка ресурсов, которыми владеет объект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35137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выполнения тела деструктора работа ещё не заканчивается.</a:t>
            </a:r>
          </a:p>
          <a:p>
            <a:endParaRPr lang="ru-RU" dirty="0"/>
          </a:p>
          <a:p>
            <a:r>
              <a:rPr lang="ru-RU" dirty="0"/>
              <a:t>Сначала вызываются деструкторы всех </a:t>
            </a:r>
            <a:r>
              <a:rPr lang="ru-RU" b="1" dirty="0"/>
              <a:t>полей класса</a:t>
            </a:r>
            <a:r>
              <a:rPr lang="ru-RU" dirty="0"/>
              <a:t>, причём в порядке, обратном их объявлению.</a:t>
            </a:r>
          </a:p>
          <a:p>
            <a:r>
              <a:rPr lang="ru-RU" dirty="0"/>
              <a:t>Затем, если есть наследование, вызывается деструктор </a:t>
            </a:r>
            <a:r>
              <a:rPr lang="ru-RU" b="1" dirty="0"/>
              <a:t>базового класса</a:t>
            </a:r>
            <a:r>
              <a:rPr lang="ru-RU" dirty="0"/>
              <a:t>.</a:t>
            </a:r>
          </a:p>
          <a:p>
            <a:r>
              <a:rPr lang="ru-RU" dirty="0"/>
              <a:t>И только после этого освобождается память, которую занимал объект.</a:t>
            </a:r>
          </a:p>
          <a:p>
            <a:r>
              <a:rPr lang="ru-RU" dirty="0"/>
              <a:t>Таким образом разрушение объекта происходит </a:t>
            </a:r>
            <a:r>
              <a:rPr lang="ru-RU" b="1" dirty="0"/>
              <a:t>поэтапно и в строго определённом порядке</a:t>
            </a:r>
            <a:r>
              <a:rPr lang="ru-RU" dirty="0"/>
              <a:t>, что гарантирует корректное освобождение всех ресурсов.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44025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простой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Wheel</a:t>
            </a:r>
            <a:r>
              <a:rPr lang="ru-RU" dirty="0"/>
              <a:t>, который выводит сообщения при создании и уничтожении.</a:t>
            </a:r>
          </a:p>
          <a:p>
            <a:endParaRPr lang="ru-RU" dirty="0"/>
          </a:p>
          <a:p>
            <a:r>
              <a:rPr lang="ru-RU" dirty="0"/>
              <a:t>Он нужен нам как наглядный элемент, чтобы </a:t>
            </a:r>
            <a:r>
              <a:rPr lang="ru-RU" b="1" dirty="0"/>
              <a:t>отследить порядок вызова конструкторов и деструкторов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371832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</a:t>
            </a:r>
            <a:r>
              <a:rPr lang="ru-RU" dirty="0"/>
              <a:t> содержит четыре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Wheel</a:t>
            </a:r>
            <a:r>
              <a:rPr lang="ru-RU" dirty="0"/>
              <a:t> как поля.</a:t>
            </a:r>
          </a:p>
          <a:p>
            <a:r>
              <a:rPr lang="ru-RU" dirty="0"/>
              <a:t>Обратите внимание: колёса инициализируются в </a:t>
            </a:r>
            <a:r>
              <a:rPr lang="ru-RU" b="1" dirty="0"/>
              <a:t>списке инициализации</a:t>
            </a:r>
            <a:r>
              <a:rPr lang="ru-RU" dirty="0"/>
              <a:t>, но фактически они будут создаваться в порядке </a:t>
            </a:r>
            <a:r>
              <a:rPr lang="ru-RU" b="1" dirty="0"/>
              <a:t>объявления в классе</a:t>
            </a:r>
            <a:r>
              <a:rPr lang="ru-RU" dirty="0"/>
              <a:t>, а не в порядке записи в списке.</a:t>
            </a:r>
          </a:p>
          <a:p>
            <a:r>
              <a:rPr lang="ru-RU" dirty="0"/>
              <a:t>Также у класса есть деструктор, который выводит сообщение при уничтожении объекта.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38597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SuperCar</a:t>
            </a:r>
            <a:r>
              <a:rPr lang="ru-RU" dirty="0"/>
              <a:t> наследуется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</a:t>
            </a:r>
            <a:r>
              <a:rPr lang="ru-RU" dirty="0"/>
              <a:t> и добавляет ещё одно колесо.</a:t>
            </a:r>
          </a:p>
          <a:p>
            <a:r>
              <a:rPr lang="ru-RU" dirty="0"/>
              <a:t>При создании сначала вызывается конструктор базового класса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</a:t>
            </a:r>
            <a:r>
              <a:rPr lang="ru-RU" dirty="0"/>
              <a:t>, а затем — конструкция полей и тело конструктора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SuperCar</a:t>
            </a:r>
            <a:r>
              <a:rPr lang="ru-RU" dirty="0"/>
              <a:t>.</a:t>
            </a:r>
          </a:p>
          <a:p>
            <a:r>
              <a:rPr lang="ru-RU" dirty="0"/>
              <a:t>Аналогично при уничтожении — сначала выполняется деструктор производного класса, затем базового.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94550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показывает полный порядок создания и разрушения объекта.</a:t>
            </a:r>
          </a:p>
          <a:p>
            <a:r>
              <a:rPr lang="ru-RU" dirty="0"/>
              <a:t>При создании: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сначала создаются поля базового класса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затем выполняется конструктор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затем создаются поля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SuperCar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только потом выполняется его конструктор</a:t>
            </a:r>
          </a:p>
          <a:p>
            <a:r>
              <a:rPr lang="ru-RU" dirty="0"/>
              <a:t>При уничтожении всё происходит в обратном порядке: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сначала деструктор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SuperCar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затем его поля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затем деструктор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затем его поля</a:t>
            </a:r>
          </a:p>
          <a:p>
            <a:r>
              <a:rPr lang="ru-RU" dirty="0"/>
              <a:t>Это демонстрирует общее правило:</a:t>
            </a:r>
            <a:r>
              <a:rPr lang="en-US" dirty="0"/>
              <a:t> </a:t>
            </a:r>
            <a:r>
              <a:rPr lang="ru-RU" b="1" dirty="0"/>
              <a:t>конструирование — сверху вниз, разрушение — в обратном порядке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25236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вы не объявили деструктор, компилятор создаёт его автоматически.</a:t>
            </a:r>
          </a:p>
          <a:p>
            <a:endParaRPr lang="ru-RU" dirty="0"/>
          </a:p>
          <a:p>
            <a:r>
              <a:rPr lang="ru-RU" dirty="0"/>
              <a:t>Такой деструктор ничего не делает сам по себе, но при этом </a:t>
            </a:r>
            <a:r>
              <a:rPr lang="ru-RU" b="1" dirty="0"/>
              <a:t>все стандартные механизмы разрушения работают</a:t>
            </a:r>
            <a:r>
              <a:rPr lang="ru-RU" dirty="0"/>
              <a:t> — вызываются деструкторы полей и базовых классов.</a:t>
            </a:r>
          </a:p>
          <a:p>
            <a:endParaRPr lang="ru-RU" dirty="0"/>
          </a:p>
          <a:p>
            <a:r>
              <a:rPr lang="ru-RU" dirty="0"/>
              <a:t>Для простых типов этого обычно достаточно.</a:t>
            </a:r>
          </a:p>
          <a:p>
            <a:endParaRPr lang="ru-RU" dirty="0"/>
          </a:p>
          <a:p>
            <a:r>
              <a:rPr lang="ru-RU" dirty="0"/>
              <a:t>Но важно помнить: </a:t>
            </a:r>
            <a:r>
              <a:rPr lang="ru-RU" b="1" dirty="0"/>
              <a:t>обычные указатели не управляют памятью</a:t>
            </a:r>
            <a:r>
              <a:rPr lang="ru-RU" dirty="0"/>
              <a:t> — при уничтожении объекта память не освобождается.</a:t>
            </a:r>
          </a:p>
          <a:p>
            <a:endParaRPr lang="ru-RU" dirty="0"/>
          </a:p>
          <a:p>
            <a:r>
              <a:rPr lang="ru-RU" dirty="0"/>
              <a:t>А вот </a:t>
            </a:r>
            <a:r>
              <a:rPr lang="ru-RU" b="1" dirty="0"/>
              <a:t>умные указатели</a:t>
            </a:r>
            <a:r>
              <a:rPr lang="ru-RU" dirty="0"/>
              <a:t> делают это автоматически, потому что в их деструкторах уже реализована нужная логика.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495807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классе </a:t>
            </a:r>
            <a:r>
              <a:rPr lang="ru-RU" b="1" dirty="0"/>
              <a:t>не нужно писать деструктор</a:t>
            </a:r>
            <a:r>
              <a:rPr lang="ru-RU" dirty="0"/>
              <a:t>, потому что:</a:t>
            </a:r>
          </a:p>
          <a:p>
            <a:r>
              <a:rPr lang="ru-RU" dirty="0"/>
              <a:t>поля имеют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сам управляет своей памятью</a:t>
            </a:r>
          </a:p>
          <a:p>
            <a:r>
              <a:rPr lang="ru-RU" dirty="0"/>
              <a:t>при уничтожении объекта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ru-RU" dirty="0"/>
              <a:t> автоматически вызываются деструкторы его полей</a:t>
            </a:r>
          </a:p>
          <a:p>
            <a:r>
              <a:rPr lang="ru-RU" dirty="0"/>
              <a:t>деструктор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освобождает выделенную память</a:t>
            </a:r>
          </a:p>
          <a:p>
            <a:r>
              <a:rPr lang="ru-RU" dirty="0"/>
              <a:t>Это пример принципа </a:t>
            </a:r>
            <a:r>
              <a:rPr lang="ru-RU" b="1" dirty="0"/>
              <a:t>RAII</a:t>
            </a:r>
            <a:r>
              <a:rPr lang="ru-RU" dirty="0"/>
              <a:t>: объект владеет ресурсами, а их освобождение происходит автоматически.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41857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 класс, который </a:t>
            </a:r>
            <a:r>
              <a:rPr lang="ru-RU" b="1" dirty="0"/>
              <a:t>сам управляет динамической памятью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конструкторе выделяется память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dirty="0"/>
              <a:t>, поэтому объект становится владельцем ресурса.</a:t>
            </a:r>
          </a:p>
          <a:p>
            <a:endParaRPr lang="ru-RU" dirty="0"/>
          </a:p>
          <a:p>
            <a:r>
              <a:rPr lang="ru-RU" dirty="0"/>
              <a:t>Если не реализовать деструктор, эта память </a:t>
            </a:r>
            <a:r>
              <a:rPr lang="ru-RU" b="1" dirty="0"/>
              <a:t>никогда не будет освобождена</a:t>
            </a:r>
            <a:r>
              <a:rPr lang="ru-RU" dirty="0"/>
              <a:t>, что приведёт к утечке.</a:t>
            </a:r>
          </a:p>
          <a:p>
            <a:endParaRPr lang="ru-RU" dirty="0"/>
          </a:p>
          <a:p>
            <a:r>
              <a:rPr lang="ru-RU" dirty="0"/>
              <a:t>Поэтому в деструкторе обязательно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, чтобы корректно освободить выделенный массив.</a:t>
            </a:r>
          </a:p>
          <a:p>
            <a:endParaRPr lang="ru-RU" dirty="0"/>
          </a:p>
          <a:p>
            <a:r>
              <a:rPr lang="ru-RU" dirty="0"/>
              <a:t>Это классический случай: если класс </a:t>
            </a:r>
            <a:r>
              <a:rPr lang="ru-RU" b="1" dirty="0"/>
              <a:t>вручную управляет ресурсами</a:t>
            </a:r>
            <a:r>
              <a:rPr lang="ru-RU" dirty="0"/>
              <a:t>, он обязан </a:t>
            </a:r>
            <a:r>
              <a:rPr lang="ru-RU" b="1" dirty="0"/>
              <a:t>освобождать их в деструкторе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49664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существует специальный конструктор — </a:t>
            </a:r>
            <a:r>
              <a:rPr lang="ru-RU" b="1" dirty="0"/>
              <a:t>копирующий конструктор</a:t>
            </a:r>
            <a:r>
              <a:rPr lang="ru-RU" dirty="0"/>
              <a:t>, который создаёт новый объект как копию существующего.</a:t>
            </a:r>
          </a:p>
          <a:p>
            <a:endParaRPr lang="ru-RU" dirty="0"/>
          </a:p>
          <a:p>
            <a:r>
              <a:rPr lang="ru-RU" dirty="0"/>
              <a:t>Он может вызываться как явно, так и неявно.</a:t>
            </a:r>
          </a:p>
          <a:p>
            <a:r>
              <a:rPr lang="ru-RU" dirty="0"/>
              <a:t>Например, при инициализации одного объекта на основе другого, при передаче параметров в функцию по значению или при возврате объекта из функции.</a:t>
            </a:r>
          </a:p>
          <a:p>
            <a:endParaRPr lang="ru-RU" dirty="0"/>
          </a:p>
          <a:p>
            <a:r>
              <a:rPr lang="ru-RU" dirty="0"/>
              <a:t>Также копирование может происходить внутри механизма обработки исключений.</a:t>
            </a:r>
          </a:p>
          <a:p>
            <a:endParaRPr lang="ru-RU" dirty="0"/>
          </a:p>
          <a:p>
            <a:r>
              <a:rPr lang="ru-RU" dirty="0"/>
              <a:t>Синтаксически такой конструктор принимает константную </a:t>
            </a:r>
            <a:r>
              <a:rPr lang="ru-RU" b="1" dirty="0"/>
              <a:t>ссылку на объект того же типа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54948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 </a:t>
            </a:r>
            <a:r>
              <a:rPr lang="ru-RU" b="1" dirty="0"/>
              <a:t>копирующий конструктор в действии</a:t>
            </a:r>
            <a:r>
              <a:rPr lang="ru-RU" dirty="0"/>
              <a:t>.</a:t>
            </a:r>
          </a:p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PostCard</a:t>
            </a:r>
            <a:r>
              <a:rPr lang="ru-RU" dirty="0"/>
              <a:t> хранит текст открытки и выводит сообщения при создании, копировании и уничтожении объекта.</a:t>
            </a:r>
          </a:p>
          <a:p>
            <a:endParaRPr lang="ru-RU" dirty="0"/>
          </a:p>
          <a:p>
            <a:r>
              <a:rPr lang="ru-RU" dirty="0"/>
              <a:t>Копирующий конструктор принимает ссылку на другой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PostCard</a:t>
            </a:r>
            <a:r>
              <a:rPr lang="ru-RU" dirty="0"/>
              <a:t> и </a:t>
            </a:r>
            <a:r>
              <a:rPr lang="ru-RU" b="1" dirty="0"/>
              <a:t>копирует его данные</a:t>
            </a:r>
            <a:r>
              <a:rPr lang="ru-RU" dirty="0"/>
              <a:t> — в данном случае строку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m_text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При этом мы видим отдельное сообщение </a:t>
            </a:r>
            <a:r>
              <a:rPr lang="ru-RU" i="1" dirty="0"/>
              <a:t>"Post </a:t>
            </a:r>
            <a:r>
              <a:rPr lang="ru-RU" i="1" dirty="0" err="1"/>
              <a:t>card</a:t>
            </a:r>
            <a:r>
              <a:rPr lang="ru-RU" i="1" dirty="0"/>
              <a:t> </a:t>
            </a:r>
            <a:r>
              <a:rPr lang="ru-RU" i="1" dirty="0" err="1"/>
              <a:t>is</a:t>
            </a:r>
            <a:r>
              <a:rPr lang="ru-RU" i="1" dirty="0"/>
              <a:t> </a:t>
            </a:r>
            <a:r>
              <a:rPr lang="ru-RU" i="1" dirty="0" err="1"/>
              <a:t>copied</a:t>
            </a:r>
            <a:r>
              <a:rPr lang="ru-RU" i="1" dirty="0"/>
              <a:t>"</a:t>
            </a:r>
            <a:r>
              <a:rPr lang="ru-RU" dirty="0"/>
              <a:t>, что позволяет отследить момент копирования.</a:t>
            </a:r>
          </a:p>
          <a:p>
            <a:endParaRPr lang="ru-RU" dirty="0"/>
          </a:p>
          <a:p>
            <a:r>
              <a:rPr lang="ru-RU" dirty="0"/>
              <a:t>Этот пример наглядно показывает, что копирование — это </a:t>
            </a:r>
            <a:r>
              <a:rPr lang="ru-RU" b="1" dirty="0"/>
              <a:t>создание нового объекта на основе существующего</a:t>
            </a:r>
            <a:r>
              <a:rPr lang="ru-RU" dirty="0"/>
              <a:t>, а не просто присваивание.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74097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показывает, </a:t>
            </a:r>
            <a:r>
              <a:rPr lang="ru-RU" b="1" dirty="0"/>
              <a:t>когда вызывается копирующий конструктор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При вызове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MakeModifiedPostCard</a:t>
            </a:r>
            <a:r>
              <a:rPr lang="ru-RU" dirty="0"/>
              <a:t> параметр передаётся </a:t>
            </a:r>
            <a:r>
              <a:rPr lang="ru-RU" b="1" dirty="0"/>
              <a:t>по значению</a:t>
            </a:r>
            <a:r>
              <a:rPr lang="ru-RU" dirty="0"/>
              <a:t>, поэтому создаётся копия объекта — это первый вызов копирующего конструктора.</a:t>
            </a:r>
          </a:p>
          <a:p>
            <a:endParaRPr lang="ru-RU" dirty="0"/>
          </a:p>
          <a:p>
            <a:r>
              <a:rPr lang="ru-RU" dirty="0"/>
              <a:t>Далее внутри функции изменяется уже </a:t>
            </a:r>
            <a:r>
              <a:rPr lang="ru-RU" b="1" dirty="0"/>
              <a:t>копия</a:t>
            </a:r>
            <a:r>
              <a:rPr lang="ru-RU" dirty="0"/>
              <a:t>, а не исходный объект.</a:t>
            </a:r>
          </a:p>
          <a:p>
            <a:r>
              <a:rPr lang="ru-RU" dirty="0"/>
              <a:t>При возврате результата из функции происходит ещё одно копирование — создаётся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modifiedPostCard</a:t>
            </a:r>
            <a:r>
              <a:rPr lang="ru-RU" dirty="0"/>
              <a:t>.</a:t>
            </a:r>
          </a:p>
          <a:p>
            <a:r>
              <a:rPr lang="ru-RU" dirty="0"/>
              <a:t>Таким образом, мы видим, что копирующий конструктор вызывается: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 передаче аргумента по значению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 возврате объекта из функции</a:t>
            </a:r>
          </a:p>
          <a:p>
            <a:endParaRPr lang="ru-RU" dirty="0"/>
          </a:p>
          <a:p>
            <a:r>
              <a:rPr lang="ru-RU" dirty="0"/>
              <a:t>Это может приводить к лишним копиям, поэтому важно понимать, где именно они происходят.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230228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Copy</a:t>
            </a:r>
            <a:r>
              <a:rPr lang="ru-RU" dirty="0"/>
              <a:t> </a:t>
            </a:r>
            <a:r>
              <a:rPr lang="ru-RU" dirty="0" err="1"/>
              <a:t>elision</a:t>
            </a:r>
            <a:r>
              <a:rPr lang="ru-RU" dirty="0"/>
              <a:t> — это оптимизация компилятора, которая позволяет </a:t>
            </a:r>
            <a:r>
              <a:rPr lang="ru-RU" b="1" dirty="0"/>
              <a:t>избежать лишних копирований объектов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Вместо создания временного объекта и его копирования компилятор сразу создаёт объект </a:t>
            </a:r>
            <a:r>
              <a:rPr lang="ru-RU" b="1" dirty="0"/>
              <a:t>в нужном месте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результате копирующий конструктор может </a:t>
            </a:r>
            <a:r>
              <a:rPr lang="ru-RU" b="1" dirty="0"/>
              <a:t>вообще не вызываться</a:t>
            </a:r>
            <a:r>
              <a:rPr lang="ru-RU" dirty="0"/>
              <a:t>, даже если он есть.</a:t>
            </a:r>
          </a:p>
          <a:p>
            <a:endParaRPr lang="ru-RU" dirty="0"/>
          </a:p>
          <a:p>
            <a:r>
              <a:rPr lang="ru-RU" dirty="0"/>
              <a:t>Начиная с C++17, в некоторых ситуациях это поведение стало </a:t>
            </a:r>
            <a:r>
              <a:rPr lang="ru-RU" b="1" dirty="0"/>
              <a:t>обязательным</a:t>
            </a:r>
            <a:r>
              <a:rPr lang="ru-RU" dirty="0"/>
              <a:t>, например при возврате временного объекта из функции.</a:t>
            </a:r>
          </a:p>
          <a:p>
            <a:endParaRPr lang="ru-RU" dirty="0"/>
          </a:p>
          <a:p>
            <a:r>
              <a:rPr lang="ru-RU" dirty="0"/>
              <a:t>Это делает программы </a:t>
            </a:r>
            <a:r>
              <a:rPr lang="ru-RU" b="1" dirty="0"/>
              <a:t>быстрее и эффективнее</a:t>
            </a:r>
            <a:r>
              <a:rPr lang="ru-RU" dirty="0"/>
              <a:t>, уменьшая количество лишних операций.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618120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как работает </a:t>
            </a:r>
            <a:r>
              <a:rPr lang="ru-RU" b="1" dirty="0" err="1"/>
              <a:t>copy</a:t>
            </a:r>
            <a:r>
              <a:rPr lang="ru-RU" b="1" dirty="0"/>
              <a:t> </a:t>
            </a:r>
            <a:r>
              <a:rPr lang="ru-RU" b="1" dirty="0" err="1"/>
              <a:t>elision</a:t>
            </a:r>
            <a:r>
              <a:rPr lang="ru-RU" dirty="0"/>
              <a:t>.</a:t>
            </a:r>
          </a:p>
          <a:p>
            <a:r>
              <a:rPr lang="ru-RU" dirty="0"/>
              <a:t>Мы передаём в функцию строку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"Hello"</a:t>
            </a:r>
            <a:r>
              <a:rPr lang="ru-RU" dirty="0"/>
              <a:t>, из которой создаётся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PostCard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Обратите внимание, что при этом </a:t>
            </a:r>
            <a:r>
              <a:rPr lang="ru-RU" b="1" dirty="0"/>
              <a:t>лишнего копирования не происходит</a:t>
            </a:r>
            <a:r>
              <a:rPr lang="ru-RU" dirty="0"/>
              <a:t> — объект создаётся сразу там, где нужно.</a:t>
            </a:r>
          </a:p>
          <a:p>
            <a:r>
              <a:rPr lang="ru-RU" dirty="0"/>
              <a:t>Внутри функции объект изменяется, а затем возвращается.</a:t>
            </a:r>
          </a:p>
          <a:p>
            <a:r>
              <a:rPr lang="ru-RU" dirty="0"/>
              <a:t>Хотя логически здесь могло бы быть несколько копирований, компилятор их </a:t>
            </a:r>
            <a:r>
              <a:rPr lang="ru-RU" b="1" dirty="0"/>
              <a:t>частично устраняет</a:t>
            </a:r>
            <a:r>
              <a:rPr lang="ru-RU" dirty="0"/>
              <a:t>, создавая объекты сразу в нужных местах.</a:t>
            </a:r>
          </a:p>
          <a:p>
            <a:r>
              <a:rPr lang="ru-RU" dirty="0"/>
              <a:t>В результате мы видим меньше вызовов копирующего конструктора, чем могли бы ожидать.</a:t>
            </a:r>
          </a:p>
          <a:p>
            <a:r>
              <a:rPr lang="ru-RU" dirty="0"/>
              <a:t>Это и есть эффект </a:t>
            </a:r>
            <a:r>
              <a:rPr lang="ru-RU" b="1" dirty="0" err="1"/>
              <a:t>copy</a:t>
            </a:r>
            <a:r>
              <a:rPr lang="ru-RU" b="1" dirty="0"/>
              <a:t> </a:t>
            </a:r>
            <a:r>
              <a:rPr lang="ru-RU" b="1" dirty="0" err="1"/>
              <a:t>elision</a:t>
            </a:r>
            <a:r>
              <a:rPr lang="ru-RU" dirty="0"/>
              <a:t> — уменьшение числа лишних копий.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847430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вы не определили копирующий конструктор, компилятор создаст его автоматически.</a:t>
            </a:r>
          </a:p>
          <a:p>
            <a:endParaRPr lang="ru-RU" dirty="0"/>
          </a:p>
          <a:p>
            <a:r>
              <a:rPr lang="ru-RU" dirty="0"/>
              <a:t>Такой конструктор просто копирует все поля объекта — для каждого поля вызывается его собственный копирующий конструктор.</a:t>
            </a:r>
          </a:p>
          <a:p>
            <a:endParaRPr lang="ru-RU" dirty="0"/>
          </a:p>
          <a:p>
            <a:r>
              <a:rPr lang="ru-RU" dirty="0"/>
              <a:t>Это называется покомпонентным копированием.</a:t>
            </a:r>
          </a:p>
          <a:p>
            <a:r>
              <a:rPr lang="ru-RU" dirty="0"/>
              <a:t>Во многих случаях этого достаточно, например когда используются стандартные типы вроде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если класс сам управляет ресурсами, такой конструктор может быть недостаточным, и тогда его нужно реализовать вручную.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574768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показано, как работает </a:t>
            </a:r>
            <a:r>
              <a:rPr lang="ru-RU" b="1" dirty="0"/>
              <a:t>автоматически сгенерированный копирующий конструктор</a:t>
            </a:r>
            <a:r>
              <a:rPr lang="ru-RU" dirty="0"/>
              <a:t> для составных объектов.</a:t>
            </a:r>
          </a:p>
          <a:p>
            <a:endParaRPr lang="ru-RU" dirty="0"/>
          </a:p>
          <a:p>
            <a:r>
              <a:rPr lang="ru-RU" dirty="0"/>
              <a:t>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Envelope</a:t>
            </a:r>
            <a:r>
              <a:rPr lang="ru-RU" dirty="0"/>
              <a:t> содержит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PostCard</a:t>
            </a:r>
            <a:r>
              <a:rPr lang="ru-RU" dirty="0"/>
              <a:t>, и при копировании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Envelope</a:t>
            </a:r>
            <a:r>
              <a:rPr lang="ru-RU" dirty="0"/>
              <a:t> автоматически копируется и его поле.</a:t>
            </a:r>
          </a:p>
          <a:p>
            <a:r>
              <a:rPr lang="ru-RU" dirty="0"/>
              <a:t>Когда мы передаём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Envelope</a:t>
            </a:r>
            <a:r>
              <a:rPr lang="ru-RU" dirty="0"/>
              <a:t> в функцию по значению, создаётся копия, а значит вызывается копирующий конструктор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PostCard</a:t>
            </a:r>
            <a:r>
              <a:rPr lang="ru-RU" dirty="0"/>
              <a:t>.</a:t>
            </a:r>
          </a:p>
          <a:p>
            <a:r>
              <a:rPr lang="ru-RU" dirty="0"/>
              <a:t>То есть копирование происходит </a:t>
            </a:r>
            <a:r>
              <a:rPr lang="ru-RU" b="1" dirty="0"/>
              <a:t>по цепочке</a:t>
            </a:r>
            <a:r>
              <a:rPr lang="ru-RU" dirty="0"/>
              <a:t>: копируется объект → копируются его поля.</a:t>
            </a:r>
          </a:p>
          <a:p>
            <a:r>
              <a:rPr lang="ru-RU" dirty="0"/>
              <a:t>Это и есть покомпонентное копирование, которое компилятор генерирует автоматически.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71519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Автоматически сгенерированный копирующий конструктор подходит не всегда.</a:t>
            </a:r>
          </a:p>
          <a:p>
            <a:endParaRPr lang="ru-RU" dirty="0"/>
          </a:p>
          <a:p>
            <a:r>
              <a:rPr lang="ru-RU" dirty="0"/>
              <a:t>Он просто копирует поля, но если класс владеет ресурсами, например динамической памятью, этого недостаточно.</a:t>
            </a:r>
          </a:p>
          <a:p>
            <a:endParaRPr lang="ru-RU" dirty="0"/>
          </a:p>
          <a:p>
            <a:r>
              <a:rPr lang="ru-RU" dirty="0"/>
              <a:t>В таком случае копируется только указатель, а не сами данные, что может привести к ошибкам.</a:t>
            </a:r>
          </a:p>
          <a:p>
            <a:endParaRPr lang="ru-RU" dirty="0"/>
          </a:p>
          <a:p>
            <a:r>
              <a:rPr lang="ru-RU" dirty="0"/>
              <a:t>Поэтому для таких классов нужно реализовать свой копирующий конструктор, который выполняет </a:t>
            </a:r>
            <a:r>
              <a:rPr lang="ru-RU" b="1" dirty="0"/>
              <a:t>глубокое копирование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68876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</a:t>
            </a:r>
            <a:r>
              <a:rPr lang="ru-RU" b="1" dirty="0"/>
              <a:t>пользовательского копирующего конструктора</a:t>
            </a:r>
            <a:r>
              <a:rPr lang="ru-RU" dirty="0"/>
              <a:t> для класса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отличие от автоматически сгенерированного, он выполняет </a:t>
            </a:r>
            <a:r>
              <a:rPr lang="ru-RU" b="1" dirty="0"/>
              <a:t>глубокое копирование</a:t>
            </a:r>
            <a:r>
              <a:rPr lang="ru-RU" dirty="0"/>
              <a:t>:</a:t>
            </a:r>
          </a:p>
          <a:p>
            <a:r>
              <a:rPr lang="ru-RU" dirty="0"/>
              <a:t>сначала выделяется новая память</a:t>
            </a:r>
          </a:p>
          <a:p>
            <a:r>
              <a:rPr lang="ru-RU" dirty="0"/>
              <a:t>затем в неё копируются символы исходной строки</a:t>
            </a:r>
          </a:p>
          <a:p>
            <a:r>
              <a:rPr lang="ru-RU" dirty="0"/>
              <a:t>На схеме видно, что после копирования у нас есть </a:t>
            </a:r>
            <a:r>
              <a:rPr lang="ru-RU" b="1" dirty="0"/>
              <a:t>два независимых объекта</a:t>
            </a:r>
            <a:r>
              <a:rPr lang="ru-RU" dirty="0"/>
              <a:t>, каждый со своей областью памяти.</a:t>
            </a:r>
          </a:p>
          <a:p>
            <a:r>
              <a:rPr lang="ru-RU" dirty="0"/>
              <a:t>Это важно: изменение одной строки не повлияет на другую.</a:t>
            </a:r>
          </a:p>
          <a:p>
            <a:r>
              <a:rPr lang="ru-RU" dirty="0"/>
              <a:t>Именно так нужно реализовывать копирование для классов, которые </a:t>
            </a:r>
            <a:r>
              <a:rPr lang="ru-RU" b="1" dirty="0"/>
              <a:t>владеют динамическими ресурсами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60334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Иногда копирование объекта просто не имеет смысла — например, если он владеет уникальным ресурсом, таким как файл или сетевое соединение.</a:t>
            </a:r>
          </a:p>
          <a:p>
            <a:endParaRPr lang="ru-RU" dirty="0"/>
          </a:p>
          <a:p>
            <a:r>
              <a:rPr lang="ru-RU" dirty="0"/>
              <a:t>В таких случаях копирование нужно </a:t>
            </a:r>
            <a:r>
              <a:rPr lang="ru-RU" b="1" dirty="0"/>
              <a:t>запретить</a:t>
            </a:r>
            <a:r>
              <a:rPr lang="ru-RU" dirty="0"/>
              <a:t>.</a:t>
            </a:r>
          </a:p>
          <a:p>
            <a:r>
              <a:rPr lang="ru-RU" dirty="0"/>
              <a:t>Для этого копирующий конструктор и оператор присваивания помечаются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любая попытка скопировать объект приведёт к </a:t>
            </a:r>
            <a:r>
              <a:rPr lang="ru-RU" b="1" dirty="0"/>
              <a:t>ошибке компиляции</a:t>
            </a:r>
            <a:r>
              <a:rPr lang="ru-RU" dirty="0"/>
              <a:t>, что защищает нас от неправильного использования класса.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52804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Делегирующий конструктор позволяет одному конструктору вызывать другой конструктор того же класса.</a:t>
            </a:r>
          </a:p>
          <a:p>
            <a:r>
              <a:rPr lang="ru-RU" dirty="0"/>
              <a:t>Это удобно, когда логика инициализации повторяется.</a:t>
            </a:r>
          </a:p>
          <a:p>
            <a:r>
              <a:rPr lang="ru-RU" dirty="0"/>
              <a:t>Сначала выполняется целевой конструктор, а затем — тело делегирующего.</a:t>
            </a:r>
          </a:p>
          <a:p>
            <a:r>
              <a:rPr lang="ru-RU" dirty="0"/>
              <a:t>Таким образом мы избегаем дублирования кода и централизуем инициализацию в одном месте.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835078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 использование </a:t>
            </a:r>
            <a:r>
              <a:rPr lang="ru-RU" b="1" dirty="0"/>
              <a:t>делегирующих конструкторов</a:t>
            </a:r>
            <a:r>
              <a:rPr lang="ru-RU" dirty="0"/>
              <a:t>.</a:t>
            </a:r>
          </a:p>
          <a:p>
            <a:r>
              <a:rPr lang="ru-RU" dirty="0"/>
              <a:t>Основная логика инициализации сосредоточена в одном конструкторе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.</a:t>
            </a:r>
          </a:p>
          <a:p>
            <a:r>
              <a:rPr lang="ru-RU" dirty="0"/>
              <a:t>Остальные конструкторы не дублируют код, а просто </a:t>
            </a:r>
            <a:r>
              <a:rPr lang="ru-RU" b="1" dirty="0"/>
              <a:t>делегируют ему работу</a:t>
            </a:r>
            <a:r>
              <a:rPr lang="ru-RU" dirty="0"/>
              <a:t>, передавая нужные параметры.</a:t>
            </a:r>
          </a:p>
          <a:p>
            <a:r>
              <a:rPr lang="ru-RU" dirty="0"/>
              <a:t>Это позволяет избежать повторения кода и гарантирует, что вся инициализация выполняется </a:t>
            </a:r>
            <a:r>
              <a:rPr lang="ru-RU" b="1" dirty="0"/>
              <a:t>единым образом</a:t>
            </a:r>
            <a:r>
              <a:rPr lang="ru-RU" dirty="0"/>
              <a:t>.</a:t>
            </a:r>
          </a:p>
          <a:p>
            <a:r>
              <a:rPr lang="ru-RU" dirty="0"/>
              <a:t>Такой подход делает код проще, надёжнее и легче в поддержке.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85266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вы не объявили оператор присваивания, компилятор создаст его автоматически.</a:t>
            </a:r>
          </a:p>
          <a:p>
            <a:endParaRPr lang="ru-RU" dirty="0"/>
          </a:p>
          <a:p>
            <a:r>
              <a:rPr lang="ru-RU" dirty="0"/>
              <a:t>Он выполняет покомпонентное присваивание: присваивает все поля и вызывает оператор присваивания базового класса.</a:t>
            </a:r>
          </a:p>
          <a:p>
            <a:endParaRPr lang="ru-RU" dirty="0"/>
          </a:p>
          <a:p>
            <a:r>
              <a:rPr lang="ru-RU" dirty="0"/>
              <a:t>Однако в некоторых случаях он не генерируется — например, если в классе есть ссылки или константы.</a:t>
            </a:r>
          </a:p>
          <a:p>
            <a:endParaRPr lang="ru-RU" dirty="0"/>
          </a:p>
          <a:p>
            <a:r>
              <a:rPr lang="ru-RU" dirty="0"/>
              <a:t>Как и в случае с копированием, автоматический вариант подходит не всегда, особенно если класс управляет ресурсами вручную.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16463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Собственный оператор присваивания нужен в тех же случаях, что и копирующий конструктор — когда класс управляет ресурсами.</a:t>
            </a:r>
          </a:p>
          <a:p>
            <a:endParaRPr lang="ru-RU" dirty="0"/>
          </a:p>
          <a:p>
            <a:r>
              <a:rPr lang="ru-RU" dirty="0"/>
              <a:t>Автоматический оператор просто копирует поля, и этого может быть недостаточно.</a:t>
            </a:r>
          </a:p>
          <a:p>
            <a:endParaRPr lang="ru-RU" dirty="0"/>
          </a:p>
          <a:p>
            <a:r>
              <a:rPr lang="ru-RU" dirty="0"/>
              <a:t>Важно, чтобы оператор возвращал ссылку на текущий объект — это позволяет писать цепочки присваиваний.</a:t>
            </a:r>
          </a:p>
          <a:p>
            <a:endParaRPr lang="ru-RU" dirty="0"/>
          </a:p>
          <a:p>
            <a:r>
              <a:rPr lang="ru-RU" dirty="0"/>
              <a:t>Также нужно учитывать особые случаи, например </a:t>
            </a:r>
            <a:r>
              <a:rPr lang="ru-RU" b="1" dirty="0" err="1"/>
              <a:t>самоприсваивание</a:t>
            </a:r>
            <a:r>
              <a:rPr lang="ru-RU" dirty="0"/>
              <a:t>, чтобы не испортить данные.</a:t>
            </a:r>
          </a:p>
          <a:p>
            <a:endParaRPr lang="ru-RU" dirty="0"/>
          </a:p>
          <a:p>
            <a:r>
              <a:rPr lang="ru-RU" dirty="0"/>
              <a:t>Часто для надёжной реализации используют подход с созданием временной копии объекта.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71999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 </a:t>
            </a:r>
            <a:r>
              <a:rPr lang="ru-RU" b="1" dirty="0"/>
              <a:t>пользовательский оператор присваивания</a:t>
            </a:r>
            <a:r>
              <a:rPr lang="ru-RU" dirty="0"/>
              <a:t>.</a:t>
            </a:r>
          </a:p>
          <a:p>
            <a:r>
              <a:rPr lang="ru-RU" dirty="0"/>
              <a:t>При выполнении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env1 = env2</a:t>
            </a:r>
            <a:r>
              <a:rPr lang="ru-RU" dirty="0"/>
              <a:t> происходит присваивание поля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postCard</a:t>
            </a:r>
            <a:r>
              <a:rPr lang="ru-RU" dirty="0"/>
              <a:t>, и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ru-RU" dirty="0"/>
              <a:t> класса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PostCard</a:t>
            </a:r>
            <a:r>
              <a:rPr lang="ru-RU" dirty="0"/>
              <a:t>.</a:t>
            </a:r>
          </a:p>
          <a:p>
            <a:r>
              <a:rPr lang="ru-RU" dirty="0"/>
              <a:t>Он копирует данные из одного объекта в другой и возвращает ссылку на текущий объект.</a:t>
            </a:r>
          </a:p>
          <a:p>
            <a:r>
              <a:rPr lang="ru-RU" dirty="0"/>
              <a:t>Важно понимать, что в отличие от копирующего конструктора, здесь </a:t>
            </a:r>
            <a:r>
              <a:rPr lang="ru-RU" b="1" dirty="0"/>
              <a:t>объект уже существует</a:t>
            </a:r>
            <a:r>
              <a:rPr lang="ru-RU" dirty="0"/>
              <a:t>, и мы просто изменяем его состояние.</a:t>
            </a:r>
          </a:p>
          <a:p>
            <a:r>
              <a:rPr lang="ru-RU" dirty="0"/>
              <a:t>Этот пример показывает разницу между </a:t>
            </a:r>
            <a:r>
              <a:rPr lang="ru-RU" b="1" dirty="0"/>
              <a:t>созданием копии</a:t>
            </a:r>
            <a:r>
              <a:rPr lang="ru-RU" dirty="0"/>
              <a:t> и </a:t>
            </a:r>
            <a:r>
              <a:rPr lang="ru-RU" b="1" dirty="0"/>
              <a:t>присваиванием существующему объекту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3910596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более реалистичная реализация </a:t>
            </a:r>
            <a:r>
              <a:rPr lang="ru-RU" b="1" dirty="0"/>
              <a:t>оператора присваивания для класса, управляющего памятью</a:t>
            </a:r>
            <a:r>
              <a:rPr lang="ru-RU" dirty="0"/>
              <a:t>.</a:t>
            </a:r>
          </a:p>
          <a:p>
            <a:r>
              <a:rPr lang="ru-RU" dirty="0"/>
              <a:t>Сначала проверяется </a:t>
            </a:r>
            <a:r>
              <a:rPr lang="ru-RU" b="1" dirty="0" err="1"/>
              <a:t>самоприсваивание</a:t>
            </a:r>
            <a:r>
              <a:rPr lang="ru-RU" dirty="0"/>
              <a:t>, чтобы не испортить данные.</a:t>
            </a:r>
          </a:p>
          <a:p>
            <a:r>
              <a:rPr lang="ru-RU" dirty="0"/>
              <a:t>Далее есть два сценария:</a:t>
            </a:r>
          </a:p>
          <a:p>
            <a:r>
              <a:rPr lang="ru-RU" dirty="0"/>
              <a:t>если текущего буфера достаточно — мы </a:t>
            </a:r>
            <a:r>
              <a:rPr lang="ru-RU" b="1" dirty="0"/>
              <a:t>переиспользуем память</a:t>
            </a:r>
            <a:endParaRPr lang="ru-RU" dirty="0"/>
          </a:p>
          <a:p>
            <a:r>
              <a:rPr lang="ru-RU" dirty="0"/>
              <a:t>иначе создаём временную копию и используем идиому </a:t>
            </a:r>
            <a:r>
              <a:rPr lang="ru-RU" b="1" dirty="0" err="1"/>
              <a:t>copy-and-swap</a:t>
            </a:r>
            <a:endParaRPr lang="ru-RU" b="1" dirty="0"/>
          </a:p>
          <a:p>
            <a:endParaRPr lang="ru-RU" dirty="0"/>
          </a:p>
          <a:p>
            <a:r>
              <a:rPr lang="ru-RU" dirty="0"/>
              <a:t>Такой подход делает код </a:t>
            </a:r>
            <a:r>
              <a:rPr lang="ru-RU" b="1" dirty="0"/>
              <a:t>безопасным и устойчивым к ошибкам</a:t>
            </a:r>
            <a:r>
              <a:rPr lang="ru-RU" dirty="0"/>
              <a:t>, особенно при работе с ресурсами.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7127607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некоторых случаях операция присваивания не имеет смысла — например, если объект управляет уникальным ресурсом.</a:t>
            </a:r>
          </a:p>
          <a:p>
            <a:r>
              <a:rPr lang="ru-RU" dirty="0"/>
              <a:t>Если разрешить присваивание, можно случайно нарушить корректность работы с этим ресурсом.</a:t>
            </a:r>
          </a:p>
          <a:p>
            <a:r>
              <a:rPr lang="ru-RU" dirty="0"/>
              <a:t>Поэтому оператор присваивания можно явно запретить с помощью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dirty="0"/>
              <a:t>.</a:t>
            </a:r>
          </a:p>
          <a:p>
            <a:r>
              <a:rPr lang="ru-RU" dirty="0"/>
              <a:t>Теперь любая попытка присвоить один объект другому приведёт к ошибке компиляции и защитит нас от неправильного использования класса.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698069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Копирование объектов может быть дорогой операцией, особенно если объекты содержат много данных или управляют ресурсами.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программе могут появляться временные объекты и лишние копии, которые ухудшают производительность.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Кроме того, для некоторых типов копирование вообще не имеет смысла — например, для потоков или мьютексов.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таких случаях вместо копирования используется другая модель — </a:t>
            </a:r>
            <a:r>
              <a:rPr lang="ru-RU" b="1" dirty="0"/>
              <a:t>перемещение</a:t>
            </a:r>
            <a:r>
              <a:rPr lang="ru-RU" dirty="0"/>
              <a:t>, когда ресурс передаётся от одного объекта другому.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917582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происходит </a:t>
            </a:r>
            <a:r>
              <a:rPr lang="ru-RU" b="1" dirty="0"/>
              <a:t>неявное создание временного объекта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Строковый литерал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Ivan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 сначала преобразуется во временный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, а затем этот объект </a:t>
            </a:r>
            <a:r>
              <a:rPr lang="ru-RU" b="1" dirty="0"/>
              <a:t>копируется в поле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m_name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То есть фактически выполняется два шага: создание временного объекта и его копирование.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выглядит незаметно, но может влиять на производительность, особенно для более сложных типов.</a:t>
            </a:r>
          </a:p>
          <a:p>
            <a:r>
              <a:rPr lang="ru-RU" dirty="0"/>
              <a:t>Именно такие ситуации и мотивировали появление </a:t>
            </a:r>
            <a:r>
              <a:rPr lang="ru-RU" b="1" dirty="0"/>
              <a:t>перемещения</a:t>
            </a:r>
            <a:r>
              <a:rPr lang="ru-RU" dirty="0"/>
              <a:t> в C++.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853875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решить эту проблему, в стандарте C++11 была введена </a:t>
            </a:r>
            <a:r>
              <a:rPr lang="ru-RU" b="1" dirty="0"/>
              <a:t>семантика перемещения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Её основная идея — не копировать данные из временного объекта, а просто </a:t>
            </a:r>
            <a:r>
              <a:rPr lang="ru-RU" b="1" dirty="0"/>
              <a:t>перенести их</a:t>
            </a:r>
            <a:r>
              <a:rPr lang="ru-RU" dirty="0"/>
              <a:t>, избегая лишних операций.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Дальше разберёмся, как это работает на уровне языка.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181557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реализовать перемещение, компилятор должен понимать, можно ли безопасно «забрать» данные у объекта.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объект больше не нужен — например, это временный объект — его ресурсы можно просто перенести.</a:t>
            </a:r>
          </a:p>
          <a:p>
            <a:r>
              <a:rPr lang="ru-RU" dirty="0"/>
              <a:t>Если же объект будет использоваться дальше, нужно делать копию.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в языке появляется важное различие: </a:t>
            </a:r>
            <a:r>
              <a:rPr lang="ru-RU" b="1" dirty="0"/>
              <a:t>временные объекты и обычные, именованные объекты</a:t>
            </a:r>
            <a:r>
              <a:rPr lang="ru-RU" dirty="0"/>
              <a:t>.</a:t>
            </a:r>
          </a:p>
          <a:p>
            <a:r>
              <a:rPr lang="ru-RU" dirty="0"/>
              <a:t>Дальше мы формализуем это различие через понятия </a:t>
            </a:r>
            <a:r>
              <a:rPr lang="ru-RU" b="1" dirty="0" err="1"/>
              <a:t>lvalue</a:t>
            </a:r>
            <a:r>
              <a:rPr lang="ru-RU" b="1" dirty="0"/>
              <a:t> и </a:t>
            </a:r>
            <a:r>
              <a:rPr lang="ru-RU" b="1" dirty="0" err="1"/>
              <a:t>rvalue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530288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 точки зрения стандарта, </a:t>
            </a:r>
            <a:r>
              <a:rPr lang="ru-RU" dirty="0" err="1"/>
              <a:t>lvalue</a:t>
            </a:r>
            <a:r>
              <a:rPr lang="ru-RU" dirty="0"/>
              <a:t> — это выражение, которое указывает на конкретный объект в памяти. У такого объекта есть адрес, и он может существовать достаточно долго.</a:t>
            </a:r>
          </a:p>
          <a:p>
            <a:endParaRPr lang="ru-RU" dirty="0"/>
          </a:p>
          <a:p>
            <a:r>
              <a:rPr lang="ru-RU" dirty="0" err="1"/>
              <a:t>Rvalue</a:t>
            </a:r>
            <a:r>
              <a:rPr lang="ru-RU" dirty="0"/>
              <a:t> — это выражение, которое даёт временное значение. Такие объекты обычно не имеют имени и живут недолго.</a:t>
            </a:r>
          </a:p>
          <a:p>
            <a:endParaRPr lang="ru-RU" dirty="0"/>
          </a:p>
          <a:p>
            <a:r>
              <a:rPr lang="ru-RU" dirty="0"/>
              <a:t>Интуитивно можно думать так: </a:t>
            </a:r>
            <a:r>
              <a:rPr lang="ru-RU" dirty="0" err="1"/>
              <a:t>lvalue</a:t>
            </a:r>
            <a:r>
              <a:rPr lang="ru-RU" dirty="0"/>
              <a:t> — это то, что продолжит существовать после текущего выражения, а </a:t>
            </a:r>
            <a:r>
              <a:rPr lang="ru-RU" dirty="0" err="1"/>
              <a:t>rvalue</a:t>
            </a:r>
            <a:r>
              <a:rPr lang="ru-RU" dirty="0"/>
              <a:t> — это временный объект, который скоро будет уничтожен.</a:t>
            </a:r>
          </a:p>
          <a:p>
            <a:endParaRPr lang="ru-RU" dirty="0"/>
          </a:p>
          <a:p>
            <a:r>
              <a:rPr lang="ru-RU" dirty="0"/>
              <a:t>И именно это различие позволяет в C++ безопасно применять перемещение: временные объекты можно «разобрать», а обычные — нет.</a:t>
            </a:r>
          </a:p>
          <a:p>
            <a:endParaRPr lang="ru-RU" dirty="0"/>
          </a:p>
          <a:p>
            <a:r>
              <a:rPr lang="ru-RU" dirty="0"/>
              <a:t>Давайте посмотрим на простой пример.</a:t>
            </a:r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Переменные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 — это </a:t>
            </a:r>
            <a:r>
              <a:rPr lang="ru-RU" dirty="0" err="1"/>
              <a:t>lvalue</a:t>
            </a:r>
            <a:r>
              <a:rPr lang="ru-RU" dirty="0"/>
              <a:t>, потому что у них есть имя и они живут в памяти.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b</a:t>
            </a:r>
            <a:r>
              <a:rPr lang="ru-RU" dirty="0"/>
              <a:t> — это </a:t>
            </a:r>
            <a:r>
              <a:rPr lang="ru-RU" dirty="0" err="1"/>
              <a:t>rvalue</a:t>
            </a:r>
            <a:r>
              <a:rPr lang="ru-RU" dirty="0"/>
              <a:t>, потому что результат вычисляется временно и нигде не хранится.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Числа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  <a:r>
              <a:rPr lang="ru-RU" dirty="0"/>
              <a:t> — тоже </a:t>
            </a:r>
            <a:r>
              <a:rPr lang="ru-RU" dirty="0" err="1"/>
              <a:t>rvalue</a:t>
            </a:r>
            <a:r>
              <a:rPr lang="ru-RU" dirty="0"/>
              <a:t>, это просто значения.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Ссылка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</a:t>
            </a:r>
            <a:r>
              <a:rPr lang="ru-RU" dirty="0"/>
              <a:t> ссылается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, то есть на </a:t>
            </a:r>
            <a:r>
              <a:rPr lang="ru-RU" dirty="0" err="1"/>
              <a:t>lvalue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Главное правило: если у объекта есть имя и его можно использовать дальше — это </a:t>
            </a:r>
            <a:r>
              <a:rPr lang="ru-RU" dirty="0" err="1"/>
              <a:t>lvalue</a:t>
            </a:r>
            <a:r>
              <a:rPr lang="ru-RU" dirty="0"/>
              <a:t>. Если это временный результат вычисления — это </a:t>
            </a:r>
            <a:r>
              <a:rPr lang="ru-RU" dirty="0" err="1"/>
              <a:t>rvalue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309738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различать </a:t>
            </a:r>
            <a:r>
              <a:rPr lang="ru-RU" dirty="0" err="1"/>
              <a:t>lvalue</a:t>
            </a:r>
            <a:r>
              <a:rPr lang="ru-RU" dirty="0"/>
              <a:t> и </a:t>
            </a:r>
            <a:r>
              <a:rPr lang="ru-RU" dirty="0" err="1"/>
              <a:t>rvalue</a:t>
            </a:r>
            <a:r>
              <a:rPr lang="ru-RU" dirty="0"/>
              <a:t> на уровне языка, в C++11 ввели новый тип ссылок.</a:t>
            </a:r>
          </a:p>
          <a:p>
            <a:endParaRPr lang="ru-RU" dirty="0"/>
          </a:p>
          <a:p>
            <a:r>
              <a:rPr lang="ru-RU" dirty="0"/>
              <a:t>Обычные ссылки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Type&amp;</a:t>
            </a:r>
            <a:r>
              <a:rPr lang="ru-RU" dirty="0"/>
              <a:t> работают с именованными объектами — это </a:t>
            </a:r>
            <a:r>
              <a:rPr lang="ru-RU" dirty="0" err="1"/>
              <a:t>lvalue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Новый тип ссылок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Type&amp;&amp;</a:t>
            </a:r>
            <a:r>
              <a:rPr lang="ru-RU" dirty="0"/>
              <a:t> позволяет работать с временными объектами — это </a:t>
            </a:r>
            <a:r>
              <a:rPr lang="ru-RU" dirty="0" err="1"/>
              <a:t>rvalue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компилятор может понимать, с каким типом объекта он имеет дело, и выбирать: копировать данные или перемещать их.</a:t>
            </a:r>
          </a:p>
          <a:p>
            <a:endParaRPr lang="ru-RU" dirty="0"/>
          </a:p>
          <a:p>
            <a:r>
              <a:rPr lang="ru-RU" dirty="0"/>
              <a:t>Это и есть основа семантики перемещения.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187189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Обычная ссылка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Type&amp;</a:t>
            </a:r>
            <a:r>
              <a:rPr lang="ru-RU" dirty="0"/>
              <a:t> может привязываться только к </a:t>
            </a:r>
            <a:r>
              <a:rPr lang="ru-RU" dirty="0" err="1"/>
              <a:t>lvalue</a:t>
            </a:r>
            <a:r>
              <a:rPr lang="ru-RU" dirty="0"/>
              <a:t> — к именованным объектам, таким как переменная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Rvalue</a:t>
            </a:r>
            <a:r>
              <a:rPr lang="ru-RU" dirty="0"/>
              <a:t>-ссылка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Type&amp;&amp;</a:t>
            </a:r>
            <a:r>
              <a:rPr lang="ru-RU" dirty="0"/>
              <a:t> привязывается к временным значениям, например к результату выражения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b</a:t>
            </a:r>
            <a:r>
              <a:rPr lang="ru-RU" dirty="0"/>
              <a:t> или значению, возвращаемому функцией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GetValue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попытаться сделать наоборот — привязать обычную ссылку к временному объекту или </a:t>
            </a:r>
            <a:r>
              <a:rPr lang="ru-RU" dirty="0" err="1"/>
              <a:t>rvalue</a:t>
            </a:r>
            <a:r>
              <a:rPr lang="ru-RU" dirty="0"/>
              <a:t>-ссылку к именованному объекту — компилятор выдаст ошибку.</a:t>
            </a:r>
          </a:p>
          <a:p>
            <a:endParaRPr lang="ru-RU" dirty="0"/>
          </a:p>
          <a:p>
            <a:r>
              <a:rPr lang="ru-RU" dirty="0"/>
              <a:t>Есть важное исключение: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Type&amp;</a:t>
            </a:r>
            <a:r>
              <a:rPr lang="ru-RU" dirty="0"/>
              <a:t> можно привязать к </a:t>
            </a:r>
            <a:r>
              <a:rPr lang="ru-RU" dirty="0" err="1"/>
              <a:t>rvalue</a:t>
            </a:r>
            <a:r>
              <a:rPr lang="ru-RU" dirty="0"/>
              <a:t>. Это позволяет работать с временными объектами без копирования.</a:t>
            </a:r>
          </a:p>
          <a:p>
            <a:endParaRPr lang="ru-RU" dirty="0"/>
          </a:p>
          <a:p>
            <a:r>
              <a:rPr lang="ru-RU" dirty="0"/>
              <a:t>Но для семантики перемещения ключевую роль играют именно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Type&amp;&amp;</a:t>
            </a:r>
            <a:r>
              <a:rPr lang="ru-RU" dirty="0"/>
              <a:t>, потому что они явно указывают: перед нами временный объект, у которого можно безопасно забрать ресурсы.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345613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</a:t>
            </a:r>
            <a:r>
              <a:rPr lang="ru-RU" dirty="0" err="1"/>
              <a:t>lvalue</a:t>
            </a:r>
            <a:r>
              <a:rPr lang="ru-RU" dirty="0"/>
              <a:t> и </a:t>
            </a:r>
            <a:r>
              <a:rPr lang="ru-RU" dirty="0" err="1"/>
              <a:t>rvalue</a:t>
            </a:r>
            <a:r>
              <a:rPr lang="ru-RU" dirty="0"/>
              <a:t> влияют на выбор перегруженной функции.</a:t>
            </a:r>
          </a:p>
          <a:p>
            <a:r>
              <a:rPr lang="ru-RU" dirty="0"/>
              <a:t>Здесь есть три версии функции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</a:t>
            </a:r>
            <a:r>
              <a:rPr lang="ru-RU" dirty="0"/>
              <a:t>: одна принимает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T&amp;</a:t>
            </a:r>
            <a:r>
              <a:rPr lang="ru-RU" dirty="0"/>
              <a:t>, другая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T&amp;</a:t>
            </a:r>
            <a:r>
              <a:rPr lang="ru-RU" dirty="0"/>
              <a:t>, и третья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T&amp;&amp;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мы передаём обычную </a:t>
            </a:r>
            <a:r>
              <a:rPr lang="ru-RU" dirty="0" err="1"/>
              <a:t>неконстантную</a:t>
            </a:r>
            <a:r>
              <a:rPr lang="ru-RU" dirty="0"/>
              <a:t> переменную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ru-RU" dirty="0"/>
              <a:t>, вызывается версия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T&amp;</a:t>
            </a:r>
            <a:r>
              <a:rPr lang="ru-RU" dirty="0"/>
              <a:t>, потому что это </a:t>
            </a:r>
            <a:r>
              <a:rPr lang="ru-RU" dirty="0" err="1"/>
              <a:t>lvalue</a:t>
            </a:r>
            <a:r>
              <a:rPr lang="ru-RU" dirty="0"/>
              <a:t>, и объект можно изменять.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передаём константный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constName</a:t>
            </a:r>
            <a:r>
              <a:rPr lang="ru-RU" dirty="0"/>
              <a:t>, вызывается версия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T&amp;</a:t>
            </a:r>
            <a:r>
              <a:rPr lang="ru-RU" dirty="0"/>
              <a:t>, потому что изменять такой объект нельзя.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передаём временный объект — например, строковый литерал, результат выражения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"!"</a:t>
            </a:r>
            <a:r>
              <a:rPr lang="ru-RU" dirty="0"/>
              <a:t>, результат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— вызывается версия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T&amp;&amp;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Этот пример показывает, что компилятор различает обычные объекты, константные объекты и временные объекты и может выбирать для них разные перегрузки функций.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854833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ключевой момент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dirty="0"/>
              <a:t> сам по себе ничего не перемещает.</a:t>
            </a:r>
          </a:p>
          <a:p>
            <a:endParaRPr lang="ru-RU" dirty="0"/>
          </a:p>
          <a:p>
            <a:r>
              <a:rPr lang="ru-RU" dirty="0"/>
              <a:t>Он просто приводит выражение к </a:t>
            </a:r>
            <a:r>
              <a:rPr lang="ru-RU" dirty="0" err="1"/>
              <a:t>rvalue</a:t>
            </a:r>
            <a:r>
              <a:rPr lang="ru-RU" dirty="0"/>
              <a:t> и сообщает компилятору: с этим объектом можно работать как с временным.</a:t>
            </a:r>
          </a:p>
          <a:p>
            <a:endParaRPr lang="ru-RU" dirty="0"/>
          </a:p>
          <a:p>
            <a:r>
              <a:rPr lang="ru-RU" dirty="0"/>
              <a:t>Поэтому напрямую привязать </a:t>
            </a:r>
            <a:r>
              <a:rPr lang="ru-RU" dirty="0" err="1"/>
              <a:t>rvalue</a:t>
            </a:r>
            <a:r>
              <a:rPr lang="ru-RU" dirty="0"/>
              <a:t>-ссылку к переменной нельзя, а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dirty="0"/>
              <a:t> — можно.</a:t>
            </a:r>
          </a:p>
          <a:p>
            <a:r>
              <a:rPr lang="ru-RU" dirty="0"/>
              <a:t>При этом в момент вызова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dirty="0"/>
              <a:t> с объектом </a:t>
            </a:r>
            <a:r>
              <a:rPr lang="ru-RU" b="1" dirty="0"/>
              <a:t>ничего не происходит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Изменения могут произойти позже — если будет вызван конструктор перемещения или оператор перемещения.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104562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Move</a:t>
            </a:r>
            <a:r>
              <a:rPr lang="ru-RU" dirty="0"/>
              <a:t>-конструктор — это специальный конструктор, который позволяет не копировать данные, а переносить их из одного объекта в другой.</a:t>
            </a:r>
          </a:p>
          <a:p>
            <a:endParaRPr lang="ru-RU" dirty="0"/>
          </a:p>
          <a:p>
            <a:r>
              <a:rPr lang="ru-RU" dirty="0"/>
              <a:t>Он принимает </a:t>
            </a:r>
            <a:r>
              <a:rPr lang="ru-RU" dirty="0" err="1"/>
              <a:t>rvalue</a:t>
            </a:r>
            <a:r>
              <a:rPr lang="ru-RU" dirty="0"/>
              <a:t>-ссылку, то есть временный объект.</a:t>
            </a:r>
          </a:p>
          <a:p>
            <a:endParaRPr lang="ru-RU" dirty="0"/>
          </a:p>
          <a:p>
            <a:r>
              <a:rPr lang="ru-RU" dirty="0"/>
              <a:t>Вместо создания копии он просто «забирает» ресурсы, например указатель на память.</a:t>
            </a:r>
          </a:p>
          <a:p>
            <a:endParaRPr lang="ru-RU" dirty="0"/>
          </a:p>
          <a:p>
            <a:r>
              <a:rPr lang="ru-RU" dirty="0"/>
              <a:t>После этого новый объект владеет ресурсами, а исходный остаётся валидным, но его состояние уже не определено с точки зрения содержимого.</a:t>
            </a:r>
          </a:p>
          <a:p>
            <a:endParaRPr lang="ru-RU" dirty="0"/>
          </a:p>
          <a:p>
            <a:r>
              <a:rPr lang="ru-RU" dirty="0" err="1"/>
              <a:t>Move</a:t>
            </a:r>
            <a:r>
              <a:rPr lang="ru-RU" dirty="0"/>
              <a:t>-конструктор автоматически вызывается при работе с временными объектами или при использовании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266189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как компилятор выбирает между копированием и перемещением.</a:t>
            </a:r>
          </a:p>
          <a:p>
            <a:r>
              <a:rPr lang="ru-RU" dirty="0"/>
              <a:t>У класса есть два конструктора: один принимает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, второй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мы передаём обычную переменную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ru-RU" dirty="0"/>
              <a:t>, это </a:t>
            </a:r>
            <a:r>
              <a:rPr lang="ru-RU" dirty="0" err="1"/>
              <a:t>lvalue</a:t>
            </a:r>
            <a:r>
              <a:rPr lang="ru-RU" dirty="0"/>
              <a:t>, поэтому вызывается конструктор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, и происходит копирование.</a:t>
            </a:r>
          </a:p>
          <a:p>
            <a:endParaRPr lang="ru-RU" dirty="0"/>
          </a:p>
          <a:p>
            <a:r>
              <a:rPr lang="ru-RU" dirty="0"/>
              <a:t>Если передаём временный объект, например строковый литерал, или явно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dirty="0"/>
              <a:t>, выражение становится </a:t>
            </a:r>
            <a:r>
              <a:rPr lang="ru-RU" dirty="0" err="1"/>
              <a:t>rvalue</a:t>
            </a:r>
            <a:r>
              <a:rPr lang="ru-RU" dirty="0"/>
              <a:t>, и вызывается конструктор 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Внутри него мы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dirty="0"/>
              <a:t>, чтобы передать строку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m_name</a:t>
            </a:r>
            <a:r>
              <a:rPr lang="ru-RU" dirty="0"/>
              <a:t> уже как </a:t>
            </a:r>
            <a:r>
              <a:rPr lang="ru-RU" dirty="0" err="1"/>
              <a:t>rvalue</a:t>
            </a:r>
            <a:r>
              <a:rPr lang="ru-RU" dirty="0"/>
              <a:t>, что позволяет строке переместить свои ресурсы вместо копирования.</a:t>
            </a:r>
          </a:p>
          <a:p>
            <a:endParaRPr lang="ru-RU" dirty="0"/>
          </a:p>
          <a:p>
            <a:r>
              <a:rPr lang="ru-RU" dirty="0"/>
              <a:t>Таким образом, один и тот же класс может эффективно работать и с обычными объектами, и с временными, выбирая между копированием и перемещением.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190222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 популярный приём — </a:t>
            </a:r>
            <a:r>
              <a:rPr lang="ru-RU" b="1" dirty="0"/>
              <a:t>передача параметра по значению с последующим перемещением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Конструктор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</a:t>
            </a:r>
            <a:r>
              <a:rPr lang="ru-RU" dirty="0"/>
              <a:t> принимает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ru-RU" dirty="0"/>
              <a:t> по значению, то есть внутри него создаётся копия или перемещённая версия аргумента.</a:t>
            </a:r>
          </a:p>
          <a:p>
            <a:endParaRPr lang="ru-RU" dirty="0"/>
          </a:p>
          <a:p>
            <a:r>
              <a:rPr lang="ru-RU" dirty="0"/>
              <a:t>Дальше мы всегда делаем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в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m_name</a:t>
            </a:r>
            <a:r>
              <a:rPr lang="ru-RU" dirty="0"/>
              <a:t>, то есть </a:t>
            </a:r>
            <a:r>
              <a:rPr lang="ru-RU" b="1" dirty="0"/>
              <a:t>всегда используем перемещение на втором шаге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Посмотрим на три случая.</a:t>
            </a:r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передаём </a:t>
            </a:r>
            <a:r>
              <a:rPr lang="ru-RU" dirty="0" err="1"/>
              <a:t>lvalue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, сначала происходит копирование в параметр функции, а затем перемещение в поле — получается </a:t>
            </a:r>
            <a:r>
              <a:rPr lang="ru-RU" b="1" dirty="0" err="1"/>
              <a:t>Copy</a:t>
            </a:r>
            <a:r>
              <a:rPr lang="ru-RU" b="1" dirty="0"/>
              <a:t> + </a:t>
            </a:r>
            <a:r>
              <a:rPr lang="ru-RU" b="1" dirty="0" err="1"/>
              <a:t>Move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передаём временный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Ivan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, он сразу создаётся, затем перемещается — </a:t>
            </a:r>
            <a:r>
              <a:rPr lang="ru-RU" b="1" dirty="0" err="1"/>
              <a:t>Create</a:t>
            </a:r>
            <a:r>
              <a:rPr lang="ru-RU" b="1" dirty="0"/>
              <a:t> + </a:t>
            </a:r>
            <a:r>
              <a:rPr lang="ru-RU" b="1" dirty="0" err="1"/>
              <a:t>Move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передаём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(n)</a:t>
            </a:r>
            <a:r>
              <a:rPr lang="ru-RU" dirty="0"/>
              <a:t>, сначала происходит перемещение в параметр, затем ещё одно перемещение в поле — </a:t>
            </a:r>
            <a:r>
              <a:rPr lang="ru-RU" b="1" dirty="0" err="1"/>
              <a:t>Move</a:t>
            </a:r>
            <a:r>
              <a:rPr lang="ru-RU" b="1" dirty="0"/>
              <a:t> + </a:t>
            </a:r>
            <a:r>
              <a:rPr lang="ru-RU" b="1" dirty="0" err="1"/>
              <a:t>Move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Этот подход удобен тем, что позволяет написать </a:t>
            </a:r>
            <a:r>
              <a:rPr lang="ru-RU" b="1" dirty="0"/>
              <a:t>один конструктор вместо двух</a:t>
            </a:r>
            <a:r>
              <a:rPr lang="ru-RU" dirty="0"/>
              <a:t>, и он эффективно работает и с </a:t>
            </a:r>
            <a:r>
              <a:rPr lang="ru-RU" dirty="0" err="1"/>
              <a:t>lvalue</a:t>
            </a:r>
            <a:r>
              <a:rPr lang="ru-RU" dirty="0"/>
              <a:t>, и с </a:t>
            </a:r>
            <a:r>
              <a:rPr lang="ru-RU" dirty="0" err="1"/>
              <a:t>rvalue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отметить следующее. Ранее мы говорили, что «тяжёлые» объекты стоит передавать по константной ссылке, если мы не собираемся их изменять. Это правило остаётся верным.</a:t>
            </a:r>
          </a:p>
          <a:p>
            <a:r>
              <a:rPr lang="ru-RU" dirty="0"/>
              <a:t>Однако в данном случае мы </a:t>
            </a:r>
            <a:r>
              <a:rPr lang="ru-RU" b="1" dirty="0"/>
              <a:t>сохраняем копию значения внутри объекта</a:t>
            </a:r>
            <a:r>
              <a:rPr lang="ru-RU" dirty="0"/>
              <a:t>, и передача по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 может приводить к лишнему копированию.</a:t>
            </a:r>
          </a:p>
          <a:p>
            <a:endParaRPr lang="ru-RU" dirty="0"/>
          </a:p>
          <a:p>
            <a:r>
              <a:rPr lang="ru-RU" dirty="0"/>
              <a:t>Передача по значению с последующим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dirty="0"/>
              <a:t> — это расширение этого правила, которое позволяет в случае временных объектов заменить копирование на перемещение и сделать код более эффективным.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285748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говорим «переместить объект», важно понимать, что именно перемещается.</a:t>
            </a:r>
          </a:p>
          <a:p>
            <a:endParaRPr lang="ru-RU" dirty="0"/>
          </a:p>
          <a:p>
            <a:r>
              <a:rPr lang="ru-RU" dirty="0"/>
              <a:t>Для простых типов, таких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, разницы между копированием и перемещением практически нет.</a:t>
            </a:r>
          </a:p>
          <a:p>
            <a:r>
              <a:rPr lang="ru-RU" dirty="0"/>
              <a:t>Но для объектов, которые владеют ресурсами, например динамической памятью, разница принципиальная.</a:t>
            </a:r>
          </a:p>
          <a:p>
            <a:endParaRPr lang="ru-RU" dirty="0"/>
          </a:p>
          <a:p>
            <a:r>
              <a:rPr lang="ru-RU" dirty="0"/>
              <a:t>Вместо того чтобы выделять новую память и копировать данные, мы просто передаём указатель новому объекту, а у старого объекта этот указатель обнуляем.</a:t>
            </a:r>
          </a:p>
          <a:p>
            <a:endParaRPr lang="ru-RU" dirty="0"/>
          </a:p>
          <a:p>
            <a:r>
              <a:rPr lang="ru-RU" dirty="0"/>
              <a:t>Таким образом мы избегаем дорогих операций копирования.</a:t>
            </a:r>
          </a:p>
          <a:p>
            <a:endParaRPr lang="ru-RU" dirty="0"/>
          </a:p>
          <a:p>
            <a:r>
              <a:rPr lang="ru-RU" dirty="0"/>
              <a:t>Важно, что после перемещения исходный объект остаётся валидным, но его содержимое, как правило, становится «пустым» или неопределённым с точки зрения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012277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Стандарт C++ формулирует требования к перемещению довольно аккуратно.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Новый объект должен получить значение, которым обладал исходный объект до перемещения.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Сам исходный объект при этом должен остаться валидным, но его состояние может быть неопределённым.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Ключевая идея — на состояние объекта после перемещения </a:t>
            </a:r>
            <a:r>
              <a:rPr lang="ru-RU" b="1" dirty="0"/>
              <a:t>нельзя полагаться</a:t>
            </a:r>
            <a:r>
              <a:rPr lang="ru-RU" dirty="0"/>
              <a:t>. Безопасно только присвоить ему новое значение или вызвать методы, которые явно допускают такое состояние.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этом в стандарте нет жёсткого единого подхода к тому, каким именно должно быть это состояние. Для некоторых типов оно определено, например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ru-RU" dirty="0"/>
              <a:t> он становится пустым. Для других, таких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объект остаётся валидным, но его содержимое не определено.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 практической точки зрения перемещение — это оптимизация тяжёлых операций, желательно с минимальным </a:t>
            </a:r>
            <a:r>
              <a:rPr lang="ru-RU" dirty="0" err="1"/>
              <a:t>оверхедом</a:t>
            </a:r>
            <a:r>
              <a:rPr lang="ru-RU" dirty="0"/>
              <a:t>. Поэтому часто разумно считать, что объект после перемещения использовать нельзя, кроме как для присваивания нового значения или сброса состояния.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же сделать «безопасное» состояние можно дёшево, как в случае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это допускается, но в целом лучше избегать использования объектов после перемещения.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1110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</a:t>
            </a:r>
            <a:r>
              <a:rPr lang="ru-RU" b="1" dirty="0" err="1"/>
              <a:t>move</a:t>
            </a:r>
            <a:r>
              <a:rPr lang="ru-RU" b="1" dirty="0"/>
              <a:t>-конструктора для класса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, который управляет динамической памятью.</a:t>
            </a:r>
          </a:p>
          <a:p>
            <a:r>
              <a:rPr lang="ru-RU" dirty="0"/>
              <a:t>Вместо копирования данных мы просто </a:t>
            </a:r>
            <a:r>
              <a:rPr lang="ru-RU" b="1" dirty="0"/>
              <a:t>переносим состояние объекта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ru-RU" b="1" dirty="0"/>
              <a:t> в текущий объект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Для этого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dirty="0"/>
              <a:t>: мы забираем значения полей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ru-RU" dirty="0"/>
              <a:t>, а самому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ru-RU" dirty="0"/>
              <a:t> сразу присваиваем безопасные значения — ноль или пустую строку.</a:t>
            </a:r>
          </a:p>
          <a:p>
            <a:endParaRPr lang="ru-RU" dirty="0"/>
          </a:p>
          <a:p>
            <a:r>
              <a:rPr lang="ru-RU" dirty="0"/>
              <a:t>Таким образом: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новый объект получает все ресурсы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исходный объект остаётся в корректном, но «пустом» состоянии </a:t>
            </a:r>
          </a:p>
          <a:p>
            <a:r>
              <a:rPr lang="ru-RU" dirty="0"/>
              <a:t>Обратите внимание, что здесь не происходит ни выделения памяти, ни копирования символов — только передача указателя.</a:t>
            </a:r>
          </a:p>
          <a:p>
            <a:endParaRPr lang="ru-RU" dirty="0"/>
          </a:p>
          <a:p>
            <a:r>
              <a:rPr lang="ru-RU" dirty="0"/>
              <a:t>Именно за счёт этого перемещение работает </a:t>
            </a:r>
            <a:r>
              <a:rPr lang="ru-RU" b="1" dirty="0"/>
              <a:t>быстро и эффективно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792310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 уже знакомы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</a:t>
            </a:r>
            <a:r>
              <a:rPr lang="ru-RU" dirty="0"/>
              <a:t> — он просто меняет значения двух объектов местами.</a:t>
            </a:r>
            <a:endParaRPr lang="en-US" dirty="0"/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dirty="0"/>
              <a:t> решает другую задачу.</a:t>
            </a:r>
          </a:p>
          <a:p>
            <a:r>
              <a:rPr lang="ru-RU" dirty="0"/>
              <a:t>Он позволяет забрать текущее значение объекта и сразу заменить его новым.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особенно удобно при перемещении, когда нужно «забрать» ресурс у одного объекта и привести его в корректное состояние.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</a:t>
            </a:r>
            <a:r>
              <a:rPr lang="ru-RU" dirty="0"/>
              <a:t>, здесь изменяется только один объект, а старое значение возвращается как результат функции.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поэтому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dirty="0"/>
              <a:t> часто используется в </a:t>
            </a:r>
            <a:r>
              <a:rPr lang="ru-RU" dirty="0" err="1"/>
              <a:t>move</a:t>
            </a:r>
            <a:r>
              <a:rPr lang="ru-RU" dirty="0"/>
              <a:t>-конструкторах.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007857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Перемещающий оператор присваивания похож на обычный оператор присваивания, но работает с </a:t>
            </a:r>
            <a:r>
              <a:rPr lang="ru-RU" dirty="0" err="1"/>
              <a:t>rvalue</a:t>
            </a:r>
            <a:r>
              <a:rPr lang="ru-RU" dirty="0"/>
              <a:t>.</a:t>
            </a:r>
          </a:p>
          <a:p>
            <a:r>
              <a:rPr lang="ru-RU" dirty="0"/>
              <a:t>Здесь объект уже существует, и мы не создаём новый, а заменяем его состояние, забирая ресурсы у другого объекта.</a:t>
            </a:r>
          </a:p>
          <a:p>
            <a:endParaRPr lang="ru-RU" dirty="0"/>
          </a:p>
          <a:p>
            <a:r>
              <a:rPr lang="ru-RU" dirty="0"/>
              <a:t>Обычно сначала освобождаются текущие ресурсы, затем мы переносим данные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ru-RU" dirty="0"/>
              <a:t> и приводим его в корректное состояние.</a:t>
            </a:r>
          </a:p>
          <a:p>
            <a:endParaRPr lang="ru-RU" dirty="0"/>
          </a:p>
          <a:p>
            <a:r>
              <a:rPr lang="ru-RU" dirty="0"/>
              <a:t>Важно не забывать про проверку на </a:t>
            </a:r>
            <a:r>
              <a:rPr lang="ru-RU" dirty="0" err="1"/>
              <a:t>самоприсваивание</a:t>
            </a:r>
            <a:r>
              <a:rPr lang="ru-RU" dirty="0"/>
              <a:t>, хотя для </a:t>
            </a:r>
            <a:r>
              <a:rPr lang="ru-RU" dirty="0" err="1"/>
              <a:t>rvalue</a:t>
            </a:r>
            <a:r>
              <a:rPr lang="ru-RU" dirty="0"/>
              <a:t> это встречается реже.</a:t>
            </a:r>
          </a:p>
          <a:p>
            <a:endParaRPr lang="ru-RU" dirty="0"/>
          </a:p>
          <a:p>
            <a:r>
              <a:rPr lang="ru-RU" dirty="0"/>
              <a:t>Как и в случае с </a:t>
            </a:r>
            <a:r>
              <a:rPr lang="ru-RU" dirty="0" err="1"/>
              <a:t>move</a:t>
            </a:r>
            <a:r>
              <a:rPr lang="ru-RU" dirty="0"/>
              <a:t>-конструктором, после операции исходный объект остаётся валидным, но его содержимое может быть изменено.</a:t>
            </a:r>
          </a:p>
          <a:p>
            <a:endParaRPr lang="ru-RU" dirty="0"/>
          </a:p>
          <a:p>
            <a:r>
              <a:rPr lang="ru-RU" dirty="0"/>
              <a:t>Этот оператор позволяет эффективно переиспользовать уже созданные объекты без лишнего копирования.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914477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реализация </a:t>
            </a:r>
            <a:r>
              <a:rPr lang="ru-RU" b="1" dirty="0" err="1"/>
              <a:t>move</a:t>
            </a:r>
            <a:r>
              <a:rPr lang="ru-RU" b="1" dirty="0"/>
              <a:t>-конструктора и </a:t>
            </a:r>
            <a:r>
              <a:rPr lang="ru-RU" b="1" dirty="0" err="1"/>
              <a:t>move</a:t>
            </a:r>
            <a:r>
              <a:rPr lang="ru-RU" b="1" dirty="0"/>
              <a:t>-оператора присваивания</a:t>
            </a:r>
            <a:r>
              <a:rPr lang="ru-RU" dirty="0"/>
              <a:t> для класса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конструкторе мы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ru-RU" dirty="0"/>
              <a:t>, чтобы забрать ресурсы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ru-RU" dirty="0"/>
              <a:t> и сразу привести его в корректное «пустое» состояние.</a:t>
            </a:r>
          </a:p>
          <a:p>
            <a:endParaRPr lang="ru-RU" dirty="0"/>
          </a:p>
          <a:p>
            <a:r>
              <a:rPr lang="ru-RU" dirty="0"/>
              <a:t>В операторе присваивания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</a:t>
            </a:r>
            <a:r>
              <a:rPr lang="ru-RU" dirty="0"/>
              <a:t>: мы просто обмениваем состояние текущего объекта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удобный и безопасный способ — старые ресурсы автоматически окажутся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ru-RU" dirty="0"/>
              <a:t> и будут освобождены при его разрушении.</a:t>
            </a:r>
          </a:p>
          <a:p>
            <a:endParaRPr lang="ru-RU" dirty="0"/>
          </a:p>
          <a:p>
            <a:r>
              <a:rPr lang="ru-RU" dirty="0"/>
              <a:t>Таким образом, и конструктор, и оператор присваивания реализуют перемещение без копирования, но немного разными способами.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789220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Перемещение имеет смысл там, где оно даёт реальный выигрыш.</a:t>
            </a:r>
          </a:p>
          <a:p>
            <a:endParaRPr lang="ru-RU" dirty="0"/>
          </a:p>
          <a:p>
            <a:r>
              <a:rPr lang="ru-RU" dirty="0"/>
              <a:t>В первую очередь это классы, которые управляют ресурсами — там перемещение позволяет избежать дорогого копирования.</a:t>
            </a:r>
          </a:p>
          <a:p>
            <a:endParaRPr lang="ru-RU" dirty="0"/>
          </a:p>
          <a:p>
            <a:r>
              <a:rPr lang="ru-RU" dirty="0"/>
              <a:t>Также есть важный случай, когда копирование вообще не имеет смысла, но перемещение — имеет. Например, для уникальных ресурсов, где нельзя сделать копию, но можно передать владение.</a:t>
            </a:r>
          </a:p>
          <a:p>
            <a:endParaRPr lang="ru-RU" dirty="0"/>
          </a:p>
          <a:p>
            <a:r>
              <a:rPr lang="ru-RU" dirty="0"/>
              <a:t>Если класс состоит из простых типов или использует стандартные контейнеры, то чаще всего достаточно автоматически сгенерированных операций.</a:t>
            </a:r>
          </a:p>
          <a:p>
            <a:endParaRPr lang="ru-RU" dirty="0"/>
          </a:p>
          <a:p>
            <a:r>
              <a:rPr lang="ru-RU" dirty="0"/>
              <a:t>И наконец, если перемещение по стоимости не отличается от копирования, то реализовывать его отдельно обычно не имеет смысла.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569223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Правило трёх появилось ещё в старом C++ и говорит: если класс управляет ресурсами и вам пришлось написать один из специальных методов, то, скорее всего, нужно реализовать все три — деструктор, копирующий конструктор и оператор присваивания.</a:t>
            </a:r>
          </a:p>
          <a:p>
            <a:endParaRPr lang="ru-RU" dirty="0"/>
          </a:p>
          <a:p>
            <a:r>
              <a:rPr lang="ru-RU" dirty="0"/>
              <a:t>С появлением </a:t>
            </a:r>
            <a:r>
              <a:rPr lang="ru-RU" dirty="0" err="1"/>
              <a:t>move</a:t>
            </a:r>
            <a:r>
              <a:rPr lang="ru-RU" dirty="0"/>
              <a:t>-семантики это правило расширилось до правила пяти — добавились </a:t>
            </a:r>
            <a:r>
              <a:rPr lang="ru-RU" dirty="0" err="1"/>
              <a:t>move</a:t>
            </a:r>
            <a:r>
              <a:rPr lang="ru-RU" dirty="0"/>
              <a:t>-конструктор и </a:t>
            </a:r>
            <a:r>
              <a:rPr lang="ru-RU" dirty="0" err="1"/>
              <a:t>move</a:t>
            </a:r>
            <a:r>
              <a:rPr lang="ru-RU" dirty="0"/>
              <a:t>-оператор присваивания.</a:t>
            </a:r>
          </a:p>
          <a:p>
            <a:endParaRPr lang="ru-RU" dirty="0"/>
          </a:p>
          <a:p>
            <a:r>
              <a:rPr lang="ru-RU" dirty="0"/>
              <a:t>Но в современном C++ есть более важное правило — правило нуля.</a:t>
            </a:r>
          </a:p>
          <a:p>
            <a:endParaRPr lang="ru-RU" dirty="0"/>
          </a:p>
          <a:p>
            <a:r>
              <a:rPr lang="ru-RU" dirty="0"/>
              <a:t>Оно говорит: по возможности не управляйте ресурсами вручную, а используйте готовые классы стандартной библиотеки.</a:t>
            </a:r>
          </a:p>
          <a:p>
            <a:endParaRPr lang="ru-RU" dirty="0"/>
          </a:p>
          <a:p>
            <a:r>
              <a:rPr lang="ru-RU" dirty="0"/>
              <a:t>В этом случае компилятор сам сгенерирует все необходимые операции, и вам вообще не придётся их писать.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815802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Методы классов и структур неявно принимают указатель на объект класса, чтобы метод знал, у какого объекта он вызван. Но всегда ли это необходимо?</a:t>
            </a:r>
          </a:p>
          <a:p>
            <a:endParaRPr lang="en-US" dirty="0"/>
          </a:p>
          <a:p>
            <a:r>
              <a:rPr lang="ru-RU" dirty="0"/>
              <a:t>Предположим, что при разработке класса TV в нём был выделен метод </a:t>
            </a:r>
            <a:r>
              <a:rPr lang="ru-RU" dirty="0" err="1"/>
              <a:t>IsValidChannel</a:t>
            </a:r>
            <a:r>
              <a:rPr lang="ru-RU" dirty="0"/>
              <a:t>, который проверяет, что номер канала находится в диапазоне от 1 до 99 включительно.</a:t>
            </a:r>
          </a:p>
          <a:p>
            <a:endParaRPr lang="en-US" dirty="0"/>
          </a:p>
          <a:p>
            <a:r>
              <a:rPr lang="ru-RU" dirty="0"/>
              <a:t>Этот метод неявно получает указатель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, но не обращается ни к полям, ни к методам класса. С одной стороны, он напоминает свободную функцию. С другой —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IsValidChannel</a:t>
            </a:r>
            <a:r>
              <a:rPr lang="ru-RU" dirty="0"/>
              <a:t> имеет прямое отношение к телевизору и нигде, кроме этого класса, не используется. Поэтому кажется, что нет нужды выносить его в отдельную функцию.</a:t>
            </a:r>
          </a:p>
          <a:p>
            <a:endParaRPr lang="ru-RU" dirty="0"/>
          </a:p>
          <a:p>
            <a:r>
              <a:rPr lang="ru-RU" dirty="0"/>
              <a:t>Так как все телевизоры имеют один и тот же диапазон допустимых каналов, делаем вывод, что метод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IsValidChannel</a:t>
            </a:r>
            <a:r>
              <a:rPr lang="ru-RU" dirty="0"/>
              <a:t> относится не к какому-то отдельно взятому телевизору, а к телевизорам в общем.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847477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Статические методы — это методы, которые не привязаны к конкретному экземпляру класса.</a:t>
            </a:r>
          </a:p>
          <a:p>
            <a:endParaRPr lang="ru-RU" dirty="0"/>
          </a:p>
          <a:p>
            <a:r>
              <a:rPr lang="ru-RU" dirty="0"/>
              <a:t>Они принадлежат самому классу, а не объекту, поэтому вызываются через имя класса.</a:t>
            </a:r>
          </a:p>
          <a:p>
            <a:endParaRPr lang="ru-RU" dirty="0"/>
          </a:p>
          <a:p>
            <a:r>
              <a:rPr lang="ru-RU" dirty="0"/>
              <a:t>У таких методов нет указателя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, и они не могут напрямую обращаться к нестатическим полям и методам.</a:t>
            </a:r>
          </a:p>
          <a:p>
            <a:endParaRPr lang="ru-RU" dirty="0"/>
          </a:p>
          <a:p>
            <a:r>
              <a:rPr lang="ru-RU" dirty="0"/>
              <a:t>Статические методы удобно использовать для вспомогательных функций, которые логически связаны с классом, но не требуют конкретного объекта.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805096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Статическое поле — это поле, которое не принадлежит конкретному объекту, а общее для всего класса.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Независимо от того, сколько экземпляров создано, такое поле существует в единственном экземпляре.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Оно создаётся один раз и живёт на протяжении всей программы.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Обращаться к нему можно через имя класса, без создания объекта, поэтому такие поля удобно использовать в статических методах.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Типичный сценарий — хранение общих данных или счётчиков для всех объектов класса.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68713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 статический метод, который проверяет, допустима ли скорость для заданной передачи.</a:t>
            </a:r>
          </a:p>
          <a:p>
            <a:r>
              <a:rPr lang="ru-RU" dirty="0"/>
              <a:t>Обратите внимание, что метод не использует состояние конкретного объекта — ему не нужны поля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m_speed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m_gear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m_engineIsOn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Он работает только со своими параметрами, поэтому логично сделать его статическим.</a:t>
            </a:r>
          </a:p>
          <a:p>
            <a:r>
              <a:rPr lang="ru-RU" dirty="0"/>
              <a:t>Здесь приведён наивный вариант реализации через цепочку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dirty="0"/>
              <a:t>, но такой код плохо масштабируется и тяжело поддерживается.</a:t>
            </a:r>
          </a:p>
          <a:p>
            <a:r>
              <a:rPr lang="ru-RU" dirty="0"/>
              <a:t>Если, например, изменится набор передач или диапазоны скоростей, придётся переписывать множество условий.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8918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Более удачный подход — вместо набора условий хранить диапазоны скоростей в виде таблицы.</a:t>
            </a:r>
          </a:p>
          <a:p>
            <a:r>
              <a:rPr lang="ru-RU" dirty="0"/>
              <a:t>Мы вводим структуру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GearSpeedRange</a:t>
            </a:r>
            <a:r>
              <a:rPr lang="ru-RU" dirty="0"/>
              <a:t> и можем собрать вектор таких значений.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здесь возникают две проблемы.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Во-первых, статический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IsSpeedValidForGear</a:t>
            </a:r>
            <a:r>
              <a:rPr lang="ru-RU" dirty="0"/>
              <a:t> не может обратиться к полю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m_speedTable</a:t>
            </a:r>
            <a:r>
              <a:rPr lang="ru-RU" dirty="0"/>
              <a:t>, потому что у него нет объекта и нет указателя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Во-вторых, эта таблица одинакова для всех автомобилей, но в таком виде каждый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</a:t>
            </a:r>
            <a:r>
              <a:rPr lang="ru-RU" dirty="0"/>
              <a:t> будет хранить свою копию, что избыточно.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подводит нас к идее, что такие данные стоит сделать </a:t>
            </a:r>
            <a:r>
              <a:rPr lang="ru-RU" b="1" dirty="0"/>
              <a:t>общими для всего класса</a:t>
            </a:r>
            <a:r>
              <a:rPr lang="ru-RU" dirty="0"/>
              <a:t>, а не хранить в каждом экземпляре.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88301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Решение — сделать таблицу диапазонов скоростей </a:t>
            </a:r>
            <a:r>
              <a:rPr lang="ru-RU" b="1" dirty="0"/>
              <a:t>статическим полем класса</a:t>
            </a:r>
            <a:r>
              <a:rPr lang="ru-RU" dirty="0"/>
              <a:t>.</a:t>
            </a:r>
          </a:p>
          <a:p>
            <a:r>
              <a:rPr lang="ru-RU" dirty="0"/>
              <a:t>Теперь она существует в единственном экземпляре и разделяется всеми объектами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</a:t>
            </a:r>
            <a:r>
              <a:rPr lang="ru-RU" dirty="0"/>
              <a:t>.</a:t>
            </a:r>
          </a:p>
          <a:p>
            <a:r>
              <a:rPr lang="ru-RU" dirty="0"/>
              <a:t>Мы также помечаем её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, потому что это неизменяемые данные.</a:t>
            </a:r>
          </a:p>
          <a:p>
            <a:r>
              <a:rPr lang="ru-RU" dirty="0"/>
              <a:t>Благодаря этому: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мы не дублируем данные в каждом объекте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можем использовать таблицу внутри статического метода </a:t>
            </a:r>
          </a:p>
          <a:p>
            <a:r>
              <a:rPr lang="ru-RU" dirty="0"/>
              <a:t>Таким образом, статические поля позволяют хранить </a:t>
            </a:r>
            <a:r>
              <a:rPr lang="ru-RU" b="1" dirty="0"/>
              <a:t>общие данные класса</a:t>
            </a:r>
            <a:r>
              <a:rPr lang="ru-RU" dirty="0"/>
              <a:t>, не привязанные к конкретному экземпляру.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689083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объявления статического поля внутри класса его нужно </a:t>
            </a:r>
            <a:r>
              <a:rPr lang="ru-RU" b="1" dirty="0"/>
              <a:t>определить в .</a:t>
            </a:r>
            <a:r>
              <a:rPr lang="ru-RU" b="1" dirty="0" err="1"/>
              <a:t>cpp</a:t>
            </a:r>
            <a:r>
              <a:rPr lang="ru-RU" b="1" dirty="0"/>
              <a:t>-файле</a:t>
            </a:r>
            <a:r>
              <a:rPr lang="ru-RU" dirty="0"/>
              <a:t>.</a:t>
            </a:r>
          </a:p>
          <a:p>
            <a:r>
              <a:rPr lang="ru-RU" dirty="0"/>
              <a:t>При этом мы указываем полное имя поля через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s_speedTable</a:t>
            </a:r>
            <a:r>
              <a:rPr lang="ru-RU" dirty="0"/>
              <a:t>.</a:t>
            </a:r>
          </a:p>
          <a:p>
            <a:r>
              <a:rPr lang="ru-RU" dirty="0"/>
              <a:t>Теперь таблица хранится в одном месте и инициализируется один раз.</a:t>
            </a:r>
          </a:p>
          <a:p>
            <a:r>
              <a:rPr lang="ru-RU" dirty="0"/>
              <a:t>Благодаря этому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IsSpeedValidForGear</a:t>
            </a:r>
            <a:r>
              <a:rPr lang="ru-RU" dirty="0"/>
              <a:t> стал гораздо проще: вместо цепочки условий мы просто ищем нужный диапазон в таблице.</a:t>
            </a:r>
          </a:p>
          <a:p>
            <a:r>
              <a:rPr lang="ru-RU" dirty="0"/>
              <a:t>Такой код легче читать, поддерживать и изменять — например, если добавятся новые передачи или изменятся диапазоны скоростей.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892540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Начиная с C++17, статические поля можно </a:t>
            </a:r>
            <a:r>
              <a:rPr lang="ru-RU" b="1" dirty="0"/>
              <a:t>определять прямо внутри класса</a:t>
            </a:r>
            <a:r>
              <a:rPr lang="ru-RU" dirty="0"/>
              <a:t>, в заголовочном файле.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этого используется 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</a:t>
            </a:r>
            <a:r>
              <a:rPr lang="ru-RU" dirty="0"/>
              <a:t>.</a:t>
            </a:r>
          </a:p>
          <a:p>
            <a:r>
              <a:rPr lang="ru-RU" dirty="0"/>
              <a:t>Это избавляет от необходимости писать отдельное определение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cpp</a:t>
            </a:r>
            <a:r>
              <a:rPr lang="ru-RU" dirty="0"/>
              <a:t>-файле.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 сути,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</a:t>
            </a:r>
            <a:r>
              <a:rPr lang="ru-RU" dirty="0"/>
              <a:t> говорит компилятору, что это поле может быть определено в нескольких единицах трансляции, но при этом будет существовать в единственном экземпляре.</a:t>
            </a:r>
          </a:p>
          <a:p>
            <a:endParaRPr lang="en-US" dirty="0"/>
          </a:p>
          <a:p>
            <a:r>
              <a:rPr lang="ru-RU" dirty="0"/>
              <a:t>Такой подход делает код компактнее и удобнее, особенно для константных таблиц и других неизменяемых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766439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Статические поля используются не только в наших классах, но и в стандартной библиотеке.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у класса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есть статическое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npos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find</a:t>
            </a:r>
            <a:r>
              <a:rPr lang="ru-RU" dirty="0"/>
              <a:t> возвращает позицию найденной подстроки, а если подстрока не найдена — возвращает именно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npos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специальное значение, общее для всех строк, и оно удобно тем, что его можно использовать как признак ошибки или «не найдено».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статические поля часто применяются для хранения </a:t>
            </a:r>
            <a:r>
              <a:rPr lang="ru-RU" b="1" dirty="0"/>
              <a:t>общих констант</a:t>
            </a:r>
            <a:r>
              <a:rPr lang="ru-RU" dirty="0"/>
              <a:t>, связанных с классом.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74889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Статические методы не привязаны к конкретному объекту и не имеют указателя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, поэтому работают только с параметрами и статическими данными класса.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Статические поля, в свою очередь, являются общими для всех объектов класса и существуют в единственном экземпляре.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Чаще всего их используют для хранения констант или общих данных, которые не зависят от конкретного объекта.</a:t>
            </a:r>
          </a:p>
          <a:p>
            <a:r>
              <a:rPr lang="ru-RU" dirty="0"/>
              <a:t>В целом, статические члены помогают отделить логику, относящуюся к классу в целом, от состояния отдельных экземпляров.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66AAE-56D7-4996-AF0D-BCEC07780D2B}" type="slidenum">
              <a:rPr lang="ru-RU" smtClean="0"/>
              <a:pPr/>
              <a:t>165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63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4A00E6-4AF6-4649-AA40-149A527CF7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49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4A00E6-4AF6-4649-AA40-149A527CF7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27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4A00E6-4AF6-4649-AA40-149A527CF7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824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4A00E6-4AF6-4649-AA40-149A527CF7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32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4A00E6-4AF6-4649-AA40-149A527CF7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70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4A00E6-4AF6-4649-AA40-149A527CF7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89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4A00E6-4AF6-4649-AA40-149A527CF7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51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4A00E6-4AF6-4649-AA40-149A527CF7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235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4A00E6-4AF6-4649-AA40-149A527CF7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4A00E6-4AF6-4649-AA40-149A527CF7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229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4A00E6-4AF6-4649-AA40-149A527CF7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92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D4A00E6-4AF6-4649-AA40-149A527CF7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825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andbox.org/permlink/bzbqAdTJspyA2WZA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BA36QTz5AhEHY2XN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1jrbrx0sZ2Onh9Wi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vYlRGmbkmDIHo7sK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9NCf4pztCsiSZpc8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isocpp.github.io/CppCoreGuidelines/CppCoreGuidelines#c46-by-default-declare-single-argument-constructors-explicit" TargetMode="Externa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rEbqTh7T6" TargetMode="External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utility/exchange" TargetMode="External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utility/exchange" TargetMode="External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box.org/permlink/0c2uBSY425nzNgiO" TargetMode="External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E361-10FB-CD65-2495-868E86781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ООП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834B8-85FE-5B5D-DCCD-E2934954BD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73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70C2D-5882-4811-A611-1DAB7A27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Парадигмы программирования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1A5CAF-0780-4629-89FE-8E26D316D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Парадигма программирования</a:t>
            </a:r>
            <a:r>
              <a:rPr lang="ru-RU" dirty="0"/>
              <a:t> — это общий подход к написанию программ.</a:t>
            </a:r>
          </a:p>
          <a:p>
            <a:pPr lvl="1"/>
            <a:r>
              <a:rPr lang="ru-RU" dirty="0"/>
              <a:t>Описывает </a:t>
            </a:r>
            <a:r>
              <a:rPr lang="ru-RU" b="1" dirty="0"/>
              <a:t>как программист мыслит о решении задачи</a:t>
            </a:r>
            <a:endParaRPr lang="ru-RU" dirty="0"/>
          </a:p>
          <a:p>
            <a:pPr lvl="1"/>
            <a:r>
              <a:rPr lang="ru-RU" dirty="0"/>
              <a:t>Определяет </a:t>
            </a:r>
            <a:r>
              <a:rPr lang="ru-RU" b="1" dirty="0"/>
              <a:t>стиль организации кода</a:t>
            </a:r>
            <a:endParaRPr lang="ru-RU" dirty="0"/>
          </a:p>
          <a:p>
            <a:pPr lvl="1"/>
            <a:r>
              <a:rPr lang="ru-RU" dirty="0"/>
              <a:t>Не привязана к конкретному языку программирования</a:t>
            </a:r>
          </a:p>
          <a:p>
            <a:pPr lvl="1"/>
            <a:r>
              <a:rPr lang="ru-RU" dirty="0"/>
              <a:t>Один язык может поддерживать </a:t>
            </a:r>
            <a:r>
              <a:rPr lang="ru-RU" b="1" dirty="0"/>
              <a:t>несколько парадигм</a:t>
            </a:r>
            <a:endParaRPr lang="ru-RU" dirty="0"/>
          </a:p>
          <a:p>
            <a:r>
              <a:rPr lang="ru-RU" b="1" dirty="0"/>
              <a:t>Примеры парадигм:</a:t>
            </a:r>
            <a:endParaRPr lang="ru-RU" dirty="0"/>
          </a:p>
          <a:p>
            <a:pPr lvl="1"/>
            <a:r>
              <a:rPr lang="ru-RU" dirty="0"/>
              <a:t>процедурная</a:t>
            </a:r>
          </a:p>
          <a:p>
            <a:pPr lvl="1"/>
            <a:r>
              <a:rPr lang="ru-RU" dirty="0"/>
              <a:t>объектно-ориентированная</a:t>
            </a:r>
          </a:p>
          <a:p>
            <a:pPr lvl="1"/>
            <a:r>
              <a:rPr lang="ru-RU" dirty="0"/>
              <a:t>функциональная</a:t>
            </a:r>
          </a:p>
          <a:p>
            <a:pPr lvl="1"/>
            <a:r>
              <a:rPr lang="ru-RU" dirty="0"/>
              <a:t>декларативная</a:t>
            </a:r>
          </a:p>
        </p:txBody>
      </p:sp>
    </p:spTree>
    <p:extLst>
      <p:ext uri="{BB962C8B-B14F-4D97-AF65-F5344CB8AC3E}">
        <p14:creationId xmlns:p14="http://schemas.microsoft.com/office/powerpoint/2010/main" val="2129710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FB7B4-1973-4E95-8330-BC5A77A5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Структурное программирование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2E7F40-73D0-44E6-AB4A-956875EC9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Программа строится из понятных управляющих конструкций, без произвольных переходов.</a:t>
            </a:r>
          </a:p>
          <a:p>
            <a:r>
              <a:rPr lang="ru-RU" dirty="0"/>
              <a:t>Основные принципы:</a:t>
            </a:r>
          </a:p>
          <a:p>
            <a:pPr lvl="1"/>
            <a:r>
              <a:rPr lang="ru-RU" dirty="0"/>
              <a:t>Последовательность — инструкции выполняются одна за другой</a:t>
            </a:r>
          </a:p>
          <a:p>
            <a:pPr lvl="1"/>
            <a:r>
              <a:rPr lang="ru-RU" dirty="0"/>
              <a:t>Ветвление — выбор действия в зависимости от условия (</a:t>
            </a:r>
            <a:r>
              <a:rPr lang="ru-RU" dirty="0" err="1"/>
              <a:t>if</a:t>
            </a:r>
            <a:r>
              <a:rPr lang="ru-RU" dirty="0"/>
              <a:t> / </a:t>
            </a:r>
            <a:r>
              <a:rPr lang="ru-RU" dirty="0" err="1"/>
              <a:t>else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Циклы — повторение действий (</a:t>
            </a:r>
            <a:r>
              <a:rPr lang="ru-RU" dirty="0" err="1"/>
              <a:t>while</a:t>
            </a:r>
            <a:r>
              <a:rPr lang="ru-RU" dirty="0"/>
              <a:t>, </a:t>
            </a:r>
            <a:r>
              <a:rPr lang="ru-RU" dirty="0" err="1"/>
              <a:t>for</a:t>
            </a:r>
            <a:r>
              <a:rPr lang="ru-RU" dirty="0"/>
              <a:t>, </a:t>
            </a:r>
            <a:r>
              <a:rPr lang="ru-RU" dirty="0" err="1"/>
              <a:t>do-while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Отказ от </a:t>
            </a:r>
            <a:r>
              <a:rPr lang="ru-RU" dirty="0" err="1"/>
              <a:t>goto</a:t>
            </a:r>
            <a:r>
              <a:rPr lang="ru-RU" dirty="0"/>
              <a:t> — управление программой должно быть структурированным</a:t>
            </a:r>
          </a:p>
          <a:p>
            <a:r>
              <a:rPr lang="ru-RU" dirty="0"/>
              <a:t>Цель: сделать программы понятными, предсказуемыми и удобными для сопровождения</a:t>
            </a:r>
          </a:p>
        </p:txBody>
      </p:sp>
    </p:spTree>
    <p:extLst>
      <p:ext uri="{BB962C8B-B14F-4D97-AF65-F5344CB8AC3E}">
        <p14:creationId xmlns:p14="http://schemas.microsoft.com/office/powerpoint/2010/main" val="322433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03EF2-7873-4A77-AA9C-0EA67501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Процедурное программирование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201963-0419-4948-9E83-42788C1DC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Программа представляется как набор процедур и функций, которые выполняют последовательности действий.</a:t>
            </a:r>
          </a:p>
          <a:p>
            <a:r>
              <a:rPr lang="ru-RU" dirty="0"/>
              <a:t>Основные особенности:</a:t>
            </a:r>
          </a:p>
          <a:p>
            <a:pPr lvl="1"/>
            <a:r>
              <a:rPr lang="ru-RU" dirty="0"/>
              <a:t>Развивает идеи структурного программирования</a:t>
            </a:r>
          </a:p>
          <a:p>
            <a:pPr lvl="1"/>
            <a:r>
              <a:rPr lang="ru-RU" dirty="0"/>
              <a:t>Логика программы разбивается на подпрограммы</a:t>
            </a:r>
          </a:p>
          <a:p>
            <a:pPr lvl="1"/>
            <a:r>
              <a:rPr lang="ru-RU" dirty="0"/>
              <a:t>Используются процедуры и функции</a:t>
            </a:r>
          </a:p>
          <a:p>
            <a:pPr lvl="1"/>
            <a:r>
              <a:rPr lang="ru-RU" dirty="0"/>
              <a:t>Каждая подпрограмма решает отдельную подзадачу</a:t>
            </a:r>
          </a:p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Повторное использование кода</a:t>
            </a:r>
          </a:p>
          <a:p>
            <a:pPr lvl="1"/>
            <a:r>
              <a:rPr lang="ru-RU" dirty="0"/>
              <a:t>Улучшение читаемости за счёт разбиения программы на небольшие части</a:t>
            </a:r>
          </a:p>
          <a:p>
            <a:pPr lvl="1"/>
            <a:r>
              <a:rPr lang="ru-RU" dirty="0"/>
              <a:t>Упрощение разработки и сопровождения</a:t>
            </a:r>
          </a:p>
        </p:txBody>
      </p:sp>
    </p:spTree>
    <p:extLst>
      <p:ext uri="{BB962C8B-B14F-4D97-AF65-F5344CB8AC3E}">
        <p14:creationId xmlns:p14="http://schemas.microsoft.com/office/powerpoint/2010/main" val="2045479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Объектно-ориентированное программирование (ООП)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Программа моделирует предметную область как набор взаимодействующих объектов.</a:t>
            </a:r>
          </a:p>
          <a:p>
            <a:r>
              <a:rPr lang="ru-RU" dirty="0"/>
              <a:t>Основные характеристики:</a:t>
            </a:r>
          </a:p>
          <a:p>
            <a:pPr lvl="1"/>
            <a:r>
              <a:rPr lang="ru-RU" dirty="0"/>
              <a:t>Программа состоит из объектов, которые взаимодействуют друг с другом</a:t>
            </a:r>
          </a:p>
          <a:p>
            <a:pPr lvl="1"/>
            <a:r>
              <a:rPr lang="ru-RU" dirty="0"/>
              <a:t>Каждый объект объединяет данные и поведение</a:t>
            </a:r>
          </a:p>
          <a:p>
            <a:pPr lvl="1"/>
            <a:r>
              <a:rPr lang="ru-RU" dirty="0"/>
              <a:t>Объекты создаются на основе классов</a:t>
            </a:r>
          </a:p>
          <a:p>
            <a:pPr lvl="1"/>
            <a:r>
              <a:rPr lang="ru-RU" dirty="0"/>
              <a:t>Подход позволяет моделировать реальные сущности и процессы</a:t>
            </a:r>
          </a:p>
          <a:p>
            <a:r>
              <a:rPr lang="ru-RU" dirty="0"/>
              <a:t>Примеры объектов: пользователь, заказ, автомобиль, банковский счёт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EE92-FEC7-43B9-B3F0-AA7921859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 ООП</a:t>
            </a:r>
            <a:br>
              <a:rPr lang="ru-RU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C1FD-796F-47A7-843B-E1E1A08BD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Абстракция данных</a:t>
            </a:r>
          </a:p>
          <a:p>
            <a:r>
              <a:rPr lang="ru-RU" dirty="0"/>
              <a:t>Инкапсуляция</a:t>
            </a:r>
          </a:p>
          <a:p>
            <a:r>
              <a:rPr lang="ru-RU" dirty="0"/>
              <a:t>Наследование</a:t>
            </a:r>
          </a:p>
          <a:p>
            <a:r>
              <a:rPr lang="ru-RU" dirty="0"/>
              <a:t>Полиморфизм</a:t>
            </a:r>
          </a:p>
          <a:p>
            <a:r>
              <a:rPr lang="ru-RU" dirty="0"/>
              <a:t>Класс</a:t>
            </a:r>
          </a:p>
          <a:p>
            <a:r>
              <a:rPr lang="ru-RU" dirty="0"/>
              <a:t>Объекты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652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A09EF-A0FF-4AEF-8918-622C13E38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Абстракция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28FEC-646A-4BCF-B6E9-CBFB6644D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Абстракция — это выделение только существенных характеристик объекта, необходимых для решения задачи.</a:t>
            </a:r>
          </a:p>
          <a:p>
            <a:r>
              <a:rPr lang="ru-RU" dirty="0"/>
              <a:t>Основные идеи:</a:t>
            </a:r>
          </a:p>
          <a:p>
            <a:pPr lvl="1"/>
            <a:r>
              <a:rPr lang="ru-RU" dirty="0"/>
              <a:t>Описывает что делает объект, а не как он реализован</a:t>
            </a:r>
          </a:p>
          <a:p>
            <a:pPr lvl="1"/>
            <a:r>
              <a:rPr lang="ru-RU" dirty="0"/>
              <a:t>Объединяет тип данных и операции над ним</a:t>
            </a:r>
          </a:p>
          <a:p>
            <a:pPr lvl="1"/>
            <a:r>
              <a:rPr lang="ru-RU" dirty="0"/>
              <a:t>Пользователь работает с объектом через методы, не зная деталей реализации</a:t>
            </a:r>
          </a:p>
          <a:p>
            <a:pPr lvl="1"/>
            <a:r>
              <a:rPr lang="ru-RU" dirty="0"/>
              <a:t>Позволяет скрыть сложность реализации</a:t>
            </a:r>
          </a:p>
          <a:p>
            <a:r>
              <a:rPr lang="ru-RU" dirty="0"/>
              <a:t>Примеры абстракций: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string</a:t>
            </a:r>
            <a:r>
              <a:rPr lang="ru-RU" dirty="0"/>
              <a:t> — тип данных строка и операции работы со строками</a:t>
            </a:r>
          </a:p>
          <a:p>
            <a:pPr lvl="1"/>
            <a:r>
              <a:rPr lang="ru-RU" dirty="0" err="1"/>
              <a:t>Rational</a:t>
            </a:r>
            <a:r>
              <a:rPr lang="ru-RU" dirty="0"/>
              <a:t> — тип данных дробь и операции над дробями</a:t>
            </a:r>
          </a:p>
          <a:p>
            <a:pPr lvl="1"/>
            <a:r>
              <a:rPr lang="ru-RU" dirty="0" err="1"/>
              <a:t>Complex</a:t>
            </a:r>
            <a:r>
              <a:rPr lang="ru-RU" dirty="0"/>
              <a:t> — тип данных комплексное число и операции над ним</a:t>
            </a:r>
          </a:p>
        </p:txBody>
      </p:sp>
    </p:spTree>
    <p:extLst>
      <p:ext uri="{BB962C8B-B14F-4D97-AF65-F5344CB8AC3E}">
        <p14:creationId xmlns:p14="http://schemas.microsoft.com/office/powerpoint/2010/main" val="331192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Инкапсуляция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Инкапсуляция — это скрытие внутреннего устройства объекта и управление доступом к его данным.</a:t>
            </a:r>
          </a:p>
          <a:p>
            <a:r>
              <a:rPr lang="ru-RU" dirty="0"/>
              <a:t>Основные идеи:</a:t>
            </a:r>
          </a:p>
          <a:p>
            <a:pPr lvl="1"/>
            <a:r>
              <a:rPr lang="ru-RU" dirty="0"/>
              <a:t>Класс можно рассматривать как «чёрный ящик»</a:t>
            </a:r>
          </a:p>
          <a:p>
            <a:pPr lvl="1"/>
            <a:r>
              <a:rPr lang="ru-RU" dirty="0"/>
              <a:t>Класс состоит из двух частей:</a:t>
            </a:r>
          </a:p>
          <a:p>
            <a:pPr lvl="2"/>
            <a:r>
              <a:rPr lang="ru-RU" dirty="0"/>
              <a:t>интерфейс — доступные операции</a:t>
            </a:r>
          </a:p>
          <a:p>
            <a:pPr lvl="2"/>
            <a:r>
              <a:rPr lang="ru-RU" dirty="0"/>
              <a:t>реализация — внутренние данные и логика</a:t>
            </a:r>
          </a:p>
          <a:p>
            <a:pPr lvl="1"/>
            <a:r>
              <a:rPr lang="ru-RU" dirty="0"/>
              <a:t>Пользователи класса взаимодействуют только через интерфейс</a:t>
            </a:r>
          </a:p>
          <a:p>
            <a:pPr lvl="1"/>
            <a:r>
              <a:rPr lang="ru-RU" dirty="0"/>
              <a:t>Реализация класса обеспечивает сохранение инвариантов объекта</a:t>
            </a:r>
          </a:p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уменьшает зависимость между классами</a:t>
            </a:r>
          </a:p>
          <a:p>
            <a:pPr lvl="1"/>
            <a:r>
              <a:rPr lang="ru-RU" dirty="0"/>
              <a:t>упрощает изменение и развитие кода</a:t>
            </a:r>
          </a:p>
          <a:p>
            <a:pPr lvl="1"/>
            <a:r>
              <a:rPr lang="ru-RU" dirty="0"/>
              <a:t>облегчает тестирование и сопровождение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70656C-36CD-C93B-8E1E-D466CB2B9F09}"/>
              </a:ext>
            </a:extLst>
          </p:cNvPr>
          <p:cNvSpPr txBox="1"/>
          <p:nvPr/>
        </p:nvSpPr>
        <p:spPr>
          <a:xfrm>
            <a:off x="0" y="-1"/>
            <a:ext cx="12192000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Car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TurnEngineOn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m_isTurnedOn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IsEngineTurnedOn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m_isTurnedOn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GetSpeed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TurnEngineOff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m_isTurnedOn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m_isTurnedOn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m_isTurnedOn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88540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Наследование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Наследование — это механизм, позволяющий создавать новый класс на основе существующего, наследуя его данные и поведение.</a:t>
            </a:r>
          </a:p>
          <a:p>
            <a:r>
              <a:rPr lang="ru-RU" dirty="0"/>
              <a:t>Основные идеи:</a:t>
            </a:r>
          </a:p>
          <a:p>
            <a:pPr lvl="1"/>
            <a:r>
              <a:rPr lang="ru-RU" dirty="0"/>
              <a:t>Новый класс (</a:t>
            </a:r>
            <a:r>
              <a:rPr lang="ru-RU" b="1" dirty="0"/>
              <a:t>производный</a:t>
            </a:r>
            <a:r>
              <a:rPr lang="ru-RU" dirty="0"/>
              <a:t>) создаётся на основе </a:t>
            </a:r>
            <a:r>
              <a:rPr lang="ru-RU" b="1" dirty="0"/>
              <a:t>базового</a:t>
            </a:r>
            <a:r>
              <a:rPr lang="ru-RU" dirty="0"/>
              <a:t> класса</a:t>
            </a:r>
          </a:p>
          <a:p>
            <a:pPr lvl="1"/>
            <a:r>
              <a:rPr lang="ru-RU" dirty="0"/>
              <a:t>Производный класс наследует поля и методы базового класса</a:t>
            </a:r>
          </a:p>
          <a:p>
            <a:pPr lvl="1"/>
            <a:r>
              <a:rPr lang="ru-RU" dirty="0"/>
              <a:t>Позволяет расширять или изменять поведение существующего класса</a:t>
            </a:r>
          </a:p>
          <a:p>
            <a:pPr lvl="1"/>
            <a:r>
              <a:rPr lang="ru-RU" dirty="0"/>
              <a:t>Используется для построения </a:t>
            </a:r>
            <a:r>
              <a:rPr lang="ru-RU" b="1" dirty="0"/>
              <a:t>иерархий</a:t>
            </a:r>
            <a:r>
              <a:rPr lang="ru-RU" dirty="0"/>
              <a:t> классов</a:t>
            </a:r>
          </a:p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Повторное использование кода</a:t>
            </a:r>
          </a:p>
          <a:p>
            <a:pPr lvl="1"/>
            <a:r>
              <a:rPr lang="ru-RU" dirty="0"/>
              <a:t>Упрощение разработки</a:t>
            </a:r>
          </a:p>
          <a:p>
            <a:pPr lvl="1"/>
            <a:r>
              <a:rPr lang="ru-RU" dirty="0"/>
              <a:t>Более естественное моделирование предметной области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47701F-D4C7-ADB5-511B-2BA57ACE8DA9}"/>
              </a:ext>
            </a:extLst>
          </p:cNvPr>
          <p:cNvSpPr txBox="1"/>
          <p:nvPr/>
        </p:nvSpPr>
        <p:spPr>
          <a:xfrm>
            <a:off x="0" y="0"/>
            <a:ext cx="12288688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GameObject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dx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Rocket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GameObject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SetSpeed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timeDelta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m_speed.dx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timeDelta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m_speed.dy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timeDelta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63DD41-7165-C370-51DB-19B8116D389F}"/>
              </a:ext>
            </a:extLst>
          </p:cNvPr>
          <p:cNvSpPr txBox="1"/>
          <p:nvPr/>
        </p:nvSpPr>
        <p:spPr>
          <a:xfrm>
            <a:off x="6096000" y="4816308"/>
            <a:ext cx="60654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({.dx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089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Полиморфизм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Полиморфизм — это возможность использовать разные объекты через общий интерфейс.</a:t>
            </a:r>
          </a:p>
          <a:p>
            <a:r>
              <a:rPr lang="ru-RU" dirty="0"/>
              <a:t>Основные идеи:</a:t>
            </a:r>
          </a:p>
          <a:p>
            <a:pPr lvl="1"/>
            <a:r>
              <a:rPr lang="ru-RU" dirty="0"/>
              <a:t>Объекты разных классов могут реализовывать одни и те же операции</a:t>
            </a:r>
          </a:p>
          <a:p>
            <a:pPr lvl="1"/>
            <a:r>
              <a:rPr lang="ru-RU" dirty="0"/>
              <a:t>Работа с объектами происходит через общий базовый тип</a:t>
            </a:r>
          </a:p>
          <a:p>
            <a:pPr lvl="1"/>
            <a:r>
              <a:rPr lang="ru-RU" dirty="0"/>
              <a:t>Реализация метода может отличаться в разных классах</a:t>
            </a:r>
          </a:p>
          <a:p>
            <a:pPr lvl="1"/>
            <a:r>
              <a:rPr lang="ru-RU" dirty="0"/>
              <a:t>Конкретное поведение определяется во время выполнения программы</a:t>
            </a:r>
          </a:p>
          <a:p>
            <a:r>
              <a:rPr lang="ru-RU" dirty="0"/>
              <a:t>Позволяет обрабатывать разные объекты единообразно, не зная их точного типа.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963C1E-6DBE-1C7F-A3F6-29EEABF5E043}"/>
              </a:ext>
            </a:extLst>
          </p:cNvPr>
          <p:cNvSpPr txBox="1"/>
          <p:nvPr/>
        </p:nvSpPr>
        <p:spPr>
          <a:xfrm>
            <a:off x="0" y="0"/>
            <a:ext cx="12192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… 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GameObject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timeDelta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…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timeDelta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timeDelta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timeDelta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50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EC8856-5343-3ECF-2677-4139BB84A5F9}"/>
              </a:ext>
            </a:extLst>
          </p:cNvPr>
          <p:cNvSpPr txBox="1"/>
          <p:nvPr/>
        </p:nvSpPr>
        <p:spPr>
          <a:xfrm>
            <a:off x="0" y="1"/>
            <a:ext cx="11352584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GameObject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timeDelta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timeDelta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GravityConstant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9.8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GameObject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timeDelta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m_speed.dy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timeDelta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GravityConstant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GetPosition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timeDelta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819CB-9253-3F84-0313-D743F808630D}"/>
              </a:ext>
            </a:extLst>
          </p:cNvPr>
          <p:cNvSpPr txBox="1"/>
          <p:nvPr/>
        </p:nvSpPr>
        <p:spPr>
          <a:xfrm>
            <a:off x="6528048" y="2887682"/>
            <a:ext cx="56639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UpdateGameObject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GameObject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gameObj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gameObj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.dx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SetSpeed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.dx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UpdateGameObject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UpdateGameObject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291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076958-B4E4-4CE0-A59C-C9A0215D091E}"/>
              </a:ext>
            </a:extLst>
          </p:cNvPr>
          <p:cNvSpPr/>
          <p:nvPr/>
        </p:nvSpPr>
        <p:spPr>
          <a:xfrm>
            <a:off x="0" y="0"/>
            <a:ext cx="6096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cassert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sstream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fstream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ReadPoint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istream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input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input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&gt;&gt;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&gt;&gt;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WritePoint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output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output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A0ABBF-DC49-4615-A8DE-DD1A6C299C40}"/>
              </a:ext>
            </a:extLst>
          </p:cNvPr>
          <p:cNvSpPr/>
          <p:nvPr/>
        </p:nvSpPr>
        <p:spPr>
          <a:xfrm>
            <a:off x="6456040" y="276999"/>
            <a:ext cx="5472608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istringstream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"3 5 8 10"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ReadPoint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ReadPoint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ofstream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"points.txt"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WritePoint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WritePoint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}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ifstream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inputFile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"points.txt"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p3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ReadPoint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inputFile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p4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ReadPoint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inputFile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p3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p3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p4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p4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p5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ReadPoint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WritePoint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p5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503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0" y="-3990"/>
            <a:ext cx="9252520" cy="6565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Shape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~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Shape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SetColor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GetArea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Circle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Shape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GetArea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M_PI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m_radius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m_radius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GetRadius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m_radius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SetRadius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m_radius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m_radius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1.0;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PrintShapeInfo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(const Shape&amp; s) {</a:t>
            </a:r>
          </a:p>
          <a:p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&lt;&lt; "Color:" &lt;&lt; 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s.GetColor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&lt;&lt; "\n";</a:t>
            </a:r>
          </a:p>
          <a:p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&lt;&lt; "Area:" &lt;&lt; 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s.GetArea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() &lt;&lt; "\n";</a:t>
            </a:r>
          </a:p>
          <a:p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BA02-ECA5-44AF-9AD6-0AAD41ED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Анатомия класса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0DCA9-CD51-4D27-90EB-9588FB185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99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Классы и объекты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Класс — это пользовательский тип данных, который объединяет данные (поля) и операции над ними (методы).</a:t>
            </a:r>
          </a:p>
          <a:p>
            <a:r>
              <a:rPr lang="ru-RU" dirty="0"/>
              <a:t>Класс описывает:</a:t>
            </a:r>
          </a:p>
          <a:p>
            <a:pPr lvl="1"/>
            <a:r>
              <a:rPr lang="ru-RU" dirty="0"/>
              <a:t>структуру данных объекта</a:t>
            </a:r>
          </a:p>
          <a:p>
            <a:pPr lvl="1"/>
            <a:r>
              <a:rPr lang="ru-RU" dirty="0"/>
              <a:t>доступные операции</a:t>
            </a:r>
          </a:p>
          <a:p>
            <a:pPr lvl="1"/>
            <a:r>
              <a:rPr lang="ru-RU" dirty="0"/>
              <a:t>поведение объекта</a:t>
            </a:r>
          </a:p>
          <a:p>
            <a:r>
              <a:rPr lang="ru-RU" dirty="0"/>
              <a:t>Объект — это экземпляр класса, конкретная реализация этого типа.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/>
              <a:t>Собака — класс</a:t>
            </a:r>
          </a:p>
          <a:p>
            <a:pPr lvl="1"/>
            <a:r>
              <a:rPr lang="ru-RU" dirty="0"/>
              <a:t>Собака Жучка — объект класса «Собака»</a:t>
            </a:r>
          </a:p>
          <a:p>
            <a:pPr lvl="1"/>
            <a:r>
              <a:rPr lang="ru-RU" dirty="0"/>
              <a:t>Чертёж дома — класс</a:t>
            </a:r>
          </a:p>
          <a:p>
            <a:pPr lvl="1"/>
            <a:r>
              <a:rPr lang="ru-RU" dirty="0"/>
              <a:t>Построенный дом — объект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класса</a:t>
            </a:r>
            <a:r>
              <a:rPr lang="en-US" dirty="0"/>
              <a:t> </a:t>
            </a:r>
            <a:r>
              <a:rPr lang="ru-RU" dirty="0"/>
              <a:t>в С++</a:t>
            </a:r>
          </a:p>
        </p:txBody>
      </p:sp>
      <p:sp>
        <p:nvSpPr>
          <p:cNvPr id="3" name="Rectangle 2"/>
          <p:cNvSpPr/>
          <p:nvPr/>
        </p:nvSpPr>
        <p:spPr>
          <a:xfrm>
            <a:off x="2063552" y="2708921"/>
            <a:ext cx="60486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Car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Поля класса (данные и методы)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2EC274-02EF-4ADE-ADEB-8576FA5ACBC9}"/>
              </a:ext>
            </a:extLst>
          </p:cNvPr>
          <p:cNvSpPr txBox="1"/>
          <p:nvPr/>
        </p:nvSpPr>
        <p:spPr>
          <a:xfrm>
            <a:off x="2067447" y="4437112"/>
            <a:ext cx="4583574" cy="2369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Использование класса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main()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{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2B91AF"/>
                </a:solidFill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Car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car1;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2B91AF"/>
                </a:solidFill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Car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car2;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ascadia Mono" panose="020B06090200000200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}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sz="4000"/>
              <a:t>Данные объекта (переменные объекта, члены-данные)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Члены-данные (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members</a:t>
            </a:r>
            <a:r>
              <a:rPr lang="ru-RU" dirty="0"/>
              <a:t>) — это переменные, которые хранят состояние объекта.</a:t>
            </a:r>
          </a:p>
          <a:p>
            <a:r>
              <a:rPr lang="ru-RU" dirty="0"/>
              <a:t>Они описывают:</a:t>
            </a:r>
          </a:p>
          <a:p>
            <a:pPr lvl="1"/>
            <a:r>
              <a:rPr lang="ru-RU" dirty="0"/>
              <a:t>характеристики объекта</a:t>
            </a:r>
          </a:p>
          <a:p>
            <a:pPr lvl="1"/>
            <a:r>
              <a:rPr lang="ru-RU" dirty="0"/>
              <a:t>текущее состояние объекта</a:t>
            </a:r>
          </a:p>
          <a:p>
            <a:pPr lvl="1"/>
            <a:r>
              <a:rPr lang="ru-RU" dirty="0"/>
              <a:t>информацию, необходимую для его работы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каждый объект имеет собственный набор данных</a:t>
            </a:r>
          </a:p>
          <a:p>
            <a:pPr lvl="1"/>
            <a:r>
              <a:rPr lang="ru-RU" dirty="0"/>
              <a:t>изменение состояния объекта происходит через изменение его данных</a:t>
            </a:r>
          </a:p>
          <a:p>
            <a:r>
              <a:rPr lang="ru-RU" dirty="0"/>
              <a:t>Пример. У объекта Car данные могут включать:</a:t>
            </a:r>
          </a:p>
          <a:p>
            <a:pPr lvl="1"/>
            <a:r>
              <a:rPr lang="ru-RU" dirty="0"/>
              <a:t>текущую скорость</a:t>
            </a:r>
          </a:p>
          <a:p>
            <a:pPr lvl="1"/>
            <a:r>
              <a:rPr lang="ru-RU" dirty="0"/>
              <a:t>состояние двигателя</a:t>
            </a:r>
          </a:p>
          <a:p>
            <a:pPr lvl="1"/>
            <a:r>
              <a:rPr lang="ru-RU" dirty="0"/>
              <a:t>уровень топлива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- Автомобиль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84460E-D93B-4CCB-AD70-270F4C4F681F}"/>
              </a:ext>
            </a:extLst>
          </p:cNvPr>
          <p:cNvSpPr/>
          <p:nvPr/>
        </p:nvSpPr>
        <p:spPr>
          <a:xfrm>
            <a:off x="896257" y="1916832"/>
            <a:ext cx="576064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MakeOfCar</a:t>
            </a: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Toyota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Mitsubishi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Volkswagen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</a:t>
            </a: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Black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Car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MakeOfCar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m_make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MakeOfCar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Toyota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m_yearOfManufacture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2019;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Black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m_fuel</a:t>
            </a:r>
            <a:r>
              <a:rPr lang="ru-RU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0977D-1DE0-4753-BF30-16DE1E99B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- Время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FF70C0-3C36-4728-BCDE-CA4A872FEEFC}"/>
              </a:ext>
            </a:extLst>
          </p:cNvPr>
          <p:cNvSpPr/>
          <p:nvPr/>
        </p:nvSpPr>
        <p:spPr>
          <a:xfrm>
            <a:off x="838200" y="183666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Time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m_hours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m_minutes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m_seconds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47612-CE9D-4AEC-AC84-7E0ADF6D5D85}"/>
              </a:ext>
            </a:extLst>
          </p:cNvPr>
          <p:cNvSpPr/>
          <p:nvPr/>
        </p:nvSpPr>
        <p:spPr>
          <a:xfrm>
            <a:off x="838200" y="4581128"/>
            <a:ext cx="609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Time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m_secondsSinceMidnight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45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2F74C6-FE19-4232-8A7C-16F5E17B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Сокрытие данных по умолчанию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5964-653C-4330-B53F-972A9585B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отличие от структур, по умолчанию доступ к содержимому класса закрыт</a:t>
            </a:r>
          </a:p>
          <a:p>
            <a:pPr lvl="1"/>
            <a:r>
              <a:rPr lang="ru-RU" dirty="0"/>
              <a:t>Снаружи класса нельзя обратиться к его данным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B726F-2E04-4DCC-83B9-A8FBE448F507}"/>
              </a:ext>
            </a:extLst>
          </p:cNvPr>
          <p:cNvSpPr/>
          <p:nvPr/>
        </p:nvSpPr>
        <p:spPr>
          <a:xfrm>
            <a:off x="840184" y="4576001"/>
            <a:ext cx="90730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Test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Time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m_secondsSinceMidnight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 // error: cannot access private member declared in class 'Time'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899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Уровни доступа в классах и структурах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Каждый член класса или структуры имеет уровень доступа, который определяет, откуда к нему можно обращаться.</a:t>
            </a:r>
          </a:p>
          <a:p>
            <a:r>
              <a:rPr lang="ru-RU" dirty="0"/>
              <a:t>Основные уровни доступа:</a:t>
            </a:r>
          </a:p>
          <a:p>
            <a:pPr lvl="1"/>
            <a:r>
              <a:rPr lang="ru-RU" b="1" dirty="0" err="1"/>
              <a:t>public</a:t>
            </a:r>
            <a:r>
              <a:rPr lang="ru-RU" dirty="0"/>
              <a:t> — доступен из любого кода программы</a:t>
            </a:r>
            <a:br>
              <a:rPr lang="ru-RU" dirty="0"/>
            </a:br>
            <a:r>
              <a:rPr lang="ru-RU" i="1" dirty="0"/>
              <a:t>(уровень доступа по умолчанию в </a:t>
            </a:r>
            <a:r>
              <a:rPr lang="ru-RU" i="1" dirty="0" err="1"/>
              <a:t>struct</a:t>
            </a:r>
            <a:r>
              <a:rPr lang="ru-RU" i="1" dirty="0"/>
              <a:t>)</a:t>
            </a:r>
            <a:endParaRPr lang="ru-RU" dirty="0"/>
          </a:p>
          <a:p>
            <a:pPr lvl="1"/>
            <a:r>
              <a:rPr lang="ru-RU" b="1" dirty="0" err="1"/>
              <a:t>private</a:t>
            </a:r>
            <a:r>
              <a:rPr lang="ru-RU" dirty="0"/>
              <a:t> — доступен только внутри самого класса</a:t>
            </a:r>
            <a:br>
              <a:rPr lang="ru-RU" dirty="0"/>
            </a:br>
            <a:r>
              <a:rPr lang="ru-RU" i="1" dirty="0"/>
              <a:t>(уровень доступа по умолчанию в </a:t>
            </a:r>
            <a:r>
              <a:rPr lang="ru-RU" i="1" dirty="0" err="1"/>
              <a:t>class</a:t>
            </a:r>
            <a:r>
              <a:rPr lang="ru-RU" i="1" dirty="0"/>
              <a:t>)</a:t>
            </a:r>
            <a:endParaRPr lang="ru-RU" dirty="0"/>
          </a:p>
          <a:p>
            <a:pPr lvl="1"/>
            <a:r>
              <a:rPr lang="ru-RU" b="1" dirty="0" err="1"/>
              <a:t>protected</a:t>
            </a:r>
            <a:r>
              <a:rPr lang="ru-RU" dirty="0"/>
              <a:t> — доступен внутри класса и его </a:t>
            </a:r>
            <a:r>
              <a:rPr lang="ru-RU" b="1" dirty="0"/>
              <a:t>производных классов</a:t>
            </a:r>
            <a:endParaRPr lang="ru-RU" dirty="0"/>
          </a:p>
          <a:p>
            <a:r>
              <a:rPr lang="ru-RU" dirty="0"/>
              <a:t>Назначение:</a:t>
            </a:r>
          </a:p>
          <a:p>
            <a:pPr lvl="1"/>
            <a:r>
              <a:rPr lang="ru-RU" dirty="0"/>
              <a:t>Позволяет контролировать доступ к данным и методам и поддерживать инкапсуляцию.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55E41D-28E9-4CA3-95F9-A518BA3F828B}"/>
              </a:ext>
            </a:extLst>
          </p:cNvPr>
          <p:cNvSpPr/>
          <p:nvPr/>
        </p:nvSpPr>
        <p:spPr>
          <a:xfrm>
            <a:off x="648072" y="566678"/>
            <a:ext cx="1056171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Структура глазами компилятора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Time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Этот спецификатор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неявно подразумевается внутри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>
                    <a:alpha val="50000"/>
                  </a:srgbClr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00FF">
                    <a:alpha val="50000"/>
                  </a:srgb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Всё, что ниже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:,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доступно для внешнего кода.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hours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minutes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seconds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4F800E-841B-4ACB-AFC8-603C77CBEE71}"/>
              </a:ext>
            </a:extLst>
          </p:cNvPr>
          <p:cNvSpPr/>
          <p:nvPr/>
        </p:nvSpPr>
        <p:spPr>
          <a:xfrm>
            <a:off x="648072" y="3789040"/>
            <a:ext cx="979430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Класс глазами компилятора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Time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Этот спецификатор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private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неявно подразумевается внутри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FF">
                    <a:alpha val="50000"/>
                  </a:srgbClr>
                </a:solidFill>
                <a:latin typeface="Consolas" panose="020B0609020204030204" pitchFamily="49" charset="0"/>
              </a:rPr>
              <a:t>private: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Всё, что ниже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private:,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скрыто от внешнего мира.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m_hours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m_minutes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m_seconds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401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A2DC-6C85-E17D-018B-675258881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класса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19B1F-2D11-9F00-E168-A23F02E09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08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5AF9F-96AC-46DE-AF3A-45632A07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класса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956B6-5D86-45C2-AEBC-65FC2C827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Метод — это функция, объявленная внутри класса и работающая с его данными.</a:t>
            </a:r>
          </a:p>
          <a:p>
            <a:r>
              <a:rPr lang="ru-RU" dirty="0"/>
              <a:t>Основные идеи:</a:t>
            </a:r>
          </a:p>
          <a:p>
            <a:pPr lvl="1"/>
            <a:r>
              <a:rPr lang="ru-RU" dirty="0"/>
              <a:t>методы определяют операции, которые можно выполнять с объектом</a:t>
            </a:r>
          </a:p>
          <a:p>
            <a:pPr lvl="1"/>
            <a:r>
              <a:rPr lang="ru-RU" dirty="0"/>
              <a:t>методы имеют доступ к данным своего класса</a:t>
            </a:r>
          </a:p>
          <a:p>
            <a:pPr lvl="1"/>
            <a:r>
              <a:rPr lang="ru-RU" dirty="0"/>
              <a:t>методы также называют функциями-членами класса (</a:t>
            </a:r>
            <a:r>
              <a:rPr lang="ru-RU" i="1" dirty="0" err="1"/>
              <a:t>member</a:t>
            </a:r>
            <a:r>
              <a:rPr lang="ru-RU" i="1" dirty="0"/>
              <a:t> </a:t>
            </a:r>
            <a:r>
              <a:rPr lang="ru-RU" i="1" dirty="0" err="1"/>
              <a:t>functions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через методы происходит взаимодействие с объектом</a:t>
            </a:r>
          </a:p>
          <a:p>
            <a:r>
              <a:rPr lang="ru-RU" dirty="0"/>
              <a:t>Хорошая практика:</a:t>
            </a:r>
          </a:p>
          <a:p>
            <a:pPr lvl="1"/>
            <a:r>
              <a:rPr lang="ru-RU" dirty="0"/>
              <a:t>данные — </a:t>
            </a:r>
            <a:r>
              <a:rPr lang="ru-RU" dirty="0" err="1"/>
              <a:t>private</a:t>
            </a:r>
            <a:endParaRPr lang="ru-RU" dirty="0"/>
          </a:p>
          <a:p>
            <a:pPr lvl="1"/>
            <a:r>
              <a:rPr lang="ru-RU" dirty="0"/>
              <a:t>методы — </a:t>
            </a:r>
            <a:r>
              <a:rPr lang="ru-RU" dirty="0" err="1"/>
              <a:t>public</a:t>
            </a:r>
            <a:endParaRPr lang="ru-RU" dirty="0"/>
          </a:p>
          <a:p>
            <a:r>
              <a:rPr lang="ru-RU" dirty="0"/>
              <a:t>Это позволяет контролировать изменение состояния объекта.</a:t>
            </a:r>
          </a:p>
        </p:txBody>
      </p:sp>
    </p:spTree>
    <p:extLst>
      <p:ext uri="{BB962C8B-B14F-4D97-AF65-F5344CB8AC3E}">
        <p14:creationId xmlns:p14="http://schemas.microsoft.com/office/powerpoint/2010/main" val="365740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147AF2-E3CC-42B2-B3AD-F9D3AD84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метода класса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D4375C-B49C-482F-B653-C9D25C3D82DD}"/>
              </a:ext>
            </a:extLst>
          </p:cNvPr>
          <p:cNvSpPr/>
          <p:nvPr/>
        </p:nvSpPr>
        <p:spPr>
          <a:xfrm>
            <a:off x="695400" y="2204863"/>
            <a:ext cx="107291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267F99"/>
                </a:solidFill>
                <a:latin typeface="Consolas" panose="020B0609020204030204" pitchFamily="49" charset="0"/>
              </a:rPr>
              <a:t>SomeClass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 // Это метод класса. Выглядит как функция, описанная внутри класса.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Set</a:t>
            </a:r>
            <a:r>
              <a:rPr lang="ru-RU" dirty="0" err="1">
                <a:solidFill>
                  <a:srgbClr val="795E26"/>
                </a:solidFill>
                <a:latin typeface="Consolas" panose="020B0609020204030204" pitchFamily="49" charset="0"/>
              </a:rPr>
              <a:t>Data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   // К приватным данным можно обращаться только внутри методов класса.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ru-RU" dirty="0" err="1">
                <a:solidFill>
                  <a:srgbClr val="001080"/>
                </a:solidFill>
                <a:latin typeface="Consolas" panose="020B0609020204030204" pitchFamily="49" charset="0"/>
              </a:rPr>
              <a:t>m_data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}</a:t>
            </a:r>
          </a:p>
          <a:p>
            <a:b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 // Данные надёжно спрятаны от внешнего мира.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 // Никто, кроме самого класса, не имеет к ним доступа.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1080"/>
                </a:solidFill>
                <a:latin typeface="Consolas" panose="020B0609020204030204" pitchFamily="49" charset="0"/>
              </a:rPr>
              <a:t>m_data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415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E94ACB-DF50-47AA-8442-6B6269AF3473}"/>
              </a:ext>
            </a:extLst>
          </p:cNvPr>
          <p:cNvSpPr/>
          <p:nvPr/>
        </p:nvSpPr>
        <p:spPr>
          <a:xfrm>
            <a:off x="623392" y="404664"/>
            <a:ext cx="1036915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Time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GetHours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m_secondsSinceMidnight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3600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GetMinutes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m_secondsSinceMidnight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%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GetSeconds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m_secondsSinceMidnight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%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SetTime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hours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minutes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seconds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hours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||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hours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24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||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minutes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||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minutes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  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||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seconds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||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seconds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}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m_secondsSinceMidnight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hours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minutes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seconds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m_secondsSinceMidnight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3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372DBC4-9EC6-444E-ADD5-B9A04254BC1A}"/>
              </a:ext>
            </a:extLst>
          </p:cNvPr>
          <p:cNvSpPr/>
          <p:nvPr/>
        </p:nvSpPr>
        <p:spPr>
          <a:xfrm>
            <a:off x="695400" y="548680"/>
            <a:ext cx="1159450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Circle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GetArea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numbers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pi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 = 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Circle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GetArea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415A72-9BA5-47DA-8709-E8DF4AA63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360" y="4077072"/>
            <a:ext cx="2629267" cy="25816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578FF23-370C-49BE-A433-1C1264895926}"/>
              </a:ext>
            </a:extLst>
          </p:cNvPr>
          <p:cNvSpPr/>
          <p:nvPr/>
        </p:nvSpPr>
        <p:spPr>
          <a:xfrm>
            <a:off x="4290299" y="6381328"/>
            <a:ext cx="5046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4"/>
              </a:rPr>
              <a:t>https://wandbox.org/permlink/bzbqAdTJspyA2WZA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4068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1A98D7-6355-4879-9214-D1C11461A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Методы, состояние объекта и константность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98547-0A93-4071-A526-B4615E5B5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Состояние объекта</a:t>
            </a:r>
          </a:p>
          <a:p>
            <a:pPr lvl="1"/>
            <a:r>
              <a:rPr lang="ru-RU" dirty="0"/>
              <a:t>состояние объекта определяется его членами-данными</a:t>
            </a:r>
          </a:p>
          <a:p>
            <a:pPr lvl="1"/>
            <a:r>
              <a:rPr lang="ru-RU" dirty="0"/>
              <a:t>изменение состояния означает изменение этих данных</a:t>
            </a:r>
          </a:p>
          <a:p>
            <a:pPr lvl="1"/>
            <a:r>
              <a:rPr lang="ru-RU" dirty="0"/>
              <a:t>если данные </a:t>
            </a:r>
            <a:r>
              <a:rPr lang="ru-RU" dirty="0" err="1"/>
              <a:t>private</a:t>
            </a:r>
            <a:r>
              <a:rPr lang="ru-RU" dirty="0"/>
              <a:t>, изменить их можно только через методы класса</a:t>
            </a:r>
          </a:p>
          <a:p>
            <a:r>
              <a:rPr lang="ru-RU" dirty="0"/>
              <a:t>Константные объекты</a:t>
            </a:r>
          </a:p>
          <a:p>
            <a:pPr lvl="1"/>
            <a:r>
              <a:rPr lang="ru-RU" dirty="0"/>
              <a:t>состояние константного объекта нельзя изменять</a:t>
            </a:r>
          </a:p>
          <a:p>
            <a:pPr lvl="1"/>
            <a:r>
              <a:rPr lang="ru-RU" dirty="0"/>
              <a:t>методы, которые изменяют данные, нельзя вызывать у </a:t>
            </a:r>
            <a:r>
              <a:rPr lang="ru-RU" dirty="0" err="1"/>
              <a:t>const</a:t>
            </a:r>
            <a:r>
              <a:rPr lang="ru-RU" dirty="0"/>
              <a:t>-объекта</a:t>
            </a:r>
          </a:p>
        </p:txBody>
      </p:sp>
    </p:spTree>
    <p:extLst>
      <p:ext uri="{BB962C8B-B14F-4D97-AF65-F5344CB8AC3E}">
        <p14:creationId xmlns:p14="http://schemas.microsoft.com/office/powerpoint/2010/main" val="15497429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A38FB-3754-41AD-9188-61BCDE629222}"/>
              </a:ext>
            </a:extLst>
          </p:cNvPr>
          <p:cNvSpPr/>
          <p:nvPr/>
        </p:nvSpPr>
        <p:spPr>
          <a:xfrm>
            <a:off x="119336" y="116633"/>
            <a:ext cx="1123324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Circle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GetArea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numbers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pi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 = 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PrintCircle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Circle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radius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="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GetRadius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",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area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="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GetArea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Circle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PrintCircle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700A52-CBB5-4E60-B234-233C7F70CAB6}"/>
              </a:ext>
            </a:extLst>
          </p:cNvPr>
          <p:cNvSpPr/>
          <p:nvPr/>
        </p:nvSpPr>
        <p:spPr>
          <a:xfrm>
            <a:off x="249324" y="2669940"/>
            <a:ext cx="11845316" cy="33855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>
                <a:latin typeface="Consolas" panose="020B0609020204030204" pitchFamily="49" charset="0"/>
              </a:rPr>
              <a:t>prog.cc: </a:t>
            </a:r>
            <a:r>
              <a:rPr lang="ru-RU" sz="1600" dirty="0" err="1">
                <a:latin typeface="Consolas" panose="020B0609020204030204" pitchFamily="49" charset="0"/>
              </a:rPr>
              <a:t>In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function</a:t>
            </a:r>
            <a:r>
              <a:rPr lang="ru-RU" sz="1600" dirty="0">
                <a:latin typeface="Consolas" panose="020B0609020204030204" pitchFamily="49" charset="0"/>
              </a:rPr>
              <a:t> '</a:t>
            </a:r>
            <a:r>
              <a:rPr lang="ru-RU" sz="1600" dirty="0" err="1">
                <a:latin typeface="Consolas" panose="020B0609020204030204" pitchFamily="49" charset="0"/>
              </a:rPr>
              <a:t>void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PrintCircle</a:t>
            </a:r>
            <a:r>
              <a:rPr lang="ru-RU" sz="1600" dirty="0">
                <a:latin typeface="Consolas" panose="020B0609020204030204" pitchFamily="49" charset="0"/>
              </a:rPr>
              <a:t>(</a:t>
            </a:r>
            <a:r>
              <a:rPr lang="ru-RU" sz="1600" dirty="0" err="1">
                <a:latin typeface="Consolas" panose="020B0609020204030204" pitchFamily="49" charset="0"/>
              </a:rPr>
              <a:t>const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Circle</a:t>
            </a:r>
            <a:r>
              <a:rPr lang="ru-RU" sz="1600" dirty="0">
                <a:latin typeface="Consolas" panose="020B0609020204030204" pitchFamily="49" charset="0"/>
              </a:rPr>
              <a:t>&amp;)':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prog.cc:20:46: </a:t>
            </a:r>
            <a:r>
              <a:rPr lang="ru-RU" sz="1600" dirty="0" err="1">
                <a:latin typeface="Consolas" panose="020B0609020204030204" pitchFamily="49" charset="0"/>
              </a:rPr>
              <a:t>error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passing</a:t>
            </a:r>
            <a:r>
              <a:rPr lang="ru-RU" sz="1600" dirty="0">
                <a:latin typeface="Consolas" panose="020B0609020204030204" pitchFamily="49" charset="0"/>
              </a:rPr>
              <a:t> '</a:t>
            </a:r>
            <a:r>
              <a:rPr lang="ru-RU" sz="1600" dirty="0" err="1">
                <a:latin typeface="Consolas" panose="020B0609020204030204" pitchFamily="49" charset="0"/>
              </a:rPr>
              <a:t>const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Circle</a:t>
            </a:r>
            <a:r>
              <a:rPr lang="ru-RU" sz="1600" dirty="0">
                <a:latin typeface="Consolas" panose="020B0609020204030204" pitchFamily="49" charset="0"/>
              </a:rPr>
              <a:t>' </a:t>
            </a:r>
            <a:r>
              <a:rPr lang="ru-RU" sz="1600" dirty="0" err="1">
                <a:latin typeface="Consolas" panose="020B0609020204030204" pitchFamily="49" charset="0"/>
              </a:rPr>
              <a:t>as</a:t>
            </a:r>
            <a:r>
              <a:rPr lang="ru-RU" sz="1600" dirty="0">
                <a:latin typeface="Consolas" panose="020B0609020204030204" pitchFamily="49" charset="0"/>
              </a:rPr>
              <a:t> '</a:t>
            </a:r>
            <a:r>
              <a:rPr lang="ru-RU" sz="1600" dirty="0" err="1">
                <a:latin typeface="Consolas" panose="020B0609020204030204" pitchFamily="49" charset="0"/>
              </a:rPr>
              <a:t>this</a:t>
            </a:r>
            <a:r>
              <a:rPr lang="ru-RU" sz="1600" dirty="0">
                <a:latin typeface="Consolas" panose="020B0609020204030204" pitchFamily="49" charset="0"/>
              </a:rPr>
              <a:t>' </a:t>
            </a:r>
            <a:r>
              <a:rPr lang="ru-RU" sz="1600" dirty="0" err="1">
                <a:latin typeface="Consolas" panose="020B0609020204030204" pitchFamily="49" charset="0"/>
              </a:rPr>
              <a:t>argument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discards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qualifiers</a:t>
            </a:r>
            <a:r>
              <a:rPr lang="ru-RU" sz="1600" dirty="0">
                <a:latin typeface="Consolas" panose="020B0609020204030204" pitchFamily="49" charset="0"/>
              </a:rPr>
              <a:t> [-</a:t>
            </a:r>
            <a:r>
              <a:rPr lang="ru-RU" sz="1600" dirty="0" err="1">
                <a:latin typeface="Consolas" panose="020B0609020204030204" pitchFamily="49" charset="0"/>
              </a:rPr>
              <a:t>fpermissive</a:t>
            </a:r>
            <a:r>
              <a:rPr lang="ru-RU" sz="1600" dirty="0">
                <a:latin typeface="Consolas" panose="020B0609020204030204" pitchFamily="49" charset="0"/>
              </a:rPr>
              <a:t>]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   20 |         </a:t>
            </a:r>
            <a:r>
              <a:rPr lang="ru-RU" sz="1600" dirty="0" err="1">
                <a:latin typeface="Consolas" panose="020B0609020204030204" pitchFamily="49" charset="0"/>
              </a:rPr>
              <a:t>std</a:t>
            </a:r>
            <a:r>
              <a:rPr lang="ru-RU" sz="1600" dirty="0">
                <a:latin typeface="Consolas" panose="020B0609020204030204" pitchFamily="49" charset="0"/>
              </a:rPr>
              <a:t>::</a:t>
            </a:r>
            <a:r>
              <a:rPr lang="ru-RU" sz="1600" dirty="0" err="1">
                <a:latin typeface="Consolas" panose="020B0609020204030204" pitchFamily="49" charset="0"/>
              </a:rPr>
              <a:t>cout</a:t>
            </a:r>
            <a:r>
              <a:rPr lang="ru-RU" sz="1600" dirty="0">
                <a:latin typeface="Consolas" panose="020B0609020204030204" pitchFamily="49" charset="0"/>
              </a:rPr>
              <a:t> &lt;&lt; "</a:t>
            </a:r>
            <a:r>
              <a:rPr lang="ru-RU" sz="1600" dirty="0" err="1">
                <a:latin typeface="Consolas" panose="020B0609020204030204" pitchFamily="49" charset="0"/>
              </a:rPr>
              <a:t>radius</a:t>
            </a:r>
            <a:r>
              <a:rPr lang="ru-RU" sz="1600" dirty="0">
                <a:latin typeface="Consolas" panose="020B0609020204030204" pitchFamily="49" charset="0"/>
              </a:rPr>
              <a:t>=" &lt;&lt; </a:t>
            </a:r>
            <a:r>
              <a:rPr lang="ru-RU" sz="1600" dirty="0" err="1">
                <a:latin typeface="Consolas" panose="020B0609020204030204" pitchFamily="49" charset="0"/>
              </a:rPr>
              <a:t>c.GetRadius</a:t>
            </a:r>
            <a:r>
              <a:rPr lang="ru-RU" sz="1600" dirty="0">
                <a:latin typeface="Consolas" panose="020B0609020204030204" pitchFamily="49" charset="0"/>
              </a:rPr>
              <a:t>() &lt;&lt; ", </a:t>
            </a:r>
            <a:r>
              <a:rPr lang="ru-RU" sz="1600" dirty="0" err="1">
                <a:latin typeface="Consolas" panose="020B0609020204030204" pitchFamily="49" charset="0"/>
              </a:rPr>
              <a:t>area</a:t>
            </a:r>
            <a:r>
              <a:rPr lang="ru-RU" sz="1600" dirty="0">
                <a:latin typeface="Consolas" panose="020B0609020204030204" pitchFamily="49" charset="0"/>
              </a:rPr>
              <a:t>=" &lt;&lt; </a:t>
            </a:r>
            <a:r>
              <a:rPr lang="ru-RU" sz="1600" dirty="0" err="1">
                <a:latin typeface="Consolas" panose="020B0609020204030204" pitchFamily="49" charset="0"/>
              </a:rPr>
              <a:t>c.GetArea</a:t>
            </a:r>
            <a:r>
              <a:rPr lang="ru-RU" sz="1600" dirty="0">
                <a:latin typeface="Consolas" panose="020B0609020204030204" pitchFamily="49" charset="0"/>
              </a:rPr>
              <a:t>() &lt;&lt; </a:t>
            </a:r>
            <a:r>
              <a:rPr lang="ru-RU" sz="1600" dirty="0" err="1">
                <a:latin typeface="Consolas" panose="020B0609020204030204" pitchFamily="49" charset="0"/>
              </a:rPr>
              <a:t>std</a:t>
            </a:r>
            <a:r>
              <a:rPr lang="ru-RU" sz="1600" dirty="0">
                <a:latin typeface="Consolas" panose="020B0609020204030204" pitchFamily="49" charset="0"/>
              </a:rPr>
              <a:t>::</a:t>
            </a:r>
            <a:r>
              <a:rPr lang="ru-RU" sz="1600" dirty="0" err="1">
                <a:latin typeface="Consolas" panose="020B0609020204030204" pitchFamily="49" charset="0"/>
              </a:rPr>
              <a:t>endl</a:t>
            </a:r>
            <a:r>
              <a:rPr lang="ru-RU" sz="1600" dirty="0">
                <a:latin typeface="Consolas" panose="020B0609020204030204" pitchFamily="49" charset="0"/>
              </a:rPr>
              <a:t>;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      |                                   ~~~~~~~~~~~^~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prog.cc:11:16: </a:t>
            </a:r>
            <a:r>
              <a:rPr lang="ru-RU" sz="1600" dirty="0" err="1">
                <a:latin typeface="Consolas" panose="020B0609020204030204" pitchFamily="49" charset="0"/>
              </a:rPr>
              <a:t>note</a:t>
            </a:r>
            <a:r>
              <a:rPr lang="ru-RU" sz="1600" dirty="0">
                <a:latin typeface="Consolas" panose="020B0609020204030204" pitchFamily="49" charset="0"/>
              </a:rPr>
              <a:t>:   </a:t>
            </a:r>
            <a:r>
              <a:rPr lang="ru-RU" sz="1600" dirty="0" err="1">
                <a:latin typeface="Consolas" panose="020B0609020204030204" pitchFamily="49" charset="0"/>
              </a:rPr>
              <a:t>in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call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to</a:t>
            </a:r>
            <a:r>
              <a:rPr lang="ru-RU" sz="1600" dirty="0">
                <a:latin typeface="Consolas" panose="020B0609020204030204" pitchFamily="49" charset="0"/>
              </a:rPr>
              <a:t> '</a:t>
            </a:r>
            <a:r>
              <a:rPr lang="ru-RU" sz="1600" dirty="0" err="1">
                <a:latin typeface="Consolas" panose="020B0609020204030204" pitchFamily="49" charset="0"/>
              </a:rPr>
              <a:t>double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Circle</a:t>
            </a:r>
            <a:r>
              <a:rPr lang="ru-RU" sz="1600" dirty="0">
                <a:latin typeface="Consolas" panose="020B0609020204030204" pitchFamily="49" charset="0"/>
              </a:rPr>
              <a:t>::</a:t>
            </a:r>
            <a:r>
              <a:rPr lang="ru-RU" sz="1600" dirty="0" err="1">
                <a:latin typeface="Consolas" panose="020B0609020204030204" pitchFamily="49" charset="0"/>
              </a:rPr>
              <a:t>GetRadius</a:t>
            </a:r>
            <a:r>
              <a:rPr lang="ru-RU" sz="1600" dirty="0">
                <a:latin typeface="Consolas" panose="020B0609020204030204" pitchFamily="49" charset="0"/>
              </a:rPr>
              <a:t>()'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   11 |         </a:t>
            </a:r>
            <a:r>
              <a:rPr lang="ru-RU" sz="1600" dirty="0" err="1">
                <a:latin typeface="Consolas" panose="020B0609020204030204" pitchFamily="49" charset="0"/>
              </a:rPr>
              <a:t>double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GetRadius</a:t>
            </a:r>
            <a:r>
              <a:rPr lang="ru-RU" sz="1600" dirty="0">
                <a:latin typeface="Consolas" panose="020B0609020204030204" pitchFamily="49" charset="0"/>
              </a:rPr>
              <a:t>() { </a:t>
            </a:r>
            <a:r>
              <a:rPr lang="ru-RU" sz="1600" dirty="0" err="1">
                <a:latin typeface="Consolas" panose="020B0609020204030204" pitchFamily="49" charset="0"/>
              </a:rPr>
              <a:t>return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m_radius</a:t>
            </a:r>
            <a:r>
              <a:rPr lang="ru-RU" sz="1600" dirty="0">
                <a:latin typeface="Consolas" panose="020B0609020204030204" pitchFamily="49" charset="0"/>
              </a:rPr>
              <a:t>; }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      |                ^~~~~~~~~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prog.cc:20:74: </a:t>
            </a:r>
            <a:r>
              <a:rPr lang="ru-RU" sz="1600" dirty="0" err="1">
                <a:latin typeface="Consolas" panose="020B0609020204030204" pitchFamily="49" charset="0"/>
              </a:rPr>
              <a:t>error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passing</a:t>
            </a:r>
            <a:r>
              <a:rPr lang="ru-RU" sz="1600" dirty="0">
                <a:latin typeface="Consolas" panose="020B0609020204030204" pitchFamily="49" charset="0"/>
              </a:rPr>
              <a:t> '</a:t>
            </a:r>
            <a:r>
              <a:rPr lang="ru-RU" sz="1600" dirty="0" err="1">
                <a:latin typeface="Consolas" panose="020B0609020204030204" pitchFamily="49" charset="0"/>
              </a:rPr>
              <a:t>const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Circle</a:t>
            </a:r>
            <a:r>
              <a:rPr lang="ru-RU" sz="1600" dirty="0">
                <a:latin typeface="Consolas" panose="020B0609020204030204" pitchFamily="49" charset="0"/>
              </a:rPr>
              <a:t>' </a:t>
            </a:r>
            <a:r>
              <a:rPr lang="ru-RU" sz="1600" dirty="0" err="1">
                <a:latin typeface="Consolas" panose="020B0609020204030204" pitchFamily="49" charset="0"/>
              </a:rPr>
              <a:t>as</a:t>
            </a:r>
            <a:r>
              <a:rPr lang="ru-RU" sz="1600" dirty="0">
                <a:latin typeface="Consolas" panose="020B0609020204030204" pitchFamily="49" charset="0"/>
              </a:rPr>
              <a:t> '</a:t>
            </a:r>
            <a:r>
              <a:rPr lang="ru-RU" sz="1600" dirty="0" err="1">
                <a:latin typeface="Consolas" panose="020B0609020204030204" pitchFamily="49" charset="0"/>
              </a:rPr>
              <a:t>this</a:t>
            </a:r>
            <a:r>
              <a:rPr lang="ru-RU" sz="1600" dirty="0">
                <a:latin typeface="Consolas" panose="020B0609020204030204" pitchFamily="49" charset="0"/>
              </a:rPr>
              <a:t>' </a:t>
            </a:r>
            <a:r>
              <a:rPr lang="ru-RU" sz="1600" dirty="0" err="1">
                <a:latin typeface="Consolas" panose="020B0609020204030204" pitchFamily="49" charset="0"/>
              </a:rPr>
              <a:t>argument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discards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qualifiers</a:t>
            </a:r>
            <a:r>
              <a:rPr lang="ru-RU" sz="1600" dirty="0">
                <a:latin typeface="Consolas" panose="020B0609020204030204" pitchFamily="49" charset="0"/>
              </a:rPr>
              <a:t> [-</a:t>
            </a:r>
            <a:r>
              <a:rPr lang="ru-RU" sz="1600" dirty="0" err="1">
                <a:latin typeface="Consolas" panose="020B0609020204030204" pitchFamily="49" charset="0"/>
              </a:rPr>
              <a:t>fpermissive</a:t>
            </a:r>
            <a:r>
              <a:rPr lang="ru-RU" sz="1600" dirty="0">
                <a:latin typeface="Consolas" panose="020B0609020204030204" pitchFamily="49" charset="0"/>
              </a:rPr>
              <a:t>]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   20 |         </a:t>
            </a:r>
            <a:r>
              <a:rPr lang="ru-RU" sz="1600" dirty="0" err="1">
                <a:latin typeface="Consolas" panose="020B0609020204030204" pitchFamily="49" charset="0"/>
              </a:rPr>
              <a:t>std</a:t>
            </a:r>
            <a:r>
              <a:rPr lang="ru-RU" sz="1600" dirty="0">
                <a:latin typeface="Consolas" panose="020B0609020204030204" pitchFamily="49" charset="0"/>
              </a:rPr>
              <a:t>::</a:t>
            </a:r>
            <a:r>
              <a:rPr lang="ru-RU" sz="1600" dirty="0" err="1">
                <a:latin typeface="Consolas" panose="020B0609020204030204" pitchFamily="49" charset="0"/>
              </a:rPr>
              <a:t>cout</a:t>
            </a:r>
            <a:r>
              <a:rPr lang="ru-RU" sz="1600" dirty="0">
                <a:latin typeface="Consolas" panose="020B0609020204030204" pitchFamily="49" charset="0"/>
              </a:rPr>
              <a:t> &lt;&lt; "</a:t>
            </a:r>
            <a:r>
              <a:rPr lang="ru-RU" sz="1600" dirty="0" err="1">
                <a:latin typeface="Consolas" panose="020B0609020204030204" pitchFamily="49" charset="0"/>
              </a:rPr>
              <a:t>radius</a:t>
            </a:r>
            <a:r>
              <a:rPr lang="ru-RU" sz="1600" dirty="0">
                <a:latin typeface="Consolas" panose="020B0609020204030204" pitchFamily="49" charset="0"/>
              </a:rPr>
              <a:t>=" &lt;&lt; </a:t>
            </a:r>
            <a:r>
              <a:rPr lang="ru-RU" sz="1600" dirty="0" err="1">
                <a:latin typeface="Consolas" panose="020B0609020204030204" pitchFamily="49" charset="0"/>
              </a:rPr>
              <a:t>c.GetRadius</a:t>
            </a:r>
            <a:r>
              <a:rPr lang="ru-RU" sz="1600" dirty="0">
                <a:latin typeface="Consolas" panose="020B0609020204030204" pitchFamily="49" charset="0"/>
              </a:rPr>
              <a:t>() &lt;&lt; ", </a:t>
            </a:r>
            <a:r>
              <a:rPr lang="ru-RU" sz="1600" dirty="0" err="1">
                <a:latin typeface="Consolas" panose="020B0609020204030204" pitchFamily="49" charset="0"/>
              </a:rPr>
              <a:t>area</a:t>
            </a:r>
            <a:r>
              <a:rPr lang="ru-RU" sz="1600" dirty="0">
                <a:latin typeface="Consolas" panose="020B0609020204030204" pitchFamily="49" charset="0"/>
              </a:rPr>
              <a:t>=" &lt;&lt; </a:t>
            </a:r>
            <a:r>
              <a:rPr lang="ru-RU" sz="1600" dirty="0" err="1">
                <a:latin typeface="Consolas" panose="020B0609020204030204" pitchFamily="49" charset="0"/>
              </a:rPr>
              <a:t>c.GetArea</a:t>
            </a:r>
            <a:r>
              <a:rPr lang="ru-RU" sz="1600" dirty="0">
                <a:latin typeface="Consolas" panose="020B0609020204030204" pitchFamily="49" charset="0"/>
              </a:rPr>
              <a:t>() &lt;&lt; </a:t>
            </a:r>
            <a:r>
              <a:rPr lang="ru-RU" sz="1600" dirty="0" err="1">
                <a:latin typeface="Consolas" panose="020B0609020204030204" pitchFamily="49" charset="0"/>
              </a:rPr>
              <a:t>std</a:t>
            </a:r>
            <a:r>
              <a:rPr lang="ru-RU" sz="1600" dirty="0">
                <a:latin typeface="Consolas" panose="020B0609020204030204" pitchFamily="49" charset="0"/>
              </a:rPr>
              <a:t>::</a:t>
            </a:r>
            <a:r>
              <a:rPr lang="ru-RU" sz="1600" dirty="0" err="1">
                <a:latin typeface="Consolas" panose="020B0609020204030204" pitchFamily="49" charset="0"/>
              </a:rPr>
              <a:t>endl</a:t>
            </a:r>
            <a:r>
              <a:rPr lang="ru-RU" sz="1600" dirty="0">
                <a:latin typeface="Consolas" panose="020B0609020204030204" pitchFamily="49" charset="0"/>
              </a:rPr>
              <a:t>;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      |                                                                 ~~~~~~~~~^~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prog.cc:12:16: </a:t>
            </a:r>
            <a:r>
              <a:rPr lang="ru-RU" sz="1600" dirty="0" err="1">
                <a:latin typeface="Consolas" panose="020B0609020204030204" pitchFamily="49" charset="0"/>
              </a:rPr>
              <a:t>note</a:t>
            </a:r>
            <a:r>
              <a:rPr lang="ru-RU" sz="1600" dirty="0">
                <a:latin typeface="Consolas" panose="020B0609020204030204" pitchFamily="49" charset="0"/>
              </a:rPr>
              <a:t>:   </a:t>
            </a:r>
            <a:r>
              <a:rPr lang="ru-RU" sz="1600" dirty="0" err="1">
                <a:latin typeface="Consolas" panose="020B0609020204030204" pitchFamily="49" charset="0"/>
              </a:rPr>
              <a:t>in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call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to</a:t>
            </a:r>
            <a:r>
              <a:rPr lang="ru-RU" sz="1600" dirty="0">
                <a:latin typeface="Consolas" panose="020B0609020204030204" pitchFamily="49" charset="0"/>
              </a:rPr>
              <a:t> '</a:t>
            </a:r>
            <a:r>
              <a:rPr lang="ru-RU" sz="1600" dirty="0" err="1">
                <a:latin typeface="Consolas" panose="020B0609020204030204" pitchFamily="49" charset="0"/>
              </a:rPr>
              <a:t>double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Circle</a:t>
            </a:r>
            <a:r>
              <a:rPr lang="ru-RU" sz="1600" dirty="0">
                <a:latin typeface="Consolas" panose="020B0609020204030204" pitchFamily="49" charset="0"/>
              </a:rPr>
              <a:t>::</a:t>
            </a:r>
            <a:r>
              <a:rPr lang="ru-RU" sz="1600" dirty="0" err="1">
                <a:latin typeface="Consolas" panose="020B0609020204030204" pitchFamily="49" charset="0"/>
              </a:rPr>
              <a:t>GetArea</a:t>
            </a:r>
            <a:r>
              <a:rPr lang="ru-RU" sz="1600" dirty="0">
                <a:latin typeface="Consolas" panose="020B0609020204030204" pitchFamily="49" charset="0"/>
              </a:rPr>
              <a:t>()'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   12 |         </a:t>
            </a:r>
            <a:r>
              <a:rPr lang="ru-RU" sz="1600" dirty="0" err="1">
                <a:latin typeface="Consolas" panose="020B0609020204030204" pitchFamily="49" charset="0"/>
              </a:rPr>
              <a:t>double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GetArea</a:t>
            </a:r>
            <a:r>
              <a:rPr lang="ru-RU" sz="1600" dirty="0">
                <a:latin typeface="Consolas" panose="020B0609020204030204" pitchFamily="49" charset="0"/>
              </a:rPr>
              <a:t>() { </a:t>
            </a:r>
            <a:r>
              <a:rPr lang="ru-RU" sz="1600" dirty="0" err="1">
                <a:latin typeface="Consolas" panose="020B0609020204030204" pitchFamily="49" charset="0"/>
              </a:rPr>
              <a:t>return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std</a:t>
            </a:r>
            <a:r>
              <a:rPr lang="ru-RU" sz="1600" dirty="0">
                <a:latin typeface="Consolas" panose="020B0609020204030204" pitchFamily="49" charset="0"/>
              </a:rPr>
              <a:t>::</a:t>
            </a:r>
            <a:r>
              <a:rPr lang="ru-RU" sz="1600" dirty="0" err="1">
                <a:latin typeface="Consolas" panose="020B0609020204030204" pitchFamily="49" charset="0"/>
              </a:rPr>
              <a:t>numbers</a:t>
            </a:r>
            <a:r>
              <a:rPr lang="ru-RU" sz="1600" dirty="0">
                <a:latin typeface="Consolas" panose="020B0609020204030204" pitchFamily="49" charset="0"/>
              </a:rPr>
              <a:t>::</a:t>
            </a:r>
            <a:r>
              <a:rPr lang="ru-RU" sz="1600" dirty="0" err="1">
                <a:latin typeface="Consolas" panose="020B0609020204030204" pitchFamily="49" charset="0"/>
              </a:rPr>
              <a:t>pi</a:t>
            </a:r>
            <a:r>
              <a:rPr lang="ru-RU" sz="1600" dirty="0">
                <a:latin typeface="Consolas" panose="020B0609020204030204" pitchFamily="49" charset="0"/>
              </a:rPr>
              <a:t> * </a:t>
            </a:r>
            <a:r>
              <a:rPr lang="ru-RU" sz="1600" dirty="0" err="1">
                <a:latin typeface="Consolas" panose="020B0609020204030204" pitchFamily="49" charset="0"/>
              </a:rPr>
              <a:t>m_radius</a:t>
            </a:r>
            <a:r>
              <a:rPr lang="ru-RU" sz="1600" dirty="0">
                <a:latin typeface="Consolas" panose="020B0609020204030204" pitchFamily="49" charset="0"/>
              </a:rPr>
              <a:t> * </a:t>
            </a:r>
            <a:r>
              <a:rPr lang="ru-RU" sz="1600" dirty="0" err="1">
                <a:latin typeface="Consolas" panose="020B0609020204030204" pitchFamily="49" charset="0"/>
              </a:rPr>
              <a:t>m_radius</a:t>
            </a:r>
            <a:r>
              <a:rPr lang="ru-RU" sz="1600" dirty="0">
                <a:latin typeface="Consolas" panose="020B0609020204030204" pitchFamily="49" charset="0"/>
              </a:rPr>
              <a:t>; }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      |                ^~~~~~~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22BDA0-4AA2-48B7-A080-8A0B5AAC154D}"/>
              </a:ext>
            </a:extLst>
          </p:cNvPr>
          <p:cNvSpPr/>
          <p:nvPr/>
        </p:nvSpPr>
        <p:spPr>
          <a:xfrm>
            <a:off x="3543891" y="6352765"/>
            <a:ext cx="5104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3"/>
              </a:rPr>
              <a:t>https://wandbox.org/permlink/BA36QTz5AhEHY2XN</a:t>
            </a:r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D52D06-AB59-472C-9389-A671FE26F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400" y="126122"/>
            <a:ext cx="2322258" cy="229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9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692E88-E6EC-DF83-4389-3B6A0105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Константные методы класса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74962B-4BDB-80FE-EB96-E5FB83DAB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715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Константные методы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Константный метод — это метод, который гарантирует, что состояние объекта не изменяется.</a:t>
            </a:r>
          </a:p>
          <a:p>
            <a:r>
              <a:rPr lang="ru-RU" dirty="0"/>
              <a:t>Объявление:</a:t>
            </a:r>
          </a:p>
          <a:p>
            <a:pPr lvl="1"/>
            <a:r>
              <a:rPr lang="ru-RU" dirty="0" err="1"/>
              <a:t>double</a:t>
            </a:r>
            <a:r>
              <a:rPr lang="ru-RU" dirty="0"/>
              <a:t> </a:t>
            </a:r>
            <a:r>
              <a:rPr lang="ru-RU" dirty="0" err="1"/>
              <a:t>GetRadius</a:t>
            </a:r>
            <a:r>
              <a:rPr lang="ru-RU" dirty="0"/>
              <a:t>() </a:t>
            </a:r>
            <a:r>
              <a:rPr lang="ru-RU" b="1" dirty="0" err="1">
                <a:solidFill>
                  <a:srgbClr val="FF0000"/>
                </a:solidFill>
              </a:rPr>
              <a:t>const</a:t>
            </a:r>
            <a:r>
              <a:rPr lang="ru-RU" dirty="0"/>
              <a:t>;</a:t>
            </a:r>
          </a:p>
          <a:p>
            <a:r>
              <a:rPr lang="ru-RU" dirty="0"/>
              <a:t>Внутри </a:t>
            </a:r>
            <a:r>
              <a:rPr lang="ru-RU" dirty="0" err="1"/>
              <a:t>const</a:t>
            </a:r>
            <a:r>
              <a:rPr lang="ru-RU" dirty="0"/>
              <a:t>-метода запрещено:</a:t>
            </a:r>
          </a:p>
          <a:p>
            <a:pPr lvl="1"/>
            <a:r>
              <a:rPr lang="ru-RU" dirty="0"/>
              <a:t>изменять поля объекта</a:t>
            </a:r>
          </a:p>
          <a:p>
            <a:pPr lvl="1"/>
            <a:r>
              <a:rPr lang="ru-RU" dirty="0"/>
              <a:t>вызывать </a:t>
            </a:r>
            <a:r>
              <a:rPr lang="ru-RU" dirty="0" err="1"/>
              <a:t>неконстантные</a:t>
            </a:r>
            <a:r>
              <a:rPr lang="ru-RU" dirty="0"/>
              <a:t> методы текущего объекта</a:t>
            </a:r>
          </a:p>
          <a:p>
            <a:pPr lvl="1"/>
            <a:r>
              <a:rPr lang="ru-RU" dirty="0"/>
              <a:t>вызывать у его полей </a:t>
            </a:r>
            <a:r>
              <a:rPr lang="ru-RU" dirty="0" err="1"/>
              <a:t>неконстантные</a:t>
            </a:r>
            <a:r>
              <a:rPr lang="ru-RU" dirty="0"/>
              <a:t> методы</a:t>
            </a:r>
          </a:p>
          <a:p>
            <a:pPr lvl="1"/>
            <a:r>
              <a:rPr lang="ru-RU" dirty="0"/>
              <a:t>передавать поля объекта в функции, принимающие </a:t>
            </a:r>
            <a:r>
              <a:rPr lang="ru-RU" dirty="0" err="1"/>
              <a:t>неконстантную</a:t>
            </a:r>
            <a:r>
              <a:rPr lang="ru-RU" dirty="0"/>
              <a:t> ссылку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у </a:t>
            </a:r>
            <a:r>
              <a:rPr lang="ru-RU" dirty="0" err="1"/>
              <a:t>const</a:t>
            </a:r>
            <a:r>
              <a:rPr lang="ru-RU" dirty="0"/>
              <a:t>-объектов можно вызывать только </a:t>
            </a:r>
            <a:r>
              <a:rPr lang="ru-RU" dirty="0" err="1"/>
              <a:t>const</a:t>
            </a:r>
            <a:r>
              <a:rPr lang="ru-RU" dirty="0"/>
              <a:t>-методы</a:t>
            </a:r>
          </a:p>
          <a:p>
            <a:pPr lvl="1"/>
            <a:r>
              <a:rPr lang="ru-RU" dirty="0"/>
              <a:t>то же самое относится к объектам, доступным через </a:t>
            </a:r>
            <a:r>
              <a:rPr lang="ru-RU" dirty="0" err="1"/>
              <a:t>const</a:t>
            </a:r>
            <a:r>
              <a:rPr lang="ru-RU" dirty="0"/>
              <a:t>-ссылку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AEC119-C037-44F7-8F2F-53948774BB52}"/>
              </a:ext>
            </a:extLst>
          </p:cNvPr>
          <p:cNvSpPr/>
          <p:nvPr/>
        </p:nvSpPr>
        <p:spPr>
          <a:xfrm>
            <a:off x="119336" y="116632"/>
            <a:ext cx="1173730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Circle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GetArea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numbers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pi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m_radius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 = 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PrintCircle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Circle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radius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="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",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area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="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GetArea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Circle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SetRadius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PrintCircle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C9CD8A-44D9-49C1-8456-1A184B2E777E}"/>
              </a:ext>
            </a:extLst>
          </p:cNvPr>
          <p:cNvSpPr/>
          <p:nvPr/>
        </p:nvSpPr>
        <p:spPr>
          <a:xfrm>
            <a:off x="3543891" y="6352765"/>
            <a:ext cx="4904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>
                <a:hlinkClick r:id="rId3"/>
              </a:rPr>
              <a:t>https://wandbox.org/permlink/1jrbrx0sZ2Onh9Wi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6E126-94F0-4CFC-A5D7-AB9458BFE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400" y="4450709"/>
            <a:ext cx="2254146" cy="229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40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0901-316D-4223-A006-2AA8D4FBA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и логическая константность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EC64FE-50DE-488A-9A29-1CBF8FB6D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Физическая константность</a:t>
            </a:r>
            <a:endParaRPr lang="ru-RU" dirty="0"/>
          </a:p>
          <a:p>
            <a:pPr lvl="1"/>
            <a:r>
              <a:rPr lang="ru-RU" dirty="0"/>
              <a:t>объект объявлен как </a:t>
            </a:r>
            <a:r>
              <a:rPr lang="ru-RU" b="1" dirty="0" err="1"/>
              <a:t>const</a:t>
            </a:r>
            <a:endParaRPr lang="ru-RU" dirty="0"/>
          </a:p>
          <a:p>
            <a:pPr lvl="1"/>
            <a:r>
              <a:rPr lang="ru-RU" dirty="0"/>
              <a:t>его </a:t>
            </a:r>
            <a:r>
              <a:rPr lang="ru-RU" b="1" dirty="0"/>
              <a:t>данные не изменяются</a:t>
            </a:r>
            <a:endParaRPr lang="ru-RU" dirty="0"/>
          </a:p>
          <a:p>
            <a:pPr lvl="1"/>
            <a:r>
              <a:rPr lang="ru-RU" dirty="0"/>
              <a:t>компилятор запрещает изменение полей объекта</a:t>
            </a:r>
          </a:p>
          <a:p>
            <a:r>
              <a:rPr lang="ru-RU" b="1" dirty="0"/>
              <a:t>Логическая константность</a:t>
            </a:r>
            <a:endParaRPr lang="ru-RU" dirty="0"/>
          </a:p>
          <a:p>
            <a:pPr lvl="1"/>
            <a:r>
              <a:rPr lang="ru-RU" dirty="0"/>
              <a:t>с точки зрения пользователя состояние объекта не меняется</a:t>
            </a:r>
          </a:p>
          <a:p>
            <a:pPr lvl="1"/>
            <a:r>
              <a:rPr lang="ru-RU" dirty="0"/>
              <a:t>внутренние данные могут изменяться</a:t>
            </a:r>
          </a:p>
          <a:p>
            <a:pPr lvl="1"/>
            <a:r>
              <a:rPr lang="ru-RU" dirty="0"/>
              <a:t>используется, например, для кэширования вычислений</a:t>
            </a:r>
          </a:p>
          <a:p>
            <a:r>
              <a:rPr lang="ru-RU" b="1" dirty="0"/>
              <a:t>Идея:</a:t>
            </a:r>
          </a:p>
          <a:p>
            <a:pPr lvl="1"/>
            <a:r>
              <a:rPr lang="ru-RU" dirty="0"/>
              <a:t>внешнее поведение объекта остаётся неизменным,</a:t>
            </a:r>
          </a:p>
          <a:p>
            <a:pPr lvl="1"/>
            <a:r>
              <a:rPr lang="ru-RU" dirty="0"/>
              <a:t>даже если </a:t>
            </a:r>
            <a:r>
              <a:rPr lang="ru-RU" b="1" dirty="0"/>
              <a:t>внутри происходят служебные изменения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60202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7E9E4-CAAD-86A8-5079-C28EBE44D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константность и кеширование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C4F5-0468-E2C4-DEA7-9CFD41FA3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3784" cy="4351338"/>
          </a:xfrm>
        </p:spPr>
        <p:txBody>
          <a:bodyPr/>
          <a:lstStyle/>
          <a:p>
            <a:r>
              <a:rPr lang="ru-RU" dirty="0"/>
              <a:t>Иногда метод </a:t>
            </a:r>
            <a:r>
              <a:rPr lang="ru-RU" b="1" dirty="0"/>
              <a:t>логически не изменяет объект</a:t>
            </a:r>
            <a:r>
              <a:rPr lang="ru-RU" dirty="0"/>
              <a:t>, но хочет </a:t>
            </a:r>
            <a:r>
              <a:rPr lang="ru-RU" b="1" dirty="0"/>
              <a:t>сохранить промежуточный результат</a:t>
            </a:r>
            <a:r>
              <a:rPr lang="ru-RU" dirty="0"/>
              <a:t>.</a:t>
            </a:r>
          </a:p>
          <a:p>
            <a:r>
              <a:rPr lang="ru-RU" dirty="0"/>
              <a:t>Пример — вычисление площади многоугольника.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DB23B-D30D-0EB5-1F36-008CAF12DD9A}"/>
              </a:ext>
            </a:extLst>
          </p:cNvPr>
          <p:cNvSpPr txBox="1"/>
          <p:nvPr/>
        </p:nvSpPr>
        <p:spPr>
          <a:xfrm>
            <a:off x="6117561" y="1825625"/>
            <a:ext cx="60744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y;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Polygon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ComputeArea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ComputeArea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/* … */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std::vector&lt;Point&gt;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m_points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std::optional&lt;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е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ш площади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47437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Изменяемые (</a:t>
            </a:r>
            <a:r>
              <a:rPr lang="en-US" dirty="0"/>
              <a:t>mutable)</a:t>
            </a:r>
            <a:r>
              <a:rPr lang="ru-RU" dirty="0"/>
              <a:t> поля класса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6265912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 err="1">
                <a:solidFill>
                  <a:srgbClr val="FF0000"/>
                </a:solidFill>
                <a:latin typeface="Consolas" panose="020B0609020204030204" pitchFamily="49" charset="0"/>
              </a:rPr>
              <a:t>mutable</a:t>
            </a:r>
            <a:r>
              <a:rPr lang="ru-RU" dirty="0"/>
              <a:t> — спецификатор, позволяющий изменять поле даже в </a:t>
            </a:r>
            <a:r>
              <a:rPr lang="ru-RU" dirty="0" err="1"/>
              <a:t>const</a:t>
            </a:r>
            <a:r>
              <a:rPr lang="ru-RU" dirty="0"/>
              <a:t>-объекте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 err="1"/>
              <a:t>mutable</a:t>
            </a:r>
            <a:r>
              <a:rPr lang="ru-RU" dirty="0"/>
              <a:t>-поле можно изменять внутри </a:t>
            </a:r>
            <a:r>
              <a:rPr lang="ru-RU" dirty="0" err="1"/>
              <a:t>const</a:t>
            </a:r>
            <a:r>
              <a:rPr lang="ru-RU" dirty="0"/>
              <a:t>-методов</a:t>
            </a:r>
          </a:p>
          <a:p>
            <a:pPr lvl="1"/>
            <a:r>
              <a:rPr lang="ru-RU" dirty="0"/>
              <a:t>такие поля не считаются частью логического состояния объекта</a:t>
            </a:r>
          </a:p>
          <a:p>
            <a:pPr lvl="1"/>
            <a:r>
              <a:rPr lang="ru-RU" dirty="0"/>
              <a:t>используются для служебных данных</a:t>
            </a:r>
          </a:p>
          <a:p>
            <a:r>
              <a:rPr lang="ru-RU" dirty="0"/>
              <a:t>Типичные применения:</a:t>
            </a:r>
          </a:p>
          <a:p>
            <a:pPr lvl="1"/>
            <a:r>
              <a:rPr lang="ru-RU" dirty="0"/>
              <a:t>кэширование вычисленных значений</a:t>
            </a:r>
          </a:p>
          <a:p>
            <a:pPr lvl="1"/>
            <a:r>
              <a:rPr lang="ru-RU" dirty="0"/>
              <a:t>ленивые вычисления</a:t>
            </a:r>
          </a:p>
          <a:p>
            <a:pPr lvl="1"/>
            <a:r>
              <a:rPr lang="ru-RU" dirty="0"/>
              <a:t>мьютексы и синхронизация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F5C82-D6E7-9EAF-88C7-A56932D1A5A2}"/>
              </a:ext>
            </a:extLst>
          </p:cNvPr>
          <p:cNvSpPr txBox="1"/>
          <p:nvPr/>
        </p:nvSpPr>
        <p:spPr>
          <a:xfrm>
            <a:off x="7320136" y="1825625"/>
            <a:ext cx="487186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Polygon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ComputeArea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ComputeArea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/* … */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std::vector&lt;Point&gt;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m_points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mutable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std::optional&lt;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205E9F7-6BDA-8C9B-ED18-213995522AA9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{}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PasswordCracker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CrackPassword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maxChars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CrackPassword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maxChars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CrackPassword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maxChars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      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Пароль найден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maxChars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Пароль не найден, перебор закончен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CrackPassword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maxChars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!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3140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76281F-801C-63F9-4610-C63CAB7196A6}"/>
              </a:ext>
            </a:extLst>
          </p:cNvPr>
          <p:cNvSpPr txBox="1"/>
          <p:nvPr/>
        </p:nvSpPr>
        <p:spPr>
          <a:xfrm>
            <a:off x="838200" y="2051924"/>
            <a:ext cx="1136111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std::chrono::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high_resolution_clock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std::chrono::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duration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PasswordCracker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cracker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cracker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CrackPassword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GetHash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Cracked password: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 elapsed: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Failed to crack password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D103E-161A-AE79-DDFF-D63C04FDC3A1}"/>
              </a:ext>
            </a:extLst>
          </p:cNvPr>
          <p:cNvSpPr txBox="1"/>
          <p:nvPr/>
        </p:nvSpPr>
        <p:spPr>
          <a:xfrm>
            <a:off x="8544272" y="5966916"/>
            <a:ext cx="3456384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Cracked password: HELLO</a:t>
            </a:r>
          </a:p>
          <a:p>
            <a:r>
              <a:rPr lang="en-US" dirty="0">
                <a:latin typeface="Consolas" panose="020B0609020204030204" pitchFamily="49" charset="0"/>
              </a:rPr>
              <a:t>Time elapsed: 0.018406s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50C1D4-B7CC-24D9-BA82-7494FC9D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Брутфорсим</a:t>
            </a:r>
            <a:r>
              <a:rPr lang="ru-RU" dirty="0"/>
              <a:t> пароли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68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7ADD65-3209-C9B6-7018-190A7BD77E29}"/>
              </a:ext>
            </a:extLst>
          </p:cNvPr>
          <p:cNvSpPr txBox="1"/>
          <p:nvPr/>
        </p:nvSpPr>
        <p:spPr>
          <a:xfrm>
            <a:off x="0" y="0"/>
            <a:ext cx="12192000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PasswordCracker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CrackPassword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maxChars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m_passwordCache.</a:t>
            </a:r>
            <a:r>
              <a:rPr lang="en-US" sz="16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m_passwordCache.</a:t>
            </a:r>
            <a:r>
              <a:rPr lang="en-US" sz="16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1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-&gt;second;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CrackPassword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maxChars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CrackPassword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maxChars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m_passwordCache.</a:t>
            </a:r>
            <a:r>
              <a:rPr lang="en-US" sz="16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Пароль найден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maxChars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Пароль не найден, перебор закончен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CrackPassword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maxChars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!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pop_back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unordered_map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600" b="1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m_passwordCache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0FB71D-D5A1-EF2B-73F4-67011A749B3B}"/>
              </a:ext>
            </a:extLst>
          </p:cNvPr>
          <p:cNvSpPr txBox="1"/>
          <p:nvPr/>
        </p:nvSpPr>
        <p:spPr>
          <a:xfrm>
            <a:off x="8256240" y="5877272"/>
            <a:ext cx="3791744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Cracked password: HELLO</a:t>
            </a:r>
          </a:p>
          <a:p>
            <a:r>
              <a:rPr lang="en-US" dirty="0">
                <a:latin typeface="Consolas" panose="020B0609020204030204" pitchFamily="49" charset="0"/>
              </a:rPr>
              <a:t>Time elapsed: 1e-07s</a:t>
            </a:r>
          </a:p>
        </p:txBody>
      </p:sp>
    </p:spTree>
    <p:extLst>
      <p:ext uri="{BB962C8B-B14F-4D97-AF65-F5344CB8AC3E}">
        <p14:creationId xmlns:p14="http://schemas.microsoft.com/office/powerpoint/2010/main" val="390737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CE37F2-53A8-419B-A630-7A56AAB9A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Используйте </a:t>
            </a:r>
            <a:r>
              <a:rPr lang="en-US" dirty="0"/>
              <a:t>mutable-</a:t>
            </a:r>
            <a:r>
              <a:rPr lang="ru-RU" dirty="0"/>
              <a:t>поля аккуратно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9D925F-7C91-48B7-8212-407908C8A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err="1"/>
              <a:t>mutable</a:t>
            </a:r>
            <a:r>
              <a:rPr lang="ru-RU" dirty="0"/>
              <a:t> позволяет изменять поле даже у </a:t>
            </a:r>
            <a:r>
              <a:rPr lang="ru-RU" dirty="0" err="1"/>
              <a:t>const</a:t>
            </a:r>
            <a:r>
              <a:rPr lang="ru-RU" dirty="0"/>
              <a:t>-объекта.</a:t>
            </a:r>
          </a:p>
          <a:p>
            <a:r>
              <a:rPr lang="ru-RU" dirty="0"/>
              <a:t>Когда использовать:</a:t>
            </a:r>
          </a:p>
          <a:p>
            <a:pPr lvl="1"/>
            <a:r>
              <a:rPr lang="ru-RU" dirty="0"/>
              <a:t>для поддержания логической константности</a:t>
            </a:r>
          </a:p>
          <a:p>
            <a:pPr lvl="1"/>
            <a:r>
              <a:rPr lang="ru-RU" dirty="0"/>
              <a:t>для кэширования результатов</a:t>
            </a:r>
          </a:p>
          <a:p>
            <a:pPr lvl="1"/>
            <a:r>
              <a:rPr lang="ru-RU" dirty="0"/>
              <a:t>для служебных данных (например, мьютексов)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изменение </a:t>
            </a:r>
            <a:r>
              <a:rPr lang="ru-RU" dirty="0" err="1"/>
              <a:t>mutable</a:t>
            </a:r>
            <a:r>
              <a:rPr lang="ru-RU" dirty="0"/>
              <a:t>-полей не должно менять наблюдаемое состояние объекта</a:t>
            </a:r>
          </a:p>
          <a:p>
            <a:pPr lvl="1"/>
            <a:r>
              <a:rPr lang="ru-RU" dirty="0" err="1"/>
              <a:t>const</a:t>
            </a:r>
            <a:r>
              <a:rPr lang="ru-RU" dirty="0"/>
              <a:t>-интерфейс класса должен оставаться логически неизменным</a:t>
            </a:r>
          </a:p>
          <a:p>
            <a:r>
              <a:rPr lang="ru-RU" dirty="0"/>
              <a:t>Замечание о компиляторе</a:t>
            </a:r>
          </a:p>
          <a:p>
            <a:pPr lvl="1"/>
            <a:r>
              <a:rPr lang="ru-RU" dirty="0"/>
              <a:t>компилятор знает, есть ли у класса </a:t>
            </a:r>
            <a:r>
              <a:rPr lang="ru-RU" dirty="0" err="1"/>
              <a:t>mutable</a:t>
            </a:r>
            <a:r>
              <a:rPr lang="ru-RU" dirty="0"/>
              <a:t>-поля</a:t>
            </a:r>
          </a:p>
          <a:p>
            <a:pPr lvl="1"/>
            <a:r>
              <a:rPr lang="ru-RU" dirty="0"/>
              <a:t>поэтому даже глобальный </a:t>
            </a:r>
            <a:r>
              <a:rPr lang="ru-RU" dirty="0" err="1"/>
              <a:t>const</a:t>
            </a:r>
            <a:r>
              <a:rPr lang="ru-RU" dirty="0"/>
              <a:t>-объект такого класса может быть размещён в RW-памяти, а не в </a:t>
            </a:r>
            <a:r>
              <a:rPr lang="ru-RU" dirty="0" err="1"/>
              <a:t>read-only</a:t>
            </a:r>
            <a:r>
              <a:rPr lang="ru-RU" dirty="0"/>
              <a:t> сегменте</a:t>
            </a:r>
          </a:p>
        </p:txBody>
      </p:sp>
    </p:spTree>
    <p:extLst>
      <p:ext uri="{BB962C8B-B14F-4D97-AF65-F5344CB8AC3E}">
        <p14:creationId xmlns:p14="http://schemas.microsoft.com/office/powerpoint/2010/main" val="21655431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2DA0E0-F245-40ED-A8EE-A4483F669452}"/>
              </a:ext>
            </a:extLst>
          </p:cNvPr>
          <p:cNvSpPr/>
          <p:nvPr/>
        </p:nvSpPr>
        <p:spPr>
          <a:xfrm>
            <a:off x="0" y="0"/>
            <a:ext cx="544792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Mutable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GetValue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m_value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m_value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m_value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GetCounter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m_counter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Change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"Enter Mutable::Change"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            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m_counter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"Exit Mutable::Change"</a:t>
            </a:r>
          </a:p>
          <a:p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             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}</a:t>
            </a:r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mutable</a:t>
            </a:r>
            <a:r>
              <a:rPr lang="de-DE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m_value</a:t>
            </a:r>
            <a:r>
              <a:rPr lang="de-DE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de-DE" sz="1600" b="1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m_counter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CEB707-4F4E-44A6-AFA9-54B4552C1052}"/>
              </a:ext>
            </a:extLst>
          </p:cNvPr>
          <p:cNvSpPr/>
          <p:nvPr/>
        </p:nvSpPr>
        <p:spPr>
          <a:xfrm>
            <a:off x="6096000" y="188640"/>
            <a:ext cx="609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Immutable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GetCounter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m_counter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Change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"Enter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Immutable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::Change"</a:t>
            </a:r>
          </a:p>
          <a:p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            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m_counter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"Exit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Immutable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::Change"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              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}</a:t>
            </a:r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m_counter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027274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522EB0-12B7-4B7E-8A3F-8206C2A4E4B4}"/>
              </a:ext>
            </a:extLst>
          </p:cNvPr>
          <p:cNvSpPr/>
          <p:nvPr/>
        </p:nvSpPr>
        <p:spPr>
          <a:xfrm>
            <a:off x="191344" y="189068"/>
            <a:ext cx="109452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Mutable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Immutable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immut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Immutable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immut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-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immut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 Mutable: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-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mut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const_cast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Mutable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).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Change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mut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GetCounter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const_cast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Immutable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immut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).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Change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immut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GetCounter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DF5382-A976-4093-82F0-1FFFCFC4BB81}"/>
              </a:ext>
            </a:extLst>
          </p:cNvPr>
          <p:cNvSpPr/>
          <p:nvPr/>
        </p:nvSpPr>
        <p:spPr>
          <a:xfrm>
            <a:off x="119336" y="4316034"/>
            <a:ext cx="5076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https://wandbox.org/permlink/vYlRGmbkmDIHo7sK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1D3CD8-ACCB-4247-B070-2265B8513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7223" y="4199346"/>
            <a:ext cx="2528299" cy="25435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F943C20-336E-43CE-BD3C-4CE09C696C37}"/>
              </a:ext>
            </a:extLst>
          </p:cNvPr>
          <p:cNvSpPr/>
          <p:nvPr/>
        </p:nvSpPr>
        <p:spPr>
          <a:xfrm>
            <a:off x="119336" y="4848050"/>
            <a:ext cx="6096000" cy="15696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ru-RU" sz="1600" dirty="0" err="1">
                <a:latin typeface="Consolas" panose="020B0609020204030204" pitchFamily="49" charset="0"/>
              </a:rPr>
              <a:t>Immutable</a:t>
            </a:r>
            <a:r>
              <a:rPr lang="ru-RU" sz="1600" dirty="0">
                <a:latin typeface="Consolas" panose="020B0609020204030204" pitchFamily="49" charset="0"/>
              </a:rPr>
              <a:t>: 0x402038 - 42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  </a:t>
            </a:r>
            <a:r>
              <a:rPr lang="ru-RU" sz="1600" dirty="0" err="1">
                <a:latin typeface="Consolas" panose="020B0609020204030204" pitchFamily="49" charset="0"/>
              </a:rPr>
              <a:t>Mutable</a:t>
            </a:r>
            <a:r>
              <a:rPr lang="ru-RU" sz="1600" dirty="0">
                <a:latin typeface="Consolas" panose="020B0609020204030204" pitchFamily="49" charset="0"/>
              </a:rPr>
              <a:t>: 0x404050 - 42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Enter </a:t>
            </a:r>
            <a:r>
              <a:rPr lang="en-US" sz="1600" dirty="0">
                <a:latin typeface="Consolas" panose="020B0609020204030204" pitchFamily="49" charset="0"/>
              </a:rPr>
              <a:t>M</a:t>
            </a:r>
            <a:r>
              <a:rPr lang="ru-RU" sz="1600" dirty="0" err="1">
                <a:latin typeface="Consolas" panose="020B0609020204030204" pitchFamily="49" charset="0"/>
              </a:rPr>
              <a:t>utable</a:t>
            </a:r>
            <a:r>
              <a:rPr lang="ru-RU" sz="1600" dirty="0">
                <a:latin typeface="Consolas" panose="020B0609020204030204" pitchFamily="49" charset="0"/>
              </a:rPr>
              <a:t>::Change</a:t>
            </a:r>
          </a:p>
          <a:p>
            <a:r>
              <a:rPr lang="ru-RU" sz="1600" dirty="0" err="1">
                <a:latin typeface="Consolas" panose="020B0609020204030204" pitchFamily="49" charset="0"/>
              </a:rPr>
              <a:t>Exit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M</a:t>
            </a:r>
            <a:r>
              <a:rPr lang="ru-RU" sz="1600" dirty="0" err="1">
                <a:latin typeface="Consolas" panose="020B0609020204030204" pitchFamily="49" charset="0"/>
              </a:rPr>
              <a:t>utable</a:t>
            </a:r>
            <a:r>
              <a:rPr lang="ru-RU" sz="1600" dirty="0">
                <a:latin typeface="Consolas" panose="020B0609020204030204" pitchFamily="49" charset="0"/>
              </a:rPr>
              <a:t>::Change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1</a:t>
            </a:r>
          </a:p>
          <a:p>
            <a:r>
              <a:rPr lang="ru-RU" sz="1600" dirty="0" err="1">
                <a:latin typeface="Consolas" panose="020B0609020204030204" pitchFamily="49" charset="0"/>
              </a:rPr>
              <a:t>Enter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Immutable</a:t>
            </a:r>
            <a:r>
              <a:rPr lang="ru-RU" sz="1600" dirty="0">
                <a:latin typeface="Consolas" panose="020B0609020204030204" pitchFamily="49" charset="0"/>
              </a:rPr>
              <a:t>::</a:t>
            </a:r>
            <a:r>
              <a:rPr lang="ru-RU" sz="1600" dirty="0" err="1">
                <a:latin typeface="Consolas" panose="020B0609020204030204" pitchFamily="49" charset="0"/>
              </a:rPr>
              <a:t>Change</a:t>
            </a:r>
            <a:endParaRPr lang="ru-RU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42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4C2815-12B1-8D56-D4D0-216711402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Размещение классов в </a:t>
            </a:r>
            <a:r>
              <a:rPr lang="en-US" dirty="0"/>
              <a:t>.h/.</a:t>
            </a:r>
            <a:r>
              <a:rPr lang="en-US" dirty="0" err="1"/>
              <a:t>cpp</a:t>
            </a:r>
            <a:r>
              <a:rPr lang="ru-RU" dirty="0"/>
              <a:t> файлах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A7DC7-6B5B-3710-01FE-7E77D6CE2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155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Размещение классов в файлах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В C++ принято разделять объявление и реализацию класса.</a:t>
            </a:r>
          </a:p>
          <a:p>
            <a:pPr lvl="1"/>
            <a:r>
              <a:rPr lang="ru-RU" dirty="0"/>
              <a:t>Заголовочный файл (.h / .</a:t>
            </a:r>
            <a:r>
              <a:rPr lang="ru-RU" dirty="0" err="1"/>
              <a:t>hpp</a:t>
            </a:r>
            <a:r>
              <a:rPr lang="ru-RU" dirty="0"/>
              <a:t>): содержит объявление класса, сигнатуры методов, используемые типы</a:t>
            </a:r>
          </a:p>
          <a:p>
            <a:pPr lvl="1"/>
            <a:r>
              <a:rPr lang="ru-RU" dirty="0"/>
              <a:t>Файл реализации (.</a:t>
            </a:r>
            <a:r>
              <a:rPr lang="ru-RU" dirty="0" err="1"/>
              <a:t>cpp</a:t>
            </a:r>
            <a:r>
              <a:rPr lang="ru-RU" dirty="0"/>
              <a:t>): содержит реализация методов класса</a:t>
            </a:r>
          </a:p>
          <a:p>
            <a:r>
              <a:rPr lang="ru-RU" dirty="0"/>
              <a:t>Преимущества такого подхода:</a:t>
            </a:r>
          </a:p>
          <a:p>
            <a:pPr lvl="1"/>
            <a:r>
              <a:rPr lang="ru-RU" dirty="0"/>
              <a:t>класс легко найти и использовать</a:t>
            </a:r>
          </a:p>
          <a:p>
            <a:pPr lvl="1"/>
            <a:r>
              <a:rPr lang="ru-RU" dirty="0"/>
              <a:t>подключается через</a:t>
            </a:r>
            <a:br>
              <a:rPr lang="ru-RU" dirty="0"/>
            </a:br>
            <a:r>
              <a:rPr lang="ru-RU" dirty="0"/>
              <a:t>#include "</a:t>
            </a:r>
            <a:r>
              <a:rPr lang="ru-RU" dirty="0" err="1"/>
              <a:t>ClassName.h</a:t>
            </a:r>
            <a:r>
              <a:rPr lang="ru-RU" dirty="0"/>
              <a:t>"</a:t>
            </a:r>
          </a:p>
          <a:p>
            <a:pPr lvl="1"/>
            <a:r>
              <a:rPr lang="ru-RU" dirty="0"/>
              <a:t>уменьшает время перекомпиляции — при изменении реализации </a:t>
            </a:r>
            <a:r>
              <a:rPr lang="ru-RU" dirty="0" err="1"/>
              <a:t>пересобираются</a:t>
            </a:r>
            <a:r>
              <a:rPr lang="ru-RU" dirty="0"/>
              <a:t> только нужные файлы</a:t>
            </a:r>
          </a:p>
          <a:p>
            <a:pPr lvl="1"/>
            <a:r>
              <a:rPr lang="ru-RU" dirty="0"/>
              <a:t>улучшает структуру и читаемость проекта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579" name="AutoShape 4"/>
          <p:cNvSpPr>
            <a:spLocks noChangeArrowheads="1"/>
          </p:cNvSpPr>
          <p:nvPr/>
        </p:nvSpPr>
        <p:spPr bwMode="auto">
          <a:xfrm rot="10800000" flipH="1">
            <a:off x="263352" y="2276473"/>
            <a:ext cx="3600400" cy="4216402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/>
          <a:lstStyle/>
          <a:p>
            <a:pPr defTabSz="363538"/>
            <a:r>
              <a:rPr lang="en-US" sz="1600" b="1" dirty="0">
                <a:latin typeface="Courier New" pitchFamily="49" charset="0"/>
              </a:rPr>
              <a:t>// </a:t>
            </a:r>
            <a:r>
              <a:rPr lang="en-US" sz="1600" b="1" dirty="0" err="1">
                <a:latin typeface="Courier New" pitchFamily="49" charset="0"/>
              </a:rPr>
              <a:t>Circle.h</a:t>
            </a:r>
            <a:endParaRPr lang="en-US" sz="1600" b="1" dirty="0">
              <a:latin typeface="Courier New" pitchFamily="49" charset="0"/>
            </a:endParaRPr>
          </a:p>
          <a:p>
            <a:pPr defTabSz="363538"/>
            <a:endParaRPr lang="en-US" sz="1600" b="1" dirty="0">
              <a:latin typeface="Courier New" pitchFamily="49" charset="0"/>
            </a:endParaRPr>
          </a:p>
          <a:p>
            <a:pPr defTabSz="363538"/>
            <a:r>
              <a:rPr lang="en-US" sz="1600" b="1" dirty="0">
                <a:latin typeface="Courier New" pitchFamily="49" charset="0"/>
              </a:rPr>
              <a:t>#pragma once</a:t>
            </a:r>
          </a:p>
          <a:p>
            <a:pPr defTabSz="363538"/>
            <a:endParaRPr lang="en-US" sz="1600" b="1" dirty="0">
              <a:latin typeface="Courier New" pitchFamily="49" charset="0"/>
            </a:endParaRPr>
          </a:p>
          <a:p>
            <a:pPr defTabSz="363538"/>
            <a:r>
              <a:rPr lang="en-US" sz="1600" b="1" dirty="0">
                <a:latin typeface="Courier New" pitchFamily="49" charset="0"/>
              </a:rPr>
              <a:t>class Circle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{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public: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	void </a:t>
            </a:r>
            <a:r>
              <a:rPr lang="en-US" sz="1600" b="1" dirty="0" err="1">
                <a:latin typeface="Courier New" pitchFamily="49" charset="0"/>
              </a:rPr>
              <a:t>SetRadius</a:t>
            </a:r>
            <a:r>
              <a:rPr lang="en-US" sz="1600" b="1" dirty="0">
                <a:latin typeface="Courier New" pitchFamily="49" charset="0"/>
              </a:rPr>
              <a:t>(double r);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	double </a:t>
            </a:r>
            <a:r>
              <a:rPr lang="en-US" sz="1600" b="1" dirty="0" err="1">
                <a:latin typeface="Courier New" pitchFamily="49" charset="0"/>
              </a:rPr>
              <a:t>GetArea</a:t>
            </a:r>
            <a:r>
              <a:rPr lang="en-US" sz="1600" b="1" dirty="0">
                <a:latin typeface="Courier New" pitchFamily="49" charset="0"/>
              </a:rPr>
              <a:t>()const;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	...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private: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	double </a:t>
            </a:r>
            <a:r>
              <a:rPr lang="en-US" sz="1600" b="1" dirty="0" err="1">
                <a:latin typeface="Courier New" pitchFamily="49" charset="0"/>
              </a:rPr>
              <a:t>m_radius</a:t>
            </a:r>
            <a:r>
              <a:rPr lang="en-US" sz="1600" b="1" dirty="0">
                <a:latin typeface="Courier New" pitchFamily="49" charset="0"/>
              </a:rPr>
              <a:t> = 0.0;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};</a:t>
            </a:r>
            <a:endParaRPr lang="ru-RU" sz="1600" b="1" dirty="0">
              <a:latin typeface="Courier New" pitchFamily="49" charset="0"/>
            </a:endParaRPr>
          </a:p>
        </p:txBody>
      </p:sp>
      <p:sp>
        <p:nvSpPr>
          <p:cNvPr id="24580" name="AutoShape 5"/>
          <p:cNvSpPr>
            <a:spLocks noChangeArrowheads="1"/>
          </p:cNvSpPr>
          <p:nvPr/>
        </p:nvSpPr>
        <p:spPr bwMode="auto">
          <a:xfrm rot="10800000" flipH="1">
            <a:off x="4079775" y="2276471"/>
            <a:ext cx="4896545" cy="4392888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/>
          <a:lstStyle/>
          <a:p>
            <a:pPr defTabSz="363538"/>
            <a:r>
              <a:rPr lang="en-US" sz="1600" b="1" dirty="0">
                <a:latin typeface="Courier New" pitchFamily="49" charset="0"/>
              </a:rPr>
              <a:t>// Circle.cpp</a:t>
            </a:r>
          </a:p>
          <a:p>
            <a:pPr defTabSz="363538"/>
            <a:endParaRPr lang="en-US" sz="1600" b="1" dirty="0">
              <a:latin typeface="Courier New" pitchFamily="49" charset="0"/>
            </a:endParaRPr>
          </a:p>
          <a:p>
            <a:pPr defTabSz="363538"/>
            <a:r>
              <a:rPr lang="en-US" sz="1600" b="1" dirty="0">
                <a:latin typeface="Courier New" pitchFamily="49" charset="0"/>
              </a:rPr>
              <a:t>#include “</a:t>
            </a:r>
            <a:r>
              <a:rPr lang="en-US" sz="1600" b="1">
                <a:latin typeface="Courier New" pitchFamily="49" charset="0"/>
              </a:rPr>
              <a:t>Circle.</a:t>
            </a:r>
            <a:r>
              <a:rPr lang="en-US" sz="1600" b="1" dirty="0" err="1">
                <a:latin typeface="Courier New" pitchFamily="49" charset="0"/>
              </a:rPr>
              <a:t>h</a:t>
            </a:r>
            <a:r>
              <a:rPr lang="en-US" sz="1600" b="1" dirty="0">
                <a:latin typeface="Courier New" pitchFamily="49" charset="0"/>
              </a:rPr>
              <a:t>"</a:t>
            </a:r>
          </a:p>
          <a:p>
            <a:pPr defTabSz="363538"/>
            <a:endParaRPr lang="en-US" sz="1600" b="1" dirty="0">
              <a:latin typeface="Courier New" pitchFamily="49" charset="0"/>
            </a:endParaRPr>
          </a:p>
          <a:p>
            <a:pPr defTabSz="363538"/>
            <a:r>
              <a:rPr lang="en-US" sz="1600" b="1" dirty="0">
                <a:latin typeface="Courier New" pitchFamily="49" charset="0"/>
              </a:rPr>
              <a:t>void Circle::</a:t>
            </a:r>
            <a:r>
              <a:rPr lang="en-US" sz="1600" b="1" dirty="0" err="1">
                <a:latin typeface="Courier New" pitchFamily="49" charset="0"/>
              </a:rPr>
              <a:t>SetRadius</a:t>
            </a:r>
            <a:r>
              <a:rPr lang="en-US" sz="1600" b="1" dirty="0">
                <a:latin typeface="Courier New" pitchFamily="49" charset="0"/>
              </a:rPr>
              <a:t>(double r)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{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</a:rPr>
              <a:t>m_radius</a:t>
            </a:r>
            <a:r>
              <a:rPr lang="en-US" sz="1600" b="1" dirty="0">
                <a:latin typeface="Courier New" pitchFamily="49" charset="0"/>
              </a:rPr>
              <a:t> = r;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}</a:t>
            </a:r>
          </a:p>
          <a:p>
            <a:pPr defTabSz="363538"/>
            <a:endParaRPr lang="en-US" sz="1600" b="1" dirty="0">
              <a:latin typeface="Courier New" pitchFamily="49" charset="0"/>
            </a:endParaRPr>
          </a:p>
          <a:p>
            <a:pPr defTabSz="363538"/>
            <a:r>
              <a:rPr lang="en-US" sz="1600" b="1" dirty="0">
                <a:latin typeface="Courier New" pitchFamily="49" charset="0"/>
              </a:rPr>
              <a:t>double Circle::</a:t>
            </a:r>
            <a:r>
              <a:rPr lang="en-US" sz="1600" b="1" dirty="0" err="1">
                <a:latin typeface="Courier New" pitchFamily="49" charset="0"/>
              </a:rPr>
              <a:t>GetArea</a:t>
            </a:r>
            <a:r>
              <a:rPr lang="en-US" sz="1600" b="1" dirty="0">
                <a:latin typeface="Courier New" pitchFamily="49" charset="0"/>
              </a:rPr>
              <a:t>()const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{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	return </a:t>
            </a:r>
            <a:r>
              <a:rPr lang="en-US" sz="1600" b="1" dirty="0" err="1">
                <a:latin typeface="Courier New" pitchFamily="49" charset="0"/>
              </a:rPr>
              <a:t>m_radius</a:t>
            </a:r>
            <a:r>
              <a:rPr lang="en-US" sz="1600" b="1" dirty="0">
                <a:latin typeface="Courier New" pitchFamily="49" charset="0"/>
              </a:rPr>
              <a:t> * </a:t>
            </a:r>
            <a:r>
              <a:rPr lang="en-US" sz="1600" b="1" dirty="0" err="1">
                <a:latin typeface="Courier New" pitchFamily="49" charset="0"/>
              </a:rPr>
              <a:t>m_radius</a:t>
            </a:r>
            <a:r>
              <a:rPr lang="en-US" sz="1600" b="1" dirty="0">
                <a:latin typeface="Courier New" pitchFamily="49" charset="0"/>
              </a:rPr>
              <a:t> * PI;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}</a:t>
            </a:r>
          </a:p>
        </p:txBody>
      </p:sp>
      <p:sp>
        <p:nvSpPr>
          <p:cNvPr id="24581" name="AutoShape 6"/>
          <p:cNvSpPr>
            <a:spLocks noChangeArrowheads="1"/>
          </p:cNvSpPr>
          <p:nvPr/>
        </p:nvSpPr>
        <p:spPr bwMode="auto">
          <a:xfrm rot="10800000" flipH="1">
            <a:off x="9120336" y="2276472"/>
            <a:ext cx="2952327" cy="4392887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/>
          <a:lstStyle/>
          <a:p>
            <a:pPr defTabSz="363538"/>
            <a:r>
              <a:rPr lang="en-US" sz="1600" b="1" dirty="0">
                <a:latin typeface="Courier New" pitchFamily="49" charset="0"/>
              </a:rPr>
              <a:t>//main.cpp</a:t>
            </a:r>
          </a:p>
          <a:p>
            <a:pPr defTabSz="363538"/>
            <a:endParaRPr lang="en-US" sz="1600" b="1" dirty="0">
              <a:latin typeface="Courier New" pitchFamily="49" charset="0"/>
            </a:endParaRPr>
          </a:p>
          <a:p>
            <a:pPr defTabSz="363538"/>
            <a:endParaRPr lang="en-US" sz="1600" b="1" dirty="0">
              <a:latin typeface="Courier New" pitchFamily="49" charset="0"/>
            </a:endParaRPr>
          </a:p>
          <a:p>
            <a:pPr defTabSz="363538"/>
            <a:r>
              <a:rPr lang="en-US" sz="1600" b="1" dirty="0">
                <a:latin typeface="Courier New" pitchFamily="49" charset="0"/>
              </a:rPr>
              <a:t>#include "</a:t>
            </a:r>
            <a:r>
              <a:rPr lang="en-US" sz="1600" b="1" dirty="0" err="1">
                <a:latin typeface="Courier New" pitchFamily="49" charset="0"/>
              </a:rPr>
              <a:t>Circle.h</a:t>
            </a:r>
            <a:r>
              <a:rPr lang="en-US" sz="1600" b="1" dirty="0">
                <a:latin typeface="Courier New" pitchFamily="49" charset="0"/>
              </a:rPr>
              <a:t>"</a:t>
            </a:r>
          </a:p>
          <a:p>
            <a:pPr defTabSz="363538"/>
            <a:endParaRPr lang="en-US" sz="1600" b="1" dirty="0">
              <a:latin typeface="Courier New" pitchFamily="49" charset="0"/>
            </a:endParaRPr>
          </a:p>
          <a:p>
            <a:pPr defTabSz="363538"/>
            <a:r>
              <a:rPr lang="en-US" sz="1600" b="1" dirty="0">
                <a:latin typeface="Courier New" pitchFamily="49" charset="0"/>
              </a:rPr>
              <a:t>int main()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{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	Circle c;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</a:rPr>
              <a:t>c.SetRadius</a:t>
            </a:r>
            <a:r>
              <a:rPr lang="en-US" sz="1600" b="1" dirty="0">
                <a:latin typeface="Courier New" pitchFamily="49" charset="0"/>
              </a:rPr>
              <a:t>(10);</a:t>
            </a:r>
          </a:p>
          <a:p>
            <a:pPr defTabSz="363538"/>
            <a:r>
              <a:rPr lang="en-US" sz="1600" b="1" dirty="0">
                <a:latin typeface="Courier New" pitchFamily="49" charset="0"/>
              </a:rPr>
              <a:t>}</a:t>
            </a:r>
            <a:endParaRPr lang="ru-RU" sz="1600" b="1" dirty="0">
              <a:latin typeface="Courier New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860C37-1127-33D5-6D25-68583F55BE61}"/>
                  </a:ext>
                </a:extLst>
              </p14:cNvPr>
              <p14:cNvContentPartPr/>
              <p14:nvPr/>
            </p14:nvContentPartPr>
            <p14:xfrm>
              <a:off x="2406880" y="1273354"/>
              <a:ext cx="245520" cy="19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860C37-1127-33D5-6D25-68583F55BE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0760" y="1267234"/>
                <a:ext cx="257760" cy="31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/>
      <p:bldP spid="24580" grpId="0" animBg="1"/>
      <p:bldP spid="2458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CFAD5-DB54-459C-895B-8B59D52B1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Спецификаторы уровня доступа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C871-A6C4-4109-B915-4E55B896A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8539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Публичные (</a:t>
            </a:r>
            <a:r>
              <a:rPr lang="en-US" dirty="0"/>
              <a:t>public)</a:t>
            </a:r>
            <a:r>
              <a:rPr lang="ru-RU" dirty="0"/>
              <a:t> поля и методы класса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Public-часть класса формирует его </a:t>
            </a:r>
            <a:r>
              <a:rPr lang="ru-RU" b="1" dirty="0"/>
              <a:t>интерфейс</a:t>
            </a:r>
          </a:p>
          <a:p>
            <a:pPr lvl="1"/>
            <a:r>
              <a:rPr lang="ru-RU" dirty="0" err="1"/>
              <a:t>public</a:t>
            </a:r>
            <a:r>
              <a:rPr lang="ru-RU" dirty="0"/>
              <a:t>-методы и поля доступны из любого кода</a:t>
            </a:r>
          </a:p>
          <a:p>
            <a:pPr lvl="1"/>
            <a:r>
              <a:rPr lang="ru-RU" dirty="0"/>
              <a:t>через них пользователи взаимодействуют с объектом</a:t>
            </a:r>
          </a:p>
          <a:p>
            <a:r>
              <a:rPr lang="ru-RU" dirty="0"/>
              <a:t>Хорошая практика</a:t>
            </a:r>
          </a:p>
          <a:p>
            <a:pPr lvl="1"/>
            <a:r>
              <a:rPr lang="ru-RU" dirty="0"/>
              <a:t>размещайте в </a:t>
            </a:r>
            <a:r>
              <a:rPr lang="ru-RU" dirty="0" err="1"/>
              <a:t>public</a:t>
            </a:r>
            <a:r>
              <a:rPr lang="ru-RU" dirty="0"/>
              <a:t> минимально необходимый набор операций</a:t>
            </a:r>
          </a:p>
          <a:p>
            <a:pPr lvl="1"/>
            <a:r>
              <a:rPr lang="ru-RU" dirty="0"/>
              <a:t>методы должны выполнять осмысленные операции высокого уровня</a:t>
            </a:r>
          </a:p>
          <a:p>
            <a:pPr lvl="1"/>
            <a:r>
              <a:rPr lang="ru-RU" dirty="0"/>
              <a:t>вызов метода должен переводить объект из одного корректного состояния в другое</a:t>
            </a:r>
          </a:p>
          <a:p>
            <a:r>
              <a:rPr lang="ru-RU" dirty="0"/>
              <a:t>Важно</a:t>
            </a:r>
          </a:p>
          <a:p>
            <a:pPr lvl="1"/>
            <a:r>
              <a:rPr lang="ru-RU" dirty="0"/>
              <a:t>публичные данные — обычно плохая практика</a:t>
            </a:r>
          </a:p>
          <a:p>
            <a:pPr lvl="1"/>
            <a:r>
              <a:rPr lang="ru-RU" dirty="0"/>
              <a:t>класс должен сам управлять своими данными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Закрытые (приватные) поля</a:t>
            </a:r>
            <a:r>
              <a:rPr lang="en-US" dirty="0"/>
              <a:t> </a:t>
            </a:r>
            <a:r>
              <a:rPr lang="ru-RU" dirty="0"/>
              <a:t>и методы класса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Private-часть класса описывает его </a:t>
            </a:r>
            <a:r>
              <a:rPr lang="ru-RU" b="1" dirty="0"/>
              <a:t>реализацию</a:t>
            </a:r>
          </a:p>
          <a:p>
            <a:pPr lvl="1"/>
            <a:r>
              <a:rPr lang="ru-RU" dirty="0" err="1"/>
              <a:t>private</a:t>
            </a:r>
            <a:r>
              <a:rPr lang="ru-RU" dirty="0"/>
              <a:t>-данные и методы доступны только внутри класса</a:t>
            </a:r>
          </a:p>
          <a:p>
            <a:pPr lvl="1"/>
            <a:r>
              <a:rPr lang="ru-RU" dirty="0"/>
              <a:t>внешний код не может обращаться к ним напрямую</a:t>
            </a:r>
          </a:p>
          <a:p>
            <a:r>
              <a:rPr lang="ru-RU" dirty="0"/>
              <a:t>Рекомендации</a:t>
            </a:r>
          </a:p>
          <a:p>
            <a:pPr lvl="1"/>
            <a:r>
              <a:rPr lang="ru-RU" dirty="0"/>
              <a:t>данные класса обычно делают приватными</a:t>
            </a:r>
          </a:p>
          <a:p>
            <a:pPr lvl="1"/>
            <a:r>
              <a:rPr lang="ru-RU" dirty="0"/>
              <a:t>работа с ними выполняется через методы класса</a:t>
            </a:r>
          </a:p>
          <a:p>
            <a:pPr lvl="1"/>
            <a:r>
              <a:rPr lang="ru-RU" dirty="0" err="1"/>
              <a:t>private</a:t>
            </a:r>
            <a:r>
              <a:rPr lang="ru-RU" dirty="0"/>
              <a:t>-методы используются для внутренней логики</a:t>
            </a:r>
          </a:p>
          <a:p>
            <a:r>
              <a:rPr lang="ru-RU" dirty="0"/>
              <a:t>Хорошая практика</a:t>
            </a:r>
          </a:p>
          <a:p>
            <a:pPr lvl="1"/>
            <a:r>
              <a:rPr lang="ru-RU" dirty="0" err="1"/>
              <a:t>private</a:t>
            </a:r>
            <a:r>
              <a:rPr lang="ru-RU" dirty="0"/>
              <a:t>-методы помогают разбить сложную логику на части</a:t>
            </a:r>
          </a:p>
          <a:p>
            <a:pPr lvl="1"/>
            <a:r>
              <a:rPr lang="ru-RU" dirty="0"/>
              <a:t>если приватный метод не используется — его следует удалить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BE11DD-3DBB-3B96-2BD1-CC64DB724862}"/>
              </a:ext>
            </a:extLst>
          </p:cNvPr>
          <p:cNvSpPr txBox="1"/>
          <p:nvPr/>
        </p:nvSpPr>
        <p:spPr>
          <a:xfrm>
            <a:off x="15806" y="0"/>
            <a:ext cx="1198484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…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hours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(hours 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hours &gt;=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minutes 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|| minutes &gt;=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seconds 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seconds &gt;=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Вызываем приватный метод.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SetUnchecked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(hours, minutes, seconds);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SetMidnight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SetUnchecked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Приватный метод. Устанавливает время, не проверяя аргументы.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SetUnchecked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hours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minutes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m_seconds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(hours *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minutes) *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seconds;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m_seconds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Защищенные</a:t>
            </a:r>
            <a:r>
              <a:rPr lang="en-US"/>
              <a:t> </a:t>
            </a:r>
            <a:r>
              <a:rPr lang="ru-RU"/>
              <a:t>поля класса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protected</a:t>
            </a:r>
            <a:r>
              <a:rPr lang="ru-RU" dirty="0"/>
              <a:t> — уровень доступа </a:t>
            </a:r>
            <a:r>
              <a:rPr lang="ru-RU" b="1" dirty="0"/>
              <a:t>для наследования</a:t>
            </a:r>
          </a:p>
          <a:p>
            <a:pPr lvl="1"/>
            <a:r>
              <a:rPr lang="ru-RU" dirty="0"/>
              <a:t>доступны внутри класса</a:t>
            </a:r>
          </a:p>
          <a:p>
            <a:pPr lvl="1"/>
            <a:r>
              <a:rPr lang="ru-RU" dirty="0"/>
              <a:t>доступны в производных классах</a:t>
            </a:r>
          </a:p>
          <a:p>
            <a:pPr lvl="1"/>
            <a:r>
              <a:rPr lang="ru-RU" dirty="0"/>
              <a:t>недоступны внешнему коду</a:t>
            </a:r>
          </a:p>
          <a:p>
            <a:r>
              <a:rPr lang="ru-RU" dirty="0"/>
              <a:t>Когда используется:</a:t>
            </a:r>
          </a:p>
          <a:p>
            <a:pPr lvl="1"/>
            <a:r>
              <a:rPr lang="ru-RU" dirty="0"/>
              <a:t>для методов и данных, которые нужны классам-потомкам</a:t>
            </a:r>
          </a:p>
          <a:p>
            <a:pPr lvl="1"/>
            <a:r>
              <a:rPr lang="ru-RU" dirty="0"/>
              <a:t>для элементов, которые не должны быть частью публичного интерфейса</a:t>
            </a:r>
          </a:p>
          <a:p>
            <a:r>
              <a:rPr lang="ru-RU" dirty="0"/>
              <a:t>Важно</a:t>
            </a:r>
          </a:p>
          <a:p>
            <a:pPr lvl="1"/>
            <a:r>
              <a:rPr lang="ru-RU" dirty="0" err="1"/>
              <a:t>protected</a:t>
            </a:r>
            <a:r>
              <a:rPr lang="ru-RU" dirty="0"/>
              <a:t> формирует интерфейс для наследования</a:t>
            </a:r>
          </a:p>
          <a:p>
            <a:pPr lvl="1"/>
            <a:r>
              <a:rPr lang="ru-RU" dirty="0"/>
              <a:t>применяется при построении иерархий классов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Уровни доступа к полям и методам класса</a:t>
            </a:r>
          </a:p>
        </p:txBody>
      </p:sp>
      <p:graphicFrame>
        <p:nvGraphicFramePr>
          <p:cNvPr id="15" name="Содержимое 1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589635"/>
              </p:ext>
            </p:extLst>
          </p:nvPr>
        </p:nvGraphicFramePr>
        <p:xfrm>
          <a:off x="838200" y="1825625"/>
          <a:ext cx="105155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5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sz="2800" dirty="0"/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public</a:t>
                      </a:r>
                      <a:endParaRPr lang="ru-RU" sz="2800" dirty="0"/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protected</a:t>
                      </a:r>
                      <a:endParaRPr lang="ru-RU" sz="2800" dirty="0"/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private</a:t>
                      </a:r>
                      <a:endParaRPr lang="ru-RU" sz="2800" dirty="0"/>
                    </a:p>
                  </a:txBody>
                  <a:tcPr marL="87630" marR="876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/>
                        <a:t>Доступ из методов самого класса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00B050"/>
                          </a:solidFill>
                        </a:rPr>
                        <a:t>Есть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00B050"/>
                          </a:solidFill>
                        </a:rPr>
                        <a:t>Есть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00B050"/>
                          </a:solidFill>
                        </a:rPr>
                        <a:t>Есть</a:t>
                      </a:r>
                    </a:p>
                  </a:txBody>
                  <a:tcPr marL="87630" marR="876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/>
                        <a:t>Доступ из методов классов-наследников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00B050"/>
                          </a:solidFill>
                        </a:rPr>
                        <a:t>Есть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00B050"/>
                          </a:solidFill>
                        </a:rPr>
                        <a:t>Есть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FF0000"/>
                          </a:solidFill>
                        </a:rPr>
                        <a:t>Нет</a:t>
                      </a:r>
                    </a:p>
                  </a:txBody>
                  <a:tcPr marL="87630" marR="876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/>
                        <a:t>Доступ извне класса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00B050"/>
                          </a:solidFill>
                        </a:rPr>
                        <a:t>Есть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FF0000"/>
                          </a:solidFill>
                        </a:rPr>
                        <a:t>Нет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r>
                        <a:rPr lang="ru-RU" sz="2800" b="1" dirty="0">
                          <a:solidFill>
                            <a:srgbClr val="FF0000"/>
                          </a:solidFill>
                        </a:rPr>
                        <a:t>Нет</a:t>
                      </a:r>
                    </a:p>
                  </a:txBody>
                  <a:tcPr marL="87630" marR="876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ACEE-D1C0-A2D9-A864-E627DCA5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(</a:t>
            </a:r>
            <a:r>
              <a:rPr lang="en-US" dirty="0"/>
              <a:t>Properties)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24C4A-CF45-BE8F-C076-7B092E173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250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(</a:t>
            </a:r>
            <a:r>
              <a:rPr lang="en-US" dirty="0"/>
              <a:t>Properties)</a:t>
            </a:r>
            <a:endParaRPr lang="ru-RU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Свойство — это характеристика объекта, к которой обращаются как к полю, но фактически она реализуется через методы.</a:t>
            </a:r>
          </a:p>
          <a:p>
            <a:r>
              <a:rPr lang="ru-RU" dirty="0"/>
              <a:t>Возможности свойств:</a:t>
            </a:r>
          </a:p>
          <a:p>
            <a:pPr lvl="1"/>
            <a:r>
              <a:rPr lang="ru-RU" dirty="0"/>
              <a:t>при записи можно выполнять проверку или преобразование данных</a:t>
            </a:r>
          </a:p>
          <a:p>
            <a:pPr lvl="1"/>
            <a:r>
              <a:rPr lang="ru-RU" dirty="0"/>
              <a:t>при чтении значение может вычисляться</a:t>
            </a:r>
          </a:p>
          <a:p>
            <a:pPr lvl="1"/>
            <a:r>
              <a:rPr lang="ru-RU" dirty="0"/>
              <a:t>свойства могут быть:</a:t>
            </a:r>
          </a:p>
          <a:p>
            <a:pPr lvl="2"/>
            <a:r>
              <a:rPr lang="ru-RU" dirty="0"/>
              <a:t>только для чтения</a:t>
            </a:r>
          </a:p>
          <a:p>
            <a:pPr lvl="2"/>
            <a:r>
              <a:rPr lang="ru-RU" dirty="0"/>
              <a:t>только для записи</a:t>
            </a:r>
          </a:p>
          <a:p>
            <a:pPr lvl="2"/>
            <a:r>
              <a:rPr lang="ru-RU" dirty="0"/>
              <a:t>для чтения и записи</a:t>
            </a:r>
          </a:p>
          <a:p>
            <a:r>
              <a:rPr lang="ru-RU" dirty="0"/>
              <a:t>Важно</a:t>
            </a:r>
          </a:p>
          <a:p>
            <a:pPr lvl="1"/>
            <a:r>
              <a:rPr lang="ru-RU" dirty="0" err="1"/>
              <a:t>getter</a:t>
            </a:r>
            <a:r>
              <a:rPr lang="ru-RU" dirty="0"/>
              <a:t> не должен иметь видимых побочных эффектов</a:t>
            </a:r>
          </a:p>
          <a:p>
            <a:pPr lvl="1"/>
            <a:r>
              <a:rPr lang="ru-RU" dirty="0"/>
              <a:t>в C++ свойства не являются элементом языка</a:t>
            </a:r>
            <a:r>
              <a:rPr lang="en-US" dirty="0"/>
              <a:t> </a:t>
            </a:r>
            <a:r>
              <a:rPr lang="ru-RU" dirty="0"/>
              <a:t>их обычно эмулируют через методы </a:t>
            </a:r>
            <a:r>
              <a:rPr lang="ru-RU" dirty="0" err="1"/>
              <a:t>get</a:t>
            </a:r>
            <a:r>
              <a:rPr lang="ru-RU" dirty="0"/>
              <a:t> / </a:t>
            </a:r>
            <a:r>
              <a:rPr lang="ru-RU" dirty="0" err="1"/>
              <a:t>set</a:t>
            </a:r>
            <a:endParaRPr lang="ru-RU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9CBA43E-0CAE-2501-E457-EE124A70E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– свойства в языке </a:t>
            </a:r>
            <a:r>
              <a:rPr lang="en-US" dirty="0"/>
              <a:t>C#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EA573-C46F-9BF9-2BBF-5978AECBB4CC}"/>
              </a:ext>
            </a:extLst>
          </p:cNvPr>
          <p:cNvSpPr txBox="1"/>
          <p:nvPr/>
        </p:nvSpPr>
        <p:spPr>
          <a:xfrm>
            <a:off x="838200" y="1691561"/>
            <a:ext cx="99383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Consolas" panose="020B0609020204030204" pitchFamily="49" charset="0"/>
              </a:rPr>
              <a:t>public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class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TimePeriod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ru-RU" dirty="0" err="1">
                <a:latin typeface="Consolas" panose="020B0609020204030204" pitchFamily="49" charset="0"/>
              </a:rPr>
              <a:t>private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double</a:t>
            </a:r>
            <a:r>
              <a:rPr lang="ru-RU" dirty="0">
                <a:latin typeface="Consolas" panose="020B0609020204030204" pitchFamily="49" charset="0"/>
              </a:rPr>
              <a:t> _</a:t>
            </a:r>
            <a:r>
              <a:rPr lang="ru-RU" dirty="0" err="1">
                <a:latin typeface="Consolas" panose="020B0609020204030204" pitchFamily="49" charset="0"/>
              </a:rPr>
              <a:t>seconds</a:t>
            </a:r>
            <a:r>
              <a:rPr lang="ru-RU" dirty="0">
                <a:latin typeface="Consolas" panose="020B0609020204030204" pitchFamily="49" charset="0"/>
              </a:rPr>
              <a:t>;</a:t>
            </a:r>
          </a:p>
          <a:p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  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public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Hours</a:t>
            </a:r>
            <a:endParaRPr lang="ru-RU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      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get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{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_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seconds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/ 3600; }</a:t>
            </a:r>
          </a:p>
          <a:p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      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set</a:t>
            </a:r>
            <a:endParaRPr lang="ru-RU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          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(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value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&lt; 0 ||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value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&gt;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24)</a:t>
            </a:r>
          </a:p>
          <a:p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              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throw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ArgumentOutOfRangeException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nameof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value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                     "The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valid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range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is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between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0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and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24.");</a:t>
            </a:r>
          </a:p>
          <a:p>
            <a:endParaRPr lang="ru-RU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           _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seconds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= </a:t>
            </a:r>
            <a:r>
              <a:rPr lang="ru-RU" dirty="0" err="1">
                <a:solidFill>
                  <a:srgbClr val="0070C0"/>
                </a:solidFill>
                <a:latin typeface="Consolas" panose="020B0609020204030204" pitchFamily="49" charset="0"/>
              </a:rPr>
              <a:t>value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* 3600;</a:t>
            </a:r>
          </a:p>
          <a:p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38749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C831D7-AF19-4AFF-BCC4-E9E378393D95}"/>
              </a:ext>
            </a:extLst>
          </p:cNvPr>
          <p:cNvSpPr/>
          <p:nvPr/>
        </p:nvSpPr>
        <p:spPr>
          <a:xfrm>
            <a:off x="20561" y="117693"/>
            <a:ext cx="113538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internal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Circle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radius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Radius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radius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ArgumentException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"Radius must not 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be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 negative"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radius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Area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Radius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Radius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Math</a:t>
            </a:r>
            <a:r>
              <a:rPr lang="de-DE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PI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Circle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radius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de-DE" sz="1600" dirty="0">
                <a:solidFill>
                  <a:srgbClr val="AF00DB"/>
                </a:solidFill>
                <a:latin typeface="Consolas" panose="020B0609020204030204" pitchFamily="49" charset="0"/>
              </a:rPr>
              <a:t>        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radius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ArgumentException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"Radius 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must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 not 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be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 negative"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radius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radius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CB96D8-16D7-4716-8984-65A5B33E8612}"/>
              </a:ext>
            </a:extLst>
          </p:cNvPr>
          <p:cNvSpPr/>
          <p:nvPr/>
        </p:nvSpPr>
        <p:spPr>
          <a:xfrm>
            <a:off x="5707333" y="5689729"/>
            <a:ext cx="61747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Circle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Radius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"Area:"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Area</a:t>
            </a:r>
            <a:r>
              <a:rPr lang="en-US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ToString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());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47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E512F8-4C8F-4901-95F6-DCD0EE1B2905}"/>
              </a:ext>
            </a:extLst>
          </p:cNvPr>
          <p:cNvSpPr/>
          <p:nvPr/>
        </p:nvSpPr>
        <p:spPr>
          <a:xfrm>
            <a:off x="0" y="-1"/>
            <a:ext cx="12288688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internal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Counter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Поле _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value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будет увеличиваться всякий раз, когда происходит чтение свойства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Value.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Даже, если просматривать его под отладчиком.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  // Это может вызвать удивление.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  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Это свойство будет долго вычисляться при просмотре под отладчиком.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LongCalculation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sum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1000000000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sum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sum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6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27448" y="612844"/>
            <a:ext cx="936104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Triangle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GetArea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GetPerimeter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GetCenter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Move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Scale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Rotate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center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m_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m_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m_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A9A22D-8CD2-461B-B8E6-83336E1C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данные должен иметь </a:t>
            </a:r>
            <a:r>
              <a:rPr lang="en-US" dirty="0"/>
              <a:t>Rectangle?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11EF7-BD0B-4591-875A-98624E5166FD}"/>
              </a:ext>
            </a:extLst>
          </p:cNvPr>
          <p:cNvSpPr txBox="1"/>
          <p:nvPr/>
        </p:nvSpPr>
        <p:spPr>
          <a:xfrm>
            <a:off x="851198" y="1628800"/>
            <a:ext cx="81514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Point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{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x;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y;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};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 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Rectangle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{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: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GetLeftTop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;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GetRightBottom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;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GetWidth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;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GetHeight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;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/*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прочие методы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*/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: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/* данные */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scadia Mono" panose="020B0609020000020004" pitchFamily="49" charset="0"/>
              </a:rPr>
              <a:t>};</a:t>
            </a:r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2004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975EF3-D202-3831-9F2C-A6FB152FE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Указатель </a:t>
            </a:r>
            <a:r>
              <a:rPr lang="en-US" dirty="0"/>
              <a:t>this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9F5461-1D1C-24E9-017C-313991AF9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882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7C610D-098E-0F75-A09F-2B74B3F1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</a:t>
            </a:r>
            <a:r>
              <a:rPr lang="en-US" dirty="0"/>
              <a:t>vs </a:t>
            </a:r>
            <a:r>
              <a:rPr lang="ru-RU" dirty="0"/>
              <a:t>Функции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D30DD6-11B4-916E-D134-3712E43CF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Метод — функция, связанная с конкретным классом и объектом.</a:t>
            </a:r>
          </a:p>
          <a:p>
            <a:r>
              <a:rPr lang="ru-RU" dirty="0"/>
              <a:t>Методы:</a:t>
            </a:r>
          </a:p>
          <a:p>
            <a:pPr lvl="1"/>
            <a:r>
              <a:rPr lang="ru-RU" dirty="0"/>
              <a:t>объявляются внутри класса (реализация может быть внутри или вне класса)</a:t>
            </a:r>
          </a:p>
          <a:p>
            <a:pPr lvl="1"/>
            <a:r>
              <a:rPr lang="ru-RU" dirty="0"/>
              <a:t>имеют доступ к приватным и защищённым членам класса</a:t>
            </a:r>
          </a:p>
          <a:p>
            <a:pPr lvl="1"/>
            <a:r>
              <a:rPr lang="ru-RU" dirty="0"/>
              <a:t>могут быть виртуальными и чисто виртуальными</a:t>
            </a:r>
          </a:p>
          <a:p>
            <a:pPr lvl="1"/>
            <a:r>
              <a:rPr lang="ru-RU" dirty="0"/>
              <a:t>вызываются для конкретного объекта</a:t>
            </a:r>
          </a:p>
          <a:p>
            <a:pPr lvl="2"/>
            <a:r>
              <a:rPr lang="ru-RU" dirty="0" err="1"/>
              <a:t>circle.GetArea</a:t>
            </a:r>
            <a:r>
              <a:rPr lang="ru-RU" dirty="0"/>
              <a:t>();</a:t>
            </a:r>
          </a:p>
          <a:p>
            <a:r>
              <a:rPr lang="ru-RU" dirty="0"/>
              <a:t>Обычные функции:</a:t>
            </a:r>
          </a:p>
          <a:p>
            <a:pPr lvl="1"/>
            <a:r>
              <a:rPr lang="ru-RU" dirty="0"/>
              <a:t>не принадлежат объекту</a:t>
            </a:r>
          </a:p>
          <a:p>
            <a:pPr lvl="1"/>
            <a:r>
              <a:rPr lang="ru-RU" dirty="0"/>
              <a:t>работают только со своими параметрами или глобальными данными</a:t>
            </a:r>
          </a:p>
          <a:p>
            <a:pPr lvl="1"/>
            <a:r>
              <a:rPr lang="ru-RU" dirty="0"/>
              <a:t>не имеют доступа к приватным данным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50812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8AC7A3-F0A0-4E20-8E96-D56E0FE69C56}"/>
              </a:ext>
            </a:extLst>
          </p:cNvPr>
          <p:cNvSpPr/>
          <p:nvPr/>
        </p:nvSpPr>
        <p:spPr>
          <a:xfrm>
            <a:off x="335360" y="197346"/>
            <a:ext cx="10153128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Функция принимает ссылку на точку, которую нужно переместить.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MovePoint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offset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offset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offset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Сдвигаем точку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p1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на вектор с координатами (1, 2.5).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MovePoint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{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2.5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});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Сдвигаем точку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p1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на вектор с координатами (-1, -1).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MovePoint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{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667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3C00F9-F5D0-45EE-B02D-76D5B9C00D5A}"/>
              </a:ext>
            </a:extLst>
          </p:cNvPr>
          <p:cNvSpPr/>
          <p:nvPr/>
        </p:nvSpPr>
        <p:spPr>
          <a:xfrm>
            <a:off x="263352" y="332656"/>
            <a:ext cx="1130525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MoveBy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Внутри метода обращаемся к своим полям, указывая их имена.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Для вызова метода указываем объект.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MoveBy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({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2.5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p2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MovePoint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({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69ADBA-538D-4F2F-B3C4-19CA8D457303}"/>
              </a:ext>
            </a:extLst>
          </p:cNvPr>
          <p:cNvSpPr/>
          <p:nvPr/>
        </p:nvSpPr>
        <p:spPr>
          <a:xfrm>
            <a:off x="4655840" y="34290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Откуда метод </a:t>
            </a:r>
            <a:r>
              <a:rPr lang="ru-RU" dirty="0" err="1">
                <a:solidFill>
                  <a:srgbClr val="EB5757"/>
                </a:solidFill>
                <a:latin typeface="SFMono-Regular"/>
              </a:rPr>
              <a:t>MoveBy</a:t>
            </a:r>
            <a:r>
              <a:rPr lang="ru-RU" dirty="0"/>
              <a:t> знает, какую точку перемещать, если среди его параметров перемещаемая точка не фигурирует?</a:t>
            </a:r>
          </a:p>
        </p:txBody>
      </p:sp>
    </p:spTree>
    <p:extLst>
      <p:ext uri="{BB962C8B-B14F-4D97-AF65-F5344CB8AC3E}">
        <p14:creationId xmlns:p14="http://schemas.microsoft.com/office/powerpoint/2010/main" val="110284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Указатель </a:t>
            </a:r>
            <a:r>
              <a:rPr lang="en-US" dirty="0"/>
              <a:t>this</a:t>
            </a:r>
            <a:endParaRPr lang="ru-RU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Внутри метода можно обращаться к полям и методам объекта по их имени.</a:t>
            </a:r>
          </a:p>
          <a:p>
            <a:r>
              <a:rPr lang="ru-RU" dirty="0"/>
              <a:t>Как это работает:</a:t>
            </a:r>
          </a:p>
          <a:p>
            <a:pPr lvl="1"/>
            <a:r>
              <a:rPr lang="ru-RU" dirty="0"/>
              <a:t>при вызове метода ему неявно передаётся указатель на объект</a:t>
            </a:r>
          </a:p>
          <a:p>
            <a:pPr lvl="1"/>
            <a:r>
              <a:rPr lang="ru-RU" dirty="0"/>
              <a:t>этот указатель называется </a:t>
            </a:r>
            <a:r>
              <a:rPr lang="ru-RU" dirty="0" err="1"/>
              <a:t>this</a:t>
            </a:r>
            <a:endParaRPr lang="ru-RU" dirty="0"/>
          </a:p>
          <a:p>
            <a:pPr lvl="1"/>
            <a:r>
              <a:rPr lang="ru-RU" dirty="0" err="1"/>
              <a:t>this</a:t>
            </a:r>
            <a:r>
              <a:rPr lang="ru-RU" dirty="0"/>
              <a:t> указывает на текущий объект, для которого вызван метод</a:t>
            </a:r>
          </a:p>
          <a:p>
            <a:r>
              <a:rPr lang="ru-RU" dirty="0"/>
              <a:t>Пример:</a:t>
            </a:r>
            <a:endParaRPr lang="en-US" dirty="0"/>
          </a:p>
          <a:p>
            <a:pPr lvl="1"/>
            <a:r>
              <a:rPr lang="en-US" dirty="0" err="1"/>
              <a:t>point.MoveBy</a:t>
            </a:r>
            <a:r>
              <a:rPr lang="en-US" dirty="0"/>
              <a:t>(v); // </a:t>
            </a:r>
            <a:r>
              <a:rPr lang="ru-RU" dirty="0"/>
              <a:t>Адрес </a:t>
            </a:r>
            <a:r>
              <a:rPr lang="en-US" dirty="0"/>
              <a:t>point</a:t>
            </a:r>
            <a:r>
              <a:rPr lang="ru-RU" dirty="0"/>
              <a:t> передаётся неявно как </a:t>
            </a:r>
            <a:r>
              <a:rPr lang="en-US" b="1" dirty="0"/>
              <a:t>this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085AF7-1A54-455F-B78D-8BF3009D0BB4}"/>
              </a:ext>
            </a:extLst>
          </p:cNvPr>
          <p:cNvSpPr/>
          <p:nvPr/>
        </p:nvSpPr>
        <p:spPr>
          <a:xfrm>
            <a:off x="767408" y="548680"/>
            <a:ext cx="885698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Структура глазами компилятора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Первым параметром в метод передаётся неявный параметр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this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MoveBy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/* Point*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this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, */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При обращении к полям и методам через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this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вместо точки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используется стрелочка -&gt;, состоящая из символов - и &gt;.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+=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06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81EEE4-647A-407D-9633-C8168C8CBD66}"/>
              </a:ext>
            </a:extLst>
          </p:cNvPr>
          <p:cNvSpPr/>
          <p:nvPr/>
        </p:nvSpPr>
        <p:spPr>
          <a:xfrm>
            <a:off x="479376" y="908720"/>
            <a:ext cx="112332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795E26"/>
                </a:solidFill>
                <a:latin typeface="Consolas" panose="020B0609020204030204" pitchFamily="49" charset="0"/>
              </a:rPr>
              <a:t>Set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Область видимости параметров x и y ограничена 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методом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Point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::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Set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. Поэтому внутри метода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Set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имена x и y относятся к параметрам, а не к полям.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Когда мы пишем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this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-&gt;x и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this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-&gt;y, то явно сообщаем 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компилятору, что обращаемся к полям текущего объекта.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Если напишем x = x, то присвоим параметру x его собственное значение.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69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37C8-F3D3-9EB9-7688-B5BC4993A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использовать </a:t>
            </a:r>
            <a:r>
              <a:rPr lang="en-US" dirty="0"/>
              <a:t>this </a:t>
            </a:r>
            <a:r>
              <a:rPr lang="ru-RU" dirty="0"/>
              <a:t>в </a:t>
            </a:r>
            <a:r>
              <a:rPr lang="en-US" dirty="0"/>
              <a:t>C++?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0B917-9D9A-57BF-E41C-A6E2E136F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Общее правило:</a:t>
            </a:r>
            <a:r>
              <a:rPr lang="en-US" dirty="0"/>
              <a:t> </a:t>
            </a:r>
            <a:r>
              <a:rPr lang="ru-RU" dirty="0"/>
              <a:t>используйте </a:t>
            </a:r>
            <a:r>
              <a:rPr lang="ru-RU" dirty="0" err="1"/>
              <a:t>this</a:t>
            </a:r>
            <a:r>
              <a:rPr lang="ru-RU" dirty="0"/>
              <a:t> только когда это действительно необходимо.</a:t>
            </a:r>
          </a:p>
          <a:p>
            <a:r>
              <a:rPr lang="ru-RU" dirty="0"/>
              <a:t>Обычно </a:t>
            </a:r>
            <a:r>
              <a:rPr lang="ru-RU" dirty="0" err="1"/>
              <a:t>this</a:t>
            </a:r>
            <a:r>
              <a:rPr lang="ru-RU" dirty="0"/>
              <a:t> не пишут, потому что компилятор добавляет его неявно.</a:t>
            </a:r>
          </a:p>
          <a:p>
            <a:r>
              <a:rPr lang="ru-RU" dirty="0"/>
              <a:t>Когда </a:t>
            </a:r>
            <a:r>
              <a:rPr lang="ru-RU" dirty="0" err="1"/>
              <a:t>this</a:t>
            </a:r>
            <a:r>
              <a:rPr lang="ru-RU" dirty="0"/>
              <a:t> нужен:</a:t>
            </a:r>
          </a:p>
          <a:p>
            <a:pPr lvl="1"/>
            <a:r>
              <a:rPr lang="ru-RU" dirty="0"/>
              <a:t>чтобы вернуть или передать текущий объект</a:t>
            </a:r>
          </a:p>
          <a:p>
            <a:pPr lvl="2"/>
            <a:r>
              <a:rPr lang="ru-RU" dirty="0" err="1"/>
              <a:t>return</a:t>
            </a:r>
            <a:r>
              <a:rPr lang="ru-RU" dirty="0"/>
              <a:t> *</a:t>
            </a:r>
            <a:r>
              <a:rPr lang="ru-RU" dirty="0" err="1"/>
              <a:t>this</a:t>
            </a:r>
            <a:r>
              <a:rPr lang="ru-RU" dirty="0"/>
              <a:t>;</a:t>
            </a:r>
          </a:p>
          <a:p>
            <a:pPr lvl="1"/>
            <a:r>
              <a:rPr lang="ru-RU" dirty="0"/>
              <a:t>чтобы получить указатель на текущий объект</a:t>
            </a:r>
          </a:p>
          <a:p>
            <a:pPr lvl="2"/>
            <a:r>
              <a:rPr lang="ru-RU" dirty="0" err="1"/>
              <a:t>someFunction</a:t>
            </a:r>
            <a:r>
              <a:rPr lang="ru-RU" dirty="0"/>
              <a:t>(</a:t>
            </a:r>
            <a:r>
              <a:rPr lang="ru-RU" dirty="0" err="1"/>
              <a:t>this</a:t>
            </a:r>
            <a:r>
              <a:rPr lang="ru-RU" dirty="0"/>
              <a:t>);</a:t>
            </a:r>
          </a:p>
          <a:p>
            <a:pPr lvl="1"/>
            <a:r>
              <a:rPr lang="ru-RU" dirty="0"/>
              <a:t>в шаблонных классах, если нужно обратиться к члену базового класса,</a:t>
            </a:r>
            <a:br>
              <a:rPr lang="ru-RU" dirty="0"/>
            </a:br>
            <a:r>
              <a:rPr lang="ru-RU" dirty="0"/>
              <a:t>зависящему от параметра шаблона</a:t>
            </a:r>
          </a:p>
          <a:p>
            <a:r>
              <a:rPr lang="ru-RU" dirty="0"/>
              <a:t>Не стоит писать </a:t>
            </a:r>
            <a:r>
              <a:rPr lang="ru-RU" dirty="0" err="1"/>
              <a:t>this</a:t>
            </a:r>
            <a:r>
              <a:rPr lang="ru-RU" dirty="0"/>
              <a:t> без необходимости</a:t>
            </a:r>
            <a:endParaRPr lang="en-US" dirty="0"/>
          </a:p>
          <a:p>
            <a:pPr lvl="1"/>
            <a:r>
              <a:rPr lang="ru-RU" dirty="0"/>
              <a:t>в отличие от некоторых других языков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80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39A880-4ACC-B895-F695-8D722600A03D}"/>
              </a:ext>
            </a:extLst>
          </p:cNvPr>
          <p:cNvSpPr txBox="1"/>
          <p:nvPr/>
        </p:nvSpPr>
        <p:spPr>
          <a:xfrm>
            <a:off x="1055440" y="1628800"/>
            <a:ext cx="9721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Оператор += возвращает ссылку на текущий объект,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чтобы можно было использовать цепочку вызовов: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Vector v1, v2, v3;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v1 += v2 += v3;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operator+=(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x +=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y +=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874592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CBBA43-DAC2-DAEA-A410-E17CBB0EB45A}"/>
              </a:ext>
            </a:extLst>
          </p:cNvPr>
          <p:cNvSpPr txBox="1"/>
          <p:nvPr/>
        </p:nvSpPr>
        <p:spPr>
          <a:xfrm>
            <a:off x="839416" y="116632"/>
            <a:ext cx="101531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Derived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this-&gt;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ошибка компиляции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Derived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derived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derived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402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8E400EE-5A84-8D9D-5878-3003C763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класса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1D12F73-A8D2-3289-21BE-6B8C5F497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6904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8504201-66F6-D93A-8AE3-7A2C6746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Начальное состояние объекта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F5BD8F3F-92BE-AC90-9544-DE8901F1D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Состояние объекта определяется значением его членов данных. Данные делают приватными, чтобы сохранить инварианты класса</a:t>
            </a:r>
          </a:p>
          <a:p>
            <a:r>
              <a:rPr lang="ru-RU" dirty="0"/>
              <a:t>Публичные методы</a:t>
            </a:r>
          </a:p>
          <a:p>
            <a:pPr lvl="1"/>
            <a:r>
              <a:rPr lang="ru-RU" dirty="0"/>
              <a:t>переводят объект из одного </a:t>
            </a:r>
            <a:r>
              <a:rPr lang="ru-RU" b="1" dirty="0"/>
              <a:t>корректного</a:t>
            </a:r>
            <a:r>
              <a:rPr lang="ru-RU" dirty="0"/>
              <a:t> состояния в другое</a:t>
            </a:r>
          </a:p>
          <a:p>
            <a:pPr lvl="1"/>
            <a:r>
              <a:rPr lang="ru-RU" dirty="0"/>
              <a:t>либо не изменяют состояние</a:t>
            </a:r>
          </a:p>
          <a:p>
            <a:r>
              <a:rPr lang="ru-RU" dirty="0"/>
              <a:t>Важно</a:t>
            </a:r>
          </a:p>
          <a:p>
            <a:pPr lvl="1"/>
            <a:r>
              <a:rPr lang="ru-RU" dirty="0"/>
              <a:t>объект должен быть </a:t>
            </a:r>
            <a:r>
              <a:rPr lang="ru-RU" b="1" dirty="0"/>
              <a:t>валиден сразу после создания</a:t>
            </a:r>
          </a:p>
          <a:p>
            <a:pPr lvl="1"/>
            <a:r>
              <a:rPr lang="ru-RU" dirty="0"/>
              <a:t>для этого при создании выполняется инициализация (конструктор)</a:t>
            </a:r>
          </a:p>
        </p:txBody>
      </p:sp>
    </p:spTree>
    <p:extLst>
      <p:ext uri="{BB962C8B-B14F-4D97-AF65-F5344CB8AC3E}">
        <p14:creationId xmlns:p14="http://schemas.microsoft.com/office/powerpoint/2010/main" val="403461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3D4802-EAD6-A3C9-D716-6BBBF08EDB75}"/>
              </a:ext>
            </a:extLst>
          </p:cNvPr>
          <p:cNvSpPr txBox="1"/>
          <p:nvPr/>
        </p:nvSpPr>
        <p:spPr>
          <a:xfrm>
            <a:off x="0" y="0"/>
            <a:ext cx="914073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Знаменатель не может быть равен нулю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Числитель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Знаменатель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BC8C9C-EC71-D3F6-8DFF-7CC6ED05850F}"/>
              </a:ext>
            </a:extLst>
          </p:cNvPr>
          <p:cNvSpPr txBox="1"/>
          <p:nvPr/>
        </p:nvSpPr>
        <p:spPr>
          <a:xfrm>
            <a:off x="4943872" y="90107"/>
            <a:ext cx="7128792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four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four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Создаём дробь 2/3 в три шага: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twoTrird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1.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Объявляем переменную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twoTrird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2.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Задаём числитель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twoTrird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3.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Задаём знаменатель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53DFD4-1755-E884-4851-2F9AC34C364D}"/>
              </a:ext>
            </a:extLst>
          </p:cNvPr>
          <p:cNvSpPr txBox="1"/>
          <p:nvPr/>
        </p:nvSpPr>
        <p:spPr>
          <a:xfrm>
            <a:off x="5303912" y="5076088"/>
            <a:ext cx="6747238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Rational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two_third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two_third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&lt;--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two_third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&lt;--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4F523D-6C45-5134-67E9-5B55480C4FED}"/>
              </a:ext>
            </a:extLst>
          </p:cNvPr>
          <p:cNvSpPr txBox="1"/>
          <p:nvPr/>
        </p:nvSpPr>
        <p:spPr>
          <a:xfrm>
            <a:off x="4758266" y="3565773"/>
            <a:ext cx="7500003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8199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Конструктор</a:t>
            </a:r>
            <a:endParaRPr lang="ru-RU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Конструктор — это специальный метод, который инициализирует объект при его создании.</a:t>
            </a:r>
          </a:p>
          <a:p>
            <a:r>
              <a:rPr lang="ru-RU" dirty="0"/>
              <a:t>Основные свойства:</a:t>
            </a:r>
          </a:p>
          <a:p>
            <a:pPr lvl="1"/>
            <a:r>
              <a:rPr lang="ru-RU" dirty="0"/>
              <a:t>вызывается автоматически при создании объекта</a:t>
            </a:r>
          </a:p>
          <a:p>
            <a:pPr lvl="1"/>
            <a:r>
              <a:rPr lang="ru-RU" dirty="0"/>
              <a:t>выполняется один раз для каждого объекта</a:t>
            </a:r>
          </a:p>
          <a:p>
            <a:pPr lvl="1"/>
            <a:r>
              <a:rPr lang="ru-RU" dirty="0"/>
              <a:t>используется для установки корректного начального состояния</a:t>
            </a:r>
          </a:p>
          <a:p>
            <a:r>
              <a:rPr lang="ru-RU" dirty="0"/>
              <a:t>Перегрузка конструкторов:</a:t>
            </a:r>
          </a:p>
          <a:p>
            <a:pPr lvl="1"/>
            <a:r>
              <a:rPr lang="ru-RU" dirty="0"/>
              <a:t>в классе может быть несколько конструкторов</a:t>
            </a:r>
          </a:p>
          <a:p>
            <a:pPr lvl="1"/>
            <a:r>
              <a:rPr lang="ru-RU" dirty="0"/>
              <a:t>они отличаются списком параметров</a:t>
            </a:r>
          </a:p>
          <a:p>
            <a:pPr lvl="1"/>
            <a:r>
              <a:rPr lang="ru-RU" dirty="0"/>
              <a:t>при создании объекта вызывается один подходящий конструктор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C082CF-D1A2-C148-B111-980DC2F2B268}"/>
              </a:ext>
            </a:extLst>
          </p:cNvPr>
          <p:cNvSpPr txBox="1"/>
          <p:nvPr/>
        </p:nvSpPr>
        <p:spPr>
          <a:xfrm>
            <a:off x="119336" y="-1"/>
            <a:ext cx="9021398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конструктор, который инициализирует дробь нужными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значениями числителя и знаменателя.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m_numerator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m_numerator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Конструктор можно вызвать, создав объект.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Параметры можно передать в фигурных скобках.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После работы конструктора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Rational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поля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получили переданные в параметрах значения.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GetNumerator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GetDenominator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Вызвать конструктор явно нельзя.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Единственный способ — создать новый объект.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half.Rational</a:t>
            </a:r>
            <a:r>
              <a:rPr lang="en-US" sz="15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(10, 15); 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&lt;--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Конструктор</a:t>
            </a:r>
            <a:r>
              <a:rPr lang="en-US"/>
              <a:t> </a:t>
            </a:r>
            <a:r>
              <a:rPr lang="ru-RU"/>
              <a:t>по умолчанию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dirty="0"/>
              <a:t>Некоторые объекты могут иметь состояние по умолчанию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Пустая строка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Пустой вектор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Точка в начале координат</a:t>
            </a:r>
          </a:p>
          <a:p>
            <a:pPr>
              <a:lnSpc>
                <a:spcPct val="90000"/>
              </a:lnSpc>
            </a:pPr>
            <a:r>
              <a:rPr lang="ru-RU" dirty="0"/>
              <a:t>Конструктор, не имеющий параметров, называется конструктором по умолчанию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Поля данных в таком конструкторе инициализируются значениями по умолчанию</a:t>
            </a:r>
          </a:p>
          <a:p>
            <a:pPr>
              <a:lnSpc>
                <a:spcPct val="90000"/>
              </a:lnSpc>
            </a:pPr>
            <a:r>
              <a:rPr lang="ru-RU" dirty="0"/>
              <a:t>Может быть неявно сгенерирован компилятором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Если не объявлены другие конструкторы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1232CD-109F-EF4F-F222-48B512479941}"/>
              </a:ext>
            </a:extLst>
          </p:cNvPr>
          <p:cNvSpPr txBox="1"/>
          <p:nvPr/>
        </p:nvSpPr>
        <p:spPr>
          <a:xfrm>
            <a:off x="335360" y="2579712"/>
            <a:ext cx="38884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TV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TV()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m_currentChannel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m_currentChannel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E63846-8E49-FC19-AB52-B45B48449A02}"/>
              </a:ext>
            </a:extLst>
          </p:cNvPr>
          <p:cNvSpPr txBox="1"/>
          <p:nvPr/>
        </p:nvSpPr>
        <p:spPr>
          <a:xfrm>
            <a:off x="5015880" y="2579712"/>
            <a:ext cx="69847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TV</a:t>
            </a:r>
            <a:endParaRPr lang="ru-RU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/*Компилятор сгенерирует конструктор по умолчанию*/</a:t>
            </a:r>
            <a:endParaRPr lang="ru-RU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m_currentChannel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endParaRPr lang="ru-RU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DA266F-74EB-8508-DE8F-923FD407A7DF}"/>
              </a:ext>
            </a:extLst>
          </p:cNvPr>
          <p:cNvSpPr txBox="1"/>
          <p:nvPr/>
        </p:nvSpPr>
        <p:spPr>
          <a:xfrm>
            <a:off x="5015880" y="2075656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Можно проще: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F7517-D220-ACC8-5B6D-EDF83D5B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конструктора по умолчанию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44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4DFD45-4305-4F83-ED56-FB08E8067AC5}"/>
              </a:ext>
            </a:extLst>
          </p:cNvPr>
          <p:cNvSpPr txBox="1"/>
          <p:nvPr/>
        </p:nvSpPr>
        <p:spPr>
          <a:xfrm>
            <a:off x="838200" y="1754170"/>
            <a:ext cx="878497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TV 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kern="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en-US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Явно объявив конструктор с параметрами,</a:t>
            </a:r>
          </a:p>
          <a:p>
            <a:r>
              <a:rPr lang="ru-RU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// запрещаем компилятору неявно создать конструктор по умолчанию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TV(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currentChannel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kern="0" dirty="0">
                <a:solidFill>
                  <a:srgbClr val="6F008A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currentChannel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0 &amp;&amp;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currentChannel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100);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m_currentChannel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currentChannel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kern="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endParaRPr lang="ru-RU" kern="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kern="1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Явно просим компилятор сгенерировать конструктор по умолчанию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TV() =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m_currentChannel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C484AF-D577-36EB-BCA3-167653734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Автоматическое генерирование конструктора по умолчанию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57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DCF61F-75BC-493C-A12A-8B679C22B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инициализации конструктора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F42D16-864F-40DC-93EC-66BED86CC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0574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75EAB7-E3E2-EC02-2936-F8ACB43DDA05}"/>
              </a:ext>
            </a:extLst>
          </p:cNvPr>
          <p:cNvSpPr txBox="1"/>
          <p:nvPr/>
        </p:nvSpPr>
        <p:spPr>
          <a:xfrm>
            <a:off x="838200" y="1628800"/>
            <a:ext cx="95782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Alice is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created</a:t>
            </a:r>
            <a:r>
              <a:rPr lang="en-US" sz="1600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Bob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Bob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Bob is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created</a:t>
            </a:r>
            <a:r>
              <a:rPr lang="en-US" sz="1600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Enter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Alice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Bob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Alice alice2;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Exit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D521FD8-D7E8-8DE6-3786-6B63BD43F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Момент вызова конструктора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C4FCA1-1D31-FA8E-9C06-3B64F433FE22}"/>
              </a:ext>
            </a:extLst>
          </p:cNvPr>
          <p:cNvSpPr txBox="1"/>
          <p:nvPr/>
        </p:nvSpPr>
        <p:spPr>
          <a:xfrm>
            <a:off x="7824192" y="5094559"/>
            <a:ext cx="4225909" cy="14773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Enter main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Alice is created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Bob is created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Alice is created</a:t>
            </a:r>
          </a:p>
          <a:p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Exit main</a:t>
            </a:r>
          </a:p>
        </p:txBody>
      </p:sp>
    </p:spTree>
    <p:extLst>
      <p:ext uri="{BB962C8B-B14F-4D97-AF65-F5344CB8AC3E}">
        <p14:creationId xmlns:p14="http://schemas.microsoft.com/office/powerpoint/2010/main" val="112611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51217-5677-1873-EC7A-46AD2F6F1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полей класса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29B864-359B-8DDC-80D1-4FDCD64ED3CD}"/>
              </a:ext>
            </a:extLst>
          </p:cNvPr>
          <p:cNvSpPr txBox="1"/>
          <p:nvPr/>
        </p:nvSpPr>
        <p:spPr>
          <a:xfrm>
            <a:off x="838200" y="2060848"/>
            <a:ext cx="10515600" cy="3954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Carol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Carol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Carol is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created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Алиса и Боб — поля класса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Carol.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Alice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Bob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m_bob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Enter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Carol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Exit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E69F1E-AD44-7CBC-9581-F9B95212C30E}"/>
              </a:ext>
            </a:extLst>
          </p:cNvPr>
          <p:cNvSpPr txBox="1"/>
          <p:nvPr/>
        </p:nvSpPr>
        <p:spPr>
          <a:xfrm>
            <a:off x="7680176" y="4889337"/>
            <a:ext cx="4320480" cy="14773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Enter main</a:t>
            </a:r>
          </a:p>
          <a:p>
            <a:r>
              <a:rPr lang="en-US" dirty="0">
                <a:latin typeface="Consolas" panose="020B0609020204030204" pitchFamily="49" charset="0"/>
              </a:rPr>
              <a:t>Alice is created</a:t>
            </a:r>
          </a:p>
          <a:p>
            <a:r>
              <a:rPr lang="en-US" dirty="0">
                <a:latin typeface="Consolas" panose="020B0609020204030204" pitchFamily="49" charset="0"/>
              </a:rPr>
              <a:t>Bob is created</a:t>
            </a:r>
          </a:p>
          <a:p>
            <a:r>
              <a:rPr lang="en-US" dirty="0">
                <a:latin typeface="Consolas" panose="020B0609020204030204" pitchFamily="49" charset="0"/>
              </a:rPr>
              <a:t>Carol is created</a:t>
            </a:r>
          </a:p>
          <a:p>
            <a:r>
              <a:rPr lang="en-US" dirty="0">
                <a:latin typeface="Consolas" panose="020B0609020204030204" pitchFamily="49" charset="0"/>
              </a:rPr>
              <a:t>Exit main</a:t>
            </a:r>
          </a:p>
        </p:txBody>
      </p:sp>
    </p:spTree>
    <p:extLst>
      <p:ext uri="{BB962C8B-B14F-4D97-AF65-F5344CB8AC3E}">
        <p14:creationId xmlns:p14="http://schemas.microsoft.com/office/powerpoint/2010/main" val="413718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5C31-A433-BDB9-A6CE-BD6C0F9D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инициализации полей класса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6A5F8-A351-B5BF-7951-43DCF8377D75}"/>
              </a:ext>
            </a:extLst>
          </p:cNvPr>
          <p:cNvSpPr txBox="1"/>
          <p:nvPr/>
        </p:nvSpPr>
        <p:spPr>
          <a:xfrm>
            <a:off x="838200" y="1809356"/>
            <a:ext cx="97943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Alice is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created</a:t>
            </a:r>
            <a:r>
              <a:rPr lang="en-US" sz="1600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Alice(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age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 is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created</a:t>
            </a:r>
            <a:r>
              <a:rPr lang="en-US" sz="1600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Carol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Carol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Carol is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created</a:t>
            </a:r>
            <a:r>
              <a:rPr lang="en-US" sz="1600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m_alice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(age);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Alice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m_alice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038357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FABF4-D1A8-C1AD-461E-938A4582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проинициализировать поле, если его тип не имеет конструктора по умолчанию</a:t>
            </a:r>
            <a:r>
              <a:rPr lang="en-US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1AF97B-A2AA-C083-DA0C-801940FE8BCD}"/>
              </a:ext>
            </a:extLst>
          </p:cNvPr>
          <p:cNvSpPr txBox="1"/>
          <p:nvPr/>
        </p:nvSpPr>
        <p:spPr>
          <a:xfrm>
            <a:off x="791681" y="1803054"/>
            <a:ext cx="1054015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Alice(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age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 is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created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Carol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Carol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aliceA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Carol is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created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m_alice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Alice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Ошибка! Не можем создать объект без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параметров конструктора.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17170662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/>
              <a:t>Инициализация данных экземпляра класса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Факты:</a:t>
            </a:r>
            <a:endParaRPr lang="ru-RU" dirty="0"/>
          </a:p>
          <a:p>
            <a:pPr lvl="1"/>
            <a:r>
              <a:rPr lang="ru-RU" dirty="0"/>
              <a:t>поля класса могут быть объектами других классов</a:t>
            </a:r>
          </a:p>
          <a:p>
            <a:pPr lvl="1"/>
            <a:r>
              <a:rPr lang="ru-RU" dirty="0"/>
              <a:t>они инициализируются до выполнения тела конструктора</a:t>
            </a:r>
          </a:p>
          <a:p>
            <a:pPr lvl="1"/>
            <a:r>
              <a:rPr lang="ru-RU" dirty="0"/>
              <a:t>по умолчанию вызывается конструктор без параметров</a:t>
            </a:r>
          </a:p>
          <a:p>
            <a:r>
              <a:rPr lang="ru-RU" b="1" dirty="0"/>
              <a:t>Проблемы:</a:t>
            </a:r>
            <a:endParaRPr lang="ru-RU" dirty="0"/>
          </a:p>
          <a:p>
            <a:pPr lvl="1"/>
            <a:r>
              <a:rPr lang="ru-RU" b="1" dirty="0"/>
              <a:t>не всегда подходит инициализация по умолчанию</a:t>
            </a:r>
          </a:p>
          <a:p>
            <a:pPr lvl="1"/>
            <a:r>
              <a:rPr lang="ru-RU" dirty="0"/>
              <a:t>у класса может не быть конструктора по умолчанию</a:t>
            </a:r>
          </a:p>
          <a:p>
            <a:pPr lvl="1"/>
            <a:r>
              <a:rPr lang="ru-RU" dirty="0"/>
              <a:t>поля могут быть константами или ссылками</a:t>
            </a:r>
          </a:p>
          <a:p>
            <a:pPr lvl="2"/>
            <a:r>
              <a:rPr lang="ru-RU" dirty="0"/>
              <a:t>Такие поля нельзя сначала создать, а потом присвоить значение</a:t>
            </a:r>
          </a:p>
          <a:p>
            <a:r>
              <a:rPr lang="ru-RU" b="1" dirty="0"/>
              <a:t>Решение: </a:t>
            </a:r>
            <a:r>
              <a:rPr lang="ru-RU" dirty="0"/>
              <a:t>использовать </a:t>
            </a:r>
            <a:r>
              <a:rPr lang="ru-RU" b="1" dirty="0"/>
              <a:t>список инициализации конструктора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инициализации конструктора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Список инициализации используется для инициализации полей до выполнения тела конструктора.</a:t>
            </a:r>
          </a:p>
          <a:p>
            <a:r>
              <a:rPr lang="ru-RU" dirty="0"/>
              <a:t>Синтаксис:</a:t>
            </a:r>
          </a:p>
          <a:p>
            <a:pPr lvl="1"/>
            <a:r>
              <a:rPr lang="ru-RU" dirty="0" err="1"/>
              <a:t>ClassName</a:t>
            </a:r>
            <a:r>
              <a:rPr lang="ru-RU" dirty="0"/>
              <a:t>(...) : field1(...), field2(...) { }</a:t>
            </a:r>
          </a:p>
          <a:p>
            <a:r>
              <a:rPr lang="ru-RU" dirty="0"/>
              <a:t>Когда обязателен:</a:t>
            </a:r>
          </a:p>
          <a:p>
            <a:pPr lvl="1"/>
            <a:r>
              <a:rPr lang="ru-RU" dirty="0"/>
              <a:t>поле — объект класса без конструктора по умолчанию</a:t>
            </a:r>
          </a:p>
          <a:p>
            <a:pPr lvl="1"/>
            <a:r>
              <a:rPr lang="ru-RU" dirty="0"/>
              <a:t>поле объявлено как </a:t>
            </a:r>
            <a:r>
              <a:rPr lang="ru-RU" dirty="0" err="1"/>
              <a:t>const</a:t>
            </a:r>
            <a:endParaRPr lang="ru-RU" dirty="0"/>
          </a:p>
          <a:p>
            <a:pPr lvl="1"/>
            <a:r>
              <a:rPr lang="ru-RU" dirty="0"/>
              <a:t>поле является ссылкой</a:t>
            </a:r>
          </a:p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корректная инициализация полей</a:t>
            </a:r>
          </a:p>
          <a:p>
            <a:pPr lvl="1"/>
            <a:r>
              <a:rPr lang="ru-RU" dirty="0"/>
              <a:t>отсутствие лишнего создания и присваивания</a:t>
            </a:r>
          </a:p>
          <a:p>
            <a:pPr lvl="1"/>
            <a:r>
              <a:rPr lang="ru-RU" dirty="0"/>
              <a:t>более эффективный код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03A842-BD4D-1DF8-F130-996DCF770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инициализации в действии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6C626-9DB9-EEFF-D3B0-A446B32845AD}"/>
              </a:ext>
            </a:extLst>
          </p:cNvPr>
          <p:cNvSpPr txBox="1"/>
          <p:nvPr/>
        </p:nvSpPr>
        <p:spPr>
          <a:xfrm>
            <a:off x="838200" y="1775688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Carol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Carol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Вызывается конструктор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Alice::Alice(int age).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 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Поле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m_bob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будет проинициализировано конструктором по умолчанию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arol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Инициализируем поле строкового типа.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Carol is 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created</a:t>
            </a:r>
            <a:r>
              <a:rPr lang="en-US" sz="1400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Alice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Bob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m_bob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Carol carol{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carol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950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6F918B-0E89-4C04-9C95-46F4546A891A}"/>
              </a:ext>
            </a:extLst>
          </p:cNvPr>
          <p:cNvSpPr/>
          <p:nvPr/>
        </p:nvSpPr>
        <p:spPr>
          <a:xfrm>
            <a:off x="0" y="0"/>
            <a:ext cx="840025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TV</a:t>
            </a:r>
            <a:r>
              <a:rPr lang="ru-RU" sz="1600" dirty="0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TurnOn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/* ... */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RemoteControl</a:t>
            </a:r>
            <a:r>
              <a:rPr lang="ru-RU" sz="1600" dirty="0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RemoteControl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TV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tv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istream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input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output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: </a:t>
            </a:r>
            <a:r>
              <a:rPr lang="de-DE" sz="16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m_tv</a:t>
            </a:r>
            <a:r>
              <a:rPr lang="de-DE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sz="16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tv</a:t>
            </a:r>
            <a:r>
              <a:rPr lang="de-DE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}, </a:t>
            </a:r>
            <a:r>
              <a:rPr lang="de-DE" sz="16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m_input</a:t>
            </a:r>
            <a:r>
              <a:rPr lang="de-DE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  <a:r>
              <a:rPr lang="de-DE" sz="16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input</a:t>
            </a:r>
            <a:r>
              <a:rPr lang="de-DE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}, </a:t>
            </a:r>
            <a:r>
              <a:rPr lang="de-DE" sz="16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m_output</a:t>
            </a:r>
            <a:r>
              <a:rPr lang="de-DE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  <a:r>
              <a:rPr lang="de-DE" sz="16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output</a:t>
            </a:r>
            <a:r>
              <a:rPr lang="de-DE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{ }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ExecuteCommand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command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getline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m_input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command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command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==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TurnOn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m_tv</a:t>
            </a:r>
            <a:r>
              <a:rPr lang="de-DE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TurnOn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m_output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"TV 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is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turned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 on"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Команда не найдена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TV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m_tv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istream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m_input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ostream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m_output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65D291-A939-4F93-82A8-7995AC44455B}"/>
              </a:ext>
            </a:extLst>
          </p:cNvPr>
          <p:cNvSpPr/>
          <p:nvPr/>
        </p:nvSpPr>
        <p:spPr>
          <a:xfrm>
            <a:off x="4439816" y="5103674"/>
            <a:ext cx="76081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tv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RemoteControl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remoteControl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tv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remoteControl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ExecuteCommand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75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D0D668-53B1-DEE5-9E83-CC97B372E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Конвертирующий конструктор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D971C0-2AF6-12CD-E41B-8E8D6576F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521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6F925-D265-8F17-00C2-44AEC06B1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Преобразующие </a:t>
            </a:r>
            <a:r>
              <a:rPr lang="en-US" dirty="0"/>
              <a:t>(converting) </a:t>
            </a:r>
            <a:r>
              <a:rPr lang="ru-RU" dirty="0"/>
              <a:t>конструкторы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23A435-2BE2-020C-80CB-2CB5C3316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Преобразующий конструктор</a:t>
            </a:r>
            <a:r>
              <a:rPr lang="ru-RU" dirty="0"/>
              <a:t> — это конструктор, который может быть вызван </a:t>
            </a:r>
            <a:r>
              <a:rPr lang="ru-RU" b="1" dirty="0"/>
              <a:t>неявно</a:t>
            </a:r>
            <a:r>
              <a:rPr lang="ru-RU" dirty="0"/>
              <a:t>.</a:t>
            </a:r>
          </a:p>
          <a:p>
            <a:r>
              <a:rPr lang="ru-RU" b="1" dirty="0"/>
              <a:t>Условие:</a:t>
            </a:r>
            <a:endParaRPr lang="ru-RU" dirty="0"/>
          </a:p>
          <a:p>
            <a:pPr lvl="1"/>
            <a:r>
              <a:rPr lang="ru-RU" dirty="0"/>
              <a:t>конструктор </a:t>
            </a:r>
            <a:r>
              <a:rPr lang="ru-RU" b="1" dirty="0"/>
              <a:t>не объявлен с </a:t>
            </a:r>
            <a:r>
              <a:rPr lang="ru-RU" b="1" dirty="0" err="1"/>
              <a:t>explicit</a:t>
            </a:r>
            <a:endParaRPr lang="ru-RU" dirty="0"/>
          </a:p>
          <a:p>
            <a:pPr lvl="1"/>
            <a:r>
              <a:rPr lang="ru-RU" dirty="0"/>
              <a:t>обычно имеет </a:t>
            </a:r>
            <a:r>
              <a:rPr lang="ru-RU" b="1" dirty="0"/>
              <a:t>один параметр</a:t>
            </a:r>
            <a:endParaRPr lang="ru-RU" dirty="0"/>
          </a:p>
          <a:p>
            <a:r>
              <a:rPr lang="ru-RU" dirty="0"/>
              <a:t>Компилятор может </a:t>
            </a:r>
            <a:r>
              <a:rPr lang="ru-RU" b="1" dirty="0"/>
              <a:t>неявно преобразовать значение</a:t>
            </a:r>
            <a:r>
              <a:rPr lang="ru-RU" dirty="0"/>
              <a:t> к типу класса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D4524F-F52D-9340-4C28-810665797D0E}"/>
              </a:ext>
            </a:extLst>
          </p:cNvPr>
          <p:cNvSpPr txBox="1"/>
          <p:nvPr/>
        </p:nvSpPr>
        <p:spPr>
          <a:xfrm>
            <a:off x="1055440" y="5084843"/>
            <a:ext cx="97210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converting constructor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неявное преобразование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 → Rational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65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14E213-18F8-C60E-963A-9FA38809C74A}"/>
              </a:ext>
            </a:extLst>
          </p:cNvPr>
          <p:cNvSpPr txBox="1"/>
          <p:nvPr/>
        </p:nvSpPr>
        <p:spPr>
          <a:xfrm>
            <a:off x="5231904" y="2978"/>
            <a:ext cx="5436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https://wandbox.org/permlink/9NCf4pztCsiSZpc8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2D992A-FF80-A902-2DF3-ED36A8169D58}"/>
              </a:ext>
            </a:extLst>
          </p:cNvPr>
          <p:cNvSpPr txBox="1"/>
          <p:nvPr/>
        </p:nvSpPr>
        <p:spPr>
          <a:xfrm>
            <a:off x="1524000" y="1"/>
            <a:ext cx="9144000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7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Complex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Complex(</a:t>
            </a:r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7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0.0, </a:t>
            </a:r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7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0.0) {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7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m_re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7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7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m_im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7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Re() </a:t>
            </a:r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 </a:t>
            </a:r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7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m_re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7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 </a:t>
            </a:r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7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m_im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7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m_re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0.0;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7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m_im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0.0;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Complex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Add(</a:t>
            </a:r>
            <a:r>
              <a:rPr lang="en-US" sz="17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Complex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7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7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Complex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7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return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r>
              <a:rPr lang="en-US" sz="17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sz="17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+ </a:t>
            </a:r>
            <a:r>
              <a:rPr lang="en-US" sz="17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7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.Re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(), </a:t>
            </a:r>
            <a:r>
              <a:rPr lang="en-US" sz="17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sz="17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.Im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+ </a:t>
            </a:r>
            <a:r>
              <a:rPr lang="en-US" sz="17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7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.Im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()};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main()</a:t>
            </a:r>
            <a:r>
              <a:rPr lang="en-US" sz="17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7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auto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result = Add(3, {1.2, 2.3}); </a:t>
            </a:r>
            <a:r>
              <a:rPr lang="en-US" sz="1700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4.2+2.3i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7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Complex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 = 3.2;                  </a:t>
            </a:r>
            <a:r>
              <a:rPr lang="en-US" sz="1700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3.2+0.i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7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Complex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 = { 2, 7.3 };           </a:t>
            </a:r>
            <a:r>
              <a:rPr lang="en-US" sz="1700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2+7.3i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7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Complex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c;                        </a:t>
            </a:r>
            <a:r>
              <a:rPr lang="en-US" sz="1700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0+0i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7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Complex</a:t>
            </a:r>
            <a:r>
              <a:rPr lang="en-US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 = {};                   </a:t>
            </a:r>
            <a:r>
              <a:rPr lang="en-US" sz="1700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0+0i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7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7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63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83D197-A5E1-2D1D-4BB0-491D167EE0DE}"/>
              </a:ext>
            </a:extLst>
          </p:cNvPr>
          <p:cNvSpPr txBox="1"/>
          <p:nvPr/>
        </p:nvSpPr>
        <p:spPr>
          <a:xfrm>
            <a:off x="1055440" y="474345"/>
            <a:ext cx="666023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TV</a:t>
            </a:r>
            <a:r>
              <a:rPr lang="en-US" kern="1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TV() =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TV(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: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isTurnedOn</a:t>
            </a:r>
            <a:r>
              <a:rPr lang="en-US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 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</a:p>
          <a:p>
            <a:r>
              <a:rPr lang="en-US" kern="1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…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m_currentChannel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PrintInfo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TV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tv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 </a:t>
            </a:r>
            <a:r>
              <a:rPr lang="en-US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... */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main()</a:t>
            </a:r>
            <a:r>
              <a:rPr lang="en-US" kern="1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TV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tv{ </a:t>
            </a:r>
            <a:r>
              <a:rPr lang="en-US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</a:t>
            </a:r>
            <a:r>
              <a:rPr lang="en-US" kern="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isTurnedOn</a:t>
            </a:r>
            <a:r>
              <a:rPr lang="en-US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*/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PrintInfo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(tv);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TV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tv1 =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</a:t>
            </a:r>
            <a:r>
              <a:rPr lang="en-US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WTF?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PrintInfo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 </a:t>
            </a:r>
            <a:r>
              <a:rPr lang="en-US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WTF?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49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2D0879-76D9-F192-A8D3-01DAD4AF1A90}"/>
              </a:ext>
            </a:extLst>
          </p:cNvPr>
          <p:cNvSpPr txBox="1"/>
          <p:nvPr/>
        </p:nvSpPr>
        <p:spPr>
          <a:xfrm>
            <a:off x="1415480" y="987971"/>
            <a:ext cx="590465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 TV {</a:t>
            </a:r>
            <a:endParaRPr lang="ru-RU" sz="2400" kern="1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public:</a:t>
            </a:r>
            <a:endParaRPr lang="ru-RU" sz="2400" kern="1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TV() = default;</a:t>
            </a:r>
            <a:endParaRPr lang="ru-RU" sz="2400" kern="1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explicit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TV(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: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isTurnedOn</a:t>
            </a:r>
            <a:r>
              <a:rPr lang="en-US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 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…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private:</a:t>
            </a:r>
            <a:endParaRPr lang="ru-RU" sz="2400" kern="1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bool </a:t>
            </a:r>
            <a:r>
              <a:rPr lang="en-US" kern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m_isTurnedOn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false;</a:t>
            </a:r>
            <a:endParaRPr lang="ru-RU" sz="2400" kern="1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int </a:t>
            </a:r>
            <a:r>
              <a:rPr lang="en-US" kern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m_currentChannel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endParaRPr lang="ru-RU" sz="2400" kern="1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2400" kern="1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 </a:t>
            </a:r>
            <a:r>
              <a:rPr lang="en-US" kern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PrintInfo</a:t>
            </a:r>
            <a:r>
              <a:rPr lang="en-US" kern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(const TV&amp; tv) { /* ... */ }</a:t>
            </a:r>
            <a:endParaRPr lang="ru-RU" sz="2400" kern="1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Test() 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TV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tv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 </a:t>
            </a:r>
            <a:r>
              <a:rPr lang="en-US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Ошибка компиляции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PrintInfo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 </a:t>
            </a:r>
            <a:r>
              <a:rPr lang="en-US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kern="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Ошибка компиляции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04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87880B9-8488-44D6-895C-BF3162347D5A}"/>
              </a:ext>
            </a:extLst>
          </p:cNvPr>
          <p:cNvGrpSpPr/>
          <p:nvPr/>
        </p:nvGrpSpPr>
        <p:grpSpPr>
          <a:xfrm>
            <a:off x="7994004" y="476672"/>
            <a:ext cx="4176464" cy="6214978"/>
            <a:chOff x="6960096" y="476672"/>
            <a:chExt cx="4176464" cy="621497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2E1A886-65EF-4ADE-A157-D2D127F8F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0096" y="476672"/>
              <a:ext cx="4176464" cy="62149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CB848C4-7B1B-4387-8784-200071DB9B49}"/>
                </a:ext>
              </a:extLst>
            </p:cNvPr>
            <p:cNvSpPr txBox="1"/>
            <p:nvPr/>
          </p:nvSpPr>
          <p:spPr>
            <a:xfrm>
              <a:off x="7392144" y="1090962"/>
              <a:ext cx="1296144" cy="646331"/>
            </a:xfrm>
            <a:prstGeom prst="rect">
              <a:avLst/>
            </a:prstGeom>
            <a:noFill/>
            <a:scene3d>
              <a:camera prst="perspectiveRight" fov="3300000">
                <a:rot lat="21445441" lon="20979941" rev="886928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Explicit constructor</a:t>
              </a:r>
              <a:endParaRPr lang="ru-RU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675532B-11C5-4E5D-A3BB-DF76BAC81042}"/>
                </a:ext>
              </a:extLst>
            </p:cNvPr>
            <p:cNvSpPr txBox="1"/>
            <p:nvPr/>
          </p:nvSpPr>
          <p:spPr>
            <a:xfrm>
              <a:off x="8760298" y="874938"/>
              <a:ext cx="1296144" cy="584775"/>
            </a:xfrm>
            <a:prstGeom prst="rect">
              <a:avLst/>
            </a:prstGeom>
            <a:noFill/>
            <a:scene3d>
              <a:camera prst="perspectiveRight" fov="3300000">
                <a:rot lat="21445441" lon="20979941" rev="886928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Implicit constructor</a:t>
              </a:r>
              <a:endParaRPr lang="ru-RU" sz="1600" dirty="0"/>
            </a:p>
          </p:txBody>
        </p:sp>
      </p:grp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DB76541-4E8A-4854-A44E-61516576E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or Implicit?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8E76FEE-2A23-4D3C-B715-79B7E5422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69968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Правило по умолчанию:</a:t>
            </a:r>
          </a:p>
          <a:p>
            <a:pPr lvl="1"/>
            <a:r>
              <a:rPr lang="ru-RU" dirty="0"/>
              <a:t>если конструктор имеет один параметр</a:t>
            </a:r>
            <a:r>
              <a:rPr lang="en-US" dirty="0"/>
              <a:t>,</a:t>
            </a:r>
            <a:r>
              <a:rPr lang="ru-RU" dirty="0"/>
              <a:t> делайте его </a:t>
            </a:r>
            <a:r>
              <a:rPr lang="ru-RU" dirty="0" err="1"/>
              <a:t>explicit</a:t>
            </a:r>
            <a:endParaRPr lang="ru-RU" dirty="0"/>
          </a:p>
          <a:p>
            <a:r>
              <a:rPr lang="ru-RU" dirty="0"/>
              <a:t>Исключение:</a:t>
            </a:r>
            <a:r>
              <a:rPr lang="en-US" dirty="0"/>
              <a:t> </a:t>
            </a:r>
            <a:r>
              <a:rPr lang="ru-RU" dirty="0"/>
              <a:t>если действительно нужно неявное преобразование типов</a:t>
            </a:r>
          </a:p>
          <a:p>
            <a:r>
              <a:rPr lang="ru-RU" dirty="0"/>
              <a:t>Если параметров несколько</a:t>
            </a:r>
            <a:r>
              <a:rPr lang="en-US" dirty="0"/>
              <a:t>, </a:t>
            </a:r>
            <a:r>
              <a:rPr lang="ru-RU" dirty="0" err="1"/>
              <a:t>explicit</a:t>
            </a:r>
            <a:r>
              <a:rPr lang="ru-RU" dirty="0"/>
              <a:t> обычно не требуется</a:t>
            </a:r>
            <a:r>
              <a:rPr lang="en-US" dirty="0"/>
              <a:t> </a:t>
            </a:r>
            <a:r>
              <a:rPr lang="ru-RU" dirty="0"/>
              <a:t>(неявные преобразования и так не происходят)</a:t>
            </a:r>
          </a:p>
          <a:p>
            <a:r>
              <a:rPr lang="ru-RU" dirty="0"/>
              <a:t>Рекомендация:</a:t>
            </a:r>
          </a:p>
          <a:p>
            <a:pPr lvl="1"/>
            <a:r>
              <a:rPr lang="ru-RU" dirty="0"/>
              <a:t>предпочитайте явные преобразования</a:t>
            </a:r>
          </a:p>
          <a:p>
            <a:pPr lvl="1"/>
            <a:r>
              <a:rPr lang="ru-RU" dirty="0"/>
              <a:t>избегайте неожиданного поведения кода</a:t>
            </a:r>
          </a:p>
          <a:p>
            <a:r>
              <a:rPr lang="ru-RU" dirty="0"/>
              <a:t>См. также:</a:t>
            </a:r>
          </a:p>
          <a:p>
            <a:pPr lvl="1"/>
            <a:r>
              <a:rPr lang="en-US" dirty="0">
                <a:hlinkClick r:id="rId4"/>
              </a:rPr>
              <a:t>C.46: By default, declare single-argument constructors explicit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8D2E513-D6F3-4253-BE69-D235299B17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7989" y="1911376"/>
            <a:ext cx="3322576" cy="334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0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1E6CF-8935-4EC1-A25D-D6553A16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Деинициализация</a:t>
            </a:r>
            <a:r>
              <a:rPr lang="ru-RU" dirty="0"/>
              <a:t> объекта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C240D-714A-4032-82D2-CA2912A54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32805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Деинициализация</a:t>
            </a:r>
            <a:r>
              <a:rPr lang="ru-RU" dirty="0"/>
              <a:t> объекта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Во время работы объект может владеть ресурсами:</a:t>
            </a:r>
          </a:p>
          <a:p>
            <a:pPr lvl="1"/>
            <a:r>
              <a:rPr lang="ru-RU" dirty="0"/>
              <a:t>динамическая память</a:t>
            </a:r>
          </a:p>
          <a:p>
            <a:pPr lvl="1"/>
            <a:r>
              <a:rPr lang="ru-RU" dirty="0"/>
              <a:t>файлы</a:t>
            </a:r>
          </a:p>
          <a:p>
            <a:pPr lvl="1"/>
            <a:r>
              <a:rPr lang="ru-RU" dirty="0"/>
              <a:t>сетевые соединения</a:t>
            </a:r>
          </a:p>
          <a:p>
            <a:pPr lvl="1"/>
            <a:r>
              <a:rPr lang="ru-RU" dirty="0"/>
              <a:t>другие системные ресурсы</a:t>
            </a:r>
          </a:p>
          <a:p>
            <a:r>
              <a:rPr lang="ru-RU" dirty="0"/>
              <a:t>Ресурсы должны быть освобождены при уничтожении объекта</a:t>
            </a:r>
          </a:p>
          <a:p>
            <a:r>
              <a:rPr lang="ru-RU" b="1" dirty="0"/>
              <a:t>Деструктор</a:t>
            </a:r>
            <a:r>
              <a:rPr lang="ru-RU" dirty="0"/>
              <a:t> – это специальный метод класса, который вызывается автоматически при уничтожении объекта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Деструктор: синтаксис и вызов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Синтаксис:</a:t>
            </a:r>
          </a:p>
          <a:p>
            <a:pPr lvl="1"/>
            <a:r>
              <a:rPr lang="ru-RU" dirty="0"/>
              <a:t>имя совпадает с именем класса</a:t>
            </a:r>
          </a:p>
          <a:p>
            <a:pPr lvl="1"/>
            <a:r>
              <a:rPr lang="ru-RU" dirty="0"/>
              <a:t>перед именем ставится </a:t>
            </a:r>
            <a:r>
              <a:rPr lang="ru-RU" b="1" dirty="0"/>
              <a:t>~</a:t>
            </a:r>
            <a:endParaRPr lang="ru-RU" dirty="0"/>
          </a:p>
          <a:p>
            <a:pPr lvl="1"/>
            <a:r>
              <a:rPr lang="ru-RU" dirty="0"/>
              <a:t>~</a:t>
            </a:r>
            <a:r>
              <a:rPr lang="ru-RU" dirty="0" err="1"/>
              <a:t>ClassName</a:t>
            </a:r>
            <a:r>
              <a:rPr lang="ru-RU" dirty="0"/>
              <a:t>();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не имеет параметров</a:t>
            </a:r>
          </a:p>
          <a:p>
            <a:pPr lvl="1"/>
            <a:r>
              <a:rPr lang="ru-RU" dirty="0"/>
              <a:t>не возвращает значение</a:t>
            </a:r>
          </a:p>
          <a:p>
            <a:pPr lvl="1"/>
            <a:r>
              <a:rPr lang="ru-RU" dirty="0"/>
              <a:t>в классе может быть только один деструктор</a:t>
            </a:r>
          </a:p>
          <a:p>
            <a:r>
              <a:rPr lang="ru-RU" dirty="0"/>
              <a:t>Когда вызывается:</a:t>
            </a:r>
          </a:p>
          <a:p>
            <a:pPr lvl="1"/>
            <a:r>
              <a:rPr lang="ru-RU" dirty="0"/>
              <a:t>при выходе из области видимости объекта</a:t>
            </a:r>
          </a:p>
          <a:p>
            <a:pPr lvl="1"/>
            <a:r>
              <a:rPr lang="ru-RU" dirty="0"/>
              <a:t>при вызове </a:t>
            </a:r>
            <a:r>
              <a:rPr lang="ru-RU" dirty="0" err="1"/>
              <a:t>delete</a:t>
            </a:r>
            <a:r>
              <a:rPr lang="ru-RU" dirty="0"/>
              <a:t> / </a:t>
            </a:r>
            <a:r>
              <a:rPr lang="ru-RU" dirty="0" err="1"/>
              <a:t>delete</a:t>
            </a:r>
            <a:r>
              <a:rPr lang="ru-RU" dirty="0"/>
              <a:t>[]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C943BA-0F6D-C936-C983-C78DD169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AED1B3-3DB9-C55B-E98E-3EA3F71B09E2}"/>
              </a:ext>
            </a:extLst>
          </p:cNvPr>
          <p:cNvSpPr txBox="1"/>
          <p:nvPr/>
        </p:nvSpPr>
        <p:spPr>
          <a:xfrm>
            <a:off x="838200" y="1916833"/>
            <a:ext cx="106584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"Constructor: object is created"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Деструктор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"Destructor: object is destroyed"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main"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obj;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"Exit main"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BA1394-DA61-7D7D-4B48-952D0E3B7FBD}"/>
              </a:ext>
            </a:extLst>
          </p:cNvPr>
          <p:cNvSpPr txBox="1"/>
          <p:nvPr/>
        </p:nvSpPr>
        <p:spPr>
          <a:xfrm>
            <a:off x="7392144" y="5292546"/>
            <a:ext cx="4489545" cy="1200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Enter main</a:t>
            </a:r>
          </a:p>
          <a:p>
            <a:r>
              <a:rPr lang="en-US" dirty="0">
                <a:latin typeface="Consolas" panose="020B0609020204030204" pitchFamily="49" charset="0"/>
              </a:rPr>
              <a:t>Constructor: object is created</a:t>
            </a:r>
          </a:p>
          <a:p>
            <a:r>
              <a:rPr lang="en-US" dirty="0">
                <a:latin typeface="Consolas" panose="020B0609020204030204" pitchFamily="49" charset="0"/>
              </a:rPr>
              <a:t>Exit main</a:t>
            </a:r>
          </a:p>
          <a:p>
            <a:r>
              <a:rPr lang="en-US" dirty="0">
                <a:latin typeface="Consolas" panose="020B0609020204030204" pitchFamily="49" charset="0"/>
              </a:rPr>
              <a:t>Destructor: object is destroyed</a:t>
            </a:r>
          </a:p>
        </p:txBody>
      </p:sp>
    </p:spTree>
    <p:extLst>
      <p:ext uri="{BB962C8B-B14F-4D97-AF65-F5344CB8AC3E}">
        <p14:creationId xmlns:p14="http://schemas.microsoft.com/office/powerpoint/2010/main" val="176109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происходит в деструкторе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Назначение деструктора:</a:t>
            </a:r>
          </a:p>
          <a:p>
            <a:pPr lvl="1"/>
            <a:r>
              <a:rPr lang="ru-RU" dirty="0"/>
              <a:t>завершить жизненный цикл объекта</a:t>
            </a:r>
          </a:p>
          <a:p>
            <a:pPr lvl="1"/>
            <a:r>
              <a:rPr lang="ru-RU" dirty="0"/>
              <a:t>освободить ресурсы, которыми владел объект</a:t>
            </a:r>
          </a:p>
          <a:p>
            <a:r>
              <a:rPr lang="ru-RU" dirty="0"/>
              <a:t>Типичные задачи:</a:t>
            </a:r>
          </a:p>
          <a:p>
            <a:pPr lvl="1"/>
            <a:r>
              <a:rPr lang="ru-RU" dirty="0"/>
              <a:t>освобождение динамической памяти</a:t>
            </a:r>
          </a:p>
          <a:p>
            <a:pPr lvl="1"/>
            <a:r>
              <a:rPr lang="ru-RU" dirty="0"/>
              <a:t>закрытие файлов</a:t>
            </a:r>
          </a:p>
          <a:p>
            <a:pPr lvl="1"/>
            <a:r>
              <a:rPr lang="ru-RU" dirty="0"/>
              <a:t>завершение работы с сетевыми ресурсами</a:t>
            </a:r>
          </a:p>
          <a:p>
            <a:pPr lvl="1"/>
            <a:r>
              <a:rPr lang="ru-RU" dirty="0"/>
              <a:t>освобождение других системных ресурсов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деструктор должен корректно и безопасно очищать состояние</a:t>
            </a:r>
          </a:p>
          <a:p>
            <a:pPr lvl="1"/>
            <a:r>
              <a:rPr lang="ru-RU" dirty="0"/>
              <a:t>не должен выбрасывать исключения (об этом отдельно)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92BEF6-2424-4849-B619-AEFB0D20848A}"/>
              </a:ext>
            </a:extLst>
          </p:cNvPr>
          <p:cNvSpPr txBox="1"/>
          <p:nvPr/>
        </p:nvSpPr>
        <p:spPr>
          <a:xfrm>
            <a:off x="335360" y="-24063"/>
            <a:ext cx="7416824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{</a:t>
            </a:r>
          </a:p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String()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s_emptyString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{ }</a:t>
            </a:r>
          </a:p>
          <a:p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text)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(text) },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Allocate(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 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uninitialized_copy_n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(text,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~String() {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s_emptyString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std::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destroy_n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m_chars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m_size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5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Deallocate(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Allocate(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 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*&gt;(operator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(size));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Deallocate(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buffer)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operator delete(buffer);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s_emptyString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{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'\0’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15530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происходит после деструктора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Порядок разрушения объекта:</a:t>
            </a:r>
          </a:p>
          <a:p>
            <a:pPr lvl="1"/>
            <a:r>
              <a:rPr lang="ru-RU" dirty="0"/>
              <a:t>выполняется тело деструктора класса</a:t>
            </a:r>
          </a:p>
          <a:p>
            <a:pPr lvl="1"/>
            <a:r>
              <a:rPr lang="ru-RU" dirty="0"/>
              <a:t>вызываются деструкторы полей класса (в порядке обратном их объявлению)</a:t>
            </a:r>
          </a:p>
          <a:p>
            <a:pPr lvl="1"/>
            <a:r>
              <a:rPr lang="ru-RU" dirty="0"/>
              <a:t>вызывается деструктор базового класса (если есть наследование)</a:t>
            </a:r>
          </a:p>
          <a:p>
            <a:pPr lvl="1"/>
            <a:r>
              <a:rPr lang="ru-RU" dirty="0"/>
              <a:t>освобождается память объекта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порядок строго определён и гарантируется языком</a:t>
            </a:r>
          </a:p>
          <a:p>
            <a:pPr lvl="1"/>
            <a:r>
              <a:rPr lang="ru-RU" dirty="0"/>
              <a:t>разрушение происходит автоматически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«Колесо»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271464" y="2132856"/>
            <a:ext cx="799288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class Wheel</a:t>
            </a:r>
          </a:p>
          <a:p>
            <a:pPr defTabSz="266700"/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defTabSz="266700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public:</a:t>
            </a:r>
          </a:p>
          <a:p>
            <a:pPr defTabSz="266700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Wheel(string const&amp; name)</a:t>
            </a:r>
          </a:p>
          <a:p>
            <a:pPr defTabSz="266700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	: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m_name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(name)</a:t>
            </a:r>
          </a:p>
          <a:p>
            <a:pPr defTabSz="266700"/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	{</a:t>
            </a:r>
          </a:p>
          <a:p>
            <a:pPr defTabSz="266700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 &lt;&lt; "Constructing wheel " &lt;&lt;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m_name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 &lt;&lt; "\n";</a:t>
            </a:r>
          </a:p>
          <a:p>
            <a:pPr defTabSz="266700"/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	}</a:t>
            </a:r>
          </a:p>
          <a:p>
            <a:pPr defTabSz="266700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~Wheel()</a:t>
            </a:r>
          </a:p>
          <a:p>
            <a:pPr defTabSz="266700"/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	{</a:t>
            </a:r>
          </a:p>
          <a:p>
            <a:pPr defTabSz="266700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 &lt;&lt; "Destroying wheel " &lt;&lt;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m_name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 &lt;&lt; "\n";</a:t>
            </a:r>
          </a:p>
          <a:p>
            <a:pPr defTabSz="266700"/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	}</a:t>
            </a:r>
          </a:p>
          <a:p>
            <a:pPr defTabSz="266700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private:</a:t>
            </a:r>
          </a:p>
          <a:p>
            <a:pPr defTabSz="266700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string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m_name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defTabSz="266700"/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«Автомобиль»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55440" y="1490160"/>
            <a:ext cx="979308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class Car 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public: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Car(string const&amp; name):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m_name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(name)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	,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m_frontRight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("Front right“),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m_rearLeft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("Rear left")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	,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m_rearRight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("Rear right“),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m_frontLeft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("Front left")</a:t>
            </a:r>
          </a:p>
          <a:p>
            <a:pPr defTabSz="266700"/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	{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&lt;&lt; "Constructing car " &lt;&lt;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m_name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&lt;&lt; "\n";</a:t>
            </a:r>
          </a:p>
          <a:p>
            <a:pPr defTabSz="266700"/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	}</a:t>
            </a:r>
            <a:endParaRPr lang="en-US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string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GetName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()const 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	return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m_name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defTabSz="266700"/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	}</a:t>
            </a:r>
          </a:p>
          <a:p>
            <a:pPr defTabSz="266700"/>
            <a:endParaRPr lang="ru-RU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virtual ~Car() 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{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// 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В базовом классе деструктор, как правило, виртуальный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&lt;&lt; "Destroying car " &lt;&lt;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m_name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&lt;&lt; "\n";</a:t>
            </a:r>
          </a:p>
          <a:p>
            <a:pPr defTabSz="266700"/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	}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private: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string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m_name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Wheel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m_frontLeft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Wheel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m_frontRight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Wheel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m_rearLeft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Wheel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m_rearRight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defTabSz="266700"/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«</a:t>
            </a:r>
            <a:r>
              <a:rPr lang="ru-RU" dirty="0" err="1"/>
              <a:t>Супер</a:t>
            </a:r>
            <a:r>
              <a:rPr lang="ru-RU" dirty="0"/>
              <a:t> автомобиль»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063552" y="1916832"/>
            <a:ext cx="820891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class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SuperCar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: public Car</a:t>
            </a:r>
          </a:p>
          <a:p>
            <a:pPr defTabSz="266700"/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public: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SuperCar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(string const&amp; name)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	: Car(name)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	,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m_fifthWheel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("Fifth wheel")</a:t>
            </a:r>
          </a:p>
          <a:p>
            <a:pPr defTabSz="266700"/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	{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&lt;&lt; "Constructing super car " &lt;&lt; name &lt;&lt; "\n";</a:t>
            </a:r>
          </a:p>
          <a:p>
            <a:pPr defTabSz="266700"/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	}</a:t>
            </a:r>
            <a:endParaRPr lang="en-US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266700"/>
            <a:endParaRPr lang="ru-RU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~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SuperCar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()</a:t>
            </a:r>
          </a:p>
          <a:p>
            <a:pPr defTabSz="266700"/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	{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&lt;&lt; "Destroying super car " &lt;&lt;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GetName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() &lt;&lt; "\n";</a:t>
            </a:r>
          </a:p>
          <a:p>
            <a:pPr defTabSz="266700"/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	}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private:</a:t>
            </a:r>
          </a:p>
          <a:p>
            <a:pPr defTabSz="266700"/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Wheel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m_fifthWheel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defTabSz="266700"/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Порядок вызова конструкторов и деструкторов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847528" y="1916832"/>
            <a:ext cx="61024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char*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defTabSz="266700"/>
            <a:r>
              <a:rPr lang="ru-RU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defTabSz="266700"/>
            <a:r>
              <a:rPr 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SuperCar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ladaKalina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Lada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Kalina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defTabSz="266700"/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pPr defTabSz="266700"/>
            <a:r>
              <a:rPr lang="en-US" b="1" dirty="0">
                <a:latin typeface="Courier New" pitchFamily="49" charset="0"/>
                <a:cs typeface="Courier New" pitchFamily="49" charset="0"/>
              </a:rPr>
              <a:t>	return 0;</a:t>
            </a:r>
          </a:p>
          <a:p>
            <a:pPr defTabSz="266700"/>
            <a:r>
              <a:rPr lang="ru-RU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35960" y="3534014"/>
            <a:ext cx="493204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Constructing wheel Front left</a:t>
            </a:r>
          </a:p>
          <a:p>
            <a:r>
              <a:rPr lang="en-US" sz="15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Constructing wheel Front right</a:t>
            </a:r>
          </a:p>
          <a:p>
            <a:r>
              <a:rPr lang="en-US" sz="15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Constructing wheel Rear left</a:t>
            </a:r>
          </a:p>
          <a:p>
            <a:r>
              <a:rPr lang="en-US" sz="15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Constructing wheel Rear right</a:t>
            </a:r>
          </a:p>
          <a:p>
            <a:r>
              <a:rPr lang="en-US" sz="15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Constructing car </a:t>
            </a:r>
            <a:r>
              <a:rPr lang="en-US" sz="15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Lada</a:t>
            </a:r>
            <a:r>
              <a:rPr lang="en-US" sz="15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Kalina</a:t>
            </a:r>
            <a:endParaRPr lang="en-US" sz="15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Constructing wheel Fifth wheel</a:t>
            </a:r>
          </a:p>
          <a:p>
            <a:r>
              <a:rPr lang="en-US" sz="15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Constructing super car </a:t>
            </a:r>
            <a:r>
              <a:rPr lang="en-US" sz="15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Lada</a:t>
            </a:r>
            <a:r>
              <a:rPr lang="en-US" sz="15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Kalina</a:t>
            </a:r>
            <a:endParaRPr lang="en-US" sz="15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5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Destroying super car </a:t>
            </a:r>
            <a:r>
              <a:rPr lang="en-US" sz="15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Lada</a:t>
            </a:r>
            <a:r>
              <a:rPr lang="en-US" sz="15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Kalina</a:t>
            </a:r>
            <a:endParaRPr lang="en-US" sz="15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Destroying wheel Fifth wheel</a:t>
            </a:r>
          </a:p>
          <a:p>
            <a:r>
              <a:rPr lang="en-US" sz="15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Destroying car </a:t>
            </a:r>
            <a:r>
              <a:rPr lang="en-US" sz="15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Lada</a:t>
            </a:r>
            <a:r>
              <a:rPr lang="en-US" sz="15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Kalina</a:t>
            </a:r>
            <a:endParaRPr lang="en-US" sz="15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5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Destroying wheel Rear right</a:t>
            </a:r>
          </a:p>
          <a:p>
            <a:r>
              <a:rPr lang="en-US" sz="15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Destroying wheel Rear left</a:t>
            </a:r>
          </a:p>
          <a:p>
            <a:r>
              <a:rPr lang="en-US" sz="15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Destroying wheel Front right</a:t>
            </a:r>
          </a:p>
          <a:p>
            <a:r>
              <a:rPr lang="en-US" sz="15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Destroying wheel Front Left</a:t>
            </a:r>
            <a:endParaRPr lang="ru-RU" sz="15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Левая фигурная скобка 4"/>
          <p:cNvSpPr/>
          <p:nvPr/>
        </p:nvSpPr>
        <p:spPr>
          <a:xfrm>
            <a:off x="5447928" y="3623538"/>
            <a:ext cx="288032" cy="86409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524000" y="3861049"/>
            <a:ext cx="3923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/>
              <a:t>Конструирование полей базового класса </a:t>
            </a:r>
            <a:r>
              <a:rPr lang="en-US" sz="1400" dirty="0"/>
              <a:t>Car</a:t>
            </a:r>
            <a:endParaRPr lang="ru-RU" sz="1400" dirty="0"/>
          </a:p>
        </p:txBody>
      </p:sp>
      <p:sp>
        <p:nvSpPr>
          <p:cNvPr id="7" name="Левая фигурная скобка 6"/>
          <p:cNvSpPr/>
          <p:nvPr/>
        </p:nvSpPr>
        <p:spPr>
          <a:xfrm>
            <a:off x="5519936" y="4509120"/>
            <a:ext cx="216024" cy="2160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524000" y="4437113"/>
            <a:ext cx="3923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/>
              <a:t>Выполнение тела конструктора класса </a:t>
            </a:r>
            <a:r>
              <a:rPr lang="en-US" sz="1400" dirty="0"/>
              <a:t>Car</a:t>
            </a:r>
            <a:endParaRPr lang="ru-RU" sz="1400" dirty="0"/>
          </a:p>
        </p:txBody>
      </p:sp>
      <p:sp>
        <p:nvSpPr>
          <p:cNvPr id="9" name="Левая фигурная скобка 8"/>
          <p:cNvSpPr/>
          <p:nvPr/>
        </p:nvSpPr>
        <p:spPr>
          <a:xfrm>
            <a:off x="5519936" y="4725144"/>
            <a:ext cx="216024" cy="2160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524000" y="4705400"/>
            <a:ext cx="3923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/>
              <a:t>Конструирование полей класса</a:t>
            </a:r>
            <a:r>
              <a:rPr lang="en-US" sz="1400" dirty="0"/>
              <a:t> </a:t>
            </a:r>
            <a:r>
              <a:rPr lang="en-US" sz="1400" dirty="0" err="1"/>
              <a:t>SuperCar</a:t>
            </a:r>
            <a:endParaRPr lang="ru-RU" sz="1400" dirty="0"/>
          </a:p>
        </p:txBody>
      </p:sp>
      <p:sp>
        <p:nvSpPr>
          <p:cNvPr id="11" name="Левая фигурная скобка 10"/>
          <p:cNvSpPr/>
          <p:nvPr/>
        </p:nvSpPr>
        <p:spPr>
          <a:xfrm>
            <a:off x="5519936" y="4941168"/>
            <a:ext cx="216024" cy="2160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524000" y="4941169"/>
            <a:ext cx="3923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/>
              <a:t>Тело конструктора класса </a:t>
            </a:r>
            <a:r>
              <a:rPr lang="en-US" sz="1400" dirty="0" err="1"/>
              <a:t>SuperCar</a:t>
            </a:r>
            <a:endParaRPr lang="ru-RU" sz="1400" dirty="0"/>
          </a:p>
        </p:txBody>
      </p:sp>
      <p:sp>
        <p:nvSpPr>
          <p:cNvPr id="13" name="Левая фигурная скобка 12"/>
          <p:cNvSpPr/>
          <p:nvPr/>
        </p:nvSpPr>
        <p:spPr>
          <a:xfrm>
            <a:off x="5519936" y="5157192"/>
            <a:ext cx="216024" cy="2160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1524000" y="5157193"/>
            <a:ext cx="3923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/>
              <a:t>Тело деструктора класса </a:t>
            </a:r>
            <a:r>
              <a:rPr lang="en-US" sz="1400" dirty="0" err="1"/>
              <a:t>SuperCar</a:t>
            </a:r>
            <a:endParaRPr lang="ru-RU" sz="1400" dirty="0"/>
          </a:p>
        </p:txBody>
      </p:sp>
      <p:sp>
        <p:nvSpPr>
          <p:cNvPr id="15" name="Левая фигурная скобка 14"/>
          <p:cNvSpPr/>
          <p:nvPr/>
        </p:nvSpPr>
        <p:spPr>
          <a:xfrm>
            <a:off x="5519936" y="5373216"/>
            <a:ext cx="216024" cy="2160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1524000" y="5353472"/>
            <a:ext cx="3923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/>
              <a:t>Деструкторы полей класса </a:t>
            </a:r>
            <a:r>
              <a:rPr lang="en-US" sz="1400" dirty="0" err="1"/>
              <a:t>SuperCar</a:t>
            </a:r>
            <a:endParaRPr lang="ru-RU" sz="1400" dirty="0"/>
          </a:p>
        </p:txBody>
      </p:sp>
      <p:sp>
        <p:nvSpPr>
          <p:cNvPr id="17" name="Левая фигурная скобка 16"/>
          <p:cNvSpPr/>
          <p:nvPr/>
        </p:nvSpPr>
        <p:spPr>
          <a:xfrm>
            <a:off x="5519936" y="5589240"/>
            <a:ext cx="216024" cy="2160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1524000" y="5589241"/>
            <a:ext cx="3923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/>
              <a:t>Тело деструктора класса </a:t>
            </a:r>
            <a:r>
              <a:rPr lang="en-US" sz="1400" dirty="0"/>
              <a:t>Car</a:t>
            </a:r>
            <a:endParaRPr lang="ru-RU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1524000" y="6093297"/>
            <a:ext cx="3923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/>
              <a:t>Деструкторы полей класса</a:t>
            </a:r>
            <a:r>
              <a:rPr lang="en-US" sz="1400" dirty="0"/>
              <a:t> Car</a:t>
            </a:r>
            <a:endParaRPr lang="ru-RU" sz="1400" dirty="0"/>
          </a:p>
        </p:txBody>
      </p:sp>
      <p:sp>
        <p:nvSpPr>
          <p:cNvPr id="20" name="Левая фигурная скобка 19"/>
          <p:cNvSpPr/>
          <p:nvPr/>
        </p:nvSpPr>
        <p:spPr>
          <a:xfrm>
            <a:off x="5519936" y="5805264"/>
            <a:ext cx="216024" cy="9361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5879977" y="3212976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2135560" y="2492896"/>
            <a:ext cx="4896544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135560" y="3068960"/>
            <a:ext cx="144016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/>
      <p:bldP spid="20" grpId="0" animBg="1"/>
      <p:bldP spid="22" grpId="0" animBg="1"/>
      <p:bldP spid="22" grpId="1" animBg="1"/>
      <p:bldP spid="23" grpId="0" animBg="1"/>
      <p:bldP spid="23" grpId="1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Автоматически сгенерированный деструктор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деструктор не объявлен:</a:t>
            </a:r>
          </a:p>
          <a:p>
            <a:pPr lvl="1"/>
            <a:r>
              <a:rPr lang="ru-RU" dirty="0"/>
              <a:t>компилятор создаёт его автоматически</a:t>
            </a:r>
          </a:p>
          <a:p>
            <a:pPr lvl="1"/>
            <a:r>
              <a:rPr lang="ru-RU" dirty="0"/>
              <a:t>он имеет пустое тело</a:t>
            </a:r>
          </a:p>
          <a:p>
            <a:r>
              <a:rPr lang="ru-RU" dirty="0"/>
              <a:t>При этом всё равно происходит:</a:t>
            </a:r>
          </a:p>
          <a:p>
            <a:pPr lvl="1"/>
            <a:r>
              <a:rPr lang="ru-RU" dirty="0"/>
              <a:t>вызов деструкторов полей класса</a:t>
            </a:r>
          </a:p>
          <a:p>
            <a:pPr lvl="1"/>
            <a:r>
              <a:rPr lang="ru-RU" dirty="0"/>
              <a:t>корректное разрушение базовых классов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для примитивных типов ничего делать не нужно</a:t>
            </a:r>
          </a:p>
          <a:p>
            <a:pPr lvl="1"/>
            <a:r>
              <a:rPr lang="ru-RU" dirty="0"/>
              <a:t>обычные указатели не освобождают память автоматически</a:t>
            </a:r>
          </a:p>
          <a:p>
            <a:pPr lvl="1"/>
            <a:r>
              <a:rPr lang="ru-RU" dirty="0"/>
              <a:t>умные указатели освобождают ресурсы в своих деструкторах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Корректно работающий автоматически сгенерированный деструктор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DE09C-28BF-AFD8-E5FE-710103667246}"/>
              </a:ext>
            </a:extLst>
          </p:cNvPr>
          <p:cNvSpPr txBox="1"/>
          <p:nvPr/>
        </p:nvSpPr>
        <p:spPr>
          <a:xfrm>
            <a:off x="838200" y="1844824"/>
            <a:ext cx="113538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User(std::string name, std::string email)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(std::move(name))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Что это за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move -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узнаете скоро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m_email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(std::move(email))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Email: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m_email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m_email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User user(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"alice@example.com"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Пример класса, где обязательно нужен деструктор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C0F652-0AA3-304D-7DF9-78E2767DD243}"/>
              </a:ext>
            </a:extLst>
          </p:cNvPr>
          <p:cNvSpPr txBox="1"/>
          <p:nvPr/>
        </p:nvSpPr>
        <p:spPr>
          <a:xfrm>
            <a:off x="815926" y="1569722"/>
            <a:ext cx="813690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(size)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выделяем память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"Allocated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integers\n"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 память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"Memory freed\n"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index)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[index];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0BE513-5026-707C-5D02-221366D3A56B}"/>
              </a:ext>
            </a:extLst>
          </p:cNvPr>
          <p:cNvSpPr txBox="1"/>
          <p:nvPr/>
        </p:nvSpPr>
        <p:spPr>
          <a:xfrm>
            <a:off x="6072977" y="5308846"/>
            <a:ext cx="60932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Копирование объектов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custDataLst>
      <p:tags r:id="rId1"/>
    </p:custData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Конструктор копирования (копирующий конструктор)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Копирующий конструктор — специальный конструктор, создающий</a:t>
            </a:r>
            <a:br>
              <a:rPr lang="ru-RU" dirty="0"/>
            </a:br>
            <a:r>
              <a:rPr lang="ru-RU" dirty="0"/>
              <a:t>новый объект как копию существующего.</a:t>
            </a:r>
          </a:p>
          <a:p>
            <a:r>
              <a:rPr lang="ru-RU" dirty="0"/>
              <a:t>Когда вызывается:</a:t>
            </a:r>
          </a:p>
          <a:p>
            <a:pPr lvl="1"/>
            <a:r>
              <a:rPr lang="ru-RU" dirty="0"/>
              <a:t>при явном копировании</a:t>
            </a:r>
          </a:p>
          <a:p>
            <a:pPr lvl="2"/>
            <a:r>
              <a:rPr lang="ru-RU" dirty="0"/>
              <a:t>T b = a;</a:t>
            </a:r>
          </a:p>
          <a:p>
            <a:pPr lvl="1"/>
            <a:r>
              <a:rPr lang="ru-RU" dirty="0"/>
              <a:t>при передаче объекта по значению</a:t>
            </a:r>
          </a:p>
          <a:p>
            <a:pPr lvl="1"/>
            <a:r>
              <a:rPr lang="ru-RU" dirty="0"/>
              <a:t>при возврате из функции</a:t>
            </a:r>
          </a:p>
          <a:p>
            <a:pPr lvl="1"/>
            <a:r>
              <a:rPr lang="ru-RU" dirty="0"/>
              <a:t>внутри механизма исключений</a:t>
            </a:r>
          </a:p>
          <a:p>
            <a:r>
              <a:rPr lang="ru-RU" dirty="0"/>
              <a:t>Синтаксис:</a:t>
            </a:r>
          </a:p>
          <a:p>
            <a:pPr lvl="1"/>
            <a:r>
              <a:rPr lang="ru-RU" dirty="0"/>
              <a:t>Type(</a:t>
            </a:r>
            <a:r>
              <a:rPr lang="ru-RU" dirty="0" err="1"/>
              <a:t>const</a:t>
            </a:r>
            <a:r>
              <a:rPr lang="ru-RU" dirty="0"/>
              <a:t> Type&amp; </a:t>
            </a:r>
            <a:r>
              <a:rPr lang="ru-RU" dirty="0" err="1"/>
              <a:t>other</a:t>
            </a:r>
            <a:r>
              <a:rPr lang="ru-RU" dirty="0"/>
              <a:t>);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EDD702-3777-4FF0-A8EB-64269B3F21DF}"/>
              </a:ext>
            </a:extLst>
          </p:cNvPr>
          <p:cNvSpPr/>
          <p:nvPr/>
        </p:nvSpPr>
        <p:spPr>
          <a:xfrm>
            <a:off x="191344" y="260648"/>
            <a:ext cx="11593288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: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m_text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"Post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card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was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created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m_text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   // Копирующий конструктор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: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m_text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"Post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card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is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copied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m_text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~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"Post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card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was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destroyed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m_text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m_text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m_text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m_text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19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5D9A02-9ED1-4E2F-ACF7-C240865DADE0}"/>
              </a:ext>
            </a:extLst>
          </p:cNvPr>
          <p:cNvSpPr/>
          <p:nvPr/>
        </p:nvSpPr>
        <p:spPr>
          <a:xfrm>
            <a:off x="191344" y="332656"/>
            <a:ext cx="979308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MakeModifiedPostCard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"Enter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MakeModifiedPostCard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-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modified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"Exit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MakeModifiedPostCard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"Hello"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modifiedPostCard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MakeModifiedPostCard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modifiedPostCard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39C0B0-806D-44F4-A5F7-D3AE80C95395}"/>
              </a:ext>
            </a:extLst>
          </p:cNvPr>
          <p:cNvSpPr/>
          <p:nvPr/>
        </p:nvSpPr>
        <p:spPr>
          <a:xfrm>
            <a:off x="6310898" y="4365104"/>
            <a:ext cx="5691675" cy="233910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1600" dirty="0" err="1">
                <a:latin typeface="Consolas" panose="020B0609020204030204" pitchFamily="49" charset="0"/>
              </a:rPr>
              <a:t>Post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card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was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created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Hello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Post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card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is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copied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Hello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Enter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MakeModifiedPostCard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Exit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MakeModifiedPostCard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Post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card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is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copied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Hello</a:t>
            </a:r>
            <a:r>
              <a:rPr lang="ru-RU" sz="1600" dirty="0">
                <a:latin typeface="Consolas" panose="020B0609020204030204" pitchFamily="49" charset="0"/>
              </a:rPr>
              <a:t> - </a:t>
            </a:r>
            <a:r>
              <a:rPr lang="ru-RU" sz="1600" dirty="0" err="1">
                <a:latin typeface="Consolas" panose="020B0609020204030204" pitchFamily="49" charset="0"/>
              </a:rPr>
              <a:t>modified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Post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card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was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destroyed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Hello</a:t>
            </a:r>
            <a:r>
              <a:rPr lang="ru-RU" sz="1600" dirty="0">
                <a:latin typeface="Consolas" panose="020B0609020204030204" pitchFamily="49" charset="0"/>
              </a:rPr>
              <a:t> - </a:t>
            </a:r>
            <a:r>
              <a:rPr lang="ru-RU" sz="1600" dirty="0" err="1">
                <a:latin typeface="Consolas" panose="020B0609020204030204" pitchFamily="49" charset="0"/>
              </a:rPr>
              <a:t>modified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Hello</a:t>
            </a:r>
            <a:r>
              <a:rPr lang="en-US" sz="1600" dirty="0">
                <a:latin typeface="Consolas" panose="020B0609020204030204" pitchFamily="49" charset="0"/>
              </a:rPr>
              <a:t> - modified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Post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card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was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destroyed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Hello</a:t>
            </a:r>
            <a:r>
              <a:rPr lang="ru-RU" sz="1600" dirty="0">
                <a:latin typeface="Consolas" panose="020B0609020204030204" pitchFamily="49" charset="0"/>
              </a:rPr>
              <a:t> - </a:t>
            </a:r>
            <a:r>
              <a:rPr lang="ru-RU" sz="1600" dirty="0" err="1">
                <a:latin typeface="Consolas" panose="020B0609020204030204" pitchFamily="49" charset="0"/>
              </a:rPr>
              <a:t>modified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Post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card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was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destroyed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Hello</a:t>
            </a:r>
            <a:endParaRPr lang="ru-RU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52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7292-9495-A122-38A0-4294F955B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Elision (</a:t>
            </a:r>
            <a:r>
              <a:rPr lang="ru-RU" dirty="0"/>
              <a:t>устранение копирования)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0E310-9A45-F16F-D552-1FD390A69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Copy</a:t>
            </a:r>
            <a:r>
              <a:rPr lang="ru-RU" dirty="0"/>
              <a:t> </a:t>
            </a:r>
            <a:r>
              <a:rPr lang="ru-RU" dirty="0" err="1"/>
              <a:t>elision</a:t>
            </a:r>
            <a:r>
              <a:rPr lang="ru-RU" dirty="0"/>
              <a:t> — это оптимизация, при которой</a:t>
            </a:r>
            <a:br>
              <a:rPr lang="ru-RU" dirty="0"/>
            </a:br>
            <a:r>
              <a:rPr lang="ru-RU" dirty="0"/>
              <a:t>создание временных объектов и копирование пропускаются.</a:t>
            </a:r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объект создаётся сразу в нужном месте</a:t>
            </a:r>
          </a:p>
          <a:p>
            <a:pPr lvl="1"/>
            <a:r>
              <a:rPr lang="ru-RU" dirty="0"/>
              <a:t>копирующий и перемещающий конструкторы не вызываются</a:t>
            </a:r>
          </a:p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меньше лишних объектов</a:t>
            </a:r>
          </a:p>
          <a:p>
            <a:pPr lvl="1"/>
            <a:r>
              <a:rPr lang="ru-RU" dirty="0"/>
              <a:t>выше производительность</a:t>
            </a:r>
          </a:p>
          <a:p>
            <a:r>
              <a:rPr lang="ru-RU" dirty="0"/>
              <a:t>Начиная с C++17, в ряде случаев </a:t>
            </a:r>
            <a:r>
              <a:rPr lang="ru-RU" dirty="0" err="1"/>
              <a:t>copy</a:t>
            </a:r>
            <a:r>
              <a:rPr lang="ru-RU" dirty="0"/>
              <a:t> </a:t>
            </a:r>
            <a:r>
              <a:rPr lang="ru-RU" dirty="0" err="1"/>
              <a:t>elision</a:t>
            </a:r>
            <a:r>
              <a:rPr lang="ru-RU" dirty="0"/>
              <a:t> гарантирован (например, при возврате временного объекта)</a:t>
            </a:r>
          </a:p>
        </p:txBody>
      </p:sp>
    </p:spTree>
    <p:extLst>
      <p:ext uri="{BB962C8B-B14F-4D97-AF65-F5344CB8AC3E}">
        <p14:creationId xmlns:p14="http://schemas.microsoft.com/office/powerpoint/2010/main" val="424149205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5D9A02-9ED1-4E2F-ACF7-C240865DADE0}"/>
              </a:ext>
            </a:extLst>
          </p:cNvPr>
          <p:cNvSpPr/>
          <p:nvPr/>
        </p:nvSpPr>
        <p:spPr>
          <a:xfrm>
            <a:off x="838200" y="1740872"/>
            <a:ext cx="977483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MakeModifiedPostCard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"Enter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MakeModifiedPostCard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-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modified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"Exit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MakeModifiedPostCard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modifiedPostCard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MakeModifiedPostCard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Hello"s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modifiedPostCard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39C0B0-806D-44F4-A5F7-D3AE80C95395}"/>
              </a:ext>
            </a:extLst>
          </p:cNvPr>
          <p:cNvSpPr/>
          <p:nvPr/>
        </p:nvSpPr>
        <p:spPr>
          <a:xfrm>
            <a:off x="6384032" y="5157192"/>
            <a:ext cx="5691675" cy="16004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1400" dirty="0" err="1">
                <a:latin typeface="Consolas" panose="020B0609020204030204" pitchFamily="49" charset="0"/>
              </a:rPr>
              <a:t>Post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card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was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created</a:t>
            </a:r>
            <a:r>
              <a:rPr lang="ru-RU" sz="1400" dirty="0">
                <a:latin typeface="Consolas" panose="020B0609020204030204" pitchFamily="49" charset="0"/>
              </a:rPr>
              <a:t>: </a:t>
            </a:r>
            <a:r>
              <a:rPr lang="ru-RU" sz="1400" dirty="0" err="1">
                <a:latin typeface="Consolas" panose="020B0609020204030204" pitchFamily="49" charset="0"/>
              </a:rPr>
              <a:t>Hello</a:t>
            </a:r>
            <a:endParaRPr lang="ru-RU" sz="1400" dirty="0">
              <a:latin typeface="Consolas" panose="020B0609020204030204" pitchFamily="49" charset="0"/>
            </a:endParaRPr>
          </a:p>
          <a:p>
            <a:r>
              <a:rPr lang="ru-RU" sz="1400" dirty="0">
                <a:latin typeface="Consolas" panose="020B0609020204030204" pitchFamily="49" charset="0"/>
              </a:rPr>
              <a:t>Enter </a:t>
            </a:r>
            <a:r>
              <a:rPr lang="ru-RU" sz="1400" dirty="0" err="1">
                <a:latin typeface="Consolas" panose="020B0609020204030204" pitchFamily="49" charset="0"/>
              </a:rPr>
              <a:t>MakeModifiedPostCard</a:t>
            </a:r>
            <a:endParaRPr lang="ru-RU" sz="1400" dirty="0">
              <a:latin typeface="Consolas" panose="020B0609020204030204" pitchFamily="49" charset="0"/>
            </a:endParaRPr>
          </a:p>
          <a:p>
            <a:r>
              <a:rPr lang="ru-RU" sz="1400" dirty="0" err="1">
                <a:latin typeface="Consolas" panose="020B0609020204030204" pitchFamily="49" charset="0"/>
              </a:rPr>
              <a:t>Exit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MakeModifiedPostCard</a:t>
            </a:r>
            <a:endParaRPr lang="ru-RU" sz="1400" dirty="0">
              <a:latin typeface="Consolas" panose="020B0609020204030204" pitchFamily="49" charset="0"/>
            </a:endParaRPr>
          </a:p>
          <a:p>
            <a:r>
              <a:rPr lang="ru-RU" sz="1400" dirty="0" err="1">
                <a:latin typeface="Consolas" panose="020B0609020204030204" pitchFamily="49" charset="0"/>
              </a:rPr>
              <a:t>Post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card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is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copied</a:t>
            </a:r>
            <a:r>
              <a:rPr lang="ru-RU" sz="1400" dirty="0">
                <a:latin typeface="Consolas" panose="020B0609020204030204" pitchFamily="49" charset="0"/>
              </a:rPr>
              <a:t>: </a:t>
            </a:r>
            <a:r>
              <a:rPr lang="ru-RU" sz="1400" dirty="0" err="1">
                <a:latin typeface="Consolas" panose="020B0609020204030204" pitchFamily="49" charset="0"/>
              </a:rPr>
              <a:t>Hello</a:t>
            </a:r>
            <a:r>
              <a:rPr lang="ru-RU" sz="1400" dirty="0">
                <a:latin typeface="Consolas" panose="020B0609020204030204" pitchFamily="49" charset="0"/>
              </a:rPr>
              <a:t> - </a:t>
            </a:r>
            <a:r>
              <a:rPr lang="ru-RU" sz="1400" dirty="0" err="1">
                <a:latin typeface="Consolas" panose="020B0609020204030204" pitchFamily="49" charset="0"/>
              </a:rPr>
              <a:t>modified</a:t>
            </a:r>
            <a:endParaRPr lang="ru-RU" sz="1400" dirty="0">
              <a:latin typeface="Consolas" panose="020B0609020204030204" pitchFamily="49" charset="0"/>
            </a:endParaRPr>
          </a:p>
          <a:p>
            <a:r>
              <a:rPr lang="ru-RU" sz="1400" dirty="0" err="1">
                <a:latin typeface="Consolas" panose="020B0609020204030204" pitchFamily="49" charset="0"/>
              </a:rPr>
              <a:t>Post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card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was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destroyed</a:t>
            </a:r>
            <a:r>
              <a:rPr lang="ru-RU" sz="1400" dirty="0">
                <a:latin typeface="Consolas" panose="020B0609020204030204" pitchFamily="49" charset="0"/>
              </a:rPr>
              <a:t>: </a:t>
            </a:r>
            <a:r>
              <a:rPr lang="ru-RU" sz="1400" dirty="0" err="1">
                <a:latin typeface="Consolas" panose="020B0609020204030204" pitchFamily="49" charset="0"/>
              </a:rPr>
              <a:t>Hello</a:t>
            </a:r>
            <a:r>
              <a:rPr lang="ru-RU" sz="1400" dirty="0">
                <a:latin typeface="Consolas" panose="020B0609020204030204" pitchFamily="49" charset="0"/>
              </a:rPr>
              <a:t> - </a:t>
            </a:r>
            <a:r>
              <a:rPr lang="ru-RU" sz="1400" dirty="0" err="1">
                <a:latin typeface="Consolas" panose="020B0609020204030204" pitchFamily="49" charset="0"/>
              </a:rPr>
              <a:t>modified</a:t>
            </a:r>
            <a:endParaRPr lang="ru-RU" sz="1400" dirty="0">
              <a:latin typeface="Consolas" panose="020B0609020204030204" pitchFamily="49" charset="0"/>
            </a:endParaRPr>
          </a:p>
          <a:p>
            <a:r>
              <a:rPr lang="ru-RU" sz="1400" dirty="0" err="1">
                <a:latin typeface="Consolas" panose="020B0609020204030204" pitchFamily="49" charset="0"/>
              </a:rPr>
              <a:t>Hello</a:t>
            </a:r>
            <a:r>
              <a:rPr lang="en-US" sz="1400" dirty="0">
                <a:latin typeface="Consolas" panose="020B0609020204030204" pitchFamily="49" charset="0"/>
              </a:rPr>
              <a:t> - modified</a:t>
            </a:r>
            <a:endParaRPr lang="ru-RU" sz="1400" dirty="0">
              <a:latin typeface="Consolas" panose="020B0609020204030204" pitchFamily="49" charset="0"/>
            </a:endParaRPr>
          </a:p>
          <a:p>
            <a:r>
              <a:rPr lang="ru-RU" sz="1400" dirty="0">
                <a:latin typeface="Consolas" panose="020B0609020204030204" pitchFamily="49" charset="0"/>
              </a:rPr>
              <a:t>Post </a:t>
            </a:r>
            <a:r>
              <a:rPr lang="ru-RU" sz="1400" dirty="0" err="1">
                <a:latin typeface="Consolas" panose="020B0609020204030204" pitchFamily="49" charset="0"/>
              </a:rPr>
              <a:t>card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was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destroyed</a:t>
            </a:r>
            <a:r>
              <a:rPr lang="ru-RU" sz="1400" dirty="0">
                <a:latin typeface="Consolas" panose="020B0609020204030204" pitchFamily="49" charset="0"/>
              </a:rPr>
              <a:t>: </a:t>
            </a:r>
            <a:r>
              <a:rPr lang="ru-RU" sz="1400" dirty="0" err="1">
                <a:latin typeface="Consolas" panose="020B0609020204030204" pitchFamily="49" charset="0"/>
              </a:rPr>
              <a:t>Hello</a:t>
            </a:r>
            <a:r>
              <a:rPr lang="ru-RU" sz="1400" dirty="0">
                <a:latin typeface="Consolas" panose="020B0609020204030204" pitchFamily="49" charset="0"/>
              </a:rPr>
              <a:t> - </a:t>
            </a:r>
            <a:r>
              <a:rPr lang="ru-RU" sz="1400" dirty="0" err="1">
                <a:latin typeface="Consolas" panose="020B0609020204030204" pitchFamily="49" charset="0"/>
              </a:rPr>
              <a:t>modified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87DC2A5-062B-4B1C-8220-496A25FA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Elision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715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Автоматически сгенерированный копирующий конструктор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копирующий конструктор не объявлен, компилятор создаёт его автоматически</a:t>
            </a:r>
          </a:p>
          <a:p>
            <a:r>
              <a:rPr lang="ru-RU" dirty="0"/>
              <a:t>Как он работает:</a:t>
            </a:r>
          </a:p>
          <a:p>
            <a:pPr lvl="1"/>
            <a:r>
              <a:rPr lang="ru-RU" dirty="0"/>
              <a:t>выполняет покомпонентное копирование (</a:t>
            </a:r>
            <a:r>
              <a:rPr lang="ru-RU" dirty="0" err="1"/>
              <a:t>member-wise</a:t>
            </a:r>
            <a:r>
              <a:rPr lang="ru-RU" dirty="0"/>
              <a:t> </a:t>
            </a:r>
            <a:r>
              <a:rPr lang="ru-RU" dirty="0" err="1"/>
              <a:t>copy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для каждого поля вызывает его копирующий конструктор</a:t>
            </a:r>
          </a:p>
          <a:p>
            <a:r>
              <a:rPr lang="ru-RU" dirty="0"/>
              <a:t>Когда этого достаточно:</a:t>
            </a:r>
          </a:p>
          <a:p>
            <a:pPr lvl="1"/>
            <a:r>
              <a:rPr lang="ru-RU" dirty="0"/>
              <a:t>класс содержит только простые типы или типы с корректной семантикой копирования (например,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string</a:t>
            </a:r>
            <a:r>
              <a:rPr lang="ru-RU" dirty="0"/>
              <a:t>)</a:t>
            </a:r>
          </a:p>
          <a:p>
            <a:r>
              <a:rPr lang="ru-RU" dirty="0"/>
              <a:t>Когда нужно писать свой:</a:t>
            </a:r>
          </a:p>
          <a:p>
            <a:pPr lvl="1"/>
            <a:r>
              <a:rPr lang="ru-RU" dirty="0"/>
              <a:t>класс управляет ресурсами вручную (память, файлы и т.п.)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D604AA-D8AA-4EF4-A104-861C14224A24}"/>
              </a:ext>
            </a:extLst>
          </p:cNvPr>
          <p:cNvSpPr/>
          <p:nvPr/>
        </p:nvSpPr>
        <p:spPr>
          <a:xfrm>
            <a:off x="86376" y="79581"/>
            <a:ext cx="1159328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Envelope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Envelope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MakeModifiedPostcardInEnvelope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Envelope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envelope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"Enter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MakeModifiedPostCard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envelope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envelope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-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modified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"Exit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MakeModifiedPostCard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envelope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Envelope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env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{.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postCard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"Hello"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modifiedEnv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MakeModifiedPostcardInEnvelope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env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modifiedEnv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postCard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GetText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42D834-00AE-4266-A547-C59CB9F73E80}"/>
              </a:ext>
            </a:extLst>
          </p:cNvPr>
          <p:cNvSpPr/>
          <p:nvPr/>
        </p:nvSpPr>
        <p:spPr>
          <a:xfrm>
            <a:off x="6385643" y="4439317"/>
            <a:ext cx="5691675" cy="233910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1600" dirty="0" err="1">
                <a:latin typeface="Consolas" panose="020B0609020204030204" pitchFamily="49" charset="0"/>
              </a:rPr>
              <a:t>Post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card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was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created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Hello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Post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card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is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copied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Hello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Enter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MakeModifiedPostCard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Exit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MakeModifiedPostCard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Post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card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is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copied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Hello</a:t>
            </a:r>
            <a:r>
              <a:rPr lang="ru-RU" sz="1600" dirty="0">
                <a:latin typeface="Consolas" panose="020B0609020204030204" pitchFamily="49" charset="0"/>
              </a:rPr>
              <a:t> - </a:t>
            </a:r>
            <a:r>
              <a:rPr lang="ru-RU" sz="1600" dirty="0" err="1">
                <a:latin typeface="Consolas" panose="020B0609020204030204" pitchFamily="49" charset="0"/>
              </a:rPr>
              <a:t>modified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Post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card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was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destroyed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Hello</a:t>
            </a:r>
            <a:r>
              <a:rPr lang="ru-RU" sz="1600" dirty="0">
                <a:latin typeface="Consolas" panose="020B0609020204030204" pitchFamily="49" charset="0"/>
              </a:rPr>
              <a:t> - </a:t>
            </a:r>
            <a:r>
              <a:rPr lang="ru-RU" sz="1600" dirty="0" err="1">
                <a:latin typeface="Consolas" panose="020B0609020204030204" pitchFamily="49" charset="0"/>
              </a:rPr>
              <a:t>modified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Hello</a:t>
            </a:r>
            <a:r>
              <a:rPr lang="en-US" sz="1600" dirty="0">
                <a:latin typeface="Consolas" panose="020B0609020204030204" pitchFamily="49" charset="0"/>
              </a:rPr>
              <a:t> - modified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Post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card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was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destroyed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Hello</a:t>
            </a:r>
            <a:r>
              <a:rPr lang="ru-RU" sz="1600" dirty="0">
                <a:latin typeface="Consolas" panose="020B0609020204030204" pitchFamily="49" charset="0"/>
              </a:rPr>
              <a:t> - </a:t>
            </a:r>
            <a:r>
              <a:rPr lang="ru-RU" sz="1600" dirty="0" err="1">
                <a:latin typeface="Consolas" panose="020B0609020204030204" pitchFamily="49" charset="0"/>
              </a:rPr>
              <a:t>modified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Post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card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was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destroyed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Hello</a:t>
            </a:r>
            <a:endParaRPr lang="ru-RU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39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Пользовательский копирующий конструктор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Почему стандартного недостаточно:</a:t>
            </a:r>
          </a:p>
          <a:p>
            <a:pPr lvl="1"/>
            <a:r>
              <a:rPr lang="ru-RU" dirty="0"/>
              <a:t>выполняет только покомпонентное копирование</a:t>
            </a:r>
          </a:p>
          <a:p>
            <a:pPr lvl="1"/>
            <a:r>
              <a:rPr lang="ru-RU" dirty="0"/>
              <a:t>не учитывает владение ресурсами</a:t>
            </a:r>
          </a:p>
          <a:p>
            <a:r>
              <a:rPr lang="ru-RU" dirty="0"/>
              <a:t>Проблема:</a:t>
            </a:r>
          </a:p>
          <a:p>
            <a:pPr lvl="1"/>
            <a:r>
              <a:rPr lang="ru-RU" dirty="0"/>
              <a:t>при копировании указателей копируется адрес, а не данные</a:t>
            </a:r>
          </a:p>
          <a:p>
            <a:pPr lvl="1"/>
            <a:r>
              <a:rPr lang="ru-RU" dirty="0"/>
              <a:t>возможны ошибки и утечки</a:t>
            </a:r>
          </a:p>
          <a:p>
            <a:r>
              <a:rPr lang="ru-RU" dirty="0"/>
              <a:t>Когда нужен свой конструктор:</a:t>
            </a:r>
          </a:p>
          <a:p>
            <a:pPr lvl="1"/>
            <a:r>
              <a:rPr lang="ru-RU" dirty="0"/>
              <a:t>класс управляет динамической памятью</a:t>
            </a:r>
          </a:p>
          <a:p>
            <a:pPr lvl="1"/>
            <a:r>
              <a:rPr lang="ru-RU" dirty="0"/>
              <a:t>работает с ресурсами (файлы, сокеты и т.п.)</a:t>
            </a:r>
          </a:p>
          <a:p>
            <a:r>
              <a:rPr lang="ru-RU" dirty="0"/>
              <a:t>Решение:</a:t>
            </a:r>
          </a:p>
          <a:p>
            <a:pPr lvl="1"/>
            <a:r>
              <a:rPr lang="ru-RU" dirty="0"/>
              <a:t>реализовать глубокое копирование (</a:t>
            </a:r>
            <a:r>
              <a:rPr lang="ru-RU" dirty="0" err="1"/>
              <a:t>deep</a:t>
            </a:r>
            <a:r>
              <a:rPr lang="ru-RU" dirty="0"/>
              <a:t> </a:t>
            </a:r>
            <a:r>
              <a:rPr lang="ru-RU" dirty="0" err="1"/>
              <a:t>copy</a:t>
            </a:r>
            <a:r>
              <a:rPr lang="ru-RU" dirty="0"/>
              <a:t>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0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7C7A89-7415-4BDA-A87E-4393C0BB6C2A}"/>
              </a:ext>
            </a:extLst>
          </p:cNvPr>
          <p:cNvSpPr txBox="1"/>
          <p:nvPr/>
        </p:nvSpPr>
        <p:spPr>
          <a:xfrm>
            <a:off x="0" y="-1"/>
            <a:ext cx="915634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text);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Allocate(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uninitialized_copy_n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~String();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Allocate(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Deallocate(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buffer)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s_emptyString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{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237F44B4-6AF7-4DCD-95BC-81FE18E763F4}"/>
              </a:ext>
            </a:extLst>
          </p:cNvPr>
          <p:cNvGrpSpPr/>
          <p:nvPr/>
        </p:nvGrpSpPr>
        <p:grpSpPr>
          <a:xfrm>
            <a:off x="7392144" y="3429868"/>
            <a:ext cx="3924436" cy="3137024"/>
            <a:chOff x="7392144" y="3429868"/>
            <a:chExt cx="3924436" cy="3137024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0E4355BE-3DA5-48D7-95CB-04E4C14B2710}"/>
                </a:ext>
              </a:extLst>
            </p:cNvPr>
            <p:cNvSpPr/>
            <p:nvPr/>
          </p:nvSpPr>
          <p:spPr>
            <a:xfrm>
              <a:off x="7860196" y="3429868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</a:t>
              </a:r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4E7E2A18-094C-4CD4-8C93-E6A17F9BA604}"/>
                </a:ext>
              </a:extLst>
            </p:cNvPr>
            <p:cNvSpPr/>
            <p:nvPr/>
          </p:nvSpPr>
          <p:spPr>
            <a:xfrm>
              <a:off x="8292244" y="3429868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ru-RU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321D90A5-032B-4A3F-B77F-5A6B48893F5F}"/>
                </a:ext>
              </a:extLst>
            </p:cNvPr>
            <p:cNvSpPr/>
            <p:nvPr/>
          </p:nvSpPr>
          <p:spPr>
            <a:xfrm>
              <a:off x="8724292" y="3429868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3AF9C722-5B5F-46F5-988B-D1EDD892DBA1}"/>
                </a:ext>
              </a:extLst>
            </p:cNvPr>
            <p:cNvSpPr/>
            <p:nvPr/>
          </p:nvSpPr>
          <p:spPr>
            <a:xfrm>
              <a:off x="9156340" y="3429868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</a:t>
              </a:r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B9E1CEA9-6502-4D29-BCF5-18291E99066B}"/>
                </a:ext>
              </a:extLst>
            </p:cNvPr>
            <p:cNvSpPr/>
            <p:nvPr/>
          </p:nvSpPr>
          <p:spPr>
            <a:xfrm>
              <a:off x="9588388" y="3429868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\0</a:t>
              </a:r>
              <a:endParaRPr lang="ru-RU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937062F0-CD74-49D2-9A10-A5FF381FCAA1}"/>
                </a:ext>
              </a:extLst>
            </p:cNvPr>
            <p:cNvSpPr/>
            <p:nvPr/>
          </p:nvSpPr>
          <p:spPr>
            <a:xfrm>
              <a:off x="7392144" y="6134844"/>
              <a:ext cx="151216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m_chars</a:t>
              </a:r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B983EDE4-7C54-47F5-A3D8-E37B6132FEE4}"/>
                </a:ext>
              </a:extLst>
            </p:cNvPr>
            <p:cNvSpPr/>
            <p:nvPr/>
          </p:nvSpPr>
          <p:spPr>
            <a:xfrm>
              <a:off x="7392144" y="5702796"/>
              <a:ext cx="151216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m_capacity:7</a:t>
              </a:r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34707C2-2D0A-4A68-A9A3-4E0CA2D87EDF}"/>
                </a:ext>
              </a:extLst>
            </p:cNvPr>
            <p:cNvSpPr/>
            <p:nvPr/>
          </p:nvSpPr>
          <p:spPr>
            <a:xfrm>
              <a:off x="7392144" y="5270748"/>
              <a:ext cx="151216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m_size:4</a:t>
              </a:r>
              <a:endParaRPr lang="ru-RU" dirty="0"/>
            </a:p>
          </p:txBody>
        </p:sp>
        <p:cxnSp>
          <p:nvCxnSpPr>
            <p:cNvPr id="20" name="Соединитель: уступ 19">
              <a:extLst>
                <a:ext uri="{FF2B5EF4-FFF2-40B4-BE49-F238E27FC236}">
                  <a16:creationId xmlns:a16="http://schemas.microsoft.com/office/drawing/2014/main" id="{1802EDC2-EB69-48C8-9C97-35D24D354D49}"/>
                </a:ext>
              </a:extLst>
            </p:cNvPr>
            <p:cNvCxnSpPr>
              <a:stCxn id="13" idx="3"/>
              <a:endCxn id="7" idx="2"/>
            </p:cNvCxnSpPr>
            <p:nvPr/>
          </p:nvCxnSpPr>
          <p:spPr>
            <a:xfrm flipH="1" flipV="1">
              <a:off x="8076220" y="3861916"/>
              <a:ext cx="828092" cy="2488952"/>
            </a:xfrm>
            <a:prstGeom prst="bentConnector4">
              <a:avLst>
                <a:gd name="adj1" fmla="val -27606"/>
                <a:gd name="adj2" fmla="val 5434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14029C99-C96B-4F92-9568-281424106D0A}"/>
                </a:ext>
              </a:extLst>
            </p:cNvPr>
            <p:cNvSpPr/>
            <p:nvPr/>
          </p:nvSpPr>
          <p:spPr>
            <a:xfrm>
              <a:off x="10020436" y="3429868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?</a:t>
              </a:r>
              <a:endParaRPr lang="ru-RU" dirty="0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78F22C12-88F3-4104-956C-F8163EE6036D}"/>
                </a:ext>
              </a:extLst>
            </p:cNvPr>
            <p:cNvSpPr/>
            <p:nvPr/>
          </p:nvSpPr>
          <p:spPr>
            <a:xfrm>
              <a:off x="10452484" y="3429868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?</a:t>
              </a:r>
              <a:endParaRPr lang="ru-RU" dirty="0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9C581B60-3515-4267-A70A-8B2D7E246436}"/>
                </a:ext>
              </a:extLst>
            </p:cNvPr>
            <p:cNvSpPr/>
            <p:nvPr/>
          </p:nvSpPr>
          <p:spPr>
            <a:xfrm>
              <a:off x="10884532" y="3429868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?</a:t>
              </a:r>
              <a:endParaRPr lang="ru-RU" dirty="0"/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AF001EB4-2CC1-4453-9E03-33A7CDDEB713}"/>
              </a:ext>
            </a:extLst>
          </p:cNvPr>
          <p:cNvGrpSpPr/>
          <p:nvPr/>
        </p:nvGrpSpPr>
        <p:grpSpPr>
          <a:xfrm>
            <a:off x="9114804" y="4134284"/>
            <a:ext cx="2160240" cy="2432608"/>
            <a:chOff x="9114804" y="4134284"/>
            <a:chExt cx="2160240" cy="2432608"/>
          </a:xfrm>
        </p:grpSpPr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8F75DB22-5D14-4125-A007-EEAE6AD4438C}"/>
                </a:ext>
              </a:extLst>
            </p:cNvPr>
            <p:cNvSpPr/>
            <p:nvPr/>
          </p:nvSpPr>
          <p:spPr>
            <a:xfrm>
              <a:off x="9588388" y="6134844"/>
              <a:ext cx="151216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m_chars</a:t>
              </a:r>
              <a:endParaRPr lang="ru-RU" dirty="0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0B911A00-6FA8-44F1-B0BB-B060C4748412}"/>
                </a:ext>
              </a:extLst>
            </p:cNvPr>
            <p:cNvSpPr/>
            <p:nvPr/>
          </p:nvSpPr>
          <p:spPr>
            <a:xfrm>
              <a:off x="9588388" y="5702796"/>
              <a:ext cx="151216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m_capacity:4</a:t>
              </a:r>
              <a:endParaRPr lang="ru-RU" dirty="0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5FBE92BD-D2A3-4C1C-A360-A28752F63822}"/>
                </a:ext>
              </a:extLst>
            </p:cNvPr>
            <p:cNvSpPr/>
            <p:nvPr/>
          </p:nvSpPr>
          <p:spPr>
            <a:xfrm>
              <a:off x="9588388" y="5270748"/>
              <a:ext cx="151216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m_size:4</a:t>
              </a:r>
              <a:endParaRPr lang="ru-RU" dirty="0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B9F93D66-ED09-42A7-A634-E9CEE04B92EA}"/>
                </a:ext>
              </a:extLst>
            </p:cNvPr>
            <p:cNvSpPr/>
            <p:nvPr/>
          </p:nvSpPr>
          <p:spPr>
            <a:xfrm>
              <a:off x="9114804" y="4134284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?</a:t>
              </a:r>
              <a:endParaRPr lang="ru-RU" dirty="0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440F88A9-1EB9-45D7-B0C1-9FB88C6C3A9B}"/>
                </a:ext>
              </a:extLst>
            </p:cNvPr>
            <p:cNvSpPr/>
            <p:nvPr/>
          </p:nvSpPr>
          <p:spPr>
            <a:xfrm>
              <a:off x="9546852" y="4134284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?</a:t>
              </a:r>
              <a:endParaRPr lang="ru-RU" dirty="0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1A0208A0-F5C8-4C37-B811-2DCD530721E5}"/>
                </a:ext>
              </a:extLst>
            </p:cNvPr>
            <p:cNvSpPr/>
            <p:nvPr/>
          </p:nvSpPr>
          <p:spPr>
            <a:xfrm>
              <a:off x="9978900" y="4134284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?</a:t>
              </a:r>
              <a:endParaRPr lang="ru-RU" dirty="0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7FCD76E8-7C35-49F1-93B5-CA3DCDC523C4}"/>
                </a:ext>
              </a:extLst>
            </p:cNvPr>
            <p:cNvSpPr/>
            <p:nvPr/>
          </p:nvSpPr>
          <p:spPr>
            <a:xfrm>
              <a:off x="10410948" y="4134284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?</a:t>
              </a:r>
              <a:endParaRPr lang="ru-RU" dirty="0"/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DFEB4E39-758A-4EA3-8DCF-06A60019B98A}"/>
                </a:ext>
              </a:extLst>
            </p:cNvPr>
            <p:cNvSpPr/>
            <p:nvPr/>
          </p:nvSpPr>
          <p:spPr>
            <a:xfrm>
              <a:off x="10842996" y="4134284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?</a:t>
              </a:r>
              <a:endParaRPr lang="ru-RU" dirty="0"/>
            </a:p>
          </p:txBody>
        </p:sp>
        <p:cxnSp>
          <p:nvCxnSpPr>
            <p:cNvPr id="37" name="Соединитель: уступ 36">
              <a:extLst>
                <a:ext uri="{FF2B5EF4-FFF2-40B4-BE49-F238E27FC236}">
                  <a16:creationId xmlns:a16="http://schemas.microsoft.com/office/drawing/2014/main" id="{EB949936-9BA8-4BD3-8671-A8B06CB46D6C}"/>
                </a:ext>
              </a:extLst>
            </p:cNvPr>
            <p:cNvCxnSpPr>
              <a:cxnSpLocks/>
              <a:stCxn id="22" idx="3"/>
              <a:endCxn id="29" idx="2"/>
            </p:cNvCxnSpPr>
            <p:nvPr/>
          </p:nvCxnSpPr>
          <p:spPr>
            <a:xfrm flipH="1" flipV="1">
              <a:off x="9330828" y="4566332"/>
              <a:ext cx="1769728" cy="1784536"/>
            </a:xfrm>
            <a:prstGeom prst="bentConnector4">
              <a:avLst>
                <a:gd name="adj1" fmla="val -12917"/>
                <a:gd name="adj2" fmla="val 7455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9D1D135D-F4FF-47BE-9833-6A1D90BB15E5}"/>
              </a:ext>
            </a:extLst>
          </p:cNvPr>
          <p:cNvGrpSpPr/>
          <p:nvPr/>
        </p:nvGrpSpPr>
        <p:grpSpPr>
          <a:xfrm>
            <a:off x="9114804" y="4134284"/>
            <a:ext cx="2160240" cy="432048"/>
            <a:chOff x="12288688" y="4144460"/>
            <a:chExt cx="2160240" cy="432048"/>
          </a:xfrm>
        </p:grpSpPr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56C95ADD-571B-41F9-9A55-AD92E234C46A}"/>
                </a:ext>
              </a:extLst>
            </p:cNvPr>
            <p:cNvSpPr/>
            <p:nvPr/>
          </p:nvSpPr>
          <p:spPr>
            <a:xfrm>
              <a:off x="12288688" y="4144460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</a:t>
              </a:r>
              <a:endParaRPr lang="ru-RU" dirty="0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F6304DC4-ED30-459A-98DF-2C834017899D}"/>
                </a:ext>
              </a:extLst>
            </p:cNvPr>
            <p:cNvSpPr/>
            <p:nvPr/>
          </p:nvSpPr>
          <p:spPr>
            <a:xfrm>
              <a:off x="12720736" y="4144460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ru-RU" dirty="0"/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id="{1BBF4F04-F8CB-4C03-A9A0-E72459A7D711}"/>
                </a:ext>
              </a:extLst>
            </p:cNvPr>
            <p:cNvSpPr/>
            <p:nvPr/>
          </p:nvSpPr>
          <p:spPr>
            <a:xfrm>
              <a:off x="13152784" y="4144460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  <a:endParaRPr lang="ru-RU" dirty="0"/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A225F88F-8718-4AC3-9739-E969905A330C}"/>
                </a:ext>
              </a:extLst>
            </p:cNvPr>
            <p:cNvSpPr/>
            <p:nvPr/>
          </p:nvSpPr>
          <p:spPr>
            <a:xfrm>
              <a:off x="13584832" y="4144460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</a:t>
              </a:r>
              <a:endParaRPr lang="ru-RU" dirty="0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CFE50153-62A0-4CEB-9AE4-9CDEC5025BF6}"/>
                </a:ext>
              </a:extLst>
            </p:cNvPr>
            <p:cNvSpPr/>
            <p:nvPr/>
          </p:nvSpPr>
          <p:spPr>
            <a:xfrm>
              <a:off x="14016880" y="4144460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\0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67953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/>
              <a:t>Запрещение копирования объектов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Когда копирование не имеет смысла:</a:t>
            </a:r>
          </a:p>
          <a:p>
            <a:pPr lvl="1"/>
            <a:r>
              <a:rPr lang="ru-RU" dirty="0"/>
              <a:t>объект управляет уникальным ресурсом</a:t>
            </a:r>
          </a:p>
          <a:p>
            <a:pPr lvl="1"/>
            <a:r>
              <a:rPr lang="ru-RU" dirty="0"/>
              <a:t>ресурс нельзя разделить между копиями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/>
              <a:t>сетевое соединение</a:t>
            </a:r>
          </a:p>
          <a:p>
            <a:pPr lvl="1"/>
            <a:r>
              <a:rPr lang="ru-RU" dirty="0"/>
              <a:t>файловый дескриптор</a:t>
            </a:r>
          </a:p>
          <a:p>
            <a:pPr lvl="1"/>
            <a:r>
              <a:rPr lang="ru-RU" dirty="0"/>
              <a:t>уникальные устройства или сервисы</a:t>
            </a:r>
          </a:p>
          <a:p>
            <a:r>
              <a:rPr lang="ru-RU" dirty="0"/>
              <a:t>Как запретить копирование: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NetworkConnection</a:t>
            </a:r>
            <a:r>
              <a:rPr lang="en-US" dirty="0">
                <a:latin typeface="Consolas" panose="020B0609020204030204" pitchFamily="49" charset="0"/>
              </a:rPr>
              <a:t>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public: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NetworkConnection</a:t>
            </a:r>
            <a:r>
              <a:rPr lang="en-US" dirty="0">
                <a:latin typeface="Consolas" panose="020B0609020204030204" pitchFamily="49" charset="0"/>
              </a:rPr>
              <a:t>(const </a:t>
            </a:r>
            <a:r>
              <a:rPr lang="en-US" dirty="0" err="1">
                <a:latin typeface="Consolas" panose="020B0609020204030204" pitchFamily="49" charset="0"/>
              </a:rPr>
              <a:t>NetworkConnection</a:t>
            </a:r>
            <a:r>
              <a:rPr lang="en-US" dirty="0">
                <a:latin typeface="Consolas" panose="020B0609020204030204" pitchFamily="49" charset="0"/>
              </a:rPr>
              <a:t>&amp;) = delete;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NetworkConnection</a:t>
            </a:r>
            <a:r>
              <a:rPr lang="en-US" dirty="0">
                <a:latin typeface="Consolas" panose="020B0609020204030204" pitchFamily="49" charset="0"/>
              </a:rPr>
              <a:t>&amp; operator=(const </a:t>
            </a:r>
            <a:r>
              <a:rPr lang="en-US" dirty="0" err="1">
                <a:latin typeface="Consolas" panose="020B0609020204030204" pitchFamily="49" charset="0"/>
              </a:rPr>
              <a:t>NetworkConnection</a:t>
            </a:r>
            <a:r>
              <a:rPr lang="en-US" dirty="0">
                <a:latin typeface="Consolas" panose="020B0609020204030204" pitchFamily="49" charset="0"/>
              </a:rPr>
              <a:t>&amp;) = delete;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};</a:t>
            </a:r>
          </a:p>
          <a:p>
            <a:r>
              <a:rPr lang="ru-RU" dirty="0"/>
              <a:t>Результат: попытка копирования → ошибка компиляции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4D3C13-77C4-4F94-AF9D-CFB5EDFB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Делегирующий конструктор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3C5482-84C0-4734-B0AF-A75ED942F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73323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6974F6E-3DD1-4582-AC75-0DEF40515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Делегирующий конструктор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2C74851-AF28-4D7C-8118-13B3F76DD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Идея: один конструктор переиспользует логику другого</a:t>
            </a:r>
          </a:p>
          <a:p>
            <a:pPr lvl="1"/>
            <a:r>
              <a:rPr lang="ru-RU" dirty="0" err="1"/>
              <a:t>MyClass</a:t>
            </a:r>
            <a:r>
              <a:rPr lang="ru-RU" dirty="0"/>
              <a:t>(</a:t>
            </a:r>
            <a:r>
              <a:rPr lang="ru-RU" dirty="0" err="1"/>
              <a:t>int</a:t>
            </a:r>
            <a:r>
              <a:rPr lang="ru-RU" dirty="0"/>
              <a:t> x) : </a:t>
            </a:r>
            <a:r>
              <a:rPr lang="ru-RU" dirty="0" err="1"/>
              <a:t>MyClass</a:t>
            </a:r>
            <a:r>
              <a:rPr lang="ru-RU" dirty="0"/>
              <a:t>(x, 0) {}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в списке инициализации указывается тот же класс</a:t>
            </a:r>
          </a:p>
          <a:p>
            <a:pPr lvl="1"/>
            <a:r>
              <a:rPr lang="ru-RU" dirty="0"/>
              <a:t>нельзя инициализировать поля напрямую</a:t>
            </a:r>
          </a:p>
          <a:p>
            <a:pPr lvl="1"/>
            <a:r>
              <a:rPr lang="ru-RU" dirty="0"/>
              <a:t>сначала выполняется целевой конструктор, затем — тело делегирующего</a:t>
            </a:r>
          </a:p>
          <a:p>
            <a:r>
              <a:rPr lang="ru-RU" dirty="0"/>
              <a:t>Зачем нужен:</a:t>
            </a:r>
          </a:p>
          <a:p>
            <a:pPr lvl="1"/>
            <a:r>
              <a:rPr lang="ru-RU" dirty="0"/>
              <a:t>уменьшает дублирование кода</a:t>
            </a:r>
          </a:p>
          <a:p>
            <a:pPr lvl="1"/>
            <a:r>
              <a:rPr lang="ru-RU" dirty="0"/>
              <a:t>упрощает поддержку и изменение логики инициализации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202113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2B1A84-CCDE-4A89-A9C2-12E697D748AB}"/>
              </a:ext>
            </a:extLst>
          </p:cNvPr>
          <p:cNvSpPr txBox="1"/>
          <p:nvPr/>
        </p:nvSpPr>
        <p:spPr>
          <a:xfrm>
            <a:off x="0" y="1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text,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size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Allocate(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end =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uninitialized_copy_n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(text,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*end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Следующие конструкторы делегируют работу конструктору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String(const char*,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size_t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size)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text)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String(text,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(text))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String(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2669831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оператора присваивания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10206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Автоматически сгенерированный оператор присваивания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Если не объявлен:</a:t>
            </a:r>
          </a:p>
          <a:p>
            <a:pPr lvl="1"/>
            <a:r>
              <a:rPr lang="ru-RU" dirty="0"/>
              <a:t>компилятор генерирует его автоматически</a:t>
            </a:r>
          </a:p>
          <a:p>
            <a:r>
              <a:rPr lang="ru-RU" dirty="0"/>
              <a:t>Как он работает:</a:t>
            </a:r>
          </a:p>
          <a:p>
            <a:pPr lvl="1"/>
            <a:r>
              <a:rPr lang="ru-RU" dirty="0"/>
              <a:t>выполняет покомпонентное присваивание</a:t>
            </a:r>
          </a:p>
          <a:p>
            <a:pPr lvl="1"/>
            <a:r>
              <a:rPr lang="ru-RU" dirty="0"/>
              <a:t>вызывает оператор присваивания для каждого поля</a:t>
            </a:r>
          </a:p>
          <a:p>
            <a:pPr lvl="1"/>
            <a:r>
              <a:rPr lang="ru-RU" dirty="0"/>
              <a:t>вызывает оператор присваивания базового класса</a:t>
            </a:r>
          </a:p>
          <a:p>
            <a:r>
              <a:rPr lang="ru-RU" dirty="0"/>
              <a:t>Когда не генерируется:</a:t>
            </a:r>
          </a:p>
          <a:p>
            <a:pPr lvl="1"/>
            <a:r>
              <a:rPr lang="ru-RU" dirty="0"/>
              <a:t>в классе есть ссылки или </a:t>
            </a:r>
            <a:r>
              <a:rPr lang="ru-RU" dirty="0" err="1"/>
              <a:t>const</a:t>
            </a:r>
            <a:r>
              <a:rPr lang="ru-RU" dirty="0"/>
              <a:t> поля</a:t>
            </a:r>
          </a:p>
          <a:p>
            <a:pPr lvl="1"/>
            <a:r>
              <a:rPr lang="ru-RU" dirty="0"/>
              <a:t>у базового класса оператор присваивания запрещён или недоступен</a:t>
            </a:r>
          </a:p>
          <a:p>
            <a:r>
              <a:rPr lang="ru-RU" dirty="0"/>
              <a:t>Подходит только для классов без ручного управления ресурсами</a:t>
            </a:r>
          </a:p>
        </p:txBody>
      </p:sp>
    </p:spTree>
    <p:extLst>
      <p:ext uri="{BB962C8B-B14F-4D97-AF65-F5344CB8AC3E}">
        <p14:creationId xmlns:p14="http://schemas.microsoft.com/office/powerpoint/2010/main" val="47529057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нужен собственный оператор присваивания?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Нужно реализовать вручную, если:</a:t>
            </a:r>
          </a:p>
          <a:p>
            <a:pPr lvl="1"/>
            <a:r>
              <a:rPr lang="ru-RU" dirty="0"/>
              <a:t>класс управляет ресурсами (память, файлы и т.п.)</a:t>
            </a:r>
          </a:p>
          <a:p>
            <a:pPr lvl="1"/>
            <a:r>
              <a:rPr lang="ru-RU" dirty="0"/>
              <a:t>копирование — это не просто побитовое присваивание полей</a:t>
            </a:r>
          </a:p>
          <a:p>
            <a:r>
              <a:rPr lang="ru-RU" dirty="0"/>
              <a:t>Требования к оператору </a:t>
            </a:r>
            <a:r>
              <a:rPr lang="ru-RU" dirty="0" err="1"/>
              <a:t>operator</a:t>
            </a:r>
            <a:r>
              <a:rPr lang="ru-RU" dirty="0"/>
              <a:t>=:</a:t>
            </a:r>
          </a:p>
          <a:p>
            <a:pPr lvl="1"/>
            <a:r>
              <a:rPr lang="ru-RU" dirty="0"/>
              <a:t>возвращает ссылку на левый операнд (*</a:t>
            </a:r>
            <a:r>
              <a:rPr lang="ru-RU" dirty="0" err="1"/>
              <a:t>this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корректно обрабатывает </a:t>
            </a:r>
            <a:r>
              <a:rPr lang="ru-RU" dirty="0" err="1"/>
              <a:t>самоприсваивание</a:t>
            </a:r>
            <a:endParaRPr lang="ru-RU" dirty="0"/>
          </a:p>
          <a:p>
            <a:pPr lvl="1"/>
            <a:r>
              <a:rPr lang="ru-RU" dirty="0"/>
              <a:t>не приводит объект в некорректное состояние</a:t>
            </a:r>
          </a:p>
          <a:p>
            <a:r>
              <a:rPr lang="ru-RU" dirty="0"/>
              <a:t>Хорошая практика:</a:t>
            </a:r>
          </a:p>
          <a:p>
            <a:pPr lvl="1"/>
            <a:r>
              <a:rPr lang="ru-RU" dirty="0"/>
              <a:t>использовать копирование через временный объект (</a:t>
            </a:r>
            <a:r>
              <a:rPr lang="ru-RU" dirty="0" err="1"/>
              <a:t>copy-and-swap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513251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9FFA69-1756-4DB7-89F4-DCBBDFE01BAF}"/>
              </a:ext>
            </a:extLst>
          </p:cNvPr>
          <p:cNvSpPr txBox="1"/>
          <p:nvPr/>
        </p:nvSpPr>
        <p:spPr>
          <a:xfrm>
            <a:off x="0" y="1"/>
            <a:ext cx="12192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PostCard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PostCard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PostCard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"Post card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is assigned value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std::string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Envelope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PostCard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postCard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Envelope env1{ 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postCard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Envelope env2{ 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postCard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env1 = env2;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env1.postCard.GetText()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DEFC91-7FC9-40B8-AFDA-F5EDA30D8A6F}"/>
              </a:ext>
            </a:extLst>
          </p:cNvPr>
          <p:cNvSpPr txBox="1"/>
          <p:nvPr/>
        </p:nvSpPr>
        <p:spPr>
          <a:xfrm>
            <a:off x="6960096" y="5013176"/>
            <a:ext cx="5112568" cy="17543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dirty="0">
                <a:latin typeface="Consolas" panose="020B0609020204030204" pitchFamily="49" charset="0"/>
              </a:rPr>
              <a:t>Post </a:t>
            </a:r>
            <a:r>
              <a:rPr lang="ru-RU" dirty="0" err="1">
                <a:latin typeface="Consolas" panose="020B0609020204030204" pitchFamily="49" charset="0"/>
              </a:rPr>
              <a:t>card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was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created</a:t>
            </a:r>
            <a:r>
              <a:rPr lang="ru-RU" dirty="0">
                <a:latin typeface="Consolas" panose="020B0609020204030204" pitchFamily="49" charset="0"/>
              </a:rPr>
              <a:t>: </a:t>
            </a:r>
            <a:r>
              <a:rPr lang="ru-RU" dirty="0" err="1">
                <a:latin typeface="Consolas" panose="020B0609020204030204" pitchFamily="49" charset="0"/>
              </a:rPr>
              <a:t>Hello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Post </a:t>
            </a:r>
            <a:r>
              <a:rPr lang="ru-RU" dirty="0" err="1">
                <a:latin typeface="Consolas" panose="020B0609020204030204" pitchFamily="49" charset="0"/>
              </a:rPr>
              <a:t>card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was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created</a:t>
            </a:r>
            <a:r>
              <a:rPr lang="ru-RU" dirty="0">
                <a:latin typeface="Consolas" panose="020B0609020204030204" pitchFamily="49" charset="0"/>
              </a:rPr>
              <a:t>: </a:t>
            </a:r>
            <a:r>
              <a:rPr lang="ru-RU" dirty="0" err="1">
                <a:latin typeface="Consolas" panose="020B0609020204030204" pitchFamily="49" charset="0"/>
              </a:rPr>
              <a:t>world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Post </a:t>
            </a:r>
            <a:r>
              <a:rPr lang="ru-RU" dirty="0" err="1">
                <a:latin typeface="Consolas" panose="020B0609020204030204" pitchFamily="49" charset="0"/>
              </a:rPr>
              <a:t>card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Hello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is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assigned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value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world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 err="1">
                <a:latin typeface="Consolas" panose="020B0609020204030204" pitchFamily="49" charset="0"/>
              </a:rPr>
              <a:t>world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Post </a:t>
            </a:r>
            <a:r>
              <a:rPr lang="ru-RU" dirty="0" err="1">
                <a:latin typeface="Consolas" panose="020B0609020204030204" pitchFamily="49" charset="0"/>
              </a:rPr>
              <a:t>card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was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destroyed</a:t>
            </a:r>
            <a:r>
              <a:rPr lang="ru-RU" dirty="0">
                <a:latin typeface="Consolas" panose="020B0609020204030204" pitchFamily="49" charset="0"/>
              </a:rPr>
              <a:t>: </a:t>
            </a:r>
            <a:r>
              <a:rPr lang="ru-RU" dirty="0" err="1">
                <a:latin typeface="Consolas" panose="020B0609020204030204" pitchFamily="49" charset="0"/>
              </a:rPr>
              <a:t>world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Post </a:t>
            </a:r>
            <a:r>
              <a:rPr lang="ru-RU" dirty="0" err="1">
                <a:latin typeface="Consolas" panose="020B0609020204030204" pitchFamily="49" charset="0"/>
              </a:rPr>
              <a:t>card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was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destroyed</a:t>
            </a:r>
            <a:r>
              <a:rPr lang="ru-RU" dirty="0">
                <a:latin typeface="Consolas" panose="020B0609020204030204" pitchFamily="49" charset="0"/>
              </a:rPr>
              <a:t>: </a:t>
            </a:r>
            <a:r>
              <a:rPr lang="ru-RU" dirty="0" err="1">
                <a:latin typeface="Consolas" panose="020B0609020204030204" pitchFamily="49" charset="0"/>
              </a:rPr>
              <a:t>world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56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 tmFilter="0, 0; .2, .5; .8, .5; 1, 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250" autoRev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 tmFilter="0, 0; .2, .5; .8, .5; 1, 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0" dur="250" autoRev="1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 tmFilter="0, 0; .2, .5; .8, .5; 1, 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250" autoRev="1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7FC795-5628-49E8-BDDF-C47F57DA9F34}"/>
              </a:ext>
            </a:extLst>
          </p:cNvPr>
          <p:cNvSpPr txBox="1"/>
          <p:nvPr/>
        </p:nvSpPr>
        <p:spPr>
          <a:xfrm>
            <a:off x="670720" y="476672"/>
            <a:ext cx="1152128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String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&amp;other)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s_emptyString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destroy_n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Уничтожили старые символы строки</a:t>
            </a: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uninitialized_copy_n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идиому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copy-and-swap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String copy{ other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std::swap(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copy.m_size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std::swap(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copy.m_capacity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std::swap(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copy.m_chars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013038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Запрет операции присваивания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Когда присваивание нежелательно:</a:t>
            </a:r>
          </a:p>
          <a:p>
            <a:pPr lvl="1"/>
            <a:r>
              <a:rPr lang="ru-RU" dirty="0"/>
              <a:t>объект владеет уникальным ресурсом</a:t>
            </a:r>
          </a:p>
          <a:p>
            <a:pPr lvl="1"/>
            <a:r>
              <a:rPr lang="ru-RU" dirty="0"/>
              <a:t>ресурс нельзя безопасно разделить или скопировать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/>
              <a:t>файловый дескриптор</a:t>
            </a:r>
          </a:p>
          <a:p>
            <a:pPr lvl="1"/>
            <a:r>
              <a:rPr lang="ru-RU" dirty="0"/>
              <a:t>сетевое соединение</a:t>
            </a:r>
          </a:p>
          <a:p>
            <a:pPr lvl="1"/>
            <a:r>
              <a:rPr lang="ru-RU" dirty="0"/>
              <a:t>уникальные системные ресурсы</a:t>
            </a:r>
          </a:p>
          <a:p>
            <a:r>
              <a:rPr lang="ru-RU" dirty="0"/>
              <a:t>Как запретить:</a:t>
            </a:r>
          </a:p>
          <a:p>
            <a:pPr lvl="1"/>
            <a:r>
              <a:rPr lang="en-US" dirty="0"/>
              <a:t>class </a:t>
            </a:r>
            <a:r>
              <a:rPr lang="en-US" dirty="0" err="1"/>
              <a:t>NetworkConnection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public: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NetworkConnection</a:t>
            </a:r>
            <a:r>
              <a:rPr lang="en-US" dirty="0"/>
              <a:t>&amp; operator=(const </a:t>
            </a:r>
            <a:r>
              <a:rPr lang="en-US" dirty="0" err="1"/>
              <a:t>NetworkConnection</a:t>
            </a:r>
            <a:r>
              <a:rPr lang="en-US" dirty="0"/>
              <a:t>&amp;) = delete;</a:t>
            </a:r>
            <a:br>
              <a:rPr lang="en-US" dirty="0"/>
            </a:br>
            <a:r>
              <a:rPr lang="en-US" dirty="0"/>
              <a:t>};</a:t>
            </a:r>
          </a:p>
          <a:p>
            <a:r>
              <a:rPr lang="ru-RU" dirty="0"/>
              <a:t>Попытка присваивания вызовет ошибку компиляции</a:t>
            </a:r>
          </a:p>
        </p:txBody>
      </p:sp>
    </p:spTree>
    <p:extLst>
      <p:ext uri="{BB962C8B-B14F-4D97-AF65-F5344CB8AC3E}">
        <p14:creationId xmlns:p14="http://schemas.microsoft.com/office/powerpoint/2010/main" val="228341566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Семантика перемещения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semantics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533933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с копированием объектов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Проблемы производительности:</a:t>
            </a:r>
          </a:p>
          <a:p>
            <a:pPr lvl="1"/>
            <a:r>
              <a:rPr lang="ru-RU" dirty="0"/>
              <a:t>создание временных объектов</a:t>
            </a:r>
          </a:p>
          <a:p>
            <a:pPr lvl="1"/>
            <a:r>
              <a:rPr lang="ru-RU" dirty="0"/>
              <a:t>лишние копирования «тяжёлых» объектов</a:t>
            </a:r>
          </a:p>
          <a:p>
            <a:pPr lvl="1"/>
            <a:r>
              <a:rPr lang="ru-RU" dirty="0"/>
              <a:t>оптимизатор не всегда может помочь</a:t>
            </a:r>
          </a:p>
          <a:p>
            <a:r>
              <a:rPr lang="ru-RU" dirty="0"/>
              <a:t>Ограничения модели копирования:</a:t>
            </a:r>
          </a:p>
          <a:p>
            <a:pPr lvl="1"/>
            <a:r>
              <a:rPr lang="ru-RU" dirty="0"/>
              <a:t>не для всех типов копирование имеет смысл</a:t>
            </a:r>
            <a:br>
              <a:rPr lang="ru-RU" dirty="0"/>
            </a:br>
            <a:r>
              <a:rPr lang="ru-RU" dirty="0"/>
              <a:t>(</a:t>
            </a:r>
            <a:r>
              <a:rPr lang="ru-RU" dirty="0" err="1"/>
              <a:t>fstream</a:t>
            </a:r>
            <a:r>
              <a:rPr lang="ru-RU" dirty="0"/>
              <a:t>, </a:t>
            </a:r>
            <a:r>
              <a:rPr lang="ru-RU" dirty="0" err="1"/>
              <a:t>thread</a:t>
            </a:r>
            <a:r>
              <a:rPr lang="ru-RU" dirty="0"/>
              <a:t>, </a:t>
            </a:r>
            <a:r>
              <a:rPr lang="ru-RU" dirty="0" err="1"/>
              <a:t>mutex</a:t>
            </a:r>
            <a:r>
              <a:rPr lang="ru-RU" dirty="0"/>
              <a:t>)</a:t>
            </a:r>
          </a:p>
          <a:p>
            <a:r>
              <a:rPr lang="ru-RU" dirty="0"/>
              <a:t>Вывод:</a:t>
            </a:r>
          </a:p>
          <a:p>
            <a:pPr lvl="1"/>
            <a:r>
              <a:rPr lang="ru-RU" dirty="0"/>
              <a:t>иногда нужно не копировать, а передавать владение ресурсом</a:t>
            </a:r>
          </a:p>
        </p:txBody>
      </p:sp>
    </p:spTree>
    <p:extLst>
      <p:ext uri="{BB962C8B-B14F-4D97-AF65-F5344CB8AC3E}">
        <p14:creationId xmlns:p14="http://schemas.microsoft.com/office/powerpoint/2010/main" val="330154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875D66-9A35-1CA7-4C0F-7D7D6B4E1686}"/>
              </a:ext>
            </a:extLst>
          </p:cNvPr>
          <p:cNvSpPr txBox="1"/>
          <p:nvPr/>
        </p:nvSpPr>
        <p:spPr>
          <a:xfrm>
            <a:off x="335360" y="197346"/>
            <a:ext cx="924068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Student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explicit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Создаст временную строку из строкового литерала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string,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 потом в конструкторе копирования скопирует её в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m_name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Ivan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655566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Избыточное копирование объектов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создаётся временный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string</a:t>
            </a:r>
            <a:r>
              <a:rPr lang="ru-RU" dirty="0"/>
              <a:t> из литерала</a:t>
            </a:r>
          </a:p>
          <a:p>
            <a:pPr lvl="1"/>
            <a:r>
              <a:rPr lang="ru-RU" dirty="0"/>
              <a:t>затем он копируется в поле класса</a:t>
            </a:r>
            <a:endParaRPr lang="en-US" dirty="0"/>
          </a:p>
          <a:p>
            <a:pPr lvl="1"/>
            <a:r>
              <a:rPr lang="ru-RU" dirty="0"/>
              <a:t>затем временный объект разрушается</a:t>
            </a:r>
          </a:p>
          <a:p>
            <a:pPr lvl="1"/>
            <a:r>
              <a:rPr lang="ru-RU" dirty="0"/>
              <a:t>это лишние операции и снижение производительности</a:t>
            </a:r>
          </a:p>
          <a:p>
            <a:r>
              <a:rPr lang="ru-RU" dirty="0"/>
              <a:t>Решение (C++11):</a:t>
            </a:r>
          </a:p>
          <a:p>
            <a:pPr lvl="1"/>
            <a:r>
              <a:rPr lang="ru-RU" dirty="0"/>
              <a:t>Введена семантика перемещения (</a:t>
            </a:r>
            <a:r>
              <a:rPr lang="en-US" dirty="0"/>
              <a:t>move semantics)</a:t>
            </a:r>
          </a:p>
          <a:p>
            <a:pPr lvl="1"/>
            <a:r>
              <a:rPr lang="ru-RU" dirty="0"/>
              <a:t>Вместо копирования можно</a:t>
            </a:r>
            <a:r>
              <a:rPr lang="en-US" dirty="0"/>
              <a:t> </a:t>
            </a:r>
            <a:r>
              <a:rPr lang="ru-RU" dirty="0"/>
              <a:t>перенести данные из временного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119267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C0A7-79D3-A6D1-A81E-C133DADAE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отличить временные и именованные объекты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C8EFF-E2D7-4600-260B-0324900F8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Проблема:</a:t>
            </a:r>
          </a:p>
          <a:p>
            <a:pPr lvl="1"/>
            <a:r>
              <a:rPr lang="ru-RU" dirty="0"/>
              <a:t>нужно понимать, можно ли забрать ресурсы у объекта </a:t>
            </a:r>
          </a:p>
          <a:p>
            <a:pPr lvl="1"/>
            <a:r>
              <a:rPr lang="ru-RU" dirty="0"/>
              <a:t>или нужно сделать копию </a:t>
            </a:r>
          </a:p>
          <a:p>
            <a:r>
              <a:rPr lang="ru-RU" dirty="0"/>
              <a:t>Ключевой вопрос: объект будет использоваться дальше? </a:t>
            </a:r>
          </a:p>
          <a:p>
            <a:pPr lvl="1"/>
            <a:r>
              <a:rPr lang="ru-RU" dirty="0"/>
              <a:t>если нет, можно </a:t>
            </a:r>
            <a:r>
              <a:rPr lang="ru-RU" b="1" dirty="0"/>
              <a:t>переместить</a:t>
            </a:r>
          </a:p>
          <a:p>
            <a:pPr lvl="1"/>
            <a:r>
              <a:rPr lang="ru-RU" dirty="0"/>
              <a:t>если да, нужно </a:t>
            </a:r>
            <a:r>
              <a:rPr lang="ru-RU" b="1" dirty="0"/>
              <a:t>копировать</a:t>
            </a:r>
          </a:p>
          <a:p>
            <a:r>
              <a:rPr lang="ru-RU" dirty="0"/>
              <a:t>Решение в C++: различать временные и именованные объекты</a:t>
            </a:r>
          </a:p>
        </p:txBody>
      </p:sp>
    </p:spTree>
    <p:extLst>
      <p:ext uri="{BB962C8B-B14F-4D97-AF65-F5344CB8AC3E}">
        <p14:creationId xmlns:p14="http://schemas.microsoft.com/office/powerpoint/2010/main" val="231140906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24770-6EF9-4AFC-E461-3FEDD545E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Lvalue</a:t>
            </a:r>
            <a:r>
              <a:rPr lang="ru-RU" dirty="0"/>
              <a:t> и </a:t>
            </a:r>
            <a:r>
              <a:rPr lang="ru-RU" dirty="0" err="1"/>
              <a:t>Rvalue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D3499-C6EE-AC7E-FD45-9C922037DE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err="1"/>
              <a:t>Lvalue</a:t>
            </a:r>
            <a:r>
              <a:rPr lang="ru-RU" dirty="0"/>
              <a:t> (левостороннее значение):</a:t>
            </a:r>
          </a:p>
          <a:p>
            <a:pPr lvl="1"/>
            <a:r>
              <a:rPr lang="ru-RU" dirty="0"/>
              <a:t>выражение, указывающее на объект в памяти </a:t>
            </a:r>
          </a:p>
          <a:p>
            <a:pPr lvl="1"/>
            <a:r>
              <a:rPr lang="ru-RU" dirty="0"/>
              <a:t>у объекта есть адрес </a:t>
            </a:r>
          </a:p>
          <a:p>
            <a:pPr lvl="1"/>
            <a:r>
              <a:rPr lang="ru-RU" dirty="0"/>
              <a:t>может находиться слева от присваивания </a:t>
            </a:r>
          </a:p>
          <a:p>
            <a:r>
              <a:rPr lang="ru-RU" dirty="0" err="1"/>
              <a:t>Rvalue</a:t>
            </a:r>
            <a:r>
              <a:rPr lang="ru-RU" dirty="0"/>
              <a:t> (правостороннее значение):</a:t>
            </a:r>
          </a:p>
          <a:p>
            <a:pPr lvl="1"/>
            <a:r>
              <a:rPr lang="ru-RU" dirty="0"/>
              <a:t>выражение, представляющее временное значение </a:t>
            </a:r>
          </a:p>
          <a:p>
            <a:pPr lvl="1"/>
            <a:r>
              <a:rPr lang="ru-RU" dirty="0"/>
              <a:t>обычно не имеет имени </a:t>
            </a:r>
          </a:p>
          <a:p>
            <a:pPr lvl="1"/>
            <a:r>
              <a:rPr lang="ru-RU" dirty="0"/>
              <a:t>живёт ограниченное время </a:t>
            </a:r>
          </a:p>
          <a:p>
            <a:r>
              <a:rPr lang="ru-RU" dirty="0"/>
              <a:t>Интуиция:</a:t>
            </a:r>
          </a:p>
          <a:p>
            <a:pPr lvl="1"/>
            <a:r>
              <a:rPr lang="ru-RU" dirty="0" err="1"/>
              <a:t>Lvalue</a:t>
            </a:r>
            <a:r>
              <a:rPr lang="ru-RU" dirty="0"/>
              <a:t> — объект, который можно использовать дальше </a:t>
            </a:r>
          </a:p>
          <a:p>
            <a:pPr lvl="1"/>
            <a:r>
              <a:rPr lang="ru-RU" dirty="0" err="1"/>
              <a:t>Rvalue</a:t>
            </a:r>
            <a:r>
              <a:rPr lang="ru-RU" dirty="0"/>
              <a:t> — объект, который скоро исчезнет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AC00E7-940D-67DD-F740-D538F4C6D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145637"/>
            <a:ext cx="5181600" cy="2031325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Где что:</a:t>
            </a:r>
          </a:p>
          <a:p>
            <a:pPr lvl="1"/>
            <a:r>
              <a:rPr lang="ru-RU" dirty="0"/>
              <a:t>a, b, c — </a:t>
            </a:r>
            <a:r>
              <a:rPr lang="ru-RU" b="1" dirty="0" err="1"/>
              <a:t>lvalue</a:t>
            </a:r>
            <a:r>
              <a:rPr lang="ru-RU" dirty="0"/>
              <a:t> (именованные объекты) </a:t>
            </a:r>
          </a:p>
          <a:p>
            <a:pPr lvl="1"/>
            <a:r>
              <a:rPr lang="ru-RU" dirty="0"/>
              <a:t>a + b — </a:t>
            </a:r>
            <a:r>
              <a:rPr lang="ru-RU" b="1" dirty="0" err="1"/>
              <a:t>rvalue</a:t>
            </a:r>
            <a:r>
              <a:rPr lang="ru-RU" dirty="0"/>
              <a:t> (временное значение) </a:t>
            </a:r>
          </a:p>
          <a:p>
            <a:pPr lvl="1"/>
            <a:r>
              <a:rPr lang="ru-RU" dirty="0"/>
              <a:t>10, 20, 5 — </a:t>
            </a:r>
            <a:r>
              <a:rPr lang="ru-RU" b="1" dirty="0" err="1"/>
              <a:t>rvalue</a:t>
            </a:r>
            <a:r>
              <a:rPr lang="ru-RU" dirty="0"/>
              <a:t> (литералы) </a:t>
            </a:r>
          </a:p>
          <a:p>
            <a:pPr lvl="1"/>
            <a:r>
              <a:rPr lang="ru-RU" dirty="0" err="1"/>
              <a:t>ref</a:t>
            </a:r>
            <a:r>
              <a:rPr lang="ru-RU" dirty="0"/>
              <a:t> — ссылка на </a:t>
            </a:r>
            <a:r>
              <a:rPr lang="ru-RU" b="1" dirty="0" err="1"/>
              <a:t>lvalue</a:t>
            </a:r>
            <a:endParaRPr lang="ru-RU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5AD22-2F97-3B02-0B62-14BC9BC098B1}"/>
              </a:ext>
            </a:extLst>
          </p:cNvPr>
          <p:cNvSpPr txBox="1"/>
          <p:nvPr/>
        </p:nvSpPr>
        <p:spPr>
          <a:xfrm>
            <a:off x="6172200" y="1825625"/>
            <a:ext cx="5181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= a + b;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ref = a;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3387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  <p:bldP spid="5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1A271A-C5D5-581B-33E4-8DDC7063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язык различает </a:t>
            </a:r>
            <a:r>
              <a:rPr lang="ru-RU" dirty="0" err="1"/>
              <a:t>Lvalue</a:t>
            </a:r>
            <a:r>
              <a:rPr lang="ru-RU" dirty="0"/>
              <a:t> и </a:t>
            </a:r>
            <a:r>
              <a:rPr lang="ru-RU" dirty="0" err="1"/>
              <a:t>Rvalue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DC3D65-4732-01FC-9665-3B601813E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C++11 введён новый тип ссылок:</a:t>
            </a:r>
          </a:p>
          <a:p>
            <a:pPr lvl="1"/>
            <a:r>
              <a:rPr lang="ru-RU" dirty="0"/>
              <a:t>Type&amp;   // ссылка на </a:t>
            </a:r>
            <a:r>
              <a:rPr lang="ru-RU" dirty="0" err="1"/>
              <a:t>lvalue</a:t>
            </a:r>
            <a:br>
              <a:rPr lang="ru-RU" dirty="0"/>
            </a:br>
            <a:r>
              <a:rPr lang="ru-RU" dirty="0"/>
              <a:t>Type&amp;&amp;  // ссылка на </a:t>
            </a:r>
            <a:r>
              <a:rPr lang="ru-RU" dirty="0" err="1"/>
              <a:t>rvalue</a:t>
            </a:r>
            <a:endParaRPr lang="ru-RU" dirty="0"/>
          </a:p>
          <a:p>
            <a:r>
              <a:rPr lang="ru-RU" dirty="0"/>
              <a:t>Смысл:</a:t>
            </a:r>
          </a:p>
          <a:p>
            <a:pPr lvl="1"/>
            <a:r>
              <a:rPr lang="ru-RU" dirty="0"/>
              <a:t>Type&amp; — работает с именованными объектами </a:t>
            </a:r>
          </a:p>
          <a:p>
            <a:pPr lvl="1"/>
            <a:r>
              <a:rPr lang="ru-RU" dirty="0"/>
              <a:t>Type&amp;&amp; — работает с временными объектами </a:t>
            </a:r>
          </a:p>
          <a:p>
            <a:r>
              <a:rPr lang="ru-RU" dirty="0"/>
              <a:t>Зачем это нужно:</a:t>
            </a:r>
          </a:p>
          <a:p>
            <a:pPr lvl="1"/>
            <a:r>
              <a:rPr lang="ru-RU" dirty="0"/>
              <a:t>чтобы по-разному обрабатывать объекты </a:t>
            </a:r>
          </a:p>
          <a:p>
            <a:pPr lvl="1"/>
            <a:r>
              <a:rPr lang="ru-RU" dirty="0"/>
              <a:t>копировать или перемещать данные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92560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458D-A208-D6A7-E080-CFC40218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Привязка ссылок к выражениям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85EB5-187E-C373-205A-4920B2E8DA8A}"/>
              </a:ext>
            </a:extLst>
          </p:cNvPr>
          <p:cNvSpPr txBox="1"/>
          <p:nvPr/>
        </p:nvSpPr>
        <p:spPr>
          <a:xfrm>
            <a:off x="838200" y="1968560"/>
            <a:ext cx="103703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lref1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 —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lvalue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lvalue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rref1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 —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rvalue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rvalue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lref2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rref2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rref3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 —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результат функции (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rvalue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cref1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 —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особый случай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cref2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242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F201-629E-EBA8-8867-10DDEB86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</a:t>
            </a:r>
            <a:r>
              <a:rPr lang="en-US" dirty="0" err="1"/>
              <a:t>lvalue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rvalue</a:t>
            </a:r>
            <a:r>
              <a:rPr lang="ru-RU" dirty="0"/>
              <a:t> в функции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CEA59-9D88-487E-F2FB-8967E551BCA1}"/>
              </a:ext>
            </a:extLst>
          </p:cNvPr>
          <p:cNvSpPr txBox="1"/>
          <p:nvPr/>
        </p:nvSpPr>
        <p:spPr>
          <a:xfrm>
            <a:off x="838200" y="1690687"/>
            <a:ext cx="50417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std::string&amp; s)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"const T&amp;\n"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Print(std::string&amp; s)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"T&amp;\n"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Print(std::string&amp;&amp; s)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"T&amp;&amp;\n"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732ED-6F67-B470-A46C-99A90F79909A}"/>
              </a:ext>
            </a:extLst>
          </p:cNvPr>
          <p:cNvSpPr txBox="1"/>
          <p:nvPr/>
        </p:nvSpPr>
        <p:spPr>
          <a:xfrm>
            <a:off x="6277243" y="1690687"/>
            <a:ext cx="591475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name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"Ivan"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std::string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"Petr"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Print(name);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T&amp;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const T&amp;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T&amp;&amp;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Print(name +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"!"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T&amp;&amp;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T&amp;&amp;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(name));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T&amp;&amp;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EED23-E60A-2C9D-55B7-B24FF1FF6ADF}"/>
              </a:ext>
            </a:extLst>
          </p:cNvPr>
          <p:cNvSpPr txBox="1"/>
          <p:nvPr/>
        </p:nvSpPr>
        <p:spPr>
          <a:xfrm>
            <a:off x="6312026" y="5167313"/>
            <a:ext cx="566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https://godbolt.org/z/rEbqTh7T6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288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1152-FBE3-E2B2-DBF9-F36A131D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Что делает </a:t>
            </a:r>
            <a:r>
              <a:rPr lang="en-US" dirty="0"/>
              <a:t>std::move?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3AC91-AD41-7F0E-B002-9A0767F51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Что делает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move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не перемещает данные </a:t>
            </a:r>
          </a:p>
          <a:p>
            <a:pPr lvl="1"/>
            <a:r>
              <a:rPr lang="ru-RU" dirty="0"/>
              <a:t>выполняет </a:t>
            </a:r>
            <a:r>
              <a:rPr lang="ru-RU" b="1" dirty="0"/>
              <a:t>приведение к </a:t>
            </a:r>
            <a:r>
              <a:rPr lang="ru-RU" b="1" dirty="0" err="1"/>
              <a:t>rvalue</a:t>
            </a:r>
            <a:r>
              <a:rPr lang="ru-RU" b="1" dirty="0"/>
              <a:t>-ссылке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сообщает: объект можно переместить </a:t>
            </a:r>
          </a:p>
          <a:p>
            <a:r>
              <a:rPr lang="ru-RU" dirty="0"/>
              <a:t>После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move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объект не изменяется</a:t>
            </a:r>
          </a:p>
          <a:p>
            <a:pPr lvl="1"/>
            <a:r>
              <a:rPr lang="ru-RU" dirty="0"/>
              <a:t>Перемещение может происходит позже (если вызывается </a:t>
            </a:r>
            <a:r>
              <a:rPr lang="en-US" dirty="0"/>
              <a:t>move-</a:t>
            </a:r>
            <a:r>
              <a:rPr lang="ru-RU" dirty="0"/>
              <a:t>конструктор или </a:t>
            </a:r>
            <a:r>
              <a:rPr lang="en-US" dirty="0"/>
              <a:t>move-</a:t>
            </a:r>
            <a:r>
              <a:rPr lang="ru-RU" dirty="0"/>
              <a:t>оператор присваивания)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434FA-99C0-4850-0406-7589B82EB8C8}"/>
              </a:ext>
            </a:extLst>
          </p:cNvPr>
          <p:cNvSpPr txBox="1"/>
          <p:nvPr/>
        </p:nvSpPr>
        <p:spPr>
          <a:xfrm>
            <a:off x="983432" y="5317752"/>
            <a:ext cx="90730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 s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std::string&amp;&amp; bad = s;        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s —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lvalue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std::string&amp;&amp; ok =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25251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2A58-10FD-F570-4224-56B13E2F0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Конструктор перемещения (</a:t>
            </a:r>
            <a:r>
              <a:rPr lang="en-US" dirty="0"/>
              <a:t>move-</a:t>
            </a:r>
            <a:r>
              <a:rPr lang="ru-RU" dirty="0"/>
              <a:t>конструктор)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152C7-CBB7-532F-3FEB-7ADDCC7DC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err="1"/>
              <a:t>Move</a:t>
            </a:r>
            <a:r>
              <a:rPr lang="ru-RU" b="1" dirty="0"/>
              <a:t>-конструктор</a:t>
            </a:r>
            <a:r>
              <a:rPr lang="ru-RU" dirty="0"/>
              <a:t> — конструктор, который </a:t>
            </a:r>
            <a:r>
              <a:rPr lang="ru-RU" b="1" dirty="0"/>
              <a:t>переносит ресурсы из одного объекта в другой</a:t>
            </a:r>
            <a:endParaRPr lang="ru-RU" dirty="0"/>
          </a:p>
          <a:p>
            <a:pPr lvl="1"/>
            <a:r>
              <a:rPr lang="ru-RU" dirty="0"/>
              <a:t>Type(Type&amp;&amp; </a:t>
            </a:r>
            <a:r>
              <a:rPr lang="ru-RU" dirty="0" err="1"/>
              <a:t>other</a:t>
            </a:r>
            <a:r>
              <a:rPr lang="ru-RU" dirty="0"/>
              <a:t>);</a:t>
            </a:r>
          </a:p>
          <a:p>
            <a:r>
              <a:rPr lang="ru-RU" b="1" dirty="0"/>
              <a:t>Идея: </a:t>
            </a:r>
            <a:r>
              <a:rPr lang="ru-RU" dirty="0"/>
              <a:t>не копировать данные, а </a:t>
            </a:r>
            <a:r>
              <a:rPr lang="ru-RU" b="1" dirty="0"/>
              <a:t>забрать ресурсы у временного объекта</a:t>
            </a:r>
            <a:r>
              <a:rPr lang="ru-RU" dirty="0"/>
              <a:t> </a:t>
            </a:r>
          </a:p>
          <a:p>
            <a:r>
              <a:rPr lang="ru-RU" b="1" dirty="0"/>
              <a:t>После перемещения:</a:t>
            </a:r>
          </a:p>
          <a:p>
            <a:pPr lvl="1"/>
            <a:r>
              <a:rPr lang="ru-RU" dirty="0"/>
              <a:t>новый объект получает ресурсы</a:t>
            </a:r>
          </a:p>
          <a:p>
            <a:pPr lvl="1"/>
            <a:r>
              <a:rPr lang="ru-RU" dirty="0"/>
              <a:t>исходный объект остаётся </a:t>
            </a:r>
            <a:r>
              <a:rPr lang="ru-RU" b="1" dirty="0"/>
              <a:t>валидным</a:t>
            </a:r>
            <a:r>
              <a:rPr lang="ru-RU" dirty="0"/>
              <a:t>, но его состояние может быть не определено</a:t>
            </a:r>
          </a:p>
          <a:p>
            <a:r>
              <a:rPr lang="ru-RU" b="1" dirty="0"/>
              <a:t>Когда вызывается:</a:t>
            </a:r>
            <a:endParaRPr lang="ru-RU" dirty="0"/>
          </a:p>
          <a:p>
            <a:pPr lvl="1"/>
            <a:r>
              <a:rPr lang="ru-RU" dirty="0"/>
              <a:t>при работе с </a:t>
            </a:r>
            <a:r>
              <a:rPr lang="ru-RU" b="1" dirty="0" err="1"/>
              <a:t>rvalue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при использовании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move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493754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4FCF58-D7BE-C59A-9D39-5C0E010AE084}"/>
              </a:ext>
            </a:extLst>
          </p:cNvPr>
          <p:cNvSpPr txBox="1"/>
          <p:nvPr/>
        </p:nvSpPr>
        <p:spPr>
          <a:xfrm>
            <a:off x="0" y="0"/>
            <a:ext cx="1171262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MovingStudent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explicit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MovingStudent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MovingStudent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(const std::string&amp; name)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explicit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MovingStudent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MovingStudent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(std::string&amp;&amp; name)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Ivan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MovingStudent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вызвано копирование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MovingStudent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Ivan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вызвано перемещение временного объекта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MovingStudent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вызвано перемещение из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03935-686F-1424-6B3E-031310F3AA5B}"/>
              </a:ext>
            </a:extLst>
          </p:cNvPr>
          <p:cNvSpPr txBox="1"/>
          <p:nvPr/>
        </p:nvSpPr>
        <p:spPr>
          <a:xfrm>
            <a:off x="6096000" y="4221088"/>
            <a:ext cx="5256584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MovingStudent</a:t>
            </a:r>
            <a:r>
              <a:rPr lang="en-US" dirty="0">
                <a:latin typeface="Consolas" panose="020B0609020204030204" pitchFamily="49" charset="0"/>
              </a:rPr>
              <a:t>(const std::string&amp; name)</a:t>
            </a:r>
          </a:p>
          <a:p>
            <a:r>
              <a:rPr lang="en-US" dirty="0" err="1">
                <a:latin typeface="Consolas" panose="020B0609020204030204" pitchFamily="49" charset="0"/>
              </a:rPr>
              <a:t>MovingStudent</a:t>
            </a:r>
            <a:r>
              <a:rPr lang="en-US" dirty="0">
                <a:latin typeface="Consolas" panose="020B0609020204030204" pitchFamily="49" charset="0"/>
              </a:rPr>
              <a:t>(std::string&amp;&amp; name)</a:t>
            </a:r>
          </a:p>
          <a:p>
            <a:r>
              <a:rPr lang="en-US" dirty="0" err="1">
                <a:latin typeface="Consolas" panose="020B0609020204030204" pitchFamily="49" charset="0"/>
              </a:rPr>
              <a:t>MovingStudent</a:t>
            </a:r>
            <a:r>
              <a:rPr lang="en-US" dirty="0">
                <a:latin typeface="Consolas" panose="020B0609020204030204" pitchFamily="49" charset="0"/>
              </a:rPr>
              <a:t>(std::string&amp;&amp; name)</a:t>
            </a:r>
          </a:p>
        </p:txBody>
      </p:sp>
    </p:spTree>
    <p:extLst>
      <p:ext uri="{BB962C8B-B14F-4D97-AF65-F5344CB8AC3E}">
        <p14:creationId xmlns:p14="http://schemas.microsoft.com/office/powerpoint/2010/main" val="11616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CBAD7D-4E30-58DE-C520-B20EE23FA5C6}"/>
              </a:ext>
            </a:extLst>
          </p:cNvPr>
          <p:cNvSpPr txBox="1"/>
          <p:nvPr/>
        </p:nvSpPr>
        <p:spPr>
          <a:xfrm>
            <a:off x="14936" y="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Name(const char*)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Name(const Name&amp;)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Name(Name&amp;&amp;)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65670-210C-E6ED-EF6B-DB1BFB95AFF0}"/>
              </a:ext>
            </a:extLst>
          </p:cNvPr>
          <p:cNvSpPr txBox="1"/>
          <p:nvPr/>
        </p:nvSpPr>
        <p:spPr>
          <a:xfrm>
            <a:off x="6110936" y="0"/>
            <a:ext cx="61203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Student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829CF8-FD1B-360C-6A96-3185D45FB936}"/>
              </a:ext>
            </a:extLst>
          </p:cNvPr>
          <p:cNvSpPr txBox="1"/>
          <p:nvPr/>
        </p:nvSpPr>
        <p:spPr>
          <a:xfrm>
            <a:off x="14936" y="4241045"/>
            <a:ext cx="77768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Ivan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---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Copy + Move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---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Ivan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Create + Move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---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Move + Move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749D55-A6B6-5F48-E84E-0885ED7D8F5A}"/>
              </a:ext>
            </a:extLst>
          </p:cNvPr>
          <p:cNvSpPr txBox="1"/>
          <p:nvPr/>
        </p:nvSpPr>
        <p:spPr>
          <a:xfrm>
            <a:off x="8472264" y="3724768"/>
            <a:ext cx="3600400" cy="28623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Name(const char*)</a:t>
            </a:r>
          </a:p>
          <a:p>
            <a:r>
              <a:rPr lang="en-US" dirty="0">
                <a:latin typeface="Consolas" panose="020B0609020204030204" pitchFamily="49" charset="0"/>
              </a:rPr>
              <a:t>---</a:t>
            </a:r>
          </a:p>
          <a:p>
            <a:r>
              <a:rPr lang="en-US" dirty="0">
                <a:latin typeface="Consolas" panose="020B0609020204030204" pitchFamily="49" charset="0"/>
              </a:rPr>
              <a:t>Name(const Name&amp;)</a:t>
            </a:r>
          </a:p>
          <a:p>
            <a:r>
              <a:rPr lang="en-US" dirty="0">
                <a:latin typeface="Consolas" panose="020B0609020204030204" pitchFamily="49" charset="0"/>
              </a:rPr>
              <a:t>Name(Name&amp;&amp;)</a:t>
            </a:r>
          </a:p>
          <a:p>
            <a:r>
              <a:rPr lang="en-US" dirty="0">
                <a:latin typeface="Consolas" panose="020B0609020204030204" pitchFamily="49" charset="0"/>
              </a:rPr>
              <a:t>---</a:t>
            </a:r>
          </a:p>
          <a:p>
            <a:r>
              <a:rPr lang="en-US" dirty="0">
                <a:latin typeface="Consolas" panose="020B0609020204030204" pitchFamily="49" charset="0"/>
              </a:rPr>
              <a:t>Name(const char*)</a:t>
            </a:r>
          </a:p>
          <a:p>
            <a:r>
              <a:rPr lang="en-US" dirty="0">
                <a:latin typeface="Consolas" panose="020B0609020204030204" pitchFamily="49" charset="0"/>
              </a:rPr>
              <a:t>Name(Name&amp;&amp;)</a:t>
            </a:r>
          </a:p>
          <a:p>
            <a:r>
              <a:rPr lang="en-US" dirty="0">
                <a:latin typeface="Consolas" panose="020B0609020204030204" pitchFamily="49" charset="0"/>
              </a:rPr>
              <a:t>---</a:t>
            </a:r>
          </a:p>
          <a:p>
            <a:r>
              <a:rPr lang="en-US" dirty="0">
                <a:latin typeface="Consolas" panose="020B0609020204030204" pitchFamily="49" charset="0"/>
              </a:rPr>
              <a:t>Name(Name&amp;&amp;)</a:t>
            </a:r>
          </a:p>
          <a:p>
            <a:r>
              <a:rPr lang="en-US" dirty="0">
                <a:latin typeface="Consolas" panose="020B0609020204030204" pitchFamily="49" charset="0"/>
              </a:rPr>
              <a:t>Name(Name&amp;&amp;)</a:t>
            </a:r>
          </a:p>
        </p:txBody>
      </p:sp>
    </p:spTree>
    <p:extLst>
      <p:ext uri="{BB962C8B-B14F-4D97-AF65-F5344CB8AC3E}">
        <p14:creationId xmlns:p14="http://schemas.microsoft.com/office/powerpoint/2010/main" val="226514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значит «переместить объект»?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Для простых типов:</a:t>
            </a:r>
          </a:p>
          <a:p>
            <a:pPr lvl="1"/>
            <a:r>
              <a:rPr lang="ru-RU" dirty="0"/>
              <a:t>(</a:t>
            </a:r>
            <a:r>
              <a:rPr lang="ru-RU" dirty="0" err="1"/>
              <a:t>int</a:t>
            </a:r>
            <a:r>
              <a:rPr lang="ru-RU" dirty="0"/>
              <a:t>, </a:t>
            </a:r>
            <a:r>
              <a:rPr lang="ru-RU" dirty="0" err="1"/>
              <a:t>double</a:t>
            </a:r>
            <a:r>
              <a:rPr lang="ru-RU" dirty="0"/>
              <a:t> и т.п.) перемещение ≈ копирование </a:t>
            </a:r>
          </a:p>
          <a:p>
            <a:r>
              <a:rPr lang="ru-RU" dirty="0"/>
              <a:t>Для объектов с ресурсами:</a:t>
            </a:r>
          </a:p>
          <a:p>
            <a:pPr lvl="1"/>
            <a:r>
              <a:rPr lang="ru-RU" dirty="0"/>
              <a:t>вместо копирования данных передаётся владение ресурсом </a:t>
            </a:r>
          </a:p>
          <a:p>
            <a:r>
              <a:rPr lang="ru-RU" dirty="0"/>
              <a:t>Типичный сценарий:</a:t>
            </a:r>
          </a:p>
          <a:p>
            <a:pPr lvl="1"/>
            <a:r>
              <a:rPr lang="ru-RU" dirty="0"/>
              <a:t>указатель «забирается» новым объектом </a:t>
            </a:r>
          </a:p>
          <a:p>
            <a:pPr lvl="1"/>
            <a:r>
              <a:rPr lang="ru-RU" dirty="0"/>
              <a:t>у старого объекта указатель обнуляется 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перемещение эффективно для объектов с ресурсами </a:t>
            </a:r>
          </a:p>
          <a:p>
            <a:pPr lvl="1"/>
            <a:r>
              <a:rPr lang="ru-RU" dirty="0"/>
              <a:t>исходный объект остаётся валидным, но «пустым»</a:t>
            </a:r>
          </a:p>
        </p:txBody>
      </p:sp>
    </p:spTree>
    <p:extLst>
      <p:ext uri="{BB962C8B-B14F-4D97-AF65-F5344CB8AC3E}">
        <p14:creationId xmlns:p14="http://schemas.microsoft.com/office/powerpoint/2010/main" val="393936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Состояние объекта после перемещения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Требования стандарта:</a:t>
            </a:r>
          </a:p>
          <a:p>
            <a:pPr lvl="1"/>
            <a:r>
              <a:rPr lang="ru-RU" dirty="0"/>
              <a:t>новый объект </a:t>
            </a:r>
            <a:r>
              <a:rPr lang="ru-RU" b="1" dirty="0"/>
              <a:t>получает значение исходного до перемещения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исходный объект </a:t>
            </a:r>
            <a:r>
              <a:rPr lang="ru-RU" b="1" dirty="0"/>
              <a:t>остаётся валидным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его состояние </a:t>
            </a:r>
            <a:r>
              <a:rPr lang="ru-RU" b="1" dirty="0"/>
              <a:t>может быть неопределённым 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на состояние </a:t>
            </a:r>
            <a:r>
              <a:rPr lang="ru-RU" dirty="0" err="1"/>
              <a:t>moved-from</a:t>
            </a:r>
            <a:r>
              <a:rPr lang="ru-RU" dirty="0"/>
              <a:t> объекта нельзя полагаться </a:t>
            </a:r>
          </a:p>
          <a:p>
            <a:pPr lvl="1"/>
            <a:r>
              <a:rPr lang="ru-RU" dirty="0"/>
              <a:t>допускается только: </a:t>
            </a:r>
          </a:p>
          <a:p>
            <a:pPr lvl="2"/>
            <a:r>
              <a:rPr lang="ru-RU" dirty="0"/>
              <a:t>присваивание нового значения </a:t>
            </a:r>
          </a:p>
          <a:p>
            <a:pPr lvl="2"/>
            <a:r>
              <a:rPr lang="ru-RU" dirty="0"/>
              <a:t>вызов методов с явно определённым поведением </a:t>
            </a:r>
          </a:p>
          <a:p>
            <a:r>
              <a:rPr lang="ru-RU" dirty="0"/>
              <a:t>Практика: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string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vector</a:t>
            </a:r>
            <a:r>
              <a:rPr lang="ru-RU" dirty="0"/>
              <a:t> — валидны, но состояние не определено 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unique_ptr</a:t>
            </a:r>
            <a:r>
              <a:rPr lang="ru-RU" dirty="0"/>
              <a:t> — становится пустым</a:t>
            </a:r>
          </a:p>
        </p:txBody>
      </p:sp>
    </p:spTree>
    <p:extLst>
      <p:ext uri="{BB962C8B-B14F-4D97-AF65-F5344CB8AC3E}">
        <p14:creationId xmlns:p14="http://schemas.microsoft.com/office/powerpoint/2010/main" val="266015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8D7A3BF-EEAC-4BC2-87A0-744254C01F56}"/>
              </a:ext>
            </a:extLst>
          </p:cNvPr>
          <p:cNvSpPr txBox="1"/>
          <p:nvPr/>
        </p:nvSpPr>
        <p:spPr>
          <a:xfrm>
            <a:off x="220666" y="396361"/>
            <a:ext cx="1135258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…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String(String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std::exchange(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std::exchange(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hlinkClick r:id="rId3"/>
              </a:rPr>
              <a:t>std::exchange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s_emptyString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s_emptyString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{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s_emptyString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087017D-F422-49F8-B3DE-027FF327C3FB}"/>
              </a:ext>
            </a:extLst>
          </p:cNvPr>
          <p:cNvSpPr/>
          <p:nvPr/>
        </p:nvSpPr>
        <p:spPr>
          <a:xfrm>
            <a:off x="6638822" y="4509120"/>
            <a:ext cx="191983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m_chars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F552EFC-A664-47B5-93A6-6393B33D806D}"/>
              </a:ext>
            </a:extLst>
          </p:cNvPr>
          <p:cNvSpPr/>
          <p:nvPr/>
        </p:nvSpPr>
        <p:spPr>
          <a:xfrm>
            <a:off x="6663208" y="5805264"/>
            <a:ext cx="191983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other.m_chars</a:t>
            </a:r>
            <a:endParaRPr lang="ru-RU" dirty="0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B1351A42-8249-417E-86B7-2BCAC67CF90D}"/>
              </a:ext>
            </a:extLst>
          </p:cNvPr>
          <p:cNvGrpSpPr/>
          <p:nvPr/>
        </p:nvGrpSpPr>
        <p:grpSpPr>
          <a:xfrm>
            <a:off x="9840416" y="5211873"/>
            <a:ext cx="2160240" cy="432048"/>
            <a:chOff x="12288688" y="4144460"/>
            <a:chExt cx="2160240" cy="432048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F921C691-7469-4219-AA97-132AC0371978}"/>
                </a:ext>
              </a:extLst>
            </p:cNvPr>
            <p:cNvSpPr/>
            <p:nvPr/>
          </p:nvSpPr>
          <p:spPr>
            <a:xfrm>
              <a:off x="12288688" y="4144460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</a:t>
              </a:r>
              <a:endParaRPr lang="ru-RU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ABB32655-55D4-4206-809C-553DBEAD58D2}"/>
                </a:ext>
              </a:extLst>
            </p:cNvPr>
            <p:cNvSpPr/>
            <p:nvPr/>
          </p:nvSpPr>
          <p:spPr>
            <a:xfrm>
              <a:off x="12720736" y="4144460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ru-RU" dirty="0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8D1DD161-86ED-4454-9635-4193385002E0}"/>
                </a:ext>
              </a:extLst>
            </p:cNvPr>
            <p:cNvSpPr/>
            <p:nvPr/>
          </p:nvSpPr>
          <p:spPr>
            <a:xfrm>
              <a:off x="13152784" y="4144460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F4DA56B-86D4-4875-A774-860E65CD0B03}"/>
                </a:ext>
              </a:extLst>
            </p:cNvPr>
            <p:cNvSpPr/>
            <p:nvPr/>
          </p:nvSpPr>
          <p:spPr>
            <a:xfrm>
              <a:off x="13584832" y="4144460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</a:t>
              </a:r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44E475E-8356-4B29-B7E5-7FDFE1CFF73E}"/>
                </a:ext>
              </a:extLst>
            </p:cNvPr>
            <p:cNvSpPr/>
            <p:nvPr/>
          </p:nvSpPr>
          <p:spPr>
            <a:xfrm>
              <a:off x="14016880" y="4144460"/>
              <a:ext cx="432048" cy="43204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\0</a:t>
              </a:r>
              <a:endParaRPr lang="ru-RU" dirty="0"/>
            </a:p>
          </p:txBody>
        </p:sp>
      </p:grp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35B3D73-1EA7-4B6D-9050-683F04C83E49}"/>
              </a:ext>
            </a:extLst>
          </p:cNvPr>
          <p:cNvSpPr/>
          <p:nvPr/>
        </p:nvSpPr>
        <p:spPr>
          <a:xfrm>
            <a:off x="9830568" y="5880421"/>
            <a:ext cx="432048" cy="4320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\0</a:t>
            </a:r>
            <a:endParaRPr lang="ru-RU" dirty="0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CA7383FC-CEE9-419D-A39B-F65871D841AF}"/>
              </a:ext>
            </a:extLst>
          </p:cNvPr>
          <p:cNvCxnSpPr>
            <a:stCxn id="9" idx="3"/>
            <a:endCxn id="12" idx="1"/>
          </p:cNvCxnSpPr>
          <p:nvPr/>
        </p:nvCxnSpPr>
        <p:spPr>
          <a:xfrm flipV="1">
            <a:off x="8583038" y="5427897"/>
            <a:ext cx="1257378" cy="7014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CDC0A8A-93C5-496C-8C9A-F231BED61127}"/>
              </a:ext>
            </a:extLst>
          </p:cNvPr>
          <p:cNvSpPr txBox="1"/>
          <p:nvPr/>
        </p:nvSpPr>
        <p:spPr>
          <a:xfrm>
            <a:off x="9686552" y="6326667"/>
            <a:ext cx="166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s_emptyString</a:t>
            </a:r>
            <a:endParaRPr lang="ru-RU" dirty="0"/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2F20E04B-1175-4BA0-9E68-A1A7495E1777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 flipV="1">
            <a:off x="8583038" y="6096445"/>
            <a:ext cx="1247530" cy="328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E2AB091F-2B9D-430E-91C9-3E9E8ABAD8E3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8558652" y="4833156"/>
            <a:ext cx="1281764" cy="594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7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8" grpId="0" animBg="1"/>
      <p:bldP spid="25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F6F4-5265-16D3-824D-66D919FB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std::exchange vs std::swap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9AA19-BBF7-884B-E708-A15D7822B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 err="1"/>
              <a:t>std</a:t>
            </a:r>
            <a:r>
              <a:rPr lang="ru-RU" b="1" dirty="0"/>
              <a:t>::</a:t>
            </a:r>
            <a:r>
              <a:rPr lang="ru-RU" b="1" dirty="0" err="1"/>
              <a:t>swap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swap</a:t>
            </a:r>
            <a:r>
              <a:rPr lang="ru-RU" dirty="0"/>
              <a:t>(a, b);</a:t>
            </a:r>
          </a:p>
          <a:p>
            <a:pPr lvl="1"/>
            <a:r>
              <a:rPr lang="ru-RU" b="1" dirty="0"/>
              <a:t>обменивает значения</a:t>
            </a:r>
            <a:r>
              <a:rPr lang="ru-RU" dirty="0"/>
              <a:t> двух объектов </a:t>
            </a:r>
          </a:p>
          <a:p>
            <a:pPr lvl="1"/>
            <a:r>
              <a:rPr lang="ru-RU" dirty="0"/>
              <a:t>оба объекта изменяются </a:t>
            </a:r>
          </a:p>
          <a:p>
            <a:r>
              <a:rPr lang="ru-RU" b="1" dirty="0" err="1"/>
              <a:t>std</a:t>
            </a:r>
            <a:r>
              <a:rPr lang="ru-RU" b="1" dirty="0"/>
              <a:t>::</a:t>
            </a:r>
            <a:r>
              <a:rPr lang="ru-RU" b="1" dirty="0" err="1"/>
              <a:t>exchange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 err="1"/>
              <a:t>auto</a:t>
            </a:r>
            <a:r>
              <a:rPr lang="ru-RU" dirty="0"/>
              <a:t> </a:t>
            </a:r>
            <a:r>
              <a:rPr lang="ru-RU" dirty="0" err="1"/>
              <a:t>old</a:t>
            </a:r>
            <a:r>
              <a:rPr lang="ru-RU" dirty="0"/>
              <a:t> =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exchange</a:t>
            </a:r>
            <a:r>
              <a:rPr lang="ru-RU" dirty="0"/>
              <a:t>(</a:t>
            </a:r>
            <a:r>
              <a:rPr lang="ru-RU" dirty="0" err="1"/>
              <a:t>obj</a:t>
            </a:r>
            <a:r>
              <a:rPr lang="ru-RU" dirty="0"/>
              <a:t>, </a:t>
            </a:r>
            <a:r>
              <a:rPr lang="ru-RU" dirty="0" err="1"/>
              <a:t>newValue</a:t>
            </a:r>
            <a:r>
              <a:rPr lang="ru-RU" dirty="0"/>
              <a:t>);</a:t>
            </a:r>
          </a:p>
          <a:p>
            <a:pPr lvl="1"/>
            <a:r>
              <a:rPr lang="ru-RU" dirty="0"/>
              <a:t>заменяет значение объекта </a:t>
            </a:r>
            <a:r>
              <a:rPr lang="en-US" dirty="0"/>
              <a:t>obj</a:t>
            </a:r>
            <a:r>
              <a:rPr lang="ru-RU" dirty="0"/>
              <a:t> на </a:t>
            </a:r>
            <a:r>
              <a:rPr lang="en-US" dirty="0" err="1"/>
              <a:t>newValue</a:t>
            </a:r>
            <a:endParaRPr lang="ru-RU" dirty="0"/>
          </a:p>
          <a:p>
            <a:pPr lvl="1"/>
            <a:r>
              <a:rPr lang="ru-RU" dirty="0"/>
              <a:t>возвращает старое значение </a:t>
            </a:r>
          </a:p>
          <a:p>
            <a:pPr lvl="1"/>
            <a:r>
              <a:rPr lang="ru-RU" dirty="0"/>
              <a:t>изменяется только один объект </a:t>
            </a:r>
          </a:p>
          <a:p>
            <a:r>
              <a:rPr lang="ru-RU" b="1" dirty="0"/>
              <a:t>Когда использовать:</a:t>
            </a:r>
            <a:endParaRPr lang="ru-RU" dirty="0"/>
          </a:p>
          <a:p>
            <a:pPr lvl="1"/>
            <a:r>
              <a:rPr lang="ru-RU" dirty="0" err="1"/>
              <a:t>swap</a:t>
            </a:r>
            <a:r>
              <a:rPr lang="ru-RU" dirty="0"/>
              <a:t> — когда нужно поменять местами значения </a:t>
            </a:r>
          </a:p>
          <a:p>
            <a:pPr lvl="1"/>
            <a:r>
              <a:rPr lang="ru-RU" dirty="0" err="1"/>
              <a:t>exchange</a:t>
            </a:r>
            <a:r>
              <a:rPr lang="ru-RU" dirty="0"/>
              <a:t> — когда нужно</a:t>
            </a:r>
            <a:r>
              <a:rPr lang="en-US" dirty="0"/>
              <a:t> </a:t>
            </a:r>
            <a:r>
              <a:rPr lang="ru-RU" dirty="0"/>
              <a:t>забрать значение и оставить объект в новом состоянии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884C9E-A9EE-36F6-4DB2-CD89D77190F3}"/>
              </a:ext>
            </a:extLst>
          </p:cNvPr>
          <p:cNvSpPr/>
          <p:nvPr/>
        </p:nvSpPr>
        <p:spPr>
          <a:xfrm>
            <a:off x="7824192" y="3598383"/>
            <a:ext cx="1944216" cy="936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FB44E5-7C3E-5B93-D309-1B48335CEF97}"/>
              </a:ext>
            </a:extLst>
          </p:cNvPr>
          <p:cNvSpPr txBox="1"/>
          <p:nvPr/>
        </p:nvSpPr>
        <p:spPr>
          <a:xfrm>
            <a:off x="8148776" y="3881769"/>
            <a:ext cx="1295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oldValue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70650-8CB4-BC75-AFFA-11F0EC010DD1}"/>
              </a:ext>
            </a:extLst>
          </p:cNvPr>
          <p:cNvSpPr txBox="1"/>
          <p:nvPr/>
        </p:nvSpPr>
        <p:spPr>
          <a:xfrm>
            <a:off x="10125160" y="3881769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newValue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08550E-3125-05AB-4737-2B3314BA9310}"/>
              </a:ext>
            </a:extLst>
          </p:cNvPr>
          <p:cNvSpPr/>
          <p:nvPr/>
        </p:nvSpPr>
        <p:spPr>
          <a:xfrm>
            <a:off x="7791085" y="1847103"/>
            <a:ext cx="1944216" cy="936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857EEC-112C-4105-24D4-FFF16259829D}"/>
              </a:ext>
            </a:extLst>
          </p:cNvPr>
          <p:cNvSpPr/>
          <p:nvPr/>
        </p:nvSpPr>
        <p:spPr>
          <a:xfrm>
            <a:off x="9909136" y="1847103"/>
            <a:ext cx="1944216" cy="936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5A9D74-4F4D-D42F-D293-6BD262ED19D1}"/>
              </a:ext>
            </a:extLst>
          </p:cNvPr>
          <p:cNvSpPr txBox="1"/>
          <p:nvPr/>
        </p:nvSpPr>
        <p:spPr>
          <a:xfrm>
            <a:off x="8148776" y="2136532"/>
            <a:ext cx="1295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ValueA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642C8E-F7AC-4EF9-4182-C84AF3B8F74A}"/>
              </a:ext>
            </a:extLst>
          </p:cNvPr>
          <p:cNvSpPr txBox="1"/>
          <p:nvPr/>
        </p:nvSpPr>
        <p:spPr>
          <a:xfrm>
            <a:off x="10092992" y="213653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ValueB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44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4.07407E-6 L 0.04519 0.08078 C 0.05456 0.09907 0.06875 0.10879 0.0836 0.10879 C 0.10026 0.10879 0.11394 0.09907 0.12331 0.08078 L 0.16836 4.07407E-6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11" y="544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4.07407E-6 L -0.04518 -0.07037 C -0.05455 -0.08635 -0.06862 -0.09468 -0.08346 -0.09468 C -0.10026 -0.09468 -0.1138 -0.08635 -0.12317 -0.07037 L -0.16823 4.07407E-6 " pathEditMode="relative" rAng="0" ptsTypes="AAAAA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11" y="-4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-0.04283 -0.07037 C -0.05169 -0.08634 -0.0651 -0.09467 -0.07916 -0.09467 C -0.09505 -0.09467 -0.10794 -0.08634 -0.11679 -0.07037 L -0.1595 -4.07407E-6 " pathEditMode="relative" rAng="0" ptsTypes="AAAAA">
                                      <p:cBhvr>
                                        <p:cTn id="4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82" y="-4745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07407E-6 L -0.04518 -0.07037 C -0.05456 -0.08634 -0.06862 -0.09467 -0.08347 -0.09467 C -0.10026 -0.09467 -0.1138 -0.08634 -0.12318 -0.07037 L -0.16823 -4.07407E-6 " pathEditMode="relative" rAng="0" ptsTypes="AAAAA">
                                      <p:cBhvr>
                                        <p:cTn id="4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11" y="-4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12" grpId="0"/>
      <p:bldP spid="13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Перемещающий оператор присваивания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ru-RU" b="1" dirty="0" err="1"/>
              <a:t>Move</a:t>
            </a:r>
            <a:r>
              <a:rPr lang="ru-RU" b="1" dirty="0"/>
              <a:t>-оператор присваивания:</a:t>
            </a:r>
            <a:endParaRPr lang="ru-RU" dirty="0"/>
          </a:p>
          <a:p>
            <a:pPr lvl="1"/>
            <a:r>
              <a:rPr lang="ru-RU" dirty="0"/>
              <a:t>Type&amp; </a:t>
            </a:r>
            <a:r>
              <a:rPr lang="ru-RU" dirty="0" err="1"/>
              <a:t>operator</a:t>
            </a:r>
            <a:r>
              <a:rPr lang="ru-RU" dirty="0"/>
              <a:t>=(Type&amp;&amp; </a:t>
            </a:r>
            <a:r>
              <a:rPr lang="ru-RU" dirty="0" err="1"/>
              <a:t>other</a:t>
            </a:r>
            <a:r>
              <a:rPr lang="ru-RU" dirty="0"/>
              <a:t>);</a:t>
            </a:r>
          </a:p>
          <a:p>
            <a:r>
              <a:rPr lang="ru-RU" b="1" dirty="0"/>
              <a:t>Идея:</a:t>
            </a:r>
            <a:endParaRPr lang="ru-RU" dirty="0"/>
          </a:p>
          <a:p>
            <a:pPr lvl="1"/>
            <a:r>
              <a:rPr lang="ru-RU" dirty="0"/>
              <a:t>объект уже существует </a:t>
            </a:r>
          </a:p>
          <a:p>
            <a:pPr lvl="1"/>
            <a:r>
              <a:rPr lang="ru-RU" dirty="0"/>
              <a:t>нужно перенести ресурсы из другого объекта </a:t>
            </a:r>
          </a:p>
          <a:p>
            <a:r>
              <a:rPr lang="ru-RU" b="1" dirty="0"/>
              <a:t>Важно:</a:t>
            </a:r>
            <a:endParaRPr lang="ru-RU" dirty="0"/>
          </a:p>
          <a:p>
            <a:pPr lvl="1"/>
            <a:r>
              <a:rPr lang="ru-RU" dirty="0"/>
              <a:t>проверка на </a:t>
            </a:r>
            <a:r>
              <a:rPr lang="ru-RU" b="1" dirty="0" err="1"/>
              <a:t>самоприсваивание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корректная работа с ресурсами </a:t>
            </a:r>
          </a:p>
          <a:p>
            <a:pPr lvl="1"/>
            <a:r>
              <a:rPr lang="ru-RU" dirty="0"/>
              <a:t>исходный объект остаётся </a:t>
            </a:r>
            <a:r>
              <a:rPr lang="ru-RU" b="1" dirty="0"/>
              <a:t>валидным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C790E4-772B-AB39-9878-C52384B49A27}"/>
              </a:ext>
            </a:extLst>
          </p:cNvPr>
          <p:cNvSpPr txBox="1"/>
          <p:nvPr/>
        </p:nvSpPr>
        <p:spPr>
          <a:xfrm>
            <a:off x="6240016" y="1846461"/>
            <a:ext cx="58079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operator=(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&amp;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освободить свои ресурсы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забрать ресурсы у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other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привести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other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корректное состояние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38366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33A3F1-30E2-4363-A2AE-CF11F1FDF232}"/>
              </a:ext>
            </a:extLst>
          </p:cNvPr>
          <p:cNvSpPr txBox="1"/>
          <p:nvPr/>
        </p:nvSpPr>
        <p:spPr>
          <a:xfrm>
            <a:off x="551384" y="1"/>
            <a:ext cx="108012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 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…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String(String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std::exchange(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std::exchange(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hlinkClick r:id="rId3"/>
              </a:rPr>
              <a:t>std::exchange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s_emptyString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operator=(String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other)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&amp;other)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std::swap(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std::swap(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std::swap(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other.m_chars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s_emptyString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{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m_chars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s_emptyString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29230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92345-088A-1F80-8D27-6FDE0E42B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нужен </a:t>
            </a:r>
            <a:r>
              <a:rPr lang="ru-RU" dirty="0" err="1"/>
              <a:t>move</a:t>
            </a:r>
            <a:r>
              <a:rPr lang="ru-RU" dirty="0"/>
              <a:t>-конструктор и </a:t>
            </a:r>
            <a:r>
              <a:rPr lang="ru-RU" dirty="0" err="1"/>
              <a:t>move</a:t>
            </a:r>
            <a:r>
              <a:rPr lang="ru-RU" dirty="0"/>
              <a:t>-оператор присваивания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CA78D-865D-DA7C-C46E-B5E19264A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Имеет смысл реализовывать, если:</a:t>
            </a:r>
          </a:p>
          <a:p>
            <a:pPr lvl="1"/>
            <a:r>
              <a:rPr lang="ru-RU" dirty="0"/>
              <a:t>класс управляет ресурсами (память, файлы, сокеты и т.п.) </a:t>
            </a:r>
          </a:p>
          <a:p>
            <a:pPr lvl="1"/>
            <a:r>
              <a:rPr lang="ru-RU" dirty="0"/>
              <a:t>копирование — дорогая операция </a:t>
            </a:r>
          </a:p>
          <a:p>
            <a:pPr lvl="1"/>
            <a:r>
              <a:rPr lang="ru-RU" dirty="0"/>
              <a:t>можно реализовать перемещение дешевле копирования </a:t>
            </a:r>
          </a:p>
          <a:p>
            <a:pPr lvl="1"/>
            <a:r>
              <a:rPr lang="ru-RU" dirty="0"/>
              <a:t>копирование не имеет смысла, а перемещение — имеет</a:t>
            </a:r>
          </a:p>
          <a:p>
            <a:r>
              <a:rPr lang="ru-RU" dirty="0"/>
              <a:t>Обычно не нужен, если:</a:t>
            </a:r>
          </a:p>
          <a:p>
            <a:pPr lvl="1"/>
            <a:r>
              <a:rPr lang="ru-RU" dirty="0"/>
              <a:t>класс содержит только простые типы </a:t>
            </a:r>
          </a:p>
          <a:p>
            <a:pPr lvl="1"/>
            <a:r>
              <a:rPr lang="ru-RU" dirty="0"/>
              <a:t>используются типы, которые уже поддерживают </a:t>
            </a:r>
            <a:r>
              <a:rPr lang="ru-RU" dirty="0" err="1"/>
              <a:t>move</a:t>
            </a:r>
            <a:r>
              <a:rPr lang="ru-RU" dirty="0"/>
              <a:t> (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string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vector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компилятор может сгенерировать </a:t>
            </a:r>
            <a:r>
              <a:rPr lang="ru-RU" dirty="0" err="1"/>
              <a:t>move</a:t>
            </a:r>
            <a:r>
              <a:rPr lang="ru-RU" dirty="0"/>
              <a:t> автоматически </a:t>
            </a:r>
          </a:p>
          <a:p>
            <a:r>
              <a:rPr lang="ru-RU" dirty="0"/>
              <a:t>Не имеет смысла, если:</a:t>
            </a:r>
            <a:endParaRPr lang="en-US" dirty="0"/>
          </a:p>
          <a:p>
            <a:pPr lvl="1"/>
            <a:r>
              <a:rPr lang="ru-RU" dirty="0"/>
              <a:t>перемещение ≈ копирование (нет выигрыша)</a:t>
            </a:r>
          </a:p>
        </p:txBody>
      </p:sp>
    </p:spTree>
    <p:extLst>
      <p:ext uri="{BB962C8B-B14F-4D97-AF65-F5344CB8AC3E}">
        <p14:creationId xmlns:p14="http://schemas.microsoft.com/office/powerpoint/2010/main" val="145637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7156-E189-5979-4A32-1A1F7D3B6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Правило трёх, пяти и нуля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8ECF-BAD5-5EFA-189F-046F8008F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Правило трёх (C++98):</a:t>
            </a:r>
          </a:p>
          <a:p>
            <a:pPr lvl="1"/>
            <a:r>
              <a:rPr lang="ru-RU" dirty="0"/>
              <a:t>Если класс реализует хотя бы один из:</a:t>
            </a:r>
          </a:p>
          <a:p>
            <a:pPr lvl="2"/>
            <a:r>
              <a:rPr lang="ru-RU" dirty="0"/>
              <a:t>деструктор </a:t>
            </a:r>
          </a:p>
          <a:p>
            <a:pPr lvl="2"/>
            <a:r>
              <a:rPr lang="ru-RU" dirty="0"/>
              <a:t>копирующий конструктор </a:t>
            </a:r>
          </a:p>
          <a:p>
            <a:pPr lvl="2"/>
            <a:r>
              <a:rPr lang="ru-RU" dirty="0"/>
              <a:t>оператор присваивания </a:t>
            </a:r>
          </a:p>
          <a:p>
            <a:pPr lvl="1"/>
            <a:r>
              <a:rPr lang="ru-RU" dirty="0"/>
              <a:t>скорее всего, нужно реализовать все три</a:t>
            </a:r>
          </a:p>
          <a:p>
            <a:r>
              <a:rPr lang="ru-RU" dirty="0"/>
              <a:t>Правило пяти (C++11):</a:t>
            </a:r>
          </a:p>
          <a:p>
            <a:pPr lvl="1"/>
            <a:r>
              <a:rPr lang="ru-RU" dirty="0"/>
              <a:t>Добавляются: </a:t>
            </a:r>
            <a:r>
              <a:rPr lang="ru-RU" dirty="0" err="1"/>
              <a:t>move</a:t>
            </a:r>
            <a:r>
              <a:rPr lang="ru-RU" dirty="0"/>
              <a:t>-конструктор и </a:t>
            </a:r>
            <a:r>
              <a:rPr lang="ru-RU" dirty="0" err="1"/>
              <a:t>move</a:t>
            </a:r>
            <a:r>
              <a:rPr lang="ru-RU" dirty="0"/>
              <a:t>-оператор присваивания </a:t>
            </a:r>
          </a:p>
          <a:p>
            <a:pPr lvl="1"/>
            <a:r>
              <a:rPr lang="ru-RU" dirty="0"/>
              <a:t>если реализуете один — подумайте о всех пяти</a:t>
            </a:r>
          </a:p>
          <a:p>
            <a:r>
              <a:rPr lang="ru-RU" dirty="0"/>
              <a:t>Правило нуля (современный C++):</a:t>
            </a:r>
          </a:p>
          <a:p>
            <a:pPr lvl="1"/>
            <a:r>
              <a:rPr lang="ru-RU" dirty="0"/>
              <a:t>не управляйте ресурсами вручную </a:t>
            </a:r>
          </a:p>
          <a:p>
            <a:pPr lvl="1"/>
            <a:r>
              <a:rPr lang="ru-RU" dirty="0"/>
              <a:t>используйте готовые типы (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string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vector</a:t>
            </a:r>
            <a:r>
              <a:rPr lang="ru-RU" dirty="0"/>
              <a:t>, </a:t>
            </a:r>
            <a:r>
              <a:rPr lang="ru-RU" dirty="0" err="1"/>
              <a:t>unique_ptr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тогда ничего реализовывать не нужно</a:t>
            </a:r>
          </a:p>
        </p:txBody>
      </p:sp>
    </p:spTree>
    <p:extLst>
      <p:ext uri="{BB962C8B-B14F-4D97-AF65-F5344CB8AC3E}">
        <p14:creationId xmlns:p14="http://schemas.microsoft.com/office/powerpoint/2010/main" val="262618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4D524-05F2-447A-859E-8FCF9A93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Конструкторы и деструкторы в действии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DB38A-E422-475B-8076-D688892D5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751651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77EC5A-0D50-7F08-503D-0B92393C8862}"/>
              </a:ext>
            </a:extLst>
          </p:cNvPr>
          <p:cNvSpPr txBox="1"/>
          <p:nvPr/>
        </p:nvSpPr>
        <p:spPr>
          <a:xfrm>
            <a:off x="838200" y="2060848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Foo() { std::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"Default </a:t>
            </a:r>
            <a:r>
              <a:rPr lang="en-US" kern="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ctor</a:t>
            </a:r>
            <a:r>
              <a:rPr lang="en-US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\n"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Foo(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&amp;) { std::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"Copy </a:t>
            </a:r>
            <a:r>
              <a:rPr lang="en-US" kern="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ctor</a:t>
            </a:r>
            <a:r>
              <a:rPr lang="en-US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\n"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Foo(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&amp;&amp;) { std::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"Move </a:t>
            </a:r>
            <a:r>
              <a:rPr lang="en-US" kern="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ctor</a:t>
            </a:r>
            <a:r>
              <a:rPr lang="en-US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\n"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operator=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&amp;) {</a:t>
            </a: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std::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"Copy assign\n"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operator=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&amp;&amp;) {</a:t>
            </a: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std::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"Move assign\n"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~Foo() { std::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kern="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Dtor</a:t>
            </a:r>
            <a:r>
              <a:rPr lang="en-US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\n"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}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8EBF4-FD90-4D0C-B463-F51893B61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Конструкторы и операции присваивания в действии</a:t>
            </a:r>
          </a:p>
        </p:txBody>
      </p:sp>
    </p:spTree>
    <p:extLst>
      <p:ext uri="{BB962C8B-B14F-4D97-AF65-F5344CB8AC3E}">
        <p14:creationId xmlns:p14="http://schemas.microsoft.com/office/powerpoint/2010/main" val="19145429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CC3EB7-270D-49F3-F9D7-8B6C74DF0A36}"/>
              </a:ext>
            </a:extLst>
          </p:cNvPr>
          <p:cNvSpPr txBox="1"/>
          <p:nvPr/>
        </p:nvSpPr>
        <p:spPr>
          <a:xfrm>
            <a:off x="1524001" y="1"/>
            <a:ext cx="4355976" cy="6788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ByVal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{}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Create() {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{}; }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Create2() {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foo;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Create3(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returnA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){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a, b;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returnA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? a : b;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main() {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kern="0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kern="100" dirty="0">
              <a:highlight>
                <a:srgbClr val="FFFF00"/>
              </a:highlight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kern="0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ByVal</a:t>
            </a:r>
            <a:r>
              <a:rPr lang="en-US" kern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(foo);</a:t>
            </a:r>
            <a:endParaRPr lang="ru-RU" kern="100" dirty="0">
              <a:highlight>
                <a:srgbClr val="00FF00"/>
              </a:highlight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kern="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ByVal</a:t>
            </a:r>
            <a:r>
              <a:rPr lang="en-US" kern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2B91AF"/>
                </a:solidFill>
                <a:highlight>
                  <a:srgbClr val="00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kern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{});</a:t>
            </a:r>
            <a:endParaRPr lang="ru-RU" kern="100" dirty="0">
              <a:highlight>
                <a:srgbClr val="00FFFF"/>
              </a:highlight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kern="0" dirty="0" err="1">
                <a:solidFill>
                  <a:srgbClr val="000000"/>
                </a:solidFill>
                <a:highlight>
                  <a:srgbClr val="FF00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ByVal</a:t>
            </a:r>
            <a:r>
              <a:rPr lang="en-US" kern="0" dirty="0">
                <a:solidFill>
                  <a:srgbClr val="000000"/>
                </a:solidFill>
                <a:highlight>
                  <a:srgbClr val="FF00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(std::move(foo));</a:t>
            </a:r>
            <a:endParaRPr lang="ru-RU" kern="100" dirty="0">
              <a:highlight>
                <a:srgbClr val="FF00FF"/>
              </a:highlight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kern="100" dirty="0">
              <a:highlight>
                <a:srgbClr val="C0C0C0"/>
              </a:highlight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Create();</a:t>
            </a:r>
            <a:endParaRPr lang="ru-RU" kern="100" dirty="0">
              <a:highlight>
                <a:srgbClr val="FFFF00"/>
              </a:highlight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Create2();</a:t>
            </a:r>
            <a:endParaRPr lang="ru-RU" kern="100" dirty="0">
              <a:highlight>
                <a:srgbClr val="00FF00"/>
              </a:highlight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Create3(</a:t>
            </a:r>
            <a:r>
              <a:rPr lang="en-US" kern="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kern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kern="100" dirty="0">
              <a:highlight>
                <a:srgbClr val="00FFFF"/>
              </a:highlight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highlight>
                  <a:srgbClr val="FF00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auto</a:t>
            </a:r>
            <a:r>
              <a:rPr lang="en-US" kern="0" dirty="0">
                <a:solidFill>
                  <a:srgbClr val="000000"/>
                </a:solidFill>
                <a:highlight>
                  <a:srgbClr val="FF00FF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 = Create2();</a:t>
            </a:r>
            <a:endParaRPr lang="ru-RU" kern="100" dirty="0">
              <a:highlight>
                <a:srgbClr val="FF00FF"/>
              </a:highlight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kern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ru-RU" kern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ru-RU" kern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ru-RU" kern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kern="0" dirty="0">
                <a:solidFill>
                  <a:srgbClr val="00808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ru-RU" kern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kern="0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"--\n"</a:t>
            </a:r>
            <a:r>
              <a:rPr lang="ru-RU" kern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kern="100" dirty="0">
              <a:highlight>
                <a:srgbClr val="FFFF00"/>
              </a:highlight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kern="0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highlight>
                <a:srgbClr val="C0C0C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C6A605-9668-5355-71BF-34F57C5199ED}"/>
              </a:ext>
            </a:extLst>
          </p:cNvPr>
          <p:cNvSpPr txBox="1"/>
          <p:nvPr/>
        </p:nvSpPr>
        <p:spPr>
          <a:xfrm>
            <a:off x="6744073" y="948690"/>
            <a:ext cx="392392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highlight>
                  <a:srgbClr val="FFFF00"/>
                </a:highlight>
                <a:latin typeface="Consolas" panose="020B0609020204030204" pitchFamily="49" charset="0"/>
              </a:rPr>
              <a:t>Default</a:t>
            </a:r>
            <a:r>
              <a:rPr lang="ru-RU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FFFF00"/>
                </a:highlight>
                <a:latin typeface="Consolas" panose="020B0609020204030204" pitchFamily="49" charset="0"/>
              </a:rPr>
              <a:t>ctor</a:t>
            </a:r>
            <a:endParaRPr lang="ru-RU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Copy</a:t>
            </a:r>
            <a:r>
              <a:rPr lang="ru-RU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ctor</a:t>
            </a:r>
            <a:endParaRPr lang="ru-RU" dirty="0"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Dtor</a:t>
            </a:r>
            <a:endParaRPr lang="ru-RU" dirty="0"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Default</a:t>
            </a:r>
            <a:r>
              <a:rPr lang="ru-RU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ctor</a:t>
            </a:r>
            <a:endParaRPr lang="ru-RU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Dtor</a:t>
            </a:r>
            <a:endParaRPr lang="ru-RU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FF00FF"/>
                </a:highlight>
                <a:latin typeface="Consolas" panose="020B0609020204030204" pitchFamily="49" charset="0"/>
              </a:rPr>
              <a:t>Move</a:t>
            </a:r>
            <a:r>
              <a:rPr lang="ru-RU" dirty="0">
                <a:highlight>
                  <a:srgbClr val="FF00FF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FF00FF"/>
                </a:highlight>
                <a:latin typeface="Consolas" panose="020B0609020204030204" pitchFamily="49" charset="0"/>
              </a:rPr>
              <a:t>ctor</a:t>
            </a:r>
            <a:endParaRPr lang="ru-RU" dirty="0">
              <a:highlight>
                <a:srgbClr val="FF00FF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FF00FF"/>
                </a:highlight>
                <a:latin typeface="Consolas" panose="020B0609020204030204" pitchFamily="49" charset="0"/>
              </a:rPr>
              <a:t>Dtor</a:t>
            </a:r>
            <a:endParaRPr lang="ru-RU" dirty="0">
              <a:highlight>
                <a:srgbClr val="FF00FF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C0C0C0"/>
                </a:highlight>
                <a:latin typeface="Consolas" panose="020B0609020204030204" pitchFamily="49" charset="0"/>
              </a:rPr>
              <a:t>Dtor</a:t>
            </a:r>
            <a:endParaRPr lang="ru-RU" dirty="0"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FFFF00"/>
                </a:highlight>
                <a:latin typeface="Consolas" panose="020B0609020204030204" pitchFamily="49" charset="0"/>
              </a:rPr>
              <a:t>Default</a:t>
            </a:r>
            <a:r>
              <a:rPr lang="ru-RU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FFFF00"/>
                </a:highlight>
                <a:latin typeface="Consolas" panose="020B0609020204030204" pitchFamily="49" charset="0"/>
              </a:rPr>
              <a:t>ctor</a:t>
            </a:r>
            <a:endParaRPr lang="ru-RU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FFFF00"/>
                </a:highlight>
                <a:latin typeface="Consolas" panose="020B0609020204030204" pitchFamily="49" charset="0"/>
              </a:rPr>
              <a:t>Dtor</a:t>
            </a:r>
            <a:endParaRPr lang="ru-RU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Default</a:t>
            </a:r>
            <a:r>
              <a:rPr lang="ru-RU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ctor</a:t>
            </a:r>
            <a:endParaRPr lang="ru-RU" dirty="0"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Dtor</a:t>
            </a:r>
            <a:endParaRPr lang="ru-RU" dirty="0"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Default</a:t>
            </a:r>
            <a:r>
              <a:rPr lang="ru-RU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ctor</a:t>
            </a:r>
            <a:endParaRPr lang="ru-RU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Default</a:t>
            </a:r>
            <a:r>
              <a:rPr lang="ru-RU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ctor</a:t>
            </a:r>
            <a:endParaRPr lang="ru-RU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Copy</a:t>
            </a:r>
            <a:r>
              <a:rPr lang="ru-RU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ctor</a:t>
            </a:r>
            <a:endParaRPr lang="ru-RU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Dtor</a:t>
            </a:r>
            <a:endParaRPr lang="ru-RU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Dtor</a:t>
            </a:r>
            <a:endParaRPr lang="ru-RU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Dtor</a:t>
            </a:r>
            <a:endParaRPr lang="ru-RU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FF00FF"/>
                </a:highlight>
                <a:latin typeface="Consolas" panose="020B0609020204030204" pitchFamily="49" charset="0"/>
              </a:rPr>
              <a:t>Default</a:t>
            </a:r>
            <a:r>
              <a:rPr lang="ru-RU" dirty="0">
                <a:highlight>
                  <a:srgbClr val="FF00FF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FF00FF"/>
                </a:highlight>
                <a:latin typeface="Consolas" panose="020B0609020204030204" pitchFamily="49" charset="0"/>
              </a:rPr>
              <a:t>ctor</a:t>
            </a:r>
            <a:endParaRPr lang="en-US" dirty="0">
              <a:highlight>
                <a:srgbClr val="FF00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--</a:t>
            </a:r>
            <a:endParaRPr lang="ru-RU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C0C0C0"/>
                </a:highlight>
                <a:latin typeface="Consolas" panose="020B0609020204030204" pitchFamily="49" charset="0"/>
              </a:rPr>
              <a:t>Dtor</a:t>
            </a:r>
            <a:endParaRPr lang="ru-RU" dirty="0"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7ECF3-B20F-0086-99F0-144E0AE13ACD}"/>
              </a:ext>
            </a:extLst>
          </p:cNvPr>
          <p:cNvSpPr txBox="1"/>
          <p:nvPr/>
        </p:nvSpPr>
        <p:spPr>
          <a:xfrm>
            <a:off x="5340424" y="69731"/>
            <a:ext cx="5364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https://wandbox.org/permlink/0c2uBSY425nzNgiO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47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Статические методы класса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4A41AB-14C6-43DD-A44E-4C194BD71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D91C69-2050-4C52-9A80-CF7CDFFD77D4}"/>
              </a:ext>
            </a:extLst>
          </p:cNvPr>
          <p:cNvSpPr/>
          <p:nvPr/>
        </p:nvSpPr>
        <p:spPr>
          <a:xfrm>
            <a:off x="119336" y="32632"/>
            <a:ext cx="11377264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SelectChannel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channel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m_isTurnedOn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||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IsValidChannel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channel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m_channel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channel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IsValidChannel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channel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channel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channel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99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m_isTurnedOn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m_channel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endParaRPr lang="de-DE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TV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tv1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tv2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Не имеет значения, у какого телевизора вызван метод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IsValidChannel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tv1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IsValidChannel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tv2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IsValidChannel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95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0294F-5997-474A-8A73-4D1DB60F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методы класса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3301-2FCC-4E11-B817-31251E4F4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Статические методы:</a:t>
            </a:r>
          </a:p>
          <a:p>
            <a:pPr lvl="1"/>
            <a:r>
              <a:rPr lang="ru-RU" dirty="0"/>
              <a:t>объявляются с ключевым словом </a:t>
            </a:r>
            <a:r>
              <a:rPr lang="ru-RU" dirty="0" err="1"/>
              <a:t>static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не привязаны к конкретному объекту </a:t>
            </a:r>
          </a:p>
          <a:p>
            <a:pPr lvl="2"/>
            <a:r>
              <a:rPr lang="ru-RU" dirty="0" err="1"/>
              <a:t>class</a:t>
            </a:r>
            <a:r>
              <a:rPr lang="ru-RU" dirty="0"/>
              <a:t> </a:t>
            </a:r>
            <a:r>
              <a:rPr lang="ru-RU" dirty="0" err="1"/>
              <a:t>Math</a:t>
            </a:r>
            <a:r>
              <a:rPr lang="ru-RU" dirty="0"/>
              <a:t> {</a:t>
            </a:r>
            <a:br>
              <a:rPr lang="ru-RU" dirty="0"/>
            </a:br>
            <a:r>
              <a:rPr lang="ru-RU" dirty="0" err="1"/>
              <a:t>public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    </a:t>
            </a:r>
            <a:r>
              <a:rPr lang="ru-RU" dirty="0" err="1"/>
              <a:t>static</a:t>
            </a:r>
            <a:r>
              <a:rPr lang="ru-RU" dirty="0"/>
              <a:t> </a:t>
            </a:r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Add</a:t>
            </a:r>
            <a:r>
              <a:rPr lang="ru-RU" dirty="0"/>
              <a:t>(</a:t>
            </a:r>
            <a:r>
              <a:rPr lang="ru-RU" dirty="0" err="1"/>
              <a:t>int</a:t>
            </a:r>
            <a:r>
              <a:rPr lang="ru-RU" dirty="0"/>
              <a:t> a, </a:t>
            </a:r>
            <a:r>
              <a:rPr lang="ru-RU" dirty="0" err="1"/>
              <a:t>int</a:t>
            </a:r>
            <a:r>
              <a:rPr lang="ru-RU" dirty="0"/>
              <a:t> b) {</a:t>
            </a:r>
            <a:br>
              <a:rPr lang="ru-RU" dirty="0"/>
            </a:br>
            <a:r>
              <a:rPr lang="ru-RU" dirty="0"/>
              <a:t>        </a:t>
            </a:r>
            <a:r>
              <a:rPr lang="ru-RU" dirty="0" err="1"/>
              <a:t>return</a:t>
            </a:r>
            <a:r>
              <a:rPr lang="ru-RU" dirty="0"/>
              <a:t> a + b;</a:t>
            </a:r>
            <a:br>
              <a:rPr lang="ru-RU" dirty="0"/>
            </a:br>
            <a:r>
              <a:rPr lang="ru-RU" dirty="0"/>
              <a:t>    }</a:t>
            </a:r>
            <a:br>
              <a:rPr lang="ru-RU" dirty="0"/>
            </a:br>
            <a:r>
              <a:rPr lang="ru-RU" dirty="0"/>
              <a:t>};</a:t>
            </a:r>
            <a:br>
              <a:rPr lang="ru-RU" dirty="0"/>
            </a:br>
            <a:br>
              <a:rPr lang="ru-RU" dirty="0"/>
            </a:br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result</a:t>
            </a:r>
            <a:r>
              <a:rPr lang="ru-RU" dirty="0"/>
              <a:t> = </a:t>
            </a:r>
            <a:r>
              <a:rPr lang="ru-RU" dirty="0" err="1"/>
              <a:t>Math</a:t>
            </a:r>
            <a:r>
              <a:rPr lang="ru-RU" dirty="0"/>
              <a:t>::</a:t>
            </a:r>
            <a:r>
              <a:rPr lang="ru-RU" dirty="0" err="1"/>
              <a:t>Add</a:t>
            </a:r>
            <a:r>
              <a:rPr lang="ru-RU" dirty="0"/>
              <a:t>(2, 3);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не имеют указателя </a:t>
            </a:r>
            <a:r>
              <a:rPr lang="ru-RU" dirty="0" err="1"/>
              <a:t>this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могут обращаться только к статическим данным класса </a:t>
            </a:r>
          </a:p>
          <a:p>
            <a:pPr lvl="1"/>
            <a:r>
              <a:rPr lang="ru-RU" dirty="0"/>
              <a:t>вызываются через имя класса</a:t>
            </a:r>
          </a:p>
        </p:txBody>
      </p:sp>
    </p:spTree>
    <p:extLst>
      <p:ext uri="{BB962C8B-B14F-4D97-AF65-F5344CB8AC3E}">
        <p14:creationId xmlns:p14="http://schemas.microsoft.com/office/powerpoint/2010/main" val="11353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88BDC3-D265-4FAD-B61D-6ABB201E7992}"/>
              </a:ext>
            </a:extLst>
          </p:cNvPr>
          <p:cNvSpPr/>
          <p:nvPr/>
        </p:nvSpPr>
        <p:spPr>
          <a:xfrm>
            <a:off x="119336" y="1"/>
            <a:ext cx="11449272" cy="7155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TV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7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SelectChannel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channel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  <a:endParaRPr lang="ru-RU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de-DE" sz="17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Внутри метода класса статический метод вызывается по имени</a:t>
            </a:r>
            <a:endParaRPr lang="de-DE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700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m_isTurnedOn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000000"/>
                </a:solidFill>
                <a:latin typeface="Consolas" panose="020B0609020204030204" pitchFamily="49" charset="0"/>
              </a:rPr>
              <a:t>||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IsValidChannel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channel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ru-RU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  </a:t>
            </a:r>
            <a:r>
              <a:rPr lang="de-DE" sz="17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m_channel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channel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}</a:t>
            </a:r>
          </a:p>
          <a:p>
            <a:endParaRPr lang="de-DE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de-DE" sz="17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IsValidChannel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channel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) { </a:t>
            </a:r>
            <a:r>
              <a:rPr lang="de-DE" sz="17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  <a:t>const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 у статических методов не пишется</a:t>
            </a:r>
            <a:endParaRPr lang="de-DE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channel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000000"/>
                </a:solidFill>
                <a:latin typeface="Consolas" panose="020B0609020204030204" pitchFamily="49" charset="0"/>
              </a:rPr>
              <a:t>&gt;=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channel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000000"/>
                </a:solidFill>
                <a:latin typeface="Consolas" panose="020B0609020204030204" pitchFamily="49" charset="0"/>
              </a:rPr>
              <a:t>&lt;=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098658"/>
                </a:solidFill>
                <a:latin typeface="Consolas" panose="020B0609020204030204" pitchFamily="49" charset="0"/>
              </a:rPr>
              <a:t>99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}</a:t>
            </a:r>
          </a:p>
          <a:p>
            <a:b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7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m_isTurnedOn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m_channel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endParaRPr lang="de-DE" sz="17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TV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tv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008000"/>
                </a:solidFill>
                <a:latin typeface="Consolas" panose="020B0609020204030204" pitchFamily="49" charset="0"/>
              </a:rPr>
              <a:t>    //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 Вне класса статический метод вызывается с указанием имени класса</a:t>
            </a:r>
            <a:endParaRPr lang="de-DE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TV</a:t>
            </a:r>
            <a:r>
              <a:rPr lang="en-US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IsValidChannel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700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' 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endParaRPr lang="ru-RU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700" dirty="0">
                <a:solidFill>
                  <a:srgbClr val="3B3B3B"/>
                </a:solidFill>
                <a:latin typeface="Consolas" panose="020B0609020204030204" pitchFamily="49" charset="0"/>
              </a:rPr>
              <a:t>              </a:t>
            </a:r>
            <a:r>
              <a:rPr lang="de-DE" sz="17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 Можно указать и имя объекта, но так обычно не делают</a:t>
            </a:r>
            <a:endParaRPr lang="de-DE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001080"/>
                </a:solidFill>
                <a:latin typeface="Consolas" panose="020B0609020204030204" pitchFamily="49" charset="0"/>
              </a:rPr>
              <a:t>tv1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IsValidChannel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7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ru-RU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309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0CFBDD-FD77-40A5-BCA2-88B308852991}"/>
              </a:ext>
            </a:extLst>
          </p:cNvPr>
          <p:cNvSpPr/>
          <p:nvPr/>
        </p:nvSpPr>
        <p:spPr>
          <a:xfrm>
            <a:off x="227348" y="116632"/>
            <a:ext cx="1173730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MyClass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StaticMethod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Ошибка: нельзя вызвать нестатический метод из статического.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FF0000"/>
                </a:solidFill>
                <a:latin typeface="Consolas" panose="020B0609020204030204" pitchFamily="49" charset="0"/>
              </a:rPr>
              <a:t>NonStaticMethod</a:t>
            </a:r>
            <a:r>
              <a:rPr lang="de-DE" dirty="0">
                <a:solidFill>
                  <a:srgbClr val="FF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Когда есть экземпляр класса, можно вызывать его нестатические методы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и обращаться к полям.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MyClass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myObject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myObject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NonStaticMethod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myObject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m_data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Из статических методов можно вызывать другие статические методы, даже приватные.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AnotherStaticMethod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NonStaticMethod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AnotherStaticMethod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m_data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42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DCB27-1DD8-4337-A93E-17367299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данные класса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E0503-BDDB-4FF2-9102-517FC7512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86731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AE45-E348-4247-BDD0-1E0AC6A44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поля класса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31587-9154-4C68-BAAD-F3EFC3783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Статическое поле:</a:t>
            </a:r>
          </a:p>
          <a:p>
            <a:pPr lvl="1"/>
            <a:r>
              <a:rPr lang="ru-RU" dirty="0"/>
              <a:t>общее для всех экземпляров класса </a:t>
            </a:r>
          </a:p>
          <a:p>
            <a:pPr lvl="1"/>
            <a:r>
              <a:rPr lang="ru-RU" dirty="0"/>
              <a:t>существует в единственном экземпляре </a:t>
            </a:r>
          </a:p>
          <a:p>
            <a:r>
              <a:rPr lang="ru-RU" dirty="0"/>
              <a:t>Жизненный цикл:</a:t>
            </a:r>
          </a:p>
          <a:p>
            <a:pPr lvl="1"/>
            <a:r>
              <a:rPr lang="ru-RU" dirty="0"/>
              <a:t>создаётся один раз </a:t>
            </a:r>
          </a:p>
          <a:p>
            <a:pPr lvl="1"/>
            <a:r>
              <a:rPr lang="ru-RU" dirty="0"/>
              <a:t>живёт всё время работы программы </a:t>
            </a:r>
          </a:p>
          <a:p>
            <a:r>
              <a:rPr lang="ru-RU" dirty="0"/>
              <a:t>Доступ:</a:t>
            </a:r>
          </a:p>
          <a:p>
            <a:pPr lvl="1"/>
            <a:r>
              <a:rPr lang="ru-RU" dirty="0" err="1"/>
              <a:t>ClassName</a:t>
            </a:r>
            <a:r>
              <a:rPr lang="ru-RU" dirty="0"/>
              <a:t>::</a:t>
            </a:r>
            <a:r>
              <a:rPr lang="ru-RU" dirty="0" err="1"/>
              <a:t>field</a:t>
            </a:r>
            <a:endParaRPr lang="ru-RU" dirty="0"/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не принадлежит конкретному объекту </a:t>
            </a:r>
          </a:p>
          <a:p>
            <a:pPr lvl="1"/>
            <a:r>
              <a:rPr lang="ru-RU" dirty="0"/>
              <a:t>доступно из статических методов </a:t>
            </a:r>
          </a:p>
          <a:p>
            <a:pPr lvl="1"/>
            <a:r>
              <a:rPr lang="ru-RU" dirty="0"/>
              <a:t>объявляется с ключевым словом </a:t>
            </a:r>
            <a:r>
              <a:rPr lang="ru-RU" dirty="0" err="1"/>
              <a:t>static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613531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74DB62-B932-4449-9B40-39466E79A85D}"/>
              </a:ext>
            </a:extLst>
          </p:cNvPr>
          <p:cNvSpPr/>
          <p:nvPr/>
        </p:nvSpPr>
        <p:spPr>
          <a:xfrm>
            <a:off x="479376" y="116632"/>
            <a:ext cx="1144927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NEUTRAL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FIRST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SECOND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THIRD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FOURTH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FIFTH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REVERSE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Определяет, допустимо ли ехать со скоростью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speed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когда включена передача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IsSpeedValidForGear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NEUTRAL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150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}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FIRST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}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(...)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...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} ...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endParaRPr lang="de-DE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m_engineIsOn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NEUTRAL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05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815F2FA-C205-433B-94A0-DDB9A92905AD}"/>
              </a:ext>
            </a:extLst>
          </p:cNvPr>
          <p:cNvSpPr/>
          <p:nvPr/>
        </p:nvSpPr>
        <p:spPr>
          <a:xfrm>
            <a:off x="479376" y="404664"/>
            <a:ext cx="1130525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GearSpeedRange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gear</a:t>
            </a:r>
            <a:r>
              <a:rPr lang="de-DE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r>
              <a:rPr lang="de-DE">
                <a:solidFill>
                  <a:srgbClr val="008000"/>
                </a:solidFill>
                <a:latin typeface="Consolas" panose="020B0609020204030204" pitchFamily="49" charset="0"/>
              </a:rPr>
              <a:t>    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Передача.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minSpeed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Минимальная скорость на этой передаче.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maxSpeed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Максимальная скорость на этой передаче.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...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IsSpeedValidForGear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 …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Таблица скоростей.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GearSpeedRange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m_speedTable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97531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161CC7-5FE1-465C-9F46-DA4BFD76C11C}"/>
              </a:ext>
            </a:extLst>
          </p:cNvPr>
          <p:cNvSpPr/>
          <p:nvPr/>
        </p:nvSpPr>
        <p:spPr>
          <a:xfrm>
            <a:off x="335360" y="620688"/>
            <a:ext cx="1166529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car.h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    …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IsSpeedValidForGear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m_engineIsOn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NEUTRAL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Объявляем таблицу диапазонов скоростей статической и константной,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    // чтобы она была одна всю программу и не изменялась.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GearSpeedRange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s_speedTable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04667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3FB970-0D0F-441C-BEEC-F464D8D75E32}"/>
              </a:ext>
            </a:extLst>
          </p:cNvPr>
          <p:cNvSpPr/>
          <p:nvPr/>
        </p:nvSpPr>
        <p:spPr>
          <a:xfrm>
            <a:off x="335360" y="260648"/>
            <a:ext cx="1137726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car.cpp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car.h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</a:p>
          <a:p>
            <a:endParaRPr lang="de-DE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Так объявляется статическая переменная за пределами класса.</a:t>
            </a:r>
            <a:endParaRPr lang="de-DE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GearSpeedRange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s_speedTable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NEUTRAL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150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FIRST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SECOND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50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THIRD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70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FOURTH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FIFTH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150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REVERSE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IsSpeedValidForGear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range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: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s_speedTable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range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range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minSpeed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range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maxSpeed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529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801BB8-F118-409C-ABEE-9F9E2715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статического поля внутри класса (начиная с++17)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4B711C-4349-4A44-AD17-D11FB76BD7DB}"/>
              </a:ext>
            </a:extLst>
          </p:cNvPr>
          <p:cNvSpPr/>
          <p:nvPr/>
        </p:nvSpPr>
        <p:spPr>
          <a:xfrm>
            <a:off x="767408" y="2060848"/>
            <a:ext cx="109452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Car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Так статическое поле объявляется и определяется внутри класса.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inline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vector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GearSpeedRange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s_speedTable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NEUTRAL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150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FIRST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SECOND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50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THIRD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70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FOURTH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40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FIFTH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150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{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Gear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0070C1"/>
                </a:solidFill>
                <a:latin typeface="Consolas" panose="020B0609020204030204" pitchFamily="49" charset="0"/>
              </a:rPr>
              <a:t>REVERSE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99500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0772-1F1E-405F-8B35-072A8CF8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поля в классах Стандартной Библиотеки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72FF6-BC5A-49C8-A02D-2FE84EE20827}"/>
              </a:ext>
            </a:extLst>
          </p:cNvPr>
          <p:cNvSpPr/>
          <p:nvPr/>
        </p:nvSpPr>
        <p:spPr>
          <a:xfrm>
            <a:off x="695400" y="2492896"/>
            <a:ext cx="1123324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text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"A quick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brown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fox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jumps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over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the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lazy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dog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needle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Иголка, которую мы будем искать в стоге сена.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&gt;&gt;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needle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Вводим текст для поиска.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Метод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find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возвращает позицию в строке, с которой начинается искомый текст.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Если текст не найден, возвращается значение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npos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size_t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found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A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t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text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find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needle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found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A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t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!=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b="1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b="1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b="1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npos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needle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is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found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at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position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found_at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needle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was not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found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194204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E8ACB-F3C0-42BE-A69B-EFE777CA0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данные и методы – итоги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E226F-9668-4B88-B056-938D8224D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Статические методы:</a:t>
            </a:r>
          </a:p>
          <a:p>
            <a:pPr lvl="1"/>
            <a:r>
              <a:rPr lang="ru-RU" dirty="0"/>
              <a:t>не привязаны к объекту (нет </a:t>
            </a:r>
            <a:r>
              <a:rPr lang="ru-RU" dirty="0" err="1"/>
              <a:t>this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работают только с переданными данными и статическими полями </a:t>
            </a:r>
          </a:p>
          <a:p>
            <a:pPr lvl="1"/>
            <a:r>
              <a:rPr lang="ru-RU" dirty="0"/>
              <a:t>вызываются через имя класса </a:t>
            </a:r>
          </a:p>
          <a:p>
            <a:r>
              <a:rPr lang="ru-RU" dirty="0"/>
              <a:t>Статические поля:</a:t>
            </a:r>
          </a:p>
          <a:p>
            <a:pPr lvl="1"/>
            <a:r>
              <a:rPr lang="ru-RU" dirty="0"/>
              <a:t>общие для всех экземпляров класса </a:t>
            </a:r>
          </a:p>
          <a:p>
            <a:pPr lvl="1"/>
            <a:r>
              <a:rPr lang="ru-RU" dirty="0"/>
              <a:t>существуют в единственном экземпляре </a:t>
            </a:r>
          </a:p>
          <a:p>
            <a:pPr lvl="1"/>
            <a:r>
              <a:rPr lang="ru-RU" dirty="0"/>
              <a:t>часто используются для констант и общих данных </a:t>
            </a:r>
          </a:p>
          <a:p>
            <a:r>
              <a:rPr lang="ru-RU" dirty="0"/>
              <a:t>Идея:</a:t>
            </a:r>
          </a:p>
          <a:p>
            <a:pPr lvl="1"/>
            <a:r>
              <a:rPr lang="ru-RU" dirty="0"/>
              <a:t>отделяем логику класса от состояния конкретного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136354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Вложенные классы</a:t>
            </a:r>
          </a:p>
        </p:txBody>
      </p:sp>
      <p:sp>
        <p:nvSpPr>
          <p:cNvPr id="2048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Вложенное объявление классов и других типов данных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dirty="0"/>
              <a:t>Язык </a:t>
            </a:r>
            <a:r>
              <a:rPr lang="en-US" dirty="0"/>
              <a:t>C++ </a:t>
            </a:r>
            <a:r>
              <a:rPr lang="ru-RU" dirty="0"/>
              <a:t>позволяет разместить объявление одного класса (или другого типа данных) внутри объявления другого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ru-RU" dirty="0"/>
              <a:t>Это полезно, когда вложенный тип данных используется лишь внешним классом, или совместно с ним</a:t>
            </a:r>
          </a:p>
          <a:p>
            <a:pPr lvl="2" indent="-246888">
              <a:buFont typeface="Wingdings 2"/>
              <a:buChar char=""/>
              <a:defRPr/>
            </a:pPr>
            <a:r>
              <a:rPr lang="ru-RU" dirty="0"/>
              <a:t>Пример - итераторы стандартных контейнеров </a:t>
            </a:r>
            <a:r>
              <a:rPr lang="en-US" dirty="0"/>
              <a:t>STL</a:t>
            </a:r>
            <a:endParaRPr lang="ru-RU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dirty="0"/>
              <a:t>Использование вложенного класса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ru-RU" dirty="0"/>
              <a:t>Из методов внешнего класса – по имени вложенного класса</a:t>
            </a:r>
          </a:p>
          <a:p>
            <a:pPr marL="640080" lvl="1" indent="-246888">
              <a:buFont typeface="Wingdings 2"/>
              <a:buChar char=""/>
              <a:defRPr/>
            </a:pPr>
            <a:r>
              <a:rPr lang="ru-RU" dirty="0"/>
              <a:t>Снаружи – при помощи указания имени внешнего класса:</a:t>
            </a:r>
          </a:p>
          <a:p>
            <a:pPr lvl="2" indent="-246888">
              <a:buFont typeface="Wingdings 2"/>
              <a:buChar char=""/>
              <a:defRPr/>
            </a:pPr>
            <a:r>
              <a:rPr lang="en-US" dirty="0" err="1"/>
              <a:t>ExternalClass</a:t>
            </a:r>
            <a:r>
              <a:rPr lang="en-US" dirty="0"/>
              <a:t>::Internal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Пример</a:t>
            </a:r>
            <a:r>
              <a:rPr lang="en-US" dirty="0"/>
              <a:t> 1</a:t>
            </a:r>
            <a:endParaRPr lang="ru-RU" dirty="0"/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2024034" y="1785926"/>
            <a:ext cx="7643842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539750"/>
            <a:r>
              <a:rPr lang="en-US" sz="1400" b="1" dirty="0">
                <a:latin typeface="Courier New" pitchFamily="49" charset="0"/>
              </a:rPr>
              <a:t>class External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{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public: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	class Internal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	{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	public: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		void </a:t>
            </a:r>
            <a:r>
              <a:rPr lang="en-US" sz="1400" b="1" dirty="0" err="1">
                <a:latin typeface="Courier New" pitchFamily="49" charset="0"/>
              </a:rPr>
              <a:t>Foo</a:t>
            </a:r>
            <a:r>
              <a:rPr lang="en-US" sz="1400" b="1" dirty="0">
                <a:latin typeface="Courier New" pitchFamily="49" charset="0"/>
              </a:rPr>
              <a:t>(){}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	};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private: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	void Bar()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	{</a:t>
            </a:r>
            <a:endParaRPr lang="ru-RU" sz="1400" b="1" dirty="0">
              <a:latin typeface="Courier New" pitchFamily="49" charset="0"/>
            </a:endParaRPr>
          </a:p>
          <a:p>
            <a:pPr defTabSz="539750"/>
            <a:r>
              <a:rPr lang="ru-RU" sz="1400" b="1" dirty="0">
                <a:latin typeface="Courier New" pitchFamily="49" charset="0"/>
              </a:rPr>
              <a:t>		</a:t>
            </a:r>
            <a:r>
              <a:rPr lang="en-US" sz="1400" b="1" dirty="0">
                <a:latin typeface="Courier New" pitchFamily="49" charset="0"/>
              </a:rPr>
              <a:t> // </a:t>
            </a:r>
            <a:r>
              <a:rPr lang="ru-RU" sz="1400" b="1" dirty="0">
                <a:latin typeface="Courier New" pitchFamily="49" charset="0"/>
              </a:rPr>
              <a:t>из методов внешнего класса можем обращаться по имени</a:t>
            </a:r>
            <a:endParaRPr lang="en-US" sz="1400" b="1" dirty="0">
              <a:latin typeface="Courier New" pitchFamily="49" charset="0"/>
            </a:endParaRPr>
          </a:p>
          <a:p>
            <a:pPr defTabSz="539750"/>
            <a:r>
              <a:rPr lang="en-US" sz="1400" b="1" dirty="0">
                <a:latin typeface="Courier New" pitchFamily="49" charset="0"/>
              </a:rPr>
              <a:t>		Internal </a:t>
            </a:r>
            <a:r>
              <a:rPr lang="en-US" sz="1400" b="1" dirty="0" err="1">
                <a:latin typeface="Courier New" pitchFamily="49" charset="0"/>
              </a:rPr>
              <a:t>internal</a:t>
            </a:r>
            <a:r>
              <a:rPr lang="en-US" sz="1400" b="1" dirty="0">
                <a:latin typeface="Courier New" pitchFamily="49" charset="0"/>
              </a:rPr>
              <a:t>;</a:t>
            </a:r>
            <a:endParaRPr lang="ru-RU" sz="1400" b="1" dirty="0">
              <a:latin typeface="Courier New" pitchFamily="49" charset="0"/>
            </a:endParaRPr>
          </a:p>
          <a:p>
            <a:pPr defTabSz="539750"/>
            <a:r>
              <a:rPr lang="en-US" sz="1400" b="1" dirty="0">
                <a:latin typeface="Courier New" pitchFamily="49" charset="0"/>
              </a:rPr>
              <a:t>		</a:t>
            </a:r>
            <a:r>
              <a:rPr lang="en-US" sz="1400" b="1" dirty="0" err="1">
                <a:latin typeface="Courier New" pitchFamily="49" charset="0"/>
              </a:rPr>
              <a:t>internal.Foo</a:t>
            </a:r>
            <a:r>
              <a:rPr lang="en-US" sz="1400" b="1" dirty="0">
                <a:latin typeface="Courier New" pitchFamily="49" charset="0"/>
              </a:rPr>
              <a:t>();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	}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};</a:t>
            </a:r>
            <a:endParaRPr lang="ru-RU" sz="1400" b="1" dirty="0">
              <a:latin typeface="Courier New" pitchFamily="49" charset="0"/>
            </a:endParaRPr>
          </a:p>
          <a:p>
            <a:pPr defTabSz="539750"/>
            <a:endParaRPr lang="ru-RU" sz="1400" b="1" dirty="0">
              <a:latin typeface="Courier New" pitchFamily="49" charset="0"/>
            </a:endParaRPr>
          </a:p>
          <a:p>
            <a:pPr defTabSz="539750"/>
            <a:r>
              <a:rPr lang="en-US" sz="1400" b="1" dirty="0">
                <a:latin typeface="Courier New" pitchFamily="49" charset="0"/>
              </a:rPr>
              <a:t>int main(int </a:t>
            </a:r>
            <a:r>
              <a:rPr lang="en-US" sz="1400" b="1" dirty="0" err="1">
                <a:latin typeface="Courier New" pitchFamily="49" charset="0"/>
              </a:rPr>
              <a:t>argc</a:t>
            </a:r>
            <a:r>
              <a:rPr lang="en-US" sz="1400" b="1" dirty="0">
                <a:latin typeface="Courier New" pitchFamily="49" charset="0"/>
              </a:rPr>
              <a:t>, char* </a:t>
            </a:r>
            <a:r>
              <a:rPr lang="en-US" sz="1400" b="1" dirty="0" err="1">
                <a:latin typeface="Courier New" pitchFamily="49" charset="0"/>
              </a:rPr>
              <a:t>argv</a:t>
            </a:r>
            <a:r>
              <a:rPr lang="en-US" sz="1400" b="1">
                <a:latin typeface="Courier New" pitchFamily="49" charset="0"/>
              </a:rPr>
              <a:t>[])</a:t>
            </a:r>
            <a:endParaRPr lang="en-US" sz="1400" b="1" dirty="0">
              <a:latin typeface="Courier New" pitchFamily="49" charset="0"/>
            </a:endParaRPr>
          </a:p>
          <a:p>
            <a:pPr defTabSz="539750"/>
            <a:r>
              <a:rPr lang="en-US" sz="1400" b="1" dirty="0">
                <a:latin typeface="Courier New" pitchFamily="49" charset="0"/>
              </a:rPr>
              <a:t>{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	External::Internal </a:t>
            </a:r>
            <a:r>
              <a:rPr lang="en-US" sz="1400" b="1" dirty="0" err="1">
                <a:latin typeface="Courier New" pitchFamily="49" charset="0"/>
              </a:rPr>
              <a:t>internal</a:t>
            </a:r>
            <a:r>
              <a:rPr lang="en-US" sz="1400" b="1" dirty="0">
                <a:latin typeface="Courier New" pitchFamily="49" charset="0"/>
              </a:rPr>
              <a:t>;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	</a:t>
            </a:r>
            <a:r>
              <a:rPr lang="en-US" sz="1400" b="1" dirty="0" err="1">
                <a:latin typeface="Courier New" pitchFamily="49" charset="0"/>
              </a:rPr>
              <a:t>internal.Foo</a:t>
            </a:r>
            <a:r>
              <a:rPr lang="en-US" sz="1400" b="1" dirty="0">
                <a:latin typeface="Courier New" pitchFamily="49" charset="0"/>
              </a:rPr>
              <a:t>();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	return 0;</a:t>
            </a:r>
          </a:p>
          <a:p>
            <a:pPr defTabSz="539750"/>
            <a:r>
              <a:rPr lang="en-US" sz="1400" b="1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36204" y="764705"/>
            <a:ext cx="3703414" cy="25545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~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DoSomething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Impl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unique_ptr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Impl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m_impl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07968" y="764705"/>
            <a:ext cx="4824462" cy="60016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Foo.h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Impl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Impl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):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){}</a:t>
            </a:r>
          </a:p>
          <a:p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DoSomething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: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m_impl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make_unique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Impl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{}</a:t>
            </a:r>
          </a:p>
          <a:p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~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DoSomething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m_impl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DoSomething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47530" y="764704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Foo.h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9624392" y="764704"/>
            <a:ext cx="1008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Foo.cpp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842716" y="3861049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Идиома </a:t>
            </a:r>
            <a:r>
              <a:rPr lang="en-US" dirty="0" err="1"/>
              <a:t>PImpl</a:t>
            </a:r>
            <a:r>
              <a:rPr lang="en-US" dirty="0"/>
              <a:t> (Pointer to implementation)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119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ISPRING_RESOURCE_PATHS_HASH_2" val="c8c1947053ea6e455f1e2a93189d128df0d39f0"/>
  <p:tag name="ISPRING_RESOURCE_PATHS_HASH_PRESENTER" val="c41b46544913ba61c3687de2e4ca49c7dccefb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d7954940-803c-4b70-98b9-0ebc7d70a0c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7950cff3-6931-4ab9-96ab-7a85957e3e9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dfef470a-e880-4b96-b419-55776cba237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7e283f5-f0ef-448d-80a0-c992baa323a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7019b02f-c1a7-42cc-b20c-139ca902727b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b2fadb0a-df69-4457-a4e8-a510d6c431c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52beb681-3558-49dc-ab46-1e49c9f5bb8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5f52d02d-7a67-44ec-8744-f2179af4d65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9a88b8e6-6e31-462d-bd10-0014c72d9f0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6b372e54-6a5c-4ecb-b298-f6471f9776b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61c9d514-8602-4f7d-9d6d-0b325a9710a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bc19f529-c221-4c79-80e1-6918050eccfc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55076f9-abea-4e39-a8e9-47d9872c258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7ab1e8d9-dde9-4ca3-b05e-a7941c55628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fe65d3fa-eabe-407a-bb2a-8e45c80a3f29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7127</TotalTime>
  <Words>29426</Words>
  <Application>Microsoft Office PowerPoint</Application>
  <PresentationFormat>Widescreen</PresentationFormat>
  <Paragraphs>3987</Paragraphs>
  <Slides>169</Slides>
  <Notes>151</Notes>
  <HiddenSlides>7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169</vt:i4>
      </vt:variant>
    </vt:vector>
  </HeadingPairs>
  <TitlesOfParts>
    <vt:vector size="178" baseType="lpstr">
      <vt:lpstr>Arial</vt:lpstr>
      <vt:lpstr>Calibri</vt:lpstr>
      <vt:lpstr>Calibri Light</vt:lpstr>
      <vt:lpstr>Cascadia Mono</vt:lpstr>
      <vt:lpstr>Consolas</vt:lpstr>
      <vt:lpstr>Courier New</vt:lpstr>
      <vt:lpstr>SFMono-Regular</vt:lpstr>
      <vt:lpstr>Wingdings 2</vt:lpstr>
      <vt:lpstr>Office Theme</vt:lpstr>
      <vt:lpstr>Основы ООП</vt:lpstr>
      <vt:lpstr>Парадигмы программирования</vt:lpstr>
      <vt:lpstr>Структурное программирование</vt:lpstr>
      <vt:lpstr>Процедурное программирование</vt:lpstr>
      <vt:lpstr>Объектно-ориентированное программирование (ООП)</vt:lpstr>
      <vt:lpstr>Основные понятия ООП </vt:lpstr>
      <vt:lpstr>Абстракция данных</vt:lpstr>
      <vt:lpstr>Инкапсуляция</vt:lpstr>
      <vt:lpstr>PowerPoint Presentation</vt:lpstr>
      <vt:lpstr>Наследование</vt:lpstr>
      <vt:lpstr>PowerPoint Presentation</vt:lpstr>
      <vt:lpstr>Полиморфизм</vt:lpstr>
      <vt:lpstr>PowerPoint Presentation</vt:lpstr>
      <vt:lpstr>PowerPoint Presentation</vt:lpstr>
      <vt:lpstr>PowerPoint Presentation</vt:lpstr>
      <vt:lpstr>PowerPoint Presentation</vt:lpstr>
      <vt:lpstr>Анатомия класса</vt:lpstr>
      <vt:lpstr>Классы и объекты</vt:lpstr>
      <vt:lpstr>Объявление класса в С++</vt:lpstr>
      <vt:lpstr>Данные объекта (переменные объекта, члены-данные)</vt:lpstr>
      <vt:lpstr>Пример - Автомобиль</vt:lpstr>
      <vt:lpstr>Пример - Время</vt:lpstr>
      <vt:lpstr>Сокрытие данных по умолчанию</vt:lpstr>
      <vt:lpstr>Уровни доступа в классах и структурах</vt:lpstr>
      <vt:lpstr>PowerPoint Presentation</vt:lpstr>
      <vt:lpstr>Методы класса</vt:lpstr>
      <vt:lpstr>Методы класса</vt:lpstr>
      <vt:lpstr>Объявление метода класса</vt:lpstr>
      <vt:lpstr>PowerPoint Presentation</vt:lpstr>
      <vt:lpstr>PowerPoint Presentation</vt:lpstr>
      <vt:lpstr>Методы, состояние объекта и константность</vt:lpstr>
      <vt:lpstr>PowerPoint Presentation</vt:lpstr>
      <vt:lpstr>Константные методы класса</vt:lpstr>
      <vt:lpstr>Константные методы</vt:lpstr>
      <vt:lpstr>PowerPoint Presentation</vt:lpstr>
      <vt:lpstr>Физическая и логическая константность</vt:lpstr>
      <vt:lpstr>Логическая константность и кеширование</vt:lpstr>
      <vt:lpstr>Изменяемые (mutable) поля класса</vt:lpstr>
      <vt:lpstr>PowerPoint Presentation</vt:lpstr>
      <vt:lpstr>Брутфорсим пароли</vt:lpstr>
      <vt:lpstr>PowerPoint Presentation</vt:lpstr>
      <vt:lpstr>Используйте mutable-поля аккуратно</vt:lpstr>
      <vt:lpstr>PowerPoint Presentation</vt:lpstr>
      <vt:lpstr>PowerPoint Presentation</vt:lpstr>
      <vt:lpstr>Размещение классов в .h/.cpp файлах</vt:lpstr>
      <vt:lpstr>Размещение классов в файлах</vt:lpstr>
      <vt:lpstr>Пример</vt:lpstr>
      <vt:lpstr>Спецификаторы уровня доступа</vt:lpstr>
      <vt:lpstr>Публичные (public) поля и методы класса</vt:lpstr>
      <vt:lpstr>Закрытые (приватные) поля и методы класса</vt:lpstr>
      <vt:lpstr>PowerPoint Presentation</vt:lpstr>
      <vt:lpstr>Защищенные поля класса</vt:lpstr>
      <vt:lpstr>Уровни доступа к полям и методам класса</vt:lpstr>
      <vt:lpstr>Свойства (Properties)</vt:lpstr>
      <vt:lpstr>Свойства (Properties)</vt:lpstr>
      <vt:lpstr>Пример – свойства в языке C#</vt:lpstr>
      <vt:lpstr>PowerPoint Presentation</vt:lpstr>
      <vt:lpstr>PowerPoint Presentation</vt:lpstr>
      <vt:lpstr>PowerPoint Presentation</vt:lpstr>
      <vt:lpstr>Какие данные должен иметь Rectangle?</vt:lpstr>
      <vt:lpstr>Указатель this</vt:lpstr>
      <vt:lpstr>Методы vs Функции</vt:lpstr>
      <vt:lpstr>PowerPoint Presentation</vt:lpstr>
      <vt:lpstr>PowerPoint Presentation</vt:lpstr>
      <vt:lpstr>Указатель this</vt:lpstr>
      <vt:lpstr>PowerPoint Presentation</vt:lpstr>
      <vt:lpstr>PowerPoint Presentation</vt:lpstr>
      <vt:lpstr>Когда использовать this в C++?</vt:lpstr>
      <vt:lpstr>PowerPoint Presentation</vt:lpstr>
      <vt:lpstr>PowerPoint Presentation</vt:lpstr>
      <vt:lpstr>Инициализация класса</vt:lpstr>
      <vt:lpstr>Начальное состояние объекта</vt:lpstr>
      <vt:lpstr>PowerPoint Presentation</vt:lpstr>
      <vt:lpstr>Конструктор</vt:lpstr>
      <vt:lpstr>PowerPoint Presentation</vt:lpstr>
      <vt:lpstr>Конструктор по умолчанию</vt:lpstr>
      <vt:lpstr>Объявление конструктора по умолчанию</vt:lpstr>
      <vt:lpstr>Автоматическое генерирование конструктора по умолчанию</vt:lpstr>
      <vt:lpstr>Список инициализации конструктора</vt:lpstr>
      <vt:lpstr>Момент вызова конструктора</vt:lpstr>
      <vt:lpstr>Инициализация полей класса</vt:lpstr>
      <vt:lpstr>Проблема инициализации полей класса</vt:lpstr>
      <vt:lpstr>Как проинициализировать поле, если его тип не имеет конструктора по умолчанию?</vt:lpstr>
      <vt:lpstr>Инициализация данных экземпляра класса</vt:lpstr>
      <vt:lpstr>Список инициализации конструктора</vt:lpstr>
      <vt:lpstr>Список инициализации в действии</vt:lpstr>
      <vt:lpstr>PowerPoint Presentation</vt:lpstr>
      <vt:lpstr>Конвертирующий конструктор</vt:lpstr>
      <vt:lpstr>Преобразующие (converting) конструкторы</vt:lpstr>
      <vt:lpstr>PowerPoint Presentation</vt:lpstr>
      <vt:lpstr>PowerPoint Presentation</vt:lpstr>
      <vt:lpstr>PowerPoint Presentation</vt:lpstr>
      <vt:lpstr>Explicit or Implicit?</vt:lpstr>
      <vt:lpstr>Деинициализация объекта</vt:lpstr>
      <vt:lpstr>Деинициализация объекта</vt:lpstr>
      <vt:lpstr>Деструктор: синтаксис и вызов</vt:lpstr>
      <vt:lpstr>Пример</vt:lpstr>
      <vt:lpstr>Что происходит в деструкторе</vt:lpstr>
      <vt:lpstr>PowerPoint Presentation</vt:lpstr>
      <vt:lpstr>Что происходит после деструктора</vt:lpstr>
      <vt:lpstr>Класс «Колесо»</vt:lpstr>
      <vt:lpstr>Класс «Автомобиль»</vt:lpstr>
      <vt:lpstr>Класс «Супер автомобиль»</vt:lpstr>
      <vt:lpstr>Порядок вызова конструкторов и деструкторов</vt:lpstr>
      <vt:lpstr>Автоматически сгенерированный деструктор</vt:lpstr>
      <vt:lpstr>Корректно работающий автоматически сгенерированный деструктор</vt:lpstr>
      <vt:lpstr>Пример класса, где обязательно нужен деструктор</vt:lpstr>
      <vt:lpstr>Копирование объектов</vt:lpstr>
      <vt:lpstr>Конструктор копирования (копирующий конструктор)</vt:lpstr>
      <vt:lpstr>PowerPoint Presentation</vt:lpstr>
      <vt:lpstr>PowerPoint Presentation</vt:lpstr>
      <vt:lpstr>Copy Elision (устранение копирования)</vt:lpstr>
      <vt:lpstr>Copy Elision</vt:lpstr>
      <vt:lpstr>Автоматически сгенерированный копирующий конструктор</vt:lpstr>
      <vt:lpstr>PowerPoint Presentation</vt:lpstr>
      <vt:lpstr>Пользовательский копирующий конструктор</vt:lpstr>
      <vt:lpstr>PowerPoint Presentation</vt:lpstr>
      <vt:lpstr>Запрещение копирования объектов</vt:lpstr>
      <vt:lpstr>Делегирующий конструктор</vt:lpstr>
      <vt:lpstr>Делегирующий конструктор</vt:lpstr>
      <vt:lpstr>PowerPoint Presentation</vt:lpstr>
      <vt:lpstr>Перегрузка оператора присваивания</vt:lpstr>
      <vt:lpstr>Автоматически сгенерированный оператор присваивания</vt:lpstr>
      <vt:lpstr>Когда нужен собственный оператор присваивания?</vt:lpstr>
      <vt:lpstr>PowerPoint Presentation</vt:lpstr>
      <vt:lpstr>PowerPoint Presentation</vt:lpstr>
      <vt:lpstr>Запрет операции присваивания</vt:lpstr>
      <vt:lpstr>Семантика перемещения</vt:lpstr>
      <vt:lpstr>Проблемы с копированием объектов</vt:lpstr>
      <vt:lpstr>PowerPoint Presentation</vt:lpstr>
      <vt:lpstr>Избыточное копирование объектов</vt:lpstr>
      <vt:lpstr>Как отличить временные и именованные объекты?</vt:lpstr>
      <vt:lpstr>Lvalue и Rvalue</vt:lpstr>
      <vt:lpstr>Как язык различает Lvalue и Rvalue?</vt:lpstr>
      <vt:lpstr>Привязка ссылок к выражениям</vt:lpstr>
      <vt:lpstr>Передача lvalue и rvalue в функции</vt:lpstr>
      <vt:lpstr>Что делает std::move?</vt:lpstr>
      <vt:lpstr>Конструктор перемещения (move-конструктор)</vt:lpstr>
      <vt:lpstr>PowerPoint Presentation</vt:lpstr>
      <vt:lpstr>PowerPoint Presentation</vt:lpstr>
      <vt:lpstr>Что значит «переместить объект»?</vt:lpstr>
      <vt:lpstr>Состояние объекта после перемещения</vt:lpstr>
      <vt:lpstr>PowerPoint Presentation</vt:lpstr>
      <vt:lpstr>std::exchange vs std::swap</vt:lpstr>
      <vt:lpstr>Перемещающий оператор присваивания</vt:lpstr>
      <vt:lpstr>PowerPoint Presentation</vt:lpstr>
      <vt:lpstr>Когда нужен move-конструктор и move-оператор присваивания</vt:lpstr>
      <vt:lpstr>Правило трёх, пяти и нуля</vt:lpstr>
      <vt:lpstr>Конструкторы и деструкторы в действии</vt:lpstr>
      <vt:lpstr>Конструкторы и операции присваивания в действии</vt:lpstr>
      <vt:lpstr>PowerPoint Presentation</vt:lpstr>
      <vt:lpstr>Статические методы класса</vt:lpstr>
      <vt:lpstr>PowerPoint Presentation</vt:lpstr>
      <vt:lpstr>Статические методы класса</vt:lpstr>
      <vt:lpstr>PowerPoint Presentation</vt:lpstr>
      <vt:lpstr>PowerPoint Presentation</vt:lpstr>
      <vt:lpstr>Статические данные класса</vt:lpstr>
      <vt:lpstr>Статические поля класса</vt:lpstr>
      <vt:lpstr>PowerPoint Presentation</vt:lpstr>
      <vt:lpstr>PowerPoint Presentation</vt:lpstr>
      <vt:lpstr>PowerPoint Presentation</vt:lpstr>
      <vt:lpstr>PowerPoint Presentation</vt:lpstr>
      <vt:lpstr>Определение статического поля внутри класса (начиная с++17)</vt:lpstr>
      <vt:lpstr>Статические поля в классах Стандартной Библиотеки</vt:lpstr>
      <vt:lpstr>Статические данные и методы – итоги</vt:lpstr>
      <vt:lpstr>Вложенные классы</vt:lpstr>
      <vt:lpstr>Вложенное объявление классов и других типов данных</vt:lpstr>
      <vt:lpstr>Пример 1</vt:lpstr>
      <vt:lpstr>PowerPoint Presentation</vt:lpstr>
    </vt:vector>
  </TitlesOfParts>
  <Company>Brainwave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Aleksey Malov</dc:creator>
  <cp:lastModifiedBy>K5 318</cp:lastModifiedBy>
  <cp:revision>582</cp:revision>
  <dcterms:created xsi:type="dcterms:W3CDTF">2007-03-30T02:07:07Z</dcterms:created>
  <dcterms:modified xsi:type="dcterms:W3CDTF">2026-05-25T14:15:39Z</dcterms:modified>
</cp:coreProperties>
</file>