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tags/tag2.xml" ContentType="application/vnd.openxmlformats-officedocument.presentationml.tags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tags/tag3.xml" ContentType="application/vnd.openxmlformats-officedocument.presentationml.tags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tags/tag4.xml" ContentType="application/vnd.openxmlformats-officedocument.presentationml.tags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tags/tag5.xml" ContentType="application/vnd.openxmlformats-officedocument.presentationml.tags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tags/tag6.xml" ContentType="application/vnd.openxmlformats-officedocument.presentationml.tags+xml"/>
  <Override PartName="/ppt/notesSlides/notesSlide14.xml" ContentType="application/vnd.openxmlformats-officedocument.presentationml.notesSlide+xml"/>
  <Override PartName="/ppt/tags/tag7.xml" ContentType="application/vnd.openxmlformats-officedocument.presentationml.tags+xml"/>
  <Override PartName="/ppt/notesSlides/notesSlide15.xml" ContentType="application/vnd.openxmlformats-officedocument.presentationml.notesSlide+xml"/>
  <Override PartName="/ppt/tags/tag8.xml" ContentType="application/vnd.openxmlformats-officedocument.presentationml.tags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ink/ink1.xml" ContentType="application/inkml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tags/tag9.xml" ContentType="application/vnd.openxmlformats-officedocument.presentationml.tags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tags/tag10.xml" ContentType="application/vnd.openxmlformats-officedocument.presentationml.tags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tags/tag11.xml" ContentType="application/vnd.openxmlformats-officedocument.presentationml.tags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3" r:id="rId1"/>
  </p:sldMasterIdLst>
  <p:notesMasterIdLst>
    <p:notesMasterId r:id="rId171"/>
  </p:notesMasterIdLst>
  <p:sldIdLst>
    <p:sldId id="642" r:id="rId2"/>
    <p:sldId id="626" r:id="rId3"/>
    <p:sldId id="627" r:id="rId4"/>
    <p:sldId id="628" r:id="rId5"/>
    <p:sldId id="281" r:id="rId6"/>
    <p:sldId id="377" r:id="rId7"/>
    <p:sldId id="378" r:id="rId8"/>
    <p:sldId id="290" r:id="rId9"/>
    <p:sldId id="643" r:id="rId10"/>
    <p:sldId id="292" r:id="rId11"/>
    <p:sldId id="644" r:id="rId12"/>
    <p:sldId id="294" r:id="rId13"/>
    <p:sldId id="645" r:id="rId14"/>
    <p:sldId id="646" r:id="rId15"/>
    <p:sldId id="380" r:id="rId16"/>
    <p:sldId id="293" r:id="rId17"/>
    <p:sldId id="381" r:id="rId18"/>
    <p:sldId id="282" r:id="rId19"/>
    <p:sldId id="305" r:id="rId20"/>
    <p:sldId id="283" r:id="rId21"/>
    <p:sldId id="307" r:id="rId22"/>
    <p:sldId id="382" r:id="rId23"/>
    <p:sldId id="383" r:id="rId24"/>
    <p:sldId id="259" r:id="rId25"/>
    <p:sldId id="384" r:id="rId26"/>
    <p:sldId id="665" r:id="rId27"/>
    <p:sldId id="385" r:id="rId28"/>
    <p:sldId id="387" r:id="rId29"/>
    <p:sldId id="386" r:id="rId30"/>
    <p:sldId id="389" r:id="rId31"/>
    <p:sldId id="388" r:id="rId32"/>
    <p:sldId id="391" r:id="rId33"/>
    <p:sldId id="664" r:id="rId34"/>
    <p:sldId id="268" r:id="rId35"/>
    <p:sldId id="392" r:id="rId36"/>
    <p:sldId id="393" r:id="rId37"/>
    <p:sldId id="666" r:id="rId38"/>
    <p:sldId id="270" r:id="rId39"/>
    <p:sldId id="647" r:id="rId40"/>
    <p:sldId id="648" r:id="rId41"/>
    <p:sldId id="649" r:id="rId42"/>
    <p:sldId id="398" r:id="rId43"/>
    <p:sldId id="395" r:id="rId44"/>
    <p:sldId id="396" r:id="rId45"/>
    <p:sldId id="667" r:id="rId46"/>
    <p:sldId id="261" r:id="rId47"/>
    <p:sldId id="262" r:id="rId48"/>
    <p:sldId id="400" r:id="rId49"/>
    <p:sldId id="260" r:id="rId50"/>
    <p:sldId id="263" r:id="rId51"/>
    <p:sldId id="291" r:id="rId52"/>
    <p:sldId id="264" r:id="rId53"/>
    <p:sldId id="308" r:id="rId54"/>
    <p:sldId id="668" r:id="rId55"/>
    <p:sldId id="285" r:id="rId56"/>
    <p:sldId id="405" r:id="rId57"/>
    <p:sldId id="407" r:id="rId58"/>
    <p:sldId id="408" r:id="rId59"/>
    <p:sldId id="287" r:id="rId60"/>
    <p:sldId id="356" r:id="rId61"/>
    <p:sldId id="406" r:id="rId62"/>
    <p:sldId id="650" r:id="rId63"/>
    <p:sldId id="401" r:id="rId64"/>
    <p:sldId id="402" r:id="rId65"/>
    <p:sldId id="266" r:id="rId66"/>
    <p:sldId id="403" r:id="rId67"/>
    <p:sldId id="404" r:id="rId68"/>
    <p:sldId id="651" r:id="rId69"/>
    <p:sldId id="652" r:id="rId70"/>
    <p:sldId id="653" r:id="rId71"/>
    <p:sldId id="357" r:id="rId72"/>
    <p:sldId id="358" r:id="rId73"/>
    <p:sldId id="654" r:id="rId74"/>
    <p:sldId id="272" r:id="rId75"/>
    <p:sldId id="273" r:id="rId76"/>
    <p:sldId id="277" r:id="rId77"/>
    <p:sldId id="359" r:id="rId78"/>
    <p:sldId id="361" r:id="rId79"/>
    <p:sldId id="410" r:id="rId80"/>
    <p:sldId id="655" r:id="rId81"/>
    <p:sldId id="656" r:id="rId82"/>
    <p:sldId id="657" r:id="rId83"/>
    <p:sldId id="658" r:id="rId84"/>
    <p:sldId id="279" r:id="rId85"/>
    <p:sldId id="278" r:id="rId86"/>
    <p:sldId id="659" r:id="rId87"/>
    <p:sldId id="409" r:id="rId88"/>
    <p:sldId id="363" r:id="rId89"/>
    <p:sldId id="364" r:id="rId90"/>
    <p:sldId id="362" r:id="rId91"/>
    <p:sldId id="365" r:id="rId92"/>
    <p:sldId id="630" r:id="rId93"/>
    <p:sldId id="411" r:id="rId94"/>
    <p:sldId id="274" r:id="rId95"/>
    <p:sldId id="325" r:id="rId96"/>
    <p:sldId id="328" r:id="rId97"/>
    <p:sldId id="275" r:id="rId98"/>
    <p:sldId id="631" r:id="rId99"/>
    <p:sldId id="329" r:id="rId100"/>
    <p:sldId id="330" r:id="rId101"/>
    <p:sldId id="331" r:id="rId102"/>
    <p:sldId id="333" r:id="rId103"/>
    <p:sldId id="332" r:id="rId104"/>
    <p:sldId id="326" r:id="rId105"/>
    <p:sldId id="327" r:id="rId106"/>
    <p:sldId id="334" r:id="rId107"/>
    <p:sldId id="297" r:id="rId108"/>
    <p:sldId id="298" r:id="rId109"/>
    <p:sldId id="412" r:id="rId110"/>
    <p:sldId id="413" r:id="rId111"/>
    <p:sldId id="660" r:id="rId112"/>
    <p:sldId id="632" r:id="rId113"/>
    <p:sldId id="299" r:id="rId114"/>
    <p:sldId id="414" r:id="rId115"/>
    <p:sldId id="301" r:id="rId116"/>
    <p:sldId id="302" r:id="rId117"/>
    <p:sldId id="633" r:id="rId118"/>
    <p:sldId id="303" r:id="rId119"/>
    <p:sldId id="638" r:id="rId120"/>
    <p:sldId id="639" r:id="rId121"/>
    <p:sldId id="640" r:id="rId122"/>
    <p:sldId id="366" r:id="rId123"/>
    <p:sldId id="367" r:id="rId124"/>
    <p:sldId id="368" r:id="rId125"/>
    <p:sldId id="635" r:id="rId126"/>
    <p:sldId id="634" r:id="rId127"/>
    <p:sldId id="371" r:id="rId128"/>
    <p:sldId id="335" r:id="rId129"/>
    <p:sldId id="339" r:id="rId130"/>
    <p:sldId id="661" r:id="rId131"/>
    <p:sldId id="341" r:id="rId132"/>
    <p:sldId id="336" r:id="rId133"/>
    <p:sldId id="338" r:id="rId134"/>
    <p:sldId id="342" r:id="rId135"/>
    <p:sldId id="662" r:id="rId136"/>
    <p:sldId id="663" r:id="rId137"/>
    <p:sldId id="343" r:id="rId138"/>
    <p:sldId id="344" r:id="rId139"/>
    <p:sldId id="349" r:id="rId140"/>
    <p:sldId id="345" r:id="rId141"/>
    <p:sldId id="636" r:id="rId142"/>
    <p:sldId id="346" r:id="rId143"/>
    <p:sldId id="350" r:id="rId144"/>
    <p:sldId id="347" r:id="rId145"/>
    <p:sldId id="348" r:id="rId146"/>
    <p:sldId id="372" r:id="rId147"/>
    <p:sldId id="373" r:id="rId148"/>
    <p:sldId id="637" r:id="rId149"/>
    <p:sldId id="641" r:id="rId150"/>
    <p:sldId id="375" r:id="rId151"/>
    <p:sldId id="376" r:id="rId152"/>
    <p:sldId id="313" r:id="rId153"/>
    <p:sldId id="415" r:id="rId154"/>
    <p:sldId id="416" r:id="rId155"/>
    <p:sldId id="417" r:id="rId156"/>
    <p:sldId id="418" r:id="rId157"/>
    <p:sldId id="420" r:id="rId158"/>
    <p:sldId id="419" r:id="rId159"/>
    <p:sldId id="421" r:id="rId160"/>
    <p:sldId id="422" r:id="rId161"/>
    <p:sldId id="423" r:id="rId162"/>
    <p:sldId id="424" r:id="rId163"/>
    <p:sldId id="425" r:id="rId164"/>
    <p:sldId id="426" r:id="rId165"/>
    <p:sldId id="427" r:id="rId166"/>
    <p:sldId id="319" r:id="rId167"/>
    <p:sldId id="320" r:id="rId168"/>
    <p:sldId id="321" r:id="rId169"/>
    <p:sldId id="355" r:id="rId170"/>
  </p:sldIdLst>
  <p:sldSz cx="12192000" cy="6858000"/>
  <p:notesSz cx="6858000" cy="9144000"/>
  <p:custDataLst>
    <p:tags r:id="rId172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Объектно-ориентированная парадигма" id="{7651F0BE-0BE9-4323-9B09-74B694D24A6F}">
          <p14:sldIdLst>
            <p14:sldId id="642"/>
          </p14:sldIdLst>
        </p14:section>
        <p14:section name="Объектно-ориентированная парадигма" id="{1318F023-8DD9-4A8A-8DDB-CB2EB0C1E05B}">
          <p14:sldIdLst>
            <p14:sldId id="626"/>
            <p14:sldId id="627"/>
            <p14:sldId id="628"/>
            <p14:sldId id="281"/>
            <p14:sldId id="377"/>
            <p14:sldId id="378"/>
            <p14:sldId id="290"/>
            <p14:sldId id="643"/>
            <p14:sldId id="292"/>
            <p14:sldId id="644"/>
            <p14:sldId id="294"/>
            <p14:sldId id="645"/>
            <p14:sldId id="646"/>
            <p14:sldId id="380"/>
            <p14:sldId id="293"/>
          </p14:sldIdLst>
        </p14:section>
        <p14:section name="Классы" id="{5675DF16-8B35-4E93-8050-02B7373D0E36}">
          <p14:sldIdLst>
            <p14:sldId id="381"/>
            <p14:sldId id="282"/>
            <p14:sldId id="305"/>
            <p14:sldId id="283"/>
            <p14:sldId id="307"/>
            <p14:sldId id="382"/>
            <p14:sldId id="383"/>
            <p14:sldId id="259"/>
            <p14:sldId id="384"/>
          </p14:sldIdLst>
        </p14:section>
        <p14:section name="Методы" id="{2460A18B-B030-44FB-B015-B1D6C22FE6A9}">
          <p14:sldIdLst>
            <p14:sldId id="665"/>
            <p14:sldId id="385"/>
            <p14:sldId id="387"/>
            <p14:sldId id="386"/>
            <p14:sldId id="389"/>
            <p14:sldId id="388"/>
            <p14:sldId id="391"/>
          </p14:sldIdLst>
        </p14:section>
        <p14:section name="Константные методы" id="{FD3F81DB-3EC9-4500-BF93-61EFF2A19914}">
          <p14:sldIdLst>
            <p14:sldId id="664"/>
            <p14:sldId id="268"/>
            <p14:sldId id="392"/>
            <p14:sldId id="393"/>
            <p14:sldId id="666"/>
            <p14:sldId id="270"/>
            <p14:sldId id="647"/>
            <p14:sldId id="648"/>
            <p14:sldId id="649"/>
            <p14:sldId id="398"/>
            <p14:sldId id="395"/>
            <p14:sldId id="396"/>
          </p14:sldIdLst>
        </p14:section>
        <p14:section name="Классы и файлы" id="{924A951C-4B01-4304-BC7D-E39B518F7F15}">
          <p14:sldIdLst>
            <p14:sldId id="667"/>
            <p14:sldId id="261"/>
            <p14:sldId id="262"/>
          </p14:sldIdLst>
        </p14:section>
        <p14:section name="Уровни доступа в классе" id="{C25A9056-7118-4BAF-B166-81B0ECD66DE0}">
          <p14:sldIdLst>
            <p14:sldId id="400"/>
            <p14:sldId id="260"/>
            <p14:sldId id="263"/>
            <p14:sldId id="291"/>
            <p14:sldId id="264"/>
            <p14:sldId id="308"/>
          </p14:sldIdLst>
        </p14:section>
        <p14:section name="Свойства" id="{639C4329-66D6-41C4-BF95-6D03EB932BCC}">
          <p14:sldIdLst>
            <p14:sldId id="668"/>
            <p14:sldId id="285"/>
            <p14:sldId id="405"/>
            <p14:sldId id="407"/>
            <p14:sldId id="408"/>
            <p14:sldId id="287"/>
            <p14:sldId id="356"/>
          </p14:sldIdLst>
        </p14:section>
        <p14:section name="Ссылка на текущий объект" id="{CE112920-A474-4EBB-B41C-276B7CE584FA}">
          <p14:sldIdLst>
            <p14:sldId id="406"/>
            <p14:sldId id="650"/>
            <p14:sldId id="401"/>
            <p14:sldId id="402"/>
            <p14:sldId id="266"/>
            <p14:sldId id="403"/>
            <p14:sldId id="404"/>
            <p14:sldId id="651"/>
            <p14:sldId id="652"/>
            <p14:sldId id="653"/>
          </p14:sldIdLst>
        </p14:section>
        <p14:section name="Конструкторы" id="{EE43C98B-3C4C-493E-BAF8-24727E8F731D}">
          <p14:sldIdLst>
            <p14:sldId id="357"/>
            <p14:sldId id="358"/>
            <p14:sldId id="654"/>
            <p14:sldId id="272"/>
            <p14:sldId id="273"/>
          </p14:sldIdLst>
        </p14:section>
        <p14:section name="Конструктор по умолчанию" id="{4D781A25-E570-4344-9FD4-28D3ED173F50}">
          <p14:sldIdLst>
            <p14:sldId id="277"/>
            <p14:sldId id="359"/>
            <p14:sldId id="361"/>
          </p14:sldIdLst>
        </p14:section>
        <p14:section name="Список инициализации" id="{D9FE5545-3168-4D59-9341-260CE5B479B5}">
          <p14:sldIdLst>
            <p14:sldId id="410"/>
            <p14:sldId id="655"/>
            <p14:sldId id="656"/>
            <p14:sldId id="657"/>
            <p14:sldId id="658"/>
            <p14:sldId id="279"/>
            <p14:sldId id="278"/>
            <p14:sldId id="659"/>
            <p14:sldId id="409"/>
          </p14:sldIdLst>
        </p14:section>
        <p14:section name="Конвертирующий конструктор" id="{47E4EB29-3CFA-4622-8F9D-9F8E9FCE2693}">
          <p14:sldIdLst>
            <p14:sldId id="363"/>
            <p14:sldId id="364"/>
            <p14:sldId id="362"/>
            <p14:sldId id="365"/>
            <p14:sldId id="630"/>
          </p14:sldIdLst>
        </p14:section>
        <p14:section name="Деструктор" id="{0E83F095-11A2-4245-A4FF-38A37F2912DC}">
          <p14:sldIdLst>
            <p14:sldId id="411"/>
            <p14:sldId id="274"/>
            <p14:sldId id="325"/>
            <p14:sldId id="328"/>
            <p14:sldId id="275"/>
            <p14:sldId id="631"/>
            <p14:sldId id="329"/>
            <p14:sldId id="330"/>
            <p14:sldId id="331"/>
            <p14:sldId id="333"/>
            <p14:sldId id="332"/>
            <p14:sldId id="326"/>
            <p14:sldId id="327"/>
            <p14:sldId id="334"/>
          </p14:sldIdLst>
        </p14:section>
        <p14:section name="Копирование объектов" id="{8F6D1FD3-87F0-4368-8009-6784FA00768F}">
          <p14:sldIdLst>
            <p14:sldId id="297"/>
            <p14:sldId id="298"/>
            <p14:sldId id="412"/>
            <p14:sldId id="413"/>
            <p14:sldId id="660"/>
            <p14:sldId id="632"/>
            <p14:sldId id="299"/>
            <p14:sldId id="414"/>
            <p14:sldId id="301"/>
            <p14:sldId id="302"/>
            <p14:sldId id="633"/>
            <p14:sldId id="303"/>
          </p14:sldIdLst>
        </p14:section>
        <p14:section name="Делегирующий конструктор" id="{07CC2094-6037-4257-9848-BC8B6463EE11}">
          <p14:sldIdLst>
            <p14:sldId id="638"/>
            <p14:sldId id="639"/>
            <p14:sldId id="640"/>
          </p14:sldIdLst>
        </p14:section>
        <p14:section name="Присваивание" id="{77E6D7F3-DC7F-408E-8008-6B540BF9F9B2}">
          <p14:sldIdLst>
            <p14:sldId id="366"/>
            <p14:sldId id="367"/>
            <p14:sldId id="368"/>
            <p14:sldId id="635"/>
            <p14:sldId id="634"/>
            <p14:sldId id="371"/>
          </p14:sldIdLst>
        </p14:section>
        <p14:section name="Перемещающий конструктор" id="{EFF35AB7-F4C1-4162-A2AF-4218E20817B7}">
          <p14:sldIdLst>
            <p14:sldId id="335"/>
            <p14:sldId id="339"/>
            <p14:sldId id="661"/>
            <p14:sldId id="341"/>
            <p14:sldId id="336"/>
            <p14:sldId id="338"/>
            <p14:sldId id="342"/>
            <p14:sldId id="662"/>
            <p14:sldId id="663"/>
            <p14:sldId id="343"/>
            <p14:sldId id="344"/>
            <p14:sldId id="349"/>
            <p14:sldId id="345"/>
            <p14:sldId id="636"/>
            <p14:sldId id="346"/>
            <p14:sldId id="350"/>
            <p14:sldId id="347"/>
            <p14:sldId id="348"/>
          </p14:sldIdLst>
        </p14:section>
        <p14:section name="Перемещающий оператор присваиваиня" id="{AF7A4D73-B88B-4F2C-8ECC-9EF4CBAD04C0}">
          <p14:sldIdLst>
            <p14:sldId id="372"/>
            <p14:sldId id="373"/>
            <p14:sldId id="637"/>
          </p14:sldIdLst>
        </p14:section>
        <p14:section name="Конструкторы, деструкторы и операции присваивания в действии" id="{4AE03C3A-7426-4978-A966-CC465AED4171}">
          <p14:sldIdLst>
            <p14:sldId id="641"/>
            <p14:sldId id="375"/>
            <p14:sldId id="376"/>
          </p14:sldIdLst>
        </p14:section>
        <p14:section name="Статические методы" id="{667FB414-5B1D-411C-99C4-894326E198AB}">
          <p14:sldIdLst>
            <p14:sldId id="313"/>
            <p14:sldId id="415"/>
            <p14:sldId id="416"/>
            <p14:sldId id="417"/>
            <p14:sldId id="418"/>
          </p14:sldIdLst>
        </p14:section>
        <p14:section name="Статические данные" id="{8CADD5A7-E311-4EBE-B0AD-C0AE2EA9AB46}">
          <p14:sldIdLst>
            <p14:sldId id="420"/>
            <p14:sldId id="419"/>
            <p14:sldId id="421"/>
            <p14:sldId id="422"/>
            <p14:sldId id="423"/>
            <p14:sldId id="424"/>
            <p14:sldId id="425"/>
            <p14:sldId id="426"/>
            <p14:sldId id="427"/>
          </p14:sldIdLst>
        </p14:section>
        <p14:section name="Кладбище" id="{40389D9F-E49B-47F9-BDB9-3860F2E86801}">
          <p14:sldIdLst>
            <p14:sldId id="319"/>
            <p14:sldId id="320"/>
            <p14:sldId id="321"/>
            <p14:sldId id="355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-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256" autoAdjust="0"/>
    <p:restoredTop sz="66505" autoAdjust="0"/>
  </p:normalViewPr>
  <p:slideViewPr>
    <p:cSldViewPr>
      <p:cViewPr varScale="1">
        <p:scale>
          <a:sx n="62" d="100"/>
          <a:sy n="62" d="100"/>
        </p:scale>
        <p:origin x="2376" y="28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-7212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slide" Target="slides/slide158.xml"/><Relationship Id="rId170" Type="http://schemas.openxmlformats.org/officeDocument/2006/relationships/slide" Target="slides/slide169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notesMaster" Target="notesMasters/notesMaster1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5" Type="http://schemas.openxmlformats.org/officeDocument/2006/relationships/slide" Target="slides/slide74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61" Type="http://schemas.openxmlformats.org/officeDocument/2006/relationships/slide" Target="slides/slide16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35" Type="http://schemas.openxmlformats.org/officeDocument/2006/relationships/slide" Target="slides/slide134.xml"/><Relationship Id="rId151" Type="http://schemas.openxmlformats.org/officeDocument/2006/relationships/slide" Target="slides/slide150.xml"/><Relationship Id="rId156" Type="http://schemas.openxmlformats.org/officeDocument/2006/relationships/slide" Target="slides/slide155.xml"/><Relationship Id="rId172" Type="http://schemas.openxmlformats.org/officeDocument/2006/relationships/tags" Target="tags/tag1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141" Type="http://schemas.openxmlformats.org/officeDocument/2006/relationships/slide" Target="slides/slide140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162" Type="http://schemas.openxmlformats.org/officeDocument/2006/relationships/slide" Target="slides/slide16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slide" Target="slides/slide130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52" Type="http://schemas.openxmlformats.org/officeDocument/2006/relationships/slide" Target="slides/slide151.xml"/><Relationship Id="rId173" Type="http://schemas.openxmlformats.org/officeDocument/2006/relationships/presProps" Target="pres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slide" Target="slides/slide162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74" Type="http://schemas.openxmlformats.org/officeDocument/2006/relationships/viewProps" Target="viewProps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slide" Target="slides/slide163.xml"/><Relationship Id="rId169" Type="http://schemas.openxmlformats.org/officeDocument/2006/relationships/slide" Target="slides/slide16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theme" Target="theme/theme1.xml"/><Relationship Id="rId16" Type="http://schemas.openxmlformats.org/officeDocument/2006/relationships/slide" Target="slides/slide15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tableStyles" Target="tableStyles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28T16:04:29.88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681 0 784,'-265'13'352,"36"-3"-352,42 19-800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267A01C-1EBA-4F57-910C-24A56814DEBC}" type="datetimeFigureOut">
              <a:rPr lang="ru-RU" smtClean="0"/>
              <a:pPr/>
              <a:t>19.03.2026</a:t>
            </a:fld>
            <a:endParaRPr lang="ru-R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6066AAE-56D7-4996-AF0D-BCEC07780D2B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778122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9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1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4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3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4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8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9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0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1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2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3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3" Type="http://schemas.openxmlformats.org/officeDocument/2006/relationships/hyperlink" Target="https://en.cppreference.com/w/cpp/string/basic_string/npos" TargetMode="External"/><Relationship Id="rId2" Type="http://schemas.openxmlformats.org/officeDocument/2006/relationships/slide" Target="../slides/slide16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На этом слайде мы вводим важное понятие — </a:t>
            </a:r>
            <a:r>
              <a:rPr lang="ru-RU" b="1" dirty="0"/>
              <a:t>парадигма программирования</a:t>
            </a:r>
            <a:r>
              <a:rPr lang="ru-RU" dirty="0"/>
              <a:t>.</a:t>
            </a:r>
          </a:p>
          <a:p>
            <a:r>
              <a:rPr lang="ru-RU" dirty="0"/>
              <a:t>Парадигма — это </a:t>
            </a:r>
            <a:r>
              <a:rPr lang="ru-RU" b="1" dirty="0"/>
              <a:t>общий способ мышления при разработке программы</a:t>
            </a:r>
            <a:r>
              <a:rPr lang="ru-RU" dirty="0"/>
              <a:t>.</a:t>
            </a:r>
          </a:p>
          <a:p>
            <a:br>
              <a:rPr lang="ru-RU" dirty="0"/>
            </a:br>
            <a:r>
              <a:rPr lang="ru-RU" dirty="0"/>
              <a:t>Она определяет, </a:t>
            </a:r>
            <a:r>
              <a:rPr lang="ru-RU" b="1" dirty="0"/>
              <a:t>как программист представляет задачу и организует решение в коде</a:t>
            </a:r>
            <a:r>
              <a:rPr lang="ru-RU" dirty="0"/>
              <a:t>.</a:t>
            </a:r>
          </a:p>
          <a:p>
            <a:r>
              <a:rPr lang="ru-RU" dirty="0"/>
              <a:t>Важно понимать, что парадигма </a:t>
            </a:r>
            <a:r>
              <a:rPr lang="ru-RU" b="1" dirty="0"/>
              <a:t>не зависит от конкретного языка программирования</a:t>
            </a:r>
            <a:r>
              <a:rPr lang="ru-RU" dirty="0"/>
              <a:t>.</a:t>
            </a:r>
          </a:p>
          <a:p>
            <a:br>
              <a:rPr lang="ru-RU" dirty="0"/>
            </a:br>
            <a:r>
              <a:rPr lang="ru-RU" dirty="0"/>
              <a:t>Это скорее </a:t>
            </a:r>
            <a:r>
              <a:rPr lang="ru-RU" b="1" dirty="0"/>
              <a:t>подход или модель решения задач</a:t>
            </a:r>
            <a:r>
              <a:rPr lang="ru-RU" dirty="0"/>
              <a:t>.</a:t>
            </a:r>
          </a:p>
          <a:p>
            <a:r>
              <a:rPr lang="ru-RU" dirty="0"/>
              <a:t>Например, одну и ту же задачу можно решить: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как последовательность действий,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как взаимодействие объектов,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как набор функций без состояния.</a:t>
            </a:r>
          </a:p>
          <a:p>
            <a:r>
              <a:rPr lang="ru-RU" dirty="0"/>
              <a:t>Эти разные способы решения и называются </a:t>
            </a:r>
            <a:r>
              <a:rPr lang="ru-RU" b="1" dirty="0"/>
              <a:t>парадигмами программирования</a:t>
            </a:r>
            <a:r>
              <a:rPr lang="ru-RU" dirty="0"/>
              <a:t>.</a:t>
            </a:r>
          </a:p>
          <a:p>
            <a:r>
              <a:rPr lang="ru-RU" dirty="0"/>
              <a:t>Современные языки программирования обычно </a:t>
            </a:r>
            <a:r>
              <a:rPr lang="ru-RU" b="1" dirty="0"/>
              <a:t>поддерживают несколько парадигм одновременно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Например:</a:t>
            </a:r>
          </a:p>
          <a:p>
            <a:endParaRPr lang="ru-RU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Python,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C++,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JavaScript.</a:t>
            </a:r>
          </a:p>
          <a:p>
            <a:endParaRPr lang="ru-RU" dirty="0"/>
          </a:p>
          <a:p>
            <a:r>
              <a:rPr lang="ru-RU" dirty="0"/>
              <a:t>В них можно писать и процедурный код, и объектно-ориентированный, а иногда и функциональный.</a:t>
            </a:r>
          </a:p>
          <a:p>
            <a:r>
              <a:rPr lang="ru-RU" dirty="0"/>
              <a:t>В этой лекции мы будем говорить о </a:t>
            </a:r>
            <a:r>
              <a:rPr lang="ru-RU" b="1" dirty="0"/>
              <a:t>объектно-ориентированной парадигме</a:t>
            </a:r>
            <a:r>
              <a:rPr lang="ru-RU" dirty="0"/>
              <a:t>, которая является одной из самых распространённых в современной разработке.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9893783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Исторически одной из первых широко признанных парадигм стало </a:t>
            </a:r>
            <a:r>
              <a:rPr lang="ru-RU" b="1" dirty="0"/>
              <a:t>структурное программирование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Эта идея была предложена </a:t>
            </a:r>
            <a:r>
              <a:rPr lang="ru-RU" b="1" dirty="0" err="1"/>
              <a:t>Эдсгером</a:t>
            </a:r>
            <a:r>
              <a:rPr lang="ru-RU" b="1" dirty="0"/>
              <a:t> </a:t>
            </a:r>
            <a:r>
              <a:rPr lang="ru-RU" b="1" dirty="0" err="1"/>
              <a:t>Дейкстрой</a:t>
            </a:r>
            <a:r>
              <a:rPr lang="ru-RU" b="1" dirty="0"/>
              <a:t> в 1968 году</a:t>
            </a:r>
            <a:r>
              <a:rPr lang="ru-RU" dirty="0"/>
              <a:t>. Он обратил внимание на проблему, которая существовала в ранних программах: программисты активно использовали оператор </a:t>
            </a:r>
            <a:r>
              <a:rPr lang="ru-RU" b="1" dirty="0" err="1"/>
              <a:t>goto</a:t>
            </a:r>
            <a:r>
              <a:rPr lang="ru-RU" dirty="0"/>
              <a:t>, позволяющий перейти к любой строке программы.</a:t>
            </a:r>
            <a:endParaRPr lang="en-US" dirty="0"/>
          </a:p>
          <a:p>
            <a:endParaRPr lang="ru-RU" dirty="0"/>
          </a:p>
          <a:p>
            <a:r>
              <a:rPr lang="ru-RU" dirty="0"/>
              <a:t>Из-за большого количества таких переходов программа быстро превращалась в так называемый </a:t>
            </a:r>
            <a:r>
              <a:rPr lang="ru-RU" b="1" dirty="0"/>
              <a:t>«</a:t>
            </a:r>
            <a:r>
              <a:rPr lang="ru-RU" b="1" dirty="0" err="1"/>
              <a:t>spaghetti</a:t>
            </a:r>
            <a:r>
              <a:rPr lang="ru-RU" b="1" dirty="0"/>
              <a:t> </a:t>
            </a:r>
            <a:r>
              <a:rPr lang="ru-RU" b="1" dirty="0" err="1"/>
              <a:t>code</a:t>
            </a:r>
            <a:r>
              <a:rPr lang="ru-RU" b="1" dirty="0"/>
              <a:t>»</a:t>
            </a:r>
            <a:r>
              <a:rPr lang="ru-RU" dirty="0"/>
              <a:t> — код, в котором очень трудно понять логику выполнения.</a:t>
            </a:r>
          </a:p>
          <a:p>
            <a:r>
              <a:rPr lang="ru-RU" dirty="0" err="1"/>
              <a:t>Дейкстра</a:t>
            </a:r>
            <a:r>
              <a:rPr lang="ru-RU" dirty="0"/>
              <a:t> предложил ограничить произвольные переходы и строить программы только из нескольких </a:t>
            </a:r>
            <a:r>
              <a:rPr lang="ru-RU" b="1" dirty="0"/>
              <a:t>понятных управляющих конструкций</a:t>
            </a:r>
            <a:r>
              <a:rPr lang="ru-RU" dirty="0"/>
              <a:t>.</a:t>
            </a:r>
          </a:p>
          <a:p>
            <a:r>
              <a:rPr lang="ru-RU" dirty="0"/>
              <a:t>Таких конструкций всего три.</a:t>
            </a:r>
          </a:p>
          <a:p>
            <a:endParaRPr lang="ru-RU" dirty="0"/>
          </a:p>
          <a:p>
            <a:r>
              <a:rPr lang="ru-RU" dirty="0"/>
              <a:t>Первая — </a:t>
            </a:r>
            <a:r>
              <a:rPr lang="ru-RU" b="1" dirty="0"/>
              <a:t>последовательность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Инструкции выполняются одна за другой в том порядке, в котором они записаны.</a:t>
            </a:r>
          </a:p>
          <a:p>
            <a:endParaRPr lang="ru-RU" dirty="0"/>
          </a:p>
          <a:p>
            <a:r>
              <a:rPr lang="ru-RU" dirty="0"/>
              <a:t>Вторая — </a:t>
            </a:r>
            <a:r>
              <a:rPr lang="ru-RU" b="1" dirty="0"/>
              <a:t>ветвление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Программа может выбрать один из нескольких вариантов выполнения в зависимости от условия. Обычно это реализуется через конструкции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if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else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Третья — </a:t>
            </a:r>
            <a:r>
              <a:rPr lang="ru-RU" b="1" dirty="0"/>
              <a:t>циклы</a:t>
            </a:r>
            <a:r>
              <a:rPr lang="ru-RU" dirty="0"/>
              <a:t>, которые позволяют выполнять одно и то же действие несколько раз. Например,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while</a:t>
            </a:r>
            <a:r>
              <a:rPr lang="ru-RU" dirty="0"/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for</a:t>
            </a:r>
            <a:r>
              <a:rPr lang="ru-RU" dirty="0"/>
              <a:t> или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do-while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Главная идея структурного программирования состоит в том, что </a:t>
            </a:r>
            <a:r>
              <a:rPr lang="ru-RU" b="1" dirty="0"/>
              <a:t>управление программой должно быть прозрачным и предсказуемым</a:t>
            </a:r>
            <a:r>
              <a:rPr lang="ru-RU" dirty="0"/>
              <a:t>, а не строиться на произвольных переходах.</a:t>
            </a:r>
            <a:endParaRPr lang="en-US" dirty="0"/>
          </a:p>
          <a:p>
            <a:endParaRPr lang="ru-RU" dirty="0"/>
          </a:p>
          <a:p>
            <a:r>
              <a:rPr lang="ru-RU" dirty="0"/>
              <a:t>Эта парадигма стала фундаментом для большинства современных языков программирования и подготовила основу для появления </a:t>
            </a:r>
            <a:r>
              <a:rPr lang="ru-RU" b="1" dirty="0"/>
              <a:t>объектно-ориентированного программирования</a:t>
            </a:r>
            <a:r>
              <a:rPr lang="ru-RU" dirty="0"/>
              <a:t>, о котором мы будем говорить дальше.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7449461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Следующим этапом развития идей структурного программирования стало </a:t>
            </a:r>
            <a:r>
              <a:rPr lang="ru-RU" b="1" dirty="0"/>
              <a:t>процедурное программирование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Если структурное программирование отвечает на вопрос </a:t>
            </a:r>
            <a:r>
              <a:rPr lang="ru-RU" b="1" dirty="0"/>
              <a:t>как управлять потоком выполнения программы</a:t>
            </a:r>
            <a:r>
              <a:rPr lang="ru-RU" dirty="0"/>
              <a:t>, то процедурное программирование добавляет ещё одну важную идею — </a:t>
            </a:r>
            <a:r>
              <a:rPr lang="ru-RU" b="1" dirty="0"/>
              <a:t>разбиение программы на подпрограммы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Вместо того чтобы писать весь код одной длинной последовательностью инструкций, программист выделяет отдельные логические части программы и оформляет их в виде </a:t>
            </a:r>
            <a:r>
              <a:rPr lang="ru-RU" b="1" dirty="0"/>
              <a:t>процедур или функций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Каждая такая подпрограмма выполняет </a:t>
            </a:r>
            <a:r>
              <a:rPr lang="ru-RU" b="1" dirty="0"/>
              <a:t>конкретную задачу</a:t>
            </a:r>
            <a:r>
              <a:rPr lang="ru-RU" dirty="0"/>
              <a:t>. Например: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вычисление значения,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обработку данных,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вывод информации.</a:t>
            </a:r>
          </a:p>
          <a:p>
            <a:r>
              <a:rPr lang="ru-RU" dirty="0"/>
              <a:t>Это даёт несколько важных преимуществ.</a:t>
            </a:r>
          </a:p>
          <a:p>
            <a:endParaRPr lang="ru-RU" dirty="0"/>
          </a:p>
          <a:p>
            <a:r>
              <a:rPr lang="ru-RU" dirty="0"/>
              <a:t>Во-первых, появляется </a:t>
            </a:r>
            <a:r>
              <a:rPr lang="ru-RU" b="1" dirty="0"/>
              <a:t>повторное использование кода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Одна и та же функция может вызываться из разных частей программы.</a:t>
            </a:r>
          </a:p>
          <a:p>
            <a:endParaRPr lang="ru-RU" dirty="0"/>
          </a:p>
          <a:p>
            <a:r>
              <a:rPr lang="ru-RU" dirty="0"/>
              <a:t>Во-вторых, программа становится </a:t>
            </a:r>
            <a:r>
              <a:rPr lang="ru-RU" b="1" dirty="0"/>
              <a:t>проще для чтения и понимания</a:t>
            </a:r>
            <a:r>
              <a:rPr lang="ru-RU" dirty="0"/>
              <a:t>, потому что она разбита на небольшие логические блоки.</a:t>
            </a:r>
          </a:p>
          <a:p>
            <a:endParaRPr lang="ru-RU" dirty="0"/>
          </a:p>
          <a:p>
            <a:r>
              <a:rPr lang="ru-RU" dirty="0"/>
              <a:t>Кроме того, такой подход </a:t>
            </a:r>
            <a:r>
              <a:rPr lang="ru-RU" b="1" dirty="0"/>
              <a:t>упрощает разработку и сопровождение программы</a:t>
            </a:r>
            <a:r>
              <a:rPr lang="ru-RU" dirty="0"/>
              <a:t>, поскольку изменения можно вносить внутри отдельных функций, не затрагивая всю систему.</a:t>
            </a:r>
          </a:p>
          <a:p>
            <a:endParaRPr lang="ru-RU" dirty="0"/>
          </a:p>
          <a:p>
            <a:r>
              <a:rPr lang="ru-RU" dirty="0"/>
              <a:t>Процедурное программирование долгое время было основным подходом к разработке программ и лежит в основе таких языков, как </a:t>
            </a:r>
            <a:r>
              <a:rPr lang="ru-RU" b="1" dirty="0"/>
              <a:t>C, </a:t>
            </a:r>
            <a:r>
              <a:rPr lang="ru-RU" b="1" dirty="0" err="1"/>
              <a:t>Pascal</a:t>
            </a:r>
            <a:r>
              <a:rPr lang="ru-RU" b="1" dirty="0"/>
              <a:t> и ранние версии BASIC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Однако со временем стало ясно, что для сложных программ этого подхода недостаточно. Это привело к развитию </a:t>
            </a:r>
            <a:r>
              <a:rPr lang="ru-RU" b="1" dirty="0"/>
              <a:t>объектно-ориентированного программирования</a:t>
            </a:r>
            <a:r>
              <a:rPr lang="ru-RU" dirty="0"/>
              <a:t>, которое мы рассмотрим далее.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9059836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перейдём к основной теме нашей лекции — </a:t>
            </a:r>
            <a:r>
              <a:rPr lang="ru-RU" b="1" dirty="0"/>
              <a:t>объектно-ориентированному программированию</a:t>
            </a:r>
            <a:r>
              <a:rPr lang="ru-RU" dirty="0"/>
              <a:t>, или сокращённо </a:t>
            </a:r>
            <a:r>
              <a:rPr lang="ru-RU" b="1" dirty="0"/>
              <a:t>ООП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В отличие от процедурного подхода, где программа рассматривается как набор функций и процедур, в ООП программа строится вокруг </a:t>
            </a:r>
            <a:r>
              <a:rPr lang="ru-RU" b="1" dirty="0"/>
              <a:t>объектов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b="1" dirty="0"/>
              <a:t>Объект</a:t>
            </a:r>
            <a:r>
              <a:rPr lang="ru-RU" dirty="0"/>
              <a:t> — это сущность, которая объединяет: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b="1" dirty="0"/>
              <a:t>данные</a:t>
            </a:r>
            <a:r>
              <a:rPr lang="ru-RU" dirty="0"/>
              <a:t>, описывающие состояние объекта,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и </a:t>
            </a:r>
            <a:r>
              <a:rPr lang="ru-RU" b="1" dirty="0"/>
              <a:t>операции</a:t>
            </a:r>
            <a:r>
              <a:rPr lang="ru-RU" dirty="0"/>
              <a:t>, которые можно выполнять с этими данными.</a:t>
            </a:r>
          </a:p>
          <a:p>
            <a:r>
              <a:rPr lang="ru-RU" dirty="0"/>
              <a:t>Такие объекты взаимодействуют между собой, передавая сообщения или вызывая методы друг друга.</a:t>
            </a:r>
          </a:p>
          <a:p>
            <a:endParaRPr lang="ru-RU" dirty="0"/>
          </a:p>
          <a:p>
            <a:r>
              <a:rPr lang="ru-RU" dirty="0"/>
              <a:t>Важная идея ООП заключается в том, что программа пытается </a:t>
            </a:r>
            <a:r>
              <a:rPr lang="ru-RU" b="1" dirty="0"/>
              <a:t>моделировать элементы реального мира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Например, в системе интернет-магазина могут существовать объекты: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пользователь,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товар,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заказ,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корзина.</a:t>
            </a:r>
          </a:p>
          <a:p>
            <a:endParaRPr lang="ru-RU" dirty="0"/>
          </a:p>
          <a:p>
            <a:r>
              <a:rPr lang="ru-RU" dirty="0"/>
              <a:t>Каждый объект имеет собственные данные и набор действий, которые он может выполнять.</a:t>
            </a:r>
          </a:p>
          <a:p>
            <a:endParaRPr lang="ru-RU" dirty="0"/>
          </a:p>
          <a:p>
            <a:r>
              <a:rPr lang="ru-RU" dirty="0"/>
              <a:t>Объекты создаются на основе </a:t>
            </a:r>
            <a:r>
              <a:rPr lang="ru-RU" b="1" dirty="0"/>
              <a:t>классов</a:t>
            </a:r>
            <a:r>
              <a:rPr lang="ru-RU" dirty="0"/>
              <a:t> — специальных шаблонов, которые определяют структуру данных и доступные операции.</a:t>
            </a:r>
            <a:endParaRPr lang="en-US" dirty="0"/>
          </a:p>
          <a:p>
            <a:endParaRPr lang="ru-RU" dirty="0"/>
          </a:p>
          <a:p>
            <a:r>
              <a:rPr lang="ru-RU" dirty="0"/>
              <a:t>Такой подход помогает: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лучше структурировать большие программы,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уменьшать сложность системы,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и делать код более понятным и расширяемым.</a:t>
            </a:r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endParaRPr lang="ru-RU" dirty="0"/>
          </a:p>
          <a:p>
            <a:r>
              <a:rPr lang="ru-RU" dirty="0"/>
              <a:t>Далее мы подробно рассмотрим основные принципы объектно-ориентированного программирования и то, как они реализуются в современных языках программирования.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9038613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="0" dirty="0"/>
              <a:t>Одним из ключевых понятий объектно-ориентированного программирования является абстракция.</a:t>
            </a:r>
          </a:p>
          <a:p>
            <a:r>
              <a:rPr lang="ru-RU" b="0" dirty="0"/>
              <a:t>Абстракция означает, что при работе с объектом мы используем только те характеристики, которые важны для нашей задачи, и игнорируем детали, которые не имеют значения.</a:t>
            </a:r>
          </a:p>
          <a:p>
            <a:endParaRPr lang="ru-RU" b="0" dirty="0"/>
          </a:p>
          <a:p>
            <a:r>
              <a:rPr lang="ru-RU" b="0" dirty="0"/>
              <a:t>Другими словами, абстракция отвечает на вопрос что делает объект, но не требует знать как именно он это делает внутри.</a:t>
            </a:r>
          </a:p>
          <a:p>
            <a:endParaRPr lang="ru-RU" b="0" dirty="0"/>
          </a:p>
          <a:p>
            <a:r>
              <a:rPr lang="ru-RU" b="0" dirty="0"/>
              <a:t>В программировании абстракция часто реализуется через так называемую абстракцию данных.</a:t>
            </a:r>
            <a:br>
              <a:rPr lang="ru-RU" b="0" dirty="0"/>
            </a:br>
            <a:r>
              <a:rPr lang="ru-RU" b="0" dirty="0"/>
              <a:t>Её идея состоит в том, что тип данных связывается с набором операций, которые можно над ним выполнять.</a:t>
            </a:r>
          </a:p>
          <a:p>
            <a:r>
              <a:rPr lang="ru-RU" b="0" dirty="0"/>
              <a:t>При этом пользователь этого типа данных не имеет прямого доступа к его внутреннему устройству.</a:t>
            </a:r>
            <a:br>
              <a:rPr lang="ru-RU" b="0" dirty="0"/>
            </a:br>
            <a:r>
              <a:rPr lang="ru-RU" b="0" dirty="0"/>
              <a:t>Он работает с данными через предоставленные методы и операции.</a:t>
            </a:r>
          </a:p>
          <a:p>
            <a:endParaRPr lang="ru-RU" b="0" dirty="0"/>
          </a:p>
          <a:p>
            <a:r>
              <a:rPr lang="ru-RU" b="0" dirty="0"/>
              <a:t>Например, в языке C++ класс </a:t>
            </a:r>
            <a:r>
              <a:rPr lang="ru-RU" sz="1200" b="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b="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b="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</a:t>
            </a:r>
            <a:r>
              <a:rPr lang="ru-RU" b="0" dirty="0"/>
              <a:t> представляет тип данных </a:t>
            </a:r>
            <a:r>
              <a:rPr lang="ru-RU" b="0" i="1" dirty="0"/>
              <a:t>строка</a:t>
            </a:r>
            <a:r>
              <a:rPr lang="ru-RU" b="0" dirty="0"/>
              <a:t>.</a:t>
            </a:r>
            <a:br>
              <a:rPr lang="ru-RU" b="0" dirty="0"/>
            </a:br>
            <a:r>
              <a:rPr lang="ru-RU" b="0" dirty="0"/>
              <a:t>Мы можем выполнять операции — например, соединять строки, искать символы или получать длину строки — но нам не нужно знать, как именно строка хранится в памяти.</a:t>
            </a:r>
          </a:p>
          <a:p>
            <a:endParaRPr lang="ru-RU" b="0" dirty="0"/>
          </a:p>
          <a:p>
            <a:r>
              <a:rPr lang="ru-RU" b="0" dirty="0"/>
              <a:t>Аналогично можно создать собственные типы данных: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b="0" dirty="0"/>
              <a:t>класс </a:t>
            </a:r>
            <a:r>
              <a:rPr lang="ru-RU" b="0" dirty="0" err="1"/>
              <a:t>Rational</a:t>
            </a:r>
            <a:r>
              <a:rPr lang="ru-RU" b="0" dirty="0"/>
              <a:t>, представляющий дроби,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b="0" dirty="0"/>
              <a:t>класс </a:t>
            </a:r>
            <a:r>
              <a:rPr lang="ru-RU" b="0" dirty="0" err="1"/>
              <a:t>Complex</a:t>
            </a:r>
            <a:r>
              <a:rPr lang="ru-RU" b="0" dirty="0"/>
              <a:t>, представляющий комплексные числа.</a:t>
            </a:r>
          </a:p>
          <a:p>
            <a:endParaRPr lang="ru-RU" b="0" dirty="0"/>
          </a:p>
          <a:p>
            <a:r>
              <a:rPr lang="ru-RU" b="0" dirty="0"/>
              <a:t>Главное преимущество абстракции заключается в том, что внутреннюю реализацию можно менять, не затрагивая код, который использует этот тип данных.</a:t>
            </a:r>
          </a:p>
          <a:p>
            <a:endParaRPr lang="ru-RU" b="0" dirty="0"/>
          </a:p>
          <a:p>
            <a:r>
              <a:rPr lang="ru-RU" b="0" dirty="0"/>
              <a:t>Это делает программы более гибкими, понятными и удобными для развития.</a:t>
            </a:r>
          </a:p>
          <a:p>
            <a:r>
              <a:rPr lang="ru-RU" b="0" dirty="0"/>
              <a:t>Абстракция является одной из фундаментальных идей объектно-ориентированного программирования и лежит в основе многих других принципов ООП.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4845546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Следующий важный принцип объектно-ориентированного программирования — </a:t>
            </a:r>
            <a:r>
              <a:rPr lang="ru-RU" b="1" dirty="0"/>
              <a:t>инкапсуляция</a:t>
            </a:r>
            <a:r>
              <a:rPr lang="ru-RU" dirty="0"/>
              <a:t>.</a:t>
            </a:r>
          </a:p>
          <a:p>
            <a:r>
              <a:rPr lang="ru-RU" dirty="0"/>
              <a:t>Инкапсуляция означает, что объект </a:t>
            </a:r>
            <a:r>
              <a:rPr lang="ru-RU" b="1" dirty="0"/>
              <a:t>скрывает своё внутреннее устройство</a:t>
            </a:r>
            <a:r>
              <a:rPr lang="ru-RU" dirty="0"/>
              <a:t> от внешнего мира.</a:t>
            </a:r>
            <a:br>
              <a:rPr lang="ru-RU" dirty="0"/>
            </a:br>
            <a:r>
              <a:rPr lang="ru-RU" dirty="0"/>
              <a:t>Другие части программы не должны знать, </a:t>
            </a:r>
            <a:r>
              <a:rPr lang="ru-RU" b="1" dirty="0"/>
              <a:t>как именно объект реализован внутри</a:t>
            </a:r>
            <a:r>
              <a:rPr lang="ru-RU" dirty="0"/>
              <a:t>.</a:t>
            </a:r>
          </a:p>
          <a:p>
            <a:r>
              <a:rPr lang="ru-RU" dirty="0"/>
              <a:t>Поэтому класс часто рассматривают как </a:t>
            </a:r>
            <a:r>
              <a:rPr lang="ru-RU" b="1" dirty="0"/>
              <a:t>«чёрный ящик»</a:t>
            </a:r>
            <a:r>
              <a:rPr lang="ru-RU" dirty="0"/>
              <a:t>.</a:t>
            </a:r>
          </a:p>
          <a:p>
            <a:br>
              <a:rPr lang="ru-RU" dirty="0"/>
            </a:br>
            <a:r>
              <a:rPr lang="ru-RU" dirty="0"/>
              <a:t>Снаружи мы видим только </a:t>
            </a:r>
            <a:r>
              <a:rPr lang="ru-RU" b="1" dirty="0"/>
              <a:t>его интерфейс</a:t>
            </a:r>
            <a:r>
              <a:rPr lang="ru-RU" dirty="0"/>
              <a:t> — то есть набор операций, которые можно выполнять с объектом.</a:t>
            </a:r>
          </a:p>
          <a:p>
            <a:r>
              <a:rPr lang="ru-RU" dirty="0"/>
              <a:t>При этом внутренние детали — структура данных, алгоритмы и вспомогательные методы — остаются </a:t>
            </a:r>
            <a:r>
              <a:rPr lang="ru-RU" b="1" dirty="0"/>
              <a:t>скрытыми внутри реализации класса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Таким образом, любой класс можно условно разделить на две части: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b="1" dirty="0"/>
              <a:t>интерфейс</a:t>
            </a:r>
            <a:r>
              <a:rPr lang="ru-RU" dirty="0"/>
              <a:t>, через который происходит взаимодействие с объектом,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b="1" dirty="0"/>
              <a:t>реализация</a:t>
            </a:r>
            <a:r>
              <a:rPr lang="ru-RU" dirty="0"/>
              <a:t>, которая определяет, как именно выполняются операции.</a:t>
            </a:r>
          </a:p>
          <a:p>
            <a:endParaRPr lang="ru-RU" dirty="0"/>
          </a:p>
          <a:p>
            <a:r>
              <a:rPr lang="ru-RU" dirty="0"/>
              <a:t>Ещё одна важная роль инкапсуляции — </a:t>
            </a:r>
            <a:r>
              <a:rPr lang="ru-RU" b="1" dirty="0"/>
              <a:t>поддержание инвариантов класса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Инварианты — это условия, которые всегда должны оставаться истинными для корректного состояния объекта.</a:t>
            </a:r>
            <a:br>
              <a:rPr lang="ru-RU" dirty="0"/>
            </a:br>
            <a:r>
              <a:rPr lang="ru-RU" dirty="0"/>
              <a:t>Например, в классе банковского счёта баланс может не должен становиться отрицательным, если это запрещено правилами системы.</a:t>
            </a:r>
          </a:p>
          <a:p>
            <a:endParaRPr lang="ru-RU" dirty="0"/>
          </a:p>
          <a:p>
            <a:r>
              <a:rPr lang="ru-RU" dirty="0"/>
              <a:t>Поскольку доступ к данным контролируется через методы класса, именно реализация класса отвечает за то, чтобы такие условия не нарушались.</a:t>
            </a:r>
          </a:p>
          <a:p>
            <a:endParaRPr lang="ru-RU" dirty="0"/>
          </a:p>
          <a:p>
            <a:r>
              <a:rPr lang="ru-RU" dirty="0"/>
              <a:t>Инкапсуляция также помогает </a:t>
            </a:r>
            <a:r>
              <a:rPr lang="ru-RU" b="1" dirty="0"/>
              <a:t>уменьшить количество зависимостей между классами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Это означает, что один класс можно изменить, не затрагивая другие части программы.</a:t>
            </a:r>
          </a:p>
          <a:p>
            <a:endParaRPr lang="ru-RU" dirty="0"/>
          </a:p>
          <a:p>
            <a:r>
              <a:rPr lang="ru-RU" dirty="0"/>
              <a:t>В результате код становится </a:t>
            </a:r>
            <a:r>
              <a:rPr lang="ru-RU" b="1" dirty="0"/>
              <a:t>более устойчивым к изменениям, проще тестируется и легче поддерживается</a:t>
            </a:r>
            <a:r>
              <a:rPr lang="ru-RU" dirty="0"/>
              <a:t>.</a:t>
            </a:r>
          </a:p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1139641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="1" dirty="0"/>
              <a:t>Текст докладчика</a:t>
            </a:r>
          </a:p>
          <a:p>
            <a:r>
              <a:rPr lang="ru-RU" dirty="0"/>
              <a:t>На этом слайде приведён пример класса </a:t>
            </a:r>
            <a:r>
              <a:rPr lang="ru-RU" b="1" dirty="0"/>
              <a:t>Car</a:t>
            </a:r>
            <a:r>
              <a:rPr lang="ru-RU" dirty="0"/>
              <a:t>, который хорошо иллюстрирует принцип </a:t>
            </a:r>
            <a:r>
              <a:rPr lang="ru-RU" b="1" dirty="0"/>
              <a:t>инкапсуляции</a:t>
            </a:r>
            <a:r>
              <a:rPr lang="ru-RU" dirty="0"/>
              <a:t>.</a:t>
            </a:r>
          </a:p>
          <a:p>
            <a:r>
              <a:rPr lang="ru-RU" dirty="0"/>
              <a:t>Этот класс моделирует простой объект — </a:t>
            </a:r>
            <a:r>
              <a:rPr lang="ru-RU" b="1" dirty="0"/>
              <a:t>автомобиль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У него есть состояние и набор операций, которые можно с ним выполнять.</a:t>
            </a:r>
          </a:p>
          <a:p>
            <a:r>
              <a:rPr lang="ru-RU" dirty="0"/>
              <a:t>Начнём с </a:t>
            </a:r>
            <a:r>
              <a:rPr lang="ru-RU" b="1" dirty="0"/>
              <a:t>внутреннего состояния объекта</a:t>
            </a:r>
            <a:r>
              <a:rPr lang="ru-RU" dirty="0"/>
              <a:t>.</a:t>
            </a:r>
          </a:p>
          <a:p>
            <a:br>
              <a:rPr lang="ru-RU" dirty="0"/>
            </a:br>
            <a:r>
              <a:rPr lang="ru-RU" dirty="0"/>
              <a:t>В классе есть два поля: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m_isTurnedOn</a:t>
            </a:r>
            <a:r>
              <a:rPr lang="ru-RU" dirty="0"/>
              <a:t> — показывает, включён ли двигатель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m_speed</a:t>
            </a:r>
            <a:r>
              <a:rPr lang="ru-RU" dirty="0"/>
              <a:t> — текущая скорость автомобиля</a:t>
            </a:r>
          </a:p>
          <a:p>
            <a:endParaRPr lang="ru-RU" dirty="0"/>
          </a:p>
          <a:p>
            <a:r>
              <a:rPr lang="ru-RU" dirty="0"/>
              <a:t>Обратите внимание, что эти поля находятся в разделе </a:t>
            </a:r>
            <a:r>
              <a:rPr lang="ru-RU" b="1" dirty="0" err="1"/>
              <a:t>private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Это означает, что </a:t>
            </a:r>
            <a:r>
              <a:rPr lang="ru-RU" b="1" dirty="0"/>
              <a:t>напрямую изменить их извне нельзя</a:t>
            </a:r>
            <a:r>
              <a:rPr lang="ru-RU" dirty="0"/>
              <a:t>.</a:t>
            </a:r>
          </a:p>
          <a:p>
            <a:r>
              <a:rPr lang="ru-RU" dirty="0"/>
              <a:t>Другими словами, внешний код </a:t>
            </a:r>
            <a:r>
              <a:rPr lang="ru-RU" b="1" dirty="0"/>
              <a:t>не может просто взять и изменить скорость или состояние двигателя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Он должен делать это только через методы класса.</a:t>
            </a:r>
          </a:p>
          <a:p>
            <a:r>
              <a:rPr lang="ru-RU" dirty="0"/>
              <a:t>Теперь посмотрим на </a:t>
            </a:r>
            <a:r>
              <a:rPr lang="ru-RU" b="1" dirty="0"/>
              <a:t>публичный интерфейс</a:t>
            </a:r>
            <a:r>
              <a:rPr lang="ru-RU" dirty="0"/>
              <a:t> — раздел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public</a:t>
            </a:r>
            <a:r>
              <a:rPr lang="ru-RU" dirty="0"/>
              <a:t>.</a:t>
            </a:r>
          </a:p>
          <a:p>
            <a:r>
              <a:rPr lang="ru-RU" dirty="0"/>
              <a:t>Здесь находятся методы, через которые пользователь класса взаимодействует с </a:t>
            </a:r>
          </a:p>
          <a:p>
            <a:r>
              <a:rPr lang="ru-RU" dirty="0"/>
              <a:t>автомобилем: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TurnEngineOn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— включает двигатель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IsEngineTurnedOn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— позволяет узнать, работает ли двигатель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Stop()</a:t>
            </a:r>
            <a:r>
              <a:rPr lang="ru-RU" dirty="0"/>
              <a:t> — останавливает автомобиль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GetSpeed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— возвращает текущую скорость</a:t>
            </a:r>
          </a:p>
          <a:p>
            <a:endParaRPr lang="ru-RU" dirty="0"/>
          </a:p>
          <a:p>
            <a:r>
              <a:rPr lang="ru-RU" dirty="0"/>
              <a:t>Есть также более сложные методы.</a:t>
            </a:r>
          </a:p>
          <a:p>
            <a:r>
              <a:rPr lang="ru-RU" dirty="0"/>
              <a:t>Например, метод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TurnEngineOff</a:t>
            </a:r>
            <a:r>
              <a:rPr lang="ru-RU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Он выключает двигатель </a:t>
            </a:r>
            <a:r>
              <a:rPr lang="ru-RU" b="1" dirty="0"/>
              <a:t>только если скорость равна нулю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Если автомобиль движется, двигатель выключить нельзя.</a:t>
            </a:r>
          </a:p>
          <a:p>
            <a:r>
              <a:rPr lang="ru-RU" dirty="0"/>
              <a:t>Это хороший пример того, как класс </a:t>
            </a:r>
            <a:r>
              <a:rPr lang="ru-RU" b="1" dirty="0"/>
              <a:t>контролирует корректность своего состояния</a:t>
            </a:r>
            <a:r>
              <a:rPr lang="ru-RU" dirty="0"/>
              <a:t>.</a:t>
            </a:r>
          </a:p>
          <a:p>
            <a:r>
              <a:rPr lang="ru-RU" dirty="0"/>
              <a:t>Другой пример — метод </a:t>
            </a:r>
            <a:r>
              <a:rPr lang="ru-RU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Drive()</a:t>
            </a:r>
            <a:r>
              <a:rPr lang="ru-RU" dirty="0"/>
              <a:t>.</a:t>
            </a:r>
          </a:p>
          <a:p>
            <a:br>
              <a:rPr lang="ru-RU" dirty="0"/>
            </a:br>
            <a:r>
              <a:rPr lang="ru-RU" dirty="0"/>
              <a:t>Он позволяет задать скорость автомобиля, но только если выполняются условия: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двигатель включён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скорость находится в допустимом диапазоне — от 0 до 150</a:t>
            </a:r>
          </a:p>
          <a:p>
            <a:r>
              <a:rPr lang="ru-RU" dirty="0"/>
              <a:t>Если условия не выполняются, метод просто возвращает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false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Таким образом, класс </a:t>
            </a:r>
            <a:r>
              <a:rPr lang="ru-RU" b="1" dirty="0"/>
              <a:t>не позволяет объекту перейти в некорректное состояние</a:t>
            </a:r>
            <a:r>
              <a:rPr lang="ru-RU" dirty="0"/>
              <a:t>.</a:t>
            </a:r>
          </a:p>
          <a:p>
            <a:r>
              <a:rPr lang="ru-RU" dirty="0"/>
              <a:t>Именно в этом и проявляется инкапсуляция: внутренние данные скрыты, а доступ к ним возможен только через методы, которые </a:t>
            </a:r>
            <a:r>
              <a:rPr lang="ru-RU" b="1" dirty="0"/>
              <a:t>контролируют допустимые операции</a:t>
            </a:r>
            <a:r>
              <a:rPr lang="ru-RU" dirty="0"/>
              <a:t>.</a:t>
            </a:r>
          </a:p>
          <a:p>
            <a:r>
              <a:rPr lang="ru-RU" dirty="0"/>
              <a:t>В результате объект </a:t>
            </a:r>
            <a:r>
              <a:rPr lang="ru-RU" b="1" dirty="0"/>
              <a:t>сам отвечает за корректность своего состояния</a:t>
            </a:r>
            <a:r>
              <a:rPr lang="ru-RU" dirty="0"/>
              <a:t>, а внешний код работает только через понятный и безопасный интерфейс.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3993612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3348859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На этом слайде приведён пример, демонстрирующий использование </a:t>
            </a:r>
            <a:r>
              <a:rPr lang="ru-RU" b="1" dirty="0"/>
              <a:t>наследования</a:t>
            </a:r>
            <a:r>
              <a:rPr lang="ru-RU" dirty="0"/>
              <a:t>.</a:t>
            </a:r>
          </a:p>
          <a:p>
            <a:r>
              <a:rPr lang="ru-RU" dirty="0"/>
              <a:t>Сначала определим несколько простых структур.</a:t>
            </a:r>
          </a:p>
          <a:p>
            <a:r>
              <a:rPr lang="ru-RU" dirty="0"/>
              <a:t>Структура </a:t>
            </a:r>
            <a:r>
              <a:rPr lang="ru-RU" b="1" dirty="0"/>
              <a:t>Point</a:t>
            </a:r>
            <a:r>
              <a:rPr lang="ru-RU" dirty="0"/>
              <a:t> описывает точку на плоскости и содержит две координаты —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x</a:t>
            </a:r>
            <a:r>
              <a:rPr lang="ru-RU" dirty="0"/>
              <a:t> 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y</a:t>
            </a:r>
            <a:r>
              <a:rPr lang="ru-RU" dirty="0"/>
              <a:t>.</a:t>
            </a:r>
          </a:p>
          <a:p>
            <a:r>
              <a:rPr lang="ru-RU" dirty="0"/>
              <a:t>Далее определён класс </a:t>
            </a:r>
            <a:r>
              <a:rPr lang="ru-RU" b="1" dirty="0" err="1"/>
              <a:t>GameObject</a:t>
            </a:r>
            <a:r>
              <a:rPr lang="ru-RU" dirty="0"/>
              <a:t>.</a:t>
            </a:r>
          </a:p>
          <a:p>
            <a:br>
              <a:rPr lang="ru-RU" dirty="0"/>
            </a:br>
            <a:r>
              <a:rPr lang="ru-RU" dirty="0"/>
              <a:t>Это базовый класс, который описывает </a:t>
            </a:r>
            <a:r>
              <a:rPr lang="ru-RU" b="1" dirty="0"/>
              <a:t>любой объект в игре</a:t>
            </a:r>
            <a:r>
              <a:rPr lang="ru-RU" dirty="0"/>
              <a:t>, имеющий положение в пространстве.</a:t>
            </a:r>
          </a:p>
          <a:p>
            <a:r>
              <a:rPr lang="ru-RU" dirty="0"/>
              <a:t>У него есть приватное поле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m_position</a:t>
            </a:r>
            <a:r>
              <a:rPr lang="ru-RU" dirty="0"/>
              <a:t>, которое хранит координаты объекта.</a:t>
            </a:r>
            <a:br>
              <a:rPr lang="ru-RU" dirty="0"/>
            </a:br>
            <a:r>
              <a:rPr lang="ru-RU" dirty="0"/>
              <a:t>Для работы с этим полем предоставлены два метода: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GetPosition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— возвращает текущую позицию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SetPosition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— устанавливает новую позицию</a:t>
            </a:r>
          </a:p>
          <a:p>
            <a:r>
              <a:rPr lang="ru-RU" dirty="0"/>
              <a:t>Таким образом, любой объект, унаследованный от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GameObject</a:t>
            </a:r>
            <a:r>
              <a:rPr lang="ru-RU" dirty="0"/>
              <a:t>, автоматически получает возможность </a:t>
            </a:r>
            <a:r>
              <a:rPr lang="ru-RU" b="1" dirty="0"/>
              <a:t>хранить и изменять свою позицию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Далее определена структура </a:t>
            </a:r>
            <a:r>
              <a:rPr lang="ru-RU" b="1" dirty="0" err="1"/>
              <a:t>Vector</a:t>
            </a:r>
            <a:r>
              <a:rPr lang="ru-RU" dirty="0"/>
              <a:t>, которая описывает вектор скорости.</a:t>
            </a:r>
            <a:br>
              <a:rPr lang="ru-RU" dirty="0"/>
            </a:br>
            <a:endParaRPr lang="ru-RU" dirty="0"/>
          </a:p>
          <a:p>
            <a:r>
              <a:rPr lang="ru-RU" dirty="0"/>
              <a:t>Теперь рассмотрим класс </a:t>
            </a:r>
            <a:r>
              <a:rPr lang="ru-RU" b="1" dirty="0" err="1"/>
              <a:t>Rocket</a:t>
            </a:r>
            <a:r>
              <a:rPr lang="ru-RU" dirty="0"/>
              <a:t>.</a:t>
            </a:r>
          </a:p>
          <a:p>
            <a:r>
              <a:rPr lang="ru-RU" dirty="0"/>
              <a:t>Этот класс </a:t>
            </a:r>
            <a:r>
              <a:rPr lang="ru-RU" b="1" dirty="0"/>
              <a:t>наследуется от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GameObject</a:t>
            </a:r>
            <a:r>
              <a:rPr lang="ru-RU" dirty="0"/>
              <a:t>, что видно из записи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class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Rocket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: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public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GameObject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Это означает, что ракета автоматически получает все возможности базового класса — например, хранение позиции и методы для работы с ней.</a:t>
            </a:r>
          </a:p>
          <a:p>
            <a:endParaRPr lang="ru-RU" dirty="0"/>
          </a:p>
          <a:p>
            <a:r>
              <a:rPr lang="ru-RU" dirty="0"/>
              <a:t>В классе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Rocket</a:t>
            </a:r>
            <a:r>
              <a:rPr lang="ru-RU" dirty="0"/>
              <a:t> добавляется новое поле —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m_speed</a:t>
            </a:r>
            <a:r>
              <a:rPr lang="ru-RU" dirty="0"/>
              <a:t>, которое хранит скорость ракеты.</a:t>
            </a:r>
          </a:p>
          <a:p>
            <a:r>
              <a:rPr lang="ru-RU" dirty="0"/>
              <a:t>Также добавляется метод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SetSpeed</a:t>
            </a:r>
            <a:r>
              <a:rPr lang="ru-RU" dirty="0"/>
              <a:t>, позволяющий задать скорость.</a:t>
            </a:r>
          </a:p>
          <a:p>
            <a:r>
              <a:rPr lang="ru-RU" dirty="0"/>
              <a:t>Главная логика находится в методе </a:t>
            </a:r>
            <a:r>
              <a:rPr lang="ru-RU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Update</a:t>
            </a:r>
            <a:r>
              <a:rPr lang="ru-RU" dirty="0"/>
              <a:t>.</a:t>
            </a:r>
          </a:p>
          <a:p>
            <a:br>
              <a:rPr lang="ru-RU" dirty="0"/>
            </a:br>
            <a:r>
              <a:rPr lang="ru-RU" dirty="0"/>
              <a:t>Этот метод обновляет положение ракеты в зависимости от её скорости и прошедшего времени.</a:t>
            </a:r>
          </a:p>
          <a:p>
            <a:r>
              <a:rPr lang="ru-RU" dirty="0"/>
              <a:t>Сначала текущая позиция считывается с помощью метода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GetPosition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Затем координаты изменяются согласно формуле движения:</a:t>
            </a:r>
          </a:p>
          <a:p>
            <a:r>
              <a:rPr lang="ru-RU" dirty="0"/>
              <a:t>новая координата равна старой координате плюс скорость, умноженная на время.</a:t>
            </a:r>
          </a:p>
          <a:p>
            <a:endParaRPr lang="ru-RU" dirty="0"/>
          </a:p>
          <a:p>
            <a:r>
              <a:rPr lang="ru-RU" dirty="0"/>
              <a:t>После этого обновлённая позиция записывается обратно с помощью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SetPosition</a:t>
            </a:r>
            <a:r>
              <a:rPr lang="ru-RU" dirty="0"/>
              <a:t>.</a:t>
            </a:r>
          </a:p>
          <a:p>
            <a:r>
              <a:rPr lang="ru-RU" dirty="0"/>
              <a:t>В функции </a:t>
            </a:r>
            <a:r>
              <a:rPr lang="ru-RU" b="1" dirty="0" err="1"/>
              <a:t>main</a:t>
            </a:r>
            <a:r>
              <a:rPr lang="ru-RU" dirty="0"/>
              <a:t> создаётся объект ракеты.</a:t>
            </a:r>
          </a:p>
          <a:p>
            <a:r>
              <a:rPr lang="ru-RU" dirty="0"/>
              <a:t>Мы задаём ей скорость — 10 по оси X и 20 по оси Y.</a:t>
            </a:r>
            <a:br>
              <a:rPr lang="ru-RU" dirty="0"/>
            </a:br>
            <a:r>
              <a:rPr lang="ru-RU" dirty="0"/>
              <a:t>Затем вызываем метод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Update</a:t>
            </a:r>
            <a:r>
              <a:rPr lang="ru-RU" dirty="0"/>
              <a:t>, передавая время, равное одной секунде.</a:t>
            </a:r>
          </a:p>
          <a:p>
            <a:r>
              <a:rPr lang="ru-RU" dirty="0"/>
              <a:t>После этого получаем новую позицию ракеты и выводим её на экран.</a:t>
            </a:r>
          </a:p>
          <a:p>
            <a:endParaRPr lang="ru-RU" dirty="0"/>
          </a:p>
          <a:p>
            <a:r>
              <a:rPr lang="ru-RU" dirty="0"/>
              <a:t>Таким образом, пример показывает, как </a:t>
            </a:r>
            <a:r>
              <a:rPr lang="ru-RU" b="1" dirty="0"/>
              <a:t>наследование позволяет повторно использовать код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Класс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Rocket</a:t>
            </a:r>
            <a:r>
              <a:rPr lang="ru-RU" dirty="0"/>
              <a:t> не реализует хранение позиции заново — он просто </a:t>
            </a:r>
            <a:r>
              <a:rPr lang="ru-RU" b="1" dirty="0"/>
              <a:t>наследует эту функциональность от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GameObject</a:t>
            </a:r>
            <a:r>
              <a:rPr lang="ru-RU" dirty="0"/>
              <a:t> и добавляет только ту логику, которая относится непосредственно к ракете.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5005029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Следующий важный принцип объектно-ориентированного программирования — </a:t>
            </a:r>
            <a:r>
              <a:rPr lang="ru-RU" b="1" dirty="0"/>
              <a:t>полиморфизм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Полиморфизм означает, что </a:t>
            </a:r>
            <a:r>
              <a:rPr lang="ru-RU" b="1" dirty="0"/>
              <a:t>разные объекты можно использовать через один и тот же интерфейс</a:t>
            </a:r>
            <a:r>
              <a:rPr lang="ru-RU" dirty="0"/>
              <a:t>. При этом конкретная реализация операции может отличаться в разных классах.</a:t>
            </a:r>
          </a:p>
          <a:p>
            <a:endParaRPr lang="ru-RU" dirty="0"/>
          </a:p>
          <a:p>
            <a:r>
              <a:rPr lang="ru-RU" dirty="0"/>
              <a:t>Обычно это реализуется с помощью </a:t>
            </a:r>
            <a:r>
              <a:rPr lang="ru-RU" b="1" dirty="0"/>
              <a:t>наследования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Есть базовый класс, который задаёт общий интерфейс, и несколько производных классов, которые реализуют методы по-своему.</a:t>
            </a:r>
          </a:p>
          <a:p>
            <a:endParaRPr lang="ru-RU" dirty="0"/>
          </a:p>
          <a:p>
            <a:r>
              <a:rPr lang="ru-RU" dirty="0"/>
              <a:t>Например, можно иметь базовый класс </a:t>
            </a:r>
            <a:r>
              <a:rPr lang="ru-RU" b="1" dirty="0" err="1"/>
              <a:t>Shape</a:t>
            </a:r>
            <a:r>
              <a:rPr lang="ru-RU" dirty="0"/>
              <a:t> с методом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Draw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Классы </a:t>
            </a:r>
            <a:r>
              <a:rPr lang="ru-RU" b="1" dirty="0" err="1"/>
              <a:t>Circle</a:t>
            </a:r>
            <a:r>
              <a:rPr lang="ru-RU" dirty="0"/>
              <a:t>, </a:t>
            </a:r>
            <a:r>
              <a:rPr lang="ru-RU" b="1" dirty="0" err="1"/>
              <a:t>Rectangle</a:t>
            </a:r>
            <a:r>
              <a:rPr lang="ru-RU" dirty="0"/>
              <a:t> и </a:t>
            </a:r>
            <a:r>
              <a:rPr lang="ru-RU" b="1" dirty="0" err="1"/>
              <a:t>Triangle</a:t>
            </a:r>
            <a:r>
              <a:rPr lang="ru-RU" dirty="0"/>
              <a:t> будут реализовывать этот метод по-разному.</a:t>
            </a:r>
          </a:p>
          <a:p>
            <a:endParaRPr lang="ru-RU" dirty="0"/>
          </a:p>
          <a:p>
            <a:r>
              <a:rPr lang="ru-RU" dirty="0"/>
              <a:t>При этом программа может работать со всеми этими объектами одинаково — просто вызывая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Draw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.</a:t>
            </a:r>
          </a:p>
          <a:p>
            <a:r>
              <a:rPr lang="ru-RU" dirty="0"/>
              <a:t>Таким образом, полиморфизм позволяет писать </a:t>
            </a:r>
            <a:r>
              <a:rPr lang="ru-RU" b="1" dirty="0"/>
              <a:t>более универсальный и расширяемый код</a:t>
            </a:r>
            <a:r>
              <a:rPr lang="ru-RU" dirty="0"/>
              <a:t>, который легко дополнять новыми типами объектов.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5150676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этом примере показано, как работает </a:t>
            </a:r>
            <a:r>
              <a:rPr lang="ru-RU" b="1" dirty="0"/>
              <a:t>полиморфизм</a:t>
            </a:r>
            <a:r>
              <a:rPr lang="ru-RU" dirty="0"/>
              <a:t>.</a:t>
            </a:r>
          </a:p>
          <a:p>
            <a:r>
              <a:rPr lang="ru-RU" dirty="0"/>
              <a:t>Сначала определён базовый класс </a:t>
            </a:r>
            <a:r>
              <a:rPr lang="ru-RU" b="1" dirty="0" err="1"/>
              <a:t>GameObject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Он хранит позицию объекта и объявляет виртуальный метод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Update</a:t>
            </a:r>
            <a:r>
              <a:rPr lang="ru-RU" dirty="0"/>
              <a:t>, который отвечает за обновление состояния объекта.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6619332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="0" dirty="0"/>
              <a:t>Далее определены два класса-наследника: </a:t>
            </a:r>
            <a:r>
              <a:rPr lang="ru-RU" b="0" dirty="0" err="1"/>
              <a:t>Rocket</a:t>
            </a:r>
            <a:r>
              <a:rPr lang="ru-RU" b="0" dirty="0"/>
              <a:t> и </a:t>
            </a:r>
            <a:r>
              <a:rPr lang="ru-RU" b="0" dirty="0" err="1"/>
              <a:t>Ball</a:t>
            </a:r>
            <a:r>
              <a:rPr lang="ru-RU" b="0" dirty="0"/>
              <a:t>.</a:t>
            </a:r>
            <a:br>
              <a:rPr lang="ru-RU" b="0" dirty="0"/>
            </a:br>
            <a:r>
              <a:rPr lang="ru-RU" b="0" dirty="0"/>
              <a:t>Оба класса переопределяют метод </a:t>
            </a:r>
            <a:r>
              <a:rPr lang="ru-RU" sz="1200" b="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Update</a:t>
            </a:r>
            <a:r>
              <a:rPr lang="ru-RU" b="0" dirty="0"/>
              <a:t>, но делают это по-разному.</a:t>
            </a:r>
          </a:p>
          <a:p>
            <a:r>
              <a:rPr lang="ru-RU" b="0" dirty="0"/>
              <a:t>Ракета просто перемещается с постоянной скоростью.</a:t>
            </a:r>
            <a:br>
              <a:rPr lang="ru-RU" b="0" dirty="0"/>
            </a:br>
            <a:r>
              <a:rPr lang="ru-RU" b="0" dirty="0"/>
              <a:t>А мяч дополнительно учитывает гравитацию, которая изменяет вертикальную скорость.</a:t>
            </a:r>
          </a:p>
          <a:p>
            <a:r>
              <a:rPr lang="ru-RU" b="0" dirty="0"/>
              <a:t>Функция </a:t>
            </a:r>
            <a:r>
              <a:rPr lang="ru-RU" sz="1200" b="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UpdateGameObject</a:t>
            </a:r>
            <a:r>
              <a:rPr lang="ru-RU" b="0" dirty="0"/>
              <a:t> принимает ссылку на базовый класс </a:t>
            </a:r>
            <a:r>
              <a:rPr lang="ru-RU" sz="1200" b="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GameObject</a:t>
            </a:r>
            <a:r>
              <a:rPr lang="ru-RU" b="0" dirty="0"/>
              <a:t> и вызывает метод </a:t>
            </a:r>
            <a:r>
              <a:rPr lang="ru-RU" sz="1200" b="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Update</a:t>
            </a:r>
            <a:r>
              <a:rPr lang="ru-RU" b="0" dirty="0"/>
              <a:t>.</a:t>
            </a:r>
          </a:p>
          <a:p>
            <a:r>
              <a:rPr lang="ru-RU" b="0" dirty="0"/>
              <a:t>В </a:t>
            </a:r>
            <a:r>
              <a:rPr lang="ru-RU" sz="1200" b="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</a:t>
            </a:r>
            <a:r>
              <a:rPr lang="ru-RU" b="0" dirty="0"/>
              <a:t> мы создаём объекты </a:t>
            </a:r>
            <a:r>
              <a:rPr lang="ru-RU" sz="1200" b="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Rocket</a:t>
            </a:r>
            <a:r>
              <a:rPr lang="ru-RU" b="0" dirty="0"/>
              <a:t> и </a:t>
            </a:r>
            <a:r>
              <a:rPr lang="ru-RU" sz="1200" b="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Ball</a:t>
            </a:r>
            <a:r>
              <a:rPr lang="ru-RU" b="0" dirty="0"/>
              <a:t> и передаём их в эту функцию.</a:t>
            </a:r>
          </a:p>
          <a:p>
            <a:r>
              <a:rPr lang="ru-RU" b="0" dirty="0"/>
              <a:t>Хотя функция работает с типом </a:t>
            </a:r>
            <a:r>
              <a:rPr lang="ru-RU" sz="1200" b="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GameObject</a:t>
            </a:r>
            <a:r>
              <a:rPr lang="ru-RU" b="0" dirty="0"/>
              <a:t>, во время выполнения вызывается правильная реализация метода </a:t>
            </a:r>
            <a:r>
              <a:rPr lang="ru-RU" sz="1200" b="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Update</a:t>
            </a:r>
            <a:r>
              <a:rPr lang="ru-RU" b="0" dirty="0"/>
              <a:t> для каждого объекта.</a:t>
            </a:r>
          </a:p>
          <a:p>
            <a:r>
              <a:rPr lang="ru-RU" b="0" dirty="0"/>
              <a:t>Это и есть полиморфизм — возможность работать с разными объектами через общий интерфейс.</a:t>
            </a:r>
          </a:p>
          <a:p>
            <a:endParaRPr lang="en-US" b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3410945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Этот пример показывает, как в C++ используется </a:t>
            </a:r>
            <a:r>
              <a:rPr lang="ru-RU" b="1" dirty="0"/>
              <a:t>полиморфизм потоков ввода и вывода</a:t>
            </a:r>
            <a:r>
              <a:rPr lang="ru-RU" dirty="0"/>
              <a:t>.</a:t>
            </a:r>
          </a:p>
          <a:p>
            <a:r>
              <a:rPr lang="ru-RU" dirty="0"/>
              <a:t>Функции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ReadPoint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WritePoint</a:t>
            </a:r>
            <a:r>
              <a:rPr lang="ru-RU" dirty="0"/>
              <a:t> работают не с конкретными типами потоков, а с базовыми типами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istream</a:t>
            </a:r>
            <a:r>
              <a:rPr lang="ru-RU" dirty="0"/>
              <a:t> и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ostream</a:t>
            </a:r>
            <a:r>
              <a:rPr lang="ru-RU" dirty="0"/>
              <a:t>.</a:t>
            </a:r>
          </a:p>
          <a:p>
            <a:r>
              <a:rPr lang="ru-RU" dirty="0"/>
              <a:t>Благодаря этому одна и та же функция может работать с разными источниками данных: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строковым потоком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istringstream</a:t>
            </a:r>
            <a:r>
              <a:rPr lang="ru-RU" dirty="0"/>
              <a:t>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файловыми потоками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ifstream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ofstream</a:t>
            </a:r>
            <a:r>
              <a:rPr lang="ru-RU" dirty="0"/>
              <a:t>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а также стандартными потоками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cin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cout</a:t>
            </a:r>
            <a:r>
              <a:rPr lang="ru-RU" dirty="0"/>
              <a:t>.</a:t>
            </a:r>
          </a:p>
          <a:p>
            <a:r>
              <a:rPr lang="ru-RU" dirty="0"/>
              <a:t>Например, сначала точки читаются из строки, затем записываются в файл, после чего снова читаются из файла.</a:t>
            </a:r>
          </a:p>
          <a:p>
            <a:r>
              <a:rPr lang="ru-RU" dirty="0"/>
              <a:t>При этом код функций </a:t>
            </a:r>
            <a:r>
              <a:rPr lang="ru-RU" b="1" dirty="0"/>
              <a:t>не меняется</a:t>
            </a:r>
            <a:r>
              <a:rPr lang="ru-RU" dirty="0"/>
              <a:t>, потому что все эти типы потоков имеют общий интерфейс.</a:t>
            </a:r>
            <a:endParaRPr lang="en-US" dirty="0"/>
          </a:p>
          <a:p>
            <a:endParaRPr lang="ru-RU" dirty="0"/>
          </a:p>
          <a:p>
            <a:r>
              <a:rPr lang="ru-RU" dirty="0"/>
              <a:t>Это хороший пример </a:t>
            </a:r>
            <a:r>
              <a:rPr lang="ru-RU" b="1" dirty="0"/>
              <a:t>полиморфизма в стандартной библиотеке C++</a:t>
            </a:r>
            <a:r>
              <a:rPr lang="ru-RU" dirty="0"/>
              <a:t>, когда разные объекты можно использовать через один и тот же интерфейс.</a:t>
            </a:r>
          </a:p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6248760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этом примере показано использование </a:t>
            </a:r>
            <a:r>
              <a:rPr lang="ru-RU" b="1" dirty="0"/>
              <a:t>полиморфизма через абстрактный базовый класс</a:t>
            </a:r>
            <a:r>
              <a:rPr lang="ru-RU" dirty="0"/>
              <a:t>.</a:t>
            </a:r>
          </a:p>
          <a:p>
            <a:r>
              <a:rPr lang="ru-RU" dirty="0"/>
              <a:t>Класс </a:t>
            </a:r>
            <a:r>
              <a:rPr lang="ru-RU" b="1" dirty="0" err="1"/>
              <a:t>Shape</a:t>
            </a:r>
            <a:r>
              <a:rPr lang="ru-RU" dirty="0"/>
              <a:t> описывает общую идею геометрической фигуры.</a:t>
            </a:r>
          </a:p>
          <a:p>
            <a:br>
              <a:rPr lang="ru-RU" dirty="0"/>
            </a:br>
            <a:r>
              <a:rPr lang="ru-RU" dirty="0"/>
              <a:t>Он содержит общее свойство — </a:t>
            </a:r>
            <a:r>
              <a:rPr lang="ru-RU" b="1" dirty="0"/>
              <a:t>цвет</a:t>
            </a:r>
            <a:r>
              <a:rPr lang="ru-RU" dirty="0"/>
              <a:t>, а также объявляет чисто виртуальный 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GetArea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, который должен вычислять площадь фигуры.</a:t>
            </a:r>
          </a:p>
          <a:p>
            <a:endParaRPr lang="ru-RU" dirty="0"/>
          </a:p>
          <a:p>
            <a:r>
              <a:rPr lang="ru-RU" dirty="0"/>
              <a:t>Поскольку этот метод объявлен как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= 0</a:t>
            </a:r>
            <a:r>
              <a:rPr lang="ru-RU" dirty="0"/>
              <a:t>, класс </a:t>
            </a:r>
            <a:r>
              <a:rPr lang="ru-RU" b="1" dirty="0" err="1"/>
              <a:t>Shape</a:t>
            </a:r>
            <a:r>
              <a:rPr lang="ru-RU" b="1" dirty="0"/>
              <a:t> является абстрактным</a:t>
            </a:r>
            <a:r>
              <a:rPr lang="ru-RU" dirty="0"/>
              <a:t> — объекты этого класса создавать нельзя.</a:t>
            </a:r>
          </a:p>
          <a:p>
            <a:endParaRPr lang="ru-RU" dirty="0"/>
          </a:p>
          <a:p>
            <a:r>
              <a:rPr lang="ru-RU" dirty="0"/>
              <a:t>Далее определён класс </a:t>
            </a:r>
            <a:r>
              <a:rPr lang="ru-RU" b="1" dirty="0" err="1"/>
              <a:t>Circle</a:t>
            </a:r>
            <a:r>
              <a:rPr lang="ru-RU" dirty="0"/>
              <a:t>, который наследуется от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Shape</a:t>
            </a:r>
            <a:r>
              <a:rPr lang="ru-RU" dirty="0"/>
              <a:t> и реализует 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GetArea</a:t>
            </a:r>
            <a:r>
              <a:rPr lang="ru-RU" dirty="0"/>
              <a:t>, вычисляя площадь круга.</a:t>
            </a:r>
          </a:p>
          <a:p>
            <a:endParaRPr lang="ru-RU" dirty="0"/>
          </a:p>
          <a:p>
            <a:r>
              <a:rPr lang="ru-RU" dirty="0"/>
              <a:t>Функция </a:t>
            </a:r>
            <a:r>
              <a:rPr lang="ru-RU" b="1" dirty="0" err="1"/>
              <a:t>PrintShapeInfo</a:t>
            </a:r>
            <a:r>
              <a:rPr lang="ru-RU" dirty="0"/>
              <a:t> принимает ссылку на базовый класс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Shape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Она выводит цвет фигуры и вызывает 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GetArea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При передаче в эту функцию объектов разных типов фигур будет автоматически вызываться </a:t>
            </a:r>
            <a:r>
              <a:rPr lang="ru-RU" b="1" dirty="0"/>
              <a:t>соответствующая реализация метода</a:t>
            </a:r>
            <a:r>
              <a:rPr lang="ru-RU" dirty="0"/>
              <a:t>, что и демонстрирует полиморфизм.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0183661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введём два основных понятия объектно-ориентированного программирования — </a:t>
            </a:r>
            <a:r>
              <a:rPr lang="ru-RU" b="1" dirty="0"/>
              <a:t>класс</a:t>
            </a:r>
            <a:r>
              <a:rPr lang="ru-RU" dirty="0"/>
              <a:t> и </a:t>
            </a:r>
            <a:r>
              <a:rPr lang="ru-RU" b="1" dirty="0"/>
              <a:t>объект</a:t>
            </a:r>
            <a:r>
              <a:rPr lang="ru-RU" dirty="0"/>
              <a:t>.</a:t>
            </a:r>
          </a:p>
          <a:p>
            <a:r>
              <a:rPr lang="ru-RU" b="1" dirty="0"/>
              <a:t>Класс</a:t>
            </a:r>
            <a:r>
              <a:rPr lang="ru-RU" dirty="0"/>
              <a:t> — это пользовательский тип данных, который объединяет </a:t>
            </a:r>
            <a:r>
              <a:rPr lang="ru-RU" b="1" dirty="0"/>
              <a:t>данные и методы для работы с ними</a:t>
            </a:r>
            <a:r>
              <a:rPr lang="ru-RU" dirty="0"/>
              <a:t>.</a:t>
            </a:r>
          </a:p>
          <a:p>
            <a:br>
              <a:rPr lang="ru-RU" dirty="0"/>
            </a:br>
            <a:r>
              <a:rPr lang="ru-RU" dirty="0"/>
              <a:t>Фактически класс описывает, </a:t>
            </a:r>
            <a:r>
              <a:rPr lang="ru-RU" b="1" dirty="0"/>
              <a:t>как устроен объект и что он умеет делать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b="1" dirty="0"/>
              <a:t>Объект</a:t>
            </a:r>
            <a:r>
              <a:rPr lang="ru-RU" dirty="0"/>
              <a:t> — это </a:t>
            </a:r>
            <a:r>
              <a:rPr lang="ru-RU" b="1" dirty="0"/>
              <a:t>конкретный экземпляр класса</a:t>
            </a:r>
            <a:r>
              <a:rPr lang="ru-RU" dirty="0"/>
              <a:t>, созданный в программе.</a:t>
            </a:r>
          </a:p>
          <a:p>
            <a:endParaRPr lang="ru-RU" dirty="0"/>
          </a:p>
          <a:p>
            <a:r>
              <a:rPr lang="ru-RU" dirty="0"/>
              <a:t>Можно провести простую аналогию.</a:t>
            </a:r>
            <a:br>
              <a:rPr lang="ru-RU" dirty="0"/>
            </a:br>
            <a:r>
              <a:rPr lang="ru-RU" dirty="0"/>
              <a:t>Например, </a:t>
            </a:r>
            <a:r>
              <a:rPr lang="ru-RU" b="1" dirty="0"/>
              <a:t>«собака»</a:t>
            </a:r>
            <a:r>
              <a:rPr lang="ru-RU" dirty="0"/>
              <a:t> — это класс, то есть общее описание.</a:t>
            </a:r>
            <a:br>
              <a:rPr lang="ru-RU" dirty="0"/>
            </a:br>
            <a:r>
              <a:rPr lang="ru-RU" dirty="0"/>
              <a:t>А </a:t>
            </a:r>
            <a:r>
              <a:rPr lang="ru-RU" b="1" dirty="0"/>
              <a:t>собака Жучка</a:t>
            </a:r>
            <a:r>
              <a:rPr lang="ru-RU" dirty="0"/>
              <a:t> — это конкретный объект этого класса.</a:t>
            </a:r>
          </a:p>
          <a:p>
            <a:endParaRPr lang="ru-RU" dirty="0"/>
          </a:p>
          <a:p>
            <a:r>
              <a:rPr lang="ru-RU" dirty="0"/>
              <a:t>Ещё одна аналогия — </a:t>
            </a:r>
            <a:r>
              <a:rPr lang="ru-RU" b="1" dirty="0"/>
              <a:t>чертёж дома</a:t>
            </a:r>
            <a:r>
              <a:rPr lang="ru-RU" dirty="0"/>
              <a:t> и </a:t>
            </a:r>
            <a:r>
              <a:rPr lang="ru-RU" b="1" dirty="0"/>
              <a:t>построенный дом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Чертёж описывает структуру — это класс.</a:t>
            </a:r>
          </a:p>
          <a:p>
            <a:br>
              <a:rPr lang="ru-RU" dirty="0"/>
            </a:br>
            <a:r>
              <a:rPr lang="ru-RU" dirty="0"/>
              <a:t>А дом, построенный по этому чертежу, — это объект.</a:t>
            </a:r>
          </a:p>
          <a:p>
            <a:r>
              <a:rPr lang="ru-RU" dirty="0"/>
              <a:t>Таким образом, класс задаёт </a:t>
            </a:r>
            <a:r>
              <a:rPr lang="ru-RU" b="1" dirty="0"/>
              <a:t>шаблон</a:t>
            </a:r>
            <a:r>
              <a:rPr lang="ru-RU" dirty="0"/>
              <a:t>, а объекты — это </a:t>
            </a:r>
            <a:r>
              <a:rPr lang="ru-RU" b="1" dirty="0"/>
              <a:t>конкретные реализации этого шаблона в программе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1252033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Каждый объект в программе хранит определённую информацию о своём состоянии.</a:t>
            </a:r>
            <a:br>
              <a:rPr lang="ru-RU" dirty="0"/>
            </a:br>
            <a:r>
              <a:rPr lang="ru-RU" dirty="0"/>
              <a:t>Эта информация хранится в </a:t>
            </a:r>
            <a:r>
              <a:rPr lang="ru-RU" b="1" dirty="0"/>
              <a:t>членах-данных</a:t>
            </a:r>
            <a:r>
              <a:rPr lang="ru-RU" dirty="0"/>
              <a:t>, которые также называют </a:t>
            </a:r>
            <a:r>
              <a:rPr lang="ru-RU" b="1" dirty="0"/>
              <a:t>переменными объекта</a:t>
            </a:r>
            <a:r>
              <a:rPr lang="ru-RU" dirty="0"/>
              <a:t>.</a:t>
            </a:r>
          </a:p>
          <a:p>
            <a:r>
              <a:rPr lang="ru-RU" dirty="0"/>
              <a:t>Члены-данные описывают </a:t>
            </a:r>
            <a:r>
              <a:rPr lang="ru-RU" b="1" dirty="0"/>
              <a:t>характеристики объекта</a:t>
            </a:r>
            <a:r>
              <a:rPr lang="ru-RU" dirty="0"/>
              <a:t>.</a:t>
            </a:r>
          </a:p>
          <a:p>
            <a:br>
              <a:rPr lang="ru-RU" dirty="0"/>
            </a:br>
            <a:r>
              <a:rPr lang="ru-RU" dirty="0"/>
              <a:t>Например, для объекта автомобиля это может быть скорость, состояние двигателя или уровень топлива.</a:t>
            </a:r>
          </a:p>
          <a:p>
            <a:r>
              <a:rPr lang="ru-RU" dirty="0"/>
              <a:t>Именно эти данные определяют </a:t>
            </a:r>
            <a:r>
              <a:rPr lang="ru-RU" b="1" dirty="0"/>
              <a:t>текущее состояние объекта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Когда состояние объекта меняется, на самом деле происходит </a:t>
            </a:r>
            <a:r>
              <a:rPr lang="ru-RU" b="1" dirty="0"/>
              <a:t>изменение значений его данных</a:t>
            </a:r>
            <a:r>
              <a:rPr lang="ru-RU" dirty="0"/>
              <a:t>.</a:t>
            </a:r>
          </a:p>
          <a:p>
            <a:r>
              <a:rPr lang="ru-RU" dirty="0"/>
              <a:t>Важно также понимать, что </a:t>
            </a:r>
            <a:r>
              <a:rPr lang="ru-RU" b="1" dirty="0"/>
              <a:t>каждый объект имеет собственный набор данных</a:t>
            </a:r>
            <a:r>
              <a:rPr lang="ru-RU" dirty="0"/>
              <a:t>.</a:t>
            </a:r>
          </a:p>
          <a:p>
            <a:br>
              <a:rPr lang="ru-RU" dirty="0"/>
            </a:br>
            <a:r>
              <a:rPr lang="ru-RU" dirty="0"/>
              <a:t>Например, если в программе создано несколько объектов автомобиля, у каждого из них будет </a:t>
            </a:r>
            <a:r>
              <a:rPr lang="ru-RU" b="1" dirty="0"/>
              <a:t>своя скорость и своё состояние двигателя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20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487743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На этом слайде показан простой пример класса </a:t>
            </a:r>
            <a:r>
              <a:rPr lang="ru-RU" b="1" dirty="0"/>
              <a:t>Car</a:t>
            </a:r>
            <a:r>
              <a:rPr lang="ru-RU" dirty="0"/>
              <a:t>, который описывает объект «автомобиль».</a:t>
            </a:r>
          </a:p>
          <a:p>
            <a:r>
              <a:rPr lang="ru-RU" dirty="0"/>
              <a:t>Сначала объявлены перечисления </a:t>
            </a:r>
            <a:r>
              <a:rPr lang="ru-RU" b="1" dirty="0" err="1"/>
              <a:t>MakeOfCar</a:t>
            </a:r>
            <a:r>
              <a:rPr lang="ru-RU" dirty="0"/>
              <a:t> и </a:t>
            </a:r>
            <a:r>
              <a:rPr lang="ru-RU" b="1" dirty="0"/>
              <a:t>Color</a:t>
            </a:r>
            <a:r>
              <a:rPr lang="ru-RU" dirty="0"/>
              <a:t>, которые задают возможные значения марки автомобиля и его цвета.</a:t>
            </a:r>
          </a:p>
          <a:p>
            <a:endParaRPr lang="ru-RU" dirty="0"/>
          </a:p>
          <a:p>
            <a:r>
              <a:rPr lang="ru-RU" dirty="0"/>
              <a:t>Далее определён класс </a:t>
            </a:r>
            <a:r>
              <a:rPr lang="ru-RU" b="1" dirty="0"/>
              <a:t>Car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Внутри класса находятся </a:t>
            </a:r>
            <a:r>
              <a:rPr lang="ru-RU" b="1" dirty="0"/>
              <a:t>члены-данные</a:t>
            </a:r>
            <a:r>
              <a:rPr lang="ru-RU" dirty="0"/>
              <a:t>, которые описывают состояние автомобиля.</a:t>
            </a:r>
          </a:p>
          <a:p>
            <a:endParaRPr lang="ru-RU" dirty="0"/>
          </a:p>
          <a:p>
            <a:r>
              <a:rPr lang="ru-RU" dirty="0"/>
              <a:t>Например: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m_make</a:t>
            </a:r>
            <a:r>
              <a:rPr lang="ru-RU" dirty="0"/>
              <a:t> — марка автомобиля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m_yearOfManufacture</a:t>
            </a:r>
            <a:r>
              <a:rPr lang="ru-RU" dirty="0"/>
              <a:t> — год выпуска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m_color</a:t>
            </a:r>
            <a:r>
              <a:rPr lang="ru-RU" dirty="0"/>
              <a:t> — цвет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m_fuel</a:t>
            </a:r>
            <a:r>
              <a:rPr lang="ru-RU" dirty="0"/>
              <a:t> — количество топлива</a:t>
            </a:r>
          </a:p>
          <a:p>
            <a:endParaRPr lang="ru-RU" dirty="0"/>
          </a:p>
          <a:p>
            <a:r>
              <a:rPr lang="ru-RU" dirty="0"/>
              <a:t>Эти переменные хранят </a:t>
            </a:r>
            <a:r>
              <a:rPr lang="ru-RU" b="1" dirty="0"/>
              <a:t>характеристики конкретного автомобиля</a:t>
            </a:r>
            <a:r>
              <a:rPr lang="ru-RU" dirty="0"/>
              <a:t>.</a:t>
            </a:r>
          </a:p>
          <a:p>
            <a:r>
              <a:rPr lang="ru-RU" dirty="0"/>
              <a:t>Когда в программе создаётся объект класса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Car</a:t>
            </a:r>
            <a:r>
              <a:rPr lang="ru-RU" dirty="0"/>
              <a:t>, он будет иметь </a:t>
            </a:r>
            <a:r>
              <a:rPr lang="ru-RU" b="1" dirty="0"/>
              <a:t>собственный набор этих данных</a:t>
            </a:r>
            <a:r>
              <a:rPr lang="ru-RU" dirty="0"/>
              <a:t>, которые определяют его текущее состояние.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21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3697322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На этом слайде показано, что </a:t>
            </a:r>
            <a:r>
              <a:rPr lang="ru-RU" b="1" dirty="0"/>
              <a:t>один и тот же объект можно представить разными способами</a:t>
            </a:r>
            <a:r>
              <a:rPr lang="ru-RU" dirty="0"/>
              <a:t>.</a:t>
            </a:r>
          </a:p>
          <a:p>
            <a:r>
              <a:rPr lang="ru-RU" dirty="0"/>
              <a:t>В первом варианте класс </a:t>
            </a:r>
            <a:r>
              <a:rPr lang="ru-RU" b="1" dirty="0"/>
              <a:t>Time</a:t>
            </a:r>
            <a:r>
              <a:rPr lang="ru-RU" dirty="0"/>
              <a:t> хранит время как три отдельных поля: часы, минуты и секунды.</a:t>
            </a:r>
          </a:p>
          <a:p>
            <a:endParaRPr lang="ru-RU" dirty="0"/>
          </a:p>
          <a:p>
            <a:r>
              <a:rPr lang="ru-RU" dirty="0"/>
              <a:t>Во втором варианте время хранится как </a:t>
            </a:r>
            <a:r>
              <a:rPr lang="ru-RU" b="1" dirty="0"/>
              <a:t>общее количество секунд с полуночи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Обе реализации описывают один и тот же объект — время, но используют </a:t>
            </a:r>
            <a:r>
              <a:rPr lang="ru-RU" b="1" dirty="0"/>
              <a:t>разное внутреннее представление данных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Это хороший пример того, что </a:t>
            </a:r>
            <a:r>
              <a:rPr lang="ru-RU" b="1" dirty="0"/>
              <a:t>внутренняя реализация класса может отличаться</a:t>
            </a:r>
            <a:r>
              <a:rPr lang="ru-RU" dirty="0"/>
              <a:t>, а внешний интерфейс при этом может оставаться одинаковым.</a:t>
            </a:r>
          </a:p>
          <a:p>
            <a:br>
              <a:rPr lang="ru-RU" dirty="0"/>
            </a:br>
            <a:r>
              <a:rPr lang="ru-RU" dirty="0"/>
              <a:t>Благодаря инкапсуляции пользователю класса не важно, </a:t>
            </a:r>
            <a:r>
              <a:rPr lang="ru-RU" b="1" dirty="0"/>
              <a:t>как именно данные хранятся внутри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22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1555330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C++ у </a:t>
            </a:r>
            <a:r>
              <a:rPr lang="ru-RU" b="1" dirty="0"/>
              <a:t>классов по умолчанию все члены имеют закрытый доступ (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private</a:t>
            </a:r>
            <a:r>
              <a:rPr lang="ru-RU" b="1" dirty="0"/>
              <a:t>)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Это означает, что </a:t>
            </a:r>
            <a:r>
              <a:rPr lang="ru-RU" b="1" dirty="0"/>
              <a:t>внешний код не может напрямую обращаться к данным класса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В примере создаётся объект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Time</a:t>
            </a:r>
            <a:r>
              <a:rPr lang="ru-RU" dirty="0"/>
              <a:t>, после чего выполняется попытка изменить его поле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m_secondsSinceMidnight</a:t>
            </a:r>
            <a:r>
              <a:rPr lang="ru-RU" dirty="0"/>
              <a:t>. Компилятор выдаст ошибку, потому что это поле </a:t>
            </a:r>
            <a:r>
              <a:rPr lang="ru-RU" b="1" dirty="0"/>
              <a:t>закрыто для доступа извне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Такое поведение поддерживает принцип </a:t>
            </a:r>
            <a:r>
              <a:rPr lang="ru-RU" b="1" dirty="0"/>
              <a:t>инкапсуляции</a:t>
            </a:r>
            <a:r>
              <a:rPr lang="ru-RU" dirty="0"/>
              <a:t> — данные объекта защищены и могут изменяться только через методы класса.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23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6661407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C++ каждый член класса или структуры имеет </a:t>
            </a:r>
            <a:r>
              <a:rPr lang="ru-RU" b="1" dirty="0"/>
              <a:t>уровень доступа</a:t>
            </a:r>
            <a:r>
              <a:rPr lang="ru-RU" dirty="0"/>
              <a:t>, который определяет, откуда к нему можно обращаться.</a:t>
            </a:r>
          </a:p>
          <a:p>
            <a:r>
              <a:rPr lang="ru-RU" dirty="0"/>
              <a:t>Существует три основных уровня доступа.</a:t>
            </a:r>
          </a:p>
          <a:p>
            <a:r>
              <a:rPr lang="ru-RU" b="1" dirty="0"/>
              <a:t>Public</a:t>
            </a:r>
            <a:r>
              <a:rPr lang="ru-RU" dirty="0"/>
              <a:t> — это открытый доступ. К таким членам можно обращаться из любого места программы. В структурах это уровень по умолчанию.</a:t>
            </a:r>
          </a:p>
          <a:p>
            <a:r>
              <a:rPr lang="ru-RU" b="1" dirty="0"/>
              <a:t>Private</a:t>
            </a:r>
            <a:r>
              <a:rPr lang="ru-RU" dirty="0"/>
              <a:t> — закрытый доступ. Такие члены доступны только внутри самого класса. В классах это уровень доступа по умолчанию.</a:t>
            </a:r>
          </a:p>
          <a:p>
            <a:r>
              <a:rPr lang="ru-RU" b="1" dirty="0" err="1"/>
              <a:t>Protected</a:t>
            </a:r>
            <a:r>
              <a:rPr lang="ru-RU" dirty="0"/>
              <a:t> — промежуточный вариант. Эти члены доступны внутри класса и также в его </a:t>
            </a:r>
            <a:r>
              <a:rPr lang="ru-RU" b="1" dirty="0"/>
              <a:t>наследниках</a:t>
            </a:r>
            <a:r>
              <a:rPr lang="ru-RU" dirty="0"/>
              <a:t>.</a:t>
            </a:r>
          </a:p>
          <a:p>
            <a:r>
              <a:rPr lang="ru-RU" dirty="0"/>
              <a:t>Механизм уровней доступа позволяет </a:t>
            </a:r>
            <a:r>
              <a:rPr lang="ru-RU" b="1" dirty="0"/>
              <a:t>контролировать использование данных и поддерживать инкапсуляцию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24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1432722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="1" dirty="0"/>
              <a:t>Текст докладчика</a:t>
            </a:r>
          </a:p>
          <a:p>
            <a:r>
              <a:rPr lang="ru-RU" dirty="0"/>
              <a:t>На этом слайде показано, чем отличаются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struct</a:t>
            </a:r>
            <a:r>
              <a:rPr lang="ru-RU" b="1" dirty="0"/>
              <a:t> и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class</a:t>
            </a:r>
            <a:r>
              <a:rPr lang="ru-RU" b="1" dirty="0"/>
              <a:t> в C++</a:t>
            </a:r>
            <a:r>
              <a:rPr lang="ru-RU" dirty="0"/>
              <a:t> с точки зрения уровней доступа.</a:t>
            </a:r>
          </a:p>
          <a:p>
            <a:r>
              <a:rPr lang="ru-RU" dirty="0"/>
              <a:t>На самом деле между ними почти нет функциональной разницы. Основное отличие — </a:t>
            </a:r>
            <a:r>
              <a:rPr lang="ru-RU" b="1" dirty="0"/>
              <a:t>уровень доступа по умолчанию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В структуре 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struct</a:t>
            </a:r>
            <a:r>
              <a:rPr lang="ru-RU" dirty="0"/>
              <a:t>) члены по умолчанию имеют уровень доступа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public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Это означает, что поля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hours</a:t>
            </a:r>
            <a:r>
              <a:rPr lang="ru-RU" dirty="0"/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minutes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seconds</a:t>
            </a:r>
            <a:r>
              <a:rPr lang="ru-RU" dirty="0"/>
              <a:t> доступны из любого места программы.</a:t>
            </a:r>
          </a:p>
          <a:p>
            <a:r>
              <a:rPr lang="ru-RU" dirty="0"/>
              <a:t>В классе 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class</a:t>
            </a:r>
            <a:r>
              <a:rPr lang="ru-RU" dirty="0"/>
              <a:t>) ситуация обратная — члены по умолчанию имеют уровень доступа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private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Поэтому поля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m_hours</a:t>
            </a:r>
            <a:r>
              <a:rPr lang="ru-RU" dirty="0"/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m_minutes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m_seconds</a:t>
            </a:r>
            <a:r>
              <a:rPr lang="ru-RU" dirty="0"/>
              <a:t> скрыты от внешнего кода.</a:t>
            </a:r>
          </a:p>
          <a:p>
            <a:endParaRPr lang="ru-RU" dirty="0"/>
          </a:p>
          <a:p>
            <a:r>
              <a:rPr lang="ru-RU" dirty="0"/>
              <a:t>Именно поэтому в классах обычно используется </a:t>
            </a:r>
            <a:r>
              <a:rPr lang="ru-RU" b="1" dirty="0"/>
              <a:t>префикс </a:t>
            </a:r>
            <a:r>
              <a:rPr lang="ru-RU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</a:t>
            </a:r>
            <a:r>
              <a:rPr lang="ru-RU" b="1" dirty="0"/>
              <a:t> для полей</a:t>
            </a:r>
            <a:r>
              <a:rPr lang="ru-RU" dirty="0"/>
              <a:t>, чтобы подчеркнуть, что это внутренние данные объекта.</a:t>
            </a:r>
          </a:p>
          <a:p>
            <a:endParaRPr lang="ru-RU" dirty="0"/>
          </a:p>
          <a:p>
            <a:r>
              <a:rPr lang="ru-RU" dirty="0"/>
              <a:t>Таким образом, главное отличие между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struct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class</a:t>
            </a:r>
            <a:r>
              <a:rPr lang="ru-RU" dirty="0"/>
              <a:t> в C++ — это </a:t>
            </a:r>
            <a:r>
              <a:rPr lang="ru-RU" b="1" dirty="0"/>
              <a:t>уровень доступа по умолчанию</a:t>
            </a:r>
            <a:r>
              <a:rPr lang="ru-RU" dirty="0"/>
              <a:t>, а все остальные возможности у них одинаковые.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25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5034720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объектно-ориентированном программировании доступ к данным объекта обычно выполняется </a:t>
            </a:r>
            <a:r>
              <a:rPr lang="ru-RU" b="1" dirty="0"/>
              <a:t>не напрямую, а через методы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b="1" dirty="0"/>
              <a:t>Метод</a:t>
            </a:r>
            <a:r>
              <a:rPr lang="ru-RU" dirty="0"/>
              <a:t> — это функция, объявленная внутри класса.</a:t>
            </a:r>
            <a:br>
              <a:rPr lang="ru-RU" dirty="0"/>
            </a:br>
            <a:r>
              <a:rPr lang="ru-RU" dirty="0"/>
              <a:t>Такие функции также называют </a:t>
            </a:r>
            <a:r>
              <a:rPr lang="ru-RU" b="1" dirty="0"/>
              <a:t>функциями-членами класса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Методы определяют </a:t>
            </a:r>
            <a:r>
              <a:rPr lang="ru-RU" b="1" dirty="0"/>
              <a:t>операции, которые можно выполнять над объектом</a:t>
            </a:r>
            <a:r>
              <a:rPr lang="ru-RU" dirty="0"/>
              <a:t>, и при этом имеют доступ к его внутренним данным.</a:t>
            </a:r>
            <a:endParaRPr lang="en-US" dirty="0"/>
          </a:p>
          <a:p>
            <a:endParaRPr lang="ru-RU" dirty="0"/>
          </a:p>
          <a:p>
            <a:r>
              <a:rPr lang="ru-RU" dirty="0"/>
              <a:t>Обычно используется следующий принцип: </a:t>
            </a:r>
            <a:r>
              <a:rPr lang="ru-RU" b="1" dirty="0"/>
              <a:t>данные делают приватными, а методы — публичными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Это позволяет контролировать, как именно изменяется состояние объекта и поддерживает принцип </a:t>
            </a:r>
            <a:r>
              <a:rPr lang="ru-RU" b="1" dirty="0"/>
              <a:t>инкапсуляции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27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8051397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На этом слайде показано, </a:t>
            </a:r>
            <a:r>
              <a:rPr lang="ru-RU" b="1" dirty="0"/>
              <a:t>как объявляется метод класса</a:t>
            </a:r>
            <a:r>
              <a:rPr lang="ru-RU" dirty="0"/>
              <a:t>.</a:t>
            </a:r>
          </a:p>
          <a:p>
            <a:r>
              <a:rPr lang="ru-RU" dirty="0"/>
              <a:t>Метод выглядит почти так же, как обычная функция, но он </a:t>
            </a:r>
            <a:r>
              <a:rPr lang="ru-RU" b="1" dirty="0"/>
              <a:t>объявляется внутри класса</a:t>
            </a:r>
            <a:r>
              <a:rPr lang="ru-RU" dirty="0"/>
              <a:t> и работает с данными этого класса.</a:t>
            </a:r>
            <a:endParaRPr lang="en-US" dirty="0"/>
          </a:p>
          <a:p>
            <a:endParaRPr lang="ru-RU" dirty="0"/>
          </a:p>
          <a:p>
            <a:r>
              <a:rPr lang="ru-RU" dirty="0"/>
              <a:t>В примере класс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SomeClass</a:t>
            </a:r>
            <a:r>
              <a:rPr lang="ru-RU" dirty="0"/>
              <a:t> содержит 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SetData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Этот метод принимает параметр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data</a:t>
            </a:r>
            <a:r>
              <a:rPr lang="ru-RU" dirty="0"/>
              <a:t> и записывает его значение во внутреннее поле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m_data</a:t>
            </a:r>
            <a:r>
              <a:rPr lang="ru-RU" dirty="0"/>
              <a:t>.</a:t>
            </a:r>
          </a:p>
          <a:p>
            <a:r>
              <a:rPr lang="ru-RU" dirty="0"/>
              <a:t>Обратите внимание, что поле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m_data</a:t>
            </a:r>
            <a:r>
              <a:rPr lang="ru-RU" dirty="0"/>
              <a:t> объявлено в разделе </a:t>
            </a:r>
            <a:r>
              <a:rPr lang="ru-RU" b="1" dirty="0" err="1"/>
              <a:t>private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Это означает, что напрямую изменить его извне нельзя.</a:t>
            </a:r>
            <a:endParaRPr lang="en-US" dirty="0"/>
          </a:p>
          <a:p>
            <a:endParaRPr lang="ru-RU" dirty="0"/>
          </a:p>
          <a:p>
            <a:r>
              <a:rPr lang="ru-RU" dirty="0"/>
              <a:t>Однако 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SetData</a:t>
            </a:r>
            <a:r>
              <a:rPr lang="ru-RU" dirty="0"/>
              <a:t>, находясь внутри класса, имеет </a:t>
            </a:r>
            <a:r>
              <a:rPr lang="ru-RU" b="1" dirty="0"/>
              <a:t>полный доступ к приватным данным</a:t>
            </a:r>
            <a:r>
              <a:rPr lang="ru-RU" dirty="0"/>
              <a:t> и может их изменять.</a:t>
            </a:r>
            <a:endParaRPr lang="en-US" dirty="0"/>
          </a:p>
          <a:p>
            <a:endParaRPr lang="ru-RU" dirty="0"/>
          </a:p>
          <a:p>
            <a:r>
              <a:rPr lang="ru-RU" dirty="0"/>
              <a:t>Таким образом, методы выступают </a:t>
            </a:r>
            <a:r>
              <a:rPr lang="ru-RU" b="1" dirty="0"/>
              <a:t>контролируемым способом работы с внутренними данными объекта</a:t>
            </a:r>
            <a:r>
              <a:rPr lang="ru-RU" dirty="0"/>
              <a:t>, что поддерживает принцип </a:t>
            </a:r>
            <a:r>
              <a:rPr lang="ru-RU" b="1" dirty="0"/>
              <a:t>инкапсуляции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28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4744185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На этом слайде показан пример класса </a:t>
            </a:r>
            <a:r>
              <a:rPr lang="ru-RU" b="1" dirty="0"/>
              <a:t>Time</a:t>
            </a:r>
            <a:r>
              <a:rPr lang="ru-RU" dirty="0"/>
              <a:t>, который демонстрирует использование методов для работы с внутренними данными объекта.</a:t>
            </a:r>
          </a:p>
          <a:p>
            <a:r>
              <a:rPr lang="ru-RU" dirty="0"/>
              <a:t>Внутри класса время хранится в виде </a:t>
            </a:r>
            <a:r>
              <a:rPr lang="ru-RU" b="1" dirty="0"/>
              <a:t>количества секунд с полуночи</a:t>
            </a:r>
            <a:r>
              <a:rPr lang="ru-RU" dirty="0"/>
              <a:t> — переменная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m_secondsSinceMidnight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Это внутреннее представление данных, и оно скрыто от внешнего кода.</a:t>
            </a:r>
          </a:p>
          <a:p>
            <a:endParaRPr lang="ru-RU" dirty="0"/>
          </a:p>
          <a:p>
            <a:r>
              <a:rPr lang="ru-RU" dirty="0"/>
              <a:t>Для доступа к значениям часов, минут и секунд используются специальные методы:</a:t>
            </a:r>
            <a:br>
              <a:rPr lang="ru-RU" dirty="0"/>
            </a:b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GetHours</a:t>
            </a:r>
            <a:r>
              <a:rPr lang="ru-RU" dirty="0"/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GetMinutes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GetSeconds</a:t>
            </a:r>
            <a:r>
              <a:rPr lang="ru-RU" dirty="0"/>
              <a:t>.</a:t>
            </a:r>
          </a:p>
          <a:p>
            <a:br>
              <a:rPr lang="ru-RU" dirty="0"/>
            </a:br>
            <a:r>
              <a:rPr lang="ru-RU" dirty="0"/>
              <a:t>Они вычисляют соответствующие значения на основе общего количества секунд.</a:t>
            </a:r>
          </a:p>
          <a:p>
            <a:r>
              <a:rPr lang="ru-RU" dirty="0"/>
              <a:t>Также есть метод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SetTime</a:t>
            </a:r>
            <a:r>
              <a:rPr lang="ru-RU" dirty="0"/>
              <a:t>, который позволяет установить время.</a:t>
            </a:r>
            <a:endParaRPr lang="en-US" dirty="0"/>
          </a:p>
          <a:p>
            <a:br>
              <a:rPr lang="ru-RU" dirty="0"/>
            </a:br>
            <a:r>
              <a:rPr lang="ru-RU" dirty="0"/>
              <a:t>Перед изменением данных он проверяет корректность переданных значений: часы должны быть от 0 до 23, а минуты и секунды — от 0 до 59.</a:t>
            </a:r>
          </a:p>
          <a:p>
            <a:r>
              <a:rPr lang="ru-RU" dirty="0"/>
              <a:t>Если данные некорректны, метод возвращает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false</a:t>
            </a:r>
            <a:r>
              <a:rPr lang="ru-RU" dirty="0"/>
              <a:t>.</a:t>
            </a:r>
          </a:p>
          <a:p>
            <a:br>
              <a:rPr lang="ru-RU" dirty="0"/>
            </a:br>
            <a:r>
              <a:rPr lang="ru-RU" dirty="0"/>
              <a:t>Если всё корректно — пересчитывает количество секунд и сохраняет его.</a:t>
            </a:r>
          </a:p>
          <a:p>
            <a:r>
              <a:rPr lang="ru-RU" dirty="0"/>
              <a:t>Таким образом, класс </a:t>
            </a:r>
            <a:r>
              <a:rPr lang="ru-RU" b="1" dirty="0"/>
              <a:t>контролирует корректность своих данных</a:t>
            </a:r>
            <a:r>
              <a:rPr lang="ru-RU" dirty="0"/>
              <a:t>, а внешний код работает только через методы. Это пример </a:t>
            </a:r>
            <a:r>
              <a:rPr lang="ru-RU" b="1" dirty="0"/>
              <a:t>инкапсуляции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29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8843133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этом примере показано, что методы могут </a:t>
            </a:r>
            <a:r>
              <a:rPr lang="ru-RU" b="1" dirty="0"/>
              <a:t>не только предоставлять доступ к данным</a:t>
            </a:r>
            <a:r>
              <a:rPr lang="ru-RU" dirty="0"/>
              <a:t>, но и выполнять </a:t>
            </a:r>
            <a:r>
              <a:rPr lang="ru-RU" b="1" dirty="0"/>
              <a:t>дополнительную логику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Класс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Circle</a:t>
            </a:r>
            <a:r>
              <a:rPr lang="ru-RU" dirty="0"/>
              <a:t> хранит только одно поле — радиус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m_radius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Методы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SetRadius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GetRadius</a:t>
            </a:r>
            <a:r>
              <a:rPr lang="ru-RU" dirty="0"/>
              <a:t> позволяют установить и получить его значение.</a:t>
            </a:r>
          </a:p>
          <a:p>
            <a:r>
              <a:rPr lang="ru-RU" dirty="0"/>
              <a:t>Но метод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GetArea</a:t>
            </a:r>
            <a:r>
              <a:rPr lang="ru-RU" dirty="0"/>
              <a:t> делает больше — он </a:t>
            </a:r>
            <a:r>
              <a:rPr lang="ru-RU" b="1" dirty="0"/>
              <a:t>вычисляет площадь круга</a:t>
            </a:r>
            <a:r>
              <a:rPr lang="ru-RU" dirty="0"/>
              <a:t> по формуле π·r².</a:t>
            </a:r>
            <a:endParaRPr lang="en-US" dirty="0"/>
          </a:p>
          <a:p>
            <a:endParaRPr lang="ru-RU" dirty="0"/>
          </a:p>
          <a:p>
            <a:r>
              <a:rPr lang="ru-RU" dirty="0"/>
              <a:t>Обратите внимание, что площадь </a:t>
            </a:r>
            <a:r>
              <a:rPr lang="ru-RU" b="1" dirty="0"/>
              <a:t>не хранится в объекте</a:t>
            </a:r>
            <a:r>
              <a:rPr lang="ru-RU" dirty="0"/>
              <a:t>, а вычисляется при необходимости.</a:t>
            </a:r>
            <a:endParaRPr lang="en-US" dirty="0"/>
          </a:p>
          <a:p>
            <a:br>
              <a:rPr lang="ru-RU" dirty="0"/>
            </a:br>
            <a:r>
              <a:rPr lang="ru-RU" dirty="0"/>
              <a:t>Таким образом методы могут не просто возвращать данные, а </a:t>
            </a:r>
            <a:r>
              <a:rPr lang="ru-RU" b="1" dirty="0"/>
              <a:t>выполнять вычисления и реализовывать поведение объекта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30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4156637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Состояние объекта определяется значениями его </a:t>
            </a:r>
            <a:r>
              <a:rPr lang="ru-RU" b="1" dirty="0"/>
              <a:t>членов-данных</a:t>
            </a:r>
            <a:r>
              <a:rPr lang="ru-RU" dirty="0"/>
              <a:t>.</a:t>
            </a:r>
          </a:p>
          <a:p>
            <a:r>
              <a:rPr lang="ru-RU" dirty="0"/>
              <a:t>Когда состояние объекта меняется, на самом деле происходит </a:t>
            </a:r>
            <a:r>
              <a:rPr lang="ru-RU" b="1" dirty="0"/>
              <a:t>изменение этих данных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Поскольку в ООП данные обычно делают </a:t>
            </a:r>
            <a:r>
              <a:rPr lang="ru-RU" b="1" dirty="0"/>
              <a:t>приватными</a:t>
            </a:r>
            <a:r>
              <a:rPr lang="ru-RU" dirty="0"/>
              <a:t>, изменить их можно только через </a:t>
            </a:r>
            <a:r>
              <a:rPr lang="ru-RU" b="1" dirty="0"/>
              <a:t>методы класса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Но возникает вопрос: </a:t>
            </a:r>
            <a:r>
              <a:rPr lang="ru-RU" b="1" dirty="0"/>
              <a:t>что делать с константными объектами?</a:t>
            </a:r>
            <a:endParaRPr lang="ru-RU" dirty="0"/>
          </a:p>
          <a:p>
            <a:r>
              <a:rPr lang="ru-RU" dirty="0"/>
              <a:t>Если объект объявлен как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dirty="0"/>
              <a:t>, его состояние </a:t>
            </a:r>
            <a:r>
              <a:rPr lang="ru-RU" b="1" dirty="0"/>
              <a:t>нельзя изменять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Следовательно, методы, которые изменяют данные объекта, </a:t>
            </a:r>
            <a:r>
              <a:rPr lang="ru-RU" b="1" dirty="0"/>
              <a:t>нельзя вызывать</a:t>
            </a:r>
            <a:r>
              <a:rPr lang="ru-RU" dirty="0"/>
              <a:t> для таких объектов.</a:t>
            </a:r>
          </a:p>
          <a:p>
            <a:endParaRPr lang="ru-RU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31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758371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этом примере функция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PrintCircle</a:t>
            </a:r>
            <a:r>
              <a:rPr lang="ru-RU" dirty="0"/>
              <a:t> принимает объект как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Circle</a:t>
            </a:r>
            <a:r>
              <a:rPr lang="ru-RU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&amp;</a:t>
            </a:r>
            <a:r>
              <a:rPr lang="ru-RU" dirty="0"/>
              <a:t>, то есть обещает </a:t>
            </a:r>
            <a:r>
              <a:rPr lang="ru-RU" b="1" dirty="0"/>
              <a:t>не изменять его состояние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Однако при компиляции возникает ошибка, когда мы пытаемся вызвать методы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GetRadius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GetArea</a:t>
            </a:r>
            <a:r>
              <a:rPr lang="ru-RU" dirty="0"/>
              <a:t>.</a:t>
            </a:r>
          </a:p>
          <a:p>
            <a:r>
              <a:rPr lang="ru-RU" dirty="0"/>
              <a:t>На первый взгляд это кажется странным, потому что эти методы </a:t>
            </a:r>
            <a:r>
              <a:rPr lang="ru-RU" b="1" dirty="0"/>
              <a:t>не изменяют состояние объекта</a:t>
            </a:r>
            <a:r>
              <a:rPr lang="ru-RU" dirty="0"/>
              <a:t> — они просто возвращают значения и выполняют вычисления.</a:t>
            </a:r>
          </a:p>
          <a:p>
            <a:r>
              <a:rPr lang="ru-RU" dirty="0"/>
              <a:t>Но важно понимать одну вещь: </a:t>
            </a:r>
            <a:r>
              <a:rPr lang="ru-RU" b="1" dirty="0"/>
              <a:t>компилятор не анализирует тело метода</a:t>
            </a:r>
            <a:r>
              <a:rPr lang="ru-RU" dirty="0"/>
              <a:t>.</a:t>
            </a:r>
          </a:p>
          <a:p>
            <a:br>
              <a:rPr lang="ru-RU" dirty="0"/>
            </a:br>
            <a:r>
              <a:rPr lang="ru-RU" dirty="0"/>
              <a:t>Он не заглядывает внутрь и не проверяет, меняет ли метод данные объекта.</a:t>
            </a:r>
          </a:p>
          <a:p>
            <a:r>
              <a:rPr lang="ru-RU" dirty="0"/>
              <a:t>Для компилятора 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SetRadius</a:t>
            </a:r>
            <a:r>
              <a:rPr lang="ru-RU" dirty="0"/>
              <a:t>, который действительно изменяет радиус, и методы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GetRadius</a:t>
            </a:r>
            <a:r>
              <a:rPr lang="ru-RU" dirty="0"/>
              <a:t> или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GetArea</a:t>
            </a:r>
            <a:r>
              <a:rPr lang="ru-RU" dirty="0"/>
              <a:t>, которые только читают данные, </a:t>
            </a:r>
            <a:r>
              <a:rPr lang="ru-RU" b="1" dirty="0"/>
              <a:t>выглядят одинаково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Поэтому компилятор руководствуется </a:t>
            </a:r>
            <a:r>
              <a:rPr lang="ru-RU" b="1" dirty="0"/>
              <a:t>другим механизмом</a:t>
            </a:r>
            <a:r>
              <a:rPr lang="ru-RU" dirty="0"/>
              <a:t>, который позволяет явно указать, может ли метод изменять объект.</a:t>
            </a:r>
            <a:br>
              <a:rPr lang="ru-RU" dirty="0"/>
            </a:br>
            <a:r>
              <a:rPr lang="ru-RU" dirty="0"/>
              <a:t>Как раз об этом мы поговорим на следующем слайде.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32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6354537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Чтобы компилятор понимал, какие методы </a:t>
            </a:r>
            <a:r>
              <a:rPr lang="ru-RU" b="1" dirty="0"/>
              <a:t>не изменяют состояние объекта</a:t>
            </a:r>
            <a:r>
              <a:rPr lang="ru-RU" dirty="0"/>
              <a:t>, в C++ используется спецификатор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dirty="0"/>
              <a:t>.</a:t>
            </a:r>
          </a:p>
          <a:p>
            <a:r>
              <a:rPr lang="ru-RU" dirty="0"/>
              <a:t>Если метод объявлен как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dirty="0"/>
              <a:t>, это означает, что внутри него </a:t>
            </a:r>
            <a:r>
              <a:rPr lang="ru-RU" b="1" dirty="0"/>
              <a:t>запрещено изменять данные объекта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Компилятор строго контролирует это правило.</a:t>
            </a:r>
            <a:br>
              <a:rPr lang="ru-RU" dirty="0"/>
            </a:br>
            <a:r>
              <a:rPr lang="ru-RU" dirty="0"/>
              <a:t>В таком методе нельзя изменять поля класса, вызывать </a:t>
            </a:r>
            <a:r>
              <a:rPr lang="ru-RU" dirty="0" err="1"/>
              <a:t>неконстантные</a:t>
            </a:r>
            <a:r>
              <a:rPr lang="ru-RU" dirty="0"/>
              <a:t> методы или передавать поля объекта в функции, которые могут их изменить.</a:t>
            </a:r>
            <a:endParaRPr lang="en-US" dirty="0"/>
          </a:p>
          <a:p>
            <a:endParaRPr lang="ru-RU" dirty="0"/>
          </a:p>
          <a:p>
            <a:r>
              <a:rPr lang="ru-RU" dirty="0"/>
              <a:t>Главная причина существования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dirty="0"/>
              <a:t>-методов — работа с </a:t>
            </a:r>
            <a:r>
              <a:rPr lang="ru-RU" b="1" dirty="0"/>
              <a:t>константными объектами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Если объект объявлен как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dirty="0"/>
              <a:t> или передан по </a:t>
            </a:r>
            <a:r>
              <a:rPr lang="ru-RU" b="1" dirty="0"/>
              <a:t>константной ссылке</a:t>
            </a:r>
            <a:r>
              <a:rPr lang="ru-RU" dirty="0"/>
              <a:t>, у него можно вызывать </a:t>
            </a:r>
            <a:r>
              <a:rPr lang="ru-RU" b="1" dirty="0"/>
              <a:t>только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b="1" dirty="0"/>
              <a:t>-методы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Таким образом,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dirty="0"/>
              <a:t>-методы позволяют компилятору гарантировать, что объект </a:t>
            </a:r>
            <a:r>
              <a:rPr lang="ru-RU" b="1" dirty="0"/>
              <a:t>не будет изменён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34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11445145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Чтобы решить проблему с константным объектом, методы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GetRadius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GetArea</a:t>
            </a:r>
            <a:r>
              <a:rPr lang="ru-RU" dirty="0"/>
              <a:t> объявлены как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Это означает, что они </a:t>
            </a:r>
            <a:r>
              <a:rPr lang="ru-RU" b="1" dirty="0"/>
              <a:t>не изменяют состояние объекта</a:t>
            </a:r>
            <a:r>
              <a:rPr lang="ru-RU" dirty="0"/>
              <a:t>, а только читают данные.</a:t>
            </a:r>
            <a:endParaRPr lang="en-US" dirty="0"/>
          </a:p>
          <a:p>
            <a:endParaRPr lang="ru-RU" dirty="0"/>
          </a:p>
          <a:p>
            <a:r>
              <a:rPr lang="ru-RU" dirty="0"/>
              <a:t>Поэтому их можно вызывать у объектов, переданных по </a:t>
            </a:r>
            <a:r>
              <a:rPr lang="ru-RU" b="1" dirty="0"/>
              <a:t>константной ссылке</a:t>
            </a:r>
            <a:r>
              <a:rPr lang="ru-RU" dirty="0"/>
              <a:t>, как в функции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PrintCircle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Таким образом,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dirty="0"/>
              <a:t> сообщает компилятору, что метод </a:t>
            </a:r>
            <a:r>
              <a:rPr lang="ru-RU" b="1" dirty="0"/>
              <a:t>безопасен для вызова у константных объектов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35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17054965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C++ различают </a:t>
            </a:r>
            <a:r>
              <a:rPr lang="ru-RU" b="1" dirty="0"/>
              <a:t>физическую</a:t>
            </a:r>
            <a:r>
              <a:rPr lang="ru-RU" dirty="0"/>
              <a:t> и </a:t>
            </a:r>
            <a:r>
              <a:rPr lang="ru-RU" b="1" dirty="0"/>
              <a:t>логическую константность</a:t>
            </a:r>
            <a:r>
              <a:rPr lang="ru-RU" dirty="0"/>
              <a:t>.</a:t>
            </a:r>
          </a:p>
          <a:p>
            <a:r>
              <a:rPr lang="ru-RU" b="1" dirty="0"/>
              <a:t>Физическая константность</a:t>
            </a:r>
            <a:r>
              <a:rPr lang="ru-RU" dirty="0"/>
              <a:t> означает, что объект объявлен как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dirty="0"/>
              <a:t>, и его поля </a:t>
            </a:r>
            <a:r>
              <a:rPr lang="ru-RU" b="1" dirty="0"/>
              <a:t>нельзя изменять</a:t>
            </a:r>
            <a:r>
              <a:rPr lang="ru-RU" dirty="0"/>
              <a:t> — это контролируется компилятором.</a:t>
            </a:r>
          </a:p>
          <a:p>
            <a:endParaRPr lang="ru-RU" dirty="0"/>
          </a:p>
          <a:p>
            <a:r>
              <a:rPr lang="ru-RU" b="1" dirty="0"/>
              <a:t>Логическая константность</a:t>
            </a:r>
            <a:r>
              <a:rPr lang="ru-RU" dirty="0"/>
              <a:t> — более гибкое понятие.</a:t>
            </a:r>
            <a:br>
              <a:rPr lang="ru-RU" dirty="0"/>
            </a:br>
            <a:r>
              <a:rPr lang="ru-RU" dirty="0"/>
              <a:t>С точки зрения пользователя объект </a:t>
            </a:r>
            <a:r>
              <a:rPr lang="ru-RU" b="1" dirty="0"/>
              <a:t>не меняется</a:t>
            </a:r>
            <a:r>
              <a:rPr lang="ru-RU" dirty="0"/>
              <a:t>, хотя внутри могут происходить служебные изменения.</a:t>
            </a:r>
            <a:endParaRPr lang="en-US" dirty="0"/>
          </a:p>
          <a:p>
            <a:endParaRPr lang="ru-RU" dirty="0"/>
          </a:p>
          <a:p>
            <a:r>
              <a:rPr lang="ru-RU" dirty="0"/>
              <a:t>Например, объект может </a:t>
            </a:r>
            <a:r>
              <a:rPr lang="ru-RU" b="1" dirty="0"/>
              <a:t>кэшировать результат вычислений</a:t>
            </a:r>
            <a:r>
              <a:rPr lang="ru-RU" dirty="0"/>
              <a:t>, чтобы не пересчитывать его каждый раз.</a:t>
            </a:r>
            <a:endParaRPr lang="en-US" dirty="0"/>
          </a:p>
          <a:p>
            <a:endParaRPr lang="ru-RU" dirty="0"/>
          </a:p>
          <a:p>
            <a:r>
              <a:rPr lang="ru-RU" dirty="0"/>
              <a:t>При этом внешнее поведение объекта остаётся тем же самым, поэтому логически он всё ещё считается </a:t>
            </a:r>
            <a:r>
              <a:rPr lang="ru-RU" b="1" dirty="0"/>
              <a:t>константным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36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2101735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Рассмотрим типичную практическую ситуацию.</a:t>
            </a:r>
          </a:p>
          <a:p>
            <a:r>
              <a:rPr lang="ru-RU" dirty="0"/>
              <a:t>Пусть у нас есть класс </a:t>
            </a:r>
            <a:r>
              <a:rPr lang="ru-RU" b="1" dirty="0" err="1"/>
              <a:t>Polygon</a:t>
            </a:r>
            <a:r>
              <a:rPr lang="ru-RU" dirty="0"/>
              <a:t>, который хранит набор точек многоугольника.</a:t>
            </a:r>
            <a:br>
              <a:rPr lang="ru-RU" dirty="0"/>
            </a:br>
            <a:r>
              <a:rPr lang="ru-RU" dirty="0"/>
              <a:t>Мы хотим иметь 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GetArea</a:t>
            </a:r>
            <a:r>
              <a:rPr lang="ru-RU" dirty="0"/>
              <a:t>, который возвращает площадь.</a:t>
            </a:r>
          </a:p>
          <a:p>
            <a:endParaRPr lang="ru-RU" dirty="0"/>
          </a:p>
          <a:p>
            <a:r>
              <a:rPr lang="ru-RU" dirty="0"/>
              <a:t>Вычисление площади может быть относительно дорогой операцией, поэтому разумно </a:t>
            </a:r>
            <a:r>
              <a:rPr lang="ru-RU" b="1" dirty="0" err="1"/>
              <a:t>закэшировать</a:t>
            </a:r>
            <a:r>
              <a:rPr lang="ru-RU" b="1" dirty="0"/>
              <a:t> результат</a:t>
            </a:r>
            <a:r>
              <a:rPr lang="ru-RU" dirty="0"/>
              <a:t>.</a:t>
            </a:r>
            <a:endParaRPr lang="en-US" dirty="0"/>
          </a:p>
          <a:p>
            <a:br>
              <a:rPr lang="ru-RU" dirty="0"/>
            </a:br>
            <a:r>
              <a:rPr lang="ru-RU" dirty="0"/>
              <a:t>Если многоугольник не изменился, можно просто вернуть уже вычисленную площадь.</a:t>
            </a:r>
          </a:p>
          <a:p>
            <a:r>
              <a:rPr lang="ru-RU" dirty="0"/>
              <a:t>Для этого мы добавляем поле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m_area</a:t>
            </a:r>
            <a:r>
              <a:rPr lang="ru-RU" dirty="0"/>
              <a:t>, которое хранит вычисленное значение площади.</a:t>
            </a:r>
          </a:p>
          <a:p>
            <a:r>
              <a:rPr lang="ru-RU" dirty="0"/>
              <a:t>Логика метода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GetArea</a:t>
            </a:r>
            <a:r>
              <a:rPr lang="ru-RU" dirty="0"/>
              <a:t> такая:</a:t>
            </a:r>
            <a:r>
              <a:rPr lang="en-US" dirty="0"/>
              <a:t> </a:t>
            </a:r>
            <a:r>
              <a:rPr lang="ru-RU" dirty="0"/>
              <a:t>если площадь ещё не вычислялась — вычислить её и сохранить, иначе просто вернуть сохранённое значение.</a:t>
            </a:r>
          </a:p>
          <a:p>
            <a:r>
              <a:rPr lang="ru-RU" dirty="0"/>
              <a:t>Но здесь возникает проблема.</a:t>
            </a:r>
            <a:endParaRPr lang="en-US" dirty="0"/>
          </a:p>
          <a:p>
            <a:br>
              <a:rPr lang="ru-RU" dirty="0"/>
            </a:br>
            <a:r>
              <a:rPr lang="ru-RU" dirty="0"/>
              <a:t>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GetArea</a:t>
            </a:r>
            <a:r>
              <a:rPr lang="ru-RU" dirty="0"/>
              <a:t> объявлен как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dirty="0"/>
              <a:t>, потому что с точки зрения пользователя он </a:t>
            </a:r>
            <a:r>
              <a:rPr lang="ru-RU" b="1" dirty="0"/>
              <a:t>не изменяет многоугольник</a:t>
            </a:r>
            <a:r>
              <a:rPr lang="ru-RU" dirty="0"/>
              <a:t>.</a:t>
            </a:r>
          </a:p>
          <a:p>
            <a:r>
              <a:rPr lang="ru-RU" dirty="0"/>
              <a:t>Однако внутри метода мы </a:t>
            </a:r>
            <a:r>
              <a:rPr lang="ru-RU" b="1" dirty="0"/>
              <a:t>изменяем поле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m_area</a:t>
            </a:r>
            <a:r>
              <a:rPr lang="ru-RU" dirty="0"/>
              <a:t>, когда сохраняем вычисленный результат.</a:t>
            </a:r>
            <a:endParaRPr lang="en-US" dirty="0"/>
          </a:p>
          <a:p>
            <a:endParaRPr lang="ru-RU" dirty="0"/>
          </a:p>
          <a:p>
            <a:r>
              <a:rPr lang="ru-RU" dirty="0"/>
              <a:t>Компилятор запрещает это, потому что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dirty="0"/>
              <a:t>-метод </a:t>
            </a:r>
            <a:r>
              <a:rPr lang="ru-RU" b="1" dirty="0"/>
              <a:t>не должен менять состояние объекта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При этом с точки зрения </a:t>
            </a:r>
            <a:r>
              <a:rPr lang="ru-RU" b="1" dirty="0"/>
              <a:t>логической константности</a:t>
            </a:r>
            <a:r>
              <a:rPr lang="ru-RU" dirty="0"/>
              <a:t> объект не меняется — мы лишь сохраняем служебный кэш.</a:t>
            </a:r>
            <a:endParaRPr lang="en-US" dirty="0"/>
          </a:p>
          <a:p>
            <a:endParaRPr lang="ru-RU" dirty="0"/>
          </a:p>
          <a:p>
            <a:r>
              <a:rPr lang="ru-RU" dirty="0"/>
              <a:t>Как решить такую ситуацию корректно в C++ — как раз и помогает специальный механизм, о котором мы поговорим на следующем слайде.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37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31435127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Чтобы решить проблему с кэшированием из предыдущего примера, в C++ существует специальный спецификатор —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mutable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Если поле объявлено как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mutable</a:t>
            </a:r>
            <a:r>
              <a:rPr lang="ru-RU" dirty="0"/>
              <a:t>, его </a:t>
            </a:r>
            <a:r>
              <a:rPr lang="ru-RU" b="1" dirty="0"/>
              <a:t>разрешается изменять даже внутри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b="1" dirty="0"/>
              <a:t>-методов</a:t>
            </a:r>
            <a:r>
              <a:rPr lang="ru-RU" dirty="0"/>
              <a:t> и даже если объект объявлен как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Это означает, что такое поле </a:t>
            </a:r>
            <a:r>
              <a:rPr lang="ru-RU" b="1" dirty="0"/>
              <a:t>не считается частью логического состояния объекта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Оно используется только для служебных целей.</a:t>
            </a:r>
            <a:endParaRPr lang="en-US" dirty="0"/>
          </a:p>
          <a:p>
            <a:endParaRPr lang="ru-RU" dirty="0"/>
          </a:p>
          <a:p>
            <a:r>
              <a:rPr lang="ru-RU" dirty="0"/>
              <a:t>Типичные примеры применения — </a:t>
            </a:r>
            <a:r>
              <a:rPr lang="ru-RU" b="1" dirty="0"/>
              <a:t>кэширование результатов вычислений</a:t>
            </a:r>
            <a:r>
              <a:rPr lang="ru-RU" dirty="0"/>
              <a:t>, </a:t>
            </a:r>
            <a:r>
              <a:rPr lang="ru-RU" b="1" dirty="0"/>
              <a:t>ленивые вычисления</a:t>
            </a:r>
            <a:r>
              <a:rPr lang="ru-RU" dirty="0"/>
              <a:t>, а также </a:t>
            </a:r>
            <a:r>
              <a:rPr lang="ru-RU" b="1" dirty="0"/>
              <a:t>мьютексы</a:t>
            </a:r>
            <a:r>
              <a:rPr lang="ru-RU" dirty="0"/>
              <a:t>, которые используются для синхронизации в многопоточных программах.</a:t>
            </a:r>
            <a:endParaRPr lang="en-US" dirty="0"/>
          </a:p>
          <a:p>
            <a:endParaRPr lang="ru-RU" dirty="0"/>
          </a:p>
          <a:p>
            <a:r>
              <a:rPr lang="ru-RU" dirty="0"/>
              <a:t>В нашем примере поле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m_area</a:t>
            </a:r>
            <a:r>
              <a:rPr lang="ru-RU" dirty="0"/>
              <a:t> объявляется как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mutable</a:t>
            </a:r>
            <a:r>
              <a:rPr lang="ru-RU" dirty="0"/>
              <a:t>, и тогда 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GetArea</a:t>
            </a:r>
            <a:r>
              <a:rPr lang="ru-RU" dirty="0"/>
              <a:t> может сохранять вычисленную площадь, оставаясь при этом </a:t>
            </a:r>
            <a:r>
              <a:rPr lang="ru-RU" b="1" dirty="0"/>
              <a:t>константным с точки зрения интерфейса класса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38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4286673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Рассмотрим пример задачи — </a:t>
            </a:r>
            <a:r>
              <a:rPr lang="ru-RU" b="1" dirty="0"/>
              <a:t>подбор пароля по известному </a:t>
            </a:r>
            <a:r>
              <a:rPr lang="ru-RU" b="1" dirty="0" err="1"/>
              <a:t>хешу</a:t>
            </a:r>
            <a:r>
              <a:rPr lang="ru-RU" dirty="0"/>
              <a:t>.</a:t>
            </a:r>
          </a:p>
          <a:p>
            <a:r>
              <a:rPr lang="ru-RU" dirty="0"/>
              <a:t>Функция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GetHash</a:t>
            </a:r>
            <a:r>
              <a:rPr lang="ru-RU" dirty="0"/>
              <a:t> вычисляет </a:t>
            </a:r>
            <a:r>
              <a:rPr lang="ru-RU" dirty="0" err="1"/>
              <a:t>хеш</a:t>
            </a:r>
            <a:r>
              <a:rPr lang="ru-RU" dirty="0"/>
              <a:t> строки с помощью стандартной функции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hash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Класс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PasswordCracker</a:t>
            </a:r>
            <a:r>
              <a:rPr lang="ru-RU" dirty="0"/>
              <a:t> реализует простой алгоритм </a:t>
            </a:r>
            <a:r>
              <a:rPr lang="ru-RU" b="1" dirty="0"/>
              <a:t>перебора всех возможных строк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CrackPassword</a:t>
            </a:r>
            <a:r>
              <a:rPr lang="ru-RU" dirty="0"/>
              <a:t> получает </a:t>
            </a:r>
            <a:r>
              <a:rPr lang="ru-RU" dirty="0" err="1"/>
              <a:t>хеш</a:t>
            </a:r>
            <a:r>
              <a:rPr lang="ru-RU" dirty="0"/>
              <a:t> и максимальную длину пароля.</a:t>
            </a:r>
          </a:p>
          <a:p>
            <a:endParaRPr lang="ru-RU" dirty="0"/>
          </a:p>
          <a:p>
            <a:r>
              <a:rPr lang="ru-RU" dirty="0"/>
              <a:t>Далее запускается рекурсивный перебор.</a:t>
            </a:r>
            <a:br>
              <a:rPr lang="ru-RU" dirty="0"/>
            </a:br>
            <a:r>
              <a:rPr lang="ru-RU" dirty="0"/>
              <a:t>Мы постепенно строим строку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prefix</a:t>
            </a:r>
            <a:r>
              <a:rPr lang="ru-RU" dirty="0"/>
              <a:t>, добавляя символы от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'A'</a:t>
            </a:r>
            <a:r>
              <a:rPr lang="ru-RU" dirty="0"/>
              <a:t> до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'Z'</a:t>
            </a:r>
            <a:r>
              <a:rPr lang="ru-RU" dirty="0"/>
              <a:t>.</a:t>
            </a:r>
          </a:p>
          <a:p>
            <a:r>
              <a:rPr lang="ru-RU" dirty="0"/>
              <a:t>На каждом шаге проверяется: совпадает ли </a:t>
            </a:r>
            <a:r>
              <a:rPr lang="ru-RU" dirty="0" err="1"/>
              <a:t>хеш</a:t>
            </a:r>
            <a:r>
              <a:rPr lang="ru-RU" dirty="0"/>
              <a:t> текущей строки с заданным.</a:t>
            </a:r>
            <a:br>
              <a:rPr lang="ru-RU" dirty="0"/>
            </a:br>
            <a:r>
              <a:rPr lang="ru-RU" dirty="0"/>
              <a:t>Если совпадает — пароль найден.</a:t>
            </a:r>
          </a:p>
          <a:p>
            <a:endParaRPr lang="ru-RU" dirty="0"/>
          </a:p>
          <a:p>
            <a:r>
              <a:rPr lang="ru-RU" dirty="0"/>
              <a:t>Если достигнута максимальная длина строки и совпадения нет — перебор для этой ветки заканчивается.</a:t>
            </a:r>
          </a:p>
          <a:p>
            <a:r>
              <a:rPr lang="ru-RU" dirty="0"/>
              <a:t>Таким образом алгоритм </a:t>
            </a:r>
            <a:r>
              <a:rPr lang="ru-RU" b="1" dirty="0"/>
              <a:t>перебирает все возможные комбинации символов</a:t>
            </a:r>
            <a:r>
              <a:rPr lang="ru-RU" dirty="0"/>
              <a:t>, пока не найдёт строку с нужным </a:t>
            </a:r>
            <a:r>
              <a:rPr lang="ru-RU" dirty="0" err="1"/>
              <a:t>хешем</a:t>
            </a:r>
            <a:r>
              <a:rPr lang="ru-RU" dirty="0"/>
              <a:t>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39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1510480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Здесь показано, как используется наш класс.</a:t>
            </a:r>
          </a:p>
          <a:p>
            <a:r>
              <a:rPr lang="ru-RU" dirty="0"/>
              <a:t>Мы создаём объект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PasswordCracker</a:t>
            </a:r>
            <a:r>
              <a:rPr lang="ru-RU" dirty="0"/>
              <a:t>, после чего вызываем 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CrackPassword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В качестве аргументов передаём </a:t>
            </a:r>
            <a:r>
              <a:rPr lang="ru-RU" dirty="0" err="1"/>
              <a:t>хеш</a:t>
            </a:r>
            <a:r>
              <a:rPr lang="ru-RU" dirty="0"/>
              <a:t> строки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"HELLO"</a:t>
            </a:r>
            <a:r>
              <a:rPr lang="ru-RU" dirty="0"/>
              <a:t> и максимальную длину пароля — 5 символов.</a:t>
            </a:r>
          </a:p>
          <a:p>
            <a:r>
              <a:rPr lang="ru-RU" dirty="0"/>
              <a:t>Также мы измеряем время выполнения программы.</a:t>
            </a:r>
          </a:p>
          <a:p>
            <a:r>
              <a:rPr lang="ru-RU" dirty="0"/>
              <a:t>В результате программа находит пароль </a:t>
            </a:r>
            <a:r>
              <a:rPr lang="ru-RU" b="1" dirty="0"/>
              <a:t>HELLO</a:t>
            </a:r>
            <a:r>
              <a:rPr lang="ru-RU" dirty="0"/>
              <a:t> и выводит время работы.</a:t>
            </a:r>
          </a:p>
          <a:p>
            <a:r>
              <a:rPr lang="ru-RU" dirty="0"/>
              <a:t>Обратите внимание, что перебор занимает некоторое время, потому что алгоритм </a:t>
            </a:r>
            <a:r>
              <a:rPr lang="ru-RU" b="1" dirty="0"/>
              <a:t>проверяет большое количество вариантов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40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48986777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попробуем ускорить алгоритм.</a:t>
            </a:r>
          </a:p>
          <a:p>
            <a:r>
              <a:rPr lang="ru-RU" dirty="0"/>
              <a:t>Идея очень простая: если мы </a:t>
            </a:r>
            <a:r>
              <a:rPr lang="ru-RU" b="1" dirty="0"/>
              <a:t>уже подбирали пароль для какого-то </a:t>
            </a:r>
            <a:r>
              <a:rPr lang="ru-RU" b="1" dirty="0" err="1"/>
              <a:t>хеша</a:t>
            </a:r>
            <a:r>
              <a:rPr lang="ru-RU" dirty="0"/>
              <a:t>, можно сохранить результат и в следующий раз сразу вернуть его.</a:t>
            </a:r>
          </a:p>
          <a:p>
            <a:endParaRPr lang="ru-RU" dirty="0"/>
          </a:p>
          <a:p>
            <a:r>
              <a:rPr lang="ru-RU" dirty="0"/>
              <a:t>Для этого в классе добавлено поле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m_passwordCache</a:t>
            </a:r>
            <a:r>
              <a:rPr lang="ru-RU" dirty="0"/>
              <a:t> — это хеш-таблица, которая хранит соответствие между </a:t>
            </a:r>
            <a:r>
              <a:rPr lang="ru-RU" dirty="0" err="1"/>
              <a:t>хешем</a:t>
            </a:r>
            <a:r>
              <a:rPr lang="ru-RU" dirty="0"/>
              <a:t> и найденным паролем.</a:t>
            </a:r>
          </a:p>
          <a:p>
            <a:endParaRPr lang="ru-RU" dirty="0"/>
          </a:p>
          <a:p>
            <a:r>
              <a:rPr lang="ru-RU" dirty="0"/>
              <a:t>В начале метода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CrackPassword</a:t>
            </a:r>
            <a:r>
              <a:rPr lang="ru-RU" dirty="0"/>
              <a:t> мы проверяем: есть ли уже результат в кэше.</a:t>
            </a:r>
            <a:br>
              <a:rPr lang="ru-RU" dirty="0"/>
            </a:br>
            <a:r>
              <a:rPr lang="ru-RU" dirty="0"/>
              <a:t>Если есть — сразу возвращаем его, не выполняя перебор.</a:t>
            </a:r>
          </a:p>
          <a:p>
            <a:r>
              <a:rPr lang="ru-RU" dirty="0"/>
              <a:t>Когда пароль найден, мы сохраняем его в кэше.</a:t>
            </a:r>
          </a:p>
          <a:p>
            <a:endParaRPr lang="ru-RU" dirty="0"/>
          </a:p>
          <a:p>
            <a:r>
              <a:rPr lang="ru-RU" dirty="0"/>
              <a:t>Обратите внимание, что поле кэша объявлено как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mutable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Это позволяет изменять его даже внутри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dirty="0"/>
              <a:t>-метода.</a:t>
            </a:r>
          </a:p>
          <a:p>
            <a:r>
              <a:rPr lang="ru-RU" dirty="0"/>
              <a:t>С точки зрения пользователя объект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PasswordCracker</a:t>
            </a:r>
            <a:r>
              <a:rPr lang="ru-RU" dirty="0"/>
              <a:t> </a:t>
            </a:r>
            <a:r>
              <a:rPr lang="ru-RU" b="1" dirty="0"/>
              <a:t>не меняет своё логическое состояние</a:t>
            </a:r>
            <a:r>
              <a:rPr lang="ru-RU" dirty="0"/>
              <a:t> — он просто запоминает ранее вычисленные результаты.</a:t>
            </a:r>
          </a:p>
          <a:p>
            <a:endParaRPr lang="ru-RU" dirty="0"/>
          </a:p>
          <a:p>
            <a:r>
              <a:rPr lang="ru-RU" dirty="0"/>
              <a:t>В результате повторный запрос выполняется </a:t>
            </a:r>
            <a:r>
              <a:rPr lang="ru-RU" b="1" dirty="0"/>
              <a:t>практически мгновенно</a:t>
            </a:r>
            <a:r>
              <a:rPr lang="ru-RU" dirty="0"/>
              <a:t>, что и видно по измеренному времени.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41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57644019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b="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mutable</a:t>
            </a:r>
            <a:r>
              <a:rPr lang="ru-RU" b="0" dirty="0"/>
              <a:t> — полезный, но довольно опасный инструмент, поэтому использовать его нужно аккуратно.</a:t>
            </a:r>
          </a:p>
          <a:p>
            <a:r>
              <a:rPr lang="ru-RU" b="0" dirty="0"/>
              <a:t>Его основное назначение — поддержка логической константности.</a:t>
            </a:r>
          </a:p>
          <a:p>
            <a:br>
              <a:rPr lang="ru-RU" b="0" dirty="0"/>
            </a:br>
            <a:r>
              <a:rPr lang="ru-RU" b="0" dirty="0"/>
              <a:t>Объект может изменять некоторые внутренние служебные данные, но его наблюдаемое состояние снаружи не должно меняться. Типичный пример — кэширование.</a:t>
            </a:r>
          </a:p>
          <a:p>
            <a:endParaRPr lang="ru-RU" b="0" dirty="0"/>
          </a:p>
          <a:p>
            <a:r>
              <a:rPr lang="ru-RU" b="0" dirty="0"/>
              <a:t>Важно помнить, что </a:t>
            </a:r>
            <a:r>
              <a:rPr lang="ru-RU" sz="1200" b="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b="0" dirty="0"/>
              <a:t>-методы можно вызывать одновременно из разных потоков.</a:t>
            </a:r>
            <a:br>
              <a:rPr lang="ru-RU" b="0" dirty="0"/>
            </a:br>
            <a:r>
              <a:rPr lang="ru-RU" b="0" dirty="0"/>
              <a:t>Если внутри такого метода изменяются </a:t>
            </a:r>
            <a:r>
              <a:rPr lang="ru-RU" sz="1200" b="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mutable</a:t>
            </a:r>
            <a:r>
              <a:rPr lang="ru-RU" b="0" dirty="0"/>
              <a:t>-поля, это может привести к гонкам данных, поэтому нужно обеспечивать правильную синхронизацию в многопоточных программах.</a:t>
            </a:r>
          </a:p>
          <a:p>
            <a:endParaRPr lang="ru-RU" b="0" dirty="0"/>
          </a:p>
          <a:p>
            <a:r>
              <a:rPr lang="ru-RU" b="0" dirty="0"/>
              <a:t>Есть и низкоуровневая деталь: компилятор знает, содержит ли класс </a:t>
            </a:r>
            <a:r>
              <a:rPr lang="ru-RU" sz="1200" b="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mutable</a:t>
            </a:r>
            <a:r>
              <a:rPr lang="ru-RU" b="0" dirty="0"/>
              <a:t>-поля.</a:t>
            </a:r>
            <a:br>
              <a:rPr lang="ru-RU" b="0" dirty="0"/>
            </a:br>
            <a:r>
              <a:rPr lang="ru-RU" b="0" dirty="0"/>
              <a:t>Поэтому даже глобальный </a:t>
            </a:r>
            <a:r>
              <a:rPr lang="ru-RU" sz="1200" b="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b="0" dirty="0"/>
              <a:t>-объект такого типа может быть размещён в RW-памяти, а не в </a:t>
            </a:r>
            <a:r>
              <a:rPr lang="ru-RU" b="0" dirty="0" err="1"/>
              <a:t>read-only</a:t>
            </a:r>
            <a:r>
              <a:rPr lang="ru-RU" b="0" dirty="0"/>
              <a:t> сегменте.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42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49897474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Здесь показаны два похожих класса: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Mutable</a:t>
            </a:r>
            <a:r>
              <a:rPr lang="ru-RU" dirty="0"/>
              <a:t> и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Immutable</a:t>
            </a:r>
            <a:r>
              <a:rPr lang="ru-RU" dirty="0"/>
              <a:t>.</a:t>
            </a:r>
          </a:p>
          <a:p>
            <a:r>
              <a:rPr lang="ru-RU" dirty="0"/>
              <a:t>В классе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Mutable</a:t>
            </a:r>
            <a:r>
              <a:rPr lang="ru-RU" dirty="0"/>
              <a:t> поле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m_value</a:t>
            </a:r>
            <a:r>
              <a:rPr lang="ru-RU" dirty="0"/>
              <a:t> объявлено как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mutable</a:t>
            </a:r>
            <a:r>
              <a:rPr lang="ru-RU" dirty="0"/>
              <a:t>.</a:t>
            </a:r>
            <a:endParaRPr lang="en-US" dirty="0"/>
          </a:p>
          <a:p>
            <a:br>
              <a:rPr lang="ru-RU" dirty="0"/>
            </a:br>
            <a:r>
              <a:rPr lang="ru-RU" dirty="0"/>
              <a:t>Поэтому 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GetValue</a:t>
            </a:r>
            <a:r>
              <a:rPr lang="ru-RU" dirty="0"/>
              <a:t>, несмотря на то что он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dirty="0"/>
              <a:t>, может изменять это поле — например, вычислить значение и сохранить его.</a:t>
            </a:r>
            <a:endParaRPr lang="en-US" dirty="0"/>
          </a:p>
          <a:p>
            <a:endParaRPr lang="ru-RU" dirty="0"/>
          </a:p>
          <a:p>
            <a:r>
              <a:rPr lang="ru-RU" dirty="0"/>
              <a:t>В классе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Immutable</a:t>
            </a:r>
            <a:r>
              <a:rPr lang="ru-RU" dirty="0"/>
              <a:t> никаких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mutable</a:t>
            </a:r>
            <a:r>
              <a:rPr lang="ru-RU" dirty="0"/>
              <a:t>-полей нет.</a:t>
            </a:r>
            <a:br>
              <a:rPr lang="ru-RU" dirty="0"/>
            </a:br>
            <a:r>
              <a:rPr lang="ru-RU" dirty="0"/>
              <a:t>Его данные считаются </a:t>
            </a:r>
            <a:r>
              <a:rPr lang="ru-RU" b="1" dirty="0"/>
              <a:t>обычной частью состояния объекта</a:t>
            </a:r>
            <a:r>
              <a:rPr lang="ru-RU" dirty="0"/>
              <a:t> и изменяться внутри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dirty="0"/>
              <a:t>-методов не могут.</a:t>
            </a:r>
          </a:p>
          <a:p>
            <a:r>
              <a:rPr lang="ru-RU" dirty="0"/>
              <a:t>Также в обоих классах есть метод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Change</a:t>
            </a:r>
            <a:r>
              <a:rPr lang="ru-RU" dirty="0"/>
              <a:t>, который изменяет поле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m_counter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43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44168665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Здесь создаются </a:t>
            </a:r>
            <a:r>
              <a:rPr lang="ru-RU" b="1" dirty="0"/>
              <a:t>два глобальных константных объекта</a:t>
            </a:r>
            <a:r>
              <a:rPr lang="ru-RU" dirty="0"/>
              <a:t>: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mut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immut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Далее в программе мы снимаем константность с помощью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const_cast</a:t>
            </a:r>
            <a:r>
              <a:rPr lang="ru-RU" dirty="0"/>
              <a:t> и вызываем метод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Change</a:t>
            </a:r>
            <a:r>
              <a:rPr lang="ru-RU" dirty="0"/>
              <a:t>.</a:t>
            </a:r>
          </a:p>
          <a:p>
            <a:r>
              <a:rPr lang="ru-RU" dirty="0"/>
              <a:t>В случае объекта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Mutable</a:t>
            </a:r>
            <a:r>
              <a:rPr lang="ru-RU" dirty="0"/>
              <a:t> программа работает — значение счётчика успешно увеличивается.</a:t>
            </a:r>
          </a:p>
          <a:p>
            <a:r>
              <a:rPr lang="ru-RU" dirty="0"/>
              <a:t>А вот для объекта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Immutable</a:t>
            </a:r>
            <a:r>
              <a:rPr lang="ru-RU" dirty="0"/>
              <a:t> происходит проблема: программа зависает или падает.</a:t>
            </a:r>
          </a:p>
          <a:p>
            <a:br>
              <a:rPr lang="ru-RU" dirty="0"/>
            </a:br>
            <a:r>
              <a:rPr lang="ru-RU" dirty="0"/>
              <a:t>Это происходит потому, что мы </a:t>
            </a:r>
            <a:r>
              <a:rPr lang="ru-RU" b="1" dirty="0"/>
              <a:t>изменяем действительно константный объект</a:t>
            </a:r>
            <a:r>
              <a:rPr lang="ru-RU" dirty="0"/>
              <a:t>, что приводит к </a:t>
            </a:r>
            <a:r>
              <a:rPr lang="ru-RU" b="1" dirty="0"/>
              <a:t>неопределённому поведению (UB)</a:t>
            </a:r>
            <a:r>
              <a:rPr lang="ru-RU" dirty="0"/>
              <a:t>.</a:t>
            </a:r>
          </a:p>
          <a:p>
            <a:r>
              <a:rPr lang="ru-RU" dirty="0"/>
              <a:t>Причина в том, что объект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Immutable</a:t>
            </a:r>
            <a:r>
              <a:rPr lang="ru-RU" dirty="0"/>
              <a:t> может быть размещён в </a:t>
            </a:r>
            <a:r>
              <a:rPr lang="ru-RU" b="1" dirty="0" err="1"/>
              <a:t>read-only</a:t>
            </a:r>
            <a:r>
              <a:rPr lang="ru-RU" b="1" dirty="0"/>
              <a:t> памяти</a:t>
            </a:r>
            <a:r>
              <a:rPr lang="ru-RU" dirty="0"/>
              <a:t>, тогда как объект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Mutable</a:t>
            </a:r>
            <a:r>
              <a:rPr lang="ru-RU" dirty="0"/>
              <a:t> компилятор размещает в </a:t>
            </a:r>
            <a:r>
              <a:rPr lang="ru-RU" b="1" dirty="0"/>
              <a:t>RW-области</a:t>
            </a:r>
            <a:r>
              <a:rPr lang="ru-RU" dirty="0"/>
              <a:t>, так как знает, что у него есть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mutable</a:t>
            </a:r>
            <a:r>
              <a:rPr lang="ru-RU" dirty="0"/>
              <a:t>-поля.</a:t>
            </a:r>
          </a:p>
          <a:p>
            <a:endParaRPr lang="ru-RU" dirty="0"/>
          </a:p>
          <a:p>
            <a:r>
              <a:rPr lang="ru-RU" dirty="0"/>
              <a:t>Главный вывод: </a:t>
            </a:r>
            <a:r>
              <a:rPr lang="ru-RU" b="1" dirty="0"/>
              <a:t>снимать константность с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b="1" dirty="0"/>
              <a:t>-объектов нельзя</a:t>
            </a:r>
            <a:r>
              <a:rPr lang="ru-RU" dirty="0"/>
              <a:t> — это приводит к неопределённому поведению.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44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04667644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C++ принято разделять </a:t>
            </a:r>
            <a:r>
              <a:rPr lang="ru-RU" b="1" dirty="0"/>
              <a:t>объявление класса и его реализацию</a:t>
            </a:r>
            <a:r>
              <a:rPr lang="ru-RU" dirty="0"/>
              <a:t>.</a:t>
            </a:r>
          </a:p>
          <a:p>
            <a:r>
              <a:rPr lang="ru-RU" dirty="0"/>
              <a:t>Объявление класса помещают в </a:t>
            </a:r>
            <a:r>
              <a:rPr lang="ru-RU" b="1" dirty="0"/>
              <a:t>заголовочный файл</a:t>
            </a:r>
            <a:r>
              <a:rPr lang="ru-RU" dirty="0"/>
              <a:t> — обычно с расширением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.h</a:t>
            </a:r>
            <a:r>
              <a:rPr lang="ru-RU" dirty="0"/>
              <a:t> или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hpp</a:t>
            </a:r>
            <a:r>
              <a:rPr lang="ru-RU" dirty="0"/>
              <a:t>.</a:t>
            </a:r>
            <a:endParaRPr lang="en-US" dirty="0"/>
          </a:p>
          <a:p>
            <a:br>
              <a:rPr lang="ru-RU" dirty="0"/>
            </a:br>
            <a:r>
              <a:rPr lang="ru-RU" dirty="0"/>
              <a:t>Там описывается структура класса и сигнатуры его методов.</a:t>
            </a:r>
          </a:p>
          <a:p>
            <a:r>
              <a:rPr lang="ru-RU" dirty="0"/>
              <a:t>Реализация методов размещается в </a:t>
            </a:r>
            <a:r>
              <a:rPr lang="ru-RU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cpp</a:t>
            </a:r>
            <a:r>
              <a:rPr lang="ru-RU" b="1" dirty="0"/>
              <a:t> файле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Такой подход делает код более структурированным: класс легко найти, и его можно использовать в других файлах через директиву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#include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Кроме того, это уменьшает время сборки программы — при изменении реализации </a:t>
            </a:r>
            <a:r>
              <a:rPr lang="ru-RU" b="1" dirty="0"/>
              <a:t>не требуется перекомпилировать весь проект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46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04049355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47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19751494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Публичная часть класса определяет его </a:t>
            </a:r>
            <a:r>
              <a:rPr lang="ru-RU" b="1" dirty="0"/>
              <a:t>интерфейс</a:t>
            </a:r>
            <a:r>
              <a:rPr lang="ru-RU" dirty="0"/>
              <a:t> — то есть то, как класс используется снаружи.</a:t>
            </a:r>
          </a:p>
          <a:p>
            <a:r>
              <a:rPr lang="ru-RU" dirty="0"/>
              <a:t>Все члены, объявленные как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public</a:t>
            </a:r>
            <a:r>
              <a:rPr lang="ru-RU" dirty="0"/>
              <a:t>, доступны из любого места программы.</a:t>
            </a:r>
            <a:br>
              <a:rPr lang="ru-RU" dirty="0"/>
            </a:br>
            <a:r>
              <a:rPr lang="ru-RU" dirty="0"/>
              <a:t>Именно через них пользователи взаимодействуют с объектом.</a:t>
            </a:r>
          </a:p>
          <a:p>
            <a:endParaRPr lang="ru-RU" dirty="0"/>
          </a:p>
          <a:p>
            <a:r>
              <a:rPr lang="ru-RU" dirty="0"/>
              <a:t>Поэтому в публичной области класса стоит размещать </a:t>
            </a:r>
            <a:r>
              <a:rPr lang="ru-RU" b="1" dirty="0"/>
              <a:t>только необходимый набор операций</a:t>
            </a:r>
            <a:r>
              <a:rPr lang="ru-RU" dirty="0"/>
              <a:t>, которые описывают поведение объекта на высоком уровне.</a:t>
            </a:r>
          </a:p>
          <a:p>
            <a:endParaRPr lang="ru-RU" dirty="0"/>
          </a:p>
          <a:p>
            <a:r>
              <a:rPr lang="ru-RU" dirty="0"/>
              <a:t>Хороший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public</a:t>
            </a:r>
            <a:r>
              <a:rPr lang="ru-RU" dirty="0"/>
              <a:t>-метод должен переводить объект </a:t>
            </a:r>
            <a:r>
              <a:rPr lang="ru-RU" b="1" dirty="0"/>
              <a:t>из одного корректного состояния в другое</a:t>
            </a:r>
            <a:r>
              <a:rPr lang="ru-RU" dirty="0"/>
              <a:t>, либо не изменять его состояние вовсе.</a:t>
            </a:r>
          </a:p>
          <a:p>
            <a:endParaRPr lang="ru-RU" dirty="0"/>
          </a:p>
          <a:p>
            <a:r>
              <a:rPr lang="ru-RU" dirty="0"/>
              <a:t>При этом </a:t>
            </a:r>
            <a:r>
              <a:rPr lang="ru-RU" b="1" dirty="0"/>
              <a:t>публичные данные обычно считаются плохой практикой</a:t>
            </a:r>
            <a:r>
              <a:rPr lang="ru-RU" dirty="0"/>
              <a:t>, потому что в этом случае внешний код может изменять состояние объекта напрямую.</a:t>
            </a:r>
          </a:p>
          <a:p>
            <a:endParaRPr lang="ru-RU" dirty="0"/>
          </a:p>
          <a:p>
            <a:r>
              <a:rPr lang="ru-RU" dirty="0"/>
              <a:t>Правильный подход — когда </a:t>
            </a:r>
            <a:r>
              <a:rPr lang="ru-RU" b="1" dirty="0"/>
              <a:t>класс сам управляет своими данными</a:t>
            </a:r>
            <a:r>
              <a:rPr lang="ru-RU" dirty="0"/>
              <a:t>, а внешний код работает с объектом только через методы.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49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84509335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Закрытая часть класса описывает </a:t>
            </a:r>
            <a:r>
              <a:rPr lang="ru-RU" b="1" dirty="0"/>
              <a:t>внутреннюю реализацию</a:t>
            </a:r>
            <a:r>
              <a:rPr lang="ru-RU" dirty="0"/>
              <a:t>.</a:t>
            </a:r>
          </a:p>
          <a:p>
            <a:r>
              <a:rPr lang="ru-RU" dirty="0"/>
              <a:t>Члены, объявленные как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private</a:t>
            </a:r>
            <a:r>
              <a:rPr lang="ru-RU" dirty="0"/>
              <a:t>, доступны </a:t>
            </a:r>
            <a:r>
              <a:rPr lang="ru-RU" b="1" dirty="0"/>
              <a:t>только внутри самого класса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Внешний код не может обращаться к ним напрямую.</a:t>
            </a:r>
          </a:p>
          <a:p>
            <a:endParaRPr lang="ru-RU" dirty="0"/>
          </a:p>
          <a:p>
            <a:r>
              <a:rPr lang="ru-RU" dirty="0"/>
              <a:t>Обычно </a:t>
            </a:r>
            <a:r>
              <a:rPr lang="ru-RU" b="1" dirty="0"/>
              <a:t>все данные класса делают приватными</a:t>
            </a:r>
            <a:r>
              <a:rPr lang="ru-RU" dirty="0"/>
              <a:t>, чтобы класс полностью контролировал своё состояние.</a:t>
            </a:r>
          </a:p>
          <a:p>
            <a:r>
              <a:rPr lang="ru-RU" dirty="0"/>
              <a:t>Работа с этими данными выполняется через методы класса.</a:t>
            </a:r>
          </a:p>
          <a:p>
            <a:endParaRPr lang="ru-RU" dirty="0"/>
          </a:p>
          <a:p>
            <a:r>
              <a:rPr lang="ru-RU" dirty="0"/>
              <a:t>Приватные методы, как правило, используются для </a:t>
            </a:r>
            <a:r>
              <a:rPr lang="ru-RU" b="1" dirty="0"/>
              <a:t>реализации внутренней логики</a:t>
            </a:r>
            <a:r>
              <a:rPr lang="ru-RU" dirty="0"/>
              <a:t> и вызываются из публичных или защищённых методов.</a:t>
            </a:r>
          </a:p>
          <a:p>
            <a:endParaRPr lang="ru-RU" dirty="0"/>
          </a:p>
          <a:p>
            <a:r>
              <a:rPr lang="ru-RU" dirty="0"/>
              <a:t>Они помогают </a:t>
            </a:r>
            <a:r>
              <a:rPr lang="ru-RU" b="1" dirty="0"/>
              <a:t>разделить сложные операции на более простые части</a:t>
            </a:r>
            <a:r>
              <a:rPr lang="ru-RU" dirty="0"/>
              <a:t>.</a:t>
            </a:r>
          </a:p>
          <a:p>
            <a:r>
              <a:rPr lang="ru-RU" dirty="0"/>
              <a:t>И наконец, если приватный метод больше не используется, его стоит </a:t>
            </a:r>
            <a:r>
              <a:rPr lang="ru-RU" b="1" dirty="0"/>
              <a:t>удалить</a:t>
            </a:r>
            <a:r>
              <a:rPr lang="ru-RU" dirty="0"/>
              <a:t>, чтобы не усложнять код.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50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706136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этом примере показано, как </a:t>
            </a:r>
            <a:r>
              <a:rPr lang="ru-RU" b="1" dirty="0"/>
              <a:t>приватные методы используются для внутренней реализации класса</a:t>
            </a:r>
            <a:r>
              <a:rPr lang="ru-RU" dirty="0"/>
              <a:t>.</a:t>
            </a:r>
          </a:p>
          <a:p>
            <a:r>
              <a:rPr lang="ru-RU" dirty="0"/>
              <a:t>Публичный 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Set</a:t>
            </a:r>
            <a:r>
              <a:rPr lang="ru-RU" dirty="0"/>
              <a:t> устанавливает время и </a:t>
            </a:r>
            <a:r>
              <a:rPr lang="ru-RU" b="1" dirty="0"/>
              <a:t>проверяет корректность аргументов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Если значения допустимы, он вызывает приватный 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SetUnchecked</a:t>
            </a:r>
            <a:r>
              <a:rPr lang="ru-RU" dirty="0"/>
              <a:t>.</a:t>
            </a:r>
          </a:p>
          <a:p>
            <a:r>
              <a:rPr lang="ru-RU" dirty="0"/>
              <a:t>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SetUnchecked</a:t>
            </a:r>
            <a:r>
              <a:rPr lang="ru-RU" dirty="0"/>
              <a:t> устанавливает время </a:t>
            </a:r>
            <a:r>
              <a:rPr lang="ru-RU" b="1" dirty="0"/>
              <a:t>без проверок</a:t>
            </a:r>
            <a:r>
              <a:rPr lang="ru-RU" dirty="0"/>
              <a:t>.</a:t>
            </a:r>
          </a:p>
          <a:p>
            <a:br>
              <a:rPr lang="ru-RU" dirty="0"/>
            </a:br>
            <a:r>
              <a:rPr lang="ru-RU" dirty="0"/>
              <a:t>Он используется только внутри класса, когда мы уверены, что данные уже корректны.</a:t>
            </a:r>
          </a:p>
          <a:p>
            <a:r>
              <a:rPr lang="ru-RU" dirty="0"/>
              <a:t>Например, его также вызывает 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SetMidnight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Такой подход позволяет </a:t>
            </a:r>
            <a:r>
              <a:rPr lang="ru-RU" b="1" dirty="0"/>
              <a:t>не дублировать код</a:t>
            </a:r>
            <a:r>
              <a:rPr lang="ru-RU" dirty="0"/>
              <a:t> и отделить </a:t>
            </a:r>
            <a:r>
              <a:rPr lang="ru-RU" b="1" dirty="0"/>
              <a:t>проверку данных от самой операции изменения состояния объекта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51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3453868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Уровень доступа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protected</a:t>
            </a:r>
            <a:r>
              <a:rPr lang="ru-RU" dirty="0"/>
              <a:t> занимает промежуточное положение между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public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private</a:t>
            </a:r>
            <a:r>
              <a:rPr lang="ru-RU" dirty="0"/>
              <a:t>.</a:t>
            </a:r>
          </a:p>
          <a:p>
            <a:r>
              <a:rPr lang="ru-RU" dirty="0"/>
              <a:t>Такие члены доступны </a:t>
            </a:r>
            <a:r>
              <a:rPr lang="ru-RU" b="1" dirty="0"/>
              <a:t>внутри самого класса</a:t>
            </a:r>
            <a:r>
              <a:rPr lang="ru-RU" dirty="0"/>
              <a:t>, а также </a:t>
            </a:r>
            <a:r>
              <a:rPr lang="ru-RU" b="1" dirty="0"/>
              <a:t>в его производных классах</a:t>
            </a:r>
            <a:r>
              <a:rPr lang="ru-RU" dirty="0"/>
              <a:t>, но при этом </a:t>
            </a:r>
            <a:r>
              <a:rPr lang="ru-RU" b="1" dirty="0"/>
              <a:t>не видны внешнему коду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Этот уровень доступа используется, когда нужно предоставить </a:t>
            </a:r>
            <a:r>
              <a:rPr lang="ru-RU" b="1" dirty="0"/>
              <a:t>определённые возможности классам-наследникам</a:t>
            </a:r>
            <a:r>
              <a:rPr lang="ru-RU" dirty="0"/>
              <a:t>, но не делать их частью публичного интерфейса.</a:t>
            </a:r>
          </a:p>
          <a:p>
            <a:endParaRPr lang="ru-RU" dirty="0"/>
          </a:p>
          <a:p>
            <a:r>
              <a:rPr lang="ru-RU" dirty="0"/>
              <a:t>Например, производный класс может использовать защищённые методы или переопределять их.</a:t>
            </a:r>
          </a:p>
          <a:p>
            <a:r>
              <a:rPr lang="ru-RU" dirty="0"/>
              <a:t>Таким образом,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protected</a:t>
            </a:r>
            <a:r>
              <a:rPr lang="ru-RU" dirty="0"/>
              <a:t> помогает определить </a:t>
            </a:r>
            <a:r>
              <a:rPr lang="ru-RU" b="1" dirty="0"/>
              <a:t>интерфейс для наследования</a:t>
            </a:r>
            <a:r>
              <a:rPr lang="ru-RU" dirty="0"/>
              <a:t>.</a:t>
            </a:r>
          </a:p>
          <a:p>
            <a:r>
              <a:rPr lang="ru-RU" dirty="0"/>
              <a:t>Подробнее этот механизм мы рассмотрим позже, когда будем говорить о </a:t>
            </a:r>
            <a:r>
              <a:rPr lang="ru-RU" b="1" dirty="0"/>
              <a:t>наследовании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52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94963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="0" dirty="0"/>
              <a:t>Во многих языках программирования существует понятие свойства.</a:t>
            </a:r>
          </a:p>
          <a:p>
            <a:r>
              <a:rPr lang="ru-RU" b="0" dirty="0"/>
              <a:t>Свойство похоже на обычное поле объекта — к нему можно обращаться как к переменной.</a:t>
            </a:r>
            <a:endParaRPr lang="en-US" b="0" dirty="0"/>
          </a:p>
          <a:p>
            <a:br>
              <a:rPr lang="ru-RU" b="0" dirty="0"/>
            </a:br>
            <a:r>
              <a:rPr lang="ru-RU" b="0" dirty="0"/>
              <a:t>Но на самом деле за чтением и записью могут стоять методы, которые выполняют дополнительную логику.</a:t>
            </a:r>
            <a:endParaRPr lang="en-US" b="0" dirty="0"/>
          </a:p>
          <a:p>
            <a:endParaRPr lang="ru-RU" b="0" dirty="0"/>
          </a:p>
          <a:p>
            <a:r>
              <a:rPr lang="ru-RU" b="0" dirty="0"/>
              <a:t>Например, при записи можно проверять корректность данных, а при чтении — вычислять значение.</a:t>
            </a:r>
            <a:endParaRPr lang="en-US" b="0" dirty="0"/>
          </a:p>
          <a:p>
            <a:endParaRPr lang="ru-RU" b="0" dirty="0"/>
          </a:p>
          <a:p>
            <a:r>
              <a:rPr lang="ru-RU" b="0" dirty="0"/>
              <a:t>Свойства могут быть только для чтения, только для записи или для чтения и записи.</a:t>
            </a:r>
            <a:endParaRPr lang="en-US" b="0" dirty="0"/>
          </a:p>
          <a:p>
            <a:endParaRPr lang="ru-RU" b="0" dirty="0"/>
          </a:p>
          <a:p>
            <a:r>
              <a:rPr lang="ru-RU" b="0" dirty="0"/>
              <a:t>Важно, что методы чтения — так называемые </a:t>
            </a:r>
            <a:r>
              <a:rPr lang="ru-RU" b="0" dirty="0" err="1"/>
              <a:t>getter'ы</a:t>
            </a:r>
            <a:r>
              <a:rPr lang="ru-RU" b="0" dirty="0"/>
              <a:t> — не должны иметь заметных побочных эффектов.</a:t>
            </a:r>
            <a:endParaRPr lang="en-US" b="0" dirty="0"/>
          </a:p>
          <a:p>
            <a:endParaRPr lang="ru-RU" b="0" dirty="0"/>
          </a:p>
          <a:p>
            <a:r>
              <a:rPr lang="ru-RU" b="0" dirty="0"/>
              <a:t>В языке C++ свойства как элемент языка отсутствуют, поэтому обычно их эмулируют с помощью методов </a:t>
            </a:r>
            <a:r>
              <a:rPr lang="ru-RU" sz="1200" b="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</a:t>
            </a:r>
            <a:r>
              <a:rPr lang="ru-RU" b="0" dirty="0"/>
              <a:t> и </a:t>
            </a:r>
            <a:r>
              <a:rPr lang="ru-RU" sz="1200" b="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set</a:t>
            </a:r>
            <a:r>
              <a:rPr lang="ru-RU" b="0" dirty="0"/>
              <a:t>.</a:t>
            </a:r>
          </a:p>
          <a:p>
            <a:endParaRPr lang="en-US" b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55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62517255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Здесь показан пример </a:t>
            </a:r>
            <a:r>
              <a:rPr lang="ru-RU" b="1" dirty="0"/>
              <a:t>свойства в языке C#</a:t>
            </a:r>
            <a:r>
              <a:rPr lang="ru-RU" dirty="0"/>
              <a:t>.</a:t>
            </a:r>
          </a:p>
          <a:p>
            <a:r>
              <a:rPr lang="ru-RU" dirty="0"/>
              <a:t>Свойство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Hours</a:t>
            </a:r>
            <a:r>
              <a:rPr lang="ru-RU" dirty="0"/>
              <a:t> выглядит как обычное поле, но на самом деле оно состоит из двух частей: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</a:t>
            </a:r>
            <a:r>
              <a:rPr lang="ru-RU" b="1" dirty="0"/>
              <a:t> и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set</a:t>
            </a:r>
            <a:r>
              <a:rPr lang="ru-RU" dirty="0"/>
              <a:t>.</a:t>
            </a:r>
          </a:p>
          <a:p>
            <a:r>
              <a:rPr lang="ru-RU" dirty="0"/>
              <a:t>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</a:t>
            </a:r>
            <a:r>
              <a:rPr lang="ru-RU" dirty="0"/>
              <a:t> выполняется при чтении свойства и вычисляет количество часов на основе значения в секундах.</a:t>
            </a:r>
          </a:p>
          <a:p>
            <a:endParaRPr lang="ru-RU" dirty="0"/>
          </a:p>
          <a:p>
            <a:r>
              <a:rPr lang="ru-RU" dirty="0"/>
              <a:t>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set</a:t>
            </a:r>
            <a:r>
              <a:rPr lang="ru-RU" dirty="0"/>
              <a:t> выполняется при записи свойства. В нём можно выполнить </a:t>
            </a:r>
            <a:r>
              <a:rPr lang="ru-RU" b="1" dirty="0"/>
              <a:t>проверку корректности данных</a:t>
            </a:r>
            <a:r>
              <a:rPr lang="ru-RU" dirty="0"/>
              <a:t>. В данном случае проверяется, что значение находится в диапазоне от 0 до 24.</a:t>
            </a:r>
          </a:p>
          <a:p>
            <a:endParaRPr lang="ru-RU" dirty="0"/>
          </a:p>
          <a:p>
            <a:r>
              <a:rPr lang="ru-RU" dirty="0"/>
              <a:t>Если значение корректно, оно преобразуется в секунды и сохраняется во внутреннем поле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_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seconds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Таким образом свойства позволяют </a:t>
            </a:r>
            <a:r>
              <a:rPr lang="ru-RU" b="1" dirty="0"/>
              <a:t>обращаться к данным как к полям</a:t>
            </a:r>
            <a:r>
              <a:rPr lang="ru-RU" dirty="0"/>
              <a:t>, но при этом выполнять дополнительную логику при чтении и записи.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56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67941812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этом примере показано использование </a:t>
            </a:r>
            <a:r>
              <a:rPr lang="ru-RU" b="1" dirty="0"/>
              <a:t>свойств в C# на примере класса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Circle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Свойство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Radius</a:t>
            </a:r>
            <a:r>
              <a:rPr lang="ru-RU" dirty="0"/>
              <a:t> предоставляет доступ к радиусу круга.</a:t>
            </a:r>
            <a:br>
              <a:rPr lang="ru-RU" dirty="0"/>
            </a:br>
            <a:r>
              <a:rPr lang="ru-RU" dirty="0"/>
              <a:t>При записи значения выполняется </a:t>
            </a:r>
            <a:r>
              <a:rPr lang="ru-RU" b="1" dirty="0"/>
              <a:t>проверка</a:t>
            </a:r>
            <a:r>
              <a:rPr lang="ru-RU" dirty="0"/>
              <a:t> — радиус не может быть отрицательным.</a:t>
            </a:r>
            <a:endParaRPr lang="en-US" dirty="0"/>
          </a:p>
          <a:p>
            <a:endParaRPr lang="ru-RU" dirty="0"/>
          </a:p>
          <a:p>
            <a:r>
              <a:rPr lang="ru-RU" dirty="0"/>
              <a:t>Свойство </a:t>
            </a:r>
            <a:r>
              <a:rPr lang="ru-RU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Area</a:t>
            </a:r>
            <a:r>
              <a:rPr lang="ru-RU" dirty="0"/>
              <a:t> является </a:t>
            </a:r>
            <a:r>
              <a:rPr lang="ru-RU" b="1" dirty="0"/>
              <a:t>только для чтения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Его значение не хранится в объекте, а </a:t>
            </a:r>
            <a:r>
              <a:rPr lang="ru-RU" b="1" dirty="0"/>
              <a:t>вычисляется при обращении</a:t>
            </a:r>
            <a:r>
              <a:rPr lang="ru-RU" dirty="0"/>
              <a:t> по формуле площади круга.</a:t>
            </a:r>
            <a:endParaRPr lang="en-US" dirty="0"/>
          </a:p>
          <a:p>
            <a:endParaRPr lang="ru-RU" dirty="0"/>
          </a:p>
          <a:p>
            <a:r>
              <a:rPr lang="ru-RU" dirty="0"/>
              <a:t>Таким образом свойства позволяют </a:t>
            </a:r>
            <a:r>
              <a:rPr lang="ru-RU" b="1" dirty="0"/>
              <a:t>контролировать доступ к данным</a:t>
            </a:r>
            <a:r>
              <a:rPr lang="ru-RU" dirty="0"/>
              <a:t>, выполнять проверки и вычисления, при этом пользоваться ими так же удобно, как обычными полями.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57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7612287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Этот пример показывает </a:t>
            </a:r>
            <a:r>
              <a:rPr lang="ru-RU" b="1" dirty="0"/>
              <a:t>неудачное использование свойств</a:t>
            </a:r>
            <a:r>
              <a:rPr lang="ru-RU" dirty="0"/>
              <a:t>.</a:t>
            </a:r>
          </a:p>
          <a:p>
            <a:r>
              <a:rPr lang="ru-RU" dirty="0"/>
              <a:t>В первом свойстве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Value</a:t>
            </a:r>
            <a:r>
              <a:rPr lang="ru-RU" dirty="0"/>
              <a:t> при чтении происходит </a:t>
            </a:r>
            <a:r>
              <a:rPr lang="ru-RU" b="1" dirty="0"/>
              <a:t>изменение состояния объекта</a:t>
            </a:r>
            <a:r>
              <a:rPr lang="ru-RU" dirty="0"/>
              <a:t> — значение увеличивается.</a:t>
            </a:r>
            <a:endParaRPr lang="en-US" dirty="0"/>
          </a:p>
          <a:p>
            <a:br>
              <a:rPr lang="ru-RU" dirty="0"/>
            </a:br>
            <a:r>
              <a:rPr lang="ru-RU" dirty="0"/>
              <a:t>Это неожиданно, потому что чтение свойства обычно воспринимается как </a:t>
            </a:r>
            <a:r>
              <a:rPr lang="ru-RU" b="1" dirty="0"/>
              <a:t>безопасная операция без побочных эффектов</a:t>
            </a:r>
            <a:r>
              <a:rPr lang="ru-RU" dirty="0"/>
              <a:t>. Даже простой просмотр свойства в отладчике будет менять значение.</a:t>
            </a:r>
            <a:endParaRPr lang="en-US" dirty="0"/>
          </a:p>
          <a:p>
            <a:endParaRPr lang="ru-RU" dirty="0"/>
          </a:p>
          <a:p>
            <a:r>
              <a:rPr lang="ru-RU" dirty="0"/>
              <a:t>Во втором свойстве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LongCalculation</a:t>
            </a:r>
            <a:r>
              <a:rPr lang="ru-RU" dirty="0"/>
              <a:t> проблема другая — </a:t>
            </a:r>
            <a:r>
              <a:rPr lang="ru-RU" b="1" dirty="0"/>
              <a:t>очень длительное вычисление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Если отладчик попытается показать значение свойства, программа может надолго зависнуть.</a:t>
            </a:r>
            <a:endParaRPr lang="en-US" dirty="0"/>
          </a:p>
          <a:p>
            <a:endParaRPr lang="ru-RU" dirty="0"/>
          </a:p>
          <a:p>
            <a:r>
              <a:rPr lang="ru-RU" dirty="0"/>
              <a:t>Поэтому хорошая практика такая: </a:t>
            </a:r>
            <a:r>
              <a:rPr lang="ru-RU" b="1" dirty="0" err="1"/>
              <a:t>getter</a:t>
            </a:r>
            <a:r>
              <a:rPr lang="ru-RU" b="1" dirty="0"/>
              <a:t> свойства должен быть быстрым и не иметь побочных эффектов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58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54111003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C++ свойства как отдельный элемент языка </a:t>
            </a:r>
            <a:r>
              <a:rPr lang="ru-RU" b="1" dirty="0"/>
              <a:t>не поддерживаются</a:t>
            </a:r>
            <a:r>
              <a:rPr lang="ru-RU" dirty="0"/>
              <a:t>, поэтому их обычно </a:t>
            </a:r>
            <a:r>
              <a:rPr lang="ru-RU" b="1" dirty="0"/>
              <a:t>эмулируют с помощью методов</a:t>
            </a:r>
            <a:r>
              <a:rPr lang="ru-RU" dirty="0"/>
              <a:t>.</a:t>
            </a:r>
          </a:p>
          <a:p>
            <a:r>
              <a:rPr lang="ru-RU" dirty="0"/>
              <a:t>В этом примере класс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Triangle</a:t>
            </a:r>
            <a:r>
              <a:rPr lang="ru-RU" dirty="0"/>
              <a:t> хранит только </a:t>
            </a:r>
            <a:r>
              <a:rPr lang="ru-RU" b="1" dirty="0"/>
              <a:t>три вершины</a:t>
            </a:r>
            <a:r>
              <a:rPr lang="ru-RU" dirty="0"/>
              <a:t> —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m_p0</a:t>
            </a:r>
            <a:r>
              <a:rPr lang="ru-RU" dirty="0"/>
              <a:t>,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m_p1</a:t>
            </a:r>
            <a:r>
              <a:rPr lang="ru-RU" dirty="0"/>
              <a:t> 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m_p2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Но при этом он предоставляет методы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GetArea</a:t>
            </a:r>
            <a:r>
              <a:rPr lang="ru-RU" dirty="0"/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GetPerimeter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GetCenter</a:t>
            </a:r>
            <a:r>
              <a:rPr lang="ru-RU" dirty="0"/>
              <a:t>.</a:t>
            </a:r>
          </a:p>
          <a:p>
            <a:r>
              <a:rPr lang="ru-RU" dirty="0"/>
              <a:t>Эти значения </a:t>
            </a:r>
            <a:r>
              <a:rPr lang="ru-RU" b="1" dirty="0"/>
              <a:t>не хранятся в полях класса</a:t>
            </a:r>
            <a:r>
              <a:rPr lang="ru-RU" dirty="0"/>
              <a:t>, а </a:t>
            </a:r>
            <a:r>
              <a:rPr lang="ru-RU" b="1" dirty="0"/>
              <a:t>вычисляются при обращении</a:t>
            </a:r>
            <a:r>
              <a:rPr lang="ru-RU" dirty="0"/>
              <a:t>.</a:t>
            </a:r>
          </a:p>
          <a:p>
            <a:r>
              <a:rPr lang="ru-RU" dirty="0"/>
              <a:t>Это важная идея: свойства объекта </a:t>
            </a:r>
            <a:r>
              <a:rPr lang="ru-RU" b="1" dirty="0"/>
              <a:t>не обязаны напрямую соответствовать полям класса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Они могут быть </a:t>
            </a:r>
            <a:r>
              <a:rPr lang="ru-RU" b="1" dirty="0"/>
              <a:t>вычисляемыми характеристиками</a:t>
            </a:r>
            <a:r>
              <a:rPr lang="ru-RU" dirty="0"/>
              <a:t>, которые получаются на основе внутренних данных объекта.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59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9625865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При проектировании класса важно </a:t>
            </a:r>
            <a:r>
              <a:rPr lang="ru-RU" b="1" dirty="0"/>
              <a:t>не хранить избыточные данные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Например, для прямоугольника достаточно хранить </a:t>
            </a:r>
            <a:r>
              <a:rPr lang="ru-RU" b="1" dirty="0"/>
              <a:t>левый верхний угол, ширину и высоту</a:t>
            </a:r>
            <a:r>
              <a:rPr lang="ru-RU" dirty="0"/>
              <a:t>.</a:t>
            </a:r>
            <a:endParaRPr lang="en-US" dirty="0"/>
          </a:p>
          <a:p>
            <a:br>
              <a:rPr lang="ru-RU" dirty="0"/>
            </a:br>
            <a:r>
              <a:rPr lang="ru-RU" dirty="0"/>
              <a:t>Этой информации достаточно, чтобы вычислить все остальные характеристики — например, правый нижний угол.</a:t>
            </a:r>
            <a:endParaRPr lang="en-US" dirty="0"/>
          </a:p>
          <a:p>
            <a:endParaRPr lang="ru-RU" dirty="0"/>
          </a:p>
          <a:p>
            <a:r>
              <a:rPr lang="ru-RU" dirty="0"/>
              <a:t>Если же дополнительно хранить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RightBottom</a:t>
            </a:r>
            <a:r>
              <a:rPr lang="ru-RU" dirty="0"/>
              <a:t>, данные будут </a:t>
            </a:r>
            <a:r>
              <a:rPr lang="ru-RU" b="1" dirty="0"/>
              <a:t>дублироваться</a:t>
            </a:r>
            <a:r>
              <a:rPr lang="ru-RU" dirty="0"/>
              <a:t>.</a:t>
            </a:r>
            <a:endParaRPr lang="en-US" dirty="0"/>
          </a:p>
          <a:p>
            <a:br>
              <a:rPr lang="ru-RU" dirty="0"/>
            </a:br>
            <a:r>
              <a:rPr lang="ru-RU" dirty="0"/>
              <a:t>Тогда придётся постоянно следить за тем, чтобы все связанные поля </a:t>
            </a:r>
            <a:r>
              <a:rPr lang="ru-RU" b="1" dirty="0"/>
              <a:t>оставались согласованными</a:t>
            </a:r>
            <a:r>
              <a:rPr lang="ru-RU" dirty="0"/>
              <a:t> при каждом изменении.</a:t>
            </a:r>
          </a:p>
          <a:p>
            <a:r>
              <a:rPr lang="ru-RU" dirty="0"/>
              <a:t>Это усложняет код и увеличивает вероятность ошибок.</a:t>
            </a:r>
            <a:endParaRPr lang="en-US" dirty="0"/>
          </a:p>
          <a:p>
            <a:endParaRPr lang="ru-RU" dirty="0"/>
          </a:p>
          <a:p>
            <a:r>
              <a:rPr lang="ru-RU" dirty="0"/>
              <a:t>Поэтому общее правило такое: </a:t>
            </a:r>
            <a:r>
              <a:rPr lang="ru-RU" b="1" dirty="0"/>
              <a:t>не хранить данные, которые можно вычислить из других</a:t>
            </a:r>
            <a:r>
              <a:rPr lang="ru-RU" dirty="0"/>
              <a:t>.</a:t>
            </a:r>
            <a:endParaRPr lang="en-US" dirty="0"/>
          </a:p>
          <a:p>
            <a:br>
              <a:rPr lang="ru-RU" dirty="0"/>
            </a:br>
            <a:r>
              <a:rPr lang="ru-RU" dirty="0"/>
              <a:t>Исключение делают только в тех случаях, когда дублирование действительно </a:t>
            </a:r>
            <a:r>
              <a:rPr lang="ru-RU" b="1" dirty="0"/>
              <a:t>критично для производительности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60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23388405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="0" dirty="0"/>
              <a:t>Метод — это функция, которая принадлежит классу и вызывается для конкретного объекта.</a:t>
            </a:r>
            <a:endParaRPr lang="en-US" b="0" dirty="0"/>
          </a:p>
          <a:p>
            <a:endParaRPr lang="ru-RU" b="0" dirty="0"/>
          </a:p>
          <a:p>
            <a:r>
              <a:rPr lang="ru-RU" b="0" dirty="0"/>
              <a:t>Поэтому метод имеет доступ к внутренним данным объекта, включая приватные и защищённые поля.</a:t>
            </a:r>
            <a:endParaRPr lang="en-US" b="0" dirty="0"/>
          </a:p>
          <a:p>
            <a:endParaRPr lang="ru-RU" b="0" dirty="0"/>
          </a:p>
          <a:p>
            <a:r>
              <a:rPr lang="ru-RU" b="0" dirty="0"/>
              <a:t>Кроме того, методы могут быть виртуальными, что используется для реализации полиморфизма.</a:t>
            </a:r>
            <a:endParaRPr lang="en-US" b="0" dirty="0"/>
          </a:p>
          <a:p>
            <a:endParaRPr lang="ru-RU" b="0" dirty="0"/>
          </a:p>
          <a:p>
            <a:r>
              <a:rPr lang="ru-RU" b="0" dirty="0"/>
              <a:t>Обычная функция, в отличие от метода, не связана ни с каким объектом.</a:t>
            </a:r>
            <a:endParaRPr lang="en-US" b="0" dirty="0"/>
          </a:p>
          <a:p>
            <a:br>
              <a:rPr lang="ru-RU" b="0" dirty="0"/>
            </a:br>
            <a:r>
              <a:rPr lang="ru-RU" b="0" dirty="0"/>
              <a:t>Она работает только со своими параметрами или с глобальным состоянием.</a:t>
            </a:r>
          </a:p>
          <a:p>
            <a:r>
              <a:rPr lang="ru-RU" b="0" dirty="0"/>
              <a:t>Таким образом ключевое отличие — у метода есть</a:t>
            </a:r>
            <a:r>
              <a:rPr lang="en-US" b="0" dirty="0"/>
              <a:t> </a:t>
            </a:r>
            <a:r>
              <a:rPr lang="ru-RU" b="0" dirty="0"/>
              <a:t>ассоциированный объект, а у обычной функции его нет.</a:t>
            </a:r>
          </a:p>
          <a:p>
            <a:endParaRPr lang="en-US" b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62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78136829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этом примере показана </a:t>
            </a:r>
            <a:r>
              <a:rPr lang="ru-RU" b="1" dirty="0"/>
              <a:t>обычная функция</a:t>
            </a:r>
            <a:r>
              <a:rPr lang="ru-RU" dirty="0"/>
              <a:t>, которая работает с объектами.</a:t>
            </a:r>
          </a:p>
          <a:p>
            <a:r>
              <a:rPr lang="ru-RU" dirty="0"/>
              <a:t>Функция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MovePoint</a:t>
            </a:r>
            <a:r>
              <a:rPr lang="ru-RU" dirty="0"/>
              <a:t> принимает </a:t>
            </a:r>
            <a:r>
              <a:rPr lang="ru-RU" b="1" dirty="0"/>
              <a:t>ссылку на точку</a:t>
            </a:r>
            <a:r>
              <a:rPr lang="ru-RU" dirty="0"/>
              <a:t> и вектор смещения.</a:t>
            </a:r>
            <a:br>
              <a:rPr lang="ru-RU" dirty="0"/>
            </a:br>
            <a:r>
              <a:rPr lang="ru-RU" dirty="0"/>
              <a:t>Внутри функции мы изменяем координаты точки, прибавляя компоненты вектора.</a:t>
            </a:r>
            <a:endParaRPr lang="en-US" dirty="0"/>
          </a:p>
          <a:p>
            <a:endParaRPr lang="ru-RU" dirty="0"/>
          </a:p>
          <a:p>
            <a:r>
              <a:rPr lang="ru-RU" dirty="0"/>
              <a:t>Обратите внимание, что функция </a:t>
            </a:r>
            <a:r>
              <a:rPr lang="ru-RU" b="1" dirty="0"/>
              <a:t>не принадлежит никакому классу</a:t>
            </a:r>
            <a:r>
              <a:rPr lang="ru-RU" dirty="0"/>
              <a:t>.</a:t>
            </a:r>
            <a:endParaRPr lang="en-US" dirty="0"/>
          </a:p>
          <a:p>
            <a:br>
              <a:rPr lang="ru-RU" dirty="0"/>
            </a:br>
            <a:r>
              <a:rPr lang="ru-RU" dirty="0"/>
              <a:t>Она просто работает с объектом, который передан ей в качестве параметра.</a:t>
            </a:r>
          </a:p>
          <a:p>
            <a:r>
              <a:rPr lang="ru-RU" dirty="0"/>
              <a:t>Внутри функции точка доступна по имени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</a:t>
            </a:r>
            <a:r>
              <a:rPr lang="ru-RU" dirty="0"/>
              <a:t>, и именно через этот параметр мы изменяем её состояние.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63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0662096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посмотрим на тот же пример, но уже в виде </a:t>
            </a:r>
            <a:r>
              <a:rPr lang="ru-RU" b="1" dirty="0"/>
              <a:t>метода класса</a:t>
            </a:r>
            <a:r>
              <a:rPr lang="ru-RU" dirty="0"/>
              <a:t>.</a:t>
            </a:r>
          </a:p>
          <a:p>
            <a:r>
              <a:rPr lang="ru-RU" dirty="0"/>
              <a:t>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MoveBy</a:t>
            </a:r>
            <a:r>
              <a:rPr lang="ru-RU" dirty="0"/>
              <a:t> объявлен внутри структуры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Point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Он перемещает точку на заданный вектор.</a:t>
            </a:r>
          </a:p>
          <a:p>
            <a:r>
              <a:rPr lang="ru-RU" dirty="0"/>
              <a:t>Обратите внимание, что среди параметров метода </a:t>
            </a:r>
            <a:r>
              <a:rPr lang="ru-RU" b="1" dirty="0"/>
              <a:t>нет самой точки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Тем не менее внутри метода мы можем обращаться к её полям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x</a:t>
            </a:r>
            <a:r>
              <a:rPr lang="ru-RU" dirty="0"/>
              <a:t> 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y</a:t>
            </a:r>
            <a:r>
              <a:rPr lang="ru-RU" dirty="0"/>
              <a:t> напрямую.</a:t>
            </a:r>
          </a:p>
          <a:p>
            <a:endParaRPr lang="ru-RU" dirty="0"/>
          </a:p>
          <a:p>
            <a:r>
              <a:rPr lang="ru-RU" dirty="0"/>
              <a:t>Это происходит потому, что при вызове метода мы </a:t>
            </a:r>
            <a:r>
              <a:rPr lang="ru-RU" b="1" dirty="0"/>
              <a:t>указываем объект</a:t>
            </a:r>
            <a:r>
              <a:rPr lang="ru-RU" dirty="0"/>
              <a:t>, для которого выполняется вызов — например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p1.MoveBy(...)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Информация о том, </a:t>
            </a:r>
            <a:r>
              <a:rPr lang="ru-RU" b="1" dirty="0"/>
              <a:t>какой именно объект вызвал метод</a:t>
            </a:r>
            <a:r>
              <a:rPr lang="ru-RU" dirty="0"/>
              <a:t>, передаётся внутрь метода через специальный неявный параметр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this</a:t>
            </a:r>
            <a:r>
              <a:rPr lang="ru-RU" dirty="0"/>
              <a:t> — указатель на текущий объект.</a:t>
            </a:r>
            <a:endParaRPr lang="en-US" dirty="0"/>
          </a:p>
          <a:p>
            <a:endParaRPr lang="ru-RU" dirty="0"/>
          </a:p>
          <a:p>
            <a:r>
              <a:rPr lang="ru-RU" dirty="0"/>
              <a:t>Поэтому внутри метода можно обращаться к полям объекта просто по имени, и они будут относиться именно к тому объекту, для которого был выполнен вызов.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64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46124929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Когда мы вызываем метод у объекта, например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point.MoveBy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(v)</a:t>
            </a:r>
            <a:r>
              <a:rPr lang="ru-RU" dirty="0"/>
              <a:t>, компилятор </a:t>
            </a:r>
            <a:r>
              <a:rPr lang="ru-RU" b="1" dirty="0"/>
              <a:t>неявно передаёт внутрь метода указатель на этот объект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Этот указатель называется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this</a:t>
            </a:r>
            <a:r>
              <a:rPr lang="ru-RU" dirty="0"/>
              <a:t>.</a:t>
            </a:r>
          </a:p>
          <a:p>
            <a:r>
              <a:rPr lang="ru-RU" dirty="0"/>
              <a:t>Поэтому внутри метода можно обращаться к полям объекта просто по имени — фактически компилятор понимает это как обращение через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this</a:t>
            </a:r>
            <a:r>
              <a:rPr lang="ru-RU" dirty="0"/>
              <a:t>.</a:t>
            </a:r>
          </a:p>
          <a:p>
            <a:r>
              <a:rPr lang="ru-RU" dirty="0"/>
              <a:t>Таким образом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this</a:t>
            </a:r>
            <a:r>
              <a:rPr lang="ru-RU" dirty="0"/>
              <a:t> — это </a:t>
            </a:r>
            <a:r>
              <a:rPr lang="ru-RU" b="1" dirty="0"/>
              <a:t>указатель на текущий объект</a:t>
            </a:r>
            <a:r>
              <a:rPr lang="ru-RU" dirty="0"/>
              <a:t>, для которого выполняется метод.</a:t>
            </a:r>
          </a:p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65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84194935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Когда мы вызываем метод у объекта, компилятор </a:t>
            </a:r>
            <a:r>
              <a:rPr lang="ru-RU" b="1" dirty="0"/>
              <a:t>неявно передаёт в него указатель на этот объект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Этот указатель называется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this</a:t>
            </a:r>
            <a:r>
              <a:rPr lang="ru-RU" dirty="0"/>
              <a:t>.</a:t>
            </a:r>
          </a:p>
          <a:p>
            <a:r>
              <a:rPr lang="ru-RU" dirty="0"/>
              <a:t>Поэтому внутри метода обращения к полям объекта фактически происходят </a:t>
            </a:r>
            <a:r>
              <a:rPr lang="ru-RU" b="1" dirty="0"/>
              <a:t>через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this</a:t>
            </a:r>
            <a:r>
              <a:rPr lang="ru-RU" dirty="0"/>
              <a:t>.</a:t>
            </a:r>
          </a:p>
          <a:p>
            <a:r>
              <a:rPr lang="ru-RU" dirty="0"/>
              <a:t>Например, запись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x +=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v.x</a:t>
            </a:r>
            <a:r>
              <a:rPr lang="ru-RU" dirty="0"/>
              <a:t> компилятор понимает как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this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-&gt;x +=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v.x</a:t>
            </a:r>
            <a:r>
              <a:rPr lang="ru-RU" dirty="0"/>
              <a:t>.</a:t>
            </a:r>
          </a:p>
          <a:p>
            <a:r>
              <a:rPr lang="ru-RU" dirty="0"/>
              <a:t>Таким образом метод можно представить как обычную функцию, </a:t>
            </a:r>
            <a:r>
              <a:rPr lang="ru-RU" b="1" dirty="0"/>
              <a:t>первым параметром которой передаётся указатель на объект</a:t>
            </a:r>
            <a:r>
              <a:rPr lang="ru-RU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66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04625327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этом примере у метода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Set</a:t>
            </a:r>
            <a:r>
              <a:rPr lang="ru-RU" dirty="0"/>
              <a:t> есть параметры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x</a:t>
            </a:r>
            <a:r>
              <a:rPr lang="ru-RU" dirty="0"/>
              <a:t> 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y</a:t>
            </a:r>
            <a:r>
              <a:rPr lang="ru-RU" dirty="0"/>
              <a:t>, и при этом у класса есть поля с теми же именами.</a:t>
            </a:r>
          </a:p>
          <a:p>
            <a:r>
              <a:rPr lang="ru-RU" dirty="0"/>
              <a:t>Внутри метода имена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x</a:t>
            </a:r>
            <a:r>
              <a:rPr lang="ru-RU" dirty="0"/>
              <a:t> 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y</a:t>
            </a:r>
            <a:r>
              <a:rPr lang="ru-RU" dirty="0"/>
              <a:t> относятся </a:t>
            </a:r>
            <a:r>
              <a:rPr lang="ru-RU" b="1" dirty="0"/>
              <a:t>к параметрам функции</a:t>
            </a:r>
            <a:r>
              <a:rPr lang="ru-RU" dirty="0"/>
              <a:t>, а не к полям объекта.</a:t>
            </a:r>
            <a:br>
              <a:rPr lang="ru-RU" dirty="0"/>
            </a:br>
            <a:r>
              <a:rPr lang="ru-RU" dirty="0"/>
              <a:t>Это явление называется </a:t>
            </a:r>
            <a:r>
              <a:rPr lang="ru-RU" b="1" dirty="0"/>
              <a:t>затенением имён</a:t>
            </a:r>
            <a:r>
              <a:rPr lang="ru-RU" dirty="0"/>
              <a:t>.</a:t>
            </a:r>
          </a:p>
          <a:p>
            <a:r>
              <a:rPr lang="ru-RU" dirty="0"/>
              <a:t>Чтобы явно обратиться к полям объекта, используется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this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-&gt;</a:t>
            </a:r>
            <a:r>
              <a:rPr lang="ru-RU" dirty="0"/>
              <a:t>.</a:t>
            </a:r>
          </a:p>
          <a:p>
            <a:r>
              <a:rPr lang="ru-RU" dirty="0"/>
              <a:t>Поэтому запись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this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-&gt;x = x</a:t>
            </a:r>
            <a:r>
              <a:rPr lang="ru-RU" dirty="0"/>
              <a:t> означает: присвоить </a:t>
            </a:r>
            <a:r>
              <a:rPr lang="ru-RU" b="1" dirty="0"/>
              <a:t>полю объекта</a:t>
            </a:r>
            <a:r>
              <a:rPr lang="ru-RU" dirty="0"/>
              <a:t> значение </a:t>
            </a:r>
            <a:r>
              <a:rPr lang="ru-RU" b="1" dirty="0"/>
              <a:t>параметра метода</a:t>
            </a:r>
            <a:r>
              <a:rPr lang="ru-RU" dirty="0"/>
              <a:t>.</a:t>
            </a:r>
          </a:p>
          <a:p>
            <a:r>
              <a:rPr lang="ru-RU" dirty="0"/>
              <a:t>Такие ситуации лучше по возможности избегать, потому что они </a:t>
            </a:r>
            <a:r>
              <a:rPr lang="ru-RU" b="1" dirty="0"/>
              <a:t>ухудшают читаемость кода</a:t>
            </a:r>
            <a:r>
              <a:rPr lang="ru-RU" dirty="0"/>
              <a:t> и легко приводят к ошибкам.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67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53772112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C++ указатель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this</a:t>
            </a:r>
            <a:r>
              <a:rPr lang="ru-RU" dirty="0"/>
              <a:t> используется </a:t>
            </a:r>
            <a:r>
              <a:rPr lang="ru-RU" b="1" dirty="0"/>
              <a:t>довольно редко</a:t>
            </a:r>
            <a:r>
              <a:rPr lang="ru-RU" dirty="0"/>
              <a:t>.</a:t>
            </a:r>
          </a:p>
          <a:p>
            <a:r>
              <a:rPr lang="ru-RU" dirty="0"/>
              <a:t>Общее правило простое: </a:t>
            </a:r>
            <a:r>
              <a:rPr lang="ru-RU" b="1" dirty="0"/>
              <a:t>используйте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this</a:t>
            </a:r>
            <a:r>
              <a:rPr lang="ru-RU" b="1" dirty="0"/>
              <a:t>, только когда это действительно нужно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Во всех остальных случаях его писать не принято.</a:t>
            </a:r>
          </a:p>
          <a:p>
            <a:r>
              <a:rPr lang="ru-RU" dirty="0"/>
              <a:t>Дело в том, что компилятор </a:t>
            </a:r>
            <a:r>
              <a:rPr lang="ru-RU" b="1" dirty="0"/>
              <a:t>неявно добавляет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this</a:t>
            </a:r>
            <a:r>
              <a:rPr lang="ru-RU" dirty="0"/>
              <a:t> при обращении к полям и методам объекта, поэтому дополнительная запись обычно не нужна.</a:t>
            </a:r>
            <a:endParaRPr lang="en-US" dirty="0"/>
          </a:p>
          <a:p>
            <a:endParaRPr lang="ru-RU" dirty="0"/>
          </a:p>
          <a:p>
            <a:r>
              <a:rPr lang="ru-RU" dirty="0"/>
              <a:t>Есть несколько типичных ситуаций, когда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this</a:t>
            </a:r>
            <a:r>
              <a:rPr lang="ru-RU" dirty="0"/>
              <a:t> действительно используется.</a:t>
            </a:r>
          </a:p>
          <a:p>
            <a:r>
              <a:rPr lang="ru-RU" dirty="0"/>
              <a:t>Например, когда нужно </a:t>
            </a:r>
            <a:r>
              <a:rPr lang="ru-RU" b="1" dirty="0"/>
              <a:t>вернуть текущий объект</a:t>
            </a:r>
            <a:r>
              <a:rPr lang="ru-RU" dirty="0"/>
              <a:t> или передать </a:t>
            </a:r>
            <a:r>
              <a:rPr lang="ru-RU" b="1" dirty="0"/>
              <a:t>указатель на него</a:t>
            </a:r>
            <a:r>
              <a:rPr lang="ru-RU" dirty="0"/>
              <a:t> в другую функцию.</a:t>
            </a:r>
          </a:p>
          <a:p>
            <a:r>
              <a:rPr lang="ru-RU" dirty="0"/>
              <a:t>Ещё один важный случай — </a:t>
            </a:r>
            <a:r>
              <a:rPr lang="ru-RU" b="1" dirty="0"/>
              <a:t>шаблонные классы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Там иногда требуется явно писать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this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-&gt;</a:t>
            </a:r>
            <a:r>
              <a:rPr lang="ru-RU" dirty="0"/>
              <a:t>, чтобы компилятор смог правильно найти члены базового класса.</a:t>
            </a:r>
          </a:p>
          <a:p>
            <a:r>
              <a:rPr lang="ru-RU" dirty="0"/>
              <a:t>Во всех остальных ситуациях лучше </a:t>
            </a:r>
            <a:r>
              <a:rPr lang="ru-RU" b="1" dirty="0"/>
              <a:t>не писать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this</a:t>
            </a:r>
            <a:r>
              <a:rPr lang="ru-RU" b="1" dirty="0"/>
              <a:t> без необходимости</a:t>
            </a:r>
            <a:r>
              <a:rPr lang="ru-RU" dirty="0"/>
              <a:t>, чтобы код оставался более чистым и читаемым.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68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63751120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этом примере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this</a:t>
            </a:r>
            <a:r>
              <a:rPr lang="ru-RU" dirty="0"/>
              <a:t> используется, чтобы </a:t>
            </a:r>
            <a:r>
              <a:rPr lang="ru-RU" b="1" dirty="0"/>
              <a:t>вернуть текущий объект</a:t>
            </a:r>
            <a:r>
              <a:rPr lang="ru-RU" dirty="0"/>
              <a:t>.</a:t>
            </a:r>
          </a:p>
          <a:p>
            <a:r>
              <a:rPr lang="ru-RU" dirty="0"/>
              <a:t>Оператор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+=</a:t>
            </a:r>
            <a:r>
              <a:rPr lang="ru-RU" dirty="0"/>
              <a:t> изменяет координаты вектора, прибавляя координаты другого вектора.</a:t>
            </a:r>
          </a:p>
          <a:p>
            <a:r>
              <a:rPr lang="ru-RU" dirty="0"/>
              <a:t>В конце метода возвращается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*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this</a:t>
            </a:r>
            <a:r>
              <a:rPr lang="ru-RU" dirty="0"/>
              <a:t> — то есть </a:t>
            </a:r>
            <a:r>
              <a:rPr lang="ru-RU" b="1" dirty="0"/>
              <a:t>ссылка на тот же объект</a:t>
            </a:r>
            <a:r>
              <a:rPr lang="ru-RU" dirty="0"/>
              <a:t>, для которого был вызван метод.</a:t>
            </a:r>
          </a:p>
          <a:p>
            <a:r>
              <a:rPr lang="ru-RU" dirty="0"/>
              <a:t>Это позволяет писать </a:t>
            </a:r>
            <a:r>
              <a:rPr lang="ru-RU" b="1" dirty="0"/>
              <a:t>цепочки операций</a:t>
            </a:r>
            <a:r>
              <a:rPr lang="ru-RU" dirty="0"/>
              <a:t>, например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v1 += v2 += v3</a:t>
            </a:r>
            <a:r>
              <a:rPr lang="ru-RU" dirty="0"/>
              <a:t>.</a:t>
            </a:r>
          </a:p>
          <a:p>
            <a:r>
              <a:rPr lang="ru-RU" dirty="0"/>
              <a:t>Сначала выполняется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v2 += v3</a:t>
            </a:r>
            <a:r>
              <a:rPr lang="ru-RU" dirty="0"/>
              <a:t>, после чего возвращается ссылка на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v2</a:t>
            </a:r>
            <a:r>
              <a:rPr lang="ru-RU" dirty="0"/>
              <a:t>, и затем результат используется в операции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v1 += ...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69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60195098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Иногда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this</a:t>
            </a:r>
            <a:r>
              <a:rPr lang="ru-RU" dirty="0"/>
              <a:t> требуется по техническим причинам.</a:t>
            </a:r>
            <a:endParaRPr lang="en-US" dirty="0"/>
          </a:p>
          <a:p>
            <a:endParaRPr lang="ru-RU" dirty="0"/>
          </a:p>
          <a:p>
            <a:r>
              <a:rPr lang="ru-RU" dirty="0"/>
              <a:t>В этом примере есть базовый класс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Base</a:t>
            </a:r>
            <a:r>
              <a:rPr lang="ru-RU" dirty="0"/>
              <a:t>, который хранит значение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m_value</a:t>
            </a:r>
            <a:r>
              <a:rPr lang="ru-RU" dirty="0"/>
              <a:t>, и производный класс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Derived</a:t>
            </a:r>
            <a:r>
              <a:rPr lang="ru-RU" dirty="0"/>
              <a:t>.</a:t>
            </a:r>
          </a:p>
          <a:p>
            <a:r>
              <a:rPr lang="ru-RU" dirty="0"/>
              <a:t>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PrintValue</a:t>
            </a:r>
            <a:r>
              <a:rPr lang="ru-RU" dirty="0"/>
              <a:t> пытается вывести это значение.</a:t>
            </a:r>
          </a:p>
          <a:p>
            <a:r>
              <a:rPr lang="ru-RU" dirty="0"/>
              <a:t>Однако из-за особенностей шаблонов компилятор не всегда может автоматически найти члены базового класса.</a:t>
            </a:r>
            <a:endParaRPr lang="en-US" dirty="0"/>
          </a:p>
          <a:p>
            <a:endParaRPr lang="ru-RU" dirty="0"/>
          </a:p>
          <a:p>
            <a:r>
              <a:rPr lang="ru-RU" dirty="0"/>
              <a:t>Поэтому приходится писать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this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-&gt;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m_value</a:t>
            </a:r>
            <a:r>
              <a:rPr lang="ru-RU" dirty="0"/>
              <a:t>, чтобы явно указать, что поле принадлежит текущему объекту.</a:t>
            </a:r>
            <a:endParaRPr lang="en-US" dirty="0"/>
          </a:p>
          <a:p>
            <a:endParaRPr lang="ru-RU" dirty="0"/>
          </a:p>
          <a:p>
            <a:r>
              <a:rPr lang="ru-RU" dirty="0"/>
              <a:t>Пока достаточно просто запомнить: </a:t>
            </a:r>
            <a:r>
              <a:rPr lang="ru-RU" b="1" dirty="0"/>
              <a:t>в шаблонных классах иногда требуется писать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this</a:t>
            </a:r>
            <a:r>
              <a:rPr lang="ru-RU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-&gt;</a:t>
            </a:r>
            <a:r>
              <a:rPr lang="ru-RU" b="1" dirty="0"/>
              <a:t> при обращении к членам базового класса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70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619933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lnSpc>
                <a:spcPts val="1425"/>
              </a:lnSpc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Попытавшись использовать этот класс, вы столкнётесь с несколькими проблемами. Первая — неудобство. Чтобы создать не равную нулю дробь, нужно написать две или три строки:</a:t>
            </a:r>
          </a:p>
          <a:p>
            <a:pPr>
              <a:lnSpc>
                <a:spcPts val="1425"/>
              </a:lnSpc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Вторая проблема более серьёзная. Непонятно, как создать константную дробь. У константной переменной можно вызывать только константные методы. Но константные методы не позволяют изменить значение дроби.</a:t>
            </a:r>
          </a:p>
          <a:p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Можно было бы создать функцию </a:t>
            </a:r>
            <a:r>
              <a:rPr lang="ru-RU" b="0" dirty="0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`</a:t>
            </a:r>
            <a:r>
              <a:rPr lang="ru-RU" b="0" dirty="0" err="1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Rational</a:t>
            </a:r>
            <a:r>
              <a:rPr lang="ru-RU" b="0" dirty="0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 err="1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CreateRational</a:t>
            </a:r>
            <a:r>
              <a:rPr lang="ru-RU" b="0" dirty="0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ru-RU" b="0" dirty="0" err="1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ru-RU" b="0" dirty="0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 err="1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numerator</a:t>
            </a:r>
            <a:r>
              <a:rPr lang="ru-RU" b="0" dirty="0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ru-RU" b="0" dirty="0" err="1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ru-RU" b="0" dirty="0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 err="1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denominator</a:t>
            </a:r>
            <a:r>
              <a:rPr lang="ru-RU" b="0" dirty="0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)`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и вызывать её для создания дроби. Однако этот способ выглядит как «костыль», потому что им и является. Инициализация — это важный шаг жизненного цикла объекта. И для этого в языке есть особое средство: конструктор.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73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2080532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77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07082676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Конструктор локальной переменной вызывается в тот момент, когда выполнение программы доходит до точки объявления переменной. Чтобы убедиться в этом, создадим классы </a:t>
            </a:r>
            <a:r>
              <a:rPr lang="ru-RU" b="0" dirty="0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`</a:t>
            </a:r>
            <a:r>
              <a:rPr lang="ru-RU" b="0" dirty="0" err="1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Alice</a:t>
            </a:r>
            <a:r>
              <a:rPr lang="ru-RU" b="0" dirty="0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`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и </a:t>
            </a:r>
            <a:r>
              <a:rPr lang="ru-RU" b="0" dirty="0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`</a:t>
            </a:r>
            <a:r>
              <a:rPr lang="ru-RU" b="0" dirty="0" err="1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Bob</a:t>
            </a:r>
            <a:r>
              <a:rPr lang="ru-RU" b="0" dirty="0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`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конструкторы которых уведомляют о создании объекта: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Запустив программу, увидим, что конструкторы переменных вызываются в тот момент, когда управление доходит до места их объявления.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80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72667193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Создадим ещё один класс </a:t>
            </a:r>
            <a:r>
              <a:rPr lang="ru-RU" b="0" dirty="0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`</a:t>
            </a:r>
            <a:r>
              <a:rPr lang="ru-RU" b="0" dirty="0" err="1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Carol</a:t>
            </a:r>
            <a:r>
              <a:rPr lang="ru-RU" b="0" dirty="0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`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полями которого будут </a:t>
            </a:r>
            <a:r>
              <a:rPr lang="ru-RU" b="0" dirty="0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`</a:t>
            </a:r>
            <a:r>
              <a:rPr lang="ru-RU" b="0" dirty="0" err="1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Alice</a:t>
            </a:r>
            <a:r>
              <a:rPr lang="ru-RU" b="0" dirty="0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`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и </a:t>
            </a:r>
            <a:r>
              <a:rPr lang="ru-RU" b="0" dirty="0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`</a:t>
            </a:r>
            <a:r>
              <a:rPr lang="ru-RU" b="0" dirty="0" err="1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Bob</a:t>
            </a:r>
            <a:r>
              <a:rPr lang="ru-RU" b="0" dirty="0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`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Запустим программу и увидим, что конструкторы полей класса вызываются до выполнения тела конструктора этого класса:</a:t>
            </a:r>
          </a:p>
          <a:p>
            <a:pPr>
              <a:lnSpc>
                <a:spcPts val="1425"/>
              </a:lnSpc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В C++ классы и структуры конструируются по следующим правилам:</a:t>
            </a:r>
          </a:p>
          <a:p>
            <a:pPr>
              <a:lnSpc>
                <a:spcPts val="1425"/>
              </a:lnSpc>
              <a:buNone/>
            </a:pPr>
            <a:b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ru-RU" b="0" dirty="0">
                <a:solidFill>
                  <a:srgbClr val="0451A5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Сначала конструируются поля класса в порядке их расположения внутри класса.</a:t>
            </a:r>
          </a:p>
          <a:p>
            <a:pPr>
              <a:lnSpc>
                <a:spcPts val="1425"/>
              </a:lnSpc>
              <a:buNone/>
            </a:pPr>
            <a:r>
              <a:rPr lang="ru-RU" b="0" dirty="0">
                <a:solidFill>
                  <a:srgbClr val="0451A5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Затем выполняется тело конструктора класса.</a:t>
            </a:r>
          </a:p>
          <a:p>
            <a:pPr>
              <a:lnSpc>
                <a:spcPts val="1425"/>
              </a:lnSpc>
            </a:pPr>
            <a:b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Таким образом, когда выполняется конструктор, все поля класса уже сконструированы. Это логично, так как код в теле конструктора может начать использовать поля класса, а для этого они должны находиться в проинициализированном состоянии.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81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78308945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В следующем примере мы проинициализируем поле </a:t>
            </a:r>
            <a:r>
              <a:rPr lang="ru-RU" b="0" dirty="0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`</a:t>
            </a:r>
            <a:r>
              <a:rPr lang="ru-RU" b="0" dirty="0" err="1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alice</a:t>
            </a:r>
            <a:r>
              <a:rPr lang="ru-RU" b="0" dirty="0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_`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в конструкторе класса </a:t>
            </a:r>
            <a:r>
              <a:rPr lang="ru-RU" b="0" dirty="0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`</a:t>
            </a:r>
            <a:r>
              <a:rPr lang="ru-RU" b="0" dirty="0" err="1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Carol</a:t>
            </a:r>
            <a:r>
              <a:rPr lang="ru-RU" b="0" dirty="0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`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используя параметры конструктора.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Объект в поле </a:t>
            </a:r>
            <a:r>
              <a:rPr lang="ru-RU" b="0" dirty="0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`</a:t>
            </a:r>
            <a:r>
              <a:rPr lang="ru-RU" b="0" dirty="0" err="1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alice</a:t>
            </a:r>
            <a:r>
              <a:rPr lang="ru-RU" b="0" dirty="0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_`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будет сконструирован конструктором по умолчанию. Затем этому полю присвоится объект, построенный конструктором с параметром.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82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4621115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Код</a:t>
            </a:r>
            <a:r>
              <a:rPr lang="ru-RU" baseline="0" dirty="0"/>
              <a:t> на </a:t>
            </a:r>
            <a:r>
              <a:rPr lang="en-US" baseline="0" dirty="0"/>
              <a:t>C++ </a:t>
            </a:r>
            <a:r>
              <a:rPr lang="ru-RU" baseline="0" dirty="0"/>
              <a:t>славится высокой производительностью. Однако до появления нового стандарта </a:t>
            </a:r>
            <a:r>
              <a:rPr lang="en-US" baseline="0" dirty="0"/>
              <a:t>C++11</a:t>
            </a:r>
            <a:r>
              <a:rPr lang="ru-RU" baseline="0" dirty="0"/>
              <a:t> в языке присутствовала ложка дегтя, приводящая к снижению производительности многих программ на </a:t>
            </a:r>
            <a:r>
              <a:rPr lang="en-US" baseline="0" dirty="0"/>
              <a:t>C++ - </a:t>
            </a:r>
            <a:r>
              <a:rPr lang="ru-RU" b="1" baseline="0" dirty="0"/>
              <a:t>создание временных объектов</a:t>
            </a:r>
            <a:r>
              <a:rPr lang="ru-RU" baseline="0" dirty="0"/>
              <a:t>.</a:t>
            </a:r>
          </a:p>
          <a:p>
            <a:r>
              <a:rPr lang="ru-RU" dirty="0"/>
              <a:t>В</a:t>
            </a:r>
            <a:r>
              <a:rPr lang="ru-RU" baseline="0" dirty="0"/>
              <a:t> некоторых случаях оптимизирующий компилятор может уменьшить количество временных объектов, но в некоторых ситуациях без создания временных объектов обойтись не получается, что может привести к дорогостоящим операциям копирования объектов.</a:t>
            </a:r>
          </a:p>
          <a:p>
            <a:endParaRPr lang="ru-RU" dirty="0"/>
          </a:p>
          <a:p>
            <a:r>
              <a:rPr lang="ru-RU" dirty="0"/>
              <a:t>В некоторых случаях</a:t>
            </a:r>
            <a:r>
              <a:rPr lang="ru-RU" baseline="0" dirty="0"/>
              <a:t> для объекта может отсутствовать семантика копирования (например, </a:t>
            </a:r>
            <a:r>
              <a:rPr lang="en-US" baseline="0" dirty="0" err="1"/>
              <a:t>fstream</a:t>
            </a:r>
            <a:r>
              <a:rPr lang="en-US" baseline="0" dirty="0"/>
              <a:t>, thread, </a:t>
            </a:r>
            <a:r>
              <a:rPr lang="en-US" baseline="0" dirty="0" err="1"/>
              <a:t>mutex</a:t>
            </a:r>
            <a:r>
              <a:rPr lang="en-US" baseline="0" dirty="0"/>
              <a:t>)</a:t>
            </a:r>
            <a:r>
              <a:rPr lang="ru-RU" baseline="0" dirty="0"/>
              <a:t>, но оказывается необходимой семантика перемещения (передача прав владения объектом)</a:t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129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00917582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Функция</a:t>
            </a:r>
            <a:r>
              <a:rPr lang="ru-RU" baseline="0" dirty="0"/>
              <a:t> </a:t>
            </a:r>
            <a:r>
              <a:rPr lang="en-US" baseline="0" dirty="0" err="1"/>
              <a:t>DoubleValues</a:t>
            </a:r>
            <a:r>
              <a:rPr lang="ru-RU" baseline="0" dirty="0"/>
              <a:t> при вызове создает новый массив, заполняя его удвоенными значениями исходного массива. Предположим, что требуется сохранить исходный массив без изменений, поэтому мы не можем вносить в него изменения.</a:t>
            </a:r>
          </a:p>
          <a:p>
            <a:r>
              <a:rPr lang="ru-RU" baseline="0" dirty="0"/>
              <a:t>Что произойдет при выполнении оператора </a:t>
            </a:r>
            <a:r>
              <a:rPr lang="en-US" baseline="0" dirty="0"/>
              <a:t>return</a:t>
            </a:r>
            <a:r>
              <a:rPr lang="ru-RU" baseline="0" dirty="0"/>
              <a:t>? </a:t>
            </a:r>
          </a:p>
          <a:p>
            <a:r>
              <a:rPr lang="ru-RU" baseline="0" dirty="0"/>
              <a:t>Будет создана временная копия массива </a:t>
            </a:r>
            <a:r>
              <a:rPr lang="en-US" baseline="0" dirty="0"/>
              <a:t>result</a:t>
            </a:r>
            <a:r>
              <a:rPr lang="ru-RU" baseline="0" dirty="0"/>
              <a:t> (при выходе из функции будет вызван деструктор объекта </a:t>
            </a:r>
            <a:r>
              <a:rPr lang="en-US" baseline="0" dirty="0"/>
              <a:t>result</a:t>
            </a:r>
            <a:r>
              <a:rPr lang="ru-RU" baseline="0" dirty="0"/>
              <a:t>, поэтому его нужно скопировать при возврате из функции).</a:t>
            </a:r>
          </a:p>
          <a:p>
            <a:r>
              <a:rPr lang="ru-RU" baseline="0" dirty="0"/>
              <a:t>Второе копирование данных произойдет при присваивании результата переменной </a:t>
            </a:r>
            <a:r>
              <a:rPr lang="en-US" baseline="0" dirty="0"/>
              <a:t>v</a:t>
            </a:r>
            <a:r>
              <a:rPr lang="ru-RU" baseline="0" dirty="0"/>
              <a:t>, при этом</a:t>
            </a:r>
            <a:r>
              <a:rPr lang="en-US" baseline="0" dirty="0"/>
              <a:t> </a:t>
            </a:r>
            <a:r>
              <a:rPr lang="ru-RU" baseline="0" dirty="0"/>
              <a:t>будут скопированы элементы временной копии.</a:t>
            </a:r>
          </a:p>
          <a:p>
            <a:r>
              <a:rPr lang="ru-RU" baseline="0" dirty="0"/>
              <a:t>Копирование при возврате массива из функции может быть в ряде случае оптимизировано компилятором (стандарт языка </a:t>
            </a:r>
            <a:r>
              <a:rPr lang="en-US" baseline="0" dirty="0"/>
              <a:t>C++03</a:t>
            </a:r>
            <a:r>
              <a:rPr lang="ru-RU" baseline="0" dirty="0"/>
              <a:t> такого рода оптимизации допускает), но копирование элементов массива при выполнении операции присваивания все равно будет выполнено.</a:t>
            </a:r>
          </a:p>
          <a:p>
            <a:r>
              <a:rPr lang="ru-RU" baseline="0" dirty="0"/>
              <a:t>Можно попытаться устранить избыточное копирование разными способами:</a:t>
            </a:r>
          </a:p>
          <a:p>
            <a:pPr marL="171450" indent="-171450">
              <a:buFontTx/>
              <a:buChar char="-"/>
            </a:pPr>
            <a:r>
              <a:rPr lang="ru-RU" baseline="0" dirty="0"/>
              <a:t>Передача ссылки на результирующий массив в функцию </a:t>
            </a:r>
            <a:r>
              <a:rPr lang="en-US" baseline="0" dirty="0" err="1"/>
              <a:t>DoubleValues</a:t>
            </a:r>
            <a:r>
              <a:rPr lang="ru-RU" baseline="0" dirty="0"/>
              <a:t> в виде дополнительного параметра</a:t>
            </a:r>
          </a:p>
          <a:p>
            <a:pPr marL="171450" indent="-171450">
              <a:buFontTx/>
              <a:buChar char="-"/>
            </a:pPr>
            <a:r>
              <a:rPr lang="ru-RU" baseline="0" dirty="0"/>
              <a:t>Размещение результирующего массива в куче при помощи </a:t>
            </a:r>
            <a:r>
              <a:rPr lang="en-US" baseline="0" dirty="0"/>
              <a:t>new </a:t>
            </a:r>
            <a:r>
              <a:rPr lang="ru-RU" baseline="0" dirty="0"/>
              <a:t>и возврата указателя на него</a:t>
            </a:r>
          </a:p>
          <a:p>
            <a:pPr marL="0" indent="0">
              <a:buFontTx/>
              <a:buNone/>
            </a:pPr>
            <a:r>
              <a:rPr lang="ru-RU" baseline="0" dirty="0"/>
              <a:t>Проблема в том, что оба этих способа являются, по своей сути, «костылями». В особенности второй способ, т.к. естественный стиль программирования на </a:t>
            </a:r>
            <a:r>
              <a:rPr lang="en-US" baseline="0" dirty="0"/>
              <a:t>C++ </a:t>
            </a:r>
            <a:r>
              <a:rPr lang="ru-RU" baseline="0" dirty="0"/>
              <a:t>предполагает минимум выделений объектов в куче.</a:t>
            </a:r>
          </a:p>
          <a:p>
            <a:pPr marL="0" indent="0">
              <a:buFontTx/>
              <a:buNone/>
            </a:pPr>
            <a:r>
              <a:rPr lang="ru-RU" baseline="0" dirty="0"/>
              <a:t>Самое обидное здесь в том, что массив, возвращаемый функцией </a:t>
            </a:r>
            <a:r>
              <a:rPr lang="en-US" baseline="0" dirty="0" err="1"/>
              <a:t>DoubleValues</a:t>
            </a:r>
            <a:r>
              <a:rPr lang="en-US" baseline="0" dirty="0"/>
              <a:t> </a:t>
            </a:r>
            <a:r>
              <a:rPr lang="ru-RU" baseline="0" dirty="0"/>
              <a:t>является временным объектом, который будет разрушен сразу же после копирования его элементов в операторе присваивания.</a:t>
            </a:r>
          </a:p>
          <a:p>
            <a:pPr marL="0" indent="0">
              <a:buFontTx/>
              <a:buNone/>
            </a:pPr>
            <a:r>
              <a:rPr lang="ru-RU" baseline="0" dirty="0"/>
              <a:t>В идеале хотелось бы в этой ситуации вообще избежать полного копирования элементов массива </a:t>
            </a:r>
            <a:r>
              <a:rPr lang="en-US" baseline="0" dirty="0"/>
              <a:t>result</a:t>
            </a:r>
            <a:r>
              <a:rPr lang="ru-RU" baseline="0" dirty="0"/>
              <a:t>, а просто «забрать» данные у временного объекта.</a:t>
            </a:r>
          </a:p>
          <a:p>
            <a:pPr marL="0" indent="0">
              <a:buFontTx/>
              <a:buNone/>
            </a:pPr>
            <a:endParaRPr lang="ru-RU" baseline="0" dirty="0"/>
          </a:p>
          <a:p>
            <a:pPr marL="0" indent="0">
              <a:buFontTx/>
              <a:buNone/>
            </a:pPr>
            <a:r>
              <a:rPr lang="ru-RU" baseline="0" dirty="0"/>
              <a:t>В</a:t>
            </a:r>
            <a:r>
              <a:rPr lang="en-US" baseline="0" dirty="0"/>
              <a:t> C++03 </a:t>
            </a:r>
            <a:r>
              <a:rPr lang="ru-RU" baseline="0" dirty="0"/>
              <a:t>не было способа узнать, является объект временным или нет, и приходилось всегда выполнять копирование. В </a:t>
            </a:r>
            <a:r>
              <a:rPr lang="en-US" baseline="0" dirty="0"/>
              <a:t>C++11 </a:t>
            </a:r>
            <a:r>
              <a:rPr lang="ru-RU" baseline="0" dirty="0"/>
              <a:t>такая возможность появилась!</a:t>
            </a:r>
          </a:p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131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82181557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134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47043536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Методы классов и структур неявно принимают указатель на объект класса, чтобы метод знал, у какого объекта он вызван. Но всегда ли это необходимо?</a:t>
            </a:r>
            <a:endParaRPr lang="en-US" dirty="0"/>
          </a:p>
          <a:p>
            <a:r>
              <a:rPr lang="ru-RU" dirty="0"/>
              <a:t>Предположим, что при разработке класса TV в нём был выделен метод </a:t>
            </a:r>
            <a:r>
              <a:rPr lang="ru-RU" dirty="0" err="1"/>
              <a:t>IsValidChannel</a:t>
            </a:r>
            <a:r>
              <a:rPr lang="ru-RU" dirty="0"/>
              <a:t>, который проверяет, что номер канала находится в диапазоне от 1 до 99 включительно.</a:t>
            </a:r>
            <a:endParaRPr lang="en-US" dirty="0"/>
          </a:p>
          <a:p>
            <a:r>
              <a:rPr lang="ru-RU" dirty="0"/>
              <a:t>Этот метод неявно получает указатель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this</a:t>
            </a:r>
            <a:r>
              <a:rPr lang="ru-RU" dirty="0"/>
              <a:t>, но не обращается ни к полям, ни к методам класса. С одной стороны, он напоминает свободную функцию. С другой —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IsValidChannel</a:t>
            </a:r>
            <a:r>
              <a:rPr lang="ru-RU" dirty="0"/>
              <a:t> имеет прямое отношение к телевизору и нигде, кроме этого класса, не используется. Поэтому кажется, что нет нужды выносить его в отдельную функцию.</a:t>
            </a:r>
          </a:p>
          <a:p>
            <a:r>
              <a:rPr lang="ru-RU" dirty="0"/>
              <a:t>Так как все телевизоры имеют один и тот же диапазон допустимых каналов, делаем вывод, что метод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IsValidChannel</a:t>
            </a:r>
            <a:r>
              <a:rPr lang="ru-RU" dirty="0"/>
              <a:t> относится не к какому-то отдельно взятому телевизору, а к телевизорам в общем.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153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13847477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C++ для такой цели используются </a:t>
            </a:r>
            <a:r>
              <a:rPr lang="ru-RU" b="1" dirty="0"/>
              <a:t>статические методы</a:t>
            </a:r>
            <a:r>
              <a:rPr lang="ru-RU" dirty="0"/>
              <a:t>. Чтобы сделать метод статическим, в начале записывается ключевое слово </a:t>
            </a:r>
            <a:r>
              <a:rPr lang="ru-RU" dirty="0" err="1"/>
              <a:t>static</a:t>
            </a:r>
            <a:r>
              <a:rPr lang="ru-RU" dirty="0"/>
              <a:t>.</a:t>
            </a:r>
          </a:p>
          <a:p>
            <a:r>
              <a:rPr lang="ru-RU" dirty="0"/>
              <a:t>Внутри методов этого же класса статический метод вызывают, как и обычный, по имени. А чтобы вызвать его в остальных местах программы, не обязательно создавать экземпляр класса, можно вызвать его по полному имени: </a:t>
            </a:r>
            <a:r>
              <a:rPr lang="ru-RU" dirty="0" err="1"/>
              <a:t>ИмяКласса</a:t>
            </a:r>
            <a:r>
              <a:rPr lang="ru-RU" dirty="0"/>
              <a:t>::</a:t>
            </a:r>
            <a:r>
              <a:rPr lang="ru-RU" dirty="0" err="1"/>
              <a:t>ИмяМетода</a:t>
            </a:r>
            <a:r>
              <a:rPr lang="ru-RU" dirty="0"/>
              <a:t>.</a:t>
            </a:r>
          </a:p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154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07805096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Заглянем внутрь статического метода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Car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IsSpeedValidForGear</a:t>
            </a:r>
            <a:r>
              <a:rPr lang="ru-RU" dirty="0"/>
              <a:t>. Как его можно было бы написать? Наивный способ — написать серию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if</a:t>
            </a:r>
            <a:r>
              <a:rPr lang="ru-RU" dirty="0"/>
              <a:t>, проверяющих, попадает ли скорость в диапазон скоростей для каждой передачи.</a:t>
            </a:r>
          </a:p>
          <a:p>
            <a:r>
              <a:rPr lang="ru-RU" dirty="0"/>
              <a:t>Однако этот способ трудно назвать лёгким для чтения, отладки и сопровождения. А что, если у автомобиля набор передач в будущем изменится? Тогда придётся вносить изменения в ветвистый набор условий.</a:t>
            </a:r>
          </a:p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158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338918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Удобнее было бы завести таблицу и хранить в ней допустимый диапазон скоростей движения на каждой передаче. Саму таблицу представить в виде вектора, элементы которого имеют тип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GearSpeedRange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en-US" dirty="0"/>
          </a:p>
          <a:p>
            <a:r>
              <a:rPr lang="ru-RU" dirty="0"/>
              <a:t>Проблемы:</a:t>
            </a:r>
          </a:p>
          <a:p>
            <a:pPr marL="171450" indent="-171450">
              <a:buFontTx/>
              <a:buChar char="-"/>
            </a:pPr>
            <a:r>
              <a:rPr lang="ru-RU" dirty="0"/>
              <a:t>Из </a:t>
            </a:r>
            <a:r>
              <a:rPr lang="en-US" dirty="0" err="1"/>
              <a:t>IsSpeedValidForGear</a:t>
            </a:r>
            <a:r>
              <a:rPr lang="en-US" dirty="0"/>
              <a:t> </a:t>
            </a:r>
            <a:r>
              <a:rPr lang="ru-RU" dirty="0"/>
              <a:t>не получится обратиться к </a:t>
            </a:r>
            <a:r>
              <a:rPr lang="en-US" dirty="0" err="1"/>
              <a:t>m_speedTable</a:t>
            </a:r>
            <a:endParaRPr lang="en-US" dirty="0"/>
          </a:p>
          <a:p>
            <a:pPr marL="171450" indent="-171450">
              <a:buFontTx/>
              <a:buChar char="-"/>
            </a:pPr>
            <a:r>
              <a:rPr lang="ru-RU" dirty="0"/>
              <a:t>Таблица </a:t>
            </a:r>
            <a:r>
              <a:rPr lang="en-US" dirty="0" err="1"/>
              <a:t>m_speedTable</a:t>
            </a:r>
            <a:r>
              <a:rPr lang="ru-RU" dirty="0"/>
              <a:t> одинакова для всех автомобилей, и каждый будет хранить её копию.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159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3688301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На помощь приходят </a:t>
            </a:r>
            <a:r>
              <a:rPr lang="ru-RU" b="1" dirty="0">
                <a:effectLst/>
              </a:rPr>
              <a:t>статические поля</a:t>
            </a:r>
            <a:r>
              <a:rPr lang="ru-RU" dirty="0"/>
              <a:t> класса. Статическое поле — общее для всех экземпляров класса. Оно создаётся при запуске программы и уничтожается при её завершении. Для доступа к статическим полям не нужен объект, поэтому их можно использовать и из статических методов. Чтобы объявить статическое поле, надо перед его типом написать ключевое слово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static</a:t>
            </a:r>
            <a:r>
              <a:rPr lang="ru-RU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160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3468713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161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95689083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После объявления статического поля его нужно определить за пределами класса. Обычно для этого используют .</a:t>
            </a:r>
            <a:r>
              <a:rPr lang="ru-RU" dirty="0" err="1"/>
              <a:t>cpp</a:t>
            </a:r>
            <a:r>
              <a:rPr lang="ru-RU" dirty="0"/>
              <a:t>-файл, в котором размещаются методы класса. Как и при объявлении методов класса за его пределами, нужно указывать полное имя статического поля в виде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ИмяКласса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ИмяПоля</a:t>
            </a:r>
            <a:r>
              <a:rPr lang="ru-RU" dirty="0"/>
              <a:t>.</a:t>
            </a:r>
          </a:p>
          <a:p>
            <a:r>
              <a:rPr lang="ru-RU" dirty="0"/>
              <a:t>Теперь метод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Car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IsSpeedValidForGear</a:t>
            </a:r>
            <a:r>
              <a:rPr lang="ru-RU" dirty="0"/>
              <a:t> стало легче читать, а таблицу скоростей движения — редактировать.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162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05892540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Начиная с C++17, статические переменные класса можно определить в .h-файле, прямо внутри класса или структуры. Для этого поле помечают ключевым словом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inline</a:t>
            </a:r>
            <a:r>
              <a:rPr lang="ru-RU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163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51766439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Статические поля есть и у стандартных классов. Например, в классе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string</a:t>
            </a:r>
            <a:r>
              <a:rPr lang="ru-RU" dirty="0"/>
              <a:t> есть статическое поле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npos</a:t>
            </a:r>
            <a:r>
              <a:rPr lang="ru-RU" dirty="0"/>
              <a:t>. В зависимости от контекста использования оно либо означает конец строки, либо сигнализирует об ошибке: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164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637488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D4A00E6-4AF6-4649-AA40-149A527CF7DB}" type="slidenum">
              <a:rPr lang="ru-RU" smtClean="0"/>
              <a:pPr>
                <a:defRPr/>
              </a:pPr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334994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D4A00E6-4AF6-4649-AA40-149A527CF7DB}" type="slidenum">
              <a:rPr lang="ru-RU" smtClean="0"/>
              <a:pPr>
                <a:defRPr/>
              </a:pPr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602728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D4A00E6-4AF6-4649-AA40-149A527CF7DB}" type="slidenum">
              <a:rPr lang="ru-RU" smtClean="0"/>
              <a:pPr>
                <a:defRPr/>
              </a:pPr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428243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D4A00E6-4AF6-4649-AA40-149A527CF7DB}" type="slidenum">
              <a:rPr lang="ru-RU" smtClean="0"/>
              <a:pPr>
                <a:defRPr/>
              </a:pPr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073216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D4A00E6-4AF6-4649-AA40-149A527CF7DB}" type="slidenum">
              <a:rPr lang="ru-RU" smtClean="0"/>
              <a:pPr>
                <a:defRPr/>
              </a:pPr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017044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D4A00E6-4AF6-4649-AA40-149A527CF7DB}" type="slidenum">
              <a:rPr lang="ru-RU" smtClean="0"/>
              <a:pPr>
                <a:defRPr/>
              </a:pPr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388966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D4A00E6-4AF6-4649-AA40-149A527CF7DB}" type="slidenum">
              <a:rPr lang="ru-RU" smtClean="0"/>
              <a:pPr>
                <a:defRPr/>
              </a:pPr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795186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D4A00E6-4AF6-4649-AA40-149A527CF7DB}" type="slidenum">
              <a:rPr lang="ru-RU" smtClean="0"/>
              <a:pPr>
                <a:defRPr/>
              </a:pPr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352355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D4A00E6-4AF6-4649-AA40-149A527CF7DB}" type="slidenum">
              <a:rPr lang="ru-RU" smtClean="0"/>
              <a:pPr>
                <a:defRPr/>
              </a:pPr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17310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D4A00E6-4AF6-4649-AA40-149A527CF7DB}" type="slidenum">
              <a:rPr lang="ru-RU" smtClean="0"/>
              <a:pPr>
                <a:defRPr/>
              </a:pPr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182294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D4A00E6-4AF6-4649-AA40-149A527CF7DB}" type="slidenum">
              <a:rPr lang="ru-RU" smtClean="0"/>
              <a:pPr>
                <a:defRPr/>
              </a:pPr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379290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D4A00E6-4AF6-4649-AA40-149A527CF7DB}" type="slidenum">
              <a:rPr lang="ru-RU" smtClean="0"/>
              <a:pPr>
                <a:defRPr/>
              </a:pPr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628250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4" r:id="rId1"/>
    <p:sldLayoutId id="2147483705" r:id="rId2"/>
    <p:sldLayoutId id="2147483706" r:id="rId3"/>
    <p:sldLayoutId id="2147483707" r:id="rId4"/>
    <p:sldLayoutId id="2147483708" r:id="rId5"/>
    <p:sldLayoutId id="2147483709" r:id="rId6"/>
    <p:sldLayoutId id="2147483710" r:id="rId7"/>
    <p:sldLayoutId id="2147483711" r:id="rId8"/>
    <p:sldLayoutId id="2147483712" r:id="rId9"/>
    <p:sldLayoutId id="2147483713" r:id="rId10"/>
    <p:sldLayoutId id="2147483714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4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5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6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8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wandbox.org/permlink/bzbqAdTJspyA2WZA" TargetMode="Externa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hyperlink" Target="https://wandbox.org/permlink/BA36QTz5AhEHY2XN" TargetMode="External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wandbox.org/permlink/1jrbrx0sZ2Onh9Wi" TargetMode="External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6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hyperlink" Target="https://wandbox.org/permlink/vYlRGmbkmDIHo7sK" TargetMode="External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customXml" Target="../ink/ink1.xml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9.png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3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9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5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0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7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7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9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11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6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7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7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7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7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7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7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7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6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6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6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6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hyperlink" Target="https://wandbox.org/permlink/9NCf4pztCsiSZpc8" TargetMode="External"/><Relationship Id="rId1" Type="http://schemas.openxmlformats.org/officeDocument/2006/relationships/slideLayout" Target="../slideLayouts/slideLayout7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hyperlink" Target="https://isocpp.github.io/CppCoreGuidelines/CppCoreGuidelines#Rc-explicit" TargetMode="External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ags" Target="../tags/tag12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13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14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15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6.xml"/><Relationship Id="rId1" Type="http://schemas.openxmlformats.org/officeDocument/2006/relationships/tags" Target="../tags/tag16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17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2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2.xml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7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1.xml.rels><?xml version="1.0" encoding="UTF-8" standalone="yes"?>
<Relationships xmlns="http://schemas.openxmlformats.org/package/2006/relationships"><Relationship Id="rId2" Type="http://schemas.openxmlformats.org/officeDocument/2006/relationships/hyperlink" Target="https://en.cppreference.com/w/cpp/utility/exchange" TargetMode="External"/><Relationship Id="rId1" Type="http://schemas.openxmlformats.org/officeDocument/2006/relationships/slideLayout" Target="../slideLayouts/slideLayout7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8.xml.rels><?xml version="1.0" encoding="UTF-8" standalone="yes"?>
<Relationships xmlns="http://schemas.openxmlformats.org/package/2006/relationships"><Relationship Id="rId2" Type="http://schemas.openxmlformats.org/officeDocument/2006/relationships/hyperlink" Target="https://en.cppreference.com/w/cpp/utility/exchange" TargetMode="External"/><Relationship Id="rId1" Type="http://schemas.openxmlformats.org/officeDocument/2006/relationships/slideLayout" Target="../slideLayouts/slideLayout7.xml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1.xml.rels><?xml version="1.0" encoding="UTF-8" standalone="yes"?>
<Relationships xmlns="http://schemas.openxmlformats.org/package/2006/relationships"><Relationship Id="rId2" Type="http://schemas.openxmlformats.org/officeDocument/2006/relationships/hyperlink" Target="https://wandbox.org/permlink/0c2uBSY425nzNgiO" TargetMode="External"/><Relationship Id="rId1" Type="http://schemas.openxmlformats.org/officeDocument/2006/relationships/slideLayout" Target="../slideLayouts/slideLayout7.xml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7.xml"/></Relationships>
</file>

<file path=ppt/slides/_rels/slide1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2.xml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7.xml"/></Relationships>
</file>

<file path=ppt/slides/_rels/slide1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7.xml"/></Relationships>
</file>

<file path=ppt/slides/_rels/slide1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2.xml"/></Relationships>
</file>

<file path=ppt/slides/_rels/slide1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7.xml"/></Relationships>
</file>

<file path=ppt/slides/_rels/slide1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7.xml"/></Relationships>
</file>

<file path=ppt/slides/_rels/slide1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6.xml"/></Relationships>
</file>

<file path=ppt/slides/_rels/slide1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6.xml"/></Relationships>
</file>

<file path=ppt/slides/_rels/slide1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FBE361-10FB-CD65-2495-868E867810B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dirty="0"/>
              <a:t>Основы ООП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7F834B8-85FE-5B5D-DCCD-E2934954BDA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09731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0270C2D-5882-4811-A611-1DAB7A27C3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Парадигмы программирования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51A5CAF-0780-4629-89FE-8E26D316D2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-RU" b="1" dirty="0"/>
              <a:t>Парадигма программирования</a:t>
            </a:r>
            <a:r>
              <a:rPr lang="ru-RU" dirty="0"/>
              <a:t> — это общий подход к написанию программ.</a:t>
            </a:r>
          </a:p>
          <a:p>
            <a:pPr lvl="1"/>
            <a:r>
              <a:rPr lang="ru-RU" dirty="0"/>
              <a:t>Описывает </a:t>
            </a:r>
            <a:r>
              <a:rPr lang="ru-RU" b="1" dirty="0"/>
              <a:t>как программист мыслит о решении задачи</a:t>
            </a:r>
            <a:endParaRPr lang="ru-RU" dirty="0"/>
          </a:p>
          <a:p>
            <a:pPr lvl="1"/>
            <a:r>
              <a:rPr lang="ru-RU" dirty="0"/>
              <a:t>Определяет </a:t>
            </a:r>
            <a:r>
              <a:rPr lang="ru-RU" b="1" dirty="0"/>
              <a:t>стиль организации кода</a:t>
            </a:r>
            <a:endParaRPr lang="ru-RU" dirty="0"/>
          </a:p>
          <a:p>
            <a:pPr lvl="1"/>
            <a:r>
              <a:rPr lang="ru-RU" dirty="0"/>
              <a:t>Не привязана к конкретному языку программирования</a:t>
            </a:r>
          </a:p>
          <a:p>
            <a:pPr lvl="1"/>
            <a:r>
              <a:rPr lang="ru-RU" dirty="0"/>
              <a:t>Один язык может поддерживать </a:t>
            </a:r>
            <a:r>
              <a:rPr lang="ru-RU" b="1" dirty="0"/>
              <a:t>несколько парадигм</a:t>
            </a:r>
            <a:endParaRPr lang="ru-RU" dirty="0"/>
          </a:p>
          <a:p>
            <a:r>
              <a:rPr lang="ru-RU" b="1" dirty="0"/>
              <a:t>Примеры парадигм:</a:t>
            </a:r>
            <a:endParaRPr lang="ru-RU" dirty="0"/>
          </a:p>
          <a:p>
            <a:pPr lvl="1"/>
            <a:r>
              <a:rPr lang="ru-RU" dirty="0"/>
              <a:t>процедурная</a:t>
            </a:r>
          </a:p>
          <a:p>
            <a:pPr lvl="1"/>
            <a:r>
              <a:rPr lang="ru-RU" dirty="0"/>
              <a:t>объектно-ориентированная</a:t>
            </a:r>
          </a:p>
          <a:p>
            <a:pPr lvl="1"/>
            <a:r>
              <a:rPr lang="ru-RU" dirty="0"/>
              <a:t>функциональная</a:t>
            </a:r>
          </a:p>
          <a:p>
            <a:pPr lvl="1"/>
            <a:r>
              <a:rPr lang="ru-RU" dirty="0"/>
              <a:t>декларативная</a:t>
            </a:r>
          </a:p>
        </p:txBody>
      </p:sp>
    </p:spTree>
    <p:extLst>
      <p:ext uri="{BB962C8B-B14F-4D97-AF65-F5344CB8AC3E}">
        <p14:creationId xmlns:p14="http://schemas.microsoft.com/office/powerpoint/2010/main" val="21297107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DBFB7B4-1973-4E95-8330-BC5A77A5DD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Структурное программирование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A2E7F40-73D0-44E6-AB4A-956875EC9E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Программа строится из понятных управляющих конструкций, без произвольных переходов.</a:t>
            </a:r>
          </a:p>
          <a:p>
            <a:r>
              <a:rPr lang="ru-RU" dirty="0"/>
              <a:t>Основные принципы:</a:t>
            </a:r>
          </a:p>
          <a:p>
            <a:pPr lvl="1"/>
            <a:r>
              <a:rPr lang="ru-RU" dirty="0"/>
              <a:t>Последовательность — инструкции выполняются одна за другой</a:t>
            </a:r>
          </a:p>
          <a:p>
            <a:pPr lvl="1"/>
            <a:r>
              <a:rPr lang="ru-RU" dirty="0"/>
              <a:t>Ветвление — выбор действия в зависимости от условия (</a:t>
            </a:r>
            <a:r>
              <a:rPr lang="ru-RU" dirty="0" err="1"/>
              <a:t>if</a:t>
            </a:r>
            <a:r>
              <a:rPr lang="ru-RU" dirty="0"/>
              <a:t> / </a:t>
            </a:r>
            <a:r>
              <a:rPr lang="ru-RU" dirty="0" err="1"/>
              <a:t>else</a:t>
            </a:r>
            <a:r>
              <a:rPr lang="ru-RU" dirty="0"/>
              <a:t>)</a:t>
            </a:r>
          </a:p>
          <a:p>
            <a:pPr lvl="1"/>
            <a:r>
              <a:rPr lang="ru-RU" dirty="0"/>
              <a:t>Циклы — повторение действий (</a:t>
            </a:r>
            <a:r>
              <a:rPr lang="ru-RU" dirty="0" err="1"/>
              <a:t>while</a:t>
            </a:r>
            <a:r>
              <a:rPr lang="ru-RU" dirty="0"/>
              <a:t>, </a:t>
            </a:r>
            <a:r>
              <a:rPr lang="ru-RU" dirty="0" err="1"/>
              <a:t>for</a:t>
            </a:r>
            <a:r>
              <a:rPr lang="ru-RU" dirty="0"/>
              <a:t>, </a:t>
            </a:r>
            <a:r>
              <a:rPr lang="ru-RU" dirty="0" err="1"/>
              <a:t>do-while</a:t>
            </a:r>
            <a:r>
              <a:rPr lang="ru-RU" dirty="0"/>
              <a:t>)</a:t>
            </a:r>
          </a:p>
          <a:p>
            <a:pPr lvl="1"/>
            <a:r>
              <a:rPr lang="ru-RU" dirty="0"/>
              <a:t>Отказ от </a:t>
            </a:r>
            <a:r>
              <a:rPr lang="ru-RU" dirty="0" err="1"/>
              <a:t>goto</a:t>
            </a:r>
            <a:r>
              <a:rPr lang="ru-RU" dirty="0"/>
              <a:t> — управление программой должно быть структурированным</a:t>
            </a:r>
          </a:p>
          <a:p>
            <a:r>
              <a:rPr lang="ru-RU" dirty="0"/>
              <a:t>Цель: сделать программы понятными, предсказуемыми и удобными для сопровождения</a:t>
            </a:r>
          </a:p>
        </p:txBody>
      </p:sp>
    </p:spTree>
    <p:extLst>
      <p:ext uri="{BB962C8B-B14F-4D97-AF65-F5344CB8AC3E}">
        <p14:creationId xmlns:p14="http://schemas.microsoft.com/office/powerpoint/2010/main" val="32243366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0003EF2-7873-4A77-AA9C-0EA67501C0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Процедурное программирование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5201963-0419-4948-9E83-42788C1DC8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ru-RU" dirty="0"/>
              <a:t>Программа представляется как набор процедур и функций, которые выполняют последовательности действий.</a:t>
            </a:r>
          </a:p>
          <a:p>
            <a:r>
              <a:rPr lang="ru-RU" dirty="0"/>
              <a:t>Основные особенности:</a:t>
            </a:r>
          </a:p>
          <a:p>
            <a:pPr lvl="1"/>
            <a:r>
              <a:rPr lang="ru-RU" dirty="0"/>
              <a:t>Развивает идеи структурного программирования</a:t>
            </a:r>
          </a:p>
          <a:p>
            <a:pPr lvl="1"/>
            <a:r>
              <a:rPr lang="ru-RU" dirty="0"/>
              <a:t>Логика программы разбивается на подпрограммы</a:t>
            </a:r>
          </a:p>
          <a:p>
            <a:pPr lvl="1"/>
            <a:r>
              <a:rPr lang="ru-RU" dirty="0"/>
              <a:t>Используются процедуры и функции</a:t>
            </a:r>
          </a:p>
          <a:p>
            <a:pPr lvl="1"/>
            <a:r>
              <a:rPr lang="ru-RU" dirty="0"/>
              <a:t>Каждая подпрограмма решает отдельную подзадачу</a:t>
            </a:r>
          </a:p>
          <a:p>
            <a:r>
              <a:rPr lang="ru-RU" dirty="0"/>
              <a:t>Преимущества:</a:t>
            </a:r>
          </a:p>
          <a:p>
            <a:pPr lvl="1"/>
            <a:r>
              <a:rPr lang="ru-RU" dirty="0"/>
              <a:t>Повторное использование кода</a:t>
            </a:r>
          </a:p>
          <a:p>
            <a:pPr lvl="1"/>
            <a:r>
              <a:rPr lang="ru-RU" dirty="0"/>
              <a:t>Улучшение читаемости за счёт разбиения программы на небольшие части</a:t>
            </a:r>
          </a:p>
          <a:p>
            <a:pPr lvl="1"/>
            <a:r>
              <a:rPr lang="ru-RU" dirty="0"/>
              <a:t>Упрощение разработки и сопровождения</a:t>
            </a:r>
          </a:p>
        </p:txBody>
      </p:sp>
    </p:spTree>
    <p:extLst>
      <p:ext uri="{BB962C8B-B14F-4D97-AF65-F5344CB8AC3E}">
        <p14:creationId xmlns:p14="http://schemas.microsoft.com/office/powerpoint/2010/main" val="20454794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ru-RU" dirty="0"/>
              <a:t>Объектно-ориентированное программирование (ООП)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Программа моделирует предметную область как набор взаимодействующих объектов.</a:t>
            </a:r>
          </a:p>
          <a:p>
            <a:r>
              <a:rPr lang="ru-RU" dirty="0"/>
              <a:t>Основные характеристики:</a:t>
            </a:r>
          </a:p>
          <a:p>
            <a:pPr lvl="1"/>
            <a:r>
              <a:rPr lang="ru-RU" dirty="0"/>
              <a:t>Программа состоит из объектов, которые взаимодействуют друг с другом</a:t>
            </a:r>
          </a:p>
          <a:p>
            <a:pPr lvl="1"/>
            <a:r>
              <a:rPr lang="ru-RU" dirty="0"/>
              <a:t>Каждый объект объединяет данные и поведение</a:t>
            </a:r>
          </a:p>
          <a:p>
            <a:pPr lvl="1"/>
            <a:r>
              <a:rPr lang="ru-RU" dirty="0"/>
              <a:t>Объекты создаются на основе классов</a:t>
            </a:r>
          </a:p>
          <a:p>
            <a:pPr lvl="1"/>
            <a:r>
              <a:rPr lang="ru-RU" dirty="0"/>
              <a:t>Подход позволяет моделировать реальные сущности и процессы</a:t>
            </a:r>
          </a:p>
          <a:p>
            <a:r>
              <a:rPr lang="ru-RU" dirty="0"/>
              <a:t>Примеры объектов: пользователь, заказ, автомобиль, банковский счёт</a:t>
            </a:r>
          </a:p>
        </p:txBody>
      </p:sp>
    </p:spTree>
    <p:custDataLst>
      <p:tags r:id="rId1"/>
    </p:custData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B6EE92-FEC7-43B9-B3F0-AA79218590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Основные понятия ООП</a:t>
            </a:r>
            <a:br>
              <a:rPr lang="ru-RU" dirty="0"/>
            </a:br>
            <a:endParaRPr lang="ru-R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AEC1FD-796F-47A7-843B-E1E1A08BDB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Абстракция данных</a:t>
            </a:r>
          </a:p>
          <a:p>
            <a:r>
              <a:rPr lang="ru-RU" dirty="0"/>
              <a:t>Инкапсуляция</a:t>
            </a:r>
          </a:p>
          <a:p>
            <a:r>
              <a:rPr lang="ru-RU" dirty="0"/>
              <a:t>Наследование</a:t>
            </a:r>
          </a:p>
          <a:p>
            <a:r>
              <a:rPr lang="ru-RU" dirty="0"/>
              <a:t>Полиморфизм</a:t>
            </a:r>
          </a:p>
          <a:p>
            <a:r>
              <a:rPr lang="ru-RU" dirty="0"/>
              <a:t>Класс</a:t>
            </a:r>
          </a:p>
          <a:p>
            <a:r>
              <a:rPr lang="ru-RU" dirty="0"/>
              <a:t>Объекты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096527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AA09EF-A0FF-4AEF-8918-622C13E389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Абстракция данных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728FEC-646A-4BCF-B6E9-CBFB6644D1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ru-RU" dirty="0"/>
              <a:t>Абстракция — это выделение только существенных характеристик объекта, необходимых для решения задачи.</a:t>
            </a:r>
          </a:p>
          <a:p>
            <a:r>
              <a:rPr lang="ru-RU" dirty="0"/>
              <a:t>Основные идеи:</a:t>
            </a:r>
          </a:p>
          <a:p>
            <a:pPr lvl="1"/>
            <a:r>
              <a:rPr lang="ru-RU" dirty="0"/>
              <a:t>Описывает что делает объект, а не как он реализован</a:t>
            </a:r>
          </a:p>
          <a:p>
            <a:pPr lvl="1"/>
            <a:r>
              <a:rPr lang="ru-RU" dirty="0"/>
              <a:t>Объединяет тип данных и операции над ним</a:t>
            </a:r>
          </a:p>
          <a:p>
            <a:pPr lvl="1"/>
            <a:r>
              <a:rPr lang="ru-RU" dirty="0"/>
              <a:t>Пользователь работает с объектом через методы, не зная деталей реализации</a:t>
            </a:r>
          </a:p>
          <a:p>
            <a:pPr lvl="1"/>
            <a:r>
              <a:rPr lang="ru-RU" dirty="0"/>
              <a:t>Позволяет скрыть сложность реализации</a:t>
            </a:r>
          </a:p>
          <a:p>
            <a:r>
              <a:rPr lang="ru-RU" dirty="0"/>
              <a:t>Примеры абстракций:</a:t>
            </a:r>
          </a:p>
          <a:p>
            <a:pPr lvl="1"/>
            <a:r>
              <a:rPr lang="ru-RU" dirty="0" err="1"/>
              <a:t>std</a:t>
            </a:r>
            <a:r>
              <a:rPr lang="ru-RU" dirty="0"/>
              <a:t>::</a:t>
            </a:r>
            <a:r>
              <a:rPr lang="ru-RU" dirty="0" err="1"/>
              <a:t>string</a:t>
            </a:r>
            <a:r>
              <a:rPr lang="ru-RU" dirty="0"/>
              <a:t> — тип данных строка и операции работы со строками</a:t>
            </a:r>
          </a:p>
          <a:p>
            <a:pPr lvl="1"/>
            <a:r>
              <a:rPr lang="ru-RU" dirty="0" err="1"/>
              <a:t>Rational</a:t>
            </a:r>
            <a:r>
              <a:rPr lang="ru-RU" dirty="0"/>
              <a:t> — тип данных дробь и операции над дробями</a:t>
            </a:r>
          </a:p>
          <a:p>
            <a:pPr lvl="1"/>
            <a:r>
              <a:rPr lang="ru-RU" dirty="0" err="1"/>
              <a:t>Complex</a:t>
            </a:r>
            <a:r>
              <a:rPr lang="ru-RU" dirty="0"/>
              <a:t> — тип данных комплексное число и операции над ним</a:t>
            </a:r>
          </a:p>
        </p:txBody>
      </p:sp>
    </p:spTree>
    <p:extLst>
      <p:ext uri="{BB962C8B-B14F-4D97-AF65-F5344CB8AC3E}">
        <p14:creationId xmlns:p14="http://schemas.microsoft.com/office/powerpoint/2010/main" val="33119282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Инкапсуляция</a:t>
            </a:r>
          </a:p>
        </p:txBody>
      </p:sp>
      <p:sp>
        <p:nvSpPr>
          <p:cNvPr id="15363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dirty="0"/>
              <a:t>Инкапсуляция — это скрытие внутреннего устройства объекта и управление доступом к его данным.</a:t>
            </a:r>
          </a:p>
          <a:p>
            <a:r>
              <a:rPr lang="ru-RU" dirty="0"/>
              <a:t>Основные идеи:</a:t>
            </a:r>
          </a:p>
          <a:p>
            <a:pPr lvl="1"/>
            <a:r>
              <a:rPr lang="ru-RU" dirty="0"/>
              <a:t>Класс можно рассматривать как «чёрный ящик»</a:t>
            </a:r>
          </a:p>
          <a:p>
            <a:pPr lvl="1"/>
            <a:r>
              <a:rPr lang="ru-RU" dirty="0"/>
              <a:t>Класс состоит из двух частей:</a:t>
            </a:r>
          </a:p>
          <a:p>
            <a:pPr lvl="2"/>
            <a:r>
              <a:rPr lang="ru-RU" dirty="0"/>
              <a:t>интерфейс — доступные операции</a:t>
            </a:r>
          </a:p>
          <a:p>
            <a:pPr lvl="2"/>
            <a:r>
              <a:rPr lang="ru-RU" dirty="0"/>
              <a:t>реализация — внутренние данные и логика</a:t>
            </a:r>
          </a:p>
          <a:p>
            <a:pPr lvl="1"/>
            <a:r>
              <a:rPr lang="ru-RU" dirty="0"/>
              <a:t>Пользователи класса взаимодействуют только через интерфейс</a:t>
            </a:r>
          </a:p>
          <a:p>
            <a:pPr lvl="1"/>
            <a:r>
              <a:rPr lang="ru-RU" dirty="0"/>
              <a:t>Реализация класса обеспечивает сохранение инвариантов объекта</a:t>
            </a:r>
          </a:p>
          <a:p>
            <a:r>
              <a:rPr lang="ru-RU" dirty="0"/>
              <a:t>Преимущества:</a:t>
            </a:r>
          </a:p>
          <a:p>
            <a:pPr lvl="1"/>
            <a:r>
              <a:rPr lang="ru-RU" dirty="0"/>
              <a:t>уменьшает зависимость между классами</a:t>
            </a:r>
          </a:p>
          <a:p>
            <a:pPr lvl="1"/>
            <a:r>
              <a:rPr lang="ru-RU" dirty="0"/>
              <a:t>упрощает изменение и развитие кода</a:t>
            </a:r>
          </a:p>
          <a:p>
            <a:pPr lvl="1"/>
            <a:r>
              <a:rPr lang="ru-RU" dirty="0"/>
              <a:t>облегчает тестирование и сопровождение</a:t>
            </a:r>
          </a:p>
        </p:txBody>
      </p:sp>
    </p:spTree>
    <p:custDataLst>
      <p:tags r:id="rId1"/>
    </p:custData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36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36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536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536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536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536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536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536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536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536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536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536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363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970656C-36CD-C93B-8E1E-D466CB2B9F09}"/>
              </a:ext>
            </a:extLst>
          </p:cNvPr>
          <p:cNvSpPr txBox="1"/>
          <p:nvPr/>
        </p:nvSpPr>
        <p:spPr>
          <a:xfrm>
            <a:off x="0" y="-1"/>
            <a:ext cx="12192000" cy="68941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Car 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7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TurnEngineOn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 </a:t>
            </a:r>
            <a:r>
              <a:rPr lang="en-US" sz="17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m_isTurnedOn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}</a:t>
            </a:r>
          </a:p>
          <a:p>
            <a:pPr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IsEngineTurnedOn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 </a:t>
            </a:r>
            <a:r>
              <a:rPr lang="en-US" sz="17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m_isTurnedOn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}</a:t>
            </a:r>
          </a:p>
          <a:p>
            <a:pPr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Stop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 </a:t>
            </a:r>
            <a:r>
              <a:rPr lang="en-US" sz="17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m_speed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7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}</a:t>
            </a:r>
          </a:p>
          <a:p>
            <a:pPr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GetSpeed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 </a:t>
            </a:r>
            <a:r>
              <a:rPr lang="en-US" sz="17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m_speed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}</a:t>
            </a:r>
            <a:b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sz="17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TurnEngineOff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7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7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m_speed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== </a:t>
            </a:r>
            <a:r>
              <a:rPr lang="en-US" sz="17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sz="17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m_isTurnedOn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sz="17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}</a:t>
            </a:r>
          </a:p>
          <a:p>
            <a:pPr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7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endParaRPr lang="en-US" sz="17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Drive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speed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7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7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m_isTurnedOn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&amp;&amp; </a:t>
            </a:r>
            <a:r>
              <a:rPr lang="en-US" sz="17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speed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&gt;= </a:t>
            </a:r>
            <a:r>
              <a:rPr lang="en-US" sz="17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&amp;&amp; </a:t>
            </a:r>
            <a:r>
              <a:rPr lang="en-US" sz="17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speed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&lt;= </a:t>
            </a:r>
            <a:r>
              <a:rPr lang="en-US" sz="17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150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sz="17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m_speed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7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speed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sz="17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}</a:t>
            </a:r>
          </a:p>
          <a:p>
            <a:pPr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7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sz="17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m_isTurnedOn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m_speed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7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38854060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5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Наследование</a:t>
            </a:r>
          </a:p>
        </p:txBody>
      </p:sp>
      <p:sp>
        <p:nvSpPr>
          <p:cNvPr id="17411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ru-RU" dirty="0"/>
              <a:t>Наследование — это механизм, позволяющий создавать новый класс на основе существующего, наследуя его данные и поведение.</a:t>
            </a:r>
          </a:p>
          <a:p>
            <a:r>
              <a:rPr lang="ru-RU" dirty="0"/>
              <a:t>Основные идеи:</a:t>
            </a:r>
          </a:p>
          <a:p>
            <a:pPr lvl="1"/>
            <a:r>
              <a:rPr lang="ru-RU" dirty="0"/>
              <a:t>Новый класс (</a:t>
            </a:r>
            <a:r>
              <a:rPr lang="ru-RU" b="1" dirty="0"/>
              <a:t>производный</a:t>
            </a:r>
            <a:r>
              <a:rPr lang="ru-RU" dirty="0"/>
              <a:t>) создаётся на основе </a:t>
            </a:r>
            <a:r>
              <a:rPr lang="ru-RU" b="1" dirty="0"/>
              <a:t>базового</a:t>
            </a:r>
            <a:r>
              <a:rPr lang="ru-RU" dirty="0"/>
              <a:t> класса</a:t>
            </a:r>
          </a:p>
          <a:p>
            <a:pPr lvl="1"/>
            <a:r>
              <a:rPr lang="ru-RU" dirty="0"/>
              <a:t>Производный класс наследует поля и методы базового класса</a:t>
            </a:r>
          </a:p>
          <a:p>
            <a:pPr lvl="1"/>
            <a:r>
              <a:rPr lang="ru-RU" dirty="0"/>
              <a:t>Позволяет расширять или изменять поведение существующего класса</a:t>
            </a:r>
          </a:p>
          <a:p>
            <a:pPr lvl="1"/>
            <a:r>
              <a:rPr lang="ru-RU" dirty="0"/>
              <a:t>Используется для построения </a:t>
            </a:r>
            <a:r>
              <a:rPr lang="ru-RU" b="1" dirty="0"/>
              <a:t>иерархий</a:t>
            </a:r>
            <a:r>
              <a:rPr lang="ru-RU" dirty="0"/>
              <a:t> классов</a:t>
            </a:r>
          </a:p>
          <a:p>
            <a:r>
              <a:rPr lang="ru-RU" dirty="0"/>
              <a:t>Преимущества:</a:t>
            </a:r>
          </a:p>
          <a:p>
            <a:pPr lvl="1"/>
            <a:r>
              <a:rPr lang="ru-RU" dirty="0"/>
              <a:t>Повторное использование кода</a:t>
            </a:r>
          </a:p>
          <a:p>
            <a:pPr lvl="1"/>
            <a:r>
              <a:rPr lang="ru-RU" dirty="0"/>
              <a:t>Упрощение разработки</a:t>
            </a:r>
          </a:p>
          <a:p>
            <a:pPr lvl="1"/>
            <a:r>
              <a:rPr lang="ru-RU" dirty="0"/>
              <a:t>Более естественное моделирование предметной области</a:t>
            </a:r>
          </a:p>
        </p:txBody>
      </p:sp>
    </p:spTree>
    <p:custDataLst>
      <p:tags r:id="rId1"/>
    </p:custData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0747701F-D4C7-ADB5-511B-2BA57ACE8DA9}"/>
              </a:ext>
            </a:extLst>
          </p:cNvPr>
          <p:cNvSpPr txBox="1"/>
          <p:nvPr/>
        </p:nvSpPr>
        <p:spPr>
          <a:xfrm>
            <a:off x="0" y="0"/>
            <a:ext cx="12288688" cy="6986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Point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x =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y =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GameObject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GetPosition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m_position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}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SetPosition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pos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m_position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pos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}</a:t>
            </a: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m_position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Vector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dx =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dy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Rocket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GameObject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SetSpeed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Vector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speed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m_speed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speed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}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Update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timeDelta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pos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GetPosition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pos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.x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+=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m_speed.dx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 </a:t>
            </a:r>
            <a:r>
              <a:rPr lang="en-US" sz="16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timeDelta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pos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.y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+=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m_speed.dy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 </a:t>
            </a:r>
            <a:r>
              <a:rPr lang="en-US" sz="16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timeDelta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SetPosition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pos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Vector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m_speed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C63DD41-7165-C370-51DB-19B8116D389F}"/>
              </a:ext>
            </a:extLst>
          </p:cNvPr>
          <p:cNvSpPr txBox="1"/>
          <p:nvPr/>
        </p:nvSpPr>
        <p:spPr>
          <a:xfrm>
            <a:off x="6096000" y="4816308"/>
            <a:ext cx="6065416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Rocket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r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SetSpeed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({.dx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.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r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Update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pos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r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GetPosition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pos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pos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8908949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6" end="2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5">
                                            <p:txEl>
                                              <p:pRg st="26" end="2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5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5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5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5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5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5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Полиморфизм</a:t>
            </a:r>
          </a:p>
        </p:txBody>
      </p:sp>
      <p:sp>
        <p:nvSpPr>
          <p:cNvPr id="19459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Полиморфизм — это возможность использовать разные объекты через общий интерфейс.</a:t>
            </a:r>
          </a:p>
          <a:p>
            <a:r>
              <a:rPr lang="ru-RU" dirty="0"/>
              <a:t>Основные идеи:</a:t>
            </a:r>
          </a:p>
          <a:p>
            <a:pPr lvl="1"/>
            <a:r>
              <a:rPr lang="ru-RU" dirty="0"/>
              <a:t>Объекты разных классов могут реализовывать одни и те же операции</a:t>
            </a:r>
          </a:p>
          <a:p>
            <a:pPr lvl="1"/>
            <a:r>
              <a:rPr lang="ru-RU" dirty="0"/>
              <a:t>Работа с объектами происходит через общий базовый тип</a:t>
            </a:r>
          </a:p>
          <a:p>
            <a:pPr lvl="1"/>
            <a:r>
              <a:rPr lang="ru-RU" dirty="0"/>
              <a:t>Реализация метода может отличаться в разных классах</a:t>
            </a:r>
          </a:p>
          <a:p>
            <a:pPr lvl="1"/>
            <a:r>
              <a:rPr lang="ru-RU" dirty="0"/>
              <a:t>Конкретное поведение определяется во время выполнения программы</a:t>
            </a:r>
          </a:p>
          <a:p>
            <a:r>
              <a:rPr lang="ru-RU" dirty="0"/>
              <a:t>Позволяет обрабатывать разные объекты единообразно, не зная их точного типа.</a:t>
            </a:r>
          </a:p>
        </p:txBody>
      </p:sp>
    </p:spTree>
    <p:custDataLst>
      <p:tags r:id="rId1"/>
    </p:custData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E963C1E-6DBE-1C7F-A3F6-29EEABF5E043}"/>
              </a:ext>
            </a:extLst>
          </p:cNvPr>
          <p:cNvSpPr txBox="1"/>
          <p:nvPr/>
        </p:nvSpPr>
        <p:spPr>
          <a:xfrm>
            <a:off x="0" y="0"/>
            <a:ext cx="12192000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Point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 … };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GameObject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GetPosition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m_position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SetPosition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pos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m_position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pos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}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1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virtual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Update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timeDelta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{}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m_position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Vector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 … };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MovePoint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Vector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speed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timeDelta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+=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speed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.dx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timeDelta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+=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speed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.dy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timeDelta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325067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2EC8856-5343-3ECF-2677-4139BB84A5F9}"/>
              </a:ext>
            </a:extLst>
          </p:cNvPr>
          <p:cNvSpPr txBox="1"/>
          <p:nvPr/>
        </p:nvSpPr>
        <p:spPr>
          <a:xfrm>
            <a:off x="0" y="1"/>
            <a:ext cx="11352584" cy="70173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Rocket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GameObject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SetSpeed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Vector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speed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m_speed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speed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Update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timeDelta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b="1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override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SetPosition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MovePoint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GetPosition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(),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m_speed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timeDelta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Vector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m_speed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constexpr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GravityConstant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9.8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Ball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GameObject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SetSpeed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Vector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speed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m_speed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speed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Update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timeDelta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b="1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override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m_speed.dy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-=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timeDelta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GravityConstant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SetPosition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MovePoint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GetPosition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(),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m_speed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        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timeDelta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Vector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m_speed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7F819CB-9253-3F84-0313-D743F808630D}"/>
              </a:ext>
            </a:extLst>
          </p:cNvPr>
          <p:cNvSpPr txBox="1"/>
          <p:nvPr/>
        </p:nvSpPr>
        <p:spPr>
          <a:xfrm>
            <a:off x="6528048" y="2887682"/>
            <a:ext cx="5663952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UpdateGameObject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GameObject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gameObj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gameObj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Update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Rocket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Ball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SetSpeed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({ .dx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.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});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r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SetSpeed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({ .dx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.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});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1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UpdateGameObject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b="1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UpdateGameObject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6429101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C076958-B4E4-4CE0-A59C-C9A0215D091E}"/>
              </a:ext>
            </a:extLst>
          </p:cNvPr>
          <p:cNvSpPr/>
          <p:nvPr/>
        </p:nvSpPr>
        <p:spPr>
          <a:xfrm>
            <a:off x="0" y="0"/>
            <a:ext cx="6096000" cy="646330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dirty="0">
                <a:solidFill>
                  <a:srgbClr val="AF00DB"/>
                </a:solidFill>
                <a:latin typeface="Consolas" panose="020B0609020204030204" pitchFamily="49" charset="0"/>
              </a:rPr>
              <a:t>#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include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&lt;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cassert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&gt;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AF00DB"/>
                </a:solidFill>
                <a:latin typeface="Consolas" panose="020B0609020204030204" pitchFamily="49" charset="0"/>
              </a:rPr>
              <a:t>#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include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&lt;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iostream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&gt;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AF00DB"/>
                </a:solidFill>
                <a:latin typeface="Consolas" panose="020B0609020204030204" pitchFamily="49" charset="0"/>
              </a:rPr>
              <a:t>#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include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&lt;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sstream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&gt;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AF00DB"/>
                </a:solidFill>
                <a:latin typeface="Consolas" panose="020B0609020204030204" pitchFamily="49" charset="0"/>
              </a:rPr>
              <a:t>#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include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&lt;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fstream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&gt;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AF00DB"/>
                </a:solidFill>
                <a:latin typeface="Consolas" panose="020B0609020204030204" pitchFamily="49" charset="0"/>
              </a:rPr>
              <a:t>#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include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&lt;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string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&gt;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struct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Point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x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y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};</a:t>
            </a:r>
          </a:p>
          <a:p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Point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ReadPoint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istream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input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Point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p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input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&gt;&gt;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p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x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&gt;&gt;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p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y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p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</a:t>
            </a:r>
          </a:p>
          <a:p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WritePoint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ostream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output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Point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p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output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p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x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 "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p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y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3A0ABBF-DC49-4615-A8DE-DD1A6C299C40}"/>
              </a:ext>
            </a:extLst>
          </p:cNvPr>
          <p:cNvSpPr/>
          <p:nvPr/>
        </p:nvSpPr>
        <p:spPr>
          <a:xfrm>
            <a:off x="6456040" y="276999"/>
            <a:ext cx="5472608" cy="646330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main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istringstream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in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"3 5 8 10"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Point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p1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ReadPoint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in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assert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p1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x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3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&amp;&amp;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p1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y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5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Point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p2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ReadPoint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in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assert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p2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x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8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&amp;&amp;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p2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y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10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 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ofstream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out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"points.txt"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 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WritePoint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out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p1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 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out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 "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 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WritePoint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out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p2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}</a:t>
            </a:r>
          </a:p>
          <a:p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ifstream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inputFile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"points.txt"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Point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p3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ReadPoint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inputFile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Point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p4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ReadPoint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inputFile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assert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p3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x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p1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x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&amp;&amp;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p3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y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p1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y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assert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p4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x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p2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x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&amp;&amp;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p4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y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p2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y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</a:p>
          <a:p>
            <a:endParaRPr lang="en-US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en-US" dirty="0">
                <a:solidFill>
                  <a:srgbClr val="267F99"/>
                </a:solidFill>
                <a:latin typeface="Consolas" panose="020B0609020204030204" pitchFamily="49" charset="0"/>
              </a:rPr>
              <a:t>Point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1080"/>
                </a:solidFill>
                <a:latin typeface="Consolas" panose="020B0609020204030204" pitchFamily="49" charset="0"/>
              </a:rPr>
              <a:t>p5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795E26"/>
                </a:solidFill>
                <a:latin typeface="Consolas" panose="020B0609020204030204" pitchFamily="49" charset="0"/>
              </a:rPr>
              <a:t>ReadPoint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en-US" dirty="0" err="1">
                <a:solidFill>
                  <a:srgbClr val="001080"/>
                </a:solidFill>
                <a:latin typeface="Consolas" panose="020B0609020204030204" pitchFamily="49" charset="0"/>
              </a:rPr>
              <a:t>cin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en-US" dirty="0" err="1">
                <a:solidFill>
                  <a:srgbClr val="795E26"/>
                </a:solidFill>
                <a:latin typeface="Consolas" panose="020B0609020204030204" pitchFamily="49" charset="0"/>
              </a:rPr>
              <a:t>WritePoint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en-US" dirty="0" err="1">
                <a:solidFill>
                  <a:srgbClr val="001080"/>
                </a:solidFill>
                <a:latin typeface="Consolas" panose="020B0609020204030204" pitchFamily="49" charset="0"/>
              </a:rPr>
              <a:t>cout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en-US" dirty="0">
                <a:solidFill>
                  <a:srgbClr val="001080"/>
                </a:solidFill>
                <a:latin typeface="Consolas" panose="020B0609020204030204" pitchFamily="49" charset="0"/>
              </a:rPr>
              <a:t>p5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41550369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4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4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4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5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500"/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5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5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1524000" y="-3990"/>
            <a:ext cx="9252520" cy="65659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class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Shape</a:t>
            </a:r>
            <a:r>
              <a:rPr lang="en-US" dirty="0"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public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virtual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~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Shape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 =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default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Color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GetColor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 </a:t>
            </a:r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const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{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return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m_color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 }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void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SetColor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Color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 { </a:t>
            </a:r>
            <a:r>
              <a:rPr lang="en-US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m_color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 }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virtual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double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GetArea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const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0;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private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Color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m_color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Color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dirty="0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Red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class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Circle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: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public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Shape</a:t>
            </a:r>
            <a:r>
              <a:rPr lang="en-US" dirty="0"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public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double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GetArea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 </a:t>
            </a:r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const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override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{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return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i="1" dirty="0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M_PI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* </a:t>
            </a:r>
            <a:r>
              <a:rPr lang="en-US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m_radius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* </a:t>
            </a:r>
            <a:r>
              <a:rPr lang="en-US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m_radius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 }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double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GetRadius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 </a:t>
            </a:r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const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{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return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m_radius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 }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void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SetRadius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double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 { </a:t>
            </a:r>
            <a:r>
              <a:rPr lang="en-US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m_radius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 }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private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ru-RU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double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ru-RU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m_radius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1.0;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800"/>
              </a:spcAft>
            </a:pP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};</a:t>
            </a:r>
          </a:p>
          <a:p>
            <a:endParaRPr lang="ru-RU" dirty="0">
              <a:solidFill>
                <a:srgbClr val="000000"/>
              </a:solidFill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void </a:t>
            </a:r>
            <a:r>
              <a:rPr lang="en-US" dirty="0" err="1"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PrintShapeInfo</a:t>
            </a:r>
            <a:r>
              <a:rPr lang="en-US" dirty="0"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(const Shape&amp; s) {</a:t>
            </a:r>
          </a:p>
          <a:p>
            <a:r>
              <a:rPr lang="en-US" dirty="0"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std::</a:t>
            </a:r>
            <a:r>
              <a:rPr lang="en-US" dirty="0" err="1"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cout</a:t>
            </a:r>
            <a:r>
              <a:rPr lang="en-US" dirty="0"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&lt;&lt; "Color:" &lt;&lt; </a:t>
            </a:r>
            <a:r>
              <a:rPr lang="en-US" dirty="0" err="1"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s.GetColor</a:t>
            </a:r>
            <a:r>
              <a:rPr lang="en-US" dirty="0"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() &lt;&lt; "\n";</a:t>
            </a:r>
          </a:p>
          <a:p>
            <a:r>
              <a:rPr lang="en-US" dirty="0"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std::</a:t>
            </a:r>
            <a:r>
              <a:rPr lang="en-US" dirty="0" err="1"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cout</a:t>
            </a:r>
            <a:r>
              <a:rPr lang="en-US" dirty="0"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&lt;&lt; "Area:" &lt;&lt; </a:t>
            </a:r>
            <a:r>
              <a:rPr lang="en-US" dirty="0" err="1"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s.GetArea</a:t>
            </a:r>
            <a:r>
              <a:rPr lang="en-US" dirty="0"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() &lt;&lt; "\n";</a:t>
            </a:r>
          </a:p>
          <a:p>
            <a:r>
              <a:rPr lang="en-US" dirty="0"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}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custDataLst>
      <p:tags r:id="rId1"/>
    </p:custData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79BA02-ECA5-44AF-9AD6-0AAD41EDFE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Анатомия класса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0F0DCA9-CD51-4D27-90EB-9588FB1852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529962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Классы и объекты</a:t>
            </a:r>
          </a:p>
        </p:txBody>
      </p:sp>
      <p:sp>
        <p:nvSpPr>
          <p:cNvPr id="7171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dirty="0"/>
              <a:t>Класс — это пользовательский тип данных, который объединяет данные (поля) и операции над ними (методы).</a:t>
            </a:r>
          </a:p>
          <a:p>
            <a:r>
              <a:rPr lang="ru-RU" dirty="0"/>
              <a:t>Класс описывает:</a:t>
            </a:r>
          </a:p>
          <a:p>
            <a:pPr lvl="1"/>
            <a:r>
              <a:rPr lang="ru-RU" dirty="0"/>
              <a:t>структуру данных объекта</a:t>
            </a:r>
          </a:p>
          <a:p>
            <a:pPr lvl="1"/>
            <a:r>
              <a:rPr lang="ru-RU" dirty="0"/>
              <a:t>доступные операции</a:t>
            </a:r>
          </a:p>
          <a:p>
            <a:pPr lvl="1"/>
            <a:r>
              <a:rPr lang="ru-RU" dirty="0"/>
              <a:t>поведение объекта</a:t>
            </a:r>
          </a:p>
          <a:p>
            <a:r>
              <a:rPr lang="ru-RU" dirty="0"/>
              <a:t>Объект — это экземпляр класса, конкретная реализация этого типа.</a:t>
            </a:r>
          </a:p>
          <a:p>
            <a:r>
              <a:rPr lang="ru-RU" dirty="0"/>
              <a:t>Примеры:</a:t>
            </a:r>
          </a:p>
          <a:p>
            <a:pPr lvl="1"/>
            <a:r>
              <a:rPr lang="ru-RU" dirty="0"/>
              <a:t>Собака — класс</a:t>
            </a:r>
          </a:p>
          <a:p>
            <a:pPr lvl="1"/>
            <a:r>
              <a:rPr lang="ru-RU" dirty="0"/>
              <a:t>Собака Жучка — объект класса «Собака»</a:t>
            </a:r>
          </a:p>
          <a:p>
            <a:pPr lvl="1"/>
            <a:r>
              <a:rPr lang="ru-RU" dirty="0"/>
              <a:t>Чертёж дома — класс</a:t>
            </a:r>
          </a:p>
          <a:p>
            <a:pPr lvl="1"/>
            <a:r>
              <a:rPr lang="ru-RU" dirty="0"/>
              <a:t>Построенный дом — объект</a:t>
            </a:r>
          </a:p>
        </p:txBody>
      </p:sp>
    </p:spTree>
    <p:custDataLst>
      <p:tags r:id="rId1"/>
    </p:custData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170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Объявление класса</a:t>
            </a:r>
            <a:r>
              <a:rPr lang="en-US" dirty="0"/>
              <a:t> </a:t>
            </a:r>
            <a:r>
              <a:rPr lang="ru-RU" dirty="0"/>
              <a:t>в С++</a:t>
            </a:r>
          </a:p>
        </p:txBody>
      </p:sp>
      <p:sp>
        <p:nvSpPr>
          <p:cNvPr id="3" name="Rectangle 2"/>
          <p:cNvSpPr/>
          <p:nvPr/>
        </p:nvSpPr>
        <p:spPr>
          <a:xfrm>
            <a:off x="2063552" y="2708921"/>
            <a:ext cx="6048672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class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ru-RU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Car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// Поля класса (данные и методы)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52EC274-02EF-4ADE-ADEB-8576FA5ACBC9}"/>
              </a:ext>
            </a:extLst>
          </p:cNvPr>
          <p:cNvSpPr txBox="1"/>
          <p:nvPr/>
        </p:nvSpPr>
        <p:spPr>
          <a:xfrm>
            <a:off x="2067447" y="4437112"/>
            <a:ext cx="4583574" cy="23692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// Использование класса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US" dirty="0">
                <a:solidFill>
                  <a:srgbClr val="0000FF"/>
                </a:solidFill>
                <a:latin typeface="Cascadia Mono" panose="020B06090200000200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 main()</a:t>
            </a:r>
            <a:endParaRPr lang="ru-RU" sz="24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{</a:t>
            </a:r>
            <a:endParaRPr lang="ru-RU" sz="24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  </a:t>
            </a:r>
            <a:r>
              <a:rPr lang="en-US" dirty="0">
                <a:solidFill>
                  <a:srgbClr val="2B91AF"/>
                </a:solidFill>
                <a:latin typeface="Cascadia Mono" panose="020B06090200000200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Car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 car1;</a:t>
            </a:r>
            <a:endParaRPr lang="ru-RU" sz="24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  </a:t>
            </a:r>
            <a:r>
              <a:rPr lang="en-US" dirty="0">
                <a:solidFill>
                  <a:srgbClr val="2B91AF"/>
                </a:solidFill>
                <a:latin typeface="Cascadia Mono" panose="020B06090200000200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Car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 car2;</a:t>
            </a:r>
            <a:endParaRPr lang="ru-RU" sz="24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ru-RU" dirty="0">
                <a:solidFill>
                  <a:srgbClr val="000000"/>
                </a:solidFill>
                <a:latin typeface="Cascadia Mono" panose="020B06090200000200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}</a:t>
            </a:r>
            <a:endParaRPr lang="ru-RU" sz="24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ru-RU" sz="4000"/>
              <a:t>Данные объекта (переменные объекта, члены-данные)</a:t>
            </a:r>
          </a:p>
        </p:txBody>
      </p:sp>
      <p:sp>
        <p:nvSpPr>
          <p:cNvPr id="8195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ru-RU" dirty="0"/>
              <a:t>Члены-данные (</a:t>
            </a:r>
            <a:r>
              <a:rPr lang="ru-RU" dirty="0" err="1"/>
              <a:t>data</a:t>
            </a:r>
            <a:r>
              <a:rPr lang="ru-RU" dirty="0"/>
              <a:t> </a:t>
            </a:r>
            <a:r>
              <a:rPr lang="ru-RU" dirty="0" err="1"/>
              <a:t>members</a:t>
            </a:r>
            <a:r>
              <a:rPr lang="ru-RU" dirty="0"/>
              <a:t>) — это переменные, которые хранят состояние объекта.</a:t>
            </a:r>
          </a:p>
          <a:p>
            <a:r>
              <a:rPr lang="ru-RU" dirty="0"/>
              <a:t>Они описывают:</a:t>
            </a:r>
          </a:p>
          <a:p>
            <a:pPr lvl="1"/>
            <a:r>
              <a:rPr lang="ru-RU" dirty="0"/>
              <a:t>характеристики объекта</a:t>
            </a:r>
          </a:p>
          <a:p>
            <a:pPr lvl="1"/>
            <a:r>
              <a:rPr lang="ru-RU" dirty="0"/>
              <a:t>текущее состояние объекта</a:t>
            </a:r>
          </a:p>
          <a:p>
            <a:pPr lvl="1"/>
            <a:r>
              <a:rPr lang="ru-RU" dirty="0"/>
              <a:t>информацию, необходимую для его работы</a:t>
            </a:r>
          </a:p>
          <a:p>
            <a:r>
              <a:rPr lang="ru-RU" dirty="0"/>
              <a:t>Важно:</a:t>
            </a:r>
          </a:p>
          <a:p>
            <a:pPr lvl="1"/>
            <a:r>
              <a:rPr lang="ru-RU" dirty="0"/>
              <a:t>каждый объект имеет собственный набор данных</a:t>
            </a:r>
          </a:p>
          <a:p>
            <a:pPr lvl="1"/>
            <a:r>
              <a:rPr lang="ru-RU" dirty="0"/>
              <a:t>изменение состояния объекта происходит через изменение его данных</a:t>
            </a:r>
          </a:p>
          <a:p>
            <a:r>
              <a:rPr lang="ru-RU" dirty="0"/>
              <a:t>Пример. У объекта Car данные могут включать:</a:t>
            </a:r>
          </a:p>
          <a:p>
            <a:pPr lvl="1"/>
            <a:r>
              <a:rPr lang="ru-RU" dirty="0"/>
              <a:t>текущую скорость</a:t>
            </a:r>
          </a:p>
          <a:p>
            <a:pPr lvl="1"/>
            <a:r>
              <a:rPr lang="ru-RU" dirty="0"/>
              <a:t>состояние двигателя</a:t>
            </a:r>
          </a:p>
          <a:p>
            <a:pPr lvl="1"/>
            <a:r>
              <a:rPr lang="ru-RU" dirty="0"/>
              <a:t>уровень топлива</a:t>
            </a:r>
          </a:p>
        </p:txBody>
      </p:sp>
    </p:spTree>
    <p:custDataLst>
      <p:tags r:id="rId1"/>
    </p:custData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19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19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819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819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819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819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819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819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819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819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819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819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195" grpId="0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 - Автомобиль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E84460E-D93B-4CCB-AD70-270F4C4F681F}"/>
              </a:ext>
            </a:extLst>
          </p:cNvPr>
          <p:cNvSpPr/>
          <p:nvPr/>
        </p:nvSpPr>
        <p:spPr>
          <a:xfrm>
            <a:off x="896257" y="1916832"/>
            <a:ext cx="5760640" cy="42473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enum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class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MakeOfCar</a:t>
            </a:r>
            <a:r>
              <a:rPr lang="ru-RU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Toyota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Mitsubishi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Ford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Volkswagen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enum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class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Color</a:t>
            </a:r>
            <a:r>
              <a:rPr lang="ru-RU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Red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Green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Blue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Black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class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Car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MakeOfCar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m_make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</a:t>
            </a:r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MakeOfCar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dirty="0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Toyota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m_yearOfManufacture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2019;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Color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m_color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Color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dirty="0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Black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ru-RU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double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ru-RU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m_fuel</a:t>
            </a:r>
            <a:r>
              <a:rPr lang="ru-RU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0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800"/>
              </a:spcAft>
            </a:pP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D0977D-1DE0-4753-BF30-16DE1E99B7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 - Время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0FF70C0-3C36-4728-BCDE-CA4A872FEEFC}"/>
              </a:ext>
            </a:extLst>
          </p:cNvPr>
          <p:cNvSpPr/>
          <p:nvPr/>
        </p:nvSpPr>
        <p:spPr>
          <a:xfrm>
            <a:off x="838200" y="1836662"/>
            <a:ext cx="6096000" cy="2308324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class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267F99"/>
                </a:solidFill>
                <a:latin typeface="Consolas" panose="020B0609020204030204" pitchFamily="49" charset="0"/>
              </a:rPr>
              <a:t>Time</a:t>
            </a:r>
            <a:endParaRPr lang="en-US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1080"/>
                </a:solidFill>
                <a:latin typeface="Consolas" panose="020B0609020204030204" pitchFamily="49" charset="0"/>
              </a:rPr>
              <a:t>m_hours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1080"/>
                </a:solidFill>
                <a:latin typeface="Consolas" panose="020B0609020204030204" pitchFamily="49" charset="0"/>
              </a:rPr>
              <a:t>m_minutes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1080"/>
                </a:solidFill>
                <a:latin typeface="Consolas" panose="020B0609020204030204" pitchFamily="49" charset="0"/>
              </a:rPr>
              <a:t>m_seconds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};</a:t>
            </a:r>
          </a:p>
          <a:p>
            <a:b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endParaRPr 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5C47612-CE9D-4AEC-AC84-7E0ADF6D5D85}"/>
              </a:ext>
            </a:extLst>
          </p:cNvPr>
          <p:cNvSpPr/>
          <p:nvPr/>
        </p:nvSpPr>
        <p:spPr>
          <a:xfrm>
            <a:off x="838200" y="4581128"/>
            <a:ext cx="6096000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class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267F99"/>
                </a:solidFill>
                <a:latin typeface="Consolas" panose="020B0609020204030204" pitchFamily="49" charset="0"/>
              </a:rPr>
              <a:t>Time</a:t>
            </a:r>
            <a:endParaRPr lang="en-US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1080"/>
                </a:solidFill>
                <a:latin typeface="Consolas" panose="020B0609020204030204" pitchFamily="49" charset="0"/>
              </a:rPr>
              <a:t>m_secondsSinceMidnight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};</a:t>
            </a:r>
            <a:endParaRPr 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664509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E2F74C6-FE19-4232-8A7C-16F5E17BAF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Сокрытие данных по умолчанию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615964-653C-4330-B53F-972A9585B5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В отличие от структур, по умолчанию доступ к содержимому класса закрыт</a:t>
            </a:r>
          </a:p>
          <a:p>
            <a:pPr lvl="1"/>
            <a:r>
              <a:rPr lang="ru-RU" dirty="0"/>
              <a:t>Снаружи класса нельзя обратиться к его данным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66B726F-2E04-4DCC-83B9-A8FBE448F507}"/>
              </a:ext>
            </a:extLst>
          </p:cNvPr>
          <p:cNvSpPr/>
          <p:nvPr/>
        </p:nvSpPr>
        <p:spPr>
          <a:xfrm>
            <a:off x="840184" y="4576001"/>
            <a:ext cx="9073008" cy="17543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795E26"/>
                </a:solidFill>
                <a:latin typeface="Consolas" panose="020B0609020204030204" pitchFamily="49" charset="0"/>
              </a:rPr>
              <a:t>Test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()</a:t>
            </a:r>
          </a:p>
          <a:p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en-US" dirty="0">
                <a:solidFill>
                  <a:srgbClr val="267F99"/>
                </a:solidFill>
                <a:latin typeface="Consolas" panose="020B0609020204030204" pitchFamily="49" charset="0"/>
              </a:rPr>
              <a:t>Time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1080"/>
                </a:solidFill>
                <a:latin typeface="Consolas" panose="020B0609020204030204" pitchFamily="49" charset="0"/>
              </a:rPr>
              <a:t>t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en-US" dirty="0" err="1">
                <a:solidFill>
                  <a:srgbClr val="001080"/>
                </a:solidFill>
                <a:latin typeface="Consolas" panose="020B0609020204030204" pitchFamily="49" charset="0"/>
              </a:rPr>
              <a:t>t</a:t>
            </a:r>
            <a:r>
              <a:rPr lang="en-US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en-US" dirty="0" err="1">
                <a:solidFill>
                  <a:srgbClr val="001080"/>
                </a:solidFill>
                <a:latin typeface="Consolas" panose="020B0609020204030204" pitchFamily="49" charset="0"/>
              </a:rPr>
              <a:t>m_secondsSinceMidnight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98658"/>
                </a:solidFill>
                <a:latin typeface="Consolas" panose="020B0609020204030204" pitchFamily="49" charset="0"/>
              </a:rPr>
              <a:t>42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  // error: cannot access private member declared in class 'Time'</a:t>
            </a:r>
            <a:endParaRPr lang="en-US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}</a:t>
            </a:r>
            <a:endParaRPr 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7489926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ru-RU" dirty="0"/>
              <a:t>Уровни доступа в классах и структурах</a:t>
            </a:r>
          </a:p>
        </p:txBody>
      </p:sp>
      <p:sp>
        <p:nvSpPr>
          <p:cNvPr id="25603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-RU" dirty="0"/>
              <a:t>Каждый член класса или структуры имеет уровень доступа, который определяет, откуда к нему можно обращаться.</a:t>
            </a:r>
          </a:p>
          <a:p>
            <a:r>
              <a:rPr lang="ru-RU" dirty="0"/>
              <a:t>Основные уровни доступа:</a:t>
            </a:r>
          </a:p>
          <a:p>
            <a:pPr lvl="1"/>
            <a:r>
              <a:rPr lang="ru-RU" b="1" dirty="0" err="1"/>
              <a:t>public</a:t>
            </a:r>
            <a:r>
              <a:rPr lang="ru-RU" dirty="0"/>
              <a:t> — доступен из любого кода программы</a:t>
            </a:r>
            <a:br>
              <a:rPr lang="ru-RU" dirty="0"/>
            </a:br>
            <a:r>
              <a:rPr lang="ru-RU" i="1" dirty="0"/>
              <a:t>(уровень доступа по умолчанию в </a:t>
            </a:r>
            <a:r>
              <a:rPr lang="ru-RU" i="1" dirty="0" err="1"/>
              <a:t>struct</a:t>
            </a:r>
            <a:r>
              <a:rPr lang="ru-RU" i="1" dirty="0"/>
              <a:t>)</a:t>
            </a:r>
            <a:endParaRPr lang="ru-RU" dirty="0"/>
          </a:p>
          <a:p>
            <a:pPr lvl="1"/>
            <a:r>
              <a:rPr lang="ru-RU" b="1" dirty="0" err="1"/>
              <a:t>private</a:t>
            </a:r>
            <a:r>
              <a:rPr lang="ru-RU" dirty="0"/>
              <a:t> — доступен только внутри самого класса</a:t>
            </a:r>
            <a:br>
              <a:rPr lang="ru-RU" dirty="0"/>
            </a:br>
            <a:r>
              <a:rPr lang="ru-RU" i="1" dirty="0"/>
              <a:t>(уровень доступа по умолчанию в </a:t>
            </a:r>
            <a:r>
              <a:rPr lang="ru-RU" i="1" dirty="0" err="1"/>
              <a:t>class</a:t>
            </a:r>
            <a:r>
              <a:rPr lang="ru-RU" i="1" dirty="0"/>
              <a:t>)</a:t>
            </a:r>
            <a:endParaRPr lang="ru-RU" dirty="0"/>
          </a:p>
          <a:p>
            <a:pPr lvl="1"/>
            <a:r>
              <a:rPr lang="ru-RU" b="1" dirty="0" err="1"/>
              <a:t>protected</a:t>
            </a:r>
            <a:r>
              <a:rPr lang="ru-RU" dirty="0"/>
              <a:t> — доступен внутри класса и его </a:t>
            </a:r>
            <a:r>
              <a:rPr lang="ru-RU" b="1" dirty="0"/>
              <a:t>производных классов</a:t>
            </a:r>
            <a:endParaRPr lang="ru-RU" dirty="0"/>
          </a:p>
          <a:p>
            <a:r>
              <a:rPr lang="ru-RU" dirty="0"/>
              <a:t>Назначение:</a:t>
            </a:r>
          </a:p>
          <a:p>
            <a:pPr lvl="1"/>
            <a:r>
              <a:rPr lang="ru-RU" dirty="0"/>
              <a:t>Позволяет контролировать доступ к данным и методам и поддерживать инкапсуляцию.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560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560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560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560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560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560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2560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603" grpId="0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6655E41D-28E9-4CA3-95F9-A518BA3F828B}"/>
              </a:ext>
            </a:extLst>
          </p:cNvPr>
          <p:cNvSpPr/>
          <p:nvPr/>
        </p:nvSpPr>
        <p:spPr>
          <a:xfrm>
            <a:off x="648072" y="566678"/>
            <a:ext cx="10561712" cy="286232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// Структура глазами компилятора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struct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Time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Этот спецификатор 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public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неявно подразумевается внутри 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struct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.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 err="1">
                <a:solidFill>
                  <a:srgbClr val="0000FF">
                    <a:alpha val="50000"/>
                  </a:srgbClr>
                </a:solidFill>
                <a:latin typeface="Consolas" panose="020B0609020204030204" pitchFamily="49" charset="0"/>
              </a:rPr>
              <a:t>public</a:t>
            </a:r>
            <a:r>
              <a:rPr lang="de-DE" dirty="0">
                <a:solidFill>
                  <a:srgbClr val="0000FF">
                    <a:alpha val="50000"/>
                  </a:srgbClr>
                </a:solidFill>
                <a:latin typeface="Consolas" panose="020B0609020204030204" pitchFamily="49" charset="0"/>
              </a:rPr>
              <a:t>:</a:t>
            </a:r>
          </a:p>
          <a:p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Всё, что ниже 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public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:,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доступно для внешнего кода.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hours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minutes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seconds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};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D4F800E-841B-4ACB-AFC8-603C77CBEE71}"/>
              </a:ext>
            </a:extLst>
          </p:cNvPr>
          <p:cNvSpPr/>
          <p:nvPr/>
        </p:nvSpPr>
        <p:spPr>
          <a:xfrm>
            <a:off x="648072" y="3789040"/>
            <a:ext cx="9794304" cy="286232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// Класс глазами компилятора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class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Time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Этот спецификатор 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private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неявно подразумевается внутри 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class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.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FF">
                    <a:alpha val="50000"/>
                  </a:srgbClr>
                </a:solidFill>
                <a:latin typeface="Consolas" panose="020B0609020204030204" pitchFamily="49" charset="0"/>
              </a:rPr>
              <a:t>private:</a:t>
            </a:r>
          </a:p>
          <a:p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Всё, что ниже 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private:,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скрыто от внешнего мира.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m_hours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m_minutes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m_seconds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};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2740138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64A2DC-6C85-E17D-018B-6752588815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Методы класса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D019B1F-2D11-9F00-E168-A23F02E09C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760847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05AF9F-96AC-46DE-AF3A-45632A07AB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Методы класса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0956B6-5D86-45C2-AEBC-65FC2C827A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ru-RU" dirty="0"/>
              <a:t>Метод — это функция, объявленная внутри класса и работающая с его данными.</a:t>
            </a:r>
          </a:p>
          <a:p>
            <a:r>
              <a:rPr lang="ru-RU" dirty="0"/>
              <a:t>Основные идеи:</a:t>
            </a:r>
          </a:p>
          <a:p>
            <a:pPr lvl="1"/>
            <a:r>
              <a:rPr lang="ru-RU" dirty="0"/>
              <a:t>методы определяют операции, которые можно выполнять с объектом</a:t>
            </a:r>
          </a:p>
          <a:p>
            <a:pPr lvl="1"/>
            <a:r>
              <a:rPr lang="ru-RU" dirty="0"/>
              <a:t>методы имеют доступ к данным своего класса</a:t>
            </a:r>
          </a:p>
          <a:p>
            <a:pPr lvl="1"/>
            <a:r>
              <a:rPr lang="ru-RU" dirty="0"/>
              <a:t>методы также называют функциями-членами класса (</a:t>
            </a:r>
            <a:r>
              <a:rPr lang="ru-RU" i="1" dirty="0" err="1"/>
              <a:t>member</a:t>
            </a:r>
            <a:r>
              <a:rPr lang="ru-RU" i="1" dirty="0"/>
              <a:t> </a:t>
            </a:r>
            <a:r>
              <a:rPr lang="ru-RU" i="1" dirty="0" err="1"/>
              <a:t>functions</a:t>
            </a:r>
            <a:r>
              <a:rPr lang="ru-RU" dirty="0"/>
              <a:t>)</a:t>
            </a:r>
          </a:p>
          <a:p>
            <a:pPr lvl="1"/>
            <a:r>
              <a:rPr lang="ru-RU" dirty="0"/>
              <a:t>через методы происходит взаимодействие с объектом</a:t>
            </a:r>
          </a:p>
          <a:p>
            <a:r>
              <a:rPr lang="ru-RU" dirty="0"/>
              <a:t>Хорошая практика:</a:t>
            </a:r>
          </a:p>
          <a:p>
            <a:pPr lvl="1"/>
            <a:r>
              <a:rPr lang="ru-RU" dirty="0"/>
              <a:t>данные — </a:t>
            </a:r>
            <a:r>
              <a:rPr lang="ru-RU" dirty="0" err="1"/>
              <a:t>private</a:t>
            </a:r>
            <a:endParaRPr lang="ru-RU" dirty="0"/>
          </a:p>
          <a:p>
            <a:pPr lvl="1"/>
            <a:r>
              <a:rPr lang="ru-RU" dirty="0"/>
              <a:t>методы — </a:t>
            </a:r>
            <a:r>
              <a:rPr lang="ru-RU" dirty="0" err="1"/>
              <a:t>public</a:t>
            </a:r>
            <a:endParaRPr lang="ru-RU" dirty="0"/>
          </a:p>
          <a:p>
            <a:r>
              <a:rPr lang="ru-RU" dirty="0"/>
              <a:t>Это позволяет контролировать изменение состояния объекта.</a:t>
            </a:r>
          </a:p>
        </p:txBody>
      </p:sp>
    </p:spTree>
    <p:extLst>
      <p:ext uri="{BB962C8B-B14F-4D97-AF65-F5344CB8AC3E}">
        <p14:creationId xmlns:p14="http://schemas.microsoft.com/office/powerpoint/2010/main" val="36574090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A147AF2-E3CC-42B2-B3AD-F9D3AD847C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Объявление метода класса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0D4375C-B49C-482F-B653-C9D25C3D82DD}"/>
              </a:ext>
            </a:extLst>
          </p:cNvPr>
          <p:cNvSpPr/>
          <p:nvPr/>
        </p:nvSpPr>
        <p:spPr>
          <a:xfrm>
            <a:off x="695400" y="2204863"/>
            <a:ext cx="10729192" cy="369331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 err="1">
                <a:solidFill>
                  <a:srgbClr val="0000FF"/>
                </a:solidFill>
                <a:latin typeface="Consolas" panose="020B0609020204030204" pitchFamily="49" charset="0"/>
              </a:rPr>
              <a:t>class</a:t>
            </a:r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dirty="0" err="1">
                <a:solidFill>
                  <a:srgbClr val="267F99"/>
                </a:solidFill>
                <a:latin typeface="Consolas" panose="020B0609020204030204" pitchFamily="49" charset="0"/>
              </a:rPr>
              <a:t>SomeClass</a:t>
            </a:r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 {</a:t>
            </a:r>
          </a:p>
          <a:p>
            <a:r>
              <a:rPr lang="ru-RU" dirty="0" err="1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ru-RU" dirty="0">
                <a:solidFill>
                  <a:srgbClr val="0000FF"/>
                </a:solidFill>
                <a:latin typeface="Consolas" panose="020B0609020204030204" pitchFamily="49" charset="0"/>
              </a:rPr>
              <a:t>: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  // Это метод класса. Выглядит как функция, описанная внутри класса.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795E26"/>
                </a:solidFill>
                <a:latin typeface="Consolas" panose="020B0609020204030204" pitchFamily="49" charset="0"/>
              </a:rPr>
              <a:t>Set</a:t>
            </a:r>
            <a:r>
              <a:rPr lang="ru-RU" dirty="0" err="1">
                <a:solidFill>
                  <a:srgbClr val="795E26"/>
                </a:solidFill>
                <a:latin typeface="Consolas" panose="020B0609020204030204" pitchFamily="49" charset="0"/>
              </a:rPr>
              <a:t>Data</a:t>
            </a:r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ru-RU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ru-RU" dirty="0">
                <a:solidFill>
                  <a:srgbClr val="001080"/>
                </a:solidFill>
                <a:latin typeface="Consolas" panose="020B0609020204030204" pitchFamily="49" charset="0"/>
              </a:rPr>
              <a:t> </a:t>
            </a:r>
            <a:r>
              <a:rPr lang="ru-RU" dirty="0" err="1">
                <a:solidFill>
                  <a:srgbClr val="001080"/>
                </a:solidFill>
                <a:latin typeface="Consolas" panose="020B0609020204030204" pitchFamily="49" charset="0"/>
              </a:rPr>
              <a:t>data</a:t>
            </a:r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) {</a:t>
            </a:r>
          </a:p>
          <a:p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    // К приватным данным можно обращаться только внутри методов класса.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    </a:t>
            </a:r>
            <a:r>
              <a:rPr lang="ru-RU" dirty="0" err="1">
                <a:solidFill>
                  <a:srgbClr val="001080"/>
                </a:solidFill>
                <a:latin typeface="Consolas" panose="020B0609020204030204" pitchFamily="49" charset="0"/>
              </a:rPr>
              <a:t>m_data</a:t>
            </a:r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dirty="0" err="1">
                <a:solidFill>
                  <a:srgbClr val="001080"/>
                </a:solidFill>
                <a:latin typeface="Consolas" panose="020B0609020204030204" pitchFamily="49" charset="0"/>
              </a:rPr>
              <a:t>data</a:t>
            </a:r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  }</a:t>
            </a:r>
          </a:p>
          <a:p>
            <a:b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ru-RU" dirty="0" err="1">
                <a:solidFill>
                  <a:srgbClr val="0000FF"/>
                </a:solidFill>
                <a:latin typeface="Consolas" panose="020B0609020204030204" pitchFamily="49" charset="0"/>
              </a:rPr>
              <a:t>private</a:t>
            </a:r>
            <a:r>
              <a:rPr lang="ru-RU" dirty="0">
                <a:solidFill>
                  <a:srgbClr val="0000FF"/>
                </a:solidFill>
                <a:latin typeface="Consolas" panose="020B0609020204030204" pitchFamily="49" charset="0"/>
              </a:rPr>
              <a:t>: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  // Данные надёжно спрятаны от внешнего мира.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  // Никто, кроме самого класса, не имеет к ним доступа.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ru-RU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dirty="0" err="1">
                <a:solidFill>
                  <a:srgbClr val="001080"/>
                </a:solidFill>
                <a:latin typeface="Consolas" panose="020B0609020204030204" pitchFamily="49" charset="0"/>
              </a:rPr>
              <a:t>m_data</a:t>
            </a:r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dirty="0">
                <a:solidFill>
                  <a:srgbClr val="098658"/>
                </a:solidFill>
                <a:latin typeface="Consolas" panose="020B0609020204030204" pitchFamily="49" charset="0"/>
              </a:rPr>
              <a:t>42</a:t>
            </a:r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};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7341588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8AE94ACB-DF50-47AA-8442-6B6269AF3473}"/>
              </a:ext>
            </a:extLst>
          </p:cNvPr>
          <p:cNvSpPr/>
          <p:nvPr/>
        </p:nvSpPr>
        <p:spPr>
          <a:xfrm>
            <a:off x="623392" y="404664"/>
            <a:ext cx="10369152" cy="59093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class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Time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: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GetHours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 {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m_secondsSinceMidnight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/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3600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 }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GetMinutes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 {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(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m_secondsSinceMidnight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/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60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%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60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 }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GetSeconds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 {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m_secondsSinceMidnight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%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60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 }</a:t>
            </a: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bool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SetTime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hours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minutes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seconds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 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if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(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hours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||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hours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&gt;=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24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||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minutes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||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minutes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&gt;=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60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    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||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seconds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||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seconds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&gt;=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60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 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   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false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  }</a:t>
            </a:r>
          </a:p>
          <a:p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 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m_secondsSinceMidnight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hours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*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60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*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60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+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minutes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*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60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+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seconds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 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true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}</a:t>
            </a: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private: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m_secondsSinceMidnight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};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213131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B372DBC4-9EC6-444E-ADD5-B9A04254BC1A}"/>
              </a:ext>
            </a:extLst>
          </p:cNvPr>
          <p:cNvSpPr/>
          <p:nvPr/>
        </p:nvSpPr>
        <p:spPr>
          <a:xfrm>
            <a:off x="695400" y="548680"/>
            <a:ext cx="11594504" cy="563231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class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Circle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: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SetRadius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double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 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m_radius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}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double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GetRadius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 {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m_radius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 }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double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GetArea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 {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numbers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pi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*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m_radius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*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m_radius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 }</a:t>
            </a: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private: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double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m_radius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 = 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};</a:t>
            </a: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main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Circle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c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c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SetRadius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20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cout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c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GetArea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endl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B415A72-9BA5-47DA-8709-E8DF4AA637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36360" y="4077072"/>
            <a:ext cx="2629267" cy="2581635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2578FF23-370C-49BE-A433-1C1264895926}"/>
              </a:ext>
            </a:extLst>
          </p:cNvPr>
          <p:cNvSpPr/>
          <p:nvPr/>
        </p:nvSpPr>
        <p:spPr>
          <a:xfrm>
            <a:off x="4290299" y="6381328"/>
            <a:ext cx="504606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>
                <a:hlinkClick r:id="rId4"/>
              </a:rPr>
              <a:t>https://wandbox.org/permlink/bzbqAdTJspyA2WZA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30406845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C1A98D7-6355-4879-9214-D1C11461A3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Методы, состояние объекта и константность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8198547-0A93-4071-A526-B4615E5B5F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Состояние объекта</a:t>
            </a:r>
          </a:p>
          <a:p>
            <a:pPr lvl="1"/>
            <a:r>
              <a:rPr lang="ru-RU" dirty="0"/>
              <a:t>состояние объекта определяется его членами-данными</a:t>
            </a:r>
          </a:p>
          <a:p>
            <a:pPr lvl="1"/>
            <a:r>
              <a:rPr lang="ru-RU" dirty="0"/>
              <a:t>изменение состояния означает изменение этих данных</a:t>
            </a:r>
          </a:p>
          <a:p>
            <a:pPr lvl="1"/>
            <a:r>
              <a:rPr lang="ru-RU" dirty="0"/>
              <a:t>если данные </a:t>
            </a:r>
            <a:r>
              <a:rPr lang="ru-RU" dirty="0" err="1"/>
              <a:t>private</a:t>
            </a:r>
            <a:r>
              <a:rPr lang="ru-RU" dirty="0"/>
              <a:t>, изменить их можно только через методы класса</a:t>
            </a:r>
          </a:p>
          <a:p>
            <a:r>
              <a:rPr lang="ru-RU" dirty="0"/>
              <a:t>Константные объекты</a:t>
            </a:r>
          </a:p>
          <a:p>
            <a:pPr lvl="1"/>
            <a:r>
              <a:rPr lang="ru-RU" dirty="0"/>
              <a:t>состояние константного объекта нельзя изменять</a:t>
            </a:r>
          </a:p>
          <a:p>
            <a:pPr lvl="1"/>
            <a:r>
              <a:rPr lang="ru-RU" dirty="0"/>
              <a:t>методы, которые изменяют данные, нельзя вызывать у </a:t>
            </a:r>
            <a:r>
              <a:rPr lang="ru-RU" dirty="0" err="1"/>
              <a:t>const</a:t>
            </a:r>
            <a:r>
              <a:rPr lang="ru-RU" dirty="0"/>
              <a:t>-объекта</a:t>
            </a:r>
          </a:p>
        </p:txBody>
      </p:sp>
    </p:spTree>
    <p:extLst>
      <p:ext uri="{BB962C8B-B14F-4D97-AF65-F5344CB8AC3E}">
        <p14:creationId xmlns:p14="http://schemas.microsoft.com/office/powerpoint/2010/main" val="154974294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EDA38FB-3754-41AD-9188-61BCDE629222}"/>
              </a:ext>
            </a:extLst>
          </p:cNvPr>
          <p:cNvSpPr/>
          <p:nvPr/>
        </p:nvSpPr>
        <p:spPr>
          <a:xfrm>
            <a:off x="119336" y="116633"/>
            <a:ext cx="11233248" cy="618630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class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Circle 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: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SetRadius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double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 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m_radius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}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double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GetRadius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 {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m_radius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 }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double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GetArea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 {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numbers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pi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*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m_radius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*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m_radius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 }</a:t>
            </a: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private: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double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m_radius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 = 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};</a:t>
            </a:r>
          </a:p>
          <a:p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PrintCircle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Circle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c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 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cout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radius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="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c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GetRadius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", 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area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="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c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GetArea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endl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</a:t>
            </a:r>
          </a:p>
          <a:p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main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Circle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c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c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SetRadius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10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PrintCircle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c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F700A52-CBB5-4E60-B234-233C7F70CAB6}"/>
              </a:ext>
            </a:extLst>
          </p:cNvPr>
          <p:cNvSpPr/>
          <p:nvPr/>
        </p:nvSpPr>
        <p:spPr>
          <a:xfrm>
            <a:off x="249324" y="2669940"/>
            <a:ext cx="11845316" cy="338554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r>
              <a:rPr lang="ru-RU" sz="1600" dirty="0">
                <a:latin typeface="Consolas" panose="020B0609020204030204" pitchFamily="49" charset="0"/>
              </a:rPr>
              <a:t>prog.cc: </a:t>
            </a:r>
            <a:r>
              <a:rPr lang="ru-RU" sz="1600" dirty="0" err="1">
                <a:latin typeface="Consolas" panose="020B0609020204030204" pitchFamily="49" charset="0"/>
              </a:rPr>
              <a:t>In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function</a:t>
            </a:r>
            <a:r>
              <a:rPr lang="ru-RU" sz="1600" dirty="0">
                <a:latin typeface="Consolas" panose="020B0609020204030204" pitchFamily="49" charset="0"/>
              </a:rPr>
              <a:t> '</a:t>
            </a:r>
            <a:r>
              <a:rPr lang="ru-RU" sz="1600" dirty="0" err="1">
                <a:latin typeface="Consolas" panose="020B0609020204030204" pitchFamily="49" charset="0"/>
              </a:rPr>
              <a:t>void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PrintCircle</a:t>
            </a:r>
            <a:r>
              <a:rPr lang="ru-RU" sz="1600" dirty="0">
                <a:latin typeface="Consolas" panose="020B0609020204030204" pitchFamily="49" charset="0"/>
              </a:rPr>
              <a:t>(</a:t>
            </a:r>
            <a:r>
              <a:rPr lang="ru-RU" sz="1600" dirty="0" err="1">
                <a:latin typeface="Consolas" panose="020B0609020204030204" pitchFamily="49" charset="0"/>
              </a:rPr>
              <a:t>const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Circle</a:t>
            </a:r>
            <a:r>
              <a:rPr lang="ru-RU" sz="1600" dirty="0">
                <a:latin typeface="Consolas" panose="020B0609020204030204" pitchFamily="49" charset="0"/>
              </a:rPr>
              <a:t>&amp;)':</a:t>
            </a:r>
          </a:p>
          <a:p>
            <a:r>
              <a:rPr lang="ru-RU" sz="1600" dirty="0">
                <a:latin typeface="Consolas" panose="020B0609020204030204" pitchFamily="49" charset="0"/>
              </a:rPr>
              <a:t>prog.cc:20:46: </a:t>
            </a:r>
            <a:r>
              <a:rPr lang="ru-RU" sz="1600" dirty="0" err="1">
                <a:latin typeface="Consolas" panose="020B0609020204030204" pitchFamily="49" charset="0"/>
              </a:rPr>
              <a:t>error</a:t>
            </a:r>
            <a:r>
              <a:rPr lang="ru-RU" sz="1600" dirty="0">
                <a:latin typeface="Consolas" panose="020B0609020204030204" pitchFamily="49" charset="0"/>
              </a:rPr>
              <a:t>: </a:t>
            </a:r>
            <a:r>
              <a:rPr lang="ru-RU" sz="1600" dirty="0" err="1">
                <a:latin typeface="Consolas" panose="020B0609020204030204" pitchFamily="49" charset="0"/>
              </a:rPr>
              <a:t>passing</a:t>
            </a:r>
            <a:r>
              <a:rPr lang="ru-RU" sz="1600" dirty="0">
                <a:latin typeface="Consolas" panose="020B0609020204030204" pitchFamily="49" charset="0"/>
              </a:rPr>
              <a:t> '</a:t>
            </a:r>
            <a:r>
              <a:rPr lang="ru-RU" sz="1600" dirty="0" err="1">
                <a:latin typeface="Consolas" panose="020B0609020204030204" pitchFamily="49" charset="0"/>
              </a:rPr>
              <a:t>const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Circle</a:t>
            </a:r>
            <a:r>
              <a:rPr lang="ru-RU" sz="1600" dirty="0">
                <a:latin typeface="Consolas" panose="020B0609020204030204" pitchFamily="49" charset="0"/>
              </a:rPr>
              <a:t>' </a:t>
            </a:r>
            <a:r>
              <a:rPr lang="ru-RU" sz="1600" dirty="0" err="1">
                <a:latin typeface="Consolas" panose="020B0609020204030204" pitchFamily="49" charset="0"/>
              </a:rPr>
              <a:t>as</a:t>
            </a:r>
            <a:r>
              <a:rPr lang="ru-RU" sz="1600" dirty="0">
                <a:latin typeface="Consolas" panose="020B0609020204030204" pitchFamily="49" charset="0"/>
              </a:rPr>
              <a:t> '</a:t>
            </a:r>
            <a:r>
              <a:rPr lang="ru-RU" sz="1600" dirty="0" err="1">
                <a:latin typeface="Consolas" panose="020B0609020204030204" pitchFamily="49" charset="0"/>
              </a:rPr>
              <a:t>this</a:t>
            </a:r>
            <a:r>
              <a:rPr lang="ru-RU" sz="1600" dirty="0">
                <a:latin typeface="Consolas" panose="020B0609020204030204" pitchFamily="49" charset="0"/>
              </a:rPr>
              <a:t>' </a:t>
            </a:r>
            <a:r>
              <a:rPr lang="ru-RU" sz="1600" dirty="0" err="1">
                <a:latin typeface="Consolas" panose="020B0609020204030204" pitchFamily="49" charset="0"/>
              </a:rPr>
              <a:t>argument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discards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qualifiers</a:t>
            </a:r>
            <a:r>
              <a:rPr lang="ru-RU" sz="1600" dirty="0">
                <a:latin typeface="Consolas" panose="020B0609020204030204" pitchFamily="49" charset="0"/>
              </a:rPr>
              <a:t> [-</a:t>
            </a:r>
            <a:r>
              <a:rPr lang="ru-RU" sz="1600" dirty="0" err="1">
                <a:latin typeface="Consolas" panose="020B0609020204030204" pitchFamily="49" charset="0"/>
              </a:rPr>
              <a:t>fpermissive</a:t>
            </a:r>
            <a:r>
              <a:rPr lang="ru-RU" sz="1600" dirty="0">
                <a:latin typeface="Consolas" panose="020B0609020204030204" pitchFamily="49" charset="0"/>
              </a:rPr>
              <a:t>]</a:t>
            </a:r>
          </a:p>
          <a:p>
            <a:r>
              <a:rPr lang="ru-RU" sz="1600" dirty="0">
                <a:latin typeface="Consolas" panose="020B0609020204030204" pitchFamily="49" charset="0"/>
              </a:rPr>
              <a:t>   20 |         </a:t>
            </a:r>
            <a:r>
              <a:rPr lang="ru-RU" sz="1600" dirty="0" err="1">
                <a:latin typeface="Consolas" panose="020B0609020204030204" pitchFamily="49" charset="0"/>
              </a:rPr>
              <a:t>std</a:t>
            </a:r>
            <a:r>
              <a:rPr lang="ru-RU" sz="1600" dirty="0">
                <a:latin typeface="Consolas" panose="020B0609020204030204" pitchFamily="49" charset="0"/>
              </a:rPr>
              <a:t>::</a:t>
            </a:r>
            <a:r>
              <a:rPr lang="ru-RU" sz="1600" dirty="0" err="1">
                <a:latin typeface="Consolas" panose="020B0609020204030204" pitchFamily="49" charset="0"/>
              </a:rPr>
              <a:t>cout</a:t>
            </a:r>
            <a:r>
              <a:rPr lang="ru-RU" sz="1600" dirty="0">
                <a:latin typeface="Consolas" panose="020B0609020204030204" pitchFamily="49" charset="0"/>
              </a:rPr>
              <a:t> &lt;&lt; "</a:t>
            </a:r>
            <a:r>
              <a:rPr lang="ru-RU" sz="1600" dirty="0" err="1">
                <a:latin typeface="Consolas" panose="020B0609020204030204" pitchFamily="49" charset="0"/>
              </a:rPr>
              <a:t>radius</a:t>
            </a:r>
            <a:r>
              <a:rPr lang="ru-RU" sz="1600" dirty="0">
                <a:latin typeface="Consolas" panose="020B0609020204030204" pitchFamily="49" charset="0"/>
              </a:rPr>
              <a:t>=" &lt;&lt; </a:t>
            </a:r>
            <a:r>
              <a:rPr lang="ru-RU" sz="1600" dirty="0" err="1">
                <a:latin typeface="Consolas" panose="020B0609020204030204" pitchFamily="49" charset="0"/>
              </a:rPr>
              <a:t>c.GetRadius</a:t>
            </a:r>
            <a:r>
              <a:rPr lang="ru-RU" sz="1600" dirty="0">
                <a:latin typeface="Consolas" panose="020B0609020204030204" pitchFamily="49" charset="0"/>
              </a:rPr>
              <a:t>() &lt;&lt; ", </a:t>
            </a:r>
            <a:r>
              <a:rPr lang="ru-RU" sz="1600" dirty="0" err="1">
                <a:latin typeface="Consolas" panose="020B0609020204030204" pitchFamily="49" charset="0"/>
              </a:rPr>
              <a:t>area</a:t>
            </a:r>
            <a:r>
              <a:rPr lang="ru-RU" sz="1600" dirty="0">
                <a:latin typeface="Consolas" panose="020B0609020204030204" pitchFamily="49" charset="0"/>
              </a:rPr>
              <a:t>=" &lt;&lt; </a:t>
            </a:r>
            <a:r>
              <a:rPr lang="ru-RU" sz="1600" dirty="0" err="1">
                <a:latin typeface="Consolas" panose="020B0609020204030204" pitchFamily="49" charset="0"/>
              </a:rPr>
              <a:t>c.GetArea</a:t>
            </a:r>
            <a:r>
              <a:rPr lang="ru-RU" sz="1600" dirty="0">
                <a:latin typeface="Consolas" panose="020B0609020204030204" pitchFamily="49" charset="0"/>
              </a:rPr>
              <a:t>() &lt;&lt; </a:t>
            </a:r>
            <a:r>
              <a:rPr lang="ru-RU" sz="1600" dirty="0" err="1">
                <a:latin typeface="Consolas" panose="020B0609020204030204" pitchFamily="49" charset="0"/>
              </a:rPr>
              <a:t>std</a:t>
            </a:r>
            <a:r>
              <a:rPr lang="ru-RU" sz="1600" dirty="0">
                <a:latin typeface="Consolas" panose="020B0609020204030204" pitchFamily="49" charset="0"/>
              </a:rPr>
              <a:t>::</a:t>
            </a:r>
            <a:r>
              <a:rPr lang="ru-RU" sz="1600" dirty="0" err="1">
                <a:latin typeface="Consolas" panose="020B0609020204030204" pitchFamily="49" charset="0"/>
              </a:rPr>
              <a:t>endl</a:t>
            </a:r>
            <a:r>
              <a:rPr lang="ru-RU" sz="1600" dirty="0">
                <a:latin typeface="Consolas" panose="020B0609020204030204" pitchFamily="49" charset="0"/>
              </a:rPr>
              <a:t>;</a:t>
            </a:r>
          </a:p>
          <a:p>
            <a:r>
              <a:rPr lang="ru-RU" sz="1600" dirty="0">
                <a:latin typeface="Consolas" panose="020B0609020204030204" pitchFamily="49" charset="0"/>
              </a:rPr>
              <a:t>      |                                   ~~~~~~~~~~~^~</a:t>
            </a:r>
          </a:p>
          <a:p>
            <a:r>
              <a:rPr lang="ru-RU" sz="1600" dirty="0">
                <a:latin typeface="Consolas" panose="020B0609020204030204" pitchFamily="49" charset="0"/>
              </a:rPr>
              <a:t>prog.cc:11:16: </a:t>
            </a:r>
            <a:r>
              <a:rPr lang="ru-RU" sz="1600" dirty="0" err="1">
                <a:latin typeface="Consolas" panose="020B0609020204030204" pitchFamily="49" charset="0"/>
              </a:rPr>
              <a:t>note</a:t>
            </a:r>
            <a:r>
              <a:rPr lang="ru-RU" sz="1600" dirty="0">
                <a:latin typeface="Consolas" panose="020B0609020204030204" pitchFamily="49" charset="0"/>
              </a:rPr>
              <a:t>:   </a:t>
            </a:r>
            <a:r>
              <a:rPr lang="ru-RU" sz="1600" dirty="0" err="1">
                <a:latin typeface="Consolas" panose="020B0609020204030204" pitchFamily="49" charset="0"/>
              </a:rPr>
              <a:t>in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call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to</a:t>
            </a:r>
            <a:r>
              <a:rPr lang="ru-RU" sz="1600" dirty="0">
                <a:latin typeface="Consolas" panose="020B0609020204030204" pitchFamily="49" charset="0"/>
              </a:rPr>
              <a:t> '</a:t>
            </a:r>
            <a:r>
              <a:rPr lang="ru-RU" sz="1600" dirty="0" err="1">
                <a:latin typeface="Consolas" panose="020B0609020204030204" pitchFamily="49" charset="0"/>
              </a:rPr>
              <a:t>double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Circle</a:t>
            </a:r>
            <a:r>
              <a:rPr lang="ru-RU" sz="1600" dirty="0">
                <a:latin typeface="Consolas" panose="020B0609020204030204" pitchFamily="49" charset="0"/>
              </a:rPr>
              <a:t>::</a:t>
            </a:r>
            <a:r>
              <a:rPr lang="ru-RU" sz="1600" dirty="0" err="1">
                <a:latin typeface="Consolas" panose="020B0609020204030204" pitchFamily="49" charset="0"/>
              </a:rPr>
              <a:t>GetRadius</a:t>
            </a:r>
            <a:r>
              <a:rPr lang="ru-RU" sz="1600" dirty="0">
                <a:latin typeface="Consolas" panose="020B0609020204030204" pitchFamily="49" charset="0"/>
              </a:rPr>
              <a:t>()'</a:t>
            </a:r>
          </a:p>
          <a:p>
            <a:r>
              <a:rPr lang="ru-RU" sz="1600" dirty="0">
                <a:latin typeface="Consolas" panose="020B0609020204030204" pitchFamily="49" charset="0"/>
              </a:rPr>
              <a:t>   11 |         </a:t>
            </a:r>
            <a:r>
              <a:rPr lang="ru-RU" sz="1600" dirty="0" err="1">
                <a:latin typeface="Consolas" panose="020B0609020204030204" pitchFamily="49" charset="0"/>
              </a:rPr>
              <a:t>double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GetRadius</a:t>
            </a:r>
            <a:r>
              <a:rPr lang="ru-RU" sz="1600" dirty="0">
                <a:latin typeface="Consolas" panose="020B0609020204030204" pitchFamily="49" charset="0"/>
              </a:rPr>
              <a:t>() { </a:t>
            </a:r>
            <a:r>
              <a:rPr lang="ru-RU" sz="1600" dirty="0" err="1">
                <a:latin typeface="Consolas" panose="020B0609020204030204" pitchFamily="49" charset="0"/>
              </a:rPr>
              <a:t>return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m_radius</a:t>
            </a:r>
            <a:r>
              <a:rPr lang="ru-RU" sz="1600" dirty="0">
                <a:latin typeface="Consolas" panose="020B0609020204030204" pitchFamily="49" charset="0"/>
              </a:rPr>
              <a:t>; }</a:t>
            </a:r>
          </a:p>
          <a:p>
            <a:r>
              <a:rPr lang="ru-RU" sz="1600" dirty="0">
                <a:latin typeface="Consolas" panose="020B0609020204030204" pitchFamily="49" charset="0"/>
              </a:rPr>
              <a:t>      |                ^~~~~~~~~</a:t>
            </a:r>
          </a:p>
          <a:p>
            <a:r>
              <a:rPr lang="ru-RU" sz="1600" dirty="0">
                <a:latin typeface="Consolas" panose="020B0609020204030204" pitchFamily="49" charset="0"/>
              </a:rPr>
              <a:t>prog.cc:20:74: </a:t>
            </a:r>
            <a:r>
              <a:rPr lang="ru-RU" sz="1600" dirty="0" err="1">
                <a:latin typeface="Consolas" panose="020B0609020204030204" pitchFamily="49" charset="0"/>
              </a:rPr>
              <a:t>error</a:t>
            </a:r>
            <a:r>
              <a:rPr lang="ru-RU" sz="1600" dirty="0">
                <a:latin typeface="Consolas" panose="020B0609020204030204" pitchFamily="49" charset="0"/>
              </a:rPr>
              <a:t>: </a:t>
            </a:r>
            <a:r>
              <a:rPr lang="ru-RU" sz="1600" dirty="0" err="1">
                <a:latin typeface="Consolas" panose="020B0609020204030204" pitchFamily="49" charset="0"/>
              </a:rPr>
              <a:t>passing</a:t>
            </a:r>
            <a:r>
              <a:rPr lang="ru-RU" sz="1600" dirty="0">
                <a:latin typeface="Consolas" panose="020B0609020204030204" pitchFamily="49" charset="0"/>
              </a:rPr>
              <a:t> '</a:t>
            </a:r>
            <a:r>
              <a:rPr lang="ru-RU" sz="1600" dirty="0" err="1">
                <a:latin typeface="Consolas" panose="020B0609020204030204" pitchFamily="49" charset="0"/>
              </a:rPr>
              <a:t>const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Circle</a:t>
            </a:r>
            <a:r>
              <a:rPr lang="ru-RU" sz="1600" dirty="0">
                <a:latin typeface="Consolas" panose="020B0609020204030204" pitchFamily="49" charset="0"/>
              </a:rPr>
              <a:t>' </a:t>
            </a:r>
            <a:r>
              <a:rPr lang="ru-RU" sz="1600" dirty="0" err="1">
                <a:latin typeface="Consolas" panose="020B0609020204030204" pitchFamily="49" charset="0"/>
              </a:rPr>
              <a:t>as</a:t>
            </a:r>
            <a:r>
              <a:rPr lang="ru-RU" sz="1600" dirty="0">
                <a:latin typeface="Consolas" panose="020B0609020204030204" pitchFamily="49" charset="0"/>
              </a:rPr>
              <a:t> '</a:t>
            </a:r>
            <a:r>
              <a:rPr lang="ru-RU" sz="1600" dirty="0" err="1">
                <a:latin typeface="Consolas" panose="020B0609020204030204" pitchFamily="49" charset="0"/>
              </a:rPr>
              <a:t>this</a:t>
            </a:r>
            <a:r>
              <a:rPr lang="ru-RU" sz="1600" dirty="0">
                <a:latin typeface="Consolas" panose="020B0609020204030204" pitchFamily="49" charset="0"/>
              </a:rPr>
              <a:t>' </a:t>
            </a:r>
            <a:r>
              <a:rPr lang="ru-RU" sz="1600" dirty="0" err="1">
                <a:latin typeface="Consolas" panose="020B0609020204030204" pitchFamily="49" charset="0"/>
              </a:rPr>
              <a:t>argument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discards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qualifiers</a:t>
            </a:r>
            <a:r>
              <a:rPr lang="ru-RU" sz="1600" dirty="0">
                <a:latin typeface="Consolas" panose="020B0609020204030204" pitchFamily="49" charset="0"/>
              </a:rPr>
              <a:t> [-</a:t>
            </a:r>
            <a:r>
              <a:rPr lang="ru-RU" sz="1600" dirty="0" err="1">
                <a:latin typeface="Consolas" panose="020B0609020204030204" pitchFamily="49" charset="0"/>
              </a:rPr>
              <a:t>fpermissive</a:t>
            </a:r>
            <a:r>
              <a:rPr lang="ru-RU" sz="1600" dirty="0">
                <a:latin typeface="Consolas" panose="020B0609020204030204" pitchFamily="49" charset="0"/>
              </a:rPr>
              <a:t>]</a:t>
            </a:r>
          </a:p>
          <a:p>
            <a:r>
              <a:rPr lang="ru-RU" sz="1600" dirty="0">
                <a:latin typeface="Consolas" panose="020B0609020204030204" pitchFamily="49" charset="0"/>
              </a:rPr>
              <a:t>   20 |         </a:t>
            </a:r>
            <a:r>
              <a:rPr lang="ru-RU" sz="1600" dirty="0" err="1">
                <a:latin typeface="Consolas" panose="020B0609020204030204" pitchFamily="49" charset="0"/>
              </a:rPr>
              <a:t>std</a:t>
            </a:r>
            <a:r>
              <a:rPr lang="ru-RU" sz="1600" dirty="0">
                <a:latin typeface="Consolas" panose="020B0609020204030204" pitchFamily="49" charset="0"/>
              </a:rPr>
              <a:t>::</a:t>
            </a:r>
            <a:r>
              <a:rPr lang="ru-RU" sz="1600" dirty="0" err="1">
                <a:latin typeface="Consolas" panose="020B0609020204030204" pitchFamily="49" charset="0"/>
              </a:rPr>
              <a:t>cout</a:t>
            </a:r>
            <a:r>
              <a:rPr lang="ru-RU" sz="1600" dirty="0">
                <a:latin typeface="Consolas" panose="020B0609020204030204" pitchFamily="49" charset="0"/>
              </a:rPr>
              <a:t> &lt;&lt; "</a:t>
            </a:r>
            <a:r>
              <a:rPr lang="ru-RU" sz="1600" dirty="0" err="1">
                <a:latin typeface="Consolas" panose="020B0609020204030204" pitchFamily="49" charset="0"/>
              </a:rPr>
              <a:t>radius</a:t>
            </a:r>
            <a:r>
              <a:rPr lang="ru-RU" sz="1600" dirty="0">
                <a:latin typeface="Consolas" panose="020B0609020204030204" pitchFamily="49" charset="0"/>
              </a:rPr>
              <a:t>=" &lt;&lt; </a:t>
            </a:r>
            <a:r>
              <a:rPr lang="ru-RU" sz="1600" dirty="0" err="1">
                <a:latin typeface="Consolas" panose="020B0609020204030204" pitchFamily="49" charset="0"/>
              </a:rPr>
              <a:t>c.GetRadius</a:t>
            </a:r>
            <a:r>
              <a:rPr lang="ru-RU" sz="1600" dirty="0">
                <a:latin typeface="Consolas" panose="020B0609020204030204" pitchFamily="49" charset="0"/>
              </a:rPr>
              <a:t>() &lt;&lt; ", </a:t>
            </a:r>
            <a:r>
              <a:rPr lang="ru-RU" sz="1600" dirty="0" err="1">
                <a:latin typeface="Consolas" panose="020B0609020204030204" pitchFamily="49" charset="0"/>
              </a:rPr>
              <a:t>area</a:t>
            </a:r>
            <a:r>
              <a:rPr lang="ru-RU" sz="1600" dirty="0">
                <a:latin typeface="Consolas" panose="020B0609020204030204" pitchFamily="49" charset="0"/>
              </a:rPr>
              <a:t>=" &lt;&lt; </a:t>
            </a:r>
            <a:r>
              <a:rPr lang="ru-RU" sz="1600" dirty="0" err="1">
                <a:latin typeface="Consolas" panose="020B0609020204030204" pitchFamily="49" charset="0"/>
              </a:rPr>
              <a:t>c.GetArea</a:t>
            </a:r>
            <a:r>
              <a:rPr lang="ru-RU" sz="1600" dirty="0">
                <a:latin typeface="Consolas" panose="020B0609020204030204" pitchFamily="49" charset="0"/>
              </a:rPr>
              <a:t>() &lt;&lt; </a:t>
            </a:r>
            <a:r>
              <a:rPr lang="ru-RU" sz="1600" dirty="0" err="1">
                <a:latin typeface="Consolas" panose="020B0609020204030204" pitchFamily="49" charset="0"/>
              </a:rPr>
              <a:t>std</a:t>
            </a:r>
            <a:r>
              <a:rPr lang="ru-RU" sz="1600" dirty="0">
                <a:latin typeface="Consolas" panose="020B0609020204030204" pitchFamily="49" charset="0"/>
              </a:rPr>
              <a:t>::</a:t>
            </a:r>
            <a:r>
              <a:rPr lang="ru-RU" sz="1600" dirty="0" err="1">
                <a:latin typeface="Consolas" panose="020B0609020204030204" pitchFamily="49" charset="0"/>
              </a:rPr>
              <a:t>endl</a:t>
            </a:r>
            <a:r>
              <a:rPr lang="ru-RU" sz="1600" dirty="0">
                <a:latin typeface="Consolas" panose="020B0609020204030204" pitchFamily="49" charset="0"/>
              </a:rPr>
              <a:t>;</a:t>
            </a:r>
          </a:p>
          <a:p>
            <a:r>
              <a:rPr lang="ru-RU" sz="1600" dirty="0">
                <a:latin typeface="Consolas" panose="020B0609020204030204" pitchFamily="49" charset="0"/>
              </a:rPr>
              <a:t>      |                                                                 ~~~~~~~~~^~</a:t>
            </a:r>
          </a:p>
          <a:p>
            <a:r>
              <a:rPr lang="ru-RU" sz="1600" dirty="0">
                <a:latin typeface="Consolas" panose="020B0609020204030204" pitchFamily="49" charset="0"/>
              </a:rPr>
              <a:t>prog.cc:12:16: </a:t>
            </a:r>
            <a:r>
              <a:rPr lang="ru-RU" sz="1600" dirty="0" err="1">
                <a:latin typeface="Consolas" panose="020B0609020204030204" pitchFamily="49" charset="0"/>
              </a:rPr>
              <a:t>note</a:t>
            </a:r>
            <a:r>
              <a:rPr lang="ru-RU" sz="1600" dirty="0">
                <a:latin typeface="Consolas" panose="020B0609020204030204" pitchFamily="49" charset="0"/>
              </a:rPr>
              <a:t>:   </a:t>
            </a:r>
            <a:r>
              <a:rPr lang="ru-RU" sz="1600" dirty="0" err="1">
                <a:latin typeface="Consolas" panose="020B0609020204030204" pitchFamily="49" charset="0"/>
              </a:rPr>
              <a:t>in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call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to</a:t>
            </a:r>
            <a:r>
              <a:rPr lang="ru-RU" sz="1600" dirty="0">
                <a:latin typeface="Consolas" panose="020B0609020204030204" pitchFamily="49" charset="0"/>
              </a:rPr>
              <a:t> '</a:t>
            </a:r>
            <a:r>
              <a:rPr lang="ru-RU" sz="1600" dirty="0" err="1">
                <a:latin typeface="Consolas" panose="020B0609020204030204" pitchFamily="49" charset="0"/>
              </a:rPr>
              <a:t>double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Circle</a:t>
            </a:r>
            <a:r>
              <a:rPr lang="ru-RU" sz="1600" dirty="0">
                <a:latin typeface="Consolas" panose="020B0609020204030204" pitchFamily="49" charset="0"/>
              </a:rPr>
              <a:t>::</a:t>
            </a:r>
            <a:r>
              <a:rPr lang="ru-RU" sz="1600" dirty="0" err="1">
                <a:latin typeface="Consolas" panose="020B0609020204030204" pitchFamily="49" charset="0"/>
              </a:rPr>
              <a:t>GetArea</a:t>
            </a:r>
            <a:r>
              <a:rPr lang="ru-RU" sz="1600" dirty="0">
                <a:latin typeface="Consolas" panose="020B0609020204030204" pitchFamily="49" charset="0"/>
              </a:rPr>
              <a:t>()'</a:t>
            </a:r>
          </a:p>
          <a:p>
            <a:r>
              <a:rPr lang="ru-RU" sz="1600" dirty="0">
                <a:latin typeface="Consolas" panose="020B0609020204030204" pitchFamily="49" charset="0"/>
              </a:rPr>
              <a:t>   12 |         </a:t>
            </a:r>
            <a:r>
              <a:rPr lang="ru-RU" sz="1600" dirty="0" err="1">
                <a:latin typeface="Consolas" panose="020B0609020204030204" pitchFamily="49" charset="0"/>
              </a:rPr>
              <a:t>double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GetArea</a:t>
            </a:r>
            <a:r>
              <a:rPr lang="ru-RU" sz="1600" dirty="0">
                <a:latin typeface="Consolas" panose="020B0609020204030204" pitchFamily="49" charset="0"/>
              </a:rPr>
              <a:t>() { </a:t>
            </a:r>
            <a:r>
              <a:rPr lang="ru-RU" sz="1600" dirty="0" err="1">
                <a:latin typeface="Consolas" panose="020B0609020204030204" pitchFamily="49" charset="0"/>
              </a:rPr>
              <a:t>return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std</a:t>
            </a:r>
            <a:r>
              <a:rPr lang="ru-RU" sz="1600" dirty="0">
                <a:latin typeface="Consolas" panose="020B0609020204030204" pitchFamily="49" charset="0"/>
              </a:rPr>
              <a:t>::</a:t>
            </a:r>
            <a:r>
              <a:rPr lang="ru-RU" sz="1600" dirty="0" err="1">
                <a:latin typeface="Consolas" panose="020B0609020204030204" pitchFamily="49" charset="0"/>
              </a:rPr>
              <a:t>numbers</a:t>
            </a:r>
            <a:r>
              <a:rPr lang="ru-RU" sz="1600" dirty="0">
                <a:latin typeface="Consolas" panose="020B0609020204030204" pitchFamily="49" charset="0"/>
              </a:rPr>
              <a:t>::</a:t>
            </a:r>
            <a:r>
              <a:rPr lang="ru-RU" sz="1600" dirty="0" err="1">
                <a:latin typeface="Consolas" panose="020B0609020204030204" pitchFamily="49" charset="0"/>
              </a:rPr>
              <a:t>pi</a:t>
            </a:r>
            <a:r>
              <a:rPr lang="ru-RU" sz="1600" dirty="0">
                <a:latin typeface="Consolas" panose="020B0609020204030204" pitchFamily="49" charset="0"/>
              </a:rPr>
              <a:t> * </a:t>
            </a:r>
            <a:r>
              <a:rPr lang="ru-RU" sz="1600" dirty="0" err="1">
                <a:latin typeface="Consolas" panose="020B0609020204030204" pitchFamily="49" charset="0"/>
              </a:rPr>
              <a:t>m_radius</a:t>
            </a:r>
            <a:r>
              <a:rPr lang="ru-RU" sz="1600" dirty="0">
                <a:latin typeface="Consolas" panose="020B0609020204030204" pitchFamily="49" charset="0"/>
              </a:rPr>
              <a:t> * </a:t>
            </a:r>
            <a:r>
              <a:rPr lang="ru-RU" sz="1600" dirty="0" err="1">
                <a:latin typeface="Consolas" panose="020B0609020204030204" pitchFamily="49" charset="0"/>
              </a:rPr>
              <a:t>m_radius</a:t>
            </a:r>
            <a:r>
              <a:rPr lang="ru-RU" sz="1600" dirty="0">
                <a:latin typeface="Consolas" panose="020B0609020204030204" pitchFamily="49" charset="0"/>
              </a:rPr>
              <a:t>; }</a:t>
            </a:r>
          </a:p>
          <a:p>
            <a:r>
              <a:rPr lang="ru-RU" sz="1600" dirty="0">
                <a:latin typeface="Consolas" panose="020B0609020204030204" pitchFamily="49" charset="0"/>
              </a:rPr>
              <a:t>      |                ^~~~~~~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922BDA0-4AA2-48B7-A080-8A0B5AAC154D}"/>
              </a:ext>
            </a:extLst>
          </p:cNvPr>
          <p:cNvSpPr/>
          <p:nvPr/>
        </p:nvSpPr>
        <p:spPr>
          <a:xfrm>
            <a:off x="3543891" y="6352765"/>
            <a:ext cx="510421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>
                <a:hlinkClick r:id="rId3"/>
              </a:rPr>
              <a:t>https://wandbox.org/permlink/BA36QTz5AhEHY2XN</a:t>
            </a:r>
            <a:endParaRPr lang="ru-RU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9D52D06-AB59-472C-9389-A671FE26FE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96400" y="126122"/>
            <a:ext cx="2322258" cy="22963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67931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4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4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6" grpId="1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0692E88-E6EC-DF83-4389-3B6A010542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Константные методы класса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374962B-4BDB-80FE-EB96-E5FB83DAB3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207156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Константные методы</a:t>
            </a:r>
          </a:p>
        </p:txBody>
      </p:sp>
      <p:sp>
        <p:nvSpPr>
          <p:cNvPr id="32771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dirty="0"/>
              <a:t>Константный метод — это метод, который гарантирует, что состояние объекта не изменяется.</a:t>
            </a:r>
          </a:p>
          <a:p>
            <a:r>
              <a:rPr lang="ru-RU" dirty="0"/>
              <a:t>Объявление:</a:t>
            </a:r>
          </a:p>
          <a:p>
            <a:pPr lvl="1"/>
            <a:r>
              <a:rPr lang="ru-RU" dirty="0" err="1"/>
              <a:t>double</a:t>
            </a:r>
            <a:r>
              <a:rPr lang="ru-RU" dirty="0"/>
              <a:t> </a:t>
            </a:r>
            <a:r>
              <a:rPr lang="ru-RU" dirty="0" err="1"/>
              <a:t>GetRadius</a:t>
            </a:r>
            <a:r>
              <a:rPr lang="ru-RU" dirty="0"/>
              <a:t>() </a:t>
            </a:r>
            <a:r>
              <a:rPr lang="ru-RU" b="1" dirty="0" err="1">
                <a:solidFill>
                  <a:srgbClr val="FF0000"/>
                </a:solidFill>
              </a:rPr>
              <a:t>const</a:t>
            </a:r>
            <a:r>
              <a:rPr lang="ru-RU" dirty="0"/>
              <a:t>;</a:t>
            </a:r>
          </a:p>
          <a:p>
            <a:r>
              <a:rPr lang="ru-RU" dirty="0"/>
              <a:t>Внутри </a:t>
            </a:r>
            <a:r>
              <a:rPr lang="ru-RU" dirty="0" err="1"/>
              <a:t>const</a:t>
            </a:r>
            <a:r>
              <a:rPr lang="ru-RU" dirty="0"/>
              <a:t>-метода запрещено:</a:t>
            </a:r>
          </a:p>
          <a:p>
            <a:pPr lvl="1"/>
            <a:r>
              <a:rPr lang="ru-RU" dirty="0"/>
              <a:t>изменять поля объекта</a:t>
            </a:r>
          </a:p>
          <a:p>
            <a:pPr lvl="1"/>
            <a:r>
              <a:rPr lang="ru-RU" dirty="0"/>
              <a:t>вызывать </a:t>
            </a:r>
            <a:r>
              <a:rPr lang="ru-RU" dirty="0" err="1"/>
              <a:t>неконстантные</a:t>
            </a:r>
            <a:r>
              <a:rPr lang="ru-RU" dirty="0"/>
              <a:t> методы текущего объекта</a:t>
            </a:r>
          </a:p>
          <a:p>
            <a:pPr lvl="1"/>
            <a:r>
              <a:rPr lang="ru-RU" dirty="0"/>
              <a:t>вызывать у его полей </a:t>
            </a:r>
            <a:r>
              <a:rPr lang="ru-RU" dirty="0" err="1"/>
              <a:t>неконстантные</a:t>
            </a:r>
            <a:r>
              <a:rPr lang="ru-RU" dirty="0"/>
              <a:t> методы</a:t>
            </a:r>
          </a:p>
          <a:p>
            <a:pPr lvl="1"/>
            <a:r>
              <a:rPr lang="ru-RU" dirty="0"/>
              <a:t>передавать поля объекта в функции, принимающие </a:t>
            </a:r>
            <a:r>
              <a:rPr lang="ru-RU" dirty="0" err="1"/>
              <a:t>неконстантную</a:t>
            </a:r>
            <a:r>
              <a:rPr lang="ru-RU" dirty="0"/>
              <a:t> ссылку</a:t>
            </a:r>
          </a:p>
          <a:p>
            <a:r>
              <a:rPr lang="ru-RU" dirty="0"/>
              <a:t>Важно:</a:t>
            </a:r>
          </a:p>
          <a:p>
            <a:pPr lvl="1"/>
            <a:r>
              <a:rPr lang="ru-RU" dirty="0"/>
              <a:t>у </a:t>
            </a:r>
            <a:r>
              <a:rPr lang="ru-RU" dirty="0" err="1"/>
              <a:t>const</a:t>
            </a:r>
            <a:r>
              <a:rPr lang="ru-RU" dirty="0"/>
              <a:t>-объектов можно вызывать только </a:t>
            </a:r>
            <a:r>
              <a:rPr lang="ru-RU" dirty="0" err="1"/>
              <a:t>const</a:t>
            </a:r>
            <a:r>
              <a:rPr lang="ru-RU" dirty="0"/>
              <a:t>-методы</a:t>
            </a:r>
          </a:p>
          <a:p>
            <a:pPr lvl="1"/>
            <a:r>
              <a:rPr lang="ru-RU" dirty="0"/>
              <a:t>то же самое относится к объектам, доступным через </a:t>
            </a:r>
            <a:r>
              <a:rPr lang="ru-RU" dirty="0" err="1"/>
              <a:t>const</a:t>
            </a:r>
            <a:r>
              <a:rPr lang="ru-RU" dirty="0"/>
              <a:t>-ссылку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7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277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7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277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7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277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7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277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7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277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7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277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7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277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7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277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7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277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71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2771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71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2771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771" grpId="0" build="p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CAEC119-C037-44F7-8F2F-53948774BB52}"/>
              </a:ext>
            </a:extLst>
          </p:cNvPr>
          <p:cNvSpPr/>
          <p:nvPr/>
        </p:nvSpPr>
        <p:spPr>
          <a:xfrm>
            <a:off x="119336" y="116632"/>
            <a:ext cx="11737304" cy="618630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class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Circle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{</a:t>
            </a:r>
          </a:p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: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SetRadius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double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 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m_radius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}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double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GetRadius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 </a:t>
            </a:r>
            <a:r>
              <a:rPr lang="de-DE" b="1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{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m_radius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 }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double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GetArea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 </a:t>
            </a:r>
            <a:r>
              <a:rPr lang="de-DE" b="1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{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numbers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pi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*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m_radius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*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m_radius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 }</a:t>
            </a: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private: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double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m_radius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 = 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};</a:t>
            </a: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PrintCircle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Circle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c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 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cout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radius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="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c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GetRadius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", 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area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="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c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GetArea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endl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</a:t>
            </a: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main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Circle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c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c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SetRadius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10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PrintCircle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c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BC9CD8A-44D9-49C1-8456-1A184B2E777E}"/>
              </a:ext>
            </a:extLst>
          </p:cNvPr>
          <p:cNvSpPr/>
          <p:nvPr/>
        </p:nvSpPr>
        <p:spPr>
          <a:xfrm>
            <a:off x="3543891" y="6352765"/>
            <a:ext cx="490499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de-DE" dirty="0">
                <a:hlinkClick r:id="rId3"/>
              </a:rPr>
              <a:t>https://wandbox.org/permlink/1jrbrx0sZ2Onh9Wi</a:t>
            </a:r>
            <a:endParaRPr lang="ru-RU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CE6E126-94F0-4CFC-A5D7-AB9458BFEF5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96400" y="4450709"/>
            <a:ext cx="2254146" cy="22963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85402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9D0901-316D-4223-A006-2AA8D4FBA4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Физическая и логическая константность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4EC64FE-50DE-488A-9A29-1CBF8FB6DC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-RU" b="1" dirty="0"/>
              <a:t>Физическая константность</a:t>
            </a:r>
            <a:endParaRPr lang="ru-RU" dirty="0"/>
          </a:p>
          <a:p>
            <a:pPr lvl="1"/>
            <a:r>
              <a:rPr lang="ru-RU" dirty="0"/>
              <a:t>объект объявлен как </a:t>
            </a:r>
            <a:r>
              <a:rPr lang="ru-RU" b="1" dirty="0" err="1"/>
              <a:t>const</a:t>
            </a:r>
            <a:endParaRPr lang="ru-RU" dirty="0"/>
          </a:p>
          <a:p>
            <a:pPr lvl="1"/>
            <a:r>
              <a:rPr lang="ru-RU" dirty="0"/>
              <a:t>его </a:t>
            </a:r>
            <a:r>
              <a:rPr lang="ru-RU" b="1" dirty="0"/>
              <a:t>данные не изменяются</a:t>
            </a:r>
            <a:endParaRPr lang="ru-RU" dirty="0"/>
          </a:p>
          <a:p>
            <a:pPr lvl="1"/>
            <a:r>
              <a:rPr lang="ru-RU" dirty="0"/>
              <a:t>компилятор запрещает изменение полей объекта</a:t>
            </a:r>
          </a:p>
          <a:p>
            <a:r>
              <a:rPr lang="ru-RU" b="1" dirty="0"/>
              <a:t>Логическая константность</a:t>
            </a:r>
            <a:endParaRPr lang="ru-RU" dirty="0"/>
          </a:p>
          <a:p>
            <a:pPr lvl="1"/>
            <a:r>
              <a:rPr lang="ru-RU" dirty="0"/>
              <a:t>с точки зрения пользователя состояние объекта не меняется</a:t>
            </a:r>
          </a:p>
          <a:p>
            <a:pPr lvl="1"/>
            <a:r>
              <a:rPr lang="ru-RU" dirty="0"/>
              <a:t>внутренние данные могут изменяться</a:t>
            </a:r>
          </a:p>
          <a:p>
            <a:pPr lvl="1"/>
            <a:r>
              <a:rPr lang="ru-RU" dirty="0"/>
              <a:t>используется, например, для кэширования вычислений</a:t>
            </a:r>
          </a:p>
          <a:p>
            <a:r>
              <a:rPr lang="ru-RU" b="1" dirty="0"/>
              <a:t>Идея:</a:t>
            </a:r>
          </a:p>
          <a:p>
            <a:pPr lvl="1"/>
            <a:r>
              <a:rPr lang="ru-RU" dirty="0"/>
              <a:t>внешнее поведение объекта остаётся неизменным,</a:t>
            </a:r>
          </a:p>
          <a:p>
            <a:pPr lvl="1"/>
            <a:r>
              <a:rPr lang="ru-RU" dirty="0"/>
              <a:t>даже если </a:t>
            </a:r>
            <a:r>
              <a:rPr lang="ru-RU" b="1" dirty="0"/>
              <a:t>внутри происходят служебные изменения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78602029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D7E9E4-CAAD-86A8-5079-C28EBE44DF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Логическая константность и кеширование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A4C4F5-0468-E2C4-DEA7-9CFD41FA38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113784" cy="4351338"/>
          </a:xfrm>
        </p:spPr>
        <p:txBody>
          <a:bodyPr/>
          <a:lstStyle/>
          <a:p>
            <a:r>
              <a:rPr lang="ru-RU" dirty="0"/>
              <a:t>Иногда метод </a:t>
            </a:r>
            <a:r>
              <a:rPr lang="ru-RU" b="1" dirty="0"/>
              <a:t>логически не изменяет объект</a:t>
            </a:r>
            <a:r>
              <a:rPr lang="ru-RU" dirty="0"/>
              <a:t>, но хочет </a:t>
            </a:r>
            <a:r>
              <a:rPr lang="ru-RU" b="1" dirty="0"/>
              <a:t>сохранить промежуточный результат</a:t>
            </a:r>
            <a:r>
              <a:rPr lang="ru-RU" dirty="0"/>
              <a:t>.</a:t>
            </a:r>
          </a:p>
          <a:p>
            <a:r>
              <a:rPr lang="ru-RU" dirty="0"/>
              <a:t>Пример — вычисление площади многоугольника.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05DB23B-D30D-0EB5-1F36-008CAF12DD9A}"/>
              </a:ext>
            </a:extLst>
          </p:cNvPr>
          <p:cNvSpPr txBox="1"/>
          <p:nvPr/>
        </p:nvSpPr>
        <p:spPr>
          <a:xfrm>
            <a:off x="6117561" y="1825625"/>
            <a:ext cx="6074439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Poin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x, y;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Polygon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GetArea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(!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m_area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m_area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74531F"/>
                </a:solidFill>
                <a:latin typeface="Consolas" panose="020B0609020204030204" pitchFamily="49" charset="0"/>
              </a:rPr>
              <a:t>ComputeArea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m_area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ate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    double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74531F"/>
                </a:solidFill>
                <a:latin typeface="Consolas" panose="020B0609020204030204" pitchFamily="49" charset="0"/>
              </a:rPr>
              <a:t>ComputeArea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()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{</a:t>
            </a: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</a:rPr>
              <a:t>/* … */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std::vector&lt;Point&gt;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m_points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std::optional&lt;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m_area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к</a:t>
            </a:r>
            <a:r>
              <a:rPr lang="ru-RU" sz="1600" dirty="0">
                <a:solidFill>
                  <a:srgbClr val="008000"/>
                </a:solidFill>
                <a:latin typeface="Consolas" panose="020B0609020204030204" pitchFamily="49" charset="0"/>
              </a:rPr>
              <a:t>е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ш площади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24743757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3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0" dur="2000" fill="hold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1F1F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ru-RU" dirty="0"/>
              <a:t>Изменяемые (</a:t>
            </a:r>
            <a:r>
              <a:rPr lang="en-US" dirty="0"/>
              <a:t>mutable)</a:t>
            </a:r>
            <a:r>
              <a:rPr lang="ru-RU" dirty="0"/>
              <a:t> поля класса</a:t>
            </a:r>
          </a:p>
        </p:txBody>
      </p:sp>
      <p:sp>
        <p:nvSpPr>
          <p:cNvPr id="35843" name="Rectangle 3"/>
          <p:cNvSpPr>
            <a:spLocks noGrp="1" noChangeArrowheads="1"/>
          </p:cNvSpPr>
          <p:nvPr>
            <p:ph idx="1"/>
          </p:nvPr>
        </p:nvSpPr>
        <p:spPr>
          <a:xfrm>
            <a:off x="838200" y="1825625"/>
            <a:ext cx="6265912" cy="4351338"/>
          </a:xfrm>
        </p:spPr>
        <p:txBody>
          <a:bodyPr>
            <a:normAutofit fontScale="92500" lnSpcReduction="10000"/>
          </a:bodyPr>
          <a:lstStyle/>
          <a:p>
            <a:r>
              <a:rPr lang="ru-RU" dirty="0" err="1">
                <a:solidFill>
                  <a:srgbClr val="FF0000"/>
                </a:solidFill>
                <a:latin typeface="Consolas" panose="020B0609020204030204" pitchFamily="49" charset="0"/>
              </a:rPr>
              <a:t>mutable</a:t>
            </a:r>
            <a:r>
              <a:rPr lang="ru-RU" dirty="0"/>
              <a:t> — спецификатор, позволяющий изменять поле даже в </a:t>
            </a:r>
            <a:r>
              <a:rPr lang="ru-RU" dirty="0" err="1"/>
              <a:t>const</a:t>
            </a:r>
            <a:r>
              <a:rPr lang="ru-RU" dirty="0"/>
              <a:t>-объекте</a:t>
            </a:r>
          </a:p>
          <a:p>
            <a:r>
              <a:rPr lang="ru-RU" dirty="0"/>
              <a:t>Особенности:</a:t>
            </a:r>
          </a:p>
          <a:p>
            <a:pPr lvl="1"/>
            <a:r>
              <a:rPr lang="ru-RU" dirty="0" err="1"/>
              <a:t>mutable</a:t>
            </a:r>
            <a:r>
              <a:rPr lang="ru-RU" dirty="0"/>
              <a:t>-поле можно изменять внутри </a:t>
            </a:r>
            <a:r>
              <a:rPr lang="ru-RU" dirty="0" err="1"/>
              <a:t>const</a:t>
            </a:r>
            <a:r>
              <a:rPr lang="ru-RU" dirty="0"/>
              <a:t>-методов</a:t>
            </a:r>
          </a:p>
          <a:p>
            <a:pPr lvl="1"/>
            <a:r>
              <a:rPr lang="ru-RU" dirty="0"/>
              <a:t>такие поля не считаются частью логического состояния объекта</a:t>
            </a:r>
          </a:p>
          <a:p>
            <a:pPr lvl="1"/>
            <a:r>
              <a:rPr lang="ru-RU" dirty="0"/>
              <a:t>используются для служебных данных</a:t>
            </a:r>
          </a:p>
          <a:p>
            <a:r>
              <a:rPr lang="ru-RU" dirty="0"/>
              <a:t>Типичные применения:</a:t>
            </a:r>
          </a:p>
          <a:p>
            <a:pPr lvl="1"/>
            <a:r>
              <a:rPr lang="ru-RU" dirty="0"/>
              <a:t>кэширование вычисленных значений</a:t>
            </a:r>
          </a:p>
          <a:p>
            <a:pPr lvl="1"/>
            <a:r>
              <a:rPr lang="ru-RU" dirty="0"/>
              <a:t>ленивые вычисления</a:t>
            </a:r>
          </a:p>
          <a:p>
            <a:pPr lvl="1"/>
            <a:r>
              <a:rPr lang="ru-RU" dirty="0"/>
              <a:t>мьютексы и синхронизация</a:t>
            </a:r>
          </a:p>
          <a:p>
            <a:endParaRPr lang="ru-RU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17F5C82-D6E7-9EAF-88C7-A56932D1A5A2}"/>
              </a:ext>
            </a:extLst>
          </p:cNvPr>
          <p:cNvSpPr txBox="1"/>
          <p:nvPr/>
        </p:nvSpPr>
        <p:spPr>
          <a:xfrm>
            <a:off x="7320136" y="1825625"/>
            <a:ext cx="4871864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Polygon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GetArea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(!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m_area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m_area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74531F"/>
                </a:solidFill>
                <a:latin typeface="Consolas" panose="020B0609020204030204" pitchFamily="49" charset="0"/>
              </a:rPr>
              <a:t>ComputeArea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m_area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ate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    double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74531F"/>
                </a:solidFill>
                <a:latin typeface="Consolas" panose="020B0609020204030204" pitchFamily="49" charset="0"/>
              </a:rPr>
              <a:t>ComputeArea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()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{</a:t>
            </a: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</a:rPr>
              <a:t>/* … */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std::vector&lt;Point&gt;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m_points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mutable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std::optional&lt;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m_area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4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584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4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584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4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584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4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584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4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584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4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584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4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584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4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584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4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584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843" grpId="0" build="p"/>
      <p:bldP spid="4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3205E9F7-6BDA-8C9B-ED18-213995522AA9}"/>
              </a:ext>
            </a:extLst>
          </p:cNvPr>
          <p:cNvSpPr txBox="1"/>
          <p:nvPr/>
        </p:nvSpPr>
        <p:spPr>
          <a:xfrm>
            <a:off x="0" y="0"/>
            <a:ext cx="12192000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GetHash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dirty="0">
                <a:solidFill>
                  <a:srgbClr val="8F08C4"/>
                </a:solidFill>
                <a:latin typeface="Consolas" panose="020B0609020204030204" pitchFamily="49" charset="0"/>
              </a:rPr>
              <a:t>return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hash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&lt;std::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{}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PasswordCracker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CrackPassword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hash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maxChars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prefix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CrackPassword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prefix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hash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maxChars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CrackPassword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prefix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hash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maxChars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GetHash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prefix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==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hash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      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prefix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Пароль найден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}</a:t>
            </a:r>
          </a:p>
          <a:p>
            <a:pPr>
              <a:buNone/>
            </a:pP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6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maxChars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==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{};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Пароль не найден, перебор закончен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ch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ch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&lt;=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Z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++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ch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prefix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+=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ch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pass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CrackPassword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prefix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hash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maxChars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-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 !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pass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empty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 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pass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sz="16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prefix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pop_back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}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{};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30314052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6" end="2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8">
                                            <p:txEl>
                                              <p:pRg st="26" end="2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8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8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8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8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8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8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8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8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8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8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8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8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8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976281F-801C-63F9-4610-C63CAB7196A6}"/>
              </a:ext>
            </a:extLst>
          </p:cNvPr>
          <p:cNvSpPr txBox="1"/>
          <p:nvPr/>
        </p:nvSpPr>
        <p:spPr>
          <a:xfrm>
            <a:off x="838200" y="2051924"/>
            <a:ext cx="11361118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using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Clock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std::chrono::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high_resolution_clock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using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Seconds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std::chrono::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duration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&gt;;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PasswordCracker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cracker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start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Clock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now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password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cracker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CrackPassword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GetHash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HELLO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end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Clock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now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(!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password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empty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Cracked password: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password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Time elapsed: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Seconds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end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-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start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).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count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Failed to crack password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A5D103E-161A-AE79-DDFF-D63C04FDC3A1}"/>
              </a:ext>
            </a:extLst>
          </p:cNvPr>
          <p:cNvSpPr txBox="1"/>
          <p:nvPr/>
        </p:nvSpPr>
        <p:spPr>
          <a:xfrm>
            <a:off x="8544272" y="5966916"/>
            <a:ext cx="3456384" cy="646331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Cracked password: HELLO</a:t>
            </a:r>
          </a:p>
          <a:p>
            <a:r>
              <a:rPr lang="en-US" dirty="0">
                <a:latin typeface="Consolas" panose="020B0609020204030204" pitchFamily="49" charset="0"/>
              </a:rPr>
              <a:t>Time elapsed: 0.018406s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0750C1D4-B7CC-24D9-BA82-7494FC9DF3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err="1"/>
              <a:t>Брутфорсим</a:t>
            </a:r>
            <a:r>
              <a:rPr lang="ru-RU" dirty="0"/>
              <a:t> пароли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476891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07ADD65-3209-C9B6-7018-190A7BD77E29}"/>
              </a:ext>
            </a:extLst>
          </p:cNvPr>
          <p:cNvSpPr txBox="1"/>
          <p:nvPr/>
        </p:nvSpPr>
        <p:spPr>
          <a:xfrm>
            <a:off x="0" y="0"/>
            <a:ext cx="12192000" cy="69249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PasswordCracker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CrackPassword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hash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maxChars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600" b="1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6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600" b="1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sz="16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it</a:t>
            </a:r>
            <a:r>
              <a:rPr lang="en-US" sz="16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1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m_passwordCache.</a:t>
            </a:r>
            <a:r>
              <a:rPr lang="en-US" sz="1600" b="1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find</a:t>
            </a:r>
            <a:r>
              <a:rPr lang="en-US" sz="16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1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hash</a:t>
            </a:r>
            <a:r>
              <a:rPr lang="en-US" sz="16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 </a:t>
            </a:r>
            <a:r>
              <a:rPr lang="en-US" sz="1600" b="1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it</a:t>
            </a:r>
            <a:r>
              <a:rPr lang="en-US" sz="16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!= </a:t>
            </a:r>
            <a:r>
              <a:rPr lang="en-US" sz="1600" b="1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m_passwordCache.</a:t>
            </a:r>
            <a:r>
              <a:rPr lang="en-US" sz="1600" b="1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end</a:t>
            </a:r>
            <a:r>
              <a:rPr lang="en-US" sz="16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</a:t>
            </a:r>
          </a:p>
          <a:p>
            <a:pPr>
              <a:buNone/>
            </a:pPr>
            <a:r>
              <a:rPr lang="en-US" sz="16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sz="1600" b="1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it</a:t>
            </a:r>
            <a:r>
              <a:rPr lang="en-US" sz="16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-&gt;second;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prefix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CrackPassword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prefix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hash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maxChars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CrackPassword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prefix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hash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maxChars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GetHash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prefix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==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hash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sz="1600" b="1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m_passwordCache.</a:t>
            </a:r>
            <a:r>
              <a:rPr lang="en-US" sz="1600" b="1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emplace</a:t>
            </a:r>
            <a:r>
              <a:rPr lang="en-US" sz="16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1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hash</a:t>
            </a:r>
            <a:r>
              <a:rPr lang="en-US" sz="16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1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prefix</a:t>
            </a:r>
            <a:r>
              <a:rPr lang="en-US" sz="16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prefix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Пароль найден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}</a:t>
            </a:r>
          </a:p>
          <a:p>
            <a:pPr>
              <a:buNone/>
            </a:pP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6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maxChars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==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{};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Пароль не найден, перебор закончен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ch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ch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&lt;=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Z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++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ch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prefix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+=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ch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pass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CrackPassword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prefix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hash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maxChars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-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 !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pass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empty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 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pass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sz="16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prefix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pop_back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}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{};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sz="1600" b="1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mutable</a:t>
            </a:r>
            <a:r>
              <a:rPr lang="en-US" sz="16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sz="1600" b="1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unordered_map</a:t>
            </a:r>
            <a:r>
              <a:rPr lang="en-US" sz="16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1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sz="16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std::</a:t>
            </a:r>
            <a:r>
              <a:rPr lang="en-US" sz="1600" b="1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6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sz="1600" b="1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m_passwordCache</a:t>
            </a:r>
            <a:r>
              <a:rPr lang="en-US" sz="16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C0FB71D-D5A1-EF2B-73F4-67011A749B3B}"/>
              </a:ext>
            </a:extLst>
          </p:cNvPr>
          <p:cNvSpPr txBox="1"/>
          <p:nvPr/>
        </p:nvSpPr>
        <p:spPr>
          <a:xfrm>
            <a:off x="8256240" y="5877272"/>
            <a:ext cx="3791744" cy="646331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Cracked password: HELLO</a:t>
            </a:r>
          </a:p>
          <a:p>
            <a:r>
              <a:rPr lang="en-US" dirty="0">
                <a:latin typeface="Consolas" panose="020B0609020204030204" pitchFamily="49" charset="0"/>
              </a:rPr>
              <a:t>Time elapsed: 1e-07s</a:t>
            </a:r>
          </a:p>
        </p:txBody>
      </p:sp>
    </p:spTree>
    <p:extLst>
      <p:ext uri="{BB962C8B-B14F-4D97-AF65-F5344CB8AC3E}">
        <p14:creationId xmlns:p14="http://schemas.microsoft.com/office/powerpoint/2010/main" val="39073762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6CE37F2-53A8-419B-A630-7A56AAB9A0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Используйте </a:t>
            </a:r>
            <a:r>
              <a:rPr lang="en-US" dirty="0"/>
              <a:t>mutable-</a:t>
            </a:r>
            <a:r>
              <a:rPr lang="ru-RU" dirty="0"/>
              <a:t>поля аккуратно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09D925F-7C91-48B7-8212-407908C8AA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ru-RU" dirty="0" err="1"/>
              <a:t>mutable</a:t>
            </a:r>
            <a:r>
              <a:rPr lang="ru-RU" dirty="0"/>
              <a:t> позволяет изменять поле даже у </a:t>
            </a:r>
            <a:r>
              <a:rPr lang="ru-RU" dirty="0" err="1"/>
              <a:t>const</a:t>
            </a:r>
            <a:r>
              <a:rPr lang="ru-RU" dirty="0"/>
              <a:t>-объекта.</a:t>
            </a:r>
          </a:p>
          <a:p>
            <a:r>
              <a:rPr lang="ru-RU" dirty="0"/>
              <a:t>Когда использовать:</a:t>
            </a:r>
          </a:p>
          <a:p>
            <a:pPr lvl="1"/>
            <a:r>
              <a:rPr lang="ru-RU" dirty="0"/>
              <a:t>для поддержания логической константности</a:t>
            </a:r>
          </a:p>
          <a:p>
            <a:pPr lvl="1"/>
            <a:r>
              <a:rPr lang="ru-RU" dirty="0"/>
              <a:t>для кэширования результатов</a:t>
            </a:r>
          </a:p>
          <a:p>
            <a:pPr lvl="1"/>
            <a:r>
              <a:rPr lang="ru-RU" dirty="0"/>
              <a:t>для служебных данных (например, мьютексов)</a:t>
            </a:r>
          </a:p>
          <a:p>
            <a:r>
              <a:rPr lang="ru-RU" dirty="0"/>
              <a:t>Важно:</a:t>
            </a:r>
          </a:p>
          <a:p>
            <a:pPr lvl="1"/>
            <a:r>
              <a:rPr lang="ru-RU" dirty="0"/>
              <a:t>изменение </a:t>
            </a:r>
            <a:r>
              <a:rPr lang="ru-RU" dirty="0" err="1"/>
              <a:t>mutable</a:t>
            </a:r>
            <a:r>
              <a:rPr lang="ru-RU" dirty="0"/>
              <a:t>-полей не должно менять наблюдаемое состояние объекта</a:t>
            </a:r>
          </a:p>
          <a:p>
            <a:pPr lvl="1"/>
            <a:r>
              <a:rPr lang="ru-RU" dirty="0" err="1"/>
              <a:t>const</a:t>
            </a:r>
            <a:r>
              <a:rPr lang="ru-RU" dirty="0"/>
              <a:t>-интерфейс класса должен оставаться логически неизменным</a:t>
            </a:r>
          </a:p>
          <a:p>
            <a:r>
              <a:rPr lang="ru-RU" dirty="0"/>
              <a:t>Замечание о компиляторе</a:t>
            </a:r>
          </a:p>
          <a:p>
            <a:pPr lvl="1"/>
            <a:r>
              <a:rPr lang="ru-RU" dirty="0"/>
              <a:t>компилятор знает, есть ли у класса </a:t>
            </a:r>
            <a:r>
              <a:rPr lang="ru-RU" dirty="0" err="1"/>
              <a:t>mutable</a:t>
            </a:r>
            <a:r>
              <a:rPr lang="ru-RU" dirty="0"/>
              <a:t>-поля</a:t>
            </a:r>
          </a:p>
          <a:p>
            <a:pPr lvl="1"/>
            <a:r>
              <a:rPr lang="ru-RU" dirty="0"/>
              <a:t>поэтому даже глобальный </a:t>
            </a:r>
            <a:r>
              <a:rPr lang="ru-RU" dirty="0" err="1"/>
              <a:t>const</a:t>
            </a:r>
            <a:r>
              <a:rPr lang="ru-RU" dirty="0"/>
              <a:t>-объект такого класса может быть размещён в RW-памяти, а не в </a:t>
            </a:r>
            <a:r>
              <a:rPr lang="ru-RU" dirty="0" err="1"/>
              <a:t>read-only</a:t>
            </a:r>
            <a:r>
              <a:rPr lang="ru-RU" dirty="0"/>
              <a:t> сегменте</a:t>
            </a:r>
          </a:p>
        </p:txBody>
      </p:sp>
    </p:spTree>
    <p:extLst>
      <p:ext uri="{BB962C8B-B14F-4D97-AF65-F5344CB8AC3E}">
        <p14:creationId xmlns:p14="http://schemas.microsoft.com/office/powerpoint/2010/main" val="216554316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E72DA0E0-F245-40ED-A8EE-A4483F669452}"/>
              </a:ext>
            </a:extLst>
          </p:cNvPr>
          <p:cNvSpPr/>
          <p:nvPr/>
        </p:nvSpPr>
        <p:spPr>
          <a:xfrm>
            <a:off x="0" y="0"/>
            <a:ext cx="5447928" cy="60016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class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267F99"/>
                </a:solidFill>
                <a:latin typeface="Consolas" panose="020B0609020204030204" pitchFamily="49" charset="0"/>
              </a:rPr>
              <a:t>Mutable</a:t>
            </a:r>
            <a:endParaRPr lang="de-DE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de-DE" sz="1600" dirty="0">
                <a:solidFill>
                  <a:srgbClr val="0000FF"/>
                </a:solidFill>
                <a:latin typeface="Consolas" panose="020B0609020204030204" pitchFamily="49" charset="0"/>
              </a:rPr>
              <a:t>:</a:t>
            </a:r>
            <a:endParaRPr lang="de-DE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</a:t>
            </a: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795E26"/>
                </a:solidFill>
                <a:latin typeface="Consolas" panose="020B0609020204030204" pitchFamily="49" charset="0"/>
              </a:rPr>
              <a:t>GetValue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() </a:t>
            </a: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endParaRPr lang="de-DE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{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600" dirty="0" err="1">
                <a:solidFill>
                  <a:srgbClr val="AF00DB"/>
                </a:solidFill>
                <a:latin typeface="Consolas" panose="020B0609020204030204" pitchFamily="49" charset="0"/>
              </a:rPr>
              <a:t>if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(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m_value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==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-</a:t>
            </a:r>
            <a:r>
              <a:rPr lang="de-DE" sz="1600" dirty="0">
                <a:solidFill>
                  <a:srgbClr val="098658"/>
                </a:solidFill>
                <a:latin typeface="Consolas" panose="020B0609020204030204" pitchFamily="49" charset="0"/>
              </a:rPr>
              <a:t>1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{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  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m_value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098658"/>
                </a:solidFill>
                <a:latin typeface="Consolas" panose="020B0609020204030204" pitchFamily="49" charset="0"/>
              </a:rPr>
              <a:t>42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}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600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m_value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}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</a:t>
            </a: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795E26"/>
                </a:solidFill>
                <a:latin typeface="Consolas" panose="020B0609020204030204" pitchFamily="49" charset="0"/>
              </a:rPr>
              <a:t>GetCounter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() </a:t>
            </a: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{ </a:t>
            </a:r>
            <a:r>
              <a:rPr lang="de-DE" sz="1600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m_counter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; }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</a:t>
            </a: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795E26"/>
                </a:solidFill>
                <a:latin typeface="Consolas" panose="020B0609020204030204" pitchFamily="49" charset="0"/>
              </a:rPr>
              <a:t>Change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()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{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cout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A31515"/>
                </a:solidFill>
                <a:latin typeface="Consolas" panose="020B0609020204030204" pitchFamily="49" charset="0"/>
              </a:rPr>
              <a:t>"Enter Mutable::Change"</a:t>
            </a:r>
            <a:endParaRPr lang="de-DE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             </a:t>
            </a:r>
            <a:r>
              <a:rPr lang="de-DE" sz="1600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600" dirty="0" err="1">
                <a:solidFill>
                  <a:srgbClr val="795E26"/>
                </a:solidFill>
                <a:latin typeface="Consolas" panose="020B0609020204030204" pitchFamily="49" charset="0"/>
              </a:rPr>
              <a:t>endl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++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m_counter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cout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A31515"/>
                </a:solidFill>
                <a:latin typeface="Consolas" panose="020B0609020204030204" pitchFamily="49" charset="0"/>
              </a:rPr>
              <a:t>"Exit Mutable::Change"</a:t>
            </a:r>
          </a:p>
          <a:p>
            <a:r>
              <a:rPr lang="de-DE" sz="1600" dirty="0">
                <a:solidFill>
                  <a:srgbClr val="A31515"/>
                </a:solidFill>
                <a:latin typeface="Consolas" panose="020B0609020204030204" pitchFamily="49" charset="0"/>
              </a:rPr>
              <a:t>              </a:t>
            </a:r>
            <a:r>
              <a:rPr lang="de-DE" sz="1600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600" dirty="0" err="1">
                <a:solidFill>
                  <a:srgbClr val="795E26"/>
                </a:solidFill>
                <a:latin typeface="Consolas" panose="020B0609020204030204" pitchFamily="49" charset="0"/>
              </a:rPr>
              <a:t>endl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}</a:t>
            </a:r>
            <a:b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sz="1600" dirty="0">
                <a:solidFill>
                  <a:srgbClr val="0000FF"/>
                </a:solidFill>
                <a:latin typeface="Consolas" panose="020B0609020204030204" pitchFamily="49" charset="0"/>
              </a:rPr>
              <a:t>private:</a:t>
            </a:r>
            <a:endParaRPr lang="de-DE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  </a:t>
            </a:r>
            <a:r>
              <a:rPr lang="de-DE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mutable</a:t>
            </a:r>
            <a:r>
              <a:rPr lang="de-DE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b="1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b="1" dirty="0" err="1">
                <a:solidFill>
                  <a:srgbClr val="001080"/>
                </a:solidFill>
                <a:latin typeface="Consolas" panose="020B0609020204030204" pitchFamily="49" charset="0"/>
              </a:rPr>
              <a:t>m_value</a:t>
            </a:r>
            <a:r>
              <a:rPr lang="de-DE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-</a:t>
            </a:r>
            <a:r>
              <a:rPr lang="de-DE" sz="1600" b="1" dirty="0">
                <a:solidFill>
                  <a:srgbClr val="098658"/>
                </a:solidFill>
                <a:latin typeface="Consolas" panose="020B0609020204030204" pitchFamily="49" charset="0"/>
              </a:rPr>
              <a:t>1</a:t>
            </a:r>
            <a:r>
              <a:rPr lang="de-DE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</a:t>
            </a: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m_counter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6CEB707-4F4E-44A6-AFA9-54B4552C1052}"/>
              </a:ext>
            </a:extLst>
          </p:cNvPr>
          <p:cNvSpPr/>
          <p:nvPr/>
        </p:nvSpPr>
        <p:spPr>
          <a:xfrm>
            <a:off x="6096000" y="188640"/>
            <a:ext cx="6096000" cy="563231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class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Immutable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: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GetValue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m_value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}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GetCounter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{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m_counter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 }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Change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cout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"Enter 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Immutable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::Change"</a:t>
            </a:r>
          </a:p>
          <a:p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             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endl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++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m_counter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cout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"Exit 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Immutable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::Change"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              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endl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}</a:t>
            </a:r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private: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m_value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42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m_counter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390272740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4522EB0-12B7-4B7E-8A3F-8206C2A4E4B4}"/>
              </a:ext>
            </a:extLst>
          </p:cNvPr>
          <p:cNvSpPr/>
          <p:nvPr/>
        </p:nvSpPr>
        <p:spPr>
          <a:xfrm>
            <a:off x="191344" y="189068"/>
            <a:ext cx="10945216" cy="39703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Mutable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mut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Immutable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immut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main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cout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Immutable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: "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&amp;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immut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 - "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immut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GetValue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endl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cout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  Mutable: "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&amp;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mut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 - "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mut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GetValue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endl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const_cast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Mutable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&amp;&gt;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mut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).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Change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cout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mut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GetCounter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endl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const_cast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Immutable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&amp;&gt;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immut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).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Change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cout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immut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GetCounter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endl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3DF5382-A976-4093-82F0-1FFFCFC4BB81}"/>
              </a:ext>
            </a:extLst>
          </p:cNvPr>
          <p:cNvSpPr/>
          <p:nvPr/>
        </p:nvSpPr>
        <p:spPr>
          <a:xfrm>
            <a:off x="119336" y="4316034"/>
            <a:ext cx="507600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hlinkClick r:id="rId3"/>
              </a:rPr>
              <a:t>https://wandbox.org/permlink/vYlRGmbkmDIHo7sK</a:t>
            </a:r>
            <a:endParaRPr lang="ru-RU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11D3CD8-ACCB-4247-B070-2265B851376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527223" y="4199346"/>
            <a:ext cx="2528299" cy="254353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6F943C20-336E-43CE-BD3C-4CE09C696C37}"/>
              </a:ext>
            </a:extLst>
          </p:cNvPr>
          <p:cNvSpPr/>
          <p:nvPr/>
        </p:nvSpPr>
        <p:spPr>
          <a:xfrm>
            <a:off x="119336" y="4848050"/>
            <a:ext cx="6096000" cy="1569660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>
            <a:spAutoFit/>
          </a:bodyPr>
          <a:lstStyle/>
          <a:p>
            <a:r>
              <a:rPr lang="ru-RU" sz="1600" dirty="0" err="1">
                <a:latin typeface="Consolas" panose="020B0609020204030204" pitchFamily="49" charset="0"/>
              </a:rPr>
              <a:t>Immutable</a:t>
            </a:r>
            <a:r>
              <a:rPr lang="ru-RU" sz="1600" dirty="0">
                <a:latin typeface="Consolas" panose="020B0609020204030204" pitchFamily="49" charset="0"/>
              </a:rPr>
              <a:t>: 0x402038 - 42</a:t>
            </a:r>
          </a:p>
          <a:p>
            <a:r>
              <a:rPr lang="ru-RU" sz="1600" dirty="0">
                <a:latin typeface="Consolas" panose="020B0609020204030204" pitchFamily="49" charset="0"/>
              </a:rPr>
              <a:t>  </a:t>
            </a:r>
            <a:r>
              <a:rPr lang="ru-RU" sz="1600" dirty="0" err="1">
                <a:latin typeface="Consolas" panose="020B0609020204030204" pitchFamily="49" charset="0"/>
              </a:rPr>
              <a:t>Mutable</a:t>
            </a:r>
            <a:r>
              <a:rPr lang="ru-RU" sz="1600" dirty="0">
                <a:latin typeface="Consolas" panose="020B0609020204030204" pitchFamily="49" charset="0"/>
              </a:rPr>
              <a:t>: 0x404050 - 42</a:t>
            </a:r>
          </a:p>
          <a:p>
            <a:r>
              <a:rPr lang="ru-RU" sz="1600" dirty="0">
                <a:latin typeface="Consolas" panose="020B0609020204030204" pitchFamily="49" charset="0"/>
              </a:rPr>
              <a:t>Enter </a:t>
            </a:r>
            <a:r>
              <a:rPr lang="en-US" sz="1600" dirty="0">
                <a:latin typeface="Consolas" panose="020B0609020204030204" pitchFamily="49" charset="0"/>
              </a:rPr>
              <a:t>M</a:t>
            </a:r>
            <a:r>
              <a:rPr lang="ru-RU" sz="1600" dirty="0" err="1">
                <a:latin typeface="Consolas" panose="020B0609020204030204" pitchFamily="49" charset="0"/>
              </a:rPr>
              <a:t>utable</a:t>
            </a:r>
            <a:r>
              <a:rPr lang="ru-RU" sz="1600" dirty="0">
                <a:latin typeface="Consolas" panose="020B0609020204030204" pitchFamily="49" charset="0"/>
              </a:rPr>
              <a:t>::Change</a:t>
            </a:r>
          </a:p>
          <a:p>
            <a:r>
              <a:rPr lang="ru-RU" sz="1600" dirty="0" err="1">
                <a:latin typeface="Consolas" panose="020B0609020204030204" pitchFamily="49" charset="0"/>
              </a:rPr>
              <a:t>Exit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en-US" sz="1600" dirty="0">
                <a:latin typeface="Consolas" panose="020B0609020204030204" pitchFamily="49" charset="0"/>
              </a:rPr>
              <a:t>M</a:t>
            </a:r>
            <a:r>
              <a:rPr lang="ru-RU" sz="1600" dirty="0" err="1">
                <a:latin typeface="Consolas" panose="020B0609020204030204" pitchFamily="49" charset="0"/>
              </a:rPr>
              <a:t>utable</a:t>
            </a:r>
            <a:r>
              <a:rPr lang="ru-RU" sz="1600" dirty="0">
                <a:latin typeface="Consolas" panose="020B0609020204030204" pitchFamily="49" charset="0"/>
              </a:rPr>
              <a:t>::Change</a:t>
            </a:r>
          </a:p>
          <a:p>
            <a:r>
              <a:rPr lang="ru-RU" sz="1600" dirty="0">
                <a:latin typeface="Consolas" panose="020B0609020204030204" pitchFamily="49" charset="0"/>
              </a:rPr>
              <a:t>1</a:t>
            </a:r>
          </a:p>
          <a:p>
            <a:r>
              <a:rPr lang="ru-RU" sz="1600" dirty="0" err="1">
                <a:latin typeface="Consolas" panose="020B0609020204030204" pitchFamily="49" charset="0"/>
              </a:rPr>
              <a:t>Enter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Immutable</a:t>
            </a:r>
            <a:r>
              <a:rPr lang="ru-RU" sz="1600" dirty="0">
                <a:latin typeface="Consolas" panose="020B0609020204030204" pitchFamily="49" charset="0"/>
              </a:rPr>
              <a:t>::</a:t>
            </a:r>
            <a:r>
              <a:rPr lang="ru-RU" sz="1600" dirty="0" err="1">
                <a:latin typeface="Consolas" panose="020B0609020204030204" pitchFamily="49" charset="0"/>
              </a:rPr>
              <a:t>Change</a:t>
            </a:r>
            <a:endParaRPr lang="ru-RU" sz="16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014280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54C2815-12B1-8D56-D4D0-2167114022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Размещение классов в </a:t>
            </a:r>
            <a:r>
              <a:rPr lang="en-US" dirty="0"/>
              <a:t>.h/.</a:t>
            </a:r>
            <a:r>
              <a:rPr lang="en-US" dirty="0" err="1"/>
              <a:t>cpp</a:t>
            </a:r>
            <a:r>
              <a:rPr lang="ru-RU" dirty="0"/>
              <a:t> файлах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5EA7DC7-6B5B-3710-01FE-7E77D6CE21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961559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2"/>
          <p:cNvSpPr>
            <a:spLocks noGrp="1" noChangeArrowheads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ru-RU" dirty="0"/>
              <a:t>Размещение классов в файлах</a:t>
            </a:r>
          </a:p>
        </p:txBody>
      </p:sp>
      <p:sp>
        <p:nvSpPr>
          <p:cNvPr id="17411" name="Rectangle 3"/>
          <p:cNvSpPr>
            <a:spLocks noGrp="1" noChangeArrowheads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ru-RU" dirty="0"/>
              <a:t>В C++ принято разделять объявление и реализацию класса.</a:t>
            </a:r>
          </a:p>
          <a:p>
            <a:pPr lvl="1"/>
            <a:r>
              <a:rPr lang="ru-RU" dirty="0"/>
              <a:t>Заголовочный файл (.h / .</a:t>
            </a:r>
            <a:r>
              <a:rPr lang="ru-RU" dirty="0" err="1"/>
              <a:t>hpp</a:t>
            </a:r>
            <a:r>
              <a:rPr lang="ru-RU" dirty="0"/>
              <a:t>): содержит объявление класса, сигнатуры методов, используемые типы</a:t>
            </a:r>
          </a:p>
          <a:p>
            <a:pPr lvl="1"/>
            <a:r>
              <a:rPr lang="ru-RU" dirty="0"/>
              <a:t>Файл реализации (.</a:t>
            </a:r>
            <a:r>
              <a:rPr lang="ru-RU" dirty="0" err="1"/>
              <a:t>cpp</a:t>
            </a:r>
            <a:r>
              <a:rPr lang="ru-RU" dirty="0"/>
              <a:t>): содержит реализация методов класса</a:t>
            </a:r>
          </a:p>
          <a:p>
            <a:r>
              <a:rPr lang="ru-RU" dirty="0"/>
              <a:t>Преимущества такого подхода:</a:t>
            </a:r>
          </a:p>
          <a:p>
            <a:pPr lvl="1"/>
            <a:r>
              <a:rPr lang="ru-RU" dirty="0"/>
              <a:t>класс легко найти и использовать</a:t>
            </a:r>
          </a:p>
          <a:p>
            <a:pPr lvl="1"/>
            <a:r>
              <a:rPr lang="ru-RU" dirty="0"/>
              <a:t>подключается через</a:t>
            </a:r>
            <a:br>
              <a:rPr lang="ru-RU" dirty="0"/>
            </a:br>
            <a:r>
              <a:rPr lang="ru-RU" dirty="0"/>
              <a:t>#include "</a:t>
            </a:r>
            <a:r>
              <a:rPr lang="ru-RU" dirty="0" err="1"/>
              <a:t>ClassName.h</a:t>
            </a:r>
            <a:r>
              <a:rPr lang="ru-RU" dirty="0"/>
              <a:t>"</a:t>
            </a:r>
          </a:p>
          <a:p>
            <a:pPr lvl="1"/>
            <a:r>
              <a:rPr lang="ru-RU" dirty="0"/>
              <a:t>уменьшает время перекомпиляции — при изменении реализации </a:t>
            </a:r>
            <a:r>
              <a:rPr lang="ru-RU" dirty="0" err="1"/>
              <a:t>пересобираются</a:t>
            </a:r>
            <a:r>
              <a:rPr lang="ru-RU" dirty="0"/>
              <a:t> только нужные файлы</a:t>
            </a:r>
          </a:p>
          <a:p>
            <a:pPr lvl="1"/>
            <a:r>
              <a:rPr lang="ru-RU" dirty="0"/>
              <a:t>улучшает структуру и читаемость проекта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4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74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74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74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74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74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741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741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411" grpId="0" build="p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/>
          <p:cNvSpPr>
            <a:spLocks noGrp="1" noChangeArrowheads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ru-RU" dirty="0"/>
              <a:t>Пример</a:t>
            </a:r>
          </a:p>
        </p:txBody>
      </p:sp>
      <p:sp>
        <p:nvSpPr>
          <p:cNvPr id="24579" name="AutoShape 4"/>
          <p:cNvSpPr>
            <a:spLocks noChangeArrowheads="1"/>
          </p:cNvSpPr>
          <p:nvPr/>
        </p:nvSpPr>
        <p:spPr bwMode="auto">
          <a:xfrm rot="10800000" flipH="1">
            <a:off x="263352" y="2276473"/>
            <a:ext cx="3600400" cy="4216402"/>
          </a:xfrm>
          <a:prstGeom prst="foldedCorner">
            <a:avLst>
              <a:gd name="adj" fmla="val 12500"/>
            </a:avLst>
          </a:prstGeom>
          <a:solidFill>
            <a:schemeClr val="bg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rot="10800000" wrap="none"/>
          <a:lstStyle/>
          <a:p>
            <a:pPr defTabSz="363538"/>
            <a:r>
              <a:rPr lang="en-US" sz="1600" b="1" dirty="0">
                <a:latin typeface="Courier New" pitchFamily="49" charset="0"/>
              </a:rPr>
              <a:t>// </a:t>
            </a:r>
            <a:r>
              <a:rPr lang="en-US" sz="1600" b="1" dirty="0" err="1">
                <a:latin typeface="Courier New" pitchFamily="49" charset="0"/>
              </a:rPr>
              <a:t>Circle.h</a:t>
            </a:r>
            <a:endParaRPr lang="en-US" sz="1600" b="1" dirty="0">
              <a:latin typeface="Courier New" pitchFamily="49" charset="0"/>
            </a:endParaRPr>
          </a:p>
          <a:p>
            <a:pPr defTabSz="363538"/>
            <a:endParaRPr lang="en-US" sz="1600" b="1" dirty="0">
              <a:latin typeface="Courier New" pitchFamily="49" charset="0"/>
            </a:endParaRPr>
          </a:p>
          <a:p>
            <a:pPr defTabSz="363538"/>
            <a:r>
              <a:rPr lang="en-US" sz="1600" b="1" dirty="0">
                <a:latin typeface="Courier New" pitchFamily="49" charset="0"/>
              </a:rPr>
              <a:t>#pragma once</a:t>
            </a:r>
          </a:p>
          <a:p>
            <a:pPr defTabSz="363538"/>
            <a:endParaRPr lang="en-US" sz="1600" b="1" dirty="0">
              <a:latin typeface="Courier New" pitchFamily="49" charset="0"/>
            </a:endParaRPr>
          </a:p>
          <a:p>
            <a:pPr defTabSz="363538"/>
            <a:r>
              <a:rPr lang="en-US" sz="1600" b="1" dirty="0">
                <a:latin typeface="Courier New" pitchFamily="49" charset="0"/>
              </a:rPr>
              <a:t>class Circle</a:t>
            </a:r>
          </a:p>
          <a:p>
            <a:pPr defTabSz="363538"/>
            <a:r>
              <a:rPr lang="en-US" sz="1600" b="1" dirty="0">
                <a:latin typeface="Courier New" pitchFamily="49" charset="0"/>
              </a:rPr>
              <a:t>{</a:t>
            </a:r>
          </a:p>
          <a:p>
            <a:pPr defTabSz="363538"/>
            <a:r>
              <a:rPr lang="en-US" sz="1600" b="1" dirty="0">
                <a:latin typeface="Courier New" pitchFamily="49" charset="0"/>
              </a:rPr>
              <a:t>public:</a:t>
            </a:r>
          </a:p>
          <a:p>
            <a:pPr defTabSz="363538"/>
            <a:r>
              <a:rPr lang="en-US" sz="1600" b="1" dirty="0">
                <a:latin typeface="Courier New" pitchFamily="49" charset="0"/>
              </a:rPr>
              <a:t>	void </a:t>
            </a:r>
            <a:r>
              <a:rPr lang="en-US" sz="1600" b="1" dirty="0" err="1">
                <a:latin typeface="Courier New" pitchFamily="49" charset="0"/>
              </a:rPr>
              <a:t>SetRadius</a:t>
            </a:r>
            <a:r>
              <a:rPr lang="en-US" sz="1600" b="1" dirty="0">
                <a:latin typeface="Courier New" pitchFamily="49" charset="0"/>
              </a:rPr>
              <a:t>(double r);</a:t>
            </a:r>
          </a:p>
          <a:p>
            <a:pPr defTabSz="363538"/>
            <a:r>
              <a:rPr lang="en-US" sz="1600" b="1" dirty="0">
                <a:latin typeface="Courier New" pitchFamily="49" charset="0"/>
              </a:rPr>
              <a:t>	double </a:t>
            </a:r>
            <a:r>
              <a:rPr lang="en-US" sz="1600" b="1" dirty="0" err="1">
                <a:latin typeface="Courier New" pitchFamily="49" charset="0"/>
              </a:rPr>
              <a:t>GetArea</a:t>
            </a:r>
            <a:r>
              <a:rPr lang="en-US" sz="1600" b="1" dirty="0">
                <a:latin typeface="Courier New" pitchFamily="49" charset="0"/>
              </a:rPr>
              <a:t>()const;</a:t>
            </a:r>
          </a:p>
          <a:p>
            <a:pPr defTabSz="363538"/>
            <a:r>
              <a:rPr lang="en-US" sz="1600" b="1" dirty="0">
                <a:latin typeface="Courier New" pitchFamily="49" charset="0"/>
              </a:rPr>
              <a:t>	...</a:t>
            </a:r>
          </a:p>
          <a:p>
            <a:pPr defTabSz="363538"/>
            <a:r>
              <a:rPr lang="en-US" sz="1600" b="1" dirty="0">
                <a:latin typeface="Courier New" pitchFamily="49" charset="0"/>
              </a:rPr>
              <a:t>private:</a:t>
            </a:r>
          </a:p>
          <a:p>
            <a:pPr defTabSz="363538"/>
            <a:r>
              <a:rPr lang="en-US" sz="1600" b="1" dirty="0">
                <a:latin typeface="Courier New" pitchFamily="49" charset="0"/>
              </a:rPr>
              <a:t>	double </a:t>
            </a:r>
            <a:r>
              <a:rPr lang="en-US" sz="1600" b="1" dirty="0" err="1">
                <a:latin typeface="Courier New" pitchFamily="49" charset="0"/>
              </a:rPr>
              <a:t>m_radius</a:t>
            </a:r>
            <a:r>
              <a:rPr lang="en-US" sz="1600" b="1" dirty="0">
                <a:latin typeface="Courier New" pitchFamily="49" charset="0"/>
              </a:rPr>
              <a:t> = 0.0;</a:t>
            </a:r>
          </a:p>
          <a:p>
            <a:pPr defTabSz="363538"/>
            <a:r>
              <a:rPr lang="en-US" sz="1600" b="1" dirty="0">
                <a:latin typeface="Courier New" pitchFamily="49" charset="0"/>
              </a:rPr>
              <a:t>};</a:t>
            </a:r>
            <a:endParaRPr lang="ru-RU" sz="1600" b="1" dirty="0">
              <a:latin typeface="Courier New" pitchFamily="49" charset="0"/>
            </a:endParaRPr>
          </a:p>
        </p:txBody>
      </p:sp>
      <p:sp>
        <p:nvSpPr>
          <p:cNvPr id="24580" name="AutoShape 5"/>
          <p:cNvSpPr>
            <a:spLocks noChangeArrowheads="1"/>
          </p:cNvSpPr>
          <p:nvPr/>
        </p:nvSpPr>
        <p:spPr bwMode="auto">
          <a:xfrm rot="10800000" flipH="1">
            <a:off x="4079775" y="2276471"/>
            <a:ext cx="4896545" cy="4392888"/>
          </a:xfrm>
          <a:prstGeom prst="foldedCorner">
            <a:avLst>
              <a:gd name="adj" fmla="val 12500"/>
            </a:avLst>
          </a:prstGeom>
          <a:solidFill>
            <a:schemeClr val="bg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rot="10800000" wrap="none"/>
          <a:lstStyle/>
          <a:p>
            <a:pPr defTabSz="363538"/>
            <a:r>
              <a:rPr lang="en-US" sz="1600" b="1" dirty="0">
                <a:latin typeface="Courier New" pitchFamily="49" charset="0"/>
              </a:rPr>
              <a:t>// Circle.cpp</a:t>
            </a:r>
          </a:p>
          <a:p>
            <a:pPr defTabSz="363538"/>
            <a:endParaRPr lang="en-US" sz="1600" b="1" dirty="0">
              <a:latin typeface="Courier New" pitchFamily="49" charset="0"/>
            </a:endParaRPr>
          </a:p>
          <a:p>
            <a:pPr defTabSz="363538"/>
            <a:r>
              <a:rPr lang="en-US" sz="1600" b="1" dirty="0">
                <a:latin typeface="Courier New" pitchFamily="49" charset="0"/>
              </a:rPr>
              <a:t>#include “</a:t>
            </a:r>
            <a:r>
              <a:rPr lang="en-US" sz="1600" b="1">
                <a:latin typeface="Courier New" pitchFamily="49" charset="0"/>
              </a:rPr>
              <a:t>Circle.</a:t>
            </a:r>
            <a:r>
              <a:rPr lang="en-US" sz="1600" b="1" dirty="0" err="1">
                <a:latin typeface="Courier New" pitchFamily="49" charset="0"/>
              </a:rPr>
              <a:t>h</a:t>
            </a:r>
            <a:r>
              <a:rPr lang="en-US" sz="1600" b="1" dirty="0">
                <a:latin typeface="Courier New" pitchFamily="49" charset="0"/>
              </a:rPr>
              <a:t>"</a:t>
            </a:r>
          </a:p>
          <a:p>
            <a:pPr defTabSz="363538"/>
            <a:endParaRPr lang="en-US" sz="1600" b="1" dirty="0">
              <a:latin typeface="Courier New" pitchFamily="49" charset="0"/>
            </a:endParaRPr>
          </a:p>
          <a:p>
            <a:pPr defTabSz="363538"/>
            <a:r>
              <a:rPr lang="en-US" sz="1600" b="1" dirty="0">
                <a:latin typeface="Courier New" pitchFamily="49" charset="0"/>
              </a:rPr>
              <a:t>void Circle::</a:t>
            </a:r>
            <a:r>
              <a:rPr lang="en-US" sz="1600" b="1" dirty="0" err="1">
                <a:latin typeface="Courier New" pitchFamily="49" charset="0"/>
              </a:rPr>
              <a:t>SetRadius</a:t>
            </a:r>
            <a:r>
              <a:rPr lang="en-US" sz="1600" b="1" dirty="0">
                <a:latin typeface="Courier New" pitchFamily="49" charset="0"/>
              </a:rPr>
              <a:t>(double r)</a:t>
            </a:r>
          </a:p>
          <a:p>
            <a:pPr defTabSz="363538"/>
            <a:r>
              <a:rPr lang="en-US" sz="1600" b="1" dirty="0">
                <a:latin typeface="Courier New" pitchFamily="49" charset="0"/>
              </a:rPr>
              <a:t>{</a:t>
            </a:r>
          </a:p>
          <a:p>
            <a:pPr defTabSz="363538"/>
            <a:r>
              <a:rPr lang="en-US" sz="1600" b="1" dirty="0">
                <a:latin typeface="Courier New" pitchFamily="49" charset="0"/>
              </a:rPr>
              <a:t>	</a:t>
            </a:r>
            <a:r>
              <a:rPr lang="en-US" sz="1600" b="1" dirty="0" err="1">
                <a:latin typeface="Courier New" pitchFamily="49" charset="0"/>
              </a:rPr>
              <a:t>m_radius</a:t>
            </a:r>
            <a:r>
              <a:rPr lang="en-US" sz="1600" b="1" dirty="0">
                <a:latin typeface="Courier New" pitchFamily="49" charset="0"/>
              </a:rPr>
              <a:t> = r;</a:t>
            </a:r>
          </a:p>
          <a:p>
            <a:pPr defTabSz="363538"/>
            <a:r>
              <a:rPr lang="en-US" sz="1600" b="1" dirty="0">
                <a:latin typeface="Courier New" pitchFamily="49" charset="0"/>
              </a:rPr>
              <a:t>}</a:t>
            </a:r>
          </a:p>
          <a:p>
            <a:pPr defTabSz="363538"/>
            <a:endParaRPr lang="en-US" sz="1600" b="1" dirty="0">
              <a:latin typeface="Courier New" pitchFamily="49" charset="0"/>
            </a:endParaRPr>
          </a:p>
          <a:p>
            <a:pPr defTabSz="363538"/>
            <a:r>
              <a:rPr lang="en-US" sz="1600" b="1" dirty="0">
                <a:latin typeface="Courier New" pitchFamily="49" charset="0"/>
              </a:rPr>
              <a:t>double Circle::</a:t>
            </a:r>
            <a:r>
              <a:rPr lang="en-US" sz="1600" b="1" dirty="0" err="1">
                <a:latin typeface="Courier New" pitchFamily="49" charset="0"/>
              </a:rPr>
              <a:t>GetArea</a:t>
            </a:r>
            <a:r>
              <a:rPr lang="en-US" sz="1600" b="1" dirty="0">
                <a:latin typeface="Courier New" pitchFamily="49" charset="0"/>
              </a:rPr>
              <a:t>()const</a:t>
            </a:r>
          </a:p>
          <a:p>
            <a:pPr defTabSz="363538"/>
            <a:r>
              <a:rPr lang="en-US" sz="1600" b="1" dirty="0">
                <a:latin typeface="Courier New" pitchFamily="49" charset="0"/>
              </a:rPr>
              <a:t>{</a:t>
            </a:r>
          </a:p>
          <a:p>
            <a:pPr defTabSz="363538"/>
            <a:r>
              <a:rPr lang="en-US" sz="1600" b="1" dirty="0">
                <a:latin typeface="Courier New" pitchFamily="49" charset="0"/>
              </a:rPr>
              <a:t>	return </a:t>
            </a:r>
            <a:r>
              <a:rPr lang="en-US" sz="1600" b="1" dirty="0" err="1">
                <a:latin typeface="Courier New" pitchFamily="49" charset="0"/>
              </a:rPr>
              <a:t>m_radius</a:t>
            </a:r>
            <a:r>
              <a:rPr lang="en-US" sz="1600" b="1" dirty="0">
                <a:latin typeface="Courier New" pitchFamily="49" charset="0"/>
              </a:rPr>
              <a:t> * </a:t>
            </a:r>
            <a:r>
              <a:rPr lang="en-US" sz="1600" b="1" dirty="0" err="1">
                <a:latin typeface="Courier New" pitchFamily="49" charset="0"/>
              </a:rPr>
              <a:t>m_radius</a:t>
            </a:r>
            <a:r>
              <a:rPr lang="en-US" sz="1600" b="1" dirty="0">
                <a:latin typeface="Courier New" pitchFamily="49" charset="0"/>
              </a:rPr>
              <a:t> * PI;</a:t>
            </a:r>
          </a:p>
          <a:p>
            <a:pPr defTabSz="363538"/>
            <a:r>
              <a:rPr lang="en-US" sz="1600" b="1" dirty="0">
                <a:latin typeface="Courier New" pitchFamily="49" charset="0"/>
              </a:rPr>
              <a:t>}</a:t>
            </a:r>
          </a:p>
        </p:txBody>
      </p:sp>
      <p:sp>
        <p:nvSpPr>
          <p:cNvPr id="24581" name="AutoShape 6"/>
          <p:cNvSpPr>
            <a:spLocks noChangeArrowheads="1"/>
          </p:cNvSpPr>
          <p:nvPr/>
        </p:nvSpPr>
        <p:spPr bwMode="auto">
          <a:xfrm rot="10800000" flipH="1">
            <a:off x="9120336" y="2276472"/>
            <a:ext cx="2952327" cy="4392887"/>
          </a:xfrm>
          <a:prstGeom prst="foldedCorner">
            <a:avLst>
              <a:gd name="adj" fmla="val 12500"/>
            </a:avLst>
          </a:prstGeom>
          <a:solidFill>
            <a:schemeClr val="bg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rot="10800000" wrap="none"/>
          <a:lstStyle/>
          <a:p>
            <a:pPr defTabSz="363538"/>
            <a:r>
              <a:rPr lang="en-US" sz="1600" b="1" dirty="0">
                <a:latin typeface="Courier New" pitchFamily="49" charset="0"/>
              </a:rPr>
              <a:t>//main.cpp</a:t>
            </a:r>
          </a:p>
          <a:p>
            <a:pPr defTabSz="363538"/>
            <a:endParaRPr lang="en-US" sz="1600" b="1" dirty="0">
              <a:latin typeface="Courier New" pitchFamily="49" charset="0"/>
            </a:endParaRPr>
          </a:p>
          <a:p>
            <a:pPr defTabSz="363538"/>
            <a:endParaRPr lang="en-US" sz="1600" b="1" dirty="0">
              <a:latin typeface="Courier New" pitchFamily="49" charset="0"/>
            </a:endParaRPr>
          </a:p>
          <a:p>
            <a:pPr defTabSz="363538"/>
            <a:r>
              <a:rPr lang="en-US" sz="1600" b="1" dirty="0">
                <a:latin typeface="Courier New" pitchFamily="49" charset="0"/>
              </a:rPr>
              <a:t>#include "</a:t>
            </a:r>
            <a:r>
              <a:rPr lang="en-US" sz="1600" b="1" dirty="0" err="1">
                <a:latin typeface="Courier New" pitchFamily="49" charset="0"/>
              </a:rPr>
              <a:t>Circle.h</a:t>
            </a:r>
            <a:r>
              <a:rPr lang="en-US" sz="1600" b="1" dirty="0">
                <a:latin typeface="Courier New" pitchFamily="49" charset="0"/>
              </a:rPr>
              <a:t>"</a:t>
            </a:r>
          </a:p>
          <a:p>
            <a:pPr defTabSz="363538"/>
            <a:endParaRPr lang="en-US" sz="1600" b="1" dirty="0">
              <a:latin typeface="Courier New" pitchFamily="49" charset="0"/>
            </a:endParaRPr>
          </a:p>
          <a:p>
            <a:pPr defTabSz="363538"/>
            <a:r>
              <a:rPr lang="en-US" sz="1600" b="1" dirty="0">
                <a:latin typeface="Courier New" pitchFamily="49" charset="0"/>
              </a:rPr>
              <a:t>int main()</a:t>
            </a:r>
          </a:p>
          <a:p>
            <a:pPr defTabSz="363538"/>
            <a:r>
              <a:rPr lang="en-US" sz="1600" b="1" dirty="0">
                <a:latin typeface="Courier New" pitchFamily="49" charset="0"/>
              </a:rPr>
              <a:t>{</a:t>
            </a:r>
          </a:p>
          <a:p>
            <a:pPr defTabSz="363538"/>
            <a:r>
              <a:rPr lang="en-US" sz="1600" b="1" dirty="0">
                <a:latin typeface="Courier New" pitchFamily="49" charset="0"/>
              </a:rPr>
              <a:t>	Circle c;</a:t>
            </a:r>
          </a:p>
          <a:p>
            <a:pPr defTabSz="363538"/>
            <a:r>
              <a:rPr lang="en-US" sz="1600" b="1" dirty="0">
                <a:latin typeface="Courier New" pitchFamily="49" charset="0"/>
              </a:rPr>
              <a:t>	</a:t>
            </a:r>
            <a:r>
              <a:rPr lang="en-US" sz="1600" b="1" dirty="0" err="1">
                <a:latin typeface="Courier New" pitchFamily="49" charset="0"/>
              </a:rPr>
              <a:t>c.SetRadius</a:t>
            </a:r>
            <a:r>
              <a:rPr lang="en-US" sz="1600" b="1" dirty="0">
                <a:latin typeface="Courier New" pitchFamily="49" charset="0"/>
              </a:rPr>
              <a:t>(10);</a:t>
            </a:r>
          </a:p>
          <a:p>
            <a:pPr defTabSz="363538"/>
            <a:r>
              <a:rPr lang="en-US" sz="1600" b="1" dirty="0">
                <a:latin typeface="Courier New" pitchFamily="49" charset="0"/>
              </a:rPr>
              <a:t>}</a:t>
            </a:r>
            <a:endParaRPr lang="ru-RU" sz="1600" b="1" dirty="0">
              <a:latin typeface="Courier New" pitchFamily="49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F9860C37-1127-33D5-6D25-68583F55BE61}"/>
                  </a:ext>
                </a:extLst>
              </p14:cNvPr>
              <p14:cNvContentPartPr/>
              <p14:nvPr/>
            </p14:nvContentPartPr>
            <p14:xfrm>
              <a:off x="2406880" y="1273354"/>
              <a:ext cx="245520" cy="1908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F9860C37-1127-33D5-6D25-68583F55BE61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2400760" y="1267234"/>
                <a:ext cx="257760" cy="3132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45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45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45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579" grpId="0" animBg="1"/>
      <p:bldP spid="24580" grpId="0" animBg="1"/>
      <p:bldP spid="24581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FCFAD5-DB54-459C-895B-8B59D52B13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Спецификаторы уровня доступа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3DDC871-A6C4-4109-B915-4E55B896AC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0985390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ru-RU" dirty="0"/>
              <a:t>Публичные (</a:t>
            </a:r>
            <a:r>
              <a:rPr lang="en-US" dirty="0"/>
              <a:t>public)</a:t>
            </a:r>
            <a:r>
              <a:rPr lang="ru-RU" dirty="0"/>
              <a:t> поля и методы класса</a:t>
            </a:r>
          </a:p>
        </p:txBody>
      </p:sp>
      <p:sp>
        <p:nvSpPr>
          <p:cNvPr id="26627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-RU" dirty="0"/>
              <a:t>Public-часть класса формирует его </a:t>
            </a:r>
            <a:r>
              <a:rPr lang="ru-RU" b="1" dirty="0"/>
              <a:t>интерфейс</a:t>
            </a:r>
          </a:p>
          <a:p>
            <a:pPr lvl="1"/>
            <a:r>
              <a:rPr lang="ru-RU" dirty="0" err="1"/>
              <a:t>public</a:t>
            </a:r>
            <a:r>
              <a:rPr lang="ru-RU" dirty="0"/>
              <a:t>-методы и поля доступны из любого кода</a:t>
            </a:r>
          </a:p>
          <a:p>
            <a:pPr lvl="1"/>
            <a:r>
              <a:rPr lang="ru-RU" dirty="0"/>
              <a:t>через них пользователи взаимодействуют с объектом</a:t>
            </a:r>
          </a:p>
          <a:p>
            <a:r>
              <a:rPr lang="ru-RU" dirty="0"/>
              <a:t>Хорошая практика</a:t>
            </a:r>
          </a:p>
          <a:p>
            <a:pPr lvl="1"/>
            <a:r>
              <a:rPr lang="ru-RU" dirty="0"/>
              <a:t>размещайте в </a:t>
            </a:r>
            <a:r>
              <a:rPr lang="ru-RU" dirty="0" err="1"/>
              <a:t>public</a:t>
            </a:r>
            <a:r>
              <a:rPr lang="ru-RU" dirty="0"/>
              <a:t> минимально необходимый набор операций</a:t>
            </a:r>
          </a:p>
          <a:p>
            <a:pPr lvl="1"/>
            <a:r>
              <a:rPr lang="ru-RU" dirty="0"/>
              <a:t>методы должны выполнять осмысленные операции высокого уровня</a:t>
            </a:r>
          </a:p>
          <a:p>
            <a:pPr lvl="1"/>
            <a:r>
              <a:rPr lang="ru-RU" dirty="0"/>
              <a:t>вызов метода должен переводить объект из одного корректного состояния в другое</a:t>
            </a:r>
          </a:p>
          <a:p>
            <a:r>
              <a:rPr lang="ru-RU" dirty="0"/>
              <a:t>Важно</a:t>
            </a:r>
          </a:p>
          <a:p>
            <a:pPr lvl="1"/>
            <a:r>
              <a:rPr lang="ru-RU" dirty="0"/>
              <a:t>публичные данные — обычно плохая практика</a:t>
            </a:r>
          </a:p>
          <a:p>
            <a:pPr lvl="1"/>
            <a:r>
              <a:rPr lang="ru-RU" dirty="0"/>
              <a:t>класс должен сам управлять своими данными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66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662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662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662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662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662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662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62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662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662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627" grpId="0" build="p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ru-RU" dirty="0"/>
              <a:t>Закрытые (приватные) поля</a:t>
            </a:r>
            <a:r>
              <a:rPr lang="en-US" dirty="0"/>
              <a:t> </a:t>
            </a:r>
            <a:r>
              <a:rPr lang="ru-RU" dirty="0"/>
              <a:t>и методы класса</a:t>
            </a:r>
          </a:p>
        </p:txBody>
      </p:sp>
      <p:sp>
        <p:nvSpPr>
          <p:cNvPr id="27651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Private-часть класса описывает его </a:t>
            </a:r>
            <a:r>
              <a:rPr lang="ru-RU" b="1" dirty="0"/>
              <a:t>реализацию</a:t>
            </a:r>
          </a:p>
          <a:p>
            <a:pPr lvl="1"/>
            <a:r>
              <a:rPr lang="ru-RU" dirty="0" err="1"/>
              <a:t>private</a:t>
            </a:r>
            <a:r>
              <a:rPr lang="ru-RU" dirty="0"/>
              <a:t>-данные и методы доступны только внутри класса</a:t>
            </a:r>
          </a:p>
          <a:p>
            <a:pPr lvl="1"/>
            <a:r>
              <a:rPr lang="ru-RU" dirty="0"/>
              <a:t>внешний код не может обращаться к ним напрямую</a:t>
            </a:r>
          </a:p>
          <a:p>
            <a:r>
              <a:rPr lang="ru-RU" dirty="0"/>
              <a:t>Рекомендации</a:t>
            </a:r>
          </a:p>
          <a:p>
            <a:pPr lvl="1"/>
            <a:r>
              <a:rPr lang="ru-RU" dirty="0"/>
              <a:t>данные класса обычно делают приватными</a:t>
            </a:r>
          </a:p>
          <a:p>
            <a:pPr lvl="1"/>
            <a:r>
              <a:rPr lang="ru-RU" dirty="0"/>
              <a:t>работа с ними выполняется через методы класса</a:t>
            </a:r>
          </a:p>
          <a:p>
            <a:pPr lvl="1"/>
            <a:r>
              <a:rPr lang="ru-RU" dirty="0" err="1"/>
              <a:t>private</a:t>
            </a:r>
            <a:r>
              <a:rPr lang="ru-RU" dirty="0"/>
              <a:t>-методы используются для внутренней логики</a:t>
            </a:r>
          </a:p>
          <a:p>
            <a:r>
              <a:rPr lang="ru-RU" dirty="0"/>
              <a:t>Хорошая практика</a:t>
            </a:r>
          </a:p>
          <a:p>
            <a:pPr lvl="1"/>
            <a:r>
              <a:rPr lang="ru-RU" dirty="0" err="1"/>
              <a:t>private</a:t>
            </a:r>
            <a:r>
              <a:rPr lang="ru-RU" dirty="0"/>
              <a:t>-методы помогают разбить сложную логику на части</a:t>
            </a:r>
          </a:p>
          <a:p>
            <a:pPr lvl="1"/>
            <a:r>
              <a:rPr lang="ru-RU" dirty="0"/>
              <a:t>если приватный метод не используется — его следует удалить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765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765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765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765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765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765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765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765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765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1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7651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651" grpId="0" build="p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2BE11DD-3DBB-3B96-2BD1-CC64DB724862}"/>
              </a:ext>
            </a:extLst>
          </p:cNvPr>
          <p:cNvSpPr txBox="1"/>
          <p:nvPr/>
        </p:nvSpPr>
        <p:spPr>
          <a:xfrm>
            <a:off x="15806" y="0"/>
            <a:ext cx="11984849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Time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…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hours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minutes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seconds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(hours &lt;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|| hours &gt;=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24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|| minutes &lt;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|| minutes &gt;=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60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|| seconds &lt;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|| seconds &gt;=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60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pPr>
              <a:buNone/>
            </a:pPr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    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Вызываем приватный метод.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SetUnchecked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(hours, minutes, seconds);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SetMidnight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SetUnchecked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Приватный метод. Устанавливает время, не проверяя аргументы.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SetUnchecked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hours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minutes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seconds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m_seconds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(hours *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60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minutes) *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60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seconds;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m_seconds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</p:spTree>
    <p:custDataLst>
      <p:tags r:id="rId1"/>
    </p:custData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Защищенные</a:t>
            </a:r>
            <a:r>
              <a:rPr lang="en-US"/>
              <a:t> </a:t>
            </a:r>
            <a:r>
              <a:rPr lang="ru-RU"/>
              <a:t>поля класса</a:t>
            </a:r>
          </a:p>
        </p:txBody>
      </p:sp>
      <p:sp>
        <p:nvSpPr>
          <p:cNvPr id="28675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 err="1"/>
              <a:t>protected</a:t>
            </a:r>
            <a:r>
              <a:rPr lang="ru-RU" dirty="0"/>
              <a:t> — уровень доступа </a:t>
            </a:r>
            <a:r>
              <a:rPr lang="ru-RU" b="1" dirty="0"/>
              <a:t>для наследования</a:t>
            </a:r>
          </a:p>
          <a:p>
            <a:pPr lvl="1"/>
            <a:r>
              <a:rPr lang="ru-RU" dirty="0"/>
              <a:t>доступны внутри класса</a:t>
            </a:r>
          </a:p>
          <a:p>
            <a:pPr lvl="1"/>
            <a:r>
              <a:rPr lang="ru-RU" dirty="0"/>
              <a:t>доступны в производных классах</a:t>
            </a:r>
          </a:p>
          <a:p>
            <a:pPr lvl="1"/>
            <a:r>
              <a:rPr lang="ru-RU" dirty="0"/>
              <a:t>недоступны внешнему коду</a:t>
            </a:r>
          </a:p>
          <a:p>
            <a:r>
              <a:rPr lang="ru-RU" dirty="0"/>
              <a:t>Когда используется:</a:t>
            </a:r>
          </a:p>
          <a:p>
            <a:pPr lvl="1"/>
            <a:r>
              <a:rPr lang="ru-RU" dirty="0"/>
              <a:t>для методов и данных, которые нужны классам-потомкам</a:t>
            </a:r>
          </a:p>
          <a:p>
            <a:pPr lvl="1"/>
            <a:r>
              <a:rPr lang="ru-RU" dirty="0"/>
              <a:t>для элементов, которые не должны быть частью публичного интерфейса</a:t>
            </a:r>
          </a:p>
          <a:p>
            <a:r>
              <a:rPr lang="ru-RU" dirty="0"/>
              <a:t>Важно</a:t>
            </a:r>
          </a:p>
          <a:p>
            <a:pPr lvl="1"/>
            <a:r>
              <a:rPr lang="ru-RU" dirty="0" err="1"/>
              <a:t>protected</a:t>
            </a:r>
            <a:r>
              <a:rPr lang="ru-RU" dirty="0"/>
              <a:t> формирует интерфейс для наследования</a:t>
            </a:r>
          </a:p>
          <a:p>
            <a:pPr lvl="1"/>
            <a:r>
              <a:rPr lang="ru-RU" dirty="0"/>
              <a:t>применяется при построении иерархий классов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86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7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867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7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867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7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867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7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867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7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867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7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867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7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867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7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867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7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867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675" grpId="0" build="p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Заголовок 1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Уровни доступа к полям и методам класса</a:t>
            </a:r>
          </a:p>
        </p:txBody>
      </p:sp>
      <p:graphicFrame>
        <p:nvGraphicFramePr>
          <p:cNvPr id="15" name="Содержимое 1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743589635"/>
              </p:ext>
            </p:extLst>
          </p:nvPr>
        </p:nvGraphicFramePr>
        <p:xfrm>
          <a:off x="838200" y="1825625"/>
          <a:ext cx="10515599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417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00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4543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ru-RU" sz="2800" dirty="0"/>
                    </a:p>
                  </a:txBody>
                  <a:tcPr marL="87630" marR="87630"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public</a:t>
                      </a:r>
                      <a:endParaRPr lang="ru-RU" sz="2800" dirty="0"/>
                    </a:p>
                  </a:txBody>
                  <a:tcPr marL="87630" marR="87630"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protected</a:t>
                      </a:r>
                      <a:endParaRPr lang="ru-RU" sz="2800" dirty="0"/>
                    </a:p>
                  </a:txBody>
                  <a:tcPr marL="87630" marR="87630"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private</a:t>
                      </a:r>
                      <a:endParaRPr lang="ru-RU" sz="2800" dirty="0"/>
                    </a:p>
                  </a:txBody>
                  <a:tcPr marL="87630" marR="8763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2800" dirty="0"/>
                        <a:t>Доступ из методов самого класса</a:t>
                      </a:r>
                    </a:p>
                  </a:txBody>
                  <a:tcPr marL="87630" marR="87630"/>
                </a:tc>
                <a:tc>
                  <a:txBody>
                    <a:bodyPr/>
                    <a:lstStyle/>
                    <a:p>
                      <a:r>
                        <a:rPr lang="ru-RU" sz="2800" b="1" dirty="0">
                          <a:solidFill>
                            <a:srgbClr val="00B050"/>
                          </a:solidFill>
                        </a:rPr>
                        <a:t>Есть</a:t>
                      </a:r>
                    </a:p>
                  </a:txBody>
                  <a:tcPr marL="87630" marR="87630"/>
                </a:tc>
                <a:tc>
                  <a:txBody>
                    <a:bodyPr/>
                    <a:lstStyle/>
                    <a:p>
                      <a:r>
                        <a:rPr lang="ru-RU" sz="2800" b="1" dirty="0">
                          <a:solidFill>
                            <a:srgbClr val="00B050"/>
                          </a:solidFill>
                        </a:rPr>
                        <a:t>Есть</a:t>
                      </a:r>
                    </a:p>
                  </a:txBody>
                  <a:tcPr marL="87630" marR="87630"/>
                </a:tc>
                <a:tc>
                  <a:txBody>
                    <a:bodyPr/>
                    <a:lstStyle/>
                    <a:p>
                      <a:r>
                        <a:rPr lang="ru-RU" sz="2800" b="1" dirty="0">
                          <a:solidFill>
                            <a:srgbClr val="00B050"/>
                          </a:solidFill>
                        </a:rPr>
                        <a:t>Есть</a:t>
                      </a:r>
                    </a:p>
                  </a:txBody>
                  <a:tcPr marL="87630" marR="8763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2800" dirty="0"/>
                        <a:t>Доступ из методов классов-наследников</a:t>
                      </a:r>
                    </a:p>
                  </a:txBody>
                  <a:tcPr marL="87630" marR="87630"/>
                </a:tc>
                <a:tc>
                  <a:txBody>
                    <a:bodyPr/>
                    <a:lstStyle/>
                    <a:p>
                      <a:r>
                        <a:rPr lang="ru-RU" sz="2800" b="1" dirty="0">
                          <a:solidFill>
                            <a:srgbClr val="00B050"/>
                          </a:solidFill>
                        </a:rPr>
                        <a:t>Есть</a:t>
                      </a:r>
                    </a:p>
                  </a:txBody>
                  <a:tcPr marL="87630" marR="87630"/>
                </a:tc>
                <a:tc>
                  <a:txBody>
                    <a:bodyPr/>
                    <a:lstStyle/>
                    <a:p>
                      <a:r>
                        <a:rPr lang="ru-RU" sz="2800" b="1" dirty="0">
                          <a:solidFill>
                            <a:srgbClr val="00B050"/>
                          </a:solidFill>
                        </a:rPr>
                        <a:t>Есть</a:t>
                      </a:r>
                    </a:p>
                  </a:txBody>
                  <a:tcPr marL="87630" marR="87630"/>
                </a:tc>
                <a:tc>
                  <a:txBody>
                    <a:bodyPr/>
                    <a:lstStyle/>
                    <a:p>
                      <a:r>
                        <a:rPr lang="ru-RU" sz="2800" b="1" dirty="0">
                          <a:solidFill>
                            <a:srgbClr val="FF0000"/>
                          </a:solidFill>
                        </a:rPr>
                        <a:t>Нет</a:t>
                      </a:r>
                    </a:p>
                  </a:txBody>
                  <a:tcPr marL="87630" marR="8763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2800" dirty="0"/>
                        <a:t>Доступ извне класса</a:t>
                      </a:r>
                    </a:p>
                  </a:txBody>
                  <a:tcPr marL="87630" marR="87630"/>
                </a:tc>
                <a:tc>
                  <a:txBody>
                    <a:bodyPr/>
                    <a:lstStyle/>
                    <a:p>
                      <a:r>
                        <a:rPr lang="ru-RU" sz="2800" b="1" dirty="0">
                          <a:solidFill>
                            <a:srgbClr val="00B050"/>
                          </a:solidFill>
                        </a:rPr>
                        <a:t>Есть</a:t>
                      </a:r>
                    </a:p>
                  </a:txBody>
                  <a:tcPr marL="87630" marR="87630"/>
                </a:tc>
                <a:tc>
                  <a:txBody>
                    <a:bodyPr/>
                    <a:lstStyle/>
                    <a:p>
                      <a:r>
                        <a:rPr lang="ru-RU" sz="2800" b="1" dirty="0">
                          <a:solidFill>
                            <a:srgbClr val="FF0000"/>
                          </a:solidFill>
                        </a:rPr>
                        <a:t>Нет</a:t>
                      </a:r>
                    </a:p>
                  </a:txBody>
                  <a:tcPr marL="87630" marR="87630"/>
                </a:tc>
                <a:tc>
                  <a:txBody>
                    <a:bodyPr/>
                    <a:lstStyle/>
                    <a:p>
                      <a:r>
                        <a:rPr lang="ru-RU" sz="2800" b="1" dirty="0">
                          <a:solidFill>
                            <a:srgbClr val="FF0000"/>
                          </a:solidFill>
                        </a:rPr>
                        <a:t>Нет</a:t>
                      </a:r>
                    </a:p>
                  </a:txBody>
                  <a:tcPr marL="87630" marR="8763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1BACEE-D1C0-A2D9-A864-E627DCA55A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Свойства (</a:t>
            </a:r>
            <a:r>
              <a:rPr lang="en-US" dirty="0"/>
              <a:t>Properties)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4924C4A-CF45-BE8F-C076-7B092E1734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642506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Свойства (</a:t>
            </a:r>
            <a:r>
              <a:rPr lang="en-US" dirty="0"/>
              <a:t>Properties)</a:t>
            </a:r>
            <a:endParaRPr lang="ru-RU" dirty="0"/>
          </a:p>
        </p:txBody>
      </p:sp>
      <p:sp>
        <p:nvSpPr>
          <p:cNvPr id="10243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dirty="0"/>
              <a:t>Свойство — это характеристика объекта, к которой обращаются как к полю, но фактически она реализуется через методы.</a:t>
            </a:r>
          </a:p>
          <a:p>
            <a:r>
              <a:rPr lang="ru-RU" dirty="0"/>
              <a:t>Возможности свойств:</a:t>
            </a:r>
          </a:p>
          <a:p>
            <a:pPr lvl="1"/>
            <a:r>
              <a:rPr lang="ru-RU" dirty="0"/>
              <a:t>при записи можно выполнять проверку или преобразование данных</a:t>
            </a:r>
          </a:p>
          <a:p>
            <a:pPr lvl="1"/>
            <a:r>
              <a:rPr lang="ru-RU" dirty="0"/>
              <a:t>при чтении значение может вычисляться</a:t>
            </a:r>
          </a:p>
          <a:p>
            <a:pPr lvl="1"/>
            <a:r>
              <a:rPr lang="ru-RU" dirty="0"/>
              <a:t>свойства могут быть:</a:t>
            </a:r>
          </a:p>
          <a:p>
            <a:pPr lvl="2"/>
            <a:r>
              <a:rPr lang="ru-RU" dirty="0"/>
              <a:t>только для чтения</a:t>
            </a:r>
          </a:p>
          <a:p>
            <a:pPr lvl="2"/>
            <a:r>
              <a:rPr lang="ru-RU" dirty="0"/>
              <a:t>только для записи</a:t>
            </a:r>
          </a:p>
          <a:p>
            <a:pPr lvl="2"/>
            <a:r>
              <a:rPr lang="ru-RU" dirty="0"/>
              <a:t>для чтения и записи</a:t>
            </a:r>
          </a:p>
          <a:p>
            <a:r>
              <a:rPr lang="ru-RU" dirty="0"/>
              <a:t>Важно</a:t>
            </a:r>
          </a:p>
          <a:p>
            <a:pPr lvl="1"/>
            <a:r>
              <a:rPr lang="ru-RU" dirty="0" err="1"/>
              <a:t>getter</a:t>
            </a:r>
            <a:r>
              <a:rPr lang="ru-RU" dirty="0"/>
              <a:t> не должен иметь видимых побочных эффектов</a:t>
            </a:r>
          </a:p>
          <a:p>
            <a:pPr lvl="1"/>
            <a:r>
              <a:rPr lang="ru-RU" dirty="0"/>
              <a:t>в C++ свойства не являются элементом языка</a:t>
            </a:r>
            <a:r>
              <a:rPr lang="en-US" dirty="0"/>
              <a:t> </a:t>
            </a:r>
            <a:r>
              <a:rPr lang="ru-RU" dirty="0"/>
              <a:t>их обычно эмулируют через методы </a:t>
            </a:r>
            <a:r>
              <a:rPr lang="ru-RU" dirty="0" err="1"/>
              <a:t>get</a:t>
            </a:r>
            <a:r>
              <a:rPr lang="ru-RU" dirty="0"/>
              <a:t> / </a:t>
            </a:r>
            <a:r>
              <a:rPr lang="ru-RU" dirty="0" err="1"/>
              <a:t>set</a:t>
            </a:r>
            <a:endParaRPr lang="ru-RU" dirty="0"/>
          </a:p>
        </p:txBody>
      </p:sp>
    </p:spTree>
    <p:custDataLst>
      <p:tags r:id="rId1"/>
    </p:custData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24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24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024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024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024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024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024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024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024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024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024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243" grpId="0" build="p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09CBA43E-0CAE-2501-E457-EE124A70E9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 – свойства в языке </a:t>
            </a:r>
            <a:r>
              <a:rPr lang="en-US" dirty="0"/>
              <a:t>C#</a:t>
            </a:r>
            <a:endParaRPr lang="ru-R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52EA573-C46F-9BF9-2BBF-5978AECBB4CC}"/>
              </a:ext>
            </a:extLst>
          </p:cNvPr>
          <p:cNvSpPr txBox="1"/>
          <p:nvPr/>
        </p:nvSpPr>
        <p:spPr>
          <a:xfrm>
            <a:off x="838200" y="1691561"/>
            <a:ext cx="993832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err="1">
                <a:latin typeface="Consolas" panose="020B0609020204030204" pitchFamily="49" charset="0"/>
              </a:rPr>
              <a:t>public</a:t>
            </a:r>
            <a:r>
              <a:rPr lang="ru-RU" dirty="0">
                <a:latin typeface="Consolas" panose="020B0609020204030204" pitchFamily="49" charset="0"/>
              </a:rPr>
              <a:t> </a:t>
            </a:r>
            <a:r>
              <a:rPr lang="ru-RU" dirty="0" err="1">
                <a:latin typeface="Consolas" panose="020B0609020204030204" pitchFamily="49" charset="0"/>
              </a:rPr>
              <a:t>class</a:t>
            </a:r>
            <a:r>
              <a:rPr lang="ru-RU" dirty="0">
                <a:latin typeface="Consolas" panose="020B0609020204030204" pitchFamily="49" charset="0"/>
              </a:rPr>
              <a:t> </a:t>
            </a:r>
            <a:r>
              <a:rPr lang="ru-RU" dirty="0" err="1">
                <a:latin typeface="Consolas" panose="020B0609020204030204" pitchFamily="49" charset="0"/>
              </a:rPr>
              <a:t>TimePeriod</a:t>
            </a:r>
            <a:endParaRPr lang="ru-RU" dirty="0">
              <a:latin typeface="Consolas" panose="020B0609020204030204" pitchFamily="49" charset="0"/>
            </a:endParaRPr>
          </a:p>
          <a:p>
            <a:r>
              <a:rPr lang="ru-RU" dirty="0">
                <a:latin typeface="Consolas" panose="020B0609020204030204" pitchFamily="49" charset="0"/>
              </a:rPr>
              <a:t>{</a:t>
            </a:r>
          </a:p>
          <a:p>
            <a:r>
              <a:rPr lang="ru-RU" dirty="0">
                <a:latin typeface="Consolas" panose="020B0609020204030204" pitchFamily="49" charset="0"/>
              </a:rPr>
              <a:t>    </a:t>
            </a:r>
            <a:r>
              <a:rPr lang="ru-RU" dirty="0" err="1">
                <a:latin typeface="Consolas" panose="020B0609020204030204" pitchFamily="49" charset="0"/>
              </a:rPr>
              <a:t>private</a:t>
            </a:r>
            <a:r>
              <a:rPr lang="ru-RU" dirty="0">
                <a:latin typeface="Consolas" panose="020B0609020204030204" pitchFamily="49" charset="0"/>
              </a:rPr>
              <a:t> </a:t>
            </a:r>
            <a:r>
              <a:rPr lang="ru-RU" dirty="0" err="1">
                <a:latin typeface="Consolas" panose="020B0609020204030204" pitchFamily="49" charset="0"/>
              </a:rPr>
              <a:t>double</a:t>
            </a:r>
            <a:r>
              <a:rPr lang="ru-RU" dirty="0">
                <a:latin typeface="Consolas" panose="020B0609020204030204" pitchFamily="49" charset="0"/>
              </a:rPr>
              <a:t> _</a:t>
            </a:r>
            <a:r>
              <a:rPr lang="ru-RU" dirty="0" err="1">
                <a:latin typeface="Consolas" panose="020B0609020204030204" pitchFamily="49" charset="0"/>
              </a:rPr>
              <a:t>seconds</a:t>
            </a:r>
            <a:r>
              <a:rPr lang="ru-RU" dirty="0">
                <a:latin typeface="Consolas" panose="020B0609020204030204" pitchFamily="49" charset="0"/>
              </a:rPr>
              <a:t>;</a:t>
            </a:r>
          </a:p>
          <a:p>
            <a:endParaRPr lang="ru-RU" dirty="0"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0070C0"/>
                </a:solidFill>
                <a:latin typeface="Consolas" panose="020B0609020204030204" pitchFamily="49" charset="0"/>
              </a:rPr>
              <a:t>    </a:t>
            </a:r>
            <a:r>
              <a:rPr lang="ru-RU" dirty="0" err="1">
                <a:solidFill>
                  <a:srgbClr val="0070C0"/>
                </a:solidFill>
                <a:latin typeface="Consolas" panose="020B0609020204030204" pitchFamily="49" charset="0"/>
              </a:rPr>
              <a:t>public</a:t>
            </a:r>
            <a:r>
              <a:rPr lang="ru-RU" dirty="0">
                <a:solidFill>
                  <a:srgbClr val="0070C0"/>
                </a:solidFill>
                <a:latin typeface="Consolas" panose="020B0609020204030204" pitchFamily="49" charset="0"/>
              </a:rPr>
              <a:t> </a:t>
            </a:r>
            <a:r>
              <a:rPr lang="ru-RU" dirty="0" err="1">
                <a:solidFill>
                  <a:srgbClr val="0070C0"/>
                </a:solidFill>
                <a:latin typeface="Consolas" panose="020B0609020204030204" pitchFamily="49" charset="0"/>
              </a:rPr>
              <a:t>double</a:t>
            </a:r>
            <a:r>
              <a:rPr lang="ru-RU" dirty="0">
                <a:solidFill>
                  <a:srgbClr val="0070C0"/>
                </a:solidFill>
                <a:latin typeface="Consolas" panose="020B0609020204030204" pitchFamily="49" charset="0"/>
              </a:rPr>
              <a:t> </a:t>
            </a:r>
            <a:r>
              <a:rPr lang="ru-RU" dirty="0" err="1">
                <a:solidFill>
                  <a:srgbClr val="0070C0"/>
                </a:solidFill>
                <a:latin typeface="Consolas" panose="020B0609020204030204" pitchFamily="49" charset="0"/>
              </a:rPr>
              <a:t>Hours</a:t>
            </a:r>
            <a:endParaRPr lang="ru-RU" dirty="0">
              <a:solidFill>
                <a:srgbClr val="0070C0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0070C0"/>
                </a:solidFill>
                <a:latin typeface="Consolas" panose="020B0609020204030204" pitchFamily="49" charset="0"/>
              </a:rPr>
              <a:t>    {</a:t>
            </a:r>
          </a:p>
          <a:p>
            <a:r>
              <a:rPr lang="ru-RU" dirty="0">
                <a:solidFill>
                  <a:srgbClr val="0070C0"/>
                </a:solidFill>
                <a:latin typeface="Consolas" panose="020B0609020204030204" pitchFamily="49" charset="0"/>
              </a:rPr>
              <a:t>        </a:t>
            </a:r>
            <a:r>
              <a:rPr lang="ru-RU" dirty="0" err="1">
                <a:solidFill>
                  <a:srgbClr val="0070C0"/>
                </a:solidFill>
                <a:latin typeface="Consolas" panose="020B0609020204030204" pitchFamily="49" charset="0"/>
              </a:rPr>
              <a:t>get</a:t>
            </a:r>
            <a:r>
              <a:rPr lang="ru-RU" dirty="0">
                <a:solidFill>
                  <a:srgbClr val="0070C0"/>
                </a:solidFill>
                <a:latin typeface="Consolas" panose="020B0609020204030204" pitchFamily="49" charset="0"/>
              </a:rPr>
              <a:t> { </a:t>
            </a:r>
            <a:r>
              <a:rPr lang="ru-RU" dirty="0" err="1">
                <a:solidFill>
                  <a:srgbClr val="0070C0"/>
                </a:solidFill>
                <a:latin typeface="Consolas" panose="020B0609020204030204" pitchFamily="49" charset="0"/>
              </a:rPr>
              <a:t>return</a:t>
            </a:r>
            <a:r>
              <a:rPr lang="ru-RU" dirty="0">
                <a:solidFill>
                  <a:srgbClr val="0070C0"/>
                </a:solidFill>
                <a:latin typeface="Consolas" panose="020B0609020204030204" pitchFamily="49" charset="0"/>
              </a:rPr>
              <a:t> _</a:t>
            </a:r>
            <a:r>
              <a:rPr lang="ru-RU" dirty="0" err="1">
                <a:solidFill>
                  <a:srgbClr val="0070C0"/>
                </a:solidFill>
                <a:latin typeface="Consolas" panose="020B0609020204030204" pitchFamily="49" charset="0"/>
              </a:rPr>
              <a:t>seconds</a:t>
            </a:r>
            <a:r>
              <a:rPr lang="ru-RU" dirty="0">
                <a:solidFill>
                  <a:srgbClr val="0070C0"/>
                </a:solidFill>
                <a:latin typeface="Consolas" panose="020B0609020204030204" pitchFamily="49" charset="0"/>
              </a:rPr>
              <a:t> / 3600; }</a:t>
            </a:r>
          </a:p>
          <a:p>
            <a:r>
              <a:rPr lang="ru-RU" dirty="0">
                <a:solidFill>
                  <a:srgbClr val="0070C0"/>
                </a:solidFill>
                <a:latin typeface="Consolas" panose="020B0609020204030204" pitchFamily="49" charset="0"/>
              </a:rPr>
              <a:t>        </a:t>
            </a:r>
            <a:r>
              <a:rPr lang="ru-RU" dirty="0" err="1">
                <a:solidFill>
                  <a:srgbClr val="0070C0"/>
                </a:solidFill>
                <a:latin typeface="Consolas" panose="020B0609020204030204" pitchFamily="49" charset="0"/>
              </a:rPr>
              <a:t>set</a:t>
            </a:r>
            <a:endParaRPr lang="ru-RU" dirty="0">
              <a:solidFill>
                <a:srgbClr val="0070C0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0070C0"/>
                </a:solidFill>
                <a:latin typeface="Consolas" panose="020B0609020204030204" pitchFamily="49" charset="0"/>
              </a:rPr>
              <a:t>        {</a:t>
            </a:r>
          </a:p>
          <a:p>
            <a:r>
              <a:rPr lang="ru-RU" dirty="0">
                <a:solidFill>
                  <a:srgbClr val="0070C0"/>
                </a:solidFill>
                <a:latin typeface="Consolas" panose="020B0609020204030204" pitchFamily="49" charset="0"/>
              </a:rPr>
              <a:t>            </a:t>
            </a:r>
            <a:r>
              <a:rPr lang="ru-RU" dirty="0" err="1">
                <a:solidFill>
                  <a:srgbClr val="0070C0"/>
                </a:solidFill>
                <a:latin typeface="Consolas" panose="020B0609020204030204" pitchFamily="49" charset="0"/>
              </a:rPr>
              <a:t>if</a:t>
            </a:r>
            <a:r>
              <a:rPr lang="ru-RU" dirty="0">
                <a:solidFill>
                  <a:srgbClr val="0070C0"/>
                </a:solidFill>
                <a:latin typeface="Consolas" panose="020B0609020204030204" pitchFamily="49" charset="0"/>
              </a:rPr>
              <a:t> (</a:t>
            </a:r>
            <a:r>
              <a:rPr lang="ru-RU" dirty="0" err="1">
                <a:solidFill>
                  <a:srgbClr val="0070C0"/>
                </a:solidFill>
                <a:latin typeface="Consolas" panose="020B0609020204030204" pitchFamily="49" charset="0"/>
              </a:rPr>
              <a:t>value</a:t>
            </a:r>
            <a:r>
              <a:rPr lang="ru-RU" dirty="0">
                <a:solidFill>
                  <a:srgbClr val="0070C0"/>
                </a:solidFill>
                <a:latin typeface="Consolas" panose="020B0609020204030204" pitchFamily="49" charset="0"/>
              </a:rPr>
              <a:t> &lt; 0 || </a:t>
            </a:r>
            <a:r>
              <a:rPr lang="ru-RU" dirty="0" err="1">
                <a:solidFill>
                  <a:srgbClr val="0070C0"/>
                </a:solidFill>
                <a:latin typeface="Consolas" panose="020B0609020204030204" pitchFamily="49" charset="0"/>
              </a:rPr>
              <a:t>value</a:t>
            </a:r>
            <a:r>
              <a:rPr lang="ru-RU" dirty="0">
                <a:solidFill>
                  <a:srgbClr val="0070C0"/>
                </a:solidFill>
                <a:latin typeface="Consolas" panose="020B0609020204030204" pitchFamily="49" charset="0"/>
              </a:rPr>
              <a:t> &gt;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</a:rPr>
              <a:t>=</a:t>
            </a:r>
            <a:r>
              <a:rPr lang="ru-RU" dirty="0">
                <a:solidFill>
                  <a:srgbClr val="0070C0"/>
                </a:solidFill>
                <a:latin typeface="Consolas" panose="020B0609020204030204" pitchFamily="49" charset="0"/>
              </a:rPr>
              <a:t> 24)</a:t>
            </a:r>
          </a:p>
          <a:p>
            <a:r>
              <a:rPr lang="ru-RU" dirty="0">
                <a:solidFill>
                  <a:srgbClr val="0070C0"/>
                </a:solidFill>
                <a:latin typeface="Consolas" panose="020B0609020204030204" pitchFamily="49" charset="0"/>
              </a:rPr>
              <a:t>                </a:t>
            </a:r>
            <a:r>
              <a:rPr lang="ru-RU" dirty="0" err="1">
                <a:solidFill>
                  <a:srgbClr val="0070C0"/>
                </a:solidFill>
                <a:latin typeface="Consolas" panose="020B0609020204030204" pitchFamily="49" charset="0"/>
              </a:rPr>
              <a:t>throw</a:t>
            </a:r>
            <a:r>
              <a:rPr lang="ru-RU" dirty="0">
                <a:solidFill>
                  <a:srgbClr val="0070C0"/>
                </a:solidFill>
                <a:latin typeface="Consolas" panose="020B0609020204030204" pitchFamily="49" charset="0"/>
              </a:rPr>
              <a:t> </a:t>
            </a:r>
            <a:r>
              <a:rPr lang="ru-RU" dirty="0" err="1">
                <a:solidFill>
                  <a:srgbClr val="0070C0"/>
                </a:solidFill>
                <a:latin typeface="Consolas" panose="020B0609020204030204" pitchFamily="49" charset="0"/>
              </a:rPr>
              <a:t>new</a:t>
            </a:r>
            <a:r>
              <a:rPr lang="ru-RU" dirty="0">
                <a:solidFill>
                  <a:srgbClr val="0070C0"/>
                </a:solidFill>
                <a:latin typeface="Consolas" panose="020B0609020204030204" pitchFamily="49" charset="0"/>
              </a:rPr>
              <a:t> </a:t>
            </a:r>
            <a:r>
              <a:rPr lang="ru-RU" dirty="0" err="1">
                <a:solidFill>
                  <a:srgbClr val="0070C0"/>
                </a:solidFill>
                <a:latin typeface="Consolas" panose="020B0609020204030204" pitchFamily="49" charset="0"/>
              </a:rPr>
              <a:t>ArgumentOutOfRangeException</a:t>
            </a:r>
            <a:r>
              <a:rPr lang="ru-RU" dirty="0">
                <a:solidFill>
                  <a:srgbClr val="0070C0"/>
                </a:solidFill>
                <a:latin typeface="Consolas" panose="020B0609020204030204" pitchFamily="49" charset="0"/>
              </a:rPr>
              <a:t>(</a:t>
            </a:r>
            <a:r>
              <a:rPr lang="ru-RU" dirty="0" err="1">
                <a:solidFill>
                  <a:srgbClr val="0070C0"/>
                </a:solidFill>
                <a:latin typeface="Consolas" panose="020B0609020204030204" pitchFamily="49" charset="0"/>
              </a:rPr>
              <a:t>nameof</a:t>
            </a:r>
            <a:r>
              <a:rPr lang="ru-RU" dirty="0">
                <a:solidFill>
                  <a:srgbClr val="0070C0"/>
                </a:solidFill>
                <a:latin typeface="Consolas" panose="020B0609020204030204" pitchFamily="49" charset="0"/>
              </a:rPr>
              <a:t>(</a:t>
            </a:r>
            <a:r>
              <a:rPr lang="ru-RU" dirty="0" err="1">
                <a:solidFill>
                  <a:srgbClr val="0070C0"/>
                </a:solidFill>
                <a:latin typeface="Consolas" panose="020B0609020204030204" pitchFamily="49" charset="0"/>
              </a:rPr>
              <a:t>value</a:t>
            </a:r>
            <a:r>
              <a:rPr lang="ru-RU" dirty="0">
                <a:solidFill>
                  <a:srgbClr val="0070C0"/>
                </a:solidFill>
                <a:latin typeface="Consolas" panose="020B0609020204030204" pitchFamily="49" charset="0"/>
              </a:rPr>
              <a:t>),</a:t>
            </a:r>
          </a:p>
          <a:p>
            <a:r>
              <a:rPr lang="ru-RU" dirty="0">
                <a:solidFill>
                  <a:srgbClr val="0070C0"/>
                </a:solidFill>
                <a:latin typeface="Consolas" panose="020B0609020204030204" pitchFamily="49" charset="0"/>
              </a:rPr>
              <a:t>                      "The </a:t>
            </a:r>
            <a:r>
              <a:rPr lang="ru-RU" dirty="0" err="1">
                <a:solidFill>
                  <a:srgbClr val="0070C0"/>
                </a:solidFill>
                <a:latin typeface="Consolas" panose="020B0609020204030204" pitchFamily="49" charset="0"/>
              </a:rPr>
              <a:t>valid</a:t>
            </a:r>
            <a:r>
              <a:rPr lang="ru-RU" dirty="0">
                <a:solidFill>
                  <a:srgbClr val="0070C0"/>
                </a:solidFill>
                <a:latin typeface="Consolas" panose="020B0609020204030204" pitchFamily="49" charset="0"/>
              </a:rPr>
              <a:t> </a:t>
            </a:r>
            <a:r>
              <a:rPr lang="ru-RU" dirty="0" err="1">
                <a:solidFill>
                  <a:srgbClr val="0070C0"/>
                </a:solidFill>
                <a:latin typeface="Consolas" panose="020B0609020204030204" pitchFamily="49" charset="0"/>
              </a:rPr>
              <a:t>range</a:t>
            </a:r>
            <a:r>
              <a:rPr lang="ru-RU" dirty="0">
                <a:solidFill>
                  <a:srgbClr val="0070C0"/>
                </a:solidFill>
                <a:latin typeface="Consolas" panose="020B0609020204030204" pitchFamily="49" charset="0"/>
              </a:rPr>
              <a:t> </a:t>
            </a:r>
            <a:r>
              <a:rPr lang="ru-RU" dirty="0" err="1">
                <a:solidFill>
                  <a:srgbClr val="0070C0"/>
                </a:solidFill>
                <a:latin typeface="Consolas" panose="020B0609020204030204" pitchFamily="49" charset="0"/>
              </a:rPr>
              <a:t>is</a:t>
            </a:r>
            <a:r>
              <a:rPr lang="ru-RU" dirty="0">
                <a:solidFill>
                  <a:srgbClr val="0070C0"/>
                </a:solidFill>
                <a:latin typeface="Consolas" panose="020B0609020204030204" pitchFamily="49" charset="0"/>
              </a:rPr>
              <a:t> </a:t>
            </a:r>
            <a:r>
              <a:rPr lang="ru-RU" dirty="0" err="1">
                <a:solidFill>
                  <a:srgbClr val="0070C0"/>
                </a:solidFill>
                <a:latin typeface="Consolas" panose="020B0609020204030204" pitchFamily="49" charset="0"/>
              </a:rPr>
              <a:t>between</a:t>
            </a:r>
            <a:r>
              <a:rPr lang="ru-RU" dirty="0">
                <a:solidFill>
                  <a:srgbClr val="0070C0"/>
                </a:solidFill>
                <a:latin typeface="Consolas" panose="020B0609020204030204" pitchFamily="49" charset="0"/>
              </a:rPr>
              <a:t> 0 </a:t>
            </a:r>
            <a:r>
              <a:rPr lang="ru-RU" dirty="0" err="1">
                <a:solidFill>
                  <a:srgbClr val="0070C0"/>
                </a:solidFill>
                <a:latin typeface="Consolas" panose="020B0609020204030204" pitchFamily="49" charset="0"/>
              </a:rPr>
              <a:t>and</a:t>
            </a:r>
            <a:r>
              <a:rPr lang="ru-RU" dirty="0">
                <a:solidFill>
                  <a:srgbClr val="0070C0"/>
                </a:solidFill>
                <a:latin typeface="Consolas" panose="020B0609020204030204" pitchFamily="49" charset="0"/>
              </a:rPr>
              <a:t> 24.");</a:t>
            </a:r>
          </a:p>
          <a:p>
            <a:endParaRPr lang="ru-RU" dirty="0">
              <a:solidFill>
                <a:srgbClr val="0070C0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0070C0"/>
                </a:solidFill>
                <a:latin typeface="Consolas" panose="020B0609020204030204" pitchFamily="49" charset="0"/>
              </a:rPr>
              <a:t>            _</a:t>
            </a:r>
            <a:r>
              <a:rPr lang="ru-RU" dirty="0" err="1">
                <a:solidFill>
                  <a:srgbClr val="0070C0"/>
                </a:solidFill>
                <a:latin typeface="Consolas" panose="020B0609020204030204" pitchFamily="49" charset="0"/>
              </a:rPr>
              <a:t>seconds</a:t>
            </a:r>
            <a:r>
              <a:rPr lang="ru-RU" dirty="0">
                <a:solidFill>
                  <a:srgbClr val="0070C0"/>
                </a:solidFill>
                <a:latin typeface="Consolas" panose="020B0609020204030204" pitchFamily="49" charset="0"/>
              </a:rPr>
              <a:t> = </a:t>
            </a:r>
            <a:r>
              <a:rPr lang="ru-RU" dirty="0" err="1">
                <a:solidFill>
                  <a:srgbClr val="0070C0"/>
                </a:solidFill>
                <a:latin typeface="Consolas" panose="020B0609020204030204" pitchFamily="49" charset="0"/>
              </a:rPr>
              <a:t>value</a:t>
            </a:r>
            <a:r>
              <a:rPr lang="ru-RU" dirty="0">
                <a:solidFill>
                  <a:srgbClr val="0070C0"/>
                </a:solidFill>
                <a:latin typeface="Consolas" panose="020B0609020204030204" pitchFamily="49" charset="0"/>
              </a:rPr>
              <a:t> * 3600;</a:t>
            </a:r>
          </a:p>
          <a:p>
            <a:r>
              <a:rPr lang="ru-RU" dirty="0">
                <a:solidFill>
                  <a:srgbClr val="0070C0"/>
                </a:solidFill>
                <a:latin typeface="Consolas" panose="020B0609020204030204" pitchFamily="49" charset="0"/>
              </a:rPr>
              <a:t>        }</a:t>
            </a:r>
          </a:p>
          <a:p>
            <a:r>
              <a:rPr lang="ru-RU" dirty="0">
                <a:solidFill>
                  <a:srgbClr val="0070C0"/>
                </a:solidFill>
                <a:latin typeface="Consolas" panose="020B0609020204030204" pitchFamily="49" charset="0"/>
              </a:rPr>
              <a:t>    }</a:t>
            </a:r>
          </a:p>
          <a:p>
            <a:r>
              <a:rPr lang="ru-RU" dirty="0"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663874924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20C831D7-AF19-4AFF-BCC4-E9E378393D95}"/>
              </a:ext>
            </a:extLst>
          </p:cNvPr>
          <p:cNvSpPr/>
          <p:nvPr/>
        </p:nvSpPr>
        <p:spPr>
          <a:xfrm>
            <a:off x="20561" y="117693"/>
            <a:ext cx="11353800" cy="60016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sz="1600" dirty="0">
                <a:solidFill>
                  <a:srgbClr val="0000FF"/>
                </a:solidFill>
                <a:latin typeface="Consolas" panose="020B0609020204030204" pitchFamily="49" charset="0"/>
              </a:rPr>
              <a:t>internal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class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267F99"/>
                </a:solidFill>
                <a:latin typeface="Consolas" panose="020B0609020204030204" pitchFamily="49" charset="0"/>
              </a:rPr>
              <a:t>Circle</a:t>
            </a:r>
            <a:endParaRPr lang="de-DE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600" dirty="0">
                <a:solidFill>
                  <a:srgbClr val="0000FF"/>
                </a:solidFill>
                <a:latin typeface="Consolas" panose="020B0609020204030204" pitchFamily="49" charset="0"/>
              </a:rPr>
              <a:t>private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0000FF"/>
                </a:solidFill>
                <a:latin typeface="Consolas" panose="020B0609020204030204" pitchFamily="49" charset="0"/>
              </a:rPr>
              <a:t>double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001080"/>
                </a:solidFill>
                <a:latin typeface="Consolas" panose="020B0609020204030204" pitchFamily="49" charset="0"/>
              </a:rPr>
              <a:t>_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radius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0000FF"/>
                </a:solidFill>
                <a:latin typeface="Consolas" panose="020B0609020204030204" pitchFamily="49" charset="0"/>
              </a:rPr>
              <a:t>double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001080"/>
                </a:solidFill>
                <a:latin typeface="Consolas" panose="020B0609020204030204" pitchFamily="49" charset="0"/>
              </a:rPr>
              <a:t>Radius</a:t>
            </a:r>
            <a:endParaRPr lang="de-DE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{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get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{ </a:t>
            </a:r>
            <a:r>
              <a:rPr lang="de-DE" sz="1600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001080"/>
                </a:solidFill>
                <a:latin typeface="Consolas" panose="020B0609020204030204" pitchFamily="49" charset="0"/>
              </a:rPr>
              <a:t>_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radius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; }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set</a:t>
            </a:r>
            <a:endParaRPr lang="de-DE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{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   </a:t>
            </a:r>
            <a:r>
              <a:rPr lang="de-DE" sz="1600" dirty="0" err="1">
                <a:solidFill>
                  <a:srgbClr val="AF00DB"/>
                </a:solidFill>
                <a:latin typeface="Consolas" panose="020B0609020204030204" pitchFamily="49" charset="0"/>
              </a:rPr>
              <a:t>if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(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value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) </a:t>
            </a:r>
            <a:r>
              <a:rPr lang="de-DE" sz="1600" dirty="0" err="1">
                <a:solidFill>
                  <a:srgbClr val="AF00DB"/>
                </a:solidFill>
                <a:latin typeface="Consolas" panose="020B0609020204030204" pitchFamily="49" charset="0"/>
              </a:rPr>
              <a:t>throw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new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ArgumentException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sz="1600" dirty="0">
                <a:solidFill>
                  <a:srgbClr val="A31515"/>
                </a:solidFill>
                <a:latin typeface="Consolas" panose="020B0609020204030204" pitchFamily="49" charset="0"/>
              </a:rPr>
              <a:t>"Radius must not </a:t>
            </a:r>
            <a:r>
              <a:rPr lang="de-DE" sz="1600" dirty="0" err="1">
                <a:solidFill>
                  <a:srgbClr val="A31515"/>
                </a:solidFill>
                <a:latin typeface="Consolas" panose="020B0609020204030204" pitchFamily="49" charset="0"/>
              </a:rPr>
              <a:t>be</a:t>
            </a:r>
            <a:r>
              <a:rPr lang="de-DE" sz="1600" dirty="0">
                <a:solidFill>
                  <a:srgbClr val="A31515"/>
                </a:solidFill>
                <a:latin typeface="Consolas" panose="020B0609020204030204" pitchFamily="49" charset="0"/>
              </a:rPr>
              <a:t> negative"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   </a:t>
            </a:r>
            <a:r>
              <a:rPr lang="de-DE" sz="1600" dirty="0">
                <a:solidFill>
                  <a:srgbClr val="001080"/>
                </a:solidFill>
                <a:latin typeface="Consolas" panose="020B0609020204030204" pitchFamily="49" charset="0"/>
              </a:rPr>
              <a:t>_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radius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value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}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}</a:t>
            </a:r>
          </a:p>
          <a:p>
            <a:b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0000FF"/>
                </a:solidFill>
                <a:latin typeface="Consolas" panose="020B0609020204030204" pitchFamily="49" charset="0"/>
              </a:rPr>
              <a:t>double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001080"/>
                </a:solidFill>
                <a:latin typeface="Consolas" panose="020B0609020204030204" pitchFamily="49" charset="0"/>
              </a:rPr>
              <a:t>Area</a:t>
            </a:r>
            <a:endParaRPr lang="de-DE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{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get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{ </a:t>
            </a:r>
            <a:r>
              <a:rPr lang="de-DE" sz="1600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001080"/>
                </a:solidFill>
                <a:latin typeface="Consolas" panose="020B0609020204030204" pitchFamily="49" charset="0"/>
              </a:rPr>
              <a:t>Radius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*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001080"/>
                </a:solidFill>
                <a:latin typeface="Consolas" panose="020B0609020204030204" pitchFamily="49" charset="0"/>
              </a:rPr>
              <a:t>Radius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*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Math</a:t>
            </a:r>
            <a:r>
              <a:rPr lang="de-DE" sz="1600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PI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; }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}</a:t>
            </a:r>
          </a:p>
          <a:p>
            <a:b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795E26"/>
                </a:solidFill>
                <a:latin typeface="Consolas" panose="020B0609020204030204" pitchFamily="49" charset="0"/>
              </a:rPr>
              <a:t>Circle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sz="1600" dirty="0">
                <a:solidFill>
                  <a:srgbClr val="0000FF"/>
                </a:solidFill>
                <a:latin typeface="Consolas" panose="020B0609020204030204" pitchFamily="49" charset="0"/>
              </a:rPr>
              <a:t>double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radius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{</a:t>
            </a:r>
          </a:p>
          <a:p>
            <a:r>
              <a:rPr lang="de-DE" sz="1600" dirty="0">
                <a:solidFill>
                  <a:srgbClr val="AF00DB"/>
                </a:solidFill>
                <a:latin typeface="Consolas" panose="020B0609020204030204" pitchFamily="49" charset="0"/>
              </a:rPr>
              <a:t>         </a:t>
            </a:r>
            <a:r>
              <a:rPr lang="de-DE" sz="1600" dirty="0" err="1">
                <a:solidFill>
                  <a:srgbClr val="AF00DB"/>
                </a:solidFill>
                <a:latin typeface="Consolas" panose="020B0609020204030204" pitchFamily="49" charset="0"/>
              </a:rPr>
              <a:t>if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(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radius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) </a:t>
            </a:r>
            <a:r>
              <a:rPr lang="de-DE" sz="1600" dirty="0" err="1">
                <a:solidFill>
                  <a:srgbClr val="AF00DB"/>
                </a:solidFill>
                <a:latin typeface="Consolas" panose="020B0609020204030204" pitchFamily="49" charset="0"/>
              </a:rPr>
              <a:t>throw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new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ArgumentException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sz="1600" dirty="0">
                <a:solidFill>
                  <a:srgbClr val="A31515"/>
                </a:solidFill>
                <a:latin typeface="Consolas" panose="020B0609020204030204" pitchFamily="49" charset="0"/>
              </a:rPr>
              <a:t>"Radius </a:t>
            </a:r>
            <a:r>
              <a:rPr lang="de-DE" sz="1600" dirty="0" err="1">
                <a:solidFill>
                  <a:srgbClr val="A31515"/>
                </a:solidFill>
                <a:latin typeface="Consolas" panose="020B0609020204030204" pitchFamily="49" charset="0"/>
              </a:rPr>
              <a:t>must</a:t>
            </a:r>
            <a:r>
              <a:rPr lang="de-DE" sz="1600" dirty="0">
                <a:solidFill>
                  <a:srgbClr val="A31515"/>
                </a:solidFill>
                <a:latin typeface="Consolas" panose="020B0609020204030204" pitchFamily="49" charset="0"/>
              </a:rPr>
              <a:t> not </a:t>
            </a:r>
            <a:r>
              <a:rPr lang="de-DE" sz="1600" dirty="0" err="1">
                <a:solidFill>
                  <a:srgbClr val="A31515"/>
                </a:solidFill>
                <a:latin typeface="Consolas" panose="020B0609020204030204" pitchFamily="49" charset="0"/>
              </a:rPr>
              <a:t>be</a:t>
            </a:r>
            <a:r>
              <a:rPr lang="de-DE" sz="1600" dirty="0">
                <a:solidFill>
                  <a:srgbClr val="A31515"/>
                </a:solidFill>
                <a:latin typeface="Consolas" panose="020B0609020204030204" pitchFamily="49" charset="0"/>
              </a:rPr>
              <a:t> negative"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de-DE" sz="1600" dirty="0">
                <a:solidFill>
                  <a:srgbClr val="001080"/>
                </a:solidFill>
                <a:latin typeface="Consolas" panose="020B0609020204030204" pitchFamily="49" charset="0"/>
              </a:rPr>
              <a:t>_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radius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radius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}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}</a:t>
            </a:r>
            <a:endParaRPr lang="de-DE" sz="16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7CB96D8-16D7-4716-8984-65A5B33E8612}"/>
              </a:ext>
            </a:extLst>
          </p:cNvPr>
          <p:cNvSpPr/>
          <p:nvPr/>
        </p:nvSpPr>
        <p:spPr>
          <a:xfrm>
            <a:off x="5707333" y="5689729"/>
            <a:ext cx="6174750" cy="10772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267F99"/>
                </a:solidFill>
                <a:latin typeface="Consolas" panose="020B0609020204030204" pitchFamily="49" charset="0"/>
              </a:rPr>
              <a:t>Circle</a:t>
            </a:r>
            <a:r>
              <a:rPr lang="en-US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1080"/>
                </a:solidFill>
                <a:latin typeface="Consolas" panose="020B0609020204030204" pitchFamily="49" charset="0"/>
              </a:rPr>
              <a:t>c</a:t>
            </a:r>
            <a:r>
              <a:rPr lang="en-US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new</a:t>
            </a:r>
            <a:r>
              <a:rPr lang="en-US" sz="1600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en-US" sz="1600" dirty="0">
                <a:solidFill>
                  <a:srgbClr val="098658"/>
                </a:solidFill>
                <a:latin typeface="Consolas" panose="020B0609020204030204" pitchFamily="49" charset="0"/>
              </a:rPr>
              <a:t>10</a:t>
            </a:r>
            <a:r>
              <a:rPr lang="en-US" sz="1600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c</a:t>
            </a:r>
            <a:r>
              <a:rPr lang="en-US" sz="1600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en-US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Radius</a:t>
            </a:r>
            <a:r>
              <a:rPr lang="en-US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98658"/>
                </a:solidFill>
                <a:latin typeface="Consolas" panose="020B0609020204030204" pitchFamily="49" charset="0"/>
              </a:rPr>
              <a:t>3</a:t>
            </a:r>
            <a:r>
              <a:rPr lang="en-US" sz="16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br>
              <a:rPr lang="en-US" sz="1600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en-US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Console</a:t>
            </a:r>
            <a:r>
              <a:rPr lang="en-US" sz="1600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en-US" sz="1600" dirty="0" err="1">
                <a:solidFill>
                  <a:srgbClr val="795E26"/>
                </a:solidFill>
                <a:latin typeface="Consolas" panose="020B0609020204030204" pitchFamily="49" charset="0"/>
              </a:rPr>
              <a:t>WriteLine</a:t>
            </a:r>
            <a:r>
              <a:rPr lang="en-US" sz="1600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</a:rPr>
              <a:t>"Area:"</a:t>
            </a:r>
            <a:r>
              <a:rPr lang="en-US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+</a:t>
            </a:r>
            <a:r>
              <a:rPr lang="en-US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c</a:t>
            </a:r>
            <a:r>
              <a:rPr lang="en-US" sz="1600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en-US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Area</a:t>
            </a:r>
            <a:r>
              <a:rPr lang="en-US" sz="1600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en-US" sz="1600" dirty="0" err="1">
                <a:solidFill>
                  <a:srgbClr val="795E26"/>
                </a:solidFill>
                <a:latin typeface="Consolas" panose="020B0609020204030204" pitchFamily="49" charset="0"/>
              </a:rPr>
              <a:t>ToString</a:t>
            </a:r>
            <a:r>
              <a:rPr lang="en-US" sz="1600" dirty="0">
                <a:solidFill>
                  <a:srgbClr val="3B3B3B"/>
                </a:solidFill>
                <a:latin typeface="Consolas" panose="020B0609020204030204" pitchFamily="49" charset="0"/>
              </a:rPr>
              <a:t>());</a:t>
            </a:r>
            <a:endParaRPr lang="en-US" sz="16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734769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4E512F8-4C8F-4901-95F6-DCD0EE1B2905}"/>
              </a:ext>
            </a:extLst>
          </p:cNvPr>
          <p:cNvSpPr/>
          <p:nvPr/>
        </p:nvSpPr>
        <p:spPr>
          <a:xfrm>
            <a:off x="0" y="-1"/>
            <a:ext cx="12288688" cy="646330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internal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class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Counter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private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_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value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   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Поле _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value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будет увеличиваться всякий раз, когда происходит чтение свойства 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Value.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   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Даже, если просматривать его под отладчиком.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    // Это может вызвать удивление.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Value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{  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get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{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_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value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++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 } }</a:t>
            </a: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   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Это свойство будет долго вычисляться при просмотре под отладчиком.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LongCalculation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get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 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sum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  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for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(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i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i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1000000000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++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i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   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      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++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sum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   }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  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sum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}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}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66674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2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2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2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2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2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1127448" y="612844"/>
            <a:ext cx="9361040" cy="563231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class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Point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public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double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x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y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class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Triangle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public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double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GetArea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 </a:t>
            </a:r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const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double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GetPerimeter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 </a:t>
            </a:r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const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Point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GetCenter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 </a:t>
            </a:r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const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void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Move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double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dx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double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dy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void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Scale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double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sx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double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sy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void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Rotate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Point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center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double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angle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private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Point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m_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p0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m_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p1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m_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p2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custDataLst>
      <p:tags r:id="rId1"/>
    </p:custData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8CA9A22D-8CD2-461B-B8E6-83336E1CB0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Какие данные должен иметь </a:t>
            </a:r>
            <a:r>
              <a:rPr lang="en-US" dirty="0"/>
              <a:t>Rectangle?</a:t>
            </a:r>
            <a:endParaRPr lang="ru-R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D511EF7-BD0B-4591-875A-98624E5166FD}"/>
              </a:ext>
            </a:extLst>
          </p:cNvPr>
          <p:cNvSpPr txBox="1"/>
          <p:nvPr/>
        </p:nvSpPr>
        <p:spPr>
          <a:xfrm>
            <a:off x="851198" y="1628800"/>
            <a:ext cx="815144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struct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 </a:t>
            </a:r>
            <a:r>
              <a:rPr lang="en-US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Point</a:t>
            </a:r>
            <a:endParaRPr lang="ru-RU" sz="24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{</a:t>
            </a:r>
            <a:endParaRPr lang="ru-RU" sz="24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double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 x;</a:t>
            </a:r>
            <a:endParaRPr lang="ru-RU" sz="24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double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 y;</a:t>
            </a:r>
            <a:endParaRPr lang="ru-RU" sz="24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};</a:t>
            </a:r>
            <a:endParaRPr lang="ru-RU" sz="24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 </a:t>
            </a:r>
            <a:endParaRPr lang="ru-RU" sz="24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class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 </a:t>
            </a:r>
            <a:r>
              <a:rPr lang="en-US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Rectangle</a:t>
            </a:r>
            <a:endParaRPr lang="ru-RU" sz="24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{</a:t>
            </a:r>
            <a:endParaRPr lang="ru-RU" sz="24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public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:</a:t>
            </a:r>
            <a:endParaRPr lang="ru-RU" sz="24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  </a:t>
            </a:r>
            <a:r>
              <a:rPr lang="en-US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Point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GetLeftTop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()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const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;</a:t>
            </a:r>
            <a:endParaRPr lang="ru-RU" sz="24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  </a:t>
            </a:r>
            <a:r>
              <a:rPr lang="en-US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Point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GetRightBottom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()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const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;</a:t>
            </a:r>
            <a:endParaRPr lang="ru-RU" sz="24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double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GetWidth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()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const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;</a:t>
            </a:r>
            <a:endParaRPr lang="ru-RU" sz="24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double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GetHeight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()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const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;</a:t>
            </a:r>
            <a:endParaRPr lang="ru-RU" sz="24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  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/*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прочие методы 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*/</a:t>
            </a:r>
            <a:endParaRPr lang="ru-RU" sz="24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private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:</a:t>
            </a:r>
            <a:endParaRPr lang="ru-RU" sz="24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 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/* данные */</a:t>
            </a:r>
            <a:endParaRPr lang="ru-RU" sz="24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};</a:t>
            </a:r>
            <a:endParaRPr lang="ru-RU" sz="24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81200415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5975EF3-D202-3831-9F2C-A6FB152FE0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Указатель </a:t>
            </a:r>
            <a:r>
              <a:rPr lang="en-US" dirty="0"/>
              <a:t>this</a:t>
            </a:r>
            <a:endParaRPr lang="ru-RU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559F5461-1D1C-24E9-017C-313991AF94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7088250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77C610D-098E-0F75-A09F-2B74B3F1BB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Методы </a:t>
            </a:r>
            <a:r>
              <a:rPr lang="en-US" dirty="0"/>
              <a:t>vs </a:t>
            </a:r>
            <a:r>
              <a:rPr lang="ru-RU" dirty="0"/>
              <a:t>Функции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8D30DD6-11B4-916E-D134-3712E43CFB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ru-RU" dirty="0"/>
              <a:t>Метод — функция, связанная с конкретным классом и объектом.</a:t>
            </a:r>
          </a:p>
          <a:p>
            <a:r>
              <a:rPr lang="ru-RU" dirty="0"/>
              <a:t>Методы:</a:t>
            </a:r>
          </a:p>
          <a:p>
            <a:pPr lvl="1"/>
            <a:r>
              <a:rPr lang="ru-RU" dirty="0"/>
              <a:t>объявляются внутри класса (реализация может быть внутри или вне класса)</a:t>
            </a:r>
          </a:p>
          <a:p>
            <a:pPr lvl="1"/>
            <a:r>
              <a:rPr lang="ru-RU" dirty="0"/>
              <a:t>имеют доступ к приватным и защищённым членам класса</a:t>
            </a:r>
          </a:p>
          <a:p>
            <a:pPr lvl="1"/>
            <a:r>
              <a:rPr lang="ru-RU" dirty="0"/>
              <a:t>могут быть виртуальными и чисто виртуальными</a:t>
            </a:r>
          </a:p>
          <a:p>
            <a:pPr lvl="1"/>
            <a:r>
              <a:rPr lang="ru-RU" dirty="0"/>
              <a:t>вызываются для конкретного объекта</a:t>
            </a:r>
          </a:p>
          <a:p>
            <a:pPr lvl="2"/>
            <a:r>
              <a:rPr lang="ru-RU" dirty="0" err="1"/>
              <a:t>circle.GetArea</a:t>
            </a:r>
            <a:r>
              <a:rPr lang="ru-RU" dirty="0"/>
              <a:t>();</a:t>
            </a:r>
          </a:p>
          <a:p>
            <a:r>
              <a:rPr lang="ru-RU" dirty="0"/>
              <a:t>Обычные функции:</a:t>
            </a:r>
          </a:p>
          <a:p>
            <a:pPr lvl="1"/>
            <a:r>
              <a:rPr lang="ru-RU" dirty="0"/>
              <a:t>не принадлежат объекту</a:t>
            </a:r>
          </a:p>
          <a:p>
            <a:pPr lvl="1"/>
            <a:r>
              <a:rPr lang="ru-RU" dirty="0"/>
              <a:t>работают только со своими параметрами или глобальными данными</a:t>
            </a:r>
          </a:p>
          <a:p>
            <a:pPr lvl="1"/>
            <a:r>
              <a:rPr lang="ru-RU" dirty="0"/>
              <a:t>не имеют доступа к приватным данным классов</a:t>
            </a:r>
          </a:p>
        </p:txBody>
      </p:sp>
    </p:spTree>
    <p:extLst>
      <p:ext uri="{BB962C8B-B14F-4D97-AF65-F5344CB8AC3E}">
        <p14:creationId xmlns:p14="http://schemas.microsoft.com/office/powerpoint/2010/main" val="5081269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4F8AC7A3-F0A0-4E20-8E96-D56E0FE69C56}"/>
              </a:ext>
            </a:extLst>
          </p:cNvPr>
          <p:cNvSpPr/>
          <p:nvPr/>
        </p:nvSpPr>
        <p:spPr>
          <a:xfrm>
            <a:off x="335360" y="197346"/>
            <a:ext cx="10153128" cy="646330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struct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Point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double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x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y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};</a:t>
            </a: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struct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Vector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double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x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y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};</a:t>
            </a:r>
          </a:p>
          <a:p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Функция принимает ссылку на точку, которую нужно переместить.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MovePoint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Point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p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Vector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offset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 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p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x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+=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offset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x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p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y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+=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offset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y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</a:t>
            </a:r>
          </a:p>
          <a:p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main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 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Point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p1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p2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   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Сдвигаем точку 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p1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на вектор с координатами (1, 2.5).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MovePoint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p1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{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1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2.5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});</a:t>
            </a: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   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Сдвигаем точку 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p1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на вектор с координатами (-1, -1).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MovePoint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p2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{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-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1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-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1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});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136678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6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6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6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6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63C00F9-F5D0-45EE-B02D-76D5B9C00D5A}"/>
              </a:ext>
            </a:extLst>
          </p:cNvPr>
          <p:cNvSpPr/>
          <p:nvPr/>
        </p:nvSpPr>
        <p:spPr>
          <a:xfrm>
            <a:off x="263352" y="332656"/>
            <a:ext cx="11305256" cy="59093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struct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Vector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double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x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y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};</a:t>
            </a: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struct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Point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double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x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y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MoveBy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Vector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v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 {</a:t>
            </a:r>
          </a:p>
          <a:p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       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Внутри метода обращаемся к своим полям, указывая их имена.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x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+=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v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x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y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+=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v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y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}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};</a:t>
            </a: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main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 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Point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p1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p2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   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Для вызова метода указываем объект.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p1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MoveBy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({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1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2.5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});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p2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MovePoint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({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-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1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-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1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});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569ADBA-538D-4F2F-B3C4-19CA8D457303}"/>
              </a:ext>
            </a:extLst>
          </p:cNvPr>
          <p:cNvSpPr/>
          <p:nvPr/>
        </p:nvSpPr>
        <p:spPr>
          <a:xfrm>
            <a:off x="4655840" y="3429000"/>
            <a:ext cx="6096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dirty="0"/>
              <a:t>Откуда метод </a:t>
            </a:r>
            <a:r>
              <a:rPr lang="ru-RU" dirty="0" err="1">
                <a:solidFill>
                  <a:srgbClr val="EB5757"/>
                </a:solidFill>
                <a:latin typeface="SFMono-Regular"/>
              </a:rPr>
              <a:t>MoveBy</a:t>
            </a:r>
            <a:r>
              <a:rPr lang="ru-RU" dirty="0"/>
              <a:t> знает, какую точку перемещать, если среди его параметров перемещаемая точка не фигурирует?</a:t>
            </a:r>
          </a:p>
        </p:txBody>
      </p:sp>
    </p:spTree>
    <p:extLst>
      <p:ext uri="{BB962C8B-B14F-4D97-AF65-F5344CB8AC3E}">
        <p14:creationId xmlns:p14="http://schemas.microsoft.com/office/powerpoint/2010/main" val="11028400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Указатель </a:t>
            </a:r>
            <a:r>
              <a:rPr lang="en-US" dirty="0"/>
              <a:t>this</a:t>
            </a:r>
            <a:endParaRPr lang="ru-RU" dirty="0"/>
          </a:p>
        </p:txBody>
      </p:sp>
      <p:sp>
        <p:nvSpPr>
          <p:cNvPr id="30723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Внутри метода можно обращаться к полям и методам объекта по их имени.</a:t>
            </a:r>
          </a:p>
          <a:p>
            <a:r>
              <a:rPr lang="ru-RU" dirty="0"/>
              <a:t>Как это работает:</a:t>
            </a:r>
          </a:p>
          <a:p>
            <a:pPr lvl="1"/>
            <a:r>
              <a:rPr lang="ru-RU" dirty="0"/>
              <a:t>при вызове метода ему неявно передаётся указатель на объект</a:t>
            </a:r>
          </a:p>
          <a:p>
            <a:pPr lvl="1"/>
            <a:r>
              <a:rPr lang="ru-RU" dirty="0"/>
              <a:t>этот указатель называется </a:t>
            </a:r>
            <a:r>
              <a:rPr lang="ru-RU" dirty="0" err="1"/>
              <a:t>this</a:t>
            </a:r>
            <a:endParaRPr lang="ru-RU" dirty="0"/>
          </a:p>
          <a:p>
            <a:pPr lvl="1"/>
            <a:r>
              <a:rPr lang="ru-RU" dirty="0" err="1"/>
              <a:t>this</a:t>
            </a:r>
            <a:r>
              <a:rPr lang="ru-RU" dirty="0"/>
              <a:t> указывает на текущий объект, для которого вызван метод</a:t>
            </a:r>
          </a:p>
          <a:p>
            <a:r>
              <a:rPr lang="ru-RU" dirty="0"/>
              <a:t>Пример:</a:t>
            </a:r>
            <a:endParaRPr lang="en-US" dirty="0"/>
          </a:p>
          <a:p>
            <a:pPr lvl="1"/>
            <a:r>
              <a:rPr lang="en-US" dirty="0" err="1"/>
              <a:t>point.MoveBy</a:t>
            </a:r>
            <a:r>
              <a:rPr lang="en-US" dirty="0"/>
              <a:t>(v); // </a:t>
            </a:r>
            <a:r>
              <a:rPr lang="ru-RU" dirty="0"/>
              <a:t>Адрес </a:t>
            </a:r>
            <a:r>
              <a:rPr lang="en-US" dirty="0"/>
              <a:t>point</a:t>
            </a:r>
            <a:r>
              <a:rPr lang="ru-RU" dirty="0"/>
              <a:t> передаётся неявно как </a:t>
            </a:r>
            <a:r>
              <a:rPr lang="en-US" b="1" dirty="0"/>
              <a:t>this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5085AF7-1A54-455F-B78D-8BF3009D0BB4}"/>
              </a:ext>
            </a:extLst>
          </p:cNvPr>
          <p:cNvSpPr/>
          <p:nvPr/>
        </p:nvSpPr>
        <p:spPr>
          <a:xfrm>
            <a:off x="767408" y="548680"/>
            <a:ext cx="8856984" cy="34163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// Структура глазами компилятора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struct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Point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double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x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y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   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Первым параметром в метод передаётся неявный параметр 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this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.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MoveBy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/* Point* 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const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this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, */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Vector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v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 {</a:t>
            </a:r>
          </a:p>
          <a:p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       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При обращении к полям и методам через 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this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вместо точки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        // используется стрелочка -&gt;, состоящая из символов - и &gt;.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this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-&gt;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x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+=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v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x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this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-&gt;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y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+=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v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y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}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};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430635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9981EEE4-647A-407D-9633-C8168C8CBD66}"/>
              </a:ext>
            </a:extLst>
          </p:cNvPr>
          <p:cNvSpPr/>
          <p:nvPr/>
        </p:nvSpPr>
        <p:spPr>
          <a:xfrm>
            <a:off x="479376" y="908720"/>
            <a:ext cx="11233248" cy="45243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 err="1">
                <a:solidFill>
                  <a:srgbClr val="0000FF"/>
                </a:solidFill>
                <a:latin typeface="Consolas" panose="020B0609020204030204" pitchFamily="49" charset="0"/>
              </a:rPr>
              <a:t>struct</a:t>
            </a:r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dirty="0" err="1">
                <a:solidFill>
                  <a:srgbClr val="267F99"/>
                </a:solidFill>
                <a:latin typeface="Consolas" panose="020B0609020204030204" pitchFamily="49" charset="0"/>
              </a:rPr>
              <a:t>Point</a:t>
            </a:r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 {</a:t>
            </a:r>
          </a:p>
          <a:p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ru-RU" dirty="0" err="1">
                <a:solidFill>
                  <a:srgbClr val="0000FF"/>
                </a:solidFill>
                <a:latin typeface="Consolas" panose="020B0609020204030204" pitchFamily="49" charset="0"/>
              </a:rPr>
              <a:t>double</a:t>
            </a:r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dirty="0">
                <a:solidFill>
                  <a:srgbClr val="001080"/>
                </a:solidFill>
                <a:latin typeface="Consolas" panose="020B0609020204030204" pitchFamily="49" charset="0"/>
              </a:rPr>
              <a:t>x</a:t>
            </a:r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ru-RU" dirty="0">
                <a:solidFill>
                  <a:srgbClr val="001080"/>
                </a:solidFill>
                <a:latin typeface="Consolas" panose="020B0609020204030204" pitchFamily="49" charset="0"/>
              </a:rPr>
              <a:t>y</a:t>
            </a:r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b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ru-RU" dirty="0" err="1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dirty="0" err="1">
                <a:solidFill>
                  <a:srgbClr val="795E26"/>
                </a:solidFill>
                <a:latin typeface="Consolas" panose="020B0609020204030204" pitchFamily="49" charset="0"/>
              </a:rPr>
              <a:t>Set</a:t>
            </a:r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ru-RU" dirty="0" err="1">
                <a:solidFill>
                  <a:srgbClr val="0000FF"/>
                </a:solidFill>
                <a:latin typeface="Consolas" panose="020B0609020204030204" pitchFamily="49" charset="0"/>
              </a:rPr>
              <a:t>double</a:t>
            </a:r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dirty="0">
                <a:solidFill>
                  <a:srgbClr val="001080"/>
                </a:solidFill>
                <a:latin typeface="Consolas" panose="020B0609020204030204" pitchFamily="49" charset="0"/>
              </a:rPr>
              <a:t>x</a:t>
            </a:r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ru-RU" dirty="0" err="1">
                <a:solidFill>
                  <a:srgbClr val="0000FF"/>
                </a:solidFill>
                <a:latin typeface="Consolas" panose="020B0609020204030204" pitchFamily="49" charset="0"/>
              </a:rPr>
              <a:t>double</a:t>
            </a:r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dirty="0">
                <a:solidFill>
                  <a:srgbClr val="001080"/>
                </a:solidFill>
                <a:latin typeface="Consolas" panose="020B0609020204030204" pitchFamily="49" charset="0"/>
              </a:rPr>
              <a:t>y</a:t>
            </a:r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) {</a:t>
            </a:r>
          </a:p>
          <a:p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        // Область видимости параметров x и y ограничена 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        // методом </a:t>
            </a:r>
            <a:r>
              <a:rPr lang="ru-RU" dirty="0" err="1">
                <a:solidFill>
                  <a:srgbClr val="008000"/>
                </a:solidFill>
                <a:latin typeface="Consolas" panose="020B0609020204030204" pitchFamily="49" charset="0"/>
              </a:rPr>
              <a:t>Point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::</a:t>
            </a:r>
            <a:r>
              <a:rPr lang="ru-RU" dirty="0" err="1">
                <a:solidFill>
                  <a:srgbClr val="008000"/>
                </a:solidFill>
                <a:latin typeface="Consolas" panose="020B0609020204030204" pitchFamily="49" charset="0"/>
              </a:rPr>
              <a:t>Set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. Поэтому внутри метода </a:t>
            </a:r>
            <a:r>
              <a:rPr lang="ru-RU" dirty="0" err="1">
                <a:solidFill>
                  <a:srgbClr val="008000"/>
                </a:solidFill>
                <a:latin typeface="Consolas" panose="020B0609020204030204" pitchFamily="49" charset="0"/>
              </a:rPr>
              <a:t>Set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 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        // имена x и y относятся к параметрам, а не к полям.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b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        // Когда мы пишем </a:t>
            </a:r>
            <a:r>
              <a:rPr lang="ru-RU" dirty="0" err="1">
                <a:solidFill>
                  <a:srgbClr val="008000"/>
                </a:solidFill>
                <a:latin typeface="Consolas" panose="020B0609020204030204" pitchFamily="49" charset="0"/>
              </a:rPr>
              <a:t>this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-&gt;x и </a:t>
            </a:r>
            <a:r>
              <a:rPr lang="ru-RU" dirty="0" err="1">
                <a:solidFill>
                  <a:srgbClr val="008000"/>
                </a:solidFill>
                <a:latin typeface="Consolas" panose="020B0609020204030204" pitchFamily="49" charset="0"/>
              </a:rPr>
              <a:t>this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-&gt;y, то явно сообщаем 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        // компилятору, что обращаемся к полям текущего объекта.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ru-RU" dirty="0" err="1">
                <a:solidFill>
                  <a:srgbClr val="0000FF"/>
                </a:solidFill>
                <a:latin typeface="Consolas" panose="020B0609020204030204" pitchFamily="49" charset="0"/>
              </a:rPr>
              <a:t>this</a:t>
            </a:r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-&gt;</a:t>
            </a:r>
            <a:r>
              <a:rPr lang="ru-RU" dirty="0">
                <a:solidFill>
                  <a:srgbClr val="001080"/>
                </a:solidFill>
                <a:latin typeface="Consolas" panose="020B0609020204030204" pitchFamily="49" charset="0"/>
              </a:rPr>
              <a:t>x</a:t>
            </a:r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dirty="0">
                <a:solidFill>
                  <a:srgbClr val="001080"/>
                </a:solidFill>
                <a:latin typeface="Consolas" panose="020B0609020204030204" pitchFamily="49" charset="0"/>
              </a:rPr>
              <a:t>x</a:t>
            </a:r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ru-RU" dirty="0" err="1">
                <a:solidFill>
                  <a:srgbClr val="0000FF"/>
                </a:solidFill>
                <a:latin typeface="Consolas" panose="020B0609020204030204" pitchFamily="49" charset="0"/>
              </a:rPr>
              <a:t>this</a:t>
            </a:r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-&gt;</a:t>
            </a:r>
            <a:r>
              <a:rPr lang="ru-RU" dirty="0">
                <a:solidFill>
                  <a:srgbClr val="001080"/>
                </a:solidFill>
                <a:latin typeface="Consolas" panose="020B0609020204030204" pitchFamily="49" charset="0"/>
              </a:rPr>
              <a:t>y</a:t>
            </a:r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dirty="0">
                <a:solidFill>
                  <a:srgbClr val="001080"/>
                </a:solidFill>
                <a:latin typeface="Consolas" panose="020B0609020204030204" pitchFamily="49" charset="0"/>
              </a:rPr>
              <a:t>y</a:t>
            </a:r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b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        // Если напишем x = x, то присвоим параметру x его собственное значение.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    }</a:t>
            </a:r>
          </a:p>
          <a:p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};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626951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2B37C8-F3D3-9EB9-7688-B5BC4993AD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Когда использовать </a:t>
            </a:r>
            <a:r>
              <a:rPr lang="en-US" dirty="0"/>
              <a:t>this </a:t>
            </a:r>
            <a:r>
              <a:rPr lang="ru-RU" dirty="0"/>
              <a:t>в </a:t>
            </a:r>
            <a:r>
              <a:rPr lang="en-US" dirty="0"/>
              <a:t>C++?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80B917-9D9A-57BF-E41C-A6E2E136FE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ru-RU" dirty="0"/>
              <a:t>Общее правило:</a:t>
            </a:r>
            <a:r>
              <a:rPr lang="en-US" dirty="0"/>
              <a:t> </a:t>
            </a:r>
            <a:r>
              <a:rPr lang="ru-RU" dirty="0"/>
              <a:t>используйте </a:t>
            </a:r>
            <a:r>
              <a:rPr lang="ru-RU" dirty="0" err="1"/>
              <a:t>this</a:t>
            </a:r>
            <a:r>
              <a:rPr lang="ru-RU" dirty="0"/>
              <a:t> только когда это действительно необходимо.</a:t>
            </a:r>
          </a:p>
          <a:p>
            <a:r>
              <a:rPr lang="ru-RU" dirty="0"/>
              <a:t>Обычно </a:t>
            </a:r>
            <a:r>
              <a:rPr lang="ru-RU" dirty="0" err="1"/>
              <a:t>this</a:t>
            </a:r>
            <a:r>
              <a:rPr lang="ru-RU" dirty="0"/>
              <a:t> не пишут, потому что компилятор добавляет его неявно.</a:t>
            </a:r>
          </a:p>
          <a:p>
            <a:r>
              <a:rPr lang="ru-RU" dirty="0"/>
              <a:t>Когда </a:t>
            </a:r>
            <a:r>
              <a:rPr lang="ru-RU" dirty="0" err="1"/>
              <a:t>this</a:t>
            </a:r>
            <a:r>
              <a:rPr lang="ru-RU" dirty="0"/>
              <a:t> нужен:</a:t>
            </a:r>
          </a:p>
          <a:p>
            <a:pPr lvl="1"/>
            <a:r>
              <a:rPr lang="ru-RU" dirty="0"/>
              <a:t>чтобы вернуть или передать текущий объект</a:t>
            </a:r>
          </a:p>
          <a:p>
            <a:pPr lvl="2"/>
            <a:r>
              <a:rPr lang="ru-RU" dirty="0" err="1"/>
              <a:t>return</a:t>
            </a:r>
            <a:r>
              <a:rPr lang="ru-RU" dirty="0"/>
              <a:t> *</a:t>
            </a:r>
            <a:r>
              <a:rPr lang="ru-RU" dirty="0" err="1"/>
              <a:t>this</a:t>
            </a:r>
            <a:r>
              <a:rPr lang="ru-RU" dirty="0"/>
              <a:t>;</a:t>
            </a:r>
          </a:p>
          <a:p>
            <a:pPr lvl="1"/>
            <a:r>
              <a:rPr lang="ru-RU" dirty="0"/>
              <a:t>чтобы получить указатель на текущий объект</a:t>
            </a:r>
          </a:p>
          <a:p>
            <a:pPr lvl="2"/>
            <a:r>
              <a:rPr lang="ru-RU" dirty="0" err="1"/>
              <a:t>someFunction</a:t>
            </a:r>
            <a:r>
              <a:rPr lang="ru-RU" dirty="0"/>
              <a:t>(</a:t>
            </a:r>
            <a:r>
              <a:rPr lang="ru-RU" dirty="0" err="1"/>
              <a:t>this</a:t>
            </a:r>
            <a:r>
              <a:rPr lang="ru-RU" dirty="0"/>
              <a:t>);</a:t>
            </a:r>
          </a:p>
          <a:p>
            <a:pPr lvl="1"/>
            <a:r>
              <a:rPr lang="ru-RU" dirty="0"/>
              <a:t>в шаблонных классах, если нужно обратиться к члену базового класса,</a:t>
            </a:r>
            <a:br>
              <a:rPr lang="ru-RU" dirty="0"/>
            </a:br>
            <a:r>
              <a:rPr lang="ru-RU" dirty="0"/>
              <a:t>зависящему от параметра шаблона</a:t>
            </a:r>
          </a:p>
          <a:p>
            <a:r>
              <a:rPr lang="ru-RU" dirty="0"/>
              <a:t>Не стоит писать </a:t>
            </a:r>
            <a:r>
              <a:rPr lang="ru-RU" dirty="0" err="1"/>
              <a:t>this</a:t>
            </a:r>
            <a:r>
              <a:rPr lang="ru-RU" dirty="0"/>
              <a:t> без необходимости</a:t>
            </a:r>
            <a:endParaRPr lang="en-US" dirty="0"/>
          </a:p>
          <a:p>
            <a:pPr lvl="1"/>
            <a:r>
              <a:rPr lang="ru-RU" dirty="0"/>
              <a:t>в отличие от некоторых других языков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028022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8A39A880-4ACC-B895-F695-8D722600A03D}"/>
              </a:ext>
            </a:extLst>
          </p:cNvPr>
          <p:cNvSpPr txBox="1"/>
          <p:nvPr/>
        </p:nvSpPr>
        <p:spPr>
          <a:xfrm>
            <a:off x="1055440" y="1628800"/>
            <a:ext cx="9721080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Vector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x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y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Оператор += возвращает ссылку на текущий объект,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// чтобы можно было использовать цепочку вызовов: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//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Vector v1, v2, v3;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// v1 += v2 += v3;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Vector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operator+=(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Vector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other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x +=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other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y +=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other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3987459217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ABCBBA43-DAC2-DAEA-A410-E17CBB0EB45A}"/>
              </a:ext>
            </a:extLst>
          </p:cNvPr>
          <p:cNvSpPr txBox="1"/>
          <p:nvPr/>
        </p:nvSpPr>
        <p:spPr>
          <a:xfrm>
            <a:off x="839416" y="116632"/>
            <a:ext cx="10153128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Base</a:t>
            </a:r>
            <a:r>
              <a:rPr lang="ru-RU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SetValue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v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v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protected: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{};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Derived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Base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PrintValue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   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Без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this-&gt;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будет ошибка компиляции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Derived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derived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derived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PrintValue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7940257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5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5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5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5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68E400EE-5A84-8D9D-5878-3003C763E1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Инициализация класса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1D12F73-A8D2-3289-21BE-6B8C5F4971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52690472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5">
            <a:extLst>
              <a:ext uri="{FF2B5EF4-FFF2-40B4-BE49-F238E27FC236}">
                <a16:creationId xmlns:a16="http://schemas.microsoft.com/office/drawing/2014/main" id="{58504201-66F6-D93A-8AE3-7A2C674663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Начальное состояние объекта</a:t>
            </a:r>
          </a:p>
        </p:txBody>
      </p:sp>
      <p:sp>
        <p:nvSpPr>
          <p:cNvPr id="7" name="Объект 6">
            <a:extLst>
              <a:ext uri="{FF2B5EF4-FFF2-40B4-BE49-F238E27FC236}">
                <a16:creationId xmlns:a16="http://schemas.microsoft.com/office/drawing/2014/main" id="{F5BD8F3F-92BE-AC90-9544-DE8901F1DB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Состояние экземпляра класса определяется значением его полей</a:t>
            </a:r>
          </a:p>
          <a:p>
            <a:r>
              <a:rPr lang="ru-RU" dirty="0"/>
              <a:t>Поля класса делают приватными, чтобы нельзя было нарушить инварианты класса</a:t>
            </a:r>
          </a:p>
          <a:p>
            <a:r>
              <a:rPr lang="ru-RU" dirty="0"/>
              <a:t>Вызов публичного метода переводит объект из одного валидного состояния в другое валидное</a:t>
            </a:r>
          </a:p>
          <a:p>
            <a:pPr lvl="1"/>
            <a:r>
              <a:rPr lang="ru-RU" dirty="0"/>
              <a:t>Либо не изменяет состояние объекта</a:t>
            </a:r>
          </a:p>
          <a:p>
            <a:r>
              <a:rPr lang="ru-RU" dirty="0"/>
              <a:t>Следствие: после своего создания объект должен быть в валидном состоянии</a:t>
            </a:r>
          </a:p>
          <a:p>
            <a:pPr lvl="1"/>
            <a:r>
              <a:rPr lang="ru-RU" dirty="0"/>
              <a:t>Для этого должен выполниться некоторый код</a:t>
            </a:r>
          </a:p>
        </p:txBody>
      </p:sp>
    </p:spTree>
    <p:extLst>
      <p:ext uri="{BB962C8B-B14F-4D97-AF65-F5344CB8AC3E}">
        <p14:creationId xmlns:p14="http://schemas.microsoft.com/office/powerpoint/2010/main" val="40346167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8B3D4802-EAD6-A3C9-D716-6BBBF08EDB75}"/>
              </a:ext>
            </a:extLst>
          </p:cNvPr>
          <p:cNvSpPr txBox="1"/>
          <p:nvPr/>
        </p:nvSpPr>
        <p:spPr>
          <a:xfrm>
            <a:off x="0" y="0"/>
            <a:ext cx="9140734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Rational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GetNumerator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m_numerator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GetDenominator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m_denominator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SetNumerator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numerator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m_numerator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numerator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SetDenominator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denominator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denominator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!=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Знаменатель не может быть равен нулю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m_denominator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denominator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m_numerator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Числитель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m_denominator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Знаменатель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DBC8C9C-EC71-D3F6-8DFF-7CC6ED05850F}"/>
              </a:ext>
            </a:extLst>
          </p:cNvPr>
          <p:cNvSpPr txBox="1"/>
          <p:nvPr/>
        </p:nvSpPr>
        <p:spPr>
          <a:xfrm>
            <a:off x="4943872" y="90107"/>
            <a:ext cx="7128792" cy="286232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Rational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four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four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SetNumerator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dirty="0">
              <a:solidFill>
                <a:srgbClr val="008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// Создаём дробь 2/3 в три шага: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Rational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twoTrird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1.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Объявляем переменную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twoTrird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SetNumerator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2.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Задаём числитель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twoTrird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SetDenominator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3.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Задаём знаменатель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753DFD4-1755-E884-4851-2F9AC34C364D}"/>
              </a:ext>
            </a:extLst>
          </p:cNvPr>
          <p:cNvSpPr txBox="1"/>
          <p:nvPr/>
        </p:nvSpPr>
        <p:spPr>
          <a:xfrm>
            <a:off x="5303912" y="5076088"/>
            <a:ext cx="6747238" cy="120032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Rational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two_third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two_third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SetNumerator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// &lt;--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Ошибка.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two_third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SetDenominator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&lt;--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Ошибка.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E4F523D-6C45-5134-67E9-5B55480C4FED}"/>
              </a:ext>
            </a:extLst>
          </p:cNvPr>
          <p:cNvSpPr txBox="1"/>
          <p:nvPr/>
        </p:nvSpPr>
        <p:spPr>
          <a:xfrm>
            <a:off x="4758266" y="3565773"/>
            <a:ext cx="7500003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Rational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CreateRational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numerator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denominator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</p:txBody>
      </p:sp>
    </p:spTree>
    <p:extLst>
      <p:ext uri="{BB962C8B-B14F-4D97-AF65-F5344CB8AC3E}">
        <p14:creationId xmlns:p14="http://schemas.microsoft.com/office/powerpoint/2010/main" val="17819953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2" grpId="0" animBg="1"/>
      <p:bldP spid="16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Конструктор</a:t>
            </a:r>
            <a:endParaRPr lang="ru-RU" dirty="0"/>
          </a:p>
        </p:txBody>
      </p:sp>
      <p:sp>
        <p:nvSpPr>
          <p:cNvPr id="33795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Специальная функция-член класса для инициализации объекта в момент его создания</a:t>
            </a:r>
          </a:p>
          <a:p>
            <a:r>
              <a:rPr lang="ru-RU" dirty="0"/>
              <a:t>Конструктор вызывается один раз в момент создания экземпляра класса</a:t>
            </a:r>
            <a:r>
              <a:rPr lang="en-US" dirty="0"/>
              <a:t> (</a:t>
            </a:r>
            <a:r>
              <a:rPr lang="ru-RU" dirty="0"/>
              <a:t>объявление переменной класса или вызов оператора </a:t>
            </a:r>
            <a:r>
              <a:rPr lang="en-US" dirty="0"/>
              <a:t>new)</a:t>
            </a:r>
            <a:endParaRPr lang="ru-RU" dirty="0"/>
          </a:p>
          <a:p>
            <a:r>
              <a:rPr lang="ru-RU" dirty="0"/>
              <a:t>В классе может быть несколько конструкторов, чтобы инициализировать по-разному</a:t>
            </a:r>
          </a:p>
          <a:p>
            <a:pPr lvl="1"/>
            <a:r>
              <a:rPr lang="ru-RU" dirty="0"/>
              <a:t>Они должны различаться количеством или типами аргументов</a:t>
            </a:r>
          </a:p>
          <a:p>
            <a:pPr lvl="1"/>
            <a:r>
              <a:rPr lang="ru-RU" dirty="0"/>
              <a:t>Для инициализации объекта может быть вызван только один из них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79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379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79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379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79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379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79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379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79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379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795" grpId="0" build="p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CC082CF-D1A2-C148-B111-980DC2F2B268}"/>
              </a:ext>
            </a:extLst>
          </p:cNvPr>
          <p:cNvSpPr txBox="1"/>
          <p:nvPr/>
        </p:nvSpPr>
        <p:spPr>
          <a:xfrm>
            <a:off x="119336" y="-1"/>
            <a:ext cx="9021398" cy="70173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Rational 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5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// </a:t>
            </a:r>
            <a:r>
              <a:rPr lang="ru-RU" sz="15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Это конструктор, который инициализирует дробь нужными</a:t>
            </a:r>
            <a:endParaRPr lang="ru-RU" sz="15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5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// значениями числителя и знаменателя.</a:t>
            </a:r>
            <a:endParaRPr lang="ru-RU" sz="15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5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Rational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numerator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denominator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{</a:t>
            </a:r>
          </a:p>
          <a:p>
            <a:pPr>
              <a:buNone/>
            </a:pP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500" b="0" dirty="0">
                <a:solidFill>
                  <a:srgbClr val="8A1BFF"/>
                </a:solidFill>
                <a:effectLst/>
                <a:latin typeface="Consolas" panose="020B0609020204030204" pitchFamily="49" charset="0"/>
              </a:rPr>
              <a:t>assert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denominator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!= </a:t>
            </a:r>
            <a:r>
              <a:rPr lang="en-US" sz="15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m_numerator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5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numerator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m_denominator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5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denominator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…</a:t>
            </a:r>
            <a:b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sz="15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m_numerator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m_denominator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b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sz="15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// </a:t>
            </a:r>
            <a:r>
              <a:rPr lang="ru-RU" sz="15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Конструктор можно вызвать, создав объект.</a:t>
            </a:r>
            <a:endParaRPr lang="ru-RU" sz="15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5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// Параметры можно передать в фигурных скобках.</a:t>
            </a:r>
            <a:endParaRPr lang="ru-RU" sz="15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5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Rational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half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 </a:t>
            </a:r>
            <a:r>
              <a:rPr lang="en-US" sz="15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5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};</a:t>
            </a:r>
          </a:p>
          <a:p>
            <a:pPr>
              <a:buNone/>
            </a:pPr>
            <a:endParaRPr lang="en-US" sz="15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// </a:t>
            </a:r>
            <a:r>
              <a:rPr lang="ru-RU" sz="15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После работы конструктора </a:t>
            </a:r>
            <a:r>
              <a:rPr lang="en-US" sz="15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Rational </a:t>
            </a:r>
            <a:r>
              <a:rPr lang="ru-RU" sz="15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поля</a:t>
            </a:r>
            <a:endParaRPr lang="ru-RU" sz="15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5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// получили переданные в параметрах значения.</a:t>
            </a:r>
            <a:endParaRPr lang="ru-RU" sz="15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500" b="0" dirty="0">
                <a:solidFill>
                  <a:srgbClr val="8A1BFF"/>
                </a:solidFill>
                <a:effectLst/>
                <a:latin typeface="Consolas" panose="020B0609020204030204" pitchFamily="49" charset="0"/>
              </a:rPr>
              <a:t>assert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half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GetNumerator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== </a:t>
            </a:r>
            <a:r>
              <a:rPr lang="en-US" sz="15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&amp;&amp; </a:t>
            </a:r>
            <a:r>
              <a:rPr lang="en-US" sz="15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half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GetDenominator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== </a:t>
            </a:r>
            <a:r>
              <a:rPr lang="en-US" sz="15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endParaRPr lang="en-US" sz="15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// </a:t>
            </a:r>
            <a:r>
              <a:rPr lang="ru-RU" sz="15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Вызвать конструктор явно нельзя.</a:t>
            </a:r>
            <a:endParaRPr lang="ru-RU" sz="15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5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// Единственный способ — создать новый объект.</a:t>
            </a:r>
            <a:endParaRPr lang="ru-RU" sz="15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sz="1500" b="0" dirty="0" err="1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half.Rational</a:t>
            </a:r>
            <a:r>
              <a:rPr lang="en-US" sz="1500" b="0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(10, 15); </a:t>
            </a:r>
            <a:r>
              <a:rPr lang="en-US" sz="15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&lt;-- </a:t>
            </a:r>
            <a:r>
              <a:rPr lang="ru-RU" sz="15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Ошибка!</a:t>
            </a:r>
            <a:endParaRPr lang="ru-RU" sz="15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5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5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5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5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5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Конструктор</a:t>
            </a:r>
            <a:r>
              <a:rPr lang="en-US"/>
              <a:t> </a:t>
            </a:r>
            <a:r>
              <a:rPr lang="ru-RU"/>
              <a:t>по умолчанию</a:t>
            </a:r>
          </a:p>
        </p:txBody>
      </p:sp>
      <p:sp>
        <p:nvSpPr>
          <p:cNvPr id="39939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ru-RU" dirty="0"/>
              <a:t>Некоторые объекты могут иметь состояние по умолчанию</a:t>
            </a:r>
          </a:p>
          <a:p>
            <a:pPr lvl="1">
              <a:lnSpc>
                <a:spcPct val="90000"/>
              </a:lnSpc>
            </a:pPr>
            <a:r>
              <a:rPr lang="ru-RU" dirty="0"/>
              <a:t>Пустая строка</a:t>
            </a:r>
          </a:p>
          <a:p>
            <a:pPr lvl="1">
              <a:lnSpc>
                <a:spcPct val="90000"/>
              </a:lnSpc>
            </a:pPr>
            <a:r>
              <a:rPr lang="ru-RU" dirty="0"/>
              <a:t>Пустой вектор</a:t>
            </a:r>
          </a:p>
          <a:p>
            <a:pPr lvl="1">
              <a:lnSpc>
                <a:spcPct val="90000"/>
              </a:lnSpc>
            </a:pPr>
            <a:r>
              <a:rPr lang="ru-RU" dirty="0"/>
              <a:t>Точка в начале координат</a:t>
            </a:r>
          </a:p>
          <a:p>
            <a:pPr>
              <a:lnSpc>
                <a:spcPct val="90000"/>
              </a:lnSpc>
            </a:pPr>
            <a:r>
              <a:rPr lang="ru-RU" dirty="0"/>
              <a:t>Конструктор, не имеющий параметров, называется конструктором по умолчанию</a:t>
            </a:r>
          </a:p>
          <a:p>
            <a:pPr lvl="1">
              <a:lnSpc>
                <a:spcPct val="90000"/>
              </a:lnSpc>
            </a:pPr>
            <a:r>
              <a:rPr lang="ru-RU" dirty="0"/>
              <a:t>Поля данных в таком конструкторе инициализируются значениями по умолчанию</a:t>
            </a:r>
          </a:p>
          <a:p>
            <a:pPr>
              <a:lnSpc>
                <a:spcPct val="90000"/>
              </a:lnSpc>
            </a:pPr>
            <a:r>
              <a:rPr lang="ru-RU" dirty="0"/>
              <a:t>Может быть неявно сгенерирован компилятором</a:t>
            </a:r>
          </a:p>
          <a:p>
            <a:pPr lvl="1">
              <a:lnSpc>
                <a:spcPct val="90000"/>
              </a:lnSpc>
            </a:pPr>
            <a:r>
              <a:rPr lang="ru-RU" dirty="0"/>
              <a:t>Если не объявлены другие конструкторы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99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99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3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993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3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993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3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993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3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993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3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993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3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993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939" grpId="0" build="p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591232CD-109F-EF4F-F222-48B512479941}"/>
              </a:ext>
            </a:extLst>
          </p:cNvPr>
          <p:cNvSpPr txBox="1"/>
          <p:nvPr/>
        </p:nvSpPr>
        <p:spPr>
          <a:xfrm>
            <a:off x="335360" y="2579712"/>
            <a:ext cx="3888432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class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TV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public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TV()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{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m_isTurnedOn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</a:t>
            </a: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false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m_currentChannel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1;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}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private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bool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m_isTurnedOn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m_currentChannel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};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7E63846-8E49-FC19-AB52-B45B48449A02}"/>
              </a:ext>
            </a:extLst>
          </p:cNvPr>
          <p:cNvSpPr txBox="1"/>
          <p:nvPr/>
        </p:nvSpPr>
        <p:spPr>
          <a:xfrm>
            <a:off x="5015880" y="2579712"/>
            <a:ext cx="6984776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kern="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class</a:t>
            </a:r>
            <a:r>
              <a:rPr lang="ru-RU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ru-RU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TV</a:t>
            </a:r>
            <a:endParaRPr lang="ru-RU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kern="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public</a:t>
            </a:r>
            <a:r>
              <a:rPr lang="ru-RU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</a:t>
            </a:r>
            <a:endParaRPr lang="ru-RU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ru-RU" kern="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/*Компилятор сгенерирует конструктор по умолчанию*/</a:t>
            </a:r>
            <a:endParaRPr lang="ru-RU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private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</a:t>
            </a:r>
            <a:endParaRPr lang="ru-RU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bool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m_isTurnedOn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</a:t>
            </a: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false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m_currentChannel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1;</a:t>
            </a:r>
            <a:endParaRPr lang="ru-RU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};</a:t>
            </a:r>
            <a:endParaRPr lang="ru-RU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9DA266F-74EB-8508-DE8F-923FD407A7DF}"/>
              </a:ext>
            </a:extLst>
          </p:cNvPr>
          <p:cNvSpPr txBox="1"/>
          <p:nvPr/>
        </p:nvSpPr>
        <p:spPr>
          <a:xfrm>
            <a:off x="5015880" y="2075656"/>
            <a:ext cx="33123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Можно проще: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ABF7517-D220-ACC8-5B6D-EDF83D5B69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Объявление конструктора по умолчанию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804480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F4DFD45-4305-4F83-ED56-FB08E8067AC5}"/>
              </a:ext>
            </a:extLst>
          </p:cNvPr>
          <p:cNvSpPr txBox="1"/>
          <p:nvPr/>
        </p:nvSpPr>
        <p:spPr>
          <a:xfrm>
            <a:off x="838200" y="1754170"/>
            <a:ext cx="8784976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class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TV 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public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</a:t>
            </a:r>
            <a:endParaRPr lang="ru-RU" kern="0" dirty="0">
              <a:solidFill>
                <a:srgbClr val="000000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ru-RU" kern="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//</a:t>
            </a:r>
            <a:r>
              <a:rPr lang="en-US" kern="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ru-RU" kern="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Явно объявив конструктор с параметрами,</a:t>
            </a:r>
          </a:p>
          <a:p>
            <a:r>
              <a:rPr lang="ru-RU" kern="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// запрещаем компилятору неявно создать конструктор по умолчанию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TV(</a:t>
            </a: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bool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 err="1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isTurnedOn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 err="1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currentChannel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{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kern="0" dirty="0">
                <a:solidFill>
                  <a:srgbClr val="6F008A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assert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kern="0" dirty="0" err="1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currentChannel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&gt; 0 &amp;&amp; </a:t>
            </a:r>
            <a:r>
              <a:rPr lang="en-US" kern="0" dirty="0" err="1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currentChannel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&lt; 100);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m_isTurnedOn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</a:t>
            </a:r>
            <a:r>
              <a:rPr lang="en-US" kern="0" dirty="0" err="1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isTurnedOn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  </a:t>
            </a:r>
            <a:r>
              <a:rPr lang="en-US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m_currentChannel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</a:t>
            </a:r>
            <a:r>
              <a:rPr lang="en-US" kern="0" dirty="0" err="1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currentChannel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}</a:t>
            </a:r>
            <a:endParaRPr lang="ru-RU" kern="0" dirty="0">
              <a:solidFill>
                <a:srgbClr val="000000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endParaRPr lang="ru-RU" kern="0" dirty="0">
              <a:solidFill>
                <a:srgbClr val="000000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ru-RU" kern="100" dirty="0"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ru-RU" kern="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// Явно просим компилятор сгенерировать конструктор по умолчанию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TV() = </a:t>
            </a: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default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private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bool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m_isTurnedOn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</a:t>
            </a: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false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m_currentChannel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1;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};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9C484AF-D577-36EB-BCA3-167653734B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Автоматическое генерирование конструктора по умолчанию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765758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EDCF61F-75BC-493C-A12A-8B679C22BB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Список инициализации конструктора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9F42D16-864F-40DC-93EC-66BED86CC2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34057480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4C75EAB7-E3E2-EC02-2936-F8ACB43DDA05}"/>
              </a:ext>
            </a:extLst>
          </p:cNvPr>
          <p:cNvSpPr txBox="1"/>
          <p:nvPr/>
        </p:nvSpPr>
        <p:spPr>
          <a:xfrm>
            <a:off x="838200" y="1628800"/>
            <a:ext cx="9578280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iostream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using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namespace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std;</a:t>
            </a:r>
          </a:p>
          <a:p>
            <a:pPr>
              <a:buNone/>
            </a:pPr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Alice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Alice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Alice is </a:t>
            </a:r>
            <a:r>
              <a:rPr lang="en-US" sz="16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created</a:t>
            </a:r>
            <a:r>
              <a:rPr lang="en-US" sz="1600" b="0" dirty="0" err="1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}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Bob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Bob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Bob is </a:t>
            </a:r>
            <a:r>
              <a:rPr lang="en-US" sz="16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created</a:t>
            </a:r>
            <a:r>
              <a:rPr lang="en-US" sz="1600" b="0" dirty="0" err="1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}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Enter </a:t>
            </a:r>
            <a:r>
              <a:rPr lang="en-US" sz="16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600" b="0" dirty="0" err="1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Alice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alice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Bob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bob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Alice alice2;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Exit </a:t>
            </a:r>
            <a:r>
              <a:rPr lang="en-US" sz="16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600" b="0" dirty="0" err="1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0D521FD8-D7E8-8DE6-3786-6B63BD43F8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Момент вызова конструктора</a:t>
            </a:r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7C4FCA1-1D31-FA8E-9C06-3B64F433FE22}"/>
              </a:ext>
            </a:extLst>
          </p:cNvPr>
          <p:cNvSpPr txBox="1"/>
          <p:nvPr/>
        </p:nvSpPr>
        <p:spPr>
          <a:xfrm>
            <a:off x="7824192" y="5094559"/>
            <a:ext cx="4225909" cy="1477328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Enter main</a:t>
            </a:r>
          </a:p>
          <a:p>
            <a:pPr>
              <a:buNone/>
            </a:pPr>
            <a:r>
              <a:rPr lang="en-US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Alice is created</a:t>
            </a:r>
          </a:p>
          <a:p>
            <a:pPr>
              <a:buNone/>
            </a:pPr>
            <a:r>
              <a:rPr lang="en-US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Bob is created</a:t>
            </a:r>
          </a:p>
          <a:p>
            <a:pPr>
              <a:buNone/>
            </a:pPr>
            <a:r>
              <a:rPr lang="en-US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Alice is created</a:t>
            </a:r>
          </a:p>
          <a:p>
            <a:r>
              <a:rPr lang="en-US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Exit main</a:t>
            </a:r>
          </a:p>
        </p:txBody>
      </p:sp>
    </p:spTree>
    <p:extLst>
      <p:ext uri="{BB962C8B-B14F-4D97-AF65-F5344CB8AC3E}">
        <p14:creationId xmlns:p14="http://schemas.microsoft.com/office/powerpoint/2010/main" val="11261162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751217-5677-1873-EC7A-46AD2F6F13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Инициализация полей класса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C29B864-359B-8DDC-80D1-4FDCD64ED3CD}"/>
              </a:ext>
            </a:extLst>
          </p:cNvPr>
          <p:cNvSpPr txBox="1"/>
          <p:nvPr/>
        </p:nvSpPr>
        <p:spPr>
          <a:xfrm>
            <a:off x="838200" y="2060848"/>
            <a:ext cx="10515600" cy="3954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Carol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Carol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Carol is 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created</a:t>
            </a:r>
            <a:r>
              <a:rPr lang="en-US" b="0" dirty="0" err="1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}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Теперь Алиса и Боб — поля класса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Carol.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Alice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m_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alice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Bob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m_bob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Enter 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 err="1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Carol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carol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Exit 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 err="1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BE69F1E-AD44-7CBC-9581-F9B95212C30E}"/>
              </a:ext>
            </a:extLst>
          </p:cNvPr>
          <p:cNvSpPr txBox="1"/>
          <p:nvPr/>
        </p:nvSpPr>
        <p:spPr>
          <a:xfrm>
            <a:off x="7680176" y="4889337"/>
            <a:ext cx="4320480" cy="1477328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Enter main</a:t>
            </a:r>
          </a:p>
          <a:p>
            <a:r>
              <a:rPr lang="en-US" dirty="0">
                <a:latin typeface="Consolas" panose="020B0609020204030204" pitchFamily="49" charset="0"/>
              </a:rPr>
              <a:t>Alice is created</a:t>
            </a:r>
          </a:p>
          <a:p>
            <a:r>
              <a:rPr lang="en-US" dirty="0">
                <a:latin typeface="Consolas" panose="020B0609020204030204" pitchFamily="49" charset="0"/>
              </a:rPr>
              <a:t>Bob is created</a:t>
            </a:r>
          </a:p>
          <a:p>
            <a:r>
              <a:rPr lang="en-US" dirty="0">
                <a:latin typeface="Consolas" panose="020B0609020204030204" pitchFamily="49" charset="0"/>
              </a:rPr>
              <a:t>Carol is created</a:t>
            </a:r>
          </a:p>
          <a:p>
            <a:r>
              <a:rPr lang="en-US" dirty="0">
                <a:latin typeface="Consolas" panose="020B0609020204030204" pitchFamily="49" charset="0"/>
              </a:rPr>
              <a:t>Exit main</a:t>
            </a:r>
          </a:p>
        </p:txBody>
      </p:sp>
    </p:spTree>
    <p:extLst>
      <p:ext uri="{BB962C8B-B14F-4D97-AF65-F5344CB8AC3E}">
        <p14:creationId xmlns:p14="http://schemas.microsoft.com/office/powerpoint/2010/main" val="41371867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395C31-A433-BDB9-A6CE-BD6C0F9DB0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Проблема инициализации полей класса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E86A5F8-A351-B5BF-7951-43DCF8377D75}"/>
              </a:ext>
            </a:extLst>
          </p:cNvPr>
          <p:cNvSpPr txBox="1"/>
          <p:nvPr/>
        </p:nvSpPr>
        <p:spPr>
          <a:xfrm>
            <a:off x="838200" y="1809356"/>
            <a:ext cx="9794304" cy="50167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Alice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Alice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Alice is </a:t>
            </a:r>
            <a:r>
              <a:rPr lang="en-US" sz="16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created</a:t>
            </a:r>
            <a:r>
              <a:rPr lang="en-US" sz="1600" b="0" dirty="0" err="1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Alice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age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Alice(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age &lt;&lt;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) is </a:t>
            </a:r>
            <a:r>
              <a:rPr lang="en-US" sz="16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created</a:t>
            </a:r>
            <a:r>
              <a:rPr lang="en-US" sz="1600" b="0" dirty="0" err="1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Carol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Carol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age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 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Carol is </a:t>
            </a:r>
            <a:r>
              <a:rPr lang="en-US" sz="16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created</a:t>
            </a:r>
            <a:r>
              <a:rPr lang="en-US" sz="1600" b="0" dirty="0" err="1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m_alice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Alice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(age);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Alice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m_alice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703835759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7FABF4-D1A8-C1AD-461E-938A458277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Как проинициализировать поле, если его тип не имеет конструктора по умолчанию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D1AF97B-A2AA-C083-DA0C-801940FE8BCD}"/>
              </a:ext>
            </a:extLst>
          </p:cNvPr>
          <p:cNvSpPr txBox="1"/>
          <p:nvPr/>
        </p:nvSpPr>
        <p:spPr>
          <a:xfrm>
            <a:off x="791681" y="1803054"/>
            <a:ext cx="10540158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Alice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Alice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age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Alice(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age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) is 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created</a:t>
            </a:r>
            <a:r>
              <a:rPr lang="en-US" b="0" dirty="0" err="1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Carol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Carol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808080"/>
                </a:solidFill>
                <a:latin typeface="Consolas" panose="020B0609020204030204" pitchFamily="49" charset="0"/>
              </a:rPr>
              <a:t>aliceA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ge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 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Carol is 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created</a:t>
            </a:r>
            <a:r>
              <a:rPr lang="en-US" b="0" dirty="0" err="1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m_alice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Alice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alice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A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ge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Alice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m_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alice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Ошибка! Не можем создать объект без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             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параметров конструктора.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2171706621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0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ru-RU"/>
              <a:t>Инициализация данных экземпляра класса</a:t>
            </a:r>
          </a:p>
        </p:txBody>
      </p:sp>
      <p:sp>
        <p:nvSpPr>
          <p:cNvPr id="40963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В качестве данных класса могут выступать другие классы</a:t>
            </a:r>
          </a:p>
          <a:p>
            <a:pPr lvl="1"/>
            <a:r>
              <a:rPr lang="ru-RU" dirty="0"/>
              <a:t>Их инициализация осуществляется ДО выполнения тела конструктора</a:t>
            </a:r>
          </a:p>
          <a:p>
            <a:pPr lvl="1"/>
            <a:r>
              <a:rPr lang="ru-RU" dirty="0"/>
              <a:t>Для их инициализации вызываются конструкторы по умолчанию</a:t>
            </a:r>
          </a:p>
          <a:p>
            <a:r>
              <a:rPr lang="ru-RU" dirty="0"/>
              <a:t>Инициализация полей значением по умолчанию не всегда подходит</a:t>
            </a:r>
          </a:p>
          <a:p>
            <a:pPr lvl="1"/>
            <a:r>
              <a:rPr lang="ru-RU" dirty="0"/>
              <a:t>В классе может не быть конструктора по умолчанию</a:t>
            </a:r>
          </a:p>
          <a:p>
            <a:pPr lvl="1"/>
            <a:r>
              <a:rPr lang="ru-RU" dirty="0"/>
              <a:t>Поле класса может быть константой или ссылкой</a:t>
            </a:r>
          </a:p>
          <a:p>
            <a:r>
              <a:rPr lang="ru-RU" dirty="0"/>
              <a:t>На помощь приходят </a:t>
            </a:r>
            <a:r>
              <a:rPr lang="ru-RU" b="1" dirty="0">
                <a:solidFill>
                  <a:srgbClr val="FF0000"/>
                </a:solidFill>
              </a:rPr>
              <a:t>списки инициализации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6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096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6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096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6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096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6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096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6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096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6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096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6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4096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0963" grpId="0" build="p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Списки инициализации</a:t>
            </a:r>
          </a:p>
        </p:txBody>
      </p:sp>
      <p:sp>
        <p:nvSpPr>
          <p:cNvPr id="41987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ru-RU" dirty="0"/>
              <a:t>Применяются для инициализации полей класса в конструкторе ДО выполнения его тела</a:t>
            </a:r>
          </a:p>
          <a:p>
            <a:r>
              <a:rPr lang="ru-RU" dirty="0"/>
              <a:t>Использование списков инициализации – единственное решение в случае, когда класс содержит внутри себя</a:t>
            </a:r>
          </a:p>
          <a:p>
            <a:pPr lvl="1"/>
            <a:r>
              <a:rPr lang="ru-RU" dirty="0"/>
              <a:t>поля, являющиеся классами без конструкторов по умолчанию</a:t>
            </a:r>
          </a:p>
          <a:p>
            <a:pPr lvl="1"/>
            <a:r>
              <a:rPr lang="ru-RU" dirty="0"/>
              <a:t>константы</a:t>
            </a:r>
          </a:p>
          <a:p>
            <a:pPr lvl="1"/>
            <a:r>
              <a:rPr lang="ru-RU" dirty="0"/>
              <a:t>ссылки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B03A842-BD4D-1DF8-F130-996DCF7706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Список инициализации в действии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36C626-9DB9-EEFF-D3B0-A446B32845AD}"/>
              </a:ext>
            </a:extLst>
          </p:cNvPr>
          <p:cNvSpPr txBox="1"/>
          <p:nvPr/>
        </p:nvSpPr>
        <p:spPr>
          <a:xfrm>
            <a:off x="838200" y="1916832"/>
            <a:ext cx="10515600" cy="48320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Carol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Carol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alice</a:t>
            </a:r>
            <a:r>
              <a:rPr lang="en-US" sz="1400" dirty="0" err="1">
                <a:solidFill>
                  <a:srgbClr val="808080"/>
                </a:solidFill>
                <a:latin typeface="Consolas" panose="020B0609020204030204" pitchFamily="49" charset="0"/>
              </a:rPr>
              <a:t>A</a:t>
            </a:r>
            <a:r>
              <a:rPr lang="en-US" sz="14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ge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: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alice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alice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A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ge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Вызывается конструктор </a:t>
            </a: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Alice::Alice(int age).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,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Luis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// </a:t>
            </a:r>
            <a:r>
              <a:rPr lang="ru-RU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Инициализируем поле строкового типа.</a:t>
            </a:r>
            <a:endParaRPr lang="ru-RU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{</a:t>
            </a:r>
          </a:p>
          <a:p>
            <a:pPr>
              <a:buNone/>
            </a:pP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Carol is </a:t>
            </a:r>
            <a:r>
              <a:rPr lang="en-US" sz="14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created</a:t>
            </a:r>
            <a:r>
              <a:rPr lang="en-US" sz="1400" b="0" dirty="0" err="1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b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GetName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m_name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Alice 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m_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alice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Bob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m_bob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std::string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m_name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b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Carol carol{</a:t>
            </a:r>
            <a:r>
              <a:rPr lang="en-US" sz="14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17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Name: 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4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carol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GetName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&lt;&lt; std::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649503400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286F918B-0E89-4C04-9C95-46F4546A891A}"/>
              </a:ext>
            </a:extLst>
          </p:cNvPr>
          <p:cNvSpPr/>
          <p:nvPr/>
        </p:nvSpPr>
        <p:spPr>
          <a:xfrm>
            <a:off x="0" y="0"/>
            <a:ext cx="8400256" cy="67403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class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267F99"/>
                </a:solidFill>
                <a:latin typeface="Consolas" panose="020B0609020204030204" pitchFamily="49" charset="0"/>
              </a:rPr>
              <a:t>TV</a:t>
            </a:r>
            <a:r>
              <a:rPr lang="ru-RU" sz="1600" dirty="0">
                <a:solidFill>
                  <a:srgbClr val="267F99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de-DE" sz="1600" dirty="0">
                <a:solidFill>
                  <a:srgbClr val="0000FF"/>
                </a:solidFill>
                <a:latin typeface="Consolas" panose="020B0609020204030204" pitchFamily="49" charset="0"/>
              </a:rPr>
              <a:t>:</a:t>
            </a:r>
            <a:endParaRPr lang="de-DE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795E26"/>
                </a:solidFill>
                <a:latin typeface="Consolas" panose="020B0609020204030204" pitchFamily="49" charset="0"/>
              </a:rPr>
              <a:t>TurnOn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() {</a:t>
            </a:r>
            <a:r>
              <a:rPr lang="de-DE" sz="1600" dirty="0">
                <a:solidFill>
                  <a:srgbClr val="008000"/>
                </a:solidFill>
                <a:latin typeface="Consolas" panose="020B0609020204030204" pitchFamily="49" charset="0"/>
              </a:rPr>
              <a:t> /* ... */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}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};</a:t>
            </a:r>
          </a:p>
          <a:p>
            <a:b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class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RemoteControl</a:t>
            </a:r>
            <a:r>
              <a:rPr lang="ru-RU" sz="1600" dirty="0">
                <a:solidFill>
                  <a:srgbClr val="267F99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de-DE" sz="1600" dirty="0">
                <a:solidFill>
                  <a:srgbClr val="0000FF"/>
                </a:solidFill>
                <a:latin typeface="Consolas" panose="020B0609020204030204" pitchFamily="49" charset="0"/>
              </a:rPr>
              <a:t>:</a:t>
            </a:r>
            <a:endParaRPr lang="de-DE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600" dirty="0" err="1">
                <a:solidFill>
                  <a:srgbClr val="795E26"/>
                </a:solidFill>
                <a:latin typeface="Consolas" panose="020B0609020204030204" pitchFamily="49" charset="0"/>
              </a:rPr>
              <a:t>RemoteControl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sz="1600" dirty="0">
                <a:solidFill>
                  <a:srgbClr val="267F99"/>
                </a:solidFill>
                <a:latin typeface="Consolas" panose="020B0609020204030204" pitchFamily="49" charset="0"/>
              </a:rPr>
              <a:t>TV</a:t>
            </a:r>
            <a:r>
              <a:rPr lang="de-DE" sz="1600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tv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istream</a:t>
            </a:r>
            <a:r>
              <a:rPr lang="de-DE" sz="1600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input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ostream</a:t>
            </a:r>
            <a:r>
              <a:rPr lang="de-DE" sz="1600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output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de-DE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        : </a:t>
            </a:r>
            <a:r>
              <a:rPr lang="de-DE" sz="1600" b="1" dirty="0" err="1">
                <a:solidFill>
                  <a:srgbClr val="001080"/>
                </a:solidFill>
                <a:latin typeface="Consolas" panose="020B0609020204030204" pitchFamily="49" charset="0"/>
              </a:rPr>
              <a:t>m_tv</a:t>
            </a:r>
            <a:r>
              <a:rPr lang="de-DE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{ </a:t>
            </a:r>
            <a:r>
              <a:rPr lang="de-DE" sz="1600" b="1" dirty="0" err="1">
                <a:solidFill>
                  <a:srgbClr val="001080"/>
                </a:solidFill>
                <a:latin typeface="Consolas" panose="020B0609020204030204" pitchFamily="49" charset="0"/>
              </a:rPr>
              <a:t>tv</a:t>
            </a:r>
            <a:r>
              <a:rPr lang="de-DE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 }, </a:t>
            </a:r>
            <a:r>
              <a:rPr lang="de-DE" sz="1600" b="1" dirty="0" err="1">
                <a:solidFill>
                  <a:srgbClr val="001080"/>
                </a:solidFill>
                <a:latin typeface="Consolas" panose="020B0609020204030204" pitchFamily="49" charset="0"/>
              </a:rPr>
              <a:t>m_input</a:t>
            </a:r>
            <a:r>
              <a:rPr lang="de-DE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  <a:r>
              <a:rPr lang="de-DE" sz="1600" b="1" dirty="0" err="1">
                <a:solidFill>
                  <a:srgbClr val="001080"/>
                </a:solidFill>
                <a:latin typeface="Consolas" panose="020B0609020204030204" pitchFamily="49" charset="0"/>
              </a:rPr>
              <a:t>input</a:t>
            </a:r>
            <a:r>
              <a:rPr lang="de-DE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}, </a:t>
            </a:r>
            <a:r>
              <a:rPr lang="de-DE" sz="1600" b="1" dirty="0" err="1">
                <a:solidFill>
                  <a:srgbClr val="001080"/>
                </a:solidFill>
                <a:latin typeface="Consolas" panose="020B0609020204030204" pitchFamily="49" charset="0"/>
              </a:rPr>
              <a:t>m_output</a:t>
            </a:r>
            <a:r>
              <a:rPr lang="de-DE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  <a:r>
              <a:rPr lang="de-DE" sz="1600" b="1" dirty="0" err="1">
                <a:solidFill>
                  <a:srgbClr val="001080"/>
                </a:solidFill>
                <a:latin typeface="Consolas" panose="020B0609020204030204" pitchFamily="49" charset="0"/>
              </a:rPr>
              <a:t>output</a:t>
            </a:r>
            <a:r>
              <a:rPr lang="de-DE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}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{ }</a:t>
            </a:r>
            <a:endParaRPr lang="ru-RU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b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bool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795E26"/>
                </a:solidFill>
                <a:latin typeface="Consolas" panose="020B0609020204030204" pitchFamily="49" charset="0"/>
              </a:rPr>
              <a:t>ExecuteCommand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() </a:t>
            </a: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ru-RU" sz="1600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string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command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600" dirty="0" err="1">
                <a:solidFill>
                  <a:srgbClr val="795E26"/>
                </a:solidFill>
                <a:latin typeface="Consolas" panose="020B0609020204030204" pitchFamily="49" charset="0"/>
              </a:rPr>
              <a:t>getline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m_input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command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de-DE" sz="1600" dirty="0" err="1">
                <a:solidFill>
                  <a:srgbClr val="AF00DB"/>
                </a:solidFill>
                <a:latin typeface="Consolas" panose="020B0609020204030204" pitchFamily="49" charset="0"/>
              </a:rPr>
              <a:t>if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(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command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795E26"/>
                </a:solidFill>
                <a:latin typeface="Consolas" panose="020B0609020204030204" pitchFamily="49" charset="0"/>
              </a:rPr>
              <a:t>==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sz="1600" dirty="0" err="1">
                <a:solidFill>
                  <a:srgbClr val="A31515"/>
                </a:solidFill>
                <a:latin typeface="Consolas" panose="020B0609020204030204" pitchFamily="49" charset="0"/>
              </a:rPr>
              <a:t>TurnOn</a:t>
            </a:r>
            <a:r>
              <a:rPr lang="de-DE" sz="16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)</a:t>
            </a:r>
            <a:r>
              <a:rPr lang="ru-RU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   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m_tv</a:t>
            </a:r>
            <a:r>
              <a:rPr lang="de-DE" sz="1600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sz="1600" dirty="0" err="1">
                <a:solidFill>
                  <a:srgbClr val="795E26"/>
                </a:solidFill>
                <a:latin typeface="Consolas" panose="020B0609020204030204" pitchFamily="49" charset="0"/>
              </a:rPr>
              <a:t>TurnOn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();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   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m_output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A31515"/>
                </a:solidFill>
                <a:latin typeface="Consolas" panose="020B0609020204030204" pitchFamily="49" charset="0"/>
              </a:rPr>
              <a:t>"TV </a:t>
            </a:r>
            <a:r>
              <a:rPr lang="de-DE" sz="1600" dirty="0" err="1">
                <a:solidFill>
                  <a:srgbClr val="A31515"/>
                </a:solidFill>
                <a:latin typeface="Consolas" panose="020B0609020204030204" pitchFamily="49" charset="0"/>
              </a:rPr>
              <a:t>is</a:t>
            </a:r>
            <a:r>
              <a:rPr lang="de-DE" sz="1600" dirty="0">
                <a:solidFill>
                  <a:srgbClr val="A31515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A31515"/>
                </a:solidFill>
                <a:latin typeface="Consolas" panose="020B0609020204030204" pitchFamily="49" charset="0"/>
              </a:rPr>
              <a:t>turned</a:t>
            </a:r>
            <a:r>
              <a:rPr lang="de-DE" sz="1600" dirty="0">
                <a:solidFill>
                  <a:srgbClr val="A31515"/>
                </a:solidFill>
                <a:latin typeface="Consolas" panose="020B0609020204030204" pitchFamily="49" charset="0"/>
              </a:rPr>
              <a:t> on"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600" dirty="0" err="1">
                <a:solidFill>
                  <a:srgbClr val="795E26"/>
                </a:solidFill>
                <a:latin typeface="Consolas" panose="020B0609020204030204" pitchFamily="49" charset="0"/>
              </a:rPr>
              <a:t>endl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   </a:t>
            </a:r>
            <a:r>
              <a:rPr lang="de-DE" sz="1600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true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}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de-DE" sz="1600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false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  <a:r>
              <a:rPr lang="de-DE" sz="1600" dirty="0">
                <a:solidFill>
                  <a:srgbClr val="008000"/>
                </a:solidFill>
                <a:latin typeface="Consolas" panose="020B0609020204030204" pitchFamily="49" charset="0"/>
              </a:rPr>
              <a:t> // </a:t>
            </a:r>
            <a:r>
              <a:rPr lang="ru-RU" sz="1600" dirty="0">
                <a:solidFill>
                  <a:srgbClr val="008000"/>
                </a:solidFill>
                <a:latin typeface="Consolas" panose="020B0609020204030204" pitchFamily="49" charset="0"/>
              </a:rPr>
              <a:t>Команда не найдена</a:t>
            </a:r>
            <a:endParaRPr lang="ru-RU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}</a:t>
            </a:r>
          </a:p>
          <a:p>
            <a:br>
              <a:rPr lang="ru-RU" sz="1600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sz="1600" dirty="0">
                <a:solidFill>
                  <a:srgbClr val="0000FF"/>
                </a:solidFill>
                <a:latin typeface="Consolas" panose="020B0609020204030204" pitchFamily="49" charset="0"/>
              </a:rPr>
              <a:t>private:</a:t>
            </a:r>
            <a:endParaRPr lang="de-DE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600" dirty="0">
                <a:solidFill>
                  <a:srgbClr val="267F99"/>
                </a:solidFill>
                <a:latin typeface="Consolas" panose="020B0609020204030204" pitchFamily="49" charset="0"/>
              </a:rPr>
              <a:t>TV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&amp;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m_tv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istream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&amp;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m_input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ostream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&amp;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m_output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};</a:t>
            </a:r>
            <a:endParaRPr lang="de-DE" sz="16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865D291-A939-4F93-82A8-7995AC44455B}"/>
              </a:ext>
            </a:extLst>
          </p:cNvPr>
          <p:cNvSpPr/>
          <p:nvPr/>
        </p:nvSpPr>
        <p:spPr>
          <a:xfrm>
            <a:off x="4439816" y="5103674"/>
            <a:ext cx="7608168" cy="17543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main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TV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tv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RemoteControl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remoteControl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{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tv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cin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cout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};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remoteControl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ExecuteCommand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667580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3F6F925-D265-8F17-00C2-44AEC06B1D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Converting Constructor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723A435-2BE2-020C-80CB-2CB5C3316A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Конструктор, не объявленный с ключевым словом </a:t>
            </a:r>
            <a:r>
              <a:rPr lang="en-US" b="1" dirty="0"/>
              <a:t>explicit</a:t>
            </a:r>
            <a:r>
              <a:rPr lang="en-US" dirty="0"/>
              <a:t> </a:t>
            </a:r>
            <a:r>
              <a:rPr lang="ru-RU" dirty="0"/>
              <a:t>– называется </a:t>
            </a:r>
            <a:r>
              <a:rPr lang="ru-RU" b="1" dirty="0"/>
              <a:t>конвертирующим</a:t>
            </a:r>
            <a:r>
              <a:rPr lang="ru-RU" dirty="0"/>
              <a:t> конструктором</a:t>
            </a:r>
            <a:endParaRPr lang="en-US" dirty="0"/>
          </a:p>
          <a:p>
            <a:r>
              <a:rPr lang="ru-RU" dirty="0"/>
              <a:t>Конвертирующий конструктор неявно преобразует свои аргументов к типу класса, где этот конструктор объявлен</a:t>
            </a:r>
          </a:p>
        </p:txBody>
      </p:sp>
    </p:spTree>
    <p:extLst>
      <p:ext uri="{BB962C8B-B14F-4D97-AF65-F5344CB8AC3E}">
        <p14:creationId xmlns:p14="http://schemas.microsoft.com/office/powerpoint/2010/main" val="4075656261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D114E213-18F8-C60E-963A-9FA38809C74A}"/>
              </a:ext>
            </a:extLst>
          </p:cNvPr>
          <p:cNvSpPr txBox="1"/>
          <p:nvPr/>
        </p:nvSpPr>
        <p:spPr>
          <a:xfrm>
            <a:off x="5231904" y="2978"/>
            <a:ext cx="543609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FF0000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https://wandbox.org/permlink/9NCf4pztCsiSZpc8</a:t>
            </a:r>
            <a:r>
              <a:rPr lang="en-US" dirty="0">
                <a:solidFill>
                  <a:srgbClr val="FF0000"/>
                </a:solidFill>
              </a:rPr>
              <a:t> </a:t>
            </a:r>
            <a:endParaRPr lang="ru-RU" dirty="0">
              <a:solidFill>
                <a:srgbClr val="FF0000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22D992A-FF80-A902-2DF3-ED36A8169D58}"/>
              </a:ext>
            </a:extLst>
          </p:cNvPr>
          <p:cNvSpPr txBox="1"/>
          <p:nvPr/>
        </p:nvSpPr>
        <p:spPr>
          <a:xfrm>
            <a:off x="1524000" y="1"/>
            <a:ext cx="9144000" cy="66325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700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class</a:t>
            </a:r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700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Complex</a:t>
            </a:r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{</a:t>
            </a:r>
            <a:endParaRPr lang="ru-RU" sz="17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700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public</a:t>
            </a:r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</a:t>
            </a:r>
            <a:endParaRPr lang="ru-RU" sz="17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Complex(</a:t>
            </a:r>
            <a:r>
              <a:rPr lang="en-US" sz="1700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double</a:t>
            </a:r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700" kern="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re</a:t>
            </a:r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0.0, </a:t>
            </a:r>
            <a:r>
              <a:rPr lang="en-US" sz="1700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double</a:t>
            </a:r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700" kern="0" dirty="0" err="1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im</a:t>
            </a:r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0.0) {</a:t>
            </a:r>
            <a:endParaRPr lang="ru-RU" sz="17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sz="1700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m_re</a:t>
            </a:r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</a:t>
            </a:r>
            <a:r>
              <a:rPr lang="en-US" sz="1700" kern="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re</a:t>
            </a:r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7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sz="1700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m_im</a:t>
            </a:r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</a:t>
            </a:r>
            <a:r>
              <a:rPr lang="en-US" sz="1700" kern="0" dirty="0" err="1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im</a:t>
            </a:r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7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}</a:t>
            </a:r>
            <a:endParaRPr lang="ru-RU" sz="17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700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double</a:t>
            </a:r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Re() </a:t>
            </a:r>
            <a:r>
              <a:rPr lang="en-US" sz="1700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const</a:t>
            </a:r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{ </a:t>
            </a:r>
            <a:r>
              <a:rPr lang="en-US" sz="1700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return</a:t>
            </a:r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700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m_re</a:t>
            </a:r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 }</a:t>
            </a:r>
            <a:endParaRPr lang="ru-RU" sz="17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700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double</a:t>
            </a:r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700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Im</a:t>
            </a:r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 </a:t>
            </a:r>
            <a:r>
              <a:rPr lang="en-US" sz="1700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const</a:t>
            </a:r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{ </a:t>
            </a:r>
            <a:r>
              <a:rPr lang="en-US" sz="1700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return</a:t>
            </a:r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700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m_im</a:t>
            </a:r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 }</a:t>
            </a:r>
            <a:endParaRPr lang="ru-RU" sz="17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7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700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private</a:t>
            </a:r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</a:t>
            </a:r>
            <a:endParaRPr lang="ru-RU" sz="17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700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double</a:t>
            </a:r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700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m_re</a:t>
            </a:r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0.0;</a:t>
            </a:r>
            <a:endParaRPr lang="ru-RU" sz="17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700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double</a:t>
            </a:r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700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m_im</a:t>
            </a:r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0.0;</a:t>
            </a:r>
            <a:endParaRPr lang="ru-RU" sz="17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};</a:t>
            </a:r>
            <a:endParaRPr lang="ru-RU" sz="17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7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700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Complex</a:t>
            </a:r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Add(</a:t>
            </a:r>
            <a:r>
              <a:rPr lang="en-US" sz="1700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Complex</a:t>
            </a:r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700" kern="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</a:t>
            </a:r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  <a:r>
              <a:rPr lang="en-US" sz="1700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Complex</a:t>
            </a:r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700" kern="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</a:t>
            </a:r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 {</a:t>
            </a:r>
            <a:endParaRPr lang="ru-RU" sz="17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700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return</a:t>
            </a:r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{</a:t>
            </a:r>
            <a:r>
              <a:rPr lang="en-US" sz="1700" kern="0" dirty="0" err="1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</a:t>
            </a:r>
            <a:r>
              <a:rPr lang="en-US" sz="1700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.Re</a:t>
            </a:r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 + </a:t>
            </a:r>
            <a:r>
              <a:rPr lang="en-US" sz="1700" kern="0" dirty="0" err="1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</a:t>
            </a:r>
            <a:r>
              <a:rPr lang="en-US" sz="1700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.Re</a:t>
            </a:r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(), </a:t>
            </a:r>
            <a:r>
              <a:rPr lang="en-US" sz="1700" kern="0" dirty="0" err="1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</a:t>
            </a:r>
            <a:r>
              <a:rPr lang="en-US" sz="1700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.Im</a:t>
            </a:r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 + </a:t>
            </a:r>
            <a:r>
              <a:rPr lang="en-US" sz="1700" kern="0" dirty="0" err="1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</a:t>
            </a:r>
            <a:r>
              <a:rPr lang="en-US" sz="1700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.Im</a:t>
            </a:r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()};</a:t>
            </a:r>
            <a:endParaRPr lang="ru-RU" sz="17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</a:t>
            </a:r>
            <a:endParaRPr lang="ru-RU" sz="17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7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700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main()</a:t>
            </a:r>
            <a:r>
              <a:rPr lang="en-US" sz="1700" kern="1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sz="17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700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auto</a:t>
            </a:r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result = Add(3, {1.2, 2.3}); </a:t>
            </a:r>
            <a:r>
              <a:rPr lang="en-US" sz="1700" kern="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// 4.2+2.3i</a:t>
            </a:r>
            <a:endParaRPr lang="ru-RU" sz="17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700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Complex</a:t>
            </a:r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a = 3.2;                  </a:t>
            </a:r>
            <a:r>
              <a:rPr lang="en-US" sz="1700" kern="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// 3.2+0.i</a:t>
            </a:r>
            <a:endParaRPr lang="ru-RU" sz="17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700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Complex</a:t>
            </a:r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b = { 2, 7.3 };           </a:t>
            </a:r>
            <a:r>
              <a:rPr lang="en-US" sz="1700" kern="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// 2+7.3i</a:t>
            </a:r>
            <a:endParaRPr lang="ru-RU" sz="17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700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Complex</a:t>
            </a:r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c;                        </a:t>
            </a:r>
            <a:r>
              <a:rPr lang="en-US" sz="1700" kern="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// 0+0i</a:t>
            </a:r>
            <a:endParaRPr lang="ru-RU" sz="17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700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Complex</a:t>
            </a:r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d = {};                   </a:t>
            </a:r>
            <a:r>
              <a:rPr lang="en-US" sz="1700" kern="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// 0+0i</a:t>
            </a:r>
            <a:endParaRPr lang="ru-RU" sz="17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</a:t>
            </a:r>
            <a:endParaRPr lang="ru-RU" sz="17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206302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3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383D197-A5E1-2D1D-4BB0-491D167EE0DE}"/>
              </a:ext>
            </a:extLst>
          </p:cNvPr>
          <p:cNvSpPr txBox="1"/>
          <p:nvPr/>
        </p:nvSpPr>
        <p:spPr>
          <a:xfrm>
            <a:off x="1416050" y="981075"/>
            <a:ext cx="6660232" cy="59093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class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TV</a:t>
            </a:r>
            <a:r>
              <a:rPr lang="en-US" kern="100" dirty="0"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public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TV() = </a:t>
            </a: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default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TV(</a:t>
            </a: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bool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 err="1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isTurnedOn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</a:t>
            </a: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: </a:t>
            </a:r>
            <a:r>
              <a:rPr lang="en-US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m_isTurnedOn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 </a:t>
            </a:r>
            <a:r>
              <a:rPr lang="en-US" kern="0" dirty="0" err="1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isTurnedOn</a:t>
            </a:r>
            <a:r>
              <a:rPr lang="en-US" kern="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 {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}</a:t>
            </a:r>
          </a:p>
          <a:p>
            <a:r>
              <a:rPr lang="en-US" kern="100" dirty="0"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…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private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bool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m_isTurnedOn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</a:t>
            </a: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false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m_currentChannel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1;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};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void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PrintInfo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const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TV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&amp; </a:t>
            </a:r>
            <a:r>
              <a:rPr lang="en-US" kern="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tv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 { </a:t>
            </a:r>
            <a:r>
              <a:rPr lang="en-US" kern="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/* ... */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}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main()</a:t>
            </a:r>
            <a:r>
              <a:rPr lang="en-US" kern="100" dirty="0"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TV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tv{ </a:t>
            </a:r>
            <a:r>
              <a:rPr lang="en-US" kern="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/* </a:t>
            </a:r>
            <a:r>
              <a:rPr lang="en-US" kern="0" dirty="0" err="1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isTurnedOn</a:t>
            </a:r>
            <a:r>
              <a:rPr lang="en-US" kern="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*/ </a:t>
            </a: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true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};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PrintInfo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(tv);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 </a:t>
            </a:r>
            <a:r>
              <a:rPr lang="en-US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TV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tv1 = </a:t>
            </a: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true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   </a:t>
            </a:r>
            <a:r>
              <a:rPr lang="en-US" kern="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// WTF?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PrintInfo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true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); </a:t>
            </a:r>
            <a:r>
              <a:rPr lang="en-US" kern="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// WTF?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274918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42D0879-76D9-F192-A8D3-01DAD4AF1A90}"/>
              </a:ext>
            </a:extLst>
          </p:cNvPr>
          <p:cNvSpPr txBox="1"/>
          <p:nvPr/>
        </p:nvSpPr>
        <p:spPr>
          <a:xfrm>
            <a:off x="1415480" y="987971"/>
            <a:ext cx="5904656" cy="5355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kern="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class TV {</a:t>
            </a:r>
            <a:endParaRPr lang="ru-RU" sz="2400" kern="100" dirty="0">
              <a:solidFill>
                <a:schemeClr val="bg1">
                  <a:lumMod val="50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public:</a:t>
            </a:r>
            <a:endParaRPr lang="ru-RU" sz="2400" kern="100" dirty="0">
              <a:solidFill>
                <a:schemeClr val="bg1">
                  <a:lumMod val="50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TV() = default;</a:t>
            </a:r>
            <a:endParaRPr lang="ru-RU" sz="2400" kern="100" dirty="0">
              <a:solidFill>
                <a:schemeClr val="bg1">
                  <a:lumMod val="50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explicit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TV(</a:t>
            </a: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bool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 err="1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isTurnedOn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</a:t>
            </a: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: </a:t>
            </a:r>
            <a:r>
              <a:rPr lang="en-US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m_isTurnedOn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 </a:t>
            </a:r>
            <a:r>
              <a:rPr lang="en-US" kern="0" dirty="0" err="1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isTurnedOn</a:t>
            </a:r>
            <a:r>
              <a:rPr lang="en-US" kern="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 {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}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 …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private:</a:t>
            </a:r>
            <a:endParaRPr lang="ru-RU" sz="2400" kern="100" dirty="0">
              <a:solidFill>
                <a:schemeClr val="bg1">
                  <a:lumMod val="50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bool </a:t>
            </a:r>
            <a:r>
              <a:rPr lang="en-US" kern="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m_isTurnedOn</a:t>
            </a:r>
            <a:r>
              <a:rPr lang="en-US" kern="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false;</a:t>
            </a:r>
            <a:endParaRPr lang="ru-RU" sz="2400" kern="100" dirty="0">
              <a:solidFill>
                <a:schemeClr val="bg1">
                  <a:lumMod val="50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int </a:t>
            </a:r>
            <a:r>
              <a:rPr lang="en-US" kern="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m_currentChannel</a:t>
            </a:r>
            <a:r>
              <a:rPr lang="en-US" kern="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1;</a:t>
            </a:r>
            <a:endParaRPr lang="ru-RU" sz="2400" kern="100" dirty="0">
              <a:solidFill>
                <a:schemeClr val="bg1">
                  <a:lumMod val="50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};</a:t>
            </a:r>
            <a:endParaRPr lang="ru-RU" sz="2400" kern="100" dirty="0">
              <a:solidFill>
                <a:schemeClr val="bg1">
                  <a:lumMod val="50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void </a:t>
            </a:r>
            <a:r>
              <a:rPr lang="en-US" kern="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PrintInfo</a:t>
            </a:r>
            <a:r>
              <a:rPr lang="en-US" kern="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(const TV&amp; tv) { /* ... */ }</a:t>
            </a:r>
            <a:endParaRPr lang="ru-RU" sz="2400" kern="100" dirty="0">
              <a:solidFill>
                <a:schemeClr val="bg1">
                  <a:lumMod val="50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void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Test() {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TV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tv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</a:t>
            </a: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true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    </a:t>
            </a:r>
            <a:r>
              <a:rPr lang="en-US" kern="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// </a:t>
            </a:r>
            <a:r>
              <a:rPr lang="ru-RU" kern="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Ошибка компиляции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PrintInfo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true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); </a:t>
            </a:r>
            <a:r>
              <a:rPr lang="en-US" kern="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// </a:t>
            </a:r>
            <a:r>
              <a:rPr lang="ru-RU" kern="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Ошибка компиляции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600410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Группа 6">
            <a:extLst>
              <a:ext uri="{FF2B5EF4-FFF2-40B4-BE49-F238E27FC236}">
                <a16:creationId xmlns:a16="http://schemas.microsoft.com/office/drawing/2014/main" id="{787880B9-8488-44D6-895C-BF3162347D5A}"/>
              </a:ext>
            </a:extLst>
          </p:cNvPr>
          <p:cNvGrpSpPr/>
          <p:nvPr/>
        </p:nvGrpSpPr>
        <p:grpSpPr>
          <a:xfrm>
            <a:off x="7994004" y="476672"/>
            <a:ext cx="4176464" cy="6214978"/>
            <a:chOff x="6960096" y="476672"/>
            <a:chExt cx="4176464" cy="6214978"/>
          </a:xfrm>
        </p:grpSpPr>
        <p:pic>
          <p:nvPicPr>
            <p:cNvPr id="1026" name="Picture 2">
              <a:extLst>
                <a:ext uri="{FF2B5EF4-FFF2-40B4-BE49-F238E27FC236}">
                  <a16:creationId xmlns:a16="http://schemas.microsoft.com/office/drawing/2014/main" id="{22E1A886-65EF-4ADE-A157-D2D127F8F8E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960096" y="476672"/>
              <a:ext cx="4176464" cy="62149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2CB848C4-7B1B-4387-8784-200071DB9B49}"/>
                </a:ext>
              </a:extLst>
            </p:cNvPr>
            <p:cNvSpPr txBox="1"/>
            <p:nvPr/>
          </p:nvSpPr>
          <p:spPr>
            <a:xfrm>
              <a:off x="7392144" y="1090962"/>
              <a:ext cx="1296144" cy="646331"/>
            </a:xfrm>
            <a:prstGeom prst="rect">
              <a:avLst/>
            </a:prstGeom>
            <a:noFill/>
            <a:scene3d>
              <a:camera prst="perspectiveRight" fov="3300000">
                <a:rot lat="21445441" lon="20979941" rev="886928"/>
              </a:camera>
              <a:lightRig rig="threePt" dir="t"/>
            </a:scene3d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Explicit constructor</a:t>
              </a:r>
              <a:endParaRPr lang="ru-RU" dirty="0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3675532B-11C5-4E5D-A3BB-DF76BAC81042}"/>
                </a:ext>
              </a:extLst>
            </p:cNvPr>
            <p:cNvSpPr txBox="1"/>
            <p:nvPr/>
          </p:nvSpPr>
          <p:spPr>
            <a:xfrm>
              <a:off x="8760298" y="874938"/>
              <a:ext cx="1296144" cy="584775"/>
            </a:xfrm>
            <a:prstGeom prst="rect">
              <a:avLst/>
            </a:prstGeom>
            <a:noFill/>
            <a:scene3d>
              <a:camera prst="perspectiveRight" fov="3300000">
                <a:rot lat="21445441" lon="20979941" rev="886928"/>
              </a:camera>
              <a:lightRig rig="threePt" dir="t"/>
            </a:scene3d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/>
                <a:t>Implicit constructor</a:t>
              </a:r>
              <a:endParaRPr lang="ru-RU" sz="1600" dirty="0"/>
            </a:p>
          </p:txBody>
        </p:sp>
      </p:grpSp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7DB76541-4E8A-4854-A44E-61516576E7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Explicit or Implicit?</a:t>
            </a:r>
            <a:endParaRPr lang="ru-RU" dirty="0"/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B8E76FEE-2A23-4D3C-B715-79B7E54220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769968" cy="4351338"/>
          </a:xfrm>
        </p:spPr>
        <p:txBody>
          <a:bodyPr>
            <a:normAutofit/>
          </a:bodyPr>
          <a:lstStyle/>
          <a:p>
            <a:r>
              <a:rPr lang="ru-RU" dirty="0"/>
              <a:t>Если конструктор имеет один параметр, то очень часто его нужно пометить ключевым словом </a:t>
            </a:r>
            <a:r>
              <a:rPr lang="en-US" dirty="0"/>
              <a:t>explicit</a:t>
            </a:r>
          </a:p>
          <a:p>
            <a:pPr lvl="1"/>
            <a:r>
              <a:rPr lang="ru-RU" dirty="0"/>
              <a:t>Кроме случаев, когда необходимо неявное преобразование</a:t>
            </a:r>
          </a:p>
          <a:p>
            <a:r>
              <a:rPr lang="ru-RU" dirty="0"/>
              <a:t>Если конструктор имеет несколько параметров,</a:t>
            </a:r>
            <a:r>
              <a:rPr lang="en-US" dirty="0"/>
              <a:t> </a:t>
            </a:r>
            <a:r>
              <a:rPr lang="ru-RU" dirty="0"/>
              <a:t>не помечайте его ключевым словом </a:t>
            </a:r>
            <a:r>
              <a:rPr lang="en-US" dirty="0"/>
              <a:t>explicit</a:t>
            </a:r>
          </a:p>
          <a:p>
            <a:r>
              <a:rPr lang="en-US" dirty="0">
                <a:hlinkClick r:id="rId3"/>
              </a:rPr>
              <a:t>C.46: By default, declare single-argument constructors explicit</a:t>
            </a:r>
            <a:endParaRPr lang="ru-RU" dirty="0"/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48D2E513-D6F3-4253-BE69-D235299B17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65912" y="5016857"/>
            <a:ext cx="1656184" cy="16747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11060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p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11E6CF-8935-4EC1-A25D-D6553A16C6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err="1"/>
              <a:t>Деинициализация</a:t>
            </a:r>
            <a:r>
              <a:rPr lang="ru-RU" dirty="0"/>
              <a:t> экземпляра класса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A6C240D-714A-4032-82D2-CA2912A548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57328057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Деинициализация экземпляра класса</a:t>
            </a:r>
          </a:p>
        </p:txBody>
      </p:sp>
      <p:sp>
        <p:nvSpPr>
          <p:cNvPr id="36867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В ходе своей работы объект может использовать определенные системные ресурсы</a:t>
            </a:r>
          </a:p>
          <a:p>
            <a:pPr lvl="1"/>
            <a:r>
              <a:rPr lang="ru-RU" dirty="0"/>
              <a:t>Динамическая память, открытые файлы, сетевые соединения и т.п.</a:t>
            </a:r>
          </a:p>
          <a:p>
            <a:r>
              <a:rPr lang="ru-RU" dirty="0"/>
              <a:t>При разрушении объекта используемые им единолично ресурсы должны освобождаться</a:t>
            </a:r>
            <a:endParaRPr lang="en-US" dirty="0"/>
          </a:p>
          <a:p>
            <a:r>
              <a:rPr lang="ru-RU" dirty="0"/>
              <a:t>В </a:t>
            </a:r>
            <a:r>
              <a:rPr lang="en-US" dirty="0"/>
              <a:t>C++ </a:t>
            </a:r>
            <a:r>
              <a:rPr lang="ru-RU" dirty="0"/>
              <a:t>для освобождения этих ресурсов служит особый метод класса – деструктор</a:t>
            </a:r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6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686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6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686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6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686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6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686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6867" grpId="0" build="p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Деструктор</a:t>
            </a:r>
            <a:endParaRPr lang="ru-RU" dirty="0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Имя деструктора совпадает с именем класса, только перед ним указывается символ </a:t>
            </a:r>
            <a:r>
              <a:rPr lang="en-US" dirty="0">
                <a:solidFill>
                  <a:srgbClr val="FF0000"/>
                </a:solidFill>
              </a:rPr>
              <a:t>~</a:t>
            </a:r>
            <a:r>
              <a:rPr lang="ru-RU" dirty="0"/>
              <a:t> </a:t>
            </a:r>
            <a:r>
              <a:rPr lang="en-US" dirty="0"/>
              <a:t>(</a:t>
            </a:r>
            <a:r>
              <a:rPr lang="ru-RU" dirty="0"/>
              <a:t>тильда)</a:t>
            </a:r>
          </a:p>
          <a:p>
            <a:r>
              <a:rPr lang="ru-RU" dirty="0"/>
              <a:t>Деструктор вызывается автоматически при уничтожении экземпляра класса:</a:t>
            </a:r>
          </a:p>
          <a:p>
            <a:pPr lvl="1"/>
            <a:r>
              <a:rPr lang="ru-RU" dirty="0"/>
              <a:t>Выход за пределы блока, в котором объявлен экземпляр класса</a:t>
            </a:r>
          </a:p>
          <a:p>
            <a:pPr lvl="1"/>
            <a:r>
              <a:rPr lang="ru-RU" dirty="0"/>
              <a:t>Вызов оператора </a:t>
            </a:r>
            <a:r>
              <a:rPr lang="en-US" dirty="0"/>
              <a:t>delete</a:t>
            </a:r>
            <a:r>
              <a:rPr lang="ru-RU" dirty="0"/>
              <a:t> или </a:t>
            </a:r>
            <a:r>
              <a:rPr lang="en-US" dirty="0"/>
              <a:t>delete []</a:t>
            </a:r>
            <a:endParaRPr lang="ru-RU" dirty="0"/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Содержимое тела деструктора</a:t>
            </a:r>
            <a:endParaRPr lang="ru-RU" dirty="0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/>
              <a:t>В деструкторе  программист размещает код, выполняющий действия, завершающие жизненный цикл объекта</a:t>
            </a:r>
          </a:p>
          <a:p>
            <a:pPr lvl="1"/>
            <a:r>
              <a:rPr lang="ru-RU"/>
              <a:t>Освобождение выделенных объектом ресурсов</a:t>
            </a:r>
          </a:p>
          <a:p>
            <a:pPr lvl="1"/>
            <a:r>
              <a:rPr lang="ru-RU"/>
              <a:t>Что-нибудь еще</a:t>
            </a:r>
            <a:endParaRPr lang="ru-RU" dirty="0"/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ru-RU"/>
              <a:t>Пример</a:t>
            </a:r>
          </a:p>
        </p:txBody>
      </p:sp>
      <p:sp>
        <p:nvSpPr>
          <p:cNvPr id="45059" name="Text Box 4"/>
          <p:cNvSpPr txBox="1">
            <a:spLocks noChangeArrowheads="1"/>
          </p:cNvSpPr>
          <p:nvPr/>
        </p:nvSpPr>
        <p:spPr bwMode="auto">
          <a:xfrm>
            <a:off x="1703512" y="1772817"/>
            <a:ext cx="4536504" cy="50783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defTabSz="363538"/>
            <a:r>
              <a:rPr lang="en-US" sz="1200" b="1" dirty="0">
                <a:latin typeface="Courier New" pitchFamily="49" charset="0"/>
              </a:rPr>
              <a:t>class </a:t>
            </a:r>
            <a:r>
              <a:rPr lang="en-US" sz="1200" b="1" dirty="0" err="1">
                <a:latin typeface="Courier New" pitchFamily="49" charset="0"/>
              </a:rPr>
              <a:t>MyFile</a:t>
            </a:r>
            <a:endParaRPr lang="en-US" sz="1200" b="1" dirty="0">
              <a:latin typeface="Courier New" pitchFamily="49" charset="0"/>
            </a:endParaRPr>
          </a:p>
          <a:p>
            <a:pPr defTabSz="363538"/>
            <a:r>
              <a:rPr lang="en-US" sz="1200" b="1" dirty="0">
                <a:latin typeface="Courier New" pitchFamily="49" charset="0"/>
              </a:rPr>
              <a:t>{</a:t>
            </a:r>
          </a:p>
          <a:p>
            <a:pPr defTabSz="363538"/>
            <a:r>
              <a:rPr lang="en-US" sz="1200" b="1" dirty="0">
                <a:latin typeface="Courier New" pitchFamily="49" charset="0"/>
              </a:rPr>
              <a:t>public:</a:t>
            </a:r>
          </a:p>
          <a:p>
            <a:pPr defTabSz="363538"/>
            <a:r>
              <a:rPr lang="en-US" sz="1200" b="1" dirty="0">
                <a:latin typeface="Courier New" pitchFamily="49" charset="0"/>
              </a:rPr>
              <a:t>	</a:t>
            </a:r>
            <a:r>
              <a:rPr lang="en-US" sz="1200" b="1" dirty="0" err="1">
                <a:latin typeface="Courier New" pitchFamily="49" charset="0"/>
              </a:rPr>
              <a:t>MyFile</a:t>
            </a:r>
            <a:r>
              <a:rPr lang="en-US" sz="1200" b="1" dirty="0">
                <a:latin typeface="Courier New" pitchFamily="49" charset="0"/>
              </a:rPr>
              <a:t>():</a:t>
            </a:r>
            <a:r>
              <a:rPr lang="en-US" sz="1200" b="1" dirty="0" err="1">
                <a:latin typeface="Courier New" pitchFamily="49" charset="0"/>
              </a:rPr>
              <a:t>m_pFile</a:t>
            </a:r>
            <a:r>
              <a:rPr lang="en-US" sz="1200" b="1" dirty="0">
                <a:latin typeface="Courier New" pitchFamily="49" charset="0"/>
              </a:rPr>
              <a:t>(</a:t>
            </a:r>
            <a:r>
              <a:rPr lang="en-US" sz="1200" b="1" dirty="0" err="1">
                <a:latin typeface="Courier New" pitchFamily="49" charset="0"/>
              </a:rPr>
              <a:t>nullptr</a:t>
            </a:r>
            <a:r>
              <a:rPr lang="en-US" sz="1200" b="1" dirty="0">
                <a:latin typeface="Courier New" pitchFamily="49" charset="0"/>
              </a:rPr>
              <a:t>)</a:t>
            </a:r>
          </a:p>
          <a:p>
            <a:pPr defTabSz="363538"/>
            <a:r>
              <a:rPr lang="en-US" sz="1200" b="1" dirty="0">
                <a:latin typeface="Courier New" pitchFamily="49" charset="0"/>
              </a:rPr>
              <a:t>	{}</a:t>
            </a:r>
          </a:p>
          <a:p>
            <a:pPr defTabSz="363538"/>
            <a:r>
              <a:rPr lang="en-US" sz="1200" b="1" dirty="0">
                <a:latin typeface="Courier New" pitchFamily="49" charset="0"/>
              </a:rPr>
              <a:t>	</a:t>
            </a:r>
            <a:r>
              <a:rPr lang="en-US" sz="1200" b="1" dirty="0">
                <a:solidFill>
                  <a:srgbClr val="FF0000"/>
                </a:solidFill>
                <a:latin typeface="Courier New" pitchFamily="49" charset="0"/>
              </a:rPr>
              <a:t>~</a:t>
            </a:r>
            <a:r>
              <a:rPr lang="en-US" sz="1200" b="1" dirty="0" err="1">
                <a:solidFill>
                  <a:srgbClr val="FF0000"/>
                </a:solidFill>
                <a:latin typeface="Courier New" pitchFamily="49" charset="0"/>
              </a:rPr>
              <a:t>MyFile</a:t>
            </a:r>
            <a:r>
              <a:rPr lang="en-US" sz="1200" b="1" dirty="0">
                <a:solidFill>
                  <a:srgbClr val="FF0000"/>
                </a:solidFill>
                <a:latin typeface="Courier New" pitchFamily="49" charset="0"/>
              </a:rPr>
              <a:t>()</a:t>
            </a:r>
          </a:p>
          <a:p>
            <a:pPr defTabSz="363538"/>
            <a:r>
              <a:rPr lang="en-US" sz="1200" b="1" dirty="0">
                <a:latin typeface="Courier New" pitchFamily="49" charset="0"/>
              </a:rPr>
              <a:t>	{</a:t>
            </a:r>
          </a:p>
          <a:p>
            <a:pPr defTabSz="363538"/>
            <a:r>
              <a:rPr lang="en-US" sz="1200" b="1" dirty="0">
                <a:latin typeface="Courier New" pitchFamily="49" charset="0"/>
              </a:rPr>
              <a:t>		Close();</a:t>
            </a:r>
          </a:p>
          <a:p>
            <a:pPr defTabSz="363538"/>
            <a:r>
              <a:rPr lang="en-US" sz="1200" b="1" dirty="0">
                <a:latin typeface="Courier New" pitchFamily="49" charset="0"/>
              </a:rPr>
              <a:t>	}</a:t>
            </a:r>
          </a:p>
          <a:p>
            <a:pPr defTabSz="363538"/>
            <a:r>
              <a:rPr lang="en-US" sz="1200" b="1" dirty="0">
                <a:latin typeface="Courier New" pitchFamily="49" charset="0"/>
              </a:rPr>
              <a:t>	bool Open(const char *</a:t>
            </a:r>
            <a:r>
              <a:rPr lang="en-US" sz="1200" b="1" dirty="0" err="1">
                <a:latin typeface="Courier New" pitchFamily="49" charset="0"/>
              </a:rPr>
              <a:t>fileName</a:t>
            </a:r>
            <a:r>
              <a:rPr lang="en-US" sz="1200" b="1" dirty="0">
                <a:latin typeface="Courier New" pitchFamily="49" charset="0"/>
              </a:rPr>
              <a:t>)</a:t>
            </a:r>
          </a:p>
          <a:p>
            <a:pPr defTabSz="363538"/>
            <a:r>
              <a:rPr lang="en-US" sz="1200" b="1" dirty="0">
                <a:latin typeface="Courier New" pitchFamily="49" charset="0"/>
              </a:rPr>
              <a:t>	{</a:t>
            </a:r>
          </a:p>
          <a:p>
            <a:pPr defTabSz="363538"/>
            <a:r>
              <a:rPr lang="en-US" sz="1200" b="1" dirty="0">
                <a:latin typeface="Courier New" pitchFamily="49" charset="0"/>
              </a:rPr>
              <a:t>		Close();</a:t>
            </a:r>
          </a:p>
          <a:p>
            <a:pPr defTabSz="363538"/>
            <a:r>
              <a:rPr lang="en-US" sz="1200" b="1" dirty="0">
                <a:latin typeface="Courier New" pitchFamily="49" charset="0"/>
              </a:rPr>
              <a:t>		</a:t>
            </a:r>
            <a:r>
              <a:rPr lang="en-US" sz="1200" b="1" dirty="0" err="1">
                <a:latin typeface="Courier New" pitchFamily="49" charset="0"/>
              </a:rPr>
              <a:t>m_pFile</a:t>
            </a:r>
            <a:r>
              <a:rPr lang="en-US" sz="1200" b="1" dirty="0">
                <a:latin typeface="Courier New" pitchFamily="49" charset="0"/>
              </a:rPr>
              <a:t> = </a:t>
            </a:r>
            <a:r>
              <a:rPr lang="en-US" sz="1200" b="1" dirty="0" err="1">
                <a:latin typeface="Courier New" pitchFamily="49" charset="0"/>
              </a:rPr>
              <a:t>fopen</a:t>
            </a:r>
            <a:r>
              <a:rPr lang="en-US" sz="1200" b="1" dirty="0">
                <a:latin typeface="Courier New" pitchFamily="49" charset="0"/>
              </a:rPr>
              <a:t>(</a:t>
            </a:r>
            <a:r>
              <a:rPr lang="en-US" sz="1200" b="1" dirty="0" err="1">
                <a:latin typeface="Courier New" pitchFamily="49" charset="0"/>
              </a:rPr>
              <a:t>fileName</a:t>
            </a:r>
            <a:r>
              <a:rPr lang="en-US" sz="1200" b="1" dirty="0">
                <a:latin typeface="Courier New" pitchFamily="49" charset="0"/>
              </a:rPr>
              <a:t>, “r”);</a:t>
            </a:r>
          </a:p>
          <a:p>
            <a:pPr defTabSz="363538"/>
            <a:r>
              <a:rPr lang="en-US" sz="1200" b="1" dirty="0">
                <a:latin typeface="Courier New" pitchFamily="49" charset="0"/>
              </a:rPr>
              <a:t>		return </a:t>
            </a:r>
            <a:r>
              <a:rPr lang="en-US" sz="1200" b="1" dirty="0" err="1">
                <a:latin typeface="Courier New" pitchFamily="49" charset="0"/>
              </a:rPr>
              <a:t>m_pFile</a:t>
            </a:r>
            <a:r>
              <a:rPr lang="en-US" sz="1200" b="1" dirty="0">
                <a:latin typeface="Courier New" pitchFamily="49" charset="0"/>
              </a:rPr>
              <a:t> != </a:t>
            </a:r>
            <a:r>
              <a:rPr lang="en-US" sz="1200" b="1" dirty="0" err="1">
                <a:latin typeface="Courier New" pitchFamily="49" charset="0"/>
              </a:rPr>
              <a:t>nullptr</a:t>
            </a:r>
            <a:r>
              <a:rPr lang="en-US" sz="1200" b="1" dirty="0">
                <a:latin typeface="Courier New" pitchFamily="49" charset="0"/>
              </a:rPr>
              <a:t>;</a:t>
            </a:r>
          </a:p>
          <a:p>
            <a:pPr defTabSz="363538"/>
            <a:r>
              <a:rPr lang="en-US" sz="1200" b="1" dirty="0">
                <a:latin typeface="Courier New" pitchFamily="49" charset="0"/>
              </a:rPr>
              <a:t>	}</a:t>
            </a:r>
          </a:p>
          <a:p>
            <a:pPr defTabSz="363538"/>
            <a:r>
              <a:rPr lang="en-US" sz="1200" b="1" dirty="0">
                <a:latin typeface="Courier New" pitchFamily="49" charset="0"/>
              </a:rPr>
              <a:t>	void Close()</a:t>
            </a:r>
          </a:p>
          <a:p>
            <a:pPr defTabSz="363538"/>
            <a:r>
              <a:rPr lang="en-US" sz="1200" b="1" dirty="0">
                <a:latin typeface="Courier New" pitchFamily="49" charset="0"/>
              </a:rPr>
              <a:t>	{</a:t>
            </a:r>
          </a:p>
          <a:p>
            <a:pPr defTabSz="363538"/>
            <a:r>
              <a:rPr lang="en-US" sz="1200" b="1" dirty="0">
                <a:latin typeface="Courier New" pitchFamily="49" charset="0"/>
              </a:rPr>
              <a:t>		if (</a:t>
            </a:r>
            <a:r>
              <a:rPr lang="en-US" sz="1200" b="1" dirty="0" err="1">
                <a:latin typeface="Courier New" pitchFamily="49" charset="0"/>
              </a:rPr>
              <a:t>m_pFile</a:t>
            </a:r>
            <a:r>
              <a:rPr lang="en-US" sz="1200" b="1" dirty="0">
                <a:latin typeface="Courier New" pitchFamily="49" charset="0"/>
              </a:rPr>
              <a:t>)</a:t>
            </a:r>
            <a:endParaRPr lang="ru-RU" sz="1200" b="1" dirty="0">
              <a:latin typeface="Courier New" pitchFamily="49" charset="0"/>
            </a:endParaRPr>
          </a:p>
          <a:p>
            <a:pPr defTabSz="363538"/>
            <a:r>
              <a:rPr lang="ru-RU" sz="1200" b="1" dirty="0">
                <a:latin typeface="Courier New" pitchFamily="49" charset="0"/>
              </a:rPr>
              <a:t>		</a:t>
            </a:r>
            <a:r>
              <a:rPr lang="en-US" sz="1200" b="1" dirty="0">
                <a:latin typeface="Courier New" pitchFamily="49" charset="0"/>
              </a:rPr>
              <a:t>{</a:t>
            </a:r>
            <a:endParaRPr lang="ru-RU" sz="1200" b="1" dirty="0">
              <a:latin typeface="Courier New" pitchFamily="49" charset="0"/>
            </a:endParaRPr>
          </a:p>
          <a:p>
            <a:pPr defTabSz="363538"/>
            <a:r>
              <a:rPr lang="ru-RU" sz="1200" b="1" dirty="0">
                <a:latin typeface="Courier New" pitchFamily="49" charset="0"/>
              </a:rPr>
              <a:t>			</a:t>
            </a:r>
            <a:r>
              <a:rPr lang="en-US" sz="1200" b="1" dirty="0" err="1">
                <a:latin typeface="Courier New" pitchFamily="49" charset="0"/>
              </a:rPr>
              <a:t>fclose</a:t>
            </a:r>
            <a:r>
              <a:rPr lang="en-US" sz="1200" b="1" dirty="0">
                <a:latin typeface="Courier New" pitchFamily="49" charset="0"/>
              </a:rPr>
              <a:t>(</a:t>
            </a:r>
            <a:r>
              <a:rPr lang="en-US" sz="1200" b="1" dirty="0" err="1">
                <a:latin typeface="Courier New" pitchFamily="49" charset="0"/>
              </a:rPr>
              <a:t>m_pFile</a:t>
            </a:r>
            <a:r>
              <a:rPr lang="en-US" sz="1200" b="1" dirty="0">
                <a:latin typeface="Courier New" pitchFamily="49" charset="0"/>
              </a:rPr>
              <a:t>);</a:t>
            </a:r>
          </a:p>
          <a:p>
            <a:pPr defTabSz="363538"/>
            <a:r>
              <a:rPr lang="en-US" sz="1200" b="1" dirty="0">
                <a:latin typeface="Courier New" pitchFamily="49" charset="0"/>
              </a:rPr>
              <a:t>			</a:t>
            </a:r>
            <a:r>
              <a:rPr lang="en-US" sz="1200" b="1" dirty="0" err="1">
                <a:latin typeface="Courier New" pitchFamily="49" charset="0"/>
              </a:rPr>
              <a:t>m_pFile</a:t>
            </a:r>
            <a:r>
              <a:rPr lang="en-US" sz="1200" b="1" dirty="0">
                <a:latin typeface="Courier New" pitchFamily="49" charset="0"/>
              </a:rPr>
              <a:t> = </a:t>
            </a:r>
            <a:r>
              <a:rPr lang="en-US" sz="1200" b="1" dirty="0" err="1">
                <a:latin typeface="Courier New" pitchFamily="49" charset="0"/>
              </a:rPr>
              <a:t>nullptr</a:t>
            </a:r>
            <a:r>
              <a:rPr lang="en-US" sz="1200" b="1" dirty="0">
                <a:latin typeface="Courier New" pitchFamily="49" charset="0"/>
              </a:rPr>
              <a:t>;</a:t>
            </a:r>
            <a:endParaRPr lang="ru-RU" sz="1200" b="1" dirty="0">
              <a:latin typeface="Courier New" pitchFamily="49" charset="0"/>
            </a:endParaRPr>
          </a:p>
          <a:p>
            <a:pPr defTabSz="363538"/>
            <a:r>
              <a:rPr lang="ru-RU" sz="1200" b="1" dirty="0">
                <a:latin typeface="Courier New" pitchFamily="49" charset="0"/>
              </a:rPr>
              <a:t>		</a:t>
            </a:r>
            <a:r>
              <a:rPr lang="en-US" sz="1200" b="1" dirty="0">
                <a:latin typeface="Courier New" pitchFamily="49" charset="0"/>
              </a:rPr>
              <a:t>}</a:t>
            </a:r>
          </a:p>
          <a:p>
            <a:pPr defTabSz="363538"/>
            <a:r>
              <a:rPr lang="en-US" sz="1200" b="1" dirty="0">
                <a:latin typeface="Courier New" pitchFamily="49" charset="0"/>
              </a:rPr>
              <a:t>	}</a:t>
            </a:r>
          </a:p>
          <a:p>
            <a:pPr defTabSz="363538"/>
            <a:r>
              <a:rPr lang="en-US" sz="1200" b="1" dirty="0">
                <a:latin typeface="Courier New" pitchFamily="49" charset="0"/>
              </a:rPr>
              <a:t>	...</a:t>
            </a:r>
          </a:p>
          <a:p>
            <a:pPr defTabSz="363538"/>
            <a:r>
              <a:rPr lang="en-US" sz="1200" b="1" dirty="0">
                <a:latin typeface="Courier New" pitchFamily="49" charset="0"/>
              </a:rPr>
              <a:t>private:</a:t>
            </a:r>
          </a:p>
          <a:p>
            <a:pPr defTabSz="363538"/>
            <a:r>
              <a:rPr lang="en-US" sz="1200" b="1" dirty="0">
                <a:latin typeface="Courier New" pitchFamily="49" charset="0"/>
              </a:rPr>
              <a:t>	FILE *</a:t>
            </a:r>
            <a:r>
              <a:rPr lang="en-US" sz="1200" b="1" dirty="0" err="1">
                <a:latin typeface="Courier New" pitchFamily="49" charset="0"/>
              </a:rPr>
              <a:t>m_pFile</a:t>
            </a:r>
            <a:r>
              <a:rPr lang="en-US" sz="1200" b="1" dirty="0">
                <a:latin typeface="Courier New" pitchFamily="49" charset="0"/>
              </a:rPr>
              <a:t>;</a:t>
            </a:r>
          </a:p>
          <a:p>
            <a:pPr defTabSz="363538"/>
            <a:r>
              <a:rPr lang="en-US" sz="1200" b="1" dirty="0">
                <a:latin typeface="Courier New" pitchFamily="49" charset="0"/>
              </a:rPr>
              <a:t>};</a:t>
            </a:r>
            <a:endParaRPr lang="ru-RU" sz="1200" b="1" dirty="0">
              <a:latin typeface="Courier New" pitchFamily="49" charset="0"/>
            </a:endParaRPr>
          </a:p>
        </p:txBody>
      </p:sp>
      <p:sp>
        <p:nvSpPr>
          <p:cNvPr id="4" name="Text Box 4"/>
          <p:cNvSpPr txBox="1">
            <a:spLocks noChangeArrowheads="1"/>
          </p:cNvSpPr>
          <p:nvPr/>
        </p:nvSpPr>
        <p:spPr bwMode="auto">
          <a:xfrm>
            <a:off x="6240016" y="1764299"/>
            <a:ext cx="4427984" cy="429348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defTabSz="363538"/>
            <a:r>
              <a:rPr lang="en-US" sz="1300" b="1" dirty="0" err="1">
                <a:latin typeface="Courier New" pitchFamily="49" charset="0"/>
              </a:rPr>
              <a:t>int</a:t>
            </a:r>
            <a:r>
              <a:rPr lang="en-US" sz="1300" b="1" dirty="0">
                <a:latin typeface="Courier New" pitchFamily="49" charset="0"/>
              </a:rPr>
              <a:t> main(</a:t>
            </a:r>
            <a:r>
              <a:rPr lang="en-US" sz="1300" b="1" dirty="0" err="1">
                <a:latin typeface="Courier New" pitchFamily="49" charset="0"/>
              </a:rPr>
              <a:t>int</a:t>
            </a:r>
            <a:r>
              <a:rPr lang="en-US" sz="1300" b="1" dirty="0">
                <a:latin typeface="Courier New" pitchFamily="49" charset="0"/>
              </a:rPr>
              <a:t> </a:t>
            </a:r>
            <a:r>
              <a:rPr lang="en-US" sz="1300" b="1" dirty="0" err="1">
                <a:latin typeface="Courier New" pitchFamily="49" charset="0"/>
              </a:rPr>
              <a:t>argc</a:t>
            </a:r>
            <a:r>
              <a:rPr lang="en-US" sz="1300" b="1" dirty="0">
                <a:latin typeface="Courier New" pitchFamily="49" charset="0"/>
              </a:rPr>
              <a:t>, char * </a:t>
            </a:r>
            <a:r>
              <a:rPr lang="en-US" sz="1300" b="1" dirty="0" err="1">
                <a:latin typeface="Courier New" pitchFamily="49" charset="0"/>
              </a:rPr>
              <a:t>argv</a:t>
            </a:r>
            <a:r>
              <a:rPr lang="en-US" sz="1300" b="1" dirty="0">
                <a:latin typeface="Courier New" pitchFamily="49" charset="0"/>
              </a:rPr>
              <a:t>[])</a:t>
            </a:r>
          </a:p>
          <a:p>
            <a:pPr defTabSz="363538"/>
            <a:r>
              <a:rPr lang="en-US" sz="1300" b="1" dirty="0">
                <a:latin typeface="Courier New" pitchFamily="49" charset="0"/>
              </a:rPr>
              <a:t>{</a:t>
            </a:r>
          </a:p>
          <a:p>
            <a:pPr defTabSz="363538"/>
            <a:r>
              <a:rPr lang="en-US" sz="1300" b="1" dirty="0">
                <a:latin typeface="Courier New" pitchFamily="49" charset="0"/>
              </a:rPr>
              <a:t>	</a:t>
            </a:r>
            <a:r>
              <a:rPr lang="en-US" sz="1300" b="1" dirty="0" err="1">
                <a:latin typeface="Courier New" pitchFamily="49" charset="0"/>
              </a:rPr>
              <a:t>MyFile</a:t>
            </a:r>
            <a:r>
              <a:rPr lang="en-US" sz="1300" b="1" dirty="0">
                <a:latin typeface="Courier New" pitchFamily="49" charset="0"/>
              </a:rPr>
              <a:t> file;</a:t>
            </a:r>
          </a:p>
          <a:p>
            <a:pPr defTabSz="363538"/>
            <a:r>
              <a:rPr lang="en-US" sz="1300" b="1" dirty="0">
                <a:latin typeface="Courier New" pitchFamily="49" charset="0"/>
              </a:rPr>
              <a:t>	if (</a:t>
            </a:r>
            <a:r>
              <a:rPr lang="en-US" sz="1300" b="1" dirty="0" err="1">
                <a:latin typeface="Courier New" pitchFamily="49" charset="0"/>
              </a:rPr>
              <a:t>file.Open</a:t>
            </a:r>
            <a:r>
              <a:rPr lang="en-US" sz="1300" b="1" dirty="0">
                <a:latin typeface="Courier New" pitchFamily="49" charset="0"/>
              </a:rPr>
              <a:t>("text.txt"))</a:t>
            </a:r>
          </a:p>
          <a:p>
            <a:pPr defTabSz="363538"/>
            <a:r>
              <a:rPr lang="en-US" sz="1300" b="1" dirty="0">
                <a:latin typeface="Courier New" pitchFamily="49" charset="0"/>
              </a:rPr>
              <a:t>	{</a:t>
            </a:r>
          </a:p>
          <a:p>
            <a:pPr defTabSz="363538"/>
            <a:r>
              <a:rPr lang="en-US" sz="1300" b="1" dirty="0">
                <a:latin typeface="Courier New" pitchFamily="49" charset="0"/>
              </a:rPr>
              <a:t>	</a:t>
            </a:r>
            <a:r>
              <a:rPr lang="en-US" sz="1300" dirty="0">
                <a:latin typeface="Courier New" pitchFamily="49" charset="0"/>
              </a:rPr>
              <a:t>	</a:t>
            </a:r>
            <a:r>
              <a:rPr lang="en-US" sz="1300" i="1" dirty="0">
                <a:latin typeface="Courier New" pitchFamily="49" charset="0"/>
              </a:rPr>
              <a:t>// </a:t>
            </a:r>
            <a:r>
              <a:rPr lang="ru-RU" sz="1300" i="1" dirty="0">
                <a:latin typeface="Courier New" pitchFamily="49" charset="0"/>
              </a:rPr>
              <a:t>Выполняем операции над файлом</a:t>
            </a:r>
            <a:endParaRPr lang="en-US" sz="1300" i="1" dirty="0">
              <a:latin typeface="Courier New" pitchFamily="49" charset="0"/>
            </a:endParaRPr>
          </a:p>
          <a:p>
            <a:pPr defTabSz="363538"/>
            <a:r>
              <a:rPr lang="en-US" sz="1300" b="1" dirty="0">
                <a:latin typeface="Courier New" pitchFamily="49" charset="0"/>
              </a:rPr>
              <a:t>	}</a:t>
            </a:r>
            <a:endParaRPr lang="ru-RU" sz="1300" b="1" dirty="0">
              <a:latin typeface="Courier New" pitchFamily="49" charset="0"/>
            </a:endParaRPr>
          </a:p>
          <a:p>
            <a:pPr defTabSz="363538"/>
            <a:endParaRPr lang="ru-RU" sz="1300" b="1" dirty="0">
              <a:latin typeface="Courier New" pitchFamily="49" charset="0"/>
            </a:endParaRPr>
          </a:p>
          <a:p>
            <a:pPr defTabSz="363538"/>
            <a:r>
              <a:rPr lang="ru-RU" sz="1300" b="1" dirty="0">
                <a:latin typeface="Courier New" pitchFamily="49" charset="0"/>
              </a:rPr>
              <a:t>	</a:t>
            </a:r>
            <a:r>
              <a:rPr lang="en-US" sz="1300" b="1" dirty="0" err="1">
                <a:latin typeface="Courier New" pitchFamily="49" charset="0"/>
              </a:rPr>
              <a:t>MyFile</a:t>
            </a:r>
            <a:r>
              <a:rPr lang="en-US" sz="1300" b="1" dirty="0">
                <a:latin typeface="Courier New" pitchFamily="49" charset="0"/>
              </a:rPr>
              <a:t> * </a:t>
            </a:r>
            <a:r>
              <a:rPr lang="en-US" sz="1300" b="1" dirty="0" err="1">
                <a:latin typeface="Courier New" pitchFamily="49" charset="0"/>
              </a:rPr>
              <a:t>pFile</a:t>
            </a:r>
            <a:r>
              <a:rPr lang="en-US" sz="1300" b="1" dirty="0">
                <a:latin typeface="Courier New" pitchFamily="49" charset="0"/>
              </a:rPr>
              <a:t> = new </a:t>
            </a:r>
            <a:r>
              <a:rPr lang="en-US" sz="1300" b="1" dirty="0" err="1">
                <a:latin typeface="Courier New" pitchFamily="49" charset="0"/>
              </a:rPr>
              <a:t>MyFile</a:t>
            </a:r>
            <a:r>
              <a:rPr lang="en-US" sz="1300" b="1" dirty="0">
                <a:latin typeface="Courier New" pitchFamily="49" charset="0"/>
              </a:rPr>
              <a:t>();</a:t>
            </a:r>
          </a:p>
          <a:p>
            <a:pPr defTabSz="363538"/>
            <a:r>
              <a:rPr lang="en-US" sz="1300" b="1" dirty="0">
                <a:latin typeface="Courier New" pitchFamily="49" charset="0"/>
              </a:rPr>
              <a:t>	...</a:t>
            </a:r>
          </a:p>
          <a:p>
            <a:pPr defTabSz="363538"/>
            <a:r>
              <a:rPr lang="en-US" sz="1300" dirty="0">
                <a:latin typeface="Courier New" pitchFamily="49" charset="0"/>
              </a:rPr>
              <a:t>	// </a:t>
            </a:r>
            <a:r>
              <a:rPr lang="ru-RU" sz="1300" dirty="0">
                <a:latin typeface="Courier New" pitchFamily="49" charset="0"/>
              </a:rPr>
              <a:t>вызов деструктора и освобождение </a:t>
            </a:r>
          </a:p>
          <a:p>
            <a:pPr defTabSz="363538"/>
            <a:r>
              <a:rPr lang="ru-RU" sz="1300" dirty="0">
                <a:latin typeface="Courier New" pitchFamily="49" charset="0"/>
              </a:rPr>
              <a:t>	// памяти, занимаемой объектом </a:t>
            </a:r>
            <a:r>
              <a:rPr lang="en-US" sz="1300" dirty="0" err="1">
                <a:latin typeface="Courier New" pitchFamily="49" charset="0"/>
              </a:rPr>
              <a:t>pFile</a:t>
            </a:r>
            <a:endParaRPr lang="ru-RU" sz="1300" dirty="0">
              <a:latin typeface="Courier New" pitchFamily="49" charset="0"/>
            </a:endParaRPr>
          </a:p>
          <a:p>
            <a:pPr defTabSz="363538"/>
            <a:r>
              <a:rPr lang="ru-RU" sz="1300" dirty="0">
                <a:latin typeface="Courier New" pitchFamily="49" charset="0"/>
              </a:rPr>
              <a:t>	// в куче</a:t>
            </a:r>
          </a:p>
          <a:p>
            <a:pPr defTabSz="363538"/>
            <a:r>
              <a:rPr lang="en-US" sz="1300" b="1" dirty="0">
                <a:latin typeface="Courier New" pitchFamily="49" charset="0"/>
              </a:rPr>
              <a:t>	delete </a:t>
            </a:r>
            <a:r>
              <a:rPr lang="en-US" sz="1300" b="1" dirty="0" err="1">
                <a:latin typeface="Courier New" pitchFamily="49" charset="0"/>
              </a:rPr>
              <a:t>pFile</a:t>
            </a:r>
            <a:r>
              <a:rPr lang="en-US" sz="1300" b="1" dirty="0">
                <a:latin typeface="Courier New" pitchFamily="49" charset="0"/>
              </a:rPr>
              <a:t>; </a:t>
            </a:r>
          </a:p>
          <a:p>
            <a:pPr defTabSz="363538"/>
            <a:r>
              <a:rPr lang="en-US" sz="1300" b="1" dirty="0">
                <a:latin typeface="Courier New" pitchFamily="49" charset="0"/>
              </a:rPr>
              <a:t>	</a:t>
            </a:r>
            <a:r>
              <a:rPr lang="en-US" sz="1300" b="1" dirty="0" err="1">
                <a:latin typeface="Courier New" pitchFamily="49" charset="0"/>
              </a:rPr>
              <a:t>pFile</a:t>
            </a:r>
            <a:r>
              <a:rPr lang="en-US" sz="1300" b="1" dirty="0">
                <a:latin typeface="Courier New" pitchFamily="49" charset="0"/>
              </a:rPr>
              <a:t> = </a:t>
            </a:r>
            <a:r>
              <a:rPr lang="en-US" sz="1300" b="1" dirty="0" err="1">
                <a:latin typeface="Courier New" pitchFamily="49" charset="0"/>
              </a:rPr>
              <a:t>nullptr</a:t>
            </a:r>
            <a:r>
              <a:rPr lang="en-US" sz="1300" b="1" dirty="0">
                <a:latin typeface="Courier New" pitchFamily="49" charset="0"/>
              </a:rPr>
              <a:t>;</a:t>
            </a:r>
          </a:p>
          <a:p>
            <a:pPr defTabSz="363538"/>
            <a:endParaRPr lang="ru-RU" sz="1300" b="1" dirty="0">
              <a:latin typeface="Courier New" pitchFamily="49" charset="0"/>
            </a:endParaRPr>
          </a:p>
          <a:p>
            <a:pPr defTabSz="363538"/>
            <a:r>
              <a:rPr lang="ru-RU" sz="1300" b="1" dirty="0">
                <a:latin typeface="Courier New" pitchFamily="49" charset="0"/>
              </a:rPr>
              <a:t>	</a:t>
            </a:r>
            <a:r>
              <a:rPr lang="en-US" sz="1300" b="1" dirty="0">
                <a:latin typeface="Courier New" pitchFamily="49" charset="0"/>
              </a:rPr>
              <a:t>return 0;</a:t>
            </a:r>
          </a:p>
          <a:p>
            <a:pPr defTabSz="363538"/>
            <a:r>
              <a:rPr lang="en-US" sz="1300" b="1" dirty="0">
                <a:latin typeface="Courier New" pitchFamily="49" charset="0"/>
              </a:rPr>
              <a:t>}</a:t>
            </a:r>
            <a:r>
              <a:rPr lang="ru-RU" sz="1300" b="1" dirty="0">
                <a:latin typeface="Courier New" pitchFamily="49" charset="0"/>
              </a:rPr>
              <a:t>	</a:t>
            </a:r>
            <a:endParaRPr lang="en-US" sz="1300" b="1" dirty="0">
              <a:latin typeface="Courier New" pitchFamily="49" charset="0"/>
            </a:endParaRPr>
          </a:p>
          <a:p>
            <a:pPr defTabSz="363538"/>
            <a:r>
              <a:rPr lang="en-US" sz="1300" b="1" i="1" dirty="0">
                <a:latin typeface="Courier New" pitchFamily="49" charset="0"/>
              </a:rPr>
              <a:t>	</a:t>
            </a:r>
            <a:r>
              <a:rPr lang="ru-RU" sz="1300" i="1" dirty="0">
                <a:latin typeface="Courier New" pitchFamily="49" charset="0"/>
              </a:rPr>
              <a:t>// При выходе из данного блока</a:t>
            </a:r>
          </a:p>
          <a:p>
            <a:pPr defTabSz="363538"/>
            <a:r>
              <a:rPr lang="ru-RU" sz="1300" i="1" dirty="0">
                <a:latin typeface="Courier New" pitchFamily="49" charset="0"/>
              </a:rPr>
              <a:t>	// будет вызван деструктор объекта </a:t>
            </a:r>
            <a:r>
              <a:rPr lang="en-US" sz="1300" i="1" dirty="0">
                <a:latin typeface="Courier New" pitchFamily="49" charset="0"/>
              </a:rPr>
              <a:t>file</a:t>
            </a:r>
          </a:p>
          <a:p>
            <a:pPr defTabSz="363538"/>
            <a:endParaRPr lang="ru-RU" sz="1300" b="1" dirty="0">
              <a:latin typeface="Courier New" pitchFamily="49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4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4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992BEF6-2424-4849-B619-AEFB0D20848A}"/>
              </a:ext>
            </a:extLst>
          </p:cNvPr>
          <p:cNvSpPr txBox="1"/>
          <p:nvPr/>
        </p:nvSpPr>
        <p:spPr>
          <a:xfrm>
            <a:off x="335360" y="-24063"/>
            <a:ext cx="11089232" cy="70173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String {</a:t>
            </a:r>
          </a:p>
          <a:p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5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String() </a:t>
            </a:r>
            <a:r>
              <a:rPr lang="en-US" sz="15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m_chars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 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s_emptyString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} { }</a:t>
            </a:r>
          </a:p>
          <a:p>
            <a:endParaRPr lang="en-US" sz="15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String(</a:t>
            </a:r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char*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text)</a:t>
            </a:r>
          </a:p>
          <a:p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: 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m_size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 std::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strlen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(text) }, 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m_capacity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 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m_size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}</a:t>
            </a:r>
          </a:p>
          <a:p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m_chars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 Allocate(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m_capacity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sz="15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} {</a:t>
            </a:r>
          </a:p>
          <a:p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uninitialized_copy_n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(text, 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m_size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sz="15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m_chars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endParaRPr lang="en-US" sz="15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~String() {</a:t>
            </a:r>
          </a:p>
          <a:p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m_chars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!= 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s_emptyString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std::</a:t>
            </a:r>
            <a:r>
              <a:rPr lang="en-US" sz="1500" dirty="0" err="1">
                <a:solidFill>
                  <a:srgbClr val="000000"/>
                </a:solidFill>
                <a:latin typeface="Consolas" panose="020B0609020204030204" pitchFamily="49" charset="0"/>
              </a:rPr>
              <a:t>destroy_n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1500" dirty="0" err="1">
                <a:solidFill>
                  <a:srgbClr val="000000"/>
                </a:solidFill>
                <a:latin typeface="Consolas" panose="020B0609020204030204" pitchFamily="49" charset="0"/>
              </a:rPr>
              <a:t>m_chars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1500" dirty="0" err="1">
                <a:solidFill>
                  <a:srgbClr val="000000"/>
                </a:solidFill>
                <a:latin typeface="Consolas" panose="020B0609020204030204" pitchFamily="49" charset="0"/>
              </a:rPr>
              <a:t>m_size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sz="1500" dirty="0">
                <a:solidFill>
                  <a:srgbClr val="098658"/>
                </a:solidFill>
                <a:latin typeface="Consolas" panose="020B0609020204030204" pitchFamily="49" charset="0"/>
              </a:rPr>
              <a:t>1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      Deallocate(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m_chars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sz="15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char*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Allocate(</a:t>
            </a:r>
            <a:r>
              <a:rPr lang="en-US" sz="15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size) {</a:t>
            </a:r>
          </a:p>
          <a:p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static_cast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*&gt;(operator </a:t>
            </a:r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(size));</a:t>
            </a:r>
          </a:p>
          <a:p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Deallocate(</a:t>
            </a:r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char*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buffer) </a:t>
            </a:r>
            <a:r>
              <a:rPr lang="en-US" sz="15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operator delete(buffer);</a:t>
            </a:r>
          </a:p>
          <a:p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b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inline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s_emptyString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= { </a:t>
            </a:r>
            <a:r>
              <a:rPr lang="en-US" sz="15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'\0’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};</a:t>
            </a:r>
          </a:p>
          <a:p>
            <a:b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5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m_size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5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5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m_capacity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5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m_chars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11553039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4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500"/>
                            </p:stCondLst>
                            <p:childTnLst>
                              <p:par>
                                <p:cTn id="3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4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4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500"/>
                            </p:stCondLst>
                            <p:childTnLst>
                              <p:par>
                                <p:cTn id="6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4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4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4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Жизнь после смерти</a:t>
            </a:r>
            <a:endParaRPr lang="ru-RU" dirty="0"/>
          </a:p>
        </p:txBody>
      </p:sp>
      <p:sp>
        <p:nvSpPr>
          <p:cNvPr id="4" name="Содержимое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/>
              <a:t>В </a:t>
            </a:r>
            <a:r>
              <a:rPr lang="en-US"/>
              <a:t>C++ </a:t>
            </a:r>
            <a:r>
              <a:rPr lang="ru-RU"/>
              <a:t>после выполнения тела деструктора происходит автоматический вызов деструкторов членов-данных класса</a:t>
            </a:r>
          </a:p>
          <a:p>
            <a:pPr lvl="1"/>
            <a:r>
              <a:rPr lang="ru-RU"/>
              <a:t>Порядок  вызова деструкторов  полей данных обратен порядку их объявления внутри класса</a:t>
            </a:r>
          </a:p>
          <a:p>
            <a:r>
              <a:rPr lang="ru-RU"/>
              <a:t>Если класс был унаследован от другого класса, будет вызван деструктор родительского класса</a:t>
            </a:r>
          </a:p>
          <a:p>
            <a:pPr lvl="1"/>
            <a:r>
              <a:rPr lang="ru-RU"/>
              <a:t>И т.д. по цепочке</a:t>
            </a:r>
          </a:p>
          <a:p>
            <a:r>
              <a:rPr lang="ru-RU"/>
              <a:t>После этого происходит освобождение занимаемой объектом памяти</a:t>
            </a:r>
            <a:endParaRPr lang="ru-RU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Класс «Колесо»</a:t>
            </a:r>
          </a:p>
        </p:txBody>
      </p:sp>
      <p:sp>
        <p:nvSpPr>
          <p:cNvPr id="5" name="Прямоугольник 4"/>
          <p:cNvSpPr/>
          <p:nvPr/>
        </p:nvSpPr>
        <p:spPr>
          <a:xfrm>
            <a:off x="1991544" y="2056687"/>
            <a:ext cx="7992888" cy="38779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defTabSz="266700"/>
            <a:r>
              <a:rPr lang="en-US" sz="1600" b="1" dirty="0">
                <a:latin typeface="Courier New" pitchFamily="49" charset="0"/>
                <a:cs typeface="Courier New" pitchFamily="49" charset="0"/>
              </a:rPr>
              <a:t>class Wheel</a:t>
            </a:r>
          </a:p>
          <a:p>
            <a:pPr defTabSz="266700"/>
            <a:r>
              <a:rPr lang="ru-RU" sz="1600" b="1" dirty="0">
                <a:latin typeface="Courier New" pitchFamily="49" charset="0"/>
                <a:cs typeface="Courier New" pitchFamily="49" charset="0"/>
              </a:rPr>
              <a:t>{</a:t>
            </a:r>
          </a:p>
          <a:p>
            <a:pPr defTabSz="266700"/>
            <a:r>
              <a:rPr lang="en-US" sz="1600" b="1" dirty="0">
                <a:latin typeface="Courier New" pitchFamily="49" charset="0"/>
                <a:cs typeface="Courier New" pitchFamily="49" charset="0"/>
              </a:rPr>
              <a:t>public:</a:t>
            </a:r>
          </a:p>
          <a:p>
            <a:pPr defTabSz="266700"/>
            <a:r>
              <a:rPr lang="en-US" sz="1600" b="1" dirty="0">
                <a:latin typeface="Courier New" pitchFamily="49" charset="0"/>
                <a:cs typeface="Courier New" pitchFamily="49" charset="0"/>
              </a:rPr>
              <a:t>	Wheel(string const&amp; name)</a:t>
            </a:r>
          </a:p>
          <a:p>
            <a:pPr defTabSz="266700"/>
            <a:r>
              <a:rPr lang="en-US" sz="1600" b="1" dirty="0">
                <a:latin typeface="Courier New" pitchFamily="49" charset="0"/>
                <a:cs typeface="Courier New" pitchFamily="49" charset="0"/>
              </a:rPr>
              <a:t>		:</a:t>
            </a:r>
            <a:r>
              <a:rPr lang="en-US" sz="1600" b="1" dirty="0" err="1">
                <a:latin typeface="Courier New" pitchFamily="49" charset="0"/>
                <a:cs typeface="Courier New" pitchFamily="49" charset="0"/>
              </a:rPr>
              <a:t>m_name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(name)</a:t>
            </a:r>
          </a:p>
          <a:p>
            <a:pPr defTabSz="266700"/>
            <a:r>
              <a:rPr lang="ru-RU" sz="1600" b="1" dirty="0">
                <a:latin typeface="Courier New" pitchFamily="49" charset="0"/>
                <a:cs typeface="Courier New" pitchFamily="49" charset="0"/>
              </a:rPr>
              <a:t>	{</a:t>
            </a:r>
          </a:p>
          <a:p>
            <a:pPr defTabSz="266700"/>
            <a:r>
              <a:rPr lang="en-US" sz="1600" b="1" dirty="0">
                <a:latin typeface="Courier New" pitchFamily="49" charset="0"/>
                <a:cs typeface="Courier New" pitchFamily="49" charset="0"/>
              </a:rPr>
              <a:t>		</a:t>
            </a:r>
            <a:r>
              <a:rPr lang="en-US" sz="1600" b="1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 &lt;&lt; "Constructing wheel " &lt;&lt; </a:t>
            </a:r>
            <a:r>
              <a:rPr lang="en-US" sz="1600" b="1" dirty="0" err="1">
                <a:latin typeface="Courier New" pitchFamily="49" charset="0"/>
                <a:cs typeface="Courier New" pitchFamily="49" charset="0"/>
              </a:rPr>
              <a:t>m_name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 &lt;&lt; "\n";</a:t>
            </a:r>
          </a:p>
          <a:p>
            <a:pPr defTabSz="266700"/>
            <a:r>
              <a:rPr lang="ru-RU" sz="1600" b="1" dirty="0">
                <a:latin typeface="Courier New" pitchFamily="49" charset="0"/>
                <a:cs typeface="Courier New" pitchFamily="49" charset="0"/>
              </a:rPr>
              <a:t>	}</a:t>
            </a:r>
          </a:p>
          <a:p>
            <a:pPr defTabSz="266700"/>
            <a:r>
              <a:rPr lang="en-US" sz="1600" b="1" dirty="0">
                <a:latin typeface="Courier New" pitchFamily="49" charset="0"/>
                <a:cs typeface="Courier New" pitchFamily="49" charset="0"/>
              </a:rPr>
              <a:t>	~Wheel()</a:t>
            </a:r>
          </a:p>
          <a:p>
            <a:pPr defTabSz="266700"/>
            <a:r>
              <a:rPr lang="ru-RU" sz="1600" b="1" dirty="0">
                <a:latin typeface="Courier New" pitchFamily="49" charset="0"/>
                <a:cs typeface="Courier New" pitchFamily="49" charset="0"/>
              </a:rPr>
              <a:t>	{</a:t>
            </a:r>
          </a:p>
          <a:p>
            <a:pPr defTabSz="266700"/>
            <a:r>
              <a:rPr lang="en-US" sz="1600" b="1" dirty="0">
                <a:latin typeface="Courier New" pitchFamily="49" charset="0"/>
                <a:cs typeface="Courier New" pitchFamily="49" charset="0"/>
              </a:rPr>
              <a:t>		</a:t>
            </a:r>
            <a:r>
              <a:rPr lang="en-US" sz="1600" b="1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 &lt;&lt; "Destroying wheel " &lt;&lt; </a:t>
            </a:r>
            <a:r>
              <a:rPr lang="en-US" sz="1600" b="1" dirty="0" err="1">
                <a:latin typeface="Courier New" pitchFamily="49" charset="0"/>
                <a:cs typeface="Courier New" pitchFamily="49" charset="0"/>
              </a:rPr>
              <a:t>m_name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 &lt;&lt; "\n";</a:t>
            </a:r>
          </a:p>
          <a:p>
            <a:pPr defTabSz="266700"/>
            <a:r>
              <a:rPr lang="ru-RU" sz="1600" b="1" dirty="0">
                <a:latin typeface="Courier New" pitchFamily="49" charset="0"/>
                <a:cs typeface="Courier New" pitchFamily="49" charset="0"/>
              </a:rPr>
              <a:t>	}</a:t>
            </a:r>
          </a:p>
          <a:p>
            <a:pPr defTabSz="266700"/>
            <a:r>
              <a:rPr lang="en-US" sz="1600" b="1" dirty="0">
                <a:latin typeface="Courier New" pitchFamily="49" charset="0"/>
                <a:cs typeface="Courier New" pitchFamily="49" charset="0"/>
              </a:rPr>
              <a:t>private:</a:t>
            </a:r>
          </a:p>
          <a:p>
            <a:pPr defTabSz="266700"/>
            <a:r>
              <a:rPr lang="en-US" sz="1600" b="1" dirty="0">
                <a:latin typeface="Courier New" pitchFamily="49" charset="0"/>
                <a:cs typeface="Courier New" pitchFamily="49" charset="0"/>
              </a:rPr>
              <a:t>	string </a:t>
            </a:r>
            <a:r>
              <a:rPr lang="en-US" sz="1600" b="1" dirty="0" err="1">
                <a:latin typeface="Courier New" pitchFamily="49" charset="0"/>
                <a:cs typeface="Courier New" pitchFamily="49" charset="0"/>
              </a:rPr>
              <a:t>m_name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pPr defTabSz="266700"/>
            <a:r>
              <a:rPr lang="ru-RU" sz="1600" b="1" dirty="0">
                <a:latin typeface="Courier New" pitchFamily="49" charset="0"/>
                <a:cs typeface="Courier New" pitchFamily="49" charset="0"/>
              </a:rPr>
              <a:t>};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Класс «Автомобиль»</a:t>
            </a:r>
          </a:p>
        </p:txBody>
      </p:sp>
      <p:sp>
        <p:nvSpPr>
          <p:cNvPr id="5" name="Прямоугольник 4"/>
          <p:cNvSpPr/>
          <p:nvPr/>
        </p:nvSpPr>
        <p:spPr>
          <a:xfrm>
            <a:off x="1991544" y="1810465"/>
            <a:ext cx="7992888" cy="489364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defTabSz="266700"/>
            <a:r>
              <a:rPr lang="en-US" sz="1300" b="1" dirty="0">
                <a:latin typeface="Courier New" pitchFamily="49" charset="0"/>
                <a:cs typeface="Courier New" pitchFamily="49" charset="0"/>
              </a:rPr>
              <a:t>class Car</a:t>
            </a:r>
          </a:p>
          <a:p>
            <a:pPr defTabSz="266700"/>
            <a:r>
              <a:rPr lang="ru-RU" sz="1300" b="1" dirty="0">
                <a:latin typeface="Courier New" pitchFamily="49" charset="0"/>
                <a:cs typeface="Courier New" pitchFamily="49" charset="0"/>
              </a:rPr>
              <a:t>{</a:t>
            </a:r>
          </a:p>
          <a:p>
            <a:pPr defTabSz="266700"/>
            <a:r>
              <a:rPr lang="en-US" sz="1300" b="1" dirty="0">
                <a:latin typeface="Courier New" pitchFamily="49" charset="0"/>
                <a:cs typeface="Courier New" pitchFamily="49" charset="0"/>
              </a:rPr>
              <a:t>public:</a:t>
            </a:r>
          </a:p>
          <a:p>
            <a:pPr defTabSz="266700"/>
            <a:r>
              <a:rPr lang="en-US" sz="1300" b="1" dirty="0">
                <a:latin typeface="Courier New" pitchFamily="49" charset="0"/>
                <a:cs typeface="Courier New" pitchFamily="49" charset="0"/>
              </a:rPr>
              <a:t>	Car(string const&amp; name):</a:t>
            </a:r>
            <a:r>
              <a:rPr lang="en-US" sz="1300" b="1" dirty="0" err="1">
                <a:latin typeface="Courier New" pitchFamily="49" charset="0"/>
                <a:cs typeface="Courier New" pitchFamily="49" charset="0"/>
              </a:rPr>
              <a:t>m_name</a:t>
            </a:r>
            <a:r>
              <a:rPr lang="en-US" sz="1300" b="1" dirty="0">
                <a:latin typeface="Courier New" pitchFamily="49" charset="0"/>
                <a:cs typeface="Courier New" pitchFamily="49" charset="0"/>
              </a:rPr>
              <a:t>(name)</a:t>
            </a:r>
          </a:p>
          <a:p>
            <a:pPr defTabSz="266700"/>
            <a:r>
              <a:rPr lang="en-US" sz="1300" b="1" dirty="0">
                <a:latin typeface="Courier New" pitchFamily="49" charset="0"/>
                <a:cs typeface="Courier New" pitchFamily="49" charset="0"/>
              </a:rPr>
              <a:t>		,</a:t>
            </a:r>
            <a:r>
              <a:rPr lang="en-US" sz="1300" b="1" dirty="0" err="1">
                <a:latin typeface="Courier New" pitchFamily="49" charset="0"/>
                <a:cs typeface="Courier New" pitchFamily="49" charset="0"/>
              </a:rPr>
              <a:t>m_frontRight</a:t>
            </a:r>
            <a:r>
              <a:rPr lang="en-US" sz="1300" b="1" dirty="0">
                <a:latin typeface="Courier New" pitchFamily="49" charset="0"/>
                <a:cs typeface="Courier New" pitchFamily="49" charset="0"/>
              </a:rPr>
              <a:t>("Front right“),</a:t>
            </a:r>
            <a:r>
              <a:rPr lang="en-US" sz="1300" b="1" dirty="0" err="1">
                <a:latin typeface="Courier New" pitchFamily="49" charset="0"/>
                <a:cs typeface="Courier New" pitchFamily="49" charset="0"/>
              </a:rPr>
              <a:t>m_rearLeft</a:t>
            </a:r>
            <a:r>
              <a:rPr lang="en-US" sz="1300" b="1" dirty="0">
                <a:latin typeface="Courier New" pitchFamily="49" charset="0"/>
                <a:cs typeface="Courier New" pitchFamily="49" charset="0"/>
              </a:rPr>
              <a:t>("Rear left")</a:t>
            </a:r>
          </a:p>
          <a:p>
            <a:pPr defTabSz="266700"/>
            <a:r>
              <a:rPr lang="en-US" sz="1300" b="1" dirty="0">
                <a:latin typeface="Courier New" pitchFamily="49" charset="0"/>
                <a:cs typeface="Courier New" pitchFamily="49" charset="0"/>
              </a:rPr>
              <a:t>		,</a:t>
            </a:r>
            <a:r>
              <a:rPr lang="en-US" sz="1300" b="1" dirty="0" err="1">
                <a:latin typeface="Courier New" pitchFamily="49" charset="0"/>
                <a:cs typeface="Courier New" pitchFamily="49" charset="0"/>
              </a:rPr>
              <a:t>m_rearRight</a:t>
            </a:r>
            <a:r>
              <a:rPr lang="en-US" sz="1300" b="1" dirty="0">
                <a:latin typeface="Courier New" pitchFamily="49" charset="0"/>
                <a:cs typeface="Courier New" pitchFamily="49" charset="0"/>
              </a:rPr>
              <a:t>("Rear right“),</a:t>
            </a:r>
            <a:r>
              <a:rPr lang="en-US" sz="1300" b="1" dirty="0" err="1">
                <a:latin typeface="Courier New" pitchFamily="49" charset="0"/>
                <a:cs typeface="Courier New" pitchFamily="49" charset="0"/>
              </a:rPr>
              <a:t>m_frontLeft</a:t>
            </a:r>
            <a:r>
              <a:rPr lang="en-US" sz="1300" b="1" dirty="0">
                <a:latin typeface="Courier New" pitchFamily="49" charset="0"/>
                <a:cs typeface="Courier New" pitchFamily="49" charset="0"/>
              </a:rPr>
              <a:t>("Front left")</a:t>
            </a:r>
          </a:p>
          <a:p>
            <a:pPr defTabSz="266700"/>
            <a:r>
              <a:rPr lang="ru-RU" sz="1300" b="1" dirty="0">
                <a:latin typeface="Courier New" pitchFamily="49" charset="0"/>
                <a:cs typeface="Courier New" pitchFamily="49" charset="0"/>
              </a:rPr>
              <a:t>	{</a:t>
            </a:r>
          </a:p>
          <a:p>
            <a:pPr defTabSz="266700"/>
            <a:r>
              <a:rPr lang="en-US" sz="1300" b="1" dirty="0">
                <a:latin typeface="Courier New" pitchFamily="49" charset="0"/>
                <a:cs typeface="Courier New" pitchFamily="49" charset="0"/>
              </a:rPr>
              <a:t>		</a:t>
            </a:r>
            <a:r>
              <a:rPr lang="en-US" sz="1300" b="1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300" b="1" dirty="0">
                <a:latin typeface="Courier New" pitchFamily="49" charset="0"/>
                <a:cs typeface="Courier New" pitchFamily="49" charset="0"/>
              </a:rPr>
              <a:t> &lt;&lt; "Constructing car " &lt;&lt; </a:t>
            </a:r>
            <a:r>
              <a:rPr lang="en-US" sz="1300" b="1" dirty="0" err="1">
                <a:latin typeface="Courier New" pitchFamily="49" charset="0"/>
                <a:cs typeface="Courier New" pitchFamily="49" charset="0"/>
              </a:rPr>
              <a:t>m_name</a:t>
            </a:r>
            <a:r>
              <a:rPr lang="en-US" sz="1300" b="1" dirty="0">
                <a:latin typeface="Courier New" pitchFamily="49" charset="0"/>
                <a:cs typeface="Courier New" pitchFamily="49" charset="0"/>
              </a:rPr>
              <a:t> &lt;&lt; "\n";</a:t>
            </a:r>
          </a:p>
          <a:p>
            <a:pPr defTabSz="266700"/>
            <a:r>
              <a:rPr lang="ru-RU" sz="1300" b="1" dirty="0">
                <a:latin typeface="Courier New" pitchFamily="49" charset="0"/>
                <a:cs typeface="Courier New" pitchFamily="49" charset="0"/>
              </a:rPr>
              <a:t>	}</a:t>
            </a:r>
            <a:endParaRPr lang="en-US" sz="1300" b="1" dirty="0">
              <a:latin typeface="Courier New" pitchFamily="49" charset="0"/>
              <a:cs typeface="Courier New" pitchFamily="49" charset="0"/>
            </a:endParaRPr>
          </a:p>
          <a:p>
            <a:pPr defTabSz="266700"/>
            <a:r>
              <a:rPr lang="en-US" sz="1300" b="1" dirty="0">
                <a:latin typeface="Courier New" pitchFamily="49" charset="0"/>
                <a:cs typeface="Courier New" pitchFamily="49" charset="0"/>
              </a:rPr>
              <a:t>	string </a:t>
            </a:r>
            <a:r>
              <a:rPr lang="en-US" sz="1300" b="1" dirty="0" err="1">
                <a:latin typeface="Courier New" pitchFamily="49" charset="0"/>
                <a:cs typeface="Courier New" pitchFamily="49" charset="0"/>
              </a:rPr>
              <a:t>GetName</a:t>
            </a:r>
            <a:r>
              <a:rPr lang="en-US" sz="1300" b="1" dirty="0">
                <a:latin typeface="Courier New" pitchFamily="49" charset="0"/>
                <a:cs typeface="Courier New" pitchFamily="49" charset="0"/>
              </a:rPr>
              <a:t>()const</a:t>
            </a:r>
          </a:p>
          <a:p>
            <a:pPr defTabSz="266700"/>
            <a:r>
              <a:rPr lang="ru-RU" sz="1300" b="1" dirty="0">
                <a:latin typeface="Courier New" pitchFamily="49" charset="0"/>
                <a:cs typeface="Courier New" pitchFamily="49" charset="0"/>
              </a:rPr>
              <a:t>	{</a:t>
            </a:r>
          </a:p>
          <a:p>
            <a:pPr defTabSz="266700"/>
            <a:r>
              <a:rPr lang="en-US" sz="1300" b="1" dirty="0">
                <a:latin typeface="Courier New" pitchFamily="49" charset="0"/>
                <a:cs typeface="Courier New" pitchFamily="49" charset="0"/>
              </a:rPr>
              <a:t>		return </a:t>
            </a:r>
            <a:r>
              <a:rPr lang="en-US" sz="1300" b="1" dirty="0" err="1">
                <a:latin typeface="Courier New" pitchFamily="49" charset="0"/>
                <a:cs typeface="Courier New" pitchFamily="49" charset="0"/>
              </a:rPr>
              <a:t>m_name</a:t>
            </a:r>
            <a:r>
              <a:rPr lang="en-US" sz="1300" b="1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pPr defTabSz="266700"/>
            <a:r>
              <a:rPr lang="ru-RU" sz="1300" b="1" dirty="0">
                <a:latin typeface="Courier New" pitchFamily="49" charset="0"/>
                <a:cs typeface="Courier New" pitchFamily="49" charset="0"/>
              </a:rPr>
              <a:t>	}</a:t>
            </a:r>
          </a:p>
          <a:p>
            <a:pPr defTabSz="266700"/>
            <a:r>
              <a:rPr lang="en-US" sz="1300" b="1" dirty="0">
                <a:latin typeface="Courier New" pitchFamily="49" charset="0"/>
                <a:cs typeface="Courier New" pitchFamily="49" charset="0"/>
              </a:rPr>
              <a:t>	virtual ~Car()</a:t>
            </a:r>
          </a:p>
          <a:p>
            <a:pPr defTabSz="266700"/>
            <a:r>
              <a:rPr lang="ru-RU" sz="1300" b="1" dirty="0">
                <a:latin typeface="Courier New" pitchFamily="49" charset="0"/>
                <a:cs typeface="Courier New" pitchFamily="49" charset="0"/>
              </a:rPr>
              <a:t>	{</a:t>
            </a:r>
          </a:p>
          <a:p>
            <a:pPr defTabSz="266700"/>
            <a:r>
              <a:rPr lang="en-US" sz="1300" b="1" dirty="0">
                <a:latin typeface="Courier New" pitchFamily="49" charset="0"/>
                <a:cs typeface="Courier New" pitchFamily="49" charset="0"/>
              </a:rPr>
              <a:t>		</a:t>
            </a:r>
            <a:r>
              <a:rPr lang="en-US" sz="1300" b="1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300" b="1" dirty="0">
                <a:latin typeface="Courier New" pitchFamily="49" charset="0"/>
                <a:cs typeface="Courier New" pitchFamily="49" charset="0"/>
              </a:rPr>
              <a:t> &lt;&lt; "Destroying car " &lt;&lt; </a:t>
            </a:r>
            <a:r>
              <a:rPr lang="en-US" sz="1300" b="1" dirty="0" err="1">
                <a:latin typeface="Courier New" pitchFamily="49" charset="0"/>
                <a:cs typeface="Courier New" pitchFamily="49" charset="0"/>
              </a:rPr>
              <a:t>m_name</a:t>
            </a:r>
            <a:r>
              <a:rPr lang="en-US" sz="1300" b="1" dirty="0">
                <a:latin typeface="Courier New" pitchFamily="49" charset="0"/>
                <a:cs typeface="Courier New" pitchFamily="49" charset="0"/>
              </a:rPr>
              <a:t> &lt;&lt; "\n";</a:t>
            </a:r>
          </a:p>
          <a:p>
            <a:pPr defTabSz="266700"/>
            <a:r>
              <a:rPr lang="ru-RU" sz="1300" b="1" dirty="0">
                <a:latin typeface="Courier New" pitchFamily="49" charset="0"/>
                <a:cs typeface="Courier New" pitchFamily="49" charset="0"/>
              </a:rPr>
              <a:t>	}</a:t>
            </a:r>
          </a:p>
          <a:p>
            <a:pPr defTabSz="266700"/>
            <a:r>
              <a:rPr lang="en-US" sz="1300" b="1" dirty="0">
                <a:latin typeface="Courier New" pitchFamily="49" charset="0"/>
                <a:cs typeface="Courier New" pitchFamily="49" charset="0"/>
              </a:rPr>
              <a:t>private:</a:t>
            </a:r>
          </a:p>
          <a:p>
            <a:pPr defTabSz="266700"/>
            <a:r>
              <a:rPr lang="en-US" sz="1300" b="1" dirty="0">
                <a:latin typeface="Courier New" pitchFamily="49" charset="0"/>
                <a:cs typeface="Courier New" pitchFamily="49" charset="0"/>
              </a:rPr>
              <a:t>	string </a:t>
            </a:r>
            <a:r>
              <a:rPr lang="en-US" sz="1300" b="1" dirty="0" err="1">
                <a:latin typeface="Courier New" pitchFamily="49" charset="0"/>
                <a:cs typeface="Courier New" pitchFamily="49" charset="0"/>
              </a:rPr>
              <a:t>m_name</a:t>
            </a:r>
            <a:r>
              <a:rPr lang="en-US" sz="1300" b="1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pPr defTabSz="266700"/>
            <a:r>
              <a:rPr lang="en-US" sz="1300" b="1" dirty="0">
                <a:latin typeface="Courier New" pitchFamily="49" charset="0"/>
                <a:cs typeface="Courier New" pitchFamily="49" charset="0"/>
              </a:rPr>
              <a:t>	Wheel </a:t>
            </a:r>
            <a:r>
              <a:rPr lang="en-US" sz="1300" b="1" dirty="0" err="1">
                <a:latin typeface="Courier New" pitchFamily="49" charset="0"/>
                <a:cs typeface="Courier New" pitchFamily="49" charset="0"/>
              </a:rPr>
              <a:t>m_frontLeft</a:t>
            </a:r>
            <a:r>
              <a:rPr lang="en-US" sz="1300" b="1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pPr defTabSz="266700"/>
            <a:r>
              <a:rPr lang="en-US" sz="1300" b="1" dirty="0">
                <a:latin typeface="Courier New" pitchFamily="49" charset="0"/>
                <a:cs typeface="Courier New" pitchFamily="49" charset="0"/>
              </a:rPr>
              <a:t>	Wheel </a:t>
            </a:r>
            <a:r>
              <a:rPr lang="en-US" sz="1300" b="1" dirty="0" err="1">
                <a:latin typeface="Courier New" pitchFamily="49" charset="0"/>
                <a:cs typeface="Courier New" pitchFamily="49" charset="0"/>
              </a:rPr>
              <a:t>m_frontRight</a:t>
            </a:r>
            <a:r>
              <a:rPr lang="en-US" sz="1300" b="1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pPr defTabSz="266700"/>
            <a:r>
              <a:rPr lang="en-US" sz="1300" b="1" dirty="0">
                <a:latin typeface="Courier New" pitchFamily="49" charset="0"/>
                <a:cs typeface="Courier New" pitchFamily="49" charset="0"/>
              </a:rPr>
              <a:t>	Wheel </a:t>
            </a:r>
            <a:r>
              <a:rPr lang="en-US" sz="1300" b="1" dirty="0" err="1">
                <a:latin typeface="Courier New" pitchFamily="49" charset="0"/>
                <a:cs typeface="Courier New" pitchFamily="49" charset="0"/>
              </a:rPr>
              <a:t>m_rearLeft</a:t>
            </a:r>
            <a:r>
              <a:rPr lang="en-US" sz="1300" b="1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pPr defTabSz="266700"/>
            <a:r>
              <a:rPr lang="en-US" sz="1300" b="1" dirty="0">
                <a:latin typeface="Courier New" pitchFamily="49" charset="0"/>
                <a:cs typeface="Courier New" pitchFamily="49" charset="0"/>
              </a:rPr>
              <a:t>	Wheel </a:t>
            </a:r>
            <a:r>
              <a:rPr lang="en-US" sz="1300" b="1" dirty="0" err="1">
                <a:latin typeface="Courier New" pitchFamily="49" charset="0"/>
                <a:cs typeface="Courier New" pitchFamily="49" charset="0"/>
              </a:rPr>
              <a:t>m_rearRight</a:t>
            </a:r>
            <a:r>
              <a:rPr lang="en-US" sz="1300" b="1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pPr defTabSz="266700"/>
            <a:r>
              <a:rPr lang="ru-RU" sz="1300" b="1" dirty="0">
                <a:latin typeface="Courier New" pitchFamily="49" charset="0"/>
                <a:cs typeface="Courier New" pitchFamily="49" charset="0"/>
              </a:rPr>
              <a:t>};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Класс «</a:t>
            </a:r>
            <a:r>
              <a:rPr lang="ru-RU" dirty="0" err="1"/>
              <a:t>Супер</a:t>
            </a:r>
            <a:r>
              <a:rPr lang="ru-RU" dirty="0"/>
              <a:t> автомобиль»</a:t>
            </a:r>
          </a:p>
        </p:txBody>
      </p:sp>
      <p:sp>
        <p:nvSpPr>
          <p:cNvPr id="3" name="Прямоугольник 2"/>
          <p:cNvSpPr/>
          <p:nvPr/>
        </p:nvSpPr>
        <p:spPr>
          <a:xfrm>
            <a:off x="2063552" y="1916832"/>
            <a:ext cx="8208912" cy="427809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defTabSz="266700"/>
            <a:r>
              <a:rPr lang="en-US" sz="1600" b="1" dirty="0">
                <a:latin typeface="Courier New" pitchFamily="49" charset="0"/>
                <a:cs typeface="Courier New" pitchFamily="49" charset="0"/>
              </a:rPr>
              <a:t>class </a:t>
            </a:r>
            <a:r>
              <a:rPr lang="en-US" sz="1600" b="1" dirty="0" err="1">
                <a:latin typeface="Courier New" pitchFamily="49" charset="0"/>
                <a:cs typeface="Courier New" pitchFamily="49" charset="0"/>
              </a:rPr>
              <a:t>SuperCar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 : public Car</a:t>
            </a:r>
          </a:p>
          <a:p>
            <a:pPr defTabSz="266700"/>
            <a:r>
              <a:rPr lang="ru-RU" sz="1600" b="1" dirty="0">
                <a:latin typeface="Courier New" pitchFamily="49" charset="0"/>
                <a:cs typeface="Courier New" pitchFamily="49" charset="0"/>
              </a:rPr>
              <a:t>{</a:t>
            </a:r>
          </a:p>
          <a:p>
            <a:pPr defTabSz="266700"/>
            <a:r>
              <a:rPr lang="en-US" sz="1600" b="1" dirty="0">
                <a:latin typeface="Courier New" pitchFamily="49" charset="0"/>
                <a:cs typeface="Courier New" pitchFamily="49" charset="0"/>
              </a:rPr>
              <a:t>public:</a:t>
            </a:r>
          </a:p>
          <a:p>
            <a:pPr defTabSz="266700"/>
            <a:r>
              <a:rPr lang="en-US" sz="1600" b="1" dirty="0">
                <a:latin typeface="Courier New" pitchFamily="49" charset="0"/>
                <a:cs typeface="Courier New" pitchFamily="49" charset="0"/>
              </a:rPr>
              <a:t>	</a:t>
            </a:r>
            <a:r>
              <a:rPr lang="en-US" sz="1600" b="1" dirty="0" err="1">
                <a:latin typeface="Courier New" pitchFamily="49" charset="0"/>
                <a:cs typeface="Courier New" pitchFamily="49" charset="0"/>
              </a:rPr>
              <a:t>SuperCar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(string const&amp; name)</a:t>
            </a:r>
          </a:p>
          <a:p>
            <a:pPr defTabSz="266700"/>
            <a:r>
              <a:rPr lang="en-US" sz="1600" b="1" dirty="0">
                <a:latin typeface="Courier New" pitchFamily="49" charset="0"/>
                <a:cs typeface="Courier New" pitchFamily="49" charset="0"/>
              </a:rPr>
              <a:t>		:Car(name)</a:t>
            </a:r>
          </a:p>
          <a:p>
            <a:pPr defTabSz="266700"/>
            <a:r>
              <a:rPr lang="en-US" sz="1600" b="1" dirty="0">
                <a:latin typeface="Courier New" pitchFamily="49" charset="0"/>
                <a:cs typeface="Courier New" pitchFamily="49" charset="0"/>
              </a:rPr>
              <a:t>		,</a:t>
            </a:r>
            <a:r>
              <a:rPr lang="en-US" sz="1600" b="1" dirty="0" err="1">
                <a:latin typeface="Courier New" pitchFamily="49" charset="0"/>
                <a:cs typeface="Courier New" pitchFamily="49" charset="0"/>
              </a:rPr>
              <a:t>m_fifthWheel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("Fifth wheel")</a:t>
            </a:r>
          </a:p>
          <a:p>
            <a:pPr defTabSz="266700"/>
            <a:r>
              <a:rPr lang="ru-RU" sz="1600" b="1" dirty="0">
                <a:latin typeface="Courier New" pitchFamily="49" charset="0"/>
                <a:cs typeface="Courier New" pitchFamily="49" charset="0"/>
              </a:rPr>
              <a:t>	{</a:t>
            </a:r>
          </a:p>
          <a:p>
            <a:pPr defTabSz="266700"/>
            <a:r>
              <a:rPr lang="en-US" sz="1600" b="1" dirty="0">
                <a:latin typeface="Courier New" pitchFamily="49" charset="0"/>
                <a:cs typeface="Courier New" pitchFamily="49" charset="0"/>
              </a:rPr>
              <a:t>		</a:t>
            </a:r>
            <a:r>
              <a:rPr lang="en-US" sz="1600" b="1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 &lt;&lt; "Constructing super car " &lt;&lt; name &lt;&lt; "\n";</a:t>
            </a:r>
          </a:p>
          <a:p>
            <a:pPr defTabSz="266700"/>
            <a:r>
              <a:rPr lang="ru-RU" sz="1600" b="1" dirty="0">
                <a:latin typeface="Courier New" pitchFamily="49" charset="0"/>
                <a:cs typeface="Courier New" pitchFamily="49" charset="0"/>
              </a:rPr>
              <a:t>	}</a:t>
            </a:r>
            <a:endParaRPr lang="en-US" sz="1600" b="1" dirty="0">
              <a:latin typeface="Courier New" pitchFamily="49" charset="0"/>
              <a:cs typeface="Courier New" pitchFamily="49" charset="0"/>
            </a:endParaRPr>
          </a:p>
          <a:p>
            <a:pPr defTabSz="266700"/>
            <a:endParaRPr lang="ru-RU" sz="1600" b="1" dirty="0">
              <a:latin typeface="Courier New" pitchFamily="49" charset="0"/>
              <a:cs typeface="Courier New" pitchFamily="49" charset="0"/>
            </a:endParaRPr>
          </a:p>
          <a:p>
            <a:pPr defTabSz="266700"/>
            <a:r>
              <a:rPr lang="en-US" sz="1600" b="1" dirty="0">
                <a:latin typeface="Courier New" pitchFamily="49" charset="0"/>
                <a:cs typeface="Courier New" pitchFamily="49" charset="0"/>
              </a:rPr>
              <a:t>	~</a:t>
            </a:r>
            <a:r>
              <a:rPr lang="en-US" sz="1600" b="1" dirty="0" err="1">
                <a:latin typeface="Courier New" pitchFamily="49" charset="0"/>
                <a:cs typeface="Courier New" pitchFamily="49" charset="0"/>
              </a:rPr>
              <a:t>SuperCar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()</a:t>
            </a:r>
          </a:p>
          <a:p>
            <a:pPr defTabSz="266700"/>
            <a:r>
              <a:rPr lang="ru-RU" sz="1600" b="1" dirty="0">
                <a:latin typeface="Courier New" pitchFamily="49" charset="0"/>
                <a:cs typeface="Courier New" pitchFamily="49" charset="0"/>
              </a:rPr>
              <a:t>	{</a:t>
            </a:r>
          </a:p>
          <a:p>
            <a:pPr defTabSz="266700"/>
            <a:r>
              <a:rPr lang="en-US" sz="1600" b="1" dirty="0">
                <a:latin typeface="Courier New" pitchFamily="49" charset="0"/>
                <a:cs typeface="Courier New" pitchFamily="49" charset="0"/>
              </a:rPr>
              <a:t>		</a:t>
            </a:r>
            <a:r>
              <a:rPr lang="en-US" sz="1600" b="1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 &lt;&lt; "Destroying super car " &lt;&lt; </a:t>
            </a:r>
            <a:r>
              <a:rPr lang="en-US" sz="1600" b="1" dirty="0" err="1">
                <a:latin typeface="Courier New" pitchFamily="49" charset="0"/>
                <a:cs typeface="Courier New" pitchFamily="49" charset="0"/>
              </a:rPr>
              <a:t>GetName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() &lt;&lt; "\n";</a:t>
            </a:r>
          </a:p>
          <a:p>
            <a:pPr defTabSz="266700"/>
            <a:r>
              <a:rPr lang="ru-RU" sz="1600" b="1" dirty="0">
                <a:latin typeface="Courier New" pitchFamily="49" charset="0"/>
                <a:cs typeface="Courier New" pitchFamily="49" charset="0"/>
              </a:rPr>
              <a:t>	}</a:t>
            </a:r>
          </a:p>
          <a:p>
            <a:pPr defTabSz="266700"/>
            <a:r>
              <a:rPr lang="en-US" sz="1600" b="1" dirty="0">
                <a:latin typeface="Courier New" pitchFamily="49" charset="0"/>
                <a:cs typeface="Courier New" pitchFamily="49" charset="0"/>
              </a:rPr>
              <a:t>private:</a:t>
            </a:r>
          </a:p>
          <a:p>
            <a:pPr defTabSz="266700"/>
            <a:r>
              <a:rPr lang="en-US" sz="1600" b="1" dirty="0">
                <a:latin typeface="Courier New" pitchFamily="49" charset="0"/>
                <a:cs typeface="Courier New" pitchFamily="49" charset="0"/>
              </a:rPr>
              <a:t>	Wheel </a:t>
            </a:r>
            <a:r>
              <a:rPr lang="en-US" sz="1600" b="1" dirty="0" err="1">
                <a:latin typeface="Courier New" pitchFamily="49" charset="0"/>
                <a:cs typeface="Courier New" pitchFamily="49" charset="0"/>
              </a:rPr>
              <a:t>m_fifthWheel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pPr defTabSz="266700"/>
            <a:r>
              <a:rPr lang="ru-RU" sz="1600" b="1" dirty="0">
                <a:latin typeface="Courier New" pitchFamily="49" charset="0"/>
                <a:cs typeface="Courier New" pitchFamily="49" charset="0"/>
              </a:rPr>
              <a:t>};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Порядок вызова конструкторов и деструкторов</a:t>
            </a:r>
          </a:p>
        </p:txBody>
      </p:sp>
      <p:sp>
        <p:nvSpPr>
          <p:cNvPr id="3" name="Прямоугольник 2"/>
          <p:cNvSpPr/>
          <p:nvPr/>
        </p:nvSpPr>
        <p:spPr>
          <a:xfrm>
            <a:off x="1847528" y="1916832"/>
            <a:ext cx="6102424" cy="17543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defTabSz="266700"/>
            <a:r>
              <a:rPr lang="en-US" b="1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 main(</a:t>
            </a:r>
            <a:r>
              <a:rPr lang="en-US" b="1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b="1" dirty="0" err="1">
                <a:latin typeface="Courier New" pitchFamily="49" charset="0"/>
                <a:cs typeface="Courier New" pitchFamily="49" charset="0"/>
              </a:rPr>
              <a:t>argc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, char* </a:t>
            </a:r>
            <a:r>
              <a:rPr lang="en-US" b="1" dirty="0" err="1">
                <a:latin typeface="Courier New" pitchFamily="49" charset="0"/>
                <a:cs typeface="Courier New" pitchFamily="49" charset="0"/>
              </a:rPr>
              <a:t>argv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[])</a:t>
            </a:r>
          </a:p>
          <a:p>
            <a:pPr defTabSz="266700"/>
            <a:r>
              <a:rPr lang="ru-RU" b="1" dirty="0">
                <a:latin typeface="Courier New" pitchFamily="49" charset="0"/>
                <a:cs typeface="Courier New" pitchFamily="49" charset="0"/>
              </a:rPr>
              <a:t>{</a:t>
            </a:r>
          </a:p>
          <a:p>
            <a:pPr defTabSz="266700"/>
            <a:r>
              <a:rPr lang="en-US" b="1" dirty="0">
                <a:latin typeface="Courier New" pitchFamily="49" charset="0"/>
                <a:cs typeface="Courier New" pitchFamily="49" charset="0"/>
              </a:rPr>
              <a:t>	</a:t>
            </a:r>
            <a:r>
              <a:rPr lang="en-US" b="1" dirty="0" err="1">
                <a:latin typeface="Courier New" pitchFamily="49" charset="0"/>
                <a:cs typeface="Courier New" pitchFamily="49" charset="0"/>
              </a:rPr>
              <a:t>SuperCar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b="1" dirty="0" err="1">
                <a:latin typeface="Courier New" pitchFamily="49" charset="0"/>
                <a:cs typeface="Courier New" pitchFamily="49" charset="0"/>
              </a:rPr>
              <a:t>ladaKalina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("</a:t>
            </a:r>
            <a:r>
              <a:rPr lang="en-US" b="1" dirty="0" err="1">
                <a:latin typeface="Courier New" pitchFamily="49" charset="0"/>
                <a:cs typeface="Courier New" pitchFamily="49" charset="0"/>
              </a:rPr>
              <a:t>Lada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b="1" dirty="0" err="1">
                <a:latin typeface="Courier New" pitchFamily="49" charset="0"/>
                <a:cs typeface="Courier New" pitchFamily="49" charset="0"/>
              </a:rPr>
              <a:t>Kalina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");</a:t>
            </a:r>
          </a:p>
          <a:p>
            <a:pPr defTabSz="266700"/>
            <a:endParaRPr lang="ru-RU" b="1" dirty="0">
              <a:latin typeface="Courier New" pitchFamily="49" charset="0"/>
              <a:cs typeface="Courier New" pitchFamily="49" charset="0"/>
            </a:endParaRPr>
          </a:p>
          <a:p>
            <a:pPr defTabSz="266700"/>
            <a:r>
              <a:rPr lang="en-US" b="1" dirty="0">
                <a:latin typeface="Courier New" pitchFamily="49" charset="0"/>
                <a:cs typeface="Courier New" pitchFamily="49" charset="0"/>
              </a:rPr>
              <a:t>	return 0;</a:t>
            </a:r>
          </a:p>
          <a:p>
            <a:pPr defTabSz="266700"/>
            <a:r>
              <a:rPr lang="ru-RU" b="1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4" name="Прямоугольник 3"/>
          <p:cNvSpPr/>
          <p:nvPr/>
        </p:nvSpPr>
        <p:spPr>
          <a:xfrm>
            <a:off x="5735960" y="3534014"/>
            <a:ext cx="4932040" cy="33239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5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Constructing wheel Front left</a:t>
            </a:r>
          </a:p>
          <a:p>
            <a:r>
              <a:rPr lang="en-US" sz="15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Constructing wheel Front right</a:t>
            </a:r>
          </a:p>
          <a:p>
            <a:r>
              <a:rPr lang="en-US" sz="15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Constructing wheel Rear left</a:t>
            </a:r>
          </a:p>
          <a:p>
            <a:r>
              <a:rPr lang="en-US" sz="15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Constructing wheel Rear right</a:t>
            </a:r>
          </a:p>
          <a:p>
            <a:r>
              <a:rPr lang="en-US" sz="1500" b="1" dirty="0">
                <a:solidFill>
                  <a:srgbClr val="7030A0"/>
                </a:solidFill>
                <a:latin typeface="Courier New" pitchFamily="49" charset="0"/>
                <a:cs typeface="Courier New" pitchFamily="49" charset="0"/>
              </a:rPr>
              <a:t>Constructing car </a:t>
            </a:r>
            <a:r>
              <a:rPr lang="en-US" sz="1500" b="1" dirty="0" err="1">
                <a:solidFill>
                  <a:srgbClr val="7030A0"/>
                </a:solidFill>
                <a:latin typeface="Courier New" pitchFamily="49" charset="0"/>
                <a:cs typeface="Courier New" pitchFamily="49" charset="0"/>
              </a:rPr>
              <a:t>Lada</a:t>
            </a:r>
            <a:r>
              <a:rPr lang="en-US" sz="1500" b="1" dirty="0">
                <a:solidFill>
                  <a:srgbClr val="7030A0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500" b="1" dirty="0" err="1">
                <a:solidFill>
                  <a:srgbClr val="7030A0"/>
                </a:solidFill>
                <a:latin typeface="Courier New" pitchFamily="49" charset="0"/>
                <a:cs typeface="Courier New" pitchFamily="49" charset="0"/>
              </a:rPr>
              <a:t>Kalina</a:t>
            </a:r>
            <a:endParaRPr lang="en-US" sz="1500" b="1" dirty="0">
              <a:solidFill>
                <a:srgbClr val="7030A0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sz="1500" b="1" dirty="0">
                <a:solidFill>
                  <a:schemeClr val="accent5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Constructing wheel Fifth wheel</a:t>
            </a:r>
          </a:p>
          <a:p>
            <a:r>
              <a:rPr lang="en-US" sz="15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Constructing super car </a:t>
            </a:r>
            <a:r>
              <a:rPr lang="en-US" sz="1500" b="1" dirty="0" err="1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Lada</a:t>
            </a:r>
            <a:r>
              <a:rPr lang="en-US" sz="15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500" b="1" dirty="0" err="1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Kalina</a:t>
            </a:r>
            <a:endParaRPr lang="en-US" sz="1500" b="1" dirty="0">
              <a:solidFill>
                <a:srgbClr val="FF0000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sz="15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Destroying super car </a:t>
            </a:r>
            <a:r>
              <a:rPr lang="en-US" sz="1500" b="1" dirty="0" err="1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Lada</a:t>
            </a:r>
            <a:r>
              <a:rPr lang="en-US" sz="15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500" b="1" dirty="0" err="1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Kalina</a:t>
            </a:r>
            <a:endParaRPr lang="en-US" sz="1500" b="1" dirty="0">
              <a:solidFill>
                <a:srgbClr val="FF0000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sz="1500" b="1" dirty="0">
                <a:solidFill>
                  <a:schemeClr val="accent5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Destroying wheel Fifth wheel</a:t>
            </a:r>
          </a:p>
          <a:p>
            <a:r>
              <a:rPr lang="en-US" sz="1500" b="1" dirty="0">
                <a:solidFill>
                  <a:srgbClr val="7030A0"/>
                </a:solidFill>
                <a:latin typeface="Courier New" pitchFamily="49" charset="0"/>
                <a:cs typeface="Courier New" pitchFamily="49" charset="0"/>
              </a:rPr>
              <a:t>Destroying car </a:t>
            </a:r>
            <a:r>
              <a:rPr lang="en-US" sz="1500" b="1" dirty="0" err="1">
                <a:solidFill>
                  <a:srgbClr val="7030A0"/>
                </a:solidFill>
                <a:latin typeface="Courier New" pitchFamily="49" charset="0"/>
                <a:cs typeface="Courier New" pitchFamily="49" charset="0"/>
              </a:rPr>
              <a:t>Lada</a:t>
            </a:r>
            <a:r>
              <a:rPr lang="en-US" sz="1500" b="1" dirty="0">
                <a:solidFill>
                  <a:srgbClr val="7030A0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500" b="1" dirty="0" err="1">
                <a:solidFill>
                  <a:srgbClr val="7030A0"/>
                </a:solidFill>
                <a:latin typeface="Courier New" pitchFamily="49" charset="0"/>
                <a:cs typeface="Courier New" pitchFamily="49" charset="0"/>
              </a:rPr>
              <a:t>Kalina</a:t>
            </a:r>
            <a:endParaRPr lang="en-US" sz="1500" b="1" dirty="0">
              <a:solidFill>
                <a:srgbClr val="7030A0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sz="15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Destroying wheel Rear right</a:t>
            </a:r>
          </a:p>
          <a:p>
            <a:r>
              <a:rPr lang="en-US" sz="15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Destroying wheel Rear left</a:t>
            </a:r>
          </a:p>
          <a:p>
            <a:r>
              <a:rPr lang="en-US" sz="15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Destroying wheel Front right</a:t>
            </a:r>
          </a:p>
          <a:p>
            <a:r>
              <a:rPr lang="en-US" sz="15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Destroying wheel Front Left</a:t>
            </a:r>
            <a:endParaRPr lang="ru-RU" sz="1500" b="1" dirty="0">
              <a:solidFill>
                <a:srgbClr val="0070C0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5" name="Левая фигурная скобка 4"/>
          <p:cNvSpPr/>
          <p:nvPr/>
        </p:nvSpPr>
        <p:spPr>
          <a:xfrm>
            <a:off x="5447928" y="3623538"/>
            <a:ext cx="288032" cy="864096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6" name="TextBox 5"/>
          <p:cNvSpPr txBox="1"/>
          <p:nvPr/>
        </p:nvSpPr>
        <p:spPr>
          <a:xfrm>
            <a:off x="1524000" y="3861049"/>
            <a:ext cx="392392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ru-RU" sz="1400" dirty="0"/>
              <a:t>Конструирование полей базового класса </a:t>
            </a:r>
            <a:r>
              <a:rPr lang="en-US" sz="1400" dirty="0"/>
              <a:t>Car</a:t>
            </a:r>
            <a:endParaRPr lang="ru-RU" sz="1400" dirty="0"/>
          </a:p>
        </p:txBody>
      </p:sp>
      <p:sp>
        <p:nvSpPr>
          <p:cNvPr id="7" name="Левая фигурная скобка 6"/>
          <p:cNvSpPr/>
          <p:nvPr/>
        </p:nvSpPr>
        <p:spPr>
          <a:xfrm>
            <a:off x="5519936" y="4509120"/>
            <a:ext cx="216024" cy="216024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8" name="TextBox 7"/>
          <p:cNvSpPr txBox="1"/>
          <p:nvPr/>
        </p:nvSpPr>
        <p:spPr>
          <a:xfrm>
            <a:off x="1524000" y="4437113"/>
            <a:ext cx="392392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ru-RU" sz="1400" dirty="0"/>
              <a:t>Выполнение тела конструктора класса </a:t>
            </a:r>
            <a:r>
              <a:rPr lang="en-US" sz="1400" dirty="0"/>
              <a:t>Car</a:t>
            </a:r>
            <a:endParaRPr lang="ru-RU" sz="1400" dirty="0"/>
          </a:p>
        </p:txBody>
      </p:sp>
      <p:sp>
        <p:nvSpPr>
          <p:cNvPr id="9" name="Левая фигурная скобка 8"/>
          <p:cNvSpPr/>
          <p:nvPr/>
        </p:nvSpPr>
        <p:spPr>
          <a:xfrm>
            <a:off x="5519936" y="4725144"/>
            <a:ext cx="216024" cy="216024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0" name="TextBox 9"/>
          <p:cNvSpPr txBox="1"/>
          <p:nvPr/>
        </p:nvSpPr>
        <p:spPr>
          <a:xfrm>
            <a:off x="1524000" y="4705400"/>
            <a:ext cx="392392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ru-RU" sz="1400" dirty="0"/>
              <a:t>Конструирование полей класса</a:t>
            </a:r>
            <a:r>
              <a:rPr lang="en-US" sz="1400" dirty="0"/>
              <a:t> </a:t>
            </a:r>
            <a:r>
              <a:rPr lang="en-US" sz="1400" dirty="0" err="1"/>
              <a:t>SuperCar</a:t>
            </a:r>
            <a:endParaRPr lang="ru-RU" sz="1400" dirty="0"/>
          </a:p>
        </p:txBody>
      </p:sp>
      <p:sp>
        <p:nvSpPr>
          <p:cNvPr id="11" name="Левая фигурная скобка 10"/>
          <p:cNvSpPr/>
          <p:nvPr/>
        </p:nvSpPr>
        <p:spPr>
          <a:xfrm>
            <a:off x="5519936" y="4941168"/>
            <a:ext cx="216024" cy="216024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2" name="TextBox 11"/>
          <p:cNvSpPr txBox="1"/>
          <p:nvPr/>
        </p:nvSpPr>
        <p:spPr>
          <a:xfrm>
            <a:off x="1524000" y="4941169"/>
            <a:ext cx="392392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ru-RU" sz="1400" dirty="0"/>
              <a:t>Тело конструктора класса </a:t>
            </a:r>
            <a:r>
              <a:rPr lang="en-US" sz="1400" dirty="0" err="1"/>
              <a:t>SuperCar</a:t>
            </a:r>
            <a:endParaRPr lang="ru-RU" sz="1400" dirty="0"/>
          </a:p>
        </p:txBody>
      </p:sp>
      <p:sp>
        <p:nvSpPr>
          <p:cNvPr id="13" name="Левая фигурная скобка 12"/>
          <p:cNvSpPr/>
          <p:nvPr/>
        </p:nvSpPr>
        <p:spPr>
          <a:xfrm>
            <a:off x="5519936" y="5157192"/>
            <a:ext cx="216024" cy="216024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TextBox 13"/>
          <p:cNvSpPr txBox="1"/>
          <p:nvPr/>
        </p:nvSpPr>
        <p:spPr>
          <a:xfrm>
            <a:off x="1524000" y="5157193"/>
            <a:ext cx="392392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ru-RU" sz="1400" dirty="0"/>
              <a:t>Тело деструктора класса </a:t>
            </a:r>
            <a:r>
              <a:rPr lang="en-US" sz="1400" dirty="0" err="1"/>
              <a:t>SuperCar</a:t>
            </a:r>
            <a:endParaRPr lang="ru-RU" sz="1400" dirty="0"/>
          </a:p>
        </p:txBody>
      </p:sp>
      <p:sp>
        <p:nvSpPr>
          <p:cNvPr id="15" name="Левая фигурная скобка 14"/>
          <p:cNvSpPr/>
          <p:nvPr/>
        </p:nvSpPr>
        <p:spPr>
          <a:xfrm>
            <a:off x="5519936" y="5373216"/>
            <a:ext cx="216024" cy="216024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6" name="TextBox 15"/>
          <p:cNvSpPr txBox="1"/>
          <p:nvPr/>
        </p:nvSpPr>
        <p:spPr>
          <a:xfrm>
            <a:off x="1524000" y="5353472"/>
            <a:ext cx="392392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ru-RU" sz="1400" dirty="0"/>
              <a:t>Деструкторы полей класса </a:t>
            </a:r>
            <a:r>
              <a:rPr lang="en-US" sz="1400" dirty="0" err="1"/>
              <a:t>SuperCar</a:t>
            </a:r>
            <a:endParaRPr lang="ru-RU" sz="1400" dirty="0"/>
          </a:p>
        </p:txBody>
      </p:sp>
      <p:sp>
        <p:nvSpPr>
          <p:cNvPr id="17" name="Левая фигурная скобка 16"/>
          <p:cNvSpPr/>
          <p:nvPr/>
        </p:nvSpPr>
        <p:spPr>
          <a:xfrm>
            <a:off x="5519936" y="5589240"/>
            <a:ext cx="216024" cy="216024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8" name="TextBox 17"/>
          <p:cNvSpPr txBox="1"/>
          <p:nvPr/>
        </p:nvSpPr>
        <p:spPr>
          <a:xfrm>
            <a:off x="1524000" y="5589241"/>
            <a:ext cx="392392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ru-RU" sz="1400" dirty="0"/>
              <a:t>Тело деструктора класса </a:t>
            </a:r>
            <a:r>
              <a:rPr lang="en-US" sz="1400" dirty="0"/>
              <a:t>Car</a:t>
            </a:r>
            <a:endParaRPr lang="ru-RU" sz="1400" dirty="0"/>
          </a:p>
        </p:txBody>
      </p:sp>
      <p:sp>
        <p:nvSpPr>
          <p:cNvPr id="19" name="TextBox 18"/>
          <p:cNvSpPr txBox="1"/>
          <p:nvPr/>
        </p:nvSpPr>
        <p:spPr>
          <a:xfrm>
            <a:off x="1524000" y="6093297"/>
            <a:ext cx="392392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ru-RU" sz="1400" dirty="0"/>
              <a:t>Деструкторы полей класса</a:t>
            </a:r>
            <a:r>
              <a:rPr lang="en-US" sz="1400" dirty="0"/>
              <a:t> Car</a:t>
            </a:r>
            <a:endParaRPr lang="ru-RU" sz="1400" dirty="0"/>
          </a:p>
        </p:txBody>
      </p:sp>
      <p:sp>
        <p:nvSpPr>
          <p:cNvPr id="20" name="Левая фигурная скобка 19"/>
          <p:cNvSpPr/>
          <p:nvPr/>
        </p:nvSpPr>
        <p:spPr>
          <a:xfrm>
            <a:off x="5519936" y="5805264"/>
            <a:ext cx="216024" cy="936104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1" name="TextBox 20"/>
          <p:cNvSpPr txBox="1"/>
          <p:nvPr/>
        </p:nvSpPr>
        <p:spPr>
          <a:xfrm>
            <a:off x="5879977" y="3212976"/>
            <a:ext cx="9188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Output:</a:t>
            </a:r>
            <a:endParaRPr lang="ru-RU" dirty="0"/>
          </a:p>
        </p:txBody>
      </p:sp>
      <p:sp>
        <p:nvSpPr>
          <p:cNvPr id="22" name="Прямоугольник 21"/>
          <p:cNvSpPr/>
          <p:nvPr/>
        </p:nvSpPr>
        <p:spPr>
          <a:xfrm>
            <a:off x="2135560" y="2492896"/>
            <a:ext cx="4896544" cy="2880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Прямоугольник 22"/>
          <p:cNvSpPr/>
          <p:nvPr/>
        </p:nvSpPr>
        <p:spPr>
          <a:xfrm>
            <a:off x="2135560" y="3068960"/>
            <a:ext cx="1440160" cy="2880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500"/>
                            </p:stCondLst>
                            <p:childTnLst>
                              <p:par>
                                <p:cTn id="2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500"/>
                            </p:stCondLst>
                            <p:childTnLst>
                              <p:par>
                                <p:cTn id="7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4" fill="hold">
                      <p:stCondLst>
                        <p:cond delay="indefinite"/>
                      </p:stCondLst>
                      <p:childTnLst>
                        <p:par>
                          <p:cTn id="85" fill="hold">
                            <p:stCondLst>
                              <p:cond delay="0"/>
                            </p:stCondLst>
                            <p:childTnLst>
                              <p:par>
                                <p:cTn id="8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6" fill="hold">
                      <p:stCondLst>
                        <p:cond delay="indefinite"/>
                      </p:stCondLst>
                      <p:childTnLst>
                        <p:par>
                          <p:cTn id="107" fill="hold">
                            <p:stCondLst>
                              <p:cond delay="0"/>
                            </p:stCondLst>
                            <p:childTnLst>
                              <p:par>
                                <p:cTn id="10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500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500"/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6" fill="hold">
                      <p:stCondLst>
                        <p:cond delay="indefinite"/>
                      </p:stCondLst>
                      <p:childTnLst>
                        <p:par>
                          <p:cTn id="127" fill="hold">
                            <p:stCondLst>
                              <p:cond delay="0"/>
                            </p:stCondLst>
                            <p:childTnLst>
                              <p:par>
                                <p:cTn id="128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/>
      <p:bldP spid="7" grpId="0" animBg="1"/>
      <p:bldP spid="8" grpId="0"/>
      <p:bldP spid="9" grpId="0" animBg="1"/>
      <p:bldP spid="10" grpId="0"/>
      <p:bldP spid="11" grpId="0" animBg="1"/>
      <p:bldP spid="12" grpId="0"/>
      <p:bldP spid="13" grpId="0" animBg="1"/>
      <p:bldP spid="14" grpId="0"/>
      <p:bldP spid="15" grpId="0" animBg="1"/>
      <p:bldP spid="16" grpId="0"/>
      <p:bldP spid="17" grpId="0" animBg="1"/>
      <p:bldP spid="18" grpId="0"/>
      <p:bldP spid="19" grpId="0"/>
      <p:bldP spid="20" grpId="0" animBg="1"/>
      <p:bldP spid="22" grpId="0" animBg="1"/>
      <p:bldP spid="22" grpId="1" animBg="1"/>
      <p:bldP spid="23" grpId="0" animBg="1"/>
      <p:bldP spid="23" grpId="1" animBg="1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Автоматически сгенерированный деструктор</a:t>
            </a:r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Создается компилятором, если в классе не был явно объявлен деструктор</a:t>
            </a:r>
          </a:p>
          <a:p>
            <a:r>
              <a:rPr lang="ru-RU" dirty="0"/>
              <a:t>Автоматически сгенерированный  деструктор  имеет пустое тело</a:t>
            </a:r>
          </a:p>
          <a:p>
            <a:pPr lvl="1"/>
            <a:r>
              <a:rPr lang="ru-RU" dirty="0"/>
              <a:t>Остальные механизмы разрушения объекта работают обычным образом</a:t>
            </a:r>
          </a:p>
          <a:p>
            <a:r>
              <a:rPr lang="ru-RU" dirty="0"/>
              <a:t>Деструктор </a:t>
            </a:r>
            <a:r>
              <a:rPr lang="en-US" dirty="0"/>
              <a:t> </a:t>
            </a:r>
            <a:r>
              <a:rPr lang="ru-RU" dirty="0"/>
              <a:t>примитивных объектов</a:t>
            </a:r>
          </a:p>
          <a:p>
            <a:pPr lvl="1"/>
            <a:r>
              <a:rPr lang="ru-RU" dirty="0"/>
              <a:t>Разрушение обычного указателя не выполняет удаление объекта (объектов), на который он ссылается</a:t>
            </a:r>
          </a:p>
          <a:p>
            <a:pPr lvl="2"/>
            <a:r>
              <a:rPr lang="ru-RU" dirty="0"/>
              <a:t>Деструкторы «умных» указателей выполняют необходимые операции для удаления объекта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ru-RU" sz="3600" dirty="0"/>
              <a:t>Корректно работающий автоматически сгенерированный деструктор</a:t>
            </a:r>
          </a:p>
        </p:txBody>
      </p:sp>
      <p:sp>
        <p:nvSpPr>
          <p:cNvPr id="9" name="Text Box 4"/>
          <p:cNvSpPr txBox="1">
            <a:spLocks noChangeArrowheads="1"/>
          </p:cNvSpPr>
          <p:nvPr/>
        </p:nvSpPr>
        <p:spPr bwMode="auto">
          <a:xfrm>
            <a:off x="1847528" y="2204865"/>
            <a:ext cx="4427984" cy="20313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defTabSz="363538"/>
            <a:r>
              <a:rPr lang="en-US" b="1" dirty="0">
                <a:latin typeface="Courier New" pitchFamily="49" charset="0"/>
              </a:rPr>
              <a:t>class </a:t>
            </a:r>
            <a:r>
              <a:rPr lang="en-US" b="1" dirty="0" err="1">
                <a:latin typeface="Courier New" pitchFamily="49" charset="0"/>
              </a:rPr>
              <a:t>CDataBase</a:t>
            </a:r>
            <a:endParaRPr lang="en-US" b="1" dirty="0">
              <a:latin typeface="Courier New" pitchFamily="49" charset="0"/>
            </a:endParaRPr>
          </a:p>
          <a:p>
            <a:pPr defTabSz="363538"/>
            <a:r>
              <a:rPr lang="en-US" b="1" dirty="0">
                <a:latin typeface="Courier New" pitchFamily="49" charset="0"/>
              </a:rPr>
              <a:t>{</a:t>
            </a:r>
          </a:p>
          <a:p>
            <a:pPr defTabSz="363538"/>
            <a:r>
              <a:rPr lang="en-US" b="1" dirty="0">
                <a:latin typeface="Courier New" pitchFamily="49" charset="0"/>
              </a:rPr>
              <a:t>public:</a:t>
            </a:r>
          </a:p>
          <a:p>
            <a:pPr defTabSz="363538"/>
            <a:r>
              <a:rPr lang="en-US" b="1" dirty="0">
                <a:latin typeface="Courier New" pitchFamily="49" charset="0"/>
              </a:rPr>
              <a:t>private:</a:t>
            </a:r>
          </a:p>
          <a:p>
            <a:pPr defTabSz="363538"/>
            <a:r>
              <a:rPr lang="en-US" b="1" dirty="0">
                <a:latin typeface="Courier New" pitchFamily="49" charset="0"/>
              </a:rPr>
              <a:t>	std::string </a:t>
            </a:r>
            <a:r>
              <a:rPr lang="en-US" b="1" dirty="0" err="1">
                <a:latin typeface="Courier New" pitchFamily="49" charset="0"/>
              </a:rPr>
              <a:t>m_databaseName</a:t>
            </a:r>
            <a:r>
              <a:rPr lang="en-US" b="1" dirty="0">
                <a:latin typeface="Courier New" pitchFamily="49" charset="0"/>
              </a:rPr>
              <a:t>;</a:t>
            </a:r>
          </a:p>
          <a:p>
            <a:pPr defTabSz="363538"/>
            <a:r>
              <a:rPr lang="en-US" b="1" dirty="0">
                <a:latin typeface="Courier New" pitchFamily="49" charset="0"/>
              </a:rPr>
              <a:t>	</a:t>
            </a:r>
            <a:r>
              <a:rPr lang="en-US" b="1" dirty="0" err="1">
                <a:latin typeface="Courier New" pitchFamily="49" charset="0"/>
              </a:rPr>
              <a:t>MyFile</a:t>
            </a:r>
            <a:r>
              <a:rPr lang="en-US" b="1" dirty="0">
                <a:latin typeface="Courier New" pitchFamily="49" charset="0"/>
              </a:rPr>
              <a:t> </a:t>
            </a:r>
            <a:r>
              <a:rPr lang="en-US" b="1" dirty="0" err="1">
                <a:latin typeface="Courier New" pitchFamily="49" charset="0"/>
              </a:rPr>
              <a:t>m_databaseFile</a:t>
            </a:r>
            <a:r>
              <a:rPr lang="en-US" b="1" dirty="0">
                <a:latin typeface="Courier New" pitchFamily="49" charset="0"/>
              </a:rPr>
              <a:t>;</a:t>
            </a:r>
          </a:p>
          <a:p>
            <a:pPr defTabSz="363538"/>
            <a:r>
              <a:rPr lang="en-US" b="1" dirty="0">
                <a:latin typeface="Courier New" pitchFamily="49" charset="0"/>
              </a:rPr>
              <a:t>};</a:t>
            </a:r>
          </a:p>
        </p:txBody>
      </p:sp>
      <p:sp>
        <p:nvSpPr>
          <p:cNvPr id="10" name="Прямоугольная выноска 9"/>
          <p:cNvSpPr/>
          <p:nvPr/>
        </p:nvSpPr>
        <p:spPr>
          <a:xfrm>
            <a:off x="5375920" y="4797152"/>
            <a:ext cx="4896544" cy="1440160"/>
          </a:xfrm>
          <a:prstGeom prst="wedgeRectCallout">
            <a:avLst>
              <a:gd name="adj1" fmla="val -62721"/>
              <a:gd name="adj2" fmla="val -101523"/>
            </a:avLst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/>
              <a:t>При разрушении экземпляра класса </a:t>
            </a:r>
            <a:r>
              <a:rPr lang="en-US" dirty="0" err="1"/>
              <a:t>CDataBase</a:t>
            </a:r>
            <a:r>
              <a:rPr lang="en-US" dirty="0"/>
              <a:t> </a:t>
            </a:r>
            <a:r>
              <a:rPr lang="ru-RU" dirty="0"/>
              <a:t> деструкторы содержащихся в нем объектов освободят занимаемую память и закроют файл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ru-RU" sz="3600" dirty="0"/>
              <a:t>Некорректно работающий автоматически сгенерированный деструктор</a:t>
            </a:r>
          </a:p>
        </p:txBody>
      </p:sp>
      <p:sp>
        <p:nvSpPr>
          <p:cNvPr id="9" name="Text Box 4"/>
          <p:cNvSpPr txBox="1">
            <a:spLocks noChangeArrowheads="1"/>
          </p:cNvSpPr>
          <p:nvPr/>
        </p:nvSpPr>
        <p:spPr bwMode="auto">
          <a:xfrm>
            <a:off x="1847528" y="2204864"/>
            <a:ext cx="6624736" cy="34163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defTabSz="363538"/>
            <a:r>
              <a:rPr lang="en-US" b="1" dirty="0">
                <a:latin typeface="Courier New" pitchFamily="49" charset="0"/>
              </a:rPr>
              <a:t>class </a:t>
            </a:r>
            <a:r>
              <a:rPr lang="en-US" b="1" dirty="0" err="1">
                <a:latin typeface="Courier New" pitchFamily="49" charset="0"/>
              </a:rPr>
              <a:t>CDataBase</a:t>
            </a:r>
            <a:endParaRPr lang="en-US" b="1" dirty="0">
              <a:latin typeface="Courier New" pitchFamily="49" charset="0"/>
            </a:endParaRPr>
          </a:p>
          <a:p>
            <a:pPr defTabSz="363538"/>
            <a:r>
              <a:rPr lang="en-US" b="1" dirty="0">
                <a:latin typeface="Courier New" pitchFamily="49" charset="0"/>
              </a:rPr>
              <a:t>{</a:t>
            </a:r>
          </a:p>
          <a:p>
            <a:pPr defTabSz="363538"/>
            <a:r>
              <a:rPr lang="en-US" b="1" dirty="0">
                <a:latin typeface="Courier New" pitchFamily="49" charset="0"/>
              </a:rPr>
              <a:t>public:</a:t>
            </a:r>
          </a:p>
          <a:p>
            <a:pPr defTabSz="363538"/>
            <a:r>
              <a:rPr lang="en-US" b="1" dirty="0">
                <a:latin typeface="Courier New" pitchFamily="49" charset="0"/>
              </a:rPr>
              <a:t>	void </a:t>
            </a:r>
            <a:r>
              <a:rPr lang="en-US" b="1" dirty="0" err="1">
                <a:latin typeface="Courier New" pitchFamily="49" charset="0"/>
              </a:rPr>
              <a:t>DoSomething</a:t>
            </a:r>
            <a:r>
              <a:rPr lang="en-US" b="1" dirty="0">
                <a:latin typeface="Courier New" pitchFamily="49" charset="0"/>
              </a:rPr>
              <a:t>()</a:t>
            </a:r>
          </a:p>
          <a:p>
            <a:pPr defTabSz="363538"/>
            <a:r>
              <a:rPr lang="en-US" b="1" dirty="0">
                <a:latin typeface="Courier New" pitchFamily="49" charset="0"/>
              </a:rPr>
              <a:t>	{</a:t>
            </a:r>
          </a:p>
          <a:p>
            <a:pPr defTabSz="363538"/>
            <a:r>
              <a:rPr lang="en-US" b="1" dirty="0">
                <a:latin typeface="Courier New" pitchFamily="49" charset="0"/>
              </a:rPr>
              <a:t>		</a:t>
            </a:r>
            <a:r>
              <a:rPr lang="en-US" b="1" dirty="0" err="1">
                <a:latin typeface="Courier New" pitchFamily="49" charset="0"/>
              </a:rPr>
              <a:t>m_bufferArray</a:t>
            </a:r>
            <a:r>
              <a:rPr lang="en-US" b="1" dirty="0">
                <a:latin typeface="Courier New" pitchFamily="49" charset="0"/>
              </a:rPr>
              <a:t> = new </a:t>
            </a:r>
            <a:r>
              <a:rPr lang="en-US" b="1" dirty="0" err="1">
                <a:latin typeface="Courier New" pitchFamily="49" charset="0"/>
              </a:rPr>
              <a:t>int</a:t>
            </a:r>
            <a:r>
              <a:rPr lang="en-US" b="1" dirty="0">
                <a:latin typeface="Courier New" pitchFamily="49" charset="0"/>
              </a:rPr>
              <a:t>[100];</a:t>
            </a:r>
          </a:p>
          <a:p>
            <a:pPr defTabSz="363538"/>
            <a:r>
              <a:rPr lang="en-US" b="1" dirty="0">
                <a:latin typeface="Courier New" pitchFamily="49" charset="0"/>
              </a:rPr>
              <a:t>	}</a:t>
            </a:r>
          </a:p>
          <a:p>
            <a:pPr defTabSz="363538"/>
            <a:r>
              <a:rPr lang="en-US" b="1" dirty="0">
                <a:latin typeface="Courier New" pitchFamily="49" charset="0"/>
              </a:rPr>
              <a:t>private:</a:t>
            </a:r>
            <a:endParaRPr lang="ru-RU" b="1" dirty="0">
              <a:latin typeface="Courier New" pitchFamily="49" charset="0"/>
            </a:endParaRPr>
          </a:p>
          <a:p>
            <a:pPr defTabSz="363538"/>
            <a:r>
              <a:rPr lang="ru-RU" b="1" dirty="0">
                <a:latin typeface="Courier New" pitchFamily="49" charset="0"/>
              </a:rPr>
              <a:t>	</a:t>
            </a:r>
            <a:r>
              <a:rPr lang="en-US" b="1" dirty="0" err="1">
                <a:latin typeface="Courier New" pitchFamily="49" charset="0"/>
              </a:rPr>
              <a:t>int</a:t>
            </a:r>
            <a:r>
              <a:rPr lang="en-US" b="1" dirty="0">
                <a:latin typeface="Courier New" pitchFamily="49" charset="0"/>
              </a:rPr>
              <a:t> * </a:t>
            </a:r>
            <a:r>
              <a:rPr lang="en-US" b="1" dirty="0" err="1">
                <a:latin typeface="Courier New" pitchFamily="49" charset="0"/>
              </a:rPr>
              <a:t>m_bufferArray</a:t>
            </a:r>
            <a:r>
              <a:rPr lang="en-US" b="1" dirty="0">
                <a:latin typeface="Courier New" pitchFamily="49" charset="0"/>
              </a:rPr>
              <a:t>;</a:t>
            </a:r>
          </a:p>
          <a:p>
            <a:pPr defTabSz="363538"/>
            <a:r>
              <a:rPr lang="en-US" b="1" dirty="0">
                <a:latin typeface="Courier New" pitchFamily="49" charset="0"/>
              </a:rPr>
              <a:t>	std::string </a:t>
            </a:r>
            <a:r>
              <a:rPr lang="en-US" b="1" dirty="0" err="1">
                <a:latin typeface="Courier New" pitchFamily="49" charset="0"/>
              </a:rPr>
              <a:t>m_databaseName</a:t>
            </a:r>
            <a:r>
              <a:rPr lang="en-US" b="1" dirty="0">
                <a:latin typeface="Courier New" pitchFamily="49" charset="0"/>
              </a:rPr>
              <a:t>;</a:t>
            </a:r>
          </a:p>
          <a:p>
            <a:pPr defTabSz="363538"/>
            <a:r>
              <a:rPr lang="en-US" b="1" dirty="0">
                <a:latin typeface="Courier New" pitchFamily="49" charset="0"/>
              </a:rPr>
              <a:t>	</a:t>
            </a:r>
            <a:r>
              <a:rPr lang="en-US" b="1" dirty="0" err="1">
                <a:latin typeface="Courier New" pitchFamily="49" charset="0"/>
              </a:rPr>
              <a:t>MyFile</a:t>
            </a:r>
            <a:r>
              <a:rPr lang="en-US" b="1" dirty="0">
                <a:latin typeface="Courier New" pitchFamily="49" charset="0"/>
              </a:rPr>
              <a:t> </a:t>
            </a:r>
            <a:r>
              <a:rPr lang="en-US" b="1" dirty="0" err="1">
                <a:latin typeface="Courier New" pitchFamily="49" charset="0"/>
              </a:rPr>
              <a:t>m_databaseFile</a:t>
            </a:r>
            <a:r>
              <a:rPr lang="en-US" b="1" dirty="0">
                <a:latin typeface="Courier New" pitchFamily="49" charset="0"/>
              </a:rPr>
              <a:t>;</a:t>
            </a:r>
          </a:p>
          <a:p>
            <a:pPr defTabSz="363538"/>
            <a:r>
              <a:rPr lang="en-US" b="1" dirty="0">
                <a:latin typeface="Courier New" pitchFamily="49" charset="0"/>
              </a:rPr>
              <a:t>};</a:t>
            </a:r>
          </a:p>
        </p:txBody>
      </p:sp>
      <p:sp>
        <p:nvSpPr>
          <p:cNvPr id="10" name="Прямоугольная выноска 9"/>
          <p:cNvSpPr/>
          <p:nvPr/>
        </p:nvSpPr>
        <p:spPr>
          <a:xfrm>
            <a:off x="5519936" y="5417840"/>
            <a:ext cx="4896544" cy="1440160"/>
          </a:xfrm>
          <a:prstGeom prst="wedgeRectCallout">
            <a:avLst>
              <a:gd name="adj1" fmla="val -36525"/>
              <a:gd name="adj2" fmla="val -97114"/>
            </a:avLst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/>
              <a:t>Автоматически сгенерированный деструктор не выполнит удаление массива </a:t>
            </a:r>
            <a:r>
              <a:rPr lang="en-US" dirty="0" err="1"/>
              <a:t>m_bufferArray</a:t>
            </a:r>
            <a:endParaRPr lang="ru-RU" dirty="0"/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2"/>
          <p:cNvSpPr>
            <a:spLocks noGrp="1" noChangeArrowheads="1"/>
          </p:cNvSpPr>
          <p:nvPr>
            <p:ph type="ctrTitle"/>
          </p:nvPr>
        </p:nvSpPr>
        <p:spPr/>
        <p:txBody>
          <a:bodyPr/>
          <a:lstStyle/>
          <a:p>
            <a:pPr>
              <a:defRPr/>
            </a:pPr>
            <a:r>
              <a:rPr lang="ru-RU"/>
              <a:t>Копирование объектов</a:t>
            </a:r>
          </a:p>
        </p:txBody>
      </p:sp>
      <p:sp>
        <p:nvSpPr>
          <p:cNvPr id="46083" name="Rectangle 3"/>
          <p:cNvSpPr>
            <a:spLocks noGrp="1" noChangeArrowheads="1"/>
          </p:cNvSpPr>
          <p:nvPr>
            <p:ph type="subTitle" idx="1"/>
          </p:nvPr>
        </p:nvSpPr>
        <p:spPr/>
        <p:txBody>
          <a:bodyPr/>
          <a:lstStyle/>
          <a:p>
            <a:endParaRPr lang="ru-RU"/>
          </a:p>
        </p:txBody>
      </p:sp>
    </p:spTree>
    <p:custDataLst>
      <p:tags r:id="rId1"/>
    </p:custData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ru-RU" dirty="0"/>
              <a:t>Конструктор копирования (копирующий конструктор)</a:t>
            </a:r>
          </a:p>
        </p:txBody>
      </p:sp>
      <p:sp>
        <p:nvSpPr>
          <p:cNvPr id="47107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В языке </a:t>
            </a:r>
            <a:r>
              <a:rPr lang="en-US" dirty="0"/>
              <a:t>C++ </a:t>
            </a:r>
            <a:r>
              <a:rPr lang="ru-RU" dirty="0"/>
              <a:t>существует специальный тип конструкторов, использующийся для создания копии объекта</a:t>
            </a:r>
          </a:p>
          <a:p>
            <a:pPr lvl="1"/>
            <a:r>
              <a:rPr lang="ru-RU" dirty="0"/>
              <a:t>Явное создание копии</a:t>
            </a:r>
            <a:r>
              <a:rPr lang="en-US" dirty="0"/>
              <a:t> </a:t>
            </a:r>
            <a:r>
              <a:rPr lang="ru-RU" dirty="0"/>
              <a:t>объекта</a:t>
            </a:r>
            <a:r>
              <a:rPr lang="en-US" dirty="0"/>
              <a:t> </a:t>
            </a:r>
            <a:r>
              <a:rPr lang="ru-RU" dirty="0"/>
              <a:t>программистом</a:t>
            </a:r>
          </a:p>
          <a:p>
            <a:pPr lvl="1"/>
            <a:r>
              <a:rPr lang="ru-RU" dirty="0"/>
              <a:t>Неявное создание копии объекта</a:t>
            </a:r>
          </a:p>
          <a:p>
            <a:pPr lvl="2"/>
            <a:r>
              <a:rPr lang="ru-RU" dirty="0"/>
              <a:t>Возврат объекта из функции</a:t>
            </a:r>
          </a:p>
          <a:p>
            <a:pPr lvl="2"/>
            <a:r>
              <a:rPr lang="ru-RU" dirty="0"/>
              <a:t>Передача объекта в функцию по значению</a:t>
            </a:r>
          </a:p>
          <a:p>
            <a:pPr lvl="2"/>
            <a:r>
              <a:rPr lang="ru-RU" dirty="0"/>
              <a:t>Во время работы механизма исключений</a:t>
            </a:r>
          </a:p>
          <a:p>
            <a:r>
              <a:rPr lang="ru-RU" dirty="0"/>
              <a:t>Синтаксис</a:t>
            </a:r>
          </a:p>
          <a:p>
            <a:pPr lvl="1"/>
            <a:r>
              <a:rPr lang="en-US" dirty="0"/>
              <a:t>Type(Type const&amp; t);</a:t>
            </a:r>
            <a:endParaRPr lang="ru-RU" dirty="0"/>
          </a:p>
        </p:txBody>
      </p:sp>
    </p:spTree>
    <p:custDataLst>
      <p:tags r:id="rId1"/>
    </p:custData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10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710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10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710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10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710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10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710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10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710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10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710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10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710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10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4710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7107" grpId="0" build="p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FEDD702-3777-4FF0-A8EB-64269B3F21DF}"/>
              </a:ext>
            </a:extLst>
          </p:cNvPr>
          <p:cNvSpPr/>
          <p:nvPr/>
        </p:nvSpPr>
        <p:spPr>
          <a:xfrm>
            <a:off x="191344" y="260648"/>
            <a:ext cx="11593288" cy="646330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class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PostCard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: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PostCard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string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text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: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m_text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{ 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text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}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cout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"Post 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card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 was 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created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: "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m_text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endl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}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    // Копирующий конструктор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PostCard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PostCard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other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: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m_text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{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other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m_text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}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cout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"Post 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card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is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copied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: "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m_text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endl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}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~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PostCard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 {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cout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"Post 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card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 was 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destroyed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: "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m_text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endl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 }</a:t>
            </a: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string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GetText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{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m_text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 }</a:t>
            </a: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SetText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string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text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 { 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m_text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text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 }</a:t>
            </a: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private: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string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m_text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};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211940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15D9A02-9ED1-4E2F-ACF7-C240865DADE0}"/>
              </a:ext>
            </a:extLst>
          </p:cNvPr>
          <p:cNvSpPr/>
          <p:nvPr/>
        </p:nvSpPr>
        <p:spPr>
          <a:xfrm>
            <a:off x="191344" y="332656"/>
            <a:ext cx="9793088" cy="42473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PostCard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MakeModifiedPostCard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PostCard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postCard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 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cout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"Enter 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MakeModifiedPostCard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endl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postCard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SetText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postCard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GetText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+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 - 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modified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cout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"Exit 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MakeModifiedPostCard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endl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postCard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</a:t>
            </a: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main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PostCard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postCard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{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"Hello"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};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auto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modifiedPostCard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MakeModifiedPostCard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postCard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cout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modifiedPostCard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GetText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endl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B39C0B0-806D-44F4-A5F7-D3AE80C95395}"/>
              </a:ext>
            </a:extLst>
          </p:cNvPr>
          <p:cNvSpPr/>
          <p:nvPr/>
        </p:nvSpPr>
        <p:spPr>
          <a:xfrm>
            <a:off x="6310898" y="4365104"/>
            <a:ext cx="5691675" cy="2339102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ru-RU" sz="1600" dirty="0" err="1">
                <a:latin typeface="Consolas" panose="020B0609020204030204" pitchFamily="49" charset="0"/>
              </a:rPr>
              <a:t>Post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card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was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created</a:t>
            </a:r>
            <a:r>
              <a:rPr lang="ru-RU" sz="1600" dirty="0">
                <a:latin typeface="Consolas" panose="020B0609020204030204" pitchFamily="49" charset="0"/>
              </a:rPr>
              <a:t>: </a:t>
            </a:r>
            <a:r>
              <a:rPr lang="ru-RU" sz="1600" dirty="0" err="1">
                <a:latin typeface="Consolas" panose="020B0609020204030204" pitchFamily="49" charset="0"/>
              </a:rPr>
              <a:t>Hello</a:t>
            </a:r>
            <a:endParaRPr lang="ru-RU" sz="1600" dirty="0">
              <a:latin typeface="Consolas" panose="020B0609020204030204" pitchFamily="49" charset="0"/>
            </a:endParaRPr>
          </a:p>
          <a:p>
            <a:r>
              <a:rPr lang="ru-RU" sz="1600" dirty="0" err="1">
                <a:latin typeface="Consolas" panose="020B0609020204030204" pitchFamily="49" charset="0"/>
              </a:rPr>
              <a:t>Post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card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is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copied</a:t>
            </a:r>
            <a:r>
              <a:rPr lang="ru-RU" sz="1600" dirty="0">
                <a:latin typeface="Consolas" panose="020B0609020204030204" pitchFamily="49" charset="0"/>
              </a:rPr>
              <a:t>: </a:t>
            </a:r>
            <a:r>
              <a:rPr lang="ru-RU" sz="1600" dirty="0" err="1">
                <a:latin typeface="Consolas" panose="020B0609020204030204" pitchFamily="49" charset="0"/>
              </a:rPr>
              <a:t>Hello</a:t>
            </a:r>
            <a:endParaRPr lang="ru-RU" sz="1600" dirty="0">
              <a:latin typeface="Consolas" panose="020B0609020204030204" pitchFamily="49" charset="0"/>
            </a:endParaRPr>
          </a:p>
          <a:p>
            <a:r>
              <a:rPr lang="ru-RU" sz="1600" dirty="0" err="1">
                <a:latin typeface="Consolas" panose="020B0609020204030204" pitchFamily="49" charset="0"/>
              </a:rPr>
              <a:t>Enter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MakeModifiedPostCard</a:t>
            </a:r>
            <a:endParaRPr lang="ru-RU" sz="1600" dirty="0">
              <a:latin typeface="Consolas" panose="020B0609020204030204" pitchFamily="49" charset="0"/>
            </a:endParaRPr>
          </a:p>
          <a:p>
            <a:r>
              <a:rPr lang="ru-RU" sz="1600" dirty="0" err="1">
                <a:latin typeface="Consolas" panose="020B0609020204030204" pitchFamily="49" charset="0"/>
              </a:rPr>
              <a:t>Exit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MakeModifiedPostCard</a:t>
            </a:r>
            <a:endParaRPr lang="ru-RU" sz="1600" dirty="0">
              <a:latin typeface="Consolas" panose="020B0609020204030204" pitchFamily="49" charset="0"/>
            </a:endParaRPr>
          </a:p>
          <a:p>
            <a:r>
              <a:rPr lang="ru-RU" sz="1600" dirty="0" err="1">
                <a:latin typeface="Consolas" panose="020B0609020204030204" pitchFamily="49" charset="0"/>
              </a:rPr>
              <a:t>Post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card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is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copied</a:t>
            </a:r>
            <a:r>
              <a:rPr lang="ru-RU" sz="1600" dirty="0">
                <a:latin typeface="Consolas" panose="020B0609020204030204" pitchFamily="49" charset="0"/>
              </a:rPr>
              <a:t>: </a:t>
            </a:r>
            <a:r>
              <a:rPr lang="ru-RU" sz="1600" dirty="0" err="1">
                <a:latin typeface="Consolas" panose="020B0609020204030204" pitchFamily="49" charset="0"/>
              </a:rPr>
              <a:t>Hello</a:t>
            </a:r>
            <a:r>
              <a:rPr lang="ru-RU" sz="1600" dirty="0">
                <a:latin typeface="Consolas" panose="020B0609020204030204" pitchFamily="49" charset="0"/>
              </a:rPr>
              <a:t> - </a:t>
            </a:r>
            <a:r>
              <a:rPr lang="ru-RU" sz="1600" dirty="0" err="1">
                <a:latin typeface="Consolas" panose="020B0609020204030204" pitchFamily="49" charset="0"/>
              </a:rPr>
              <a:t>modified</a:t>
            </a:r>
            <a:endParaRPr lang="ru-RU" sz="1600" dirty="0">
              <a:latin typeface="Consolas" panose="020B0609020204030204" pitchFamily="49" charset="0"/>
            </a:endParaRPr>
          </a:p>
          <a:p>
            <a:r>
              <a:rPr lang="ru-RU" sz="1600" dirty="0" err="1">
                <a:latin typeface="Consolas" panose="020B0609020204030204" pitchFamily="49" charset="0"/>
              </a:rPr>
              <a:t>Post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card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was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destroyed</a:t>
            </a:r>
            <a:r>
              <a:rPr lang="ru-RU" sz="1600" dirty="0">
                <a:latin typeface="Consolas" panose="020B0609020204030204" pitchFamily="49" charset="0"/>
              </a:rPr>
              <a:t>: </a:t>
            </a:r>
            <a:r>
              <a:rPr lang="ru-RU" sz="1600" dirty="0" err="1">
                <a:latin typeface="Consolas" panose="020B0609020204030204" pitchFamily="49" charset="0"/>
              </a:rPr>
              <a:t>Hello</a:t>
            </a:r>
            <a:r>
              <a:rPr lang="ru-RU" sz="1600" dirty="0">
                <a:latin typeface="Consolas" panose="020B0609020204030204" pitchFamily="49" charset="0"/>
              </a:rPr>
              <a:t> - </a:t>
            </a:r>
            <a:r>
              <a:rPr lang="ru-RU" sz="1600" dirty="0" err="1">
                <a:latin typeface="Consolas" panose="020B0609020204030204" pitchFamily="49" charset="0"/>
              </a:rPr>
              <a:t>modified</a:t>
            </a:r>
            <a:endParaRPr lang="ru-RU" sz="1600" dirty="0">
              <a:latin typeface="Consolas" panose="020B0609020204030204" pitchFamily="49" charset="0"/>
            </a:endParaRPr>
          </a:p>
          <a:p>
            <a:r>
              <a:rPr lang="ru-RU" sz="1600" dirty="0" err="1">
                <a:latin typeface="Consolas" panose="020B0609020204030204" pitchFamily="49" charset="0"/>
              </a:rPr>
              <a:t>Hello</a:t>
            </a:r>
            <a:r>
              <a:rPr lang="en-US" sz="1600" dirty="0">
                <a:latin typeface="Consolas" panose="020B0609020204030204" pitchFamily="49" charset="0"/>
              </a:rPr>
              <a:t> - modified</a:t>
            </a:r>
            <a:endParaRPr lang="ru-RU" sz="1600" dirty="0">
              <a:latin typeface="Consolas" panose="020B0609020204030204" pitchFamily="49" charset="0"/>
            </a:endParaRPr>
          </a:p>
          <a:p>
            <a:r>
              <a:rPr lang="ru-RU" sz="1600" dirty="0" err="1">
                <a:latin typeface="Consolas" panose="020B0609020204030204" pitchFamily="49" charset="0"/>
              </a:rPr>
              <a:t>Post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card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was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destroyed</a:t>
            </a:r>
            <a:r>
              <a:rPr lang="ru-RU" sz="1600" dirty="0">
                <a:latin typeface="Consolas" panose="020B0609020204030204" pitchFamily="49" charset="0"/>
              </a:rPr>
              <a:t>: </a:t>
            </a:r>
            <a:r>
              <a:rPr lang="ru-RU" sz="1600" dirty="0" err="1">
                <a:latin typeface="Consolas" panose="020B0609020204030204" pitchFamily="49" charset="0"/>
              </a:rPr>
              <a:t>Hello</a:t>
            </a:r>
            <a:r>
              <a:rPr lang="ru-RU" sz="1600" dirty="0">
                <a:latin typeface="Consolas" panose="020B0609020204030204" pitchFamily="49" charset="0"/>
              </a:rPr>
              <a:t> - </a:t>
            </a:r>
            <a:r>
              <a:rPr lang="ru-RU" sz="1600" dirty="0" err="1">
                <a:latin typeface="Consolas" panose="020B0609020204030204" pitchFamily="49" charset="0"/>
              </a:rPr>
              <a:t>modified</a:t>
            </a:r>
            <a:endParaRPr lang="ru-RU" sz="1600" dirty="0">
              <a:latin typeface="Consolas" panose="020B0609020204030204" pitchFamily="49" charset="0"/>
            </a:endParaRPr>
          </a:p>
          <a:p>
            <a:r>
              <a:rPr lang="ru-RU" sz="1600" dirty="0" err="1">
                <a:latin typeface="Consolas" panose="020B0609020204030204" pitchFamily="49" charset="0"/>
              </a:rPr>
              <a:t>Post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card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was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destroyed</a:t>
            </a:r>
            <a:r>
              <a:rPr lang="ru-RU" sz="1600" dirty="0">
                <a:latin typeface="Consolas" panose="020B0609020204030204" pitchFamily="49" charset="0"/>
              </a:rPr>
              <a:t>: </a:t>
            </a:r>
            <a:r>
              <a:rPr lang="ru-RU" sz="1600" dirty="0" err="1">
                <a:latin typeface="Consolas" panose="020B0609020204030204" pitchFamily="49" charset="0"/>
              </a:rPr>
              <a:t>Hello</a:t>
            </a:r>
            <a:endParaRPr lang="ru-RU" sz="16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905235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 tmFilter="0, 0; .2, .5; .8, .5; 1, 0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" dur="250" autoRev="1" fill="hold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500" tmFilter="0, 0; .2, .5; .8, .5; 1, 0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7" dur="250" autoRev="1" fill="hold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" dur="500" tmFilter="0, 0; .2, .5; .8, .5; 1, 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7" dur="250" autoRev="1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" dur="500" tmFilter="0, 0; .2, .5; .8, .5; 1, 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37" dur="250" autoRev="1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" dur="500" tmFilter="0, 0; .2, .5; .8, .5; 1, 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42" dur="250" autoRev="1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1" dur="500" tmFilter="0, 0; .2, .5; .8, .5; 1, 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52" dur="250" autoRev="1" fill="hold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6" dur="500" tmFilter="0, 0; .2, .5; .8, .5; 1, 0"/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67" dur="250" autoRev="1" fill="hold"/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8F7292-9495-A122-38A0-4294F955BC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Copy Elision (</a:t>
            </a:r>
            <a:r>
              <a:rPr lang="ru-RU" dirty="0"/>
              <a:t>устранение копирования)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00E310-9A45-F16F-D552-1FD390A693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Оптимизация компилятора, при которой копирование или перемещение объекта пропускается, даже при наличии у класса копирующего конструктора</a:t>
            </a:r>
          </a:p>
          <a:p>
            <a:r>
              <a:rPr lang="ru-RU" dirty="0"/>
              <a:t>Позволяет избегать ненужного создания временных объектов</a:t>
            </a:r>
          </a:p>
          <a:p>
            <a:r>
              <a:rPr lang="ru-RU" dirty="0"/>
              <a:t>Начиная с </a:t>
            </a:r>
            <a:r>
              <a:rPr lang="en-US" dirty="0"/>
              <a:t>C++17 copy elision </a:t>
            </a:r>
            <a:r>
              <a:rPr lang="ru-RU" dirty="0"/>
              <a:t>обязателен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41492053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15D9A02-9ED1-4E2F-ACF7-C240865DADE0}"/>
              </a:ext>
            </a:extLst>
          </p:cNvPr>
          <p:cNvSpPr/>
          <p:nvPr/>
        </p:nvSpPr>
        <p:spPr>
          <a:xfrm>
            <a:off x="838200" y="1740872"/>
            <a:ext cx="9774832" cy="34163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PostCard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MakeModifiedPostCard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PostCard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postCard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 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cout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"Enter 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MakeModifiedPostCard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endl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postCard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SetText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postCard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GetText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+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 - 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modified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cout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"Exit 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MakeModifiedPostCard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endl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postCard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</a:t>
            </a: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main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auto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modifiedPostCard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MakeModifiedPostCard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Hello"s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cout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modifiedPostCard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GetText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endl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B39C0B0-806D-44F4-A5F7-D3AE80C95395}"/>
              </a:ext>
            </a:extLst>
          </p:cNvPr>
          <p:cNvSpPr/>
          <p:nvPr/>
        </p:nvSpPr>
        <p:spPr>
          <a:xfrm>
            <a:off x="6384032" y="5157192"/>
            <a:ext cx="5691675" cy="1600438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ru-RU" sz="1400" dirty="0" err="1">
                <a:latin typeface="Consolas" panose="020B0609020204030204" pitchFamily="49" charset="0"/>
              </a:rPr>
              <a:t>Post</a:t>
            </a:r>
            <a:r>
              <a:rPr lang="ru-RU" sz="1400" dirty="0">
                <a:latin typeface="Consolas" panose="020B0609020204030204" pitchFamily="49" charset="0"/>
              </a:rPr>
              <a:t> </a:t>
            </a:r>
            <a:r>
              <a:rPr lang="ru-RU" sz="1400" dirty="0" err="1">
                <a:latin typeface="Consolas" panose="020B0609020204030204" pitchFamily="49" charset="0"/>
              </a:rPr>
              <a:t>card</a:t>
            </a:r>
            <a:r>
              <a:rPr lang="ru-RU" sz="1400" dirty="0">
                <a:latin typeface="Consolas" panose="020B0609020204030204" pitchFamily="49" charset="0"/>
              </a:rPr>
              <a:t> </a:t>
            </a:r>
            <a:r>
              <a:rPr lang="ru-RU" sz="1400" dirty="0" err="1">
                <a:latin typeface="Consolas" panose="020B0609020204030204" pitchFamily="49" charset="0"/>
              </a:rPr>
              <a:t>was</a:t>
            </a:r>
            <a:r>
              <a:rPr lang="ru-RU" sz="1400" dirty="0">
                <a:latin typeface="Consolas" panose="020B0609020204030204" pitchFamily="49" charset="0"/>
              </a:rPr>
              <a:t> </a:t>
            </a:r>
            <a:r>
              <a:rPr lang="ru-RU" sz="1400" dirty="0" err="1">
                <a:latin typeface="Consolas" panose="020B0609020204030204" pitchFamily="49" charset="0"/>
              </a:rPr>
              <a:t>created</a:t>
            </a:r>
            <a:r>
              <a:rPr lang="ru-RU" sz="1400" dirty="0">
                <a:latin typeface="Consolas" panose="020B0609020204030204" pitchFamily="49" charset="0"/>
              </a:rPr>
              <a:t>: </a:t>
            </a:r>
            <a:r>
              <a:rPr lang="ru-RU" sz="1400" dirty="0" err="1">
                <a:latin typeface="Consolas" panose="020B0609020204030204" pitchFamily="49" charset="0"/>
              </a:rPr>
              <a:t>Hello</a:t>
            </a:r>
            <a:endParaRPr lang="ru-RU" sz="1400" dirty="0">
              <a:latin typeface="Consolas" panose="020B0609020204030204" pitchFamily="49" charset="0"/>
            </a:endParaRPr>
          </a:p>
          <a:p>
            <a:r>
              <a:rPr lang="ru-RU" sz="1400" dirty="0">
                <a:latin typeface="Consolas" panose="020B0609020204030204" pitchFamily="49" charset="0"/>
              </a:rPr>
              <a:t>Enter </a:t>
            </a:r>
            <a:r>
              <a:rPr lang="ru-RU" sz="1400" dirty="0" err="1">
                <a:latin typeface="Consolas" panose="020B0609020204030204" pitchFamily="49" charset="0"/>
              </a:rPr>
              <a:t>MakeModifiedPostCard</a:t>
            </a:r>
            <a:endParaRPr lang="ru-RU" sz="1400" dirty="0">
              <a:latin typeface="Consolas" panose="020B0609020204030204" pitchFamily="49" charset="0"/>
            </a:endParaRPr>
          </a:p>
          <a:p>
            <a:r>
              <a:rPr lang="ru-RU" sz="1400" dirty="0" err="1">
                <a:latin typeface="Consolas" panose="020B0609020204030204" pitchFamily="49" charset="0"/>
              </a:rPr>
              <a:t>Exit</a:t>
            </a:r>
            <a:r>
              <a:rPr lang="ru-RU" sz="1400" dirty="0">
                <a:latin typeface="Consolas" panose="020B0609020204030204" pitchFamily="49" charset="0"/>
              </a:rPr>
              <a:t> </a:t>
            </a:r>
            <a:r>
              <a:rPr lang="ru-RU" sz="1400" dirty="0" err="1">
                <a:latin typeface="Consolas" panose="020B0609020204030204" pitchFamily="49" charset="0"/>
              </a:rPr>
              <a:t>MakeModifiedPostCard</a:t>
            </a:r>
            <a:endParaRPr lang="ru-RU" sz="1400" dirty="0">
              <a:latin typeface="Consolas" panose="020B0609020204030204" pitchFamily="49" charset="0"/>
            </a:endParaRPr>
          </a:p>
          <a:p>
            <a:r>
              <a:rPr lang="ru-RU" sz="1400" dirty="0" err="1">
                <a:latin typeface="Consolas" panose="020B0609020204030204" pitchFamily="49" charset="0"/>
              </a:rPr>
              <a:t>Post</a:t>
            </a:r>
            <a:r>
              <a:rPr lang="ru-RU" sz="1400" dirty="0">
                <a:latin typeface="Consolas" panose="020B0609020204030204" pitchFamily="49" charset="0"/>
              </a:rPr>
              <a:t> </a:t>
            </a:r>
            <a:r>
              <a:rPr lang="ru-RU" sz="1400" dirty="0" err="1">
                <a:latin typeface="Consolas" panose="020B0609020204030204" pitchFamily="49" charset="0"/>
              </a:rPr>
              <a:t>card</a:t>
            </a:r>
            <a:r>
              <a:rPr lang="ru-RU" sz="1400" dirty="0">
                <a:latin typeface="Consolas" panose="020B0609020204030204" pitchFamily="49" charset="0"/>
              </a:rPr>
              <a:t> </a:t>
            </a:r>
            <a:r>
              <a:rPr lang="ru-RU" sz="1400" dirty="0" err="1">
                <a:latin typeface="Consolas" panose="020B0609020204030204" pitchFamily="49" charset="0"/>
              </a:rPr>
              <a:t>is</a:t>
            </a:r>
            <a:r>
              <a:rPr lang="ru-RU" sz="1400" dirty="0">
                <a:latin typeface="Consolas" panose="020B0609020204030204" pitchFamily="49" charset="0"/>
              </a:rPr>
              <a:t> </a:t>
            </a:r>
            <a:r>
              <a:rPr lang="ru-RU" sz="1400" dirty="0" err="1">
                <a:latin typeface="Consolas" panose="020B0609020204030204" pitchFamily="49" charset="0"/>
              </a:rPr>
              <a:t>copied</a:t>
            </a:r>
            <a:r>
              <a:rPr lang="ru-RU" sz="1400" dirty="0">
                <a:latin typeface="Consolas" panose="020B0609020204030204" pitchFamily="49" charset="0"/>
              </a:rPr>
              <a:t>: </a:t>
            </a:r>
            <a:r>
              <a:rPr lang="ru-RU" sz="1400" dirty="0" err="1">
                <a:latin typeface="Consolas" panose="020B0609020204030204" pitchFamily="49" charset="0"/>
              </a:rPr>
              <a:t>Hello</a:t>
            </a:r>
            <a:r>
              <a:rPr lang="ru-RU" sz="1400" dirty="0">
                <a:latin typeface="Consolas" panose="020B0609020204030204" pitchFamily="49" charset="0"/>
              </a:rPr>
              <a:t> - </a:t>
            </a:r>
            <a:r>
              <a:rPr lang="ru-RU" sz="1400" dirty="0" err="1">
                <a:latin typeface="Consolas" panose="020B0609020204030204" pitchFamily="49" charset="0"/>
              </a:rPr>
              <a:t>modified</a:t>
            </a:r>
            <a:endParaRPr lang="ru-RU" sz="1400" dirty="0">
              <a:latin typeface="Consolas" panose="020B0609020204030204" pitchFamily="49" charset="0"/>
            </a:endParaRPr>
          </a:p>
          <a:p>
            <a:r>
              <a:rPr lang="ru-RU" sz="1400" dirty="0" err="1">
                <a:latin typeface="Consolas" panose="020B0609020204030204" pitchFamily="49" charset="0"/>
              </a:rPr>
              <a:t>Post</a:t>
            </a:r>
            <a:r>
              <a:rPr lang="ru-RU" sz="1400" dirty="0">
                <a:latin typeface="Consolas" panose="020B0609020204030204" pitchFamily="49" charset="0"/>
              </a:rPr>
              <a:t> </a:t>
            </a:r>
            <a:r>
              <a:rPr lang="ru-RU" sz="1400" dirty="0" err="1">
                <a:latin typeface="Consolas" panose="020B0609020204030204" pitchFamily="49" charset="0"/>
              </a:rPr>
              <a:t>card</a:t>
            </a:r>
            <a:r>
              <a:rPr lang="ru-RU" sz="1400" dirty="0">
                <a:latin typeface="Consolas" panose="020B0609020204030204" pitchFamily="49" charset="0"/>
              </a:rPr>
              <a:t> </a:t>
            </a:r>
            <a:r>
              <a:rPr lang="ru-RU" sz="1400" dirty="0" err="1">
                <a:latin typeface="Consolas" panose="020B0609020204030204" pitchFamily="49" charset="0"/>
              </a:rPr>
              <a:t>was</a:t>
            </a:r>
            <a:r>
              <a:rPr lang="ru-RU" sz="1400" dirty="0">
                <a:latin typeface="Consolas" panose="020B0609020204030204" pitchFamily="49" charset="0"/>
              </a:rPr>
              <a:t> </a:t>
            </a:r>
            <a:r>
              <a:rPr lang="ru-RU" sz="1400" dirty="0" err="1">
                <a:latin typeface="Consolas" panose="020B0609020204030204" pitchFamily="49" charset="0"/>
              </a:rPr>
              <a:t>destroyed</a:t>
            </a:r>
            <a:r>
              <a:rPr lang="ru-RU" sz="1400" dirty="0">
                <a:latin typeface="Consolas" panose="020B0609020204030204" pitchFamily="49" charset="0"/>
              </a:rPr>
              <a:t>: </a:t>
            </a:r>
            <a:r>
              <a:rPr lang="ru-RU" sz="1400" dirty="0" err="1">
                <a:latin typeface="Consolas" panose="020B0609020204030204" pitchFamily="49" charset="0"/>
              </a:rPr>
              <a:t>Hello</a:t>
            </a:r>
            <a:r>
              <a:rPr lang="ru-RU" sz="1400" dirty="0">
                <a:latin typeface="Consolas" panose="020B0609020204030204" pitchFamily="49" charset="0"/>
              </a:rPr>
              <a:t> - </a:t>
            </a:r>
            <a:r>
              <a:rPr lang="ru-RU" sz="1400" dirty="0" err="1">
                <a:latin typeface="Consolas" panose="020B0609020204030204" pitchFamily="49" charset="0"/>
              </a:rPr>
              <a:t>modified</a:t>
            </a:r>
            <a:endParaRPr lang="ru-RU" sz="1400" dirty="0">
              <a:latin typeface="Consolas" panose="020B0609020204030204" pitchFamily="49" charset="0"/>
            </a:endParaRPr>
          </a:p>
          <a:p>
            <a:r>
              <a:rPr lang="ru-RU" sz="1400" dirty="0" err="1">
                <a:latin typeface="Consolas" panose="020B0609020204030204" pitchFamily="49" charset="0"/>
              </a:rPr>
              <a:t>Hello</a:t>
            </a:r>
            <a:r>
              <a:rPr lang="en-US" sz="1400" dirty="0">
                <a:latin typeface="Consolas" panose="020B0609020204030204" pitchFamily="49" charset="0"/>
              </a:rPr>
              <a:t> - modified</a:t>
            </a:r>
            <a:endParaRPr lang="ru-RU" sz="1400" dirty="0">
              <a:latin typeface="Consolas" panose="020B0609020204030204" pitchFamily="49" charset="0"/>
            </a:endParaRPr>
          </a:p>
          <a:p>
            <a:r>
              <a:rPr lang="ru-RU" sz="1400" dirty="0">
                <a:latin typeface="Consolas" panose="020B0609020204030204" pitchFamily="49" charset="0"/>
              </a:rPr>
              <a:t>Post </a:t>
            </a:r>
            <a:r>
              <a:rPr lang="ru-RU" sz="1400" dirty="0" err="1">
                <a:latin typeface="Consolas" panose="020B0609020204030204" pitchFamily="49" charset="0"/>
              </a:rPr>
              <a:t>card</a:t>
            </a:r>
            <a:r>
              <a:rPr lang="ru-RU" sz="1400" dirty="0">
                <a:latin typeface="Consolas" panose="020B0609020204030204" pitchFamily="49" charset="0"/>
              </a:rPr>
              <a:t> </a:t>
            </a:r>
            <a:r>
              <a:rPr lang="ru-RU" sz="1400" dirty="0" err="1">
                <a:latin typeface="Consolas" panose="020B0609020204030204" pitchFamily="49" charset="0"/>
              </a:rPr>
              <a:t>was</a:t>
            </a:r>
            <a:r>
              <a:rPr lang="ru-RU" sz="1400" dirty="0">
                <a:latin typeface="Consolas" panose="020B0609020204030204" pitchFamily="49" charset="0"/>
              </a:rPr>
              <a:t> </a:t>
            </a:r>
            <a:r>
              <a:rPr lang="ru-RU" sz="1400" dirty="0" err="1">
                <a:latin typeface="Consolas" panose="020B0609020204030204" pitchFamily="49" charset="0"/>
              </a:rPr>
              <a:t>destroyed</a:t>
            </a:r>
            <a:r>
              <a:rPr lang="ru-RU" sz="1400" dirty="0">
                <a:latin typeface="Consolas" panose="020B0609020204030204" pitchFamily="49" charset="0"/>
              </a:rPr>
              <a:t>: </a:t>
            </a:r>
            <a:r>
              <a:rPr lang="ru-RU" sz="1400" dirty="0" err="1">
                <a:latin typeface="Consolas" panose="020B0609020204030204" pitchFamily="49" charset="0"/>
              </a:rPr>
              <a:t>Hello</a:t>
            </a:r>
            <a:r>
              <a:rPr lang="ru-RU" sz="1400" dirty="0">
                <a:latin typeface="Consolas" panose="020B0609020204030204" pitchFamily="49" charset="0"/>
              </a:rPr>
              <a:t> - </a:t>
            </a:r>
            <a:r>
              <a:rPr lang="ru-RU" sz="1400" dirty="0" err="1">
                <a:latin typeface="Consolas" panose="020B0609020204030204" pitchFamily="49" charset="0"/>
              </a:rPr>
              <a:t>modified</a:t>
            </a:r>
            <a:endParaRPr lang="ru-RU" sz="1400" dirty="0">
              <a:latin typeface="Consolas" panose="020B0609020204030204" pitchFamily="49" charset="0"/>
            </a:endParaRPr>
          </a:p>
        </p:txBody>
      </p: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387DC2A5-062B-4B1C-8220-496A25FA0D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Copy Elision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3271574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 tmFilter="0, 0; .2, .5; .8, .5; 1, 0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" dur="250" autoRev="1" fill="hold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500" tmFilter="0, 0; .2, .5; .8, .5; 1, 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7" dur="250" autoRev="1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" dur="500" tmFilter="0, 0; .2, .5; .8, .5; 1, 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7" dur="250" autoRev="1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" dur="500" tmFilter="0, 0; .2, .5; .8, .5; 1, 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32" dur="250" autoRev="1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" dur="500" tmFilter="0, 0; .2, .5; .8, .5; 1, 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42" dur="250" autoRev="1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6" dur="500" tmFilter="0, 0; .2, .5; .8, .5; 1, 0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57" dur="250" autoRev="1" fill="hold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3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ru-RU" sz="3600"/>
              <a:t>Автоматически сгенерированный конструктор копирования</a:t>
            </a:r>
          </a:p>
        </p:txBody>
      </p:sp>
      <p:sp>
        <p:nvSpPr>
          <p:cNvPr id="48131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ru-RU" dirty="0"/>
              <a:t>Если программист не определит конструктор копирования явно, компилятор сгенерирует его во время компиляции</a:t>
            </a:r>
          </a:p>
          <a:p>
            <a:r>
              <a:rPr lang="ru-RU" dirty="0"/>
              <a:t>Автоматически сгенерированный конструктор копирования </a:t>
            </a:r>
            <a:r>
              <a:rPr lang="ru-RU" b="1" dirty="0"/>
              <a:t>копирует все поля класса</a:t>
            </a:r>
            <a:r>
              <a:rPr lang="ru-RU" dirty="0"/>
              <a:t>, вызывая для них их конструкторы копирования</a:t>
            </a:r>
          </a:p>
        </p:txBody>
      </p:sp>
    </p:spTree>
    <p:custDataLst>
      <p:tags r:id="rId1"/>
    </p:custData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DD604AA-D8AA-4EF4-A104-861C14224A24}"/>
              </a:ext>
            </a:extLst>
          </p:cNvPr>
          <p:cNvSpPr/>
          <p:nvPr/>
        </p:nvSpPr>
        <p:spPr>
          <a:xfrm>
            <a:off x="86376" y="79581"/>
            <a:ext cx="11593288" cy="45243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struct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Envelope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PostCard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postCard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};</a:t>
            </a: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Envelope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MakeModifiedPostcardInEnvelope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Envelope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envelope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 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cout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"Enter 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MakeModifiedPostCard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endl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envelope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postCard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SetText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envelope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postCard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GetText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+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 - 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modified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cout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"Exit 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MakeModifiedPostCard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endl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envelope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</a:t>
            </a: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main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 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Envelope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env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{.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postCard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"Hello"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};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auto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modifiedEnv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MakeModifiedPostcardInEnvelope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env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cout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modifiedEnv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postCard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GetText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endl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242D834-00AE-4266-A547-C59CB9F73E80}"/>
              </a:ext>
            </a:extLst>
          </p:cNvPr>
          <p:cNvSpPr/>
          <p:nvPr/>
        </p:nvSpPr>
        <p:spPr>
          <a:xfrm>
            <a:off x="6385643" y="4439317"/>
            <a:ext cx="5691675" cy="2339102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ru-RU" sz="1600" dirty="0" err="1">
                <a:latin typeface="Consolas" panose="020B0609020204030204" pitchFamily="49" charset="0"/>
              </a:rPr>
              <a:t>Post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card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was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created</a:t>
            </a:r>
            <a:r>
              <a:rPr lang="ru-RU" sz="1600" dirty="0">
                <a:latin typeface="Consolas" panose="020B0609020204030204" pitchFamily="49" charset="0"/>
              </a:rPr>
              <a:t>: </a:t>
            </a:r>
            <a:r>
              <a:rPr lang="ru-RU" sz="1600" dirty="0" err="1">
                <a:latin typeface="Consolas" panose="020B0609020204030204" pitchFamily="49" charset="0"/>
              </a:rPr>
              <a:t>Hello</a:t>
            </a:r>
            <a:endParaRPr lang="ru-RU" sz="1600" dirty="0">
              <a:latin typeface="Consolas" panose="020B0609020204030204" pitchFamily="49" charset="0"/>
            </a:endParaRPr>
          </a:p>
          <a:p>
            <a:r>
              <a:rPr lang="ru-RU" sz="1600" dirty="0" err="1">
                <a:latin typeface="Consolas" panose="020B0609020204030204" pitchFamily="49" charset="0"/>
              </a:rPr>
              <a:t>Post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card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is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copied</a:t>
            </a:r>
            <a:r>
              <a:rPr lang="ru-RU" sz="1600" dirty="0">
                <a:latin typeface="Consolas" panose="020B0609020204030204" pitchFamily="49" charset="0"/>
              </a:rPr>
              <a:t>: </a:t>
            </a:r>
            <a:r>
              <a:rPr lang="ru-RU" sz="1600" dirty="0" err="1">
                <a:latin typeface="Consolas" panose="020B0609020204030204" pitchFamily="49" charset="0"/>
              </a:rPr>
              <a:t>Hello</a:t>
            </a:r>
            <a:endParaRPr lang="ru-RU" sz="1600" dirty="0">
              <a:latin typeface="Consolas" panose="020B0609020204030204" pitchFamily="49" charset="0"/>
            </a:endParaRPr>
          </a:p>
          <a:p>
            <a:r>
              <a:rPr lang="ru-RU" sz="1600" dirty="0" err="1">
                <a:latin typeface="Consolas" panose="020B0609020204030204" pitchFamily="49" charset="0"/>
              </a:rPr>
              <a:t>Enter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MakeModifiedPostCard</a:t>
            </a:r>
            <a:endParaRPr lang="ru-RU" sz="1600" dirty="0">
              <a:latin typeface="Consolas" panose="020B0609020204030204" pitchFamily="49" charset="0"/>
            </a:endParaRPr>
          </a:p>
          <a:p>
            <a:r>
              <a:rPr lang="ru-RU" sz="1600" dirty="0" err="1">
                <a:latin typeface="Consolas" panose="020B0609020204030204" pitchFamily="49" charset="0"/>
              </a:rPr>
              <a:t>Exit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MakeModifiedPostCard</a:t>
            </a:r>
            <a:endParaRPr lang="ru-RU" sz="1600" dirty="0">
              <a:latin typeface="Consolas" panose="020B0609020204030204" pitchFamily="49" charset="0"/>
            </a:endParaRPr>
          </a:p>
          <a:p>
            <a:r>
              <a:rPr lang="ru-RU" sz="1600" dirty="0" err="1">
                <a:latin typeface="Consolas" panose="020B0609020204030204" pitchFamily="49" charset="0"/>
              </a:rPr>
              <a:t>Post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card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is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copied</a:t>
            </a:r>
            <a:r>
              <a:rPr lang="ru-RU" sz="1600" dirty="0">
                <a:latin typeface="Consolas" panose="020B0609020204030204" pitchFamily="49" charset="0"/>
              </a:rPr>
              <a:t>: </a:t>
            </a:r>
            <a:r>
              <a:rPr lang="ru-RU" sz="1600" dirty="0" err="1">
                <a:latin typeface="Consolas" panose="020B0609020204030204" pitchFamily="49" charset="0"/>
              </a:rPr>
              <a:t>Hello</a:t>
            </a:r>
            <a:r>
              <a:rPr lang="ru-RU" sz="1600" dirty="0">
                <a:latin typeface="Consolas" panose="020B0609020204030204" pitchFamily="49" charset="0"/>
              </a:rPr>
              <a:t> - </a:t>
            </a:r>
            <a:r>
              <a:rPr lang="ru-RU" sz="1600" dirty="0" err="1">
                <a:latin typeface="Consolas" panose="020B0609020204030204" pitchFamily="49" charset="0"/>
              </a:rPr>
              <a:t>modified</a:t>
            </a:r>
            <a:endParaRPr lang="ru-RU" sz="1600" dirty="0">
              <a:latin typeface="Consolas" panose="020B0609020204030204" pitchFamily="49" charset="0"/>
            </a:endParaRPr>
          </a:p>
          <a:p>
            <a:r>
              <a:rPr lang="ru-RU" sz="1600" dirty="0" err="1">
                <a:latin typeface="Consolas" panose="020B0609020204030204" pitchFamily="49" charset="0"/>
              </a:rPr>
              <a:t>Post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card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was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destroyed</a:t>
            </a:r>
            <a:r>
              <a:rPr lang="ru-RU" sz="1600" dirty="0">
                <a:latin typeface="Consolas" panose="020B0609020204030204" pitchFamily="49" charset="0"/>
              </a:rPr>
              <a:t>: </a:t>
            </a:r>
            <a:r>
              <a:rPr lang="ru-RU" sz="1600" dirty="0" err="1">
                <a:latin typeface="Consolas" panose="020B0609020204030204" pitchFamily="49" charset="0"/>
              </a:rPr>
              <a:t>Hello</a:t>
            </a:r>
            <a:r>
              <a:rPr lang="ru-RU" sz="1600" dirty="0">
                <a:latin typeface="Consolas" panose="020B0609020204030204" pitchFamily="49" charset="0"/>
              </a:rPr>
              <a:t> - </a:t>
            </a:r>
            <a:r>
              <a:rPr lang="ru-RU" sz="1600" dirty="0" err="1">
                <a:latin typeface="Consolas" panose="020B0609020204030204" pitchFamily="49" charset="0"/>
              </a:rPr>
              <a:t>modified</a:t>
            </a:r>
            <a:endParaRPr lang="ru-RU" sz="1600" dirty="0">
              <a:latin typeface="Consolas" panose="020B0609020204030204" pitchFamily="49" charset="0"/>
            </a:endParaRPr>
          </a:p>
          <a:p>
            <a:r>
              <a:rPr lang="ru-RU" sz="1600" dirty="0" err="1">
                <a:latin typeface="Consolas" panose="020B0609020204030204" pitchFamily="49" charset="0"/>
              </a:rPr>
              <a:t>Hello</a:t>
            </a:r>
            <a:r>
              <a:rPr lang="en-US" sz="1600" dirty="0">
                <a:latin typeface="Consolas" panose="020B0609020204030204" pitchFamily="49" charset="0"/>
              </a:rPr>
              <a:t> - modified</a:t>
            </a:r>
            <a:endParaRPr lang="ru-RU" sz="1600" dirty="0">
              <a:latin typeface="Consolas" panose="020B0609020204030204" pitchFamily="49" charset="0"/>
            </a:endParaRPr>
          </a:p>
          <a:p>
            <a:r>
              <a:rPr lang="ru-RU" sz="1600" dirty="0" err="1">
                <a:latin typeface="Consolas" panose="020B0609020204030204" pitchFamily="49" charset="0"/>
              </a:rPr>
              <a:t>Post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card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was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destroyed</a:t>
            </a:r>
            <a:r>
              <a:rPr lang="ru-RU" sz="1600" dirty="0">
                <a:latin typeface="Consolas" panose="020B0609020204030204" pitchFamily="49" charset="0"/>
              </a:rPr>
              <a:t>: </a:t>
            </a:r>
            <a:r>
              <a:rPr lang="ru-RU" sz="1600" dirty="0" err="1">
                <a:latin typeface="Consolas" panose="020B0609020204030204" pitchFamily="49" charset="0"/>
              </a:rPr>
              <a:t>Hello</a:t>
            </a:r>
            <a:r>
              <a:rPr lang="ru-RU" sz="1600" dirty="0">
                <a:latin typeface="Consolas" panose="020B0609020204030204" pitchFamily="49" charset="0"/>
              </a:rPr>
              <a:t> - </a:t>
            </a:r>
            <a:r>
              <a:rPr lang="ru-RU" sz="1600" dirty="0" err="1">
                <a:latin typeface="Consolas" panose="020B0609020204030204" pitchFamily="49" charset="0"/>
              </a:rPr>
              <a:t>modified</a:t>
            </a:r>
            <a:endParaRPr lang="ru-RU" sz="1600" dirty="0">
              <a:latin typeface="Consolas" panose="020B0609020204030204" pitchFamily="49" charset="0"/>
            </a:endParaRPr>
          </a:p>
          <a:p>
            <a:r>
              <a:rPr lang="ru-RU" sz="1600" dirty="0" err="1">
                <a:latin typeface="Consolas" panose="020B0609020204030204" pitchFamily="49" charset="0"/>
              </a:rPr>
              <a:t>Post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card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was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destroyed</a:t>
            </a:r>
            <a:r>
              <a:rPr lang="ru-RU" sz="1600" dirty="0">
                <a:latin typeface="Consolas" panose="020B0609020204030204" pitchFamily="49" charset="0"/>
              </a:rPr>
              <a:t>: </a:t>
            </a:r>
            <a:r>
              <a:rPr lang="ru-RU" sz="1600" dirty="0" err="1">
                <a:latin typeface="Consolas" panose="020B0609020204030204" pitchFamily="49" charset="0"/>
              </a:rPr>
              <a:t>Hello</a:t>
            </a:r>
            <a:endParaRPr lang="ru-RU" sz="16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183994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 tmFilter="0, 0; .2, .5; .8, .5; 1, 0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" dur="250" autoRev="1" fill="hold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500" tmFilter="0, 0; .2, .5; .8, .5; 1, 0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7" dur="250" autoRev="1" fill="hold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" dur="500" tmFilter="0, 0; .2, .5; .8, .5; 1, 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7" dur="250" autoRev="1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" dur="500" tmFilter="0, 0; .2, .5; .8, .5; 1, 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37" dur="250" autoRev="1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" dur="500" tmFilter="0, 0; .2, .5; .8, .5; 1, 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42" dur="250" autoRev="1" fill="hold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1" dur="500" tmFilter="0, 0; .2, .5; .8, .5; 1, 0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52" dur="250" autoRev="1" fill="hold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6" dur="500" tmFilter="0, 0; .2, .5; .8, .5; 1, 0"/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67" dur="250" autoRev="1" fill="hold"/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Пользовательский конструктор копирования</a:t>
            </a:r>
          </a:p>
        </p:txBody>
      </p:sp>
      <p:sp>
        <p:nvSpPr>
          <p:cNvPr id="50179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Автоматически сгенерированный конструктор копирования не всегда подходит</a:t>
            </a:r>
          </a:p>
          <a:p>
            <a:pPr lvl="1"/>
            <a:r>
              <a:rPr lang="ru-RU" dirty="0"/>
              <a:t>Когда создание копии объекта – не только копирование всех его полей</a:t>
            </a:r>
          </a:p>
          <a:p>
            <a:r>
              <a:rPr lang="ru-RU" dirty="0"/>
              <a:t>Пример: класс, реализующий динамический массив</a:t>
            </a:r>
          </a:p>
          <a:p>
            <a:pPr lvl="1"/>
            <a:r>
              <a:rPr lang="ru-RU" dirty="0"/>
              <a:t>Копирование массива требует выделения динамической памяти и копирования элементов исходного массива</a:t>
            </a:r>
          </a:p>
          <a:p>
            <a:r>
              <a:rPr lang="ru-RU" dirty="0"/>
              <a:t>Выход – создавать собственный копирующий конструктор</a:t>
            </a:r>
          </a:p>
        </p:txBody>
      </p:sp>
    </p:spTree>
    <p:custDataLst>
      <p:tags r:id="rId1"/>
    </p:custData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1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01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17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017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17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017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17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017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17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5017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0179" grpId="0" build="p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ru-RU" dirty="0"/>
              <a:t>Пример</a:t>
            </a:r>
          </a:p>
        </p:txBody>
      </p:sp>
      <p:sp>
        <p:nvSpPr>
          <p:cNvPr id="51203" name="Rectangle 4"/>
          <p:cNvSpPr>
            <a:spLocks noChangeArrowheads="1"/>
          </p:cNvSpPr>
          <p:nvPr/>
        </p:nvSpPr>
        <p:spPr bwMode="auto">
          <a:xfrm>
            <a:off x="1919288" y="1857574"/>
            <a:ext cx="8497887" cy="504753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tabLst>
                <a:tab pos="446088" algn="l"/>
              </a:tabLst>
            </a:pPr>
            <a:r>
              <a:rPr lang="ru-RU" sz="1400" b="1" dirty="0">
                <a:latin typeface="Courier New" pitchFamily="49" charset="0"/>
              </a:rPr>
              <a:t>#</a:t>
            </a:r>
            <a:r>
              <a:rPr lang="ru-RU" sz="1400" b="1" dirty="0" err="1">
                <a:latin typeface="Courier New" pitchFamily="49" charset="0"/>
              </a:rPr>
              <a:t>include</a:t>
            </a:r>
            <a:r>
              <a:rPr lang="ru-RU" sz="1400" b="1" dirty="0">
                <a:latin typeface="Courier New" pitchFamily="49" charset="0"/>
              </a:rPr>
              <a:t> "</a:t>
            </a:r>
            <a:r>
              <a:rPr lang="ru-RU" sz="1400" b="1" dirty="0" err="1">
                <a:latin typeface="Courier New" pitchFamily="49" charset="0"/>
              </a:rPr>
              <a:t>stdio.h</a:t>
            </a:r>
            <a:r>
              <a:rPr lang="ru-RU" sz="1400" b="1" dirty="0">
                <a:latin typeface="Courier New" pitchFamily="49" charset="0"/>
              </a:rPr>
              <a:t>"</a:t>
            </a:r>
          </a:p>
          <a:p>
            <a:pPr>
              <a:tabLst>
                <a:tab pos="446088" algn="l"/>
              </a:tabLst>
            </a:pPr>
            <a:r>
              <a:rPr lang="ru-RU" sz="1400" b="1" dirty="0">
                <a:latin typeface="Courier New" pitchFamily="49" charset="0"/>
              </a:rPr>
              <a:t>#</a:t>
            </a:r>
            <a:r>
              <a:rPr lang="ru-RU" sz="1400" b="1" dirty="0" err="1">
                <a:latin typeface="Courier New" pitchFamily="49" charset="0"/>
              </a:rPr>
              <a:t>include</a:t>
            </a:r>
            <a:r>
              <a:rPr lang="ru-RU" sz="1400" b="1" dirty="0">
                <a:latin typeface="Courier New" pitchFamily="49" charset="0"/>
              </a:rPr>
              <a:t> "</a:t>
            </a:r>
            <a:r>
              <a:rPr lang="ru-RU" sz="1400" b="1" dirty="0" err="1">
                <a:latin typeface="Courier New" pitchFamily="49" charset="0"/>
              </a:rPr>
              <a:t>memory.h</a:t>
            </a:r>
            <a:r>
              <a:rPr lang="ru-RU" sz="1400" b="1" dirty="0">
                <a:latin typeface="Courier New" pitchFamily="49" charset="0"/>
              </a:rPr>
              <a:t>"</a:t>
            </a:r>
          </a:p>
          <a:p>
            <a:pPr>
              <a:tabLst>
                <a:tab pos="446088" algn="l"/>
              </a:tabLst>
            </a:pPr>
            <a:endParaRPr lang="ru-RU" sz="1400" b="1" dirty="0">
              <a:latin typeface="Courier New" pitchFamily="49" charset="0"/>
            </a:endParaRPr>
          </a:p>
          <a:p>
            <a:pPr>
              <a:tabLst>
                <a:tab pos="446088" algn="l"/>
              </a:tabLst>
            </a:pPr>
            <a:r>
              <a:rPr lang="ru-RU" sz="1400" b="1" dirty="0" err="1">
                <a:latin typeface="Courier New" pitchFamily="49" charset="0"/>
              </a:rPr>
              <a:t>class</a:t>
            </a:r>
            <a:r>
              <a:rPr lang="ru-RU" sz="1400" b="1" dirty="0">
                <a:latin typeface="Courier New" pitchFamily="49" charset="0"/>
              </a:rPr>
              <a:t> </a:t>
            </a:r>
            <a:r>
              <a:rPr lang="ru-RU" sz="1400" b="1" dirty="0" err="1">
                <a:latin typeface="Courier New" pitchFamily="49" charset="0"/>
              </a:rPr>
              <a:t>IntArray</a:t>
            </a:r>
            <a:endParaRPr lang="ru-RU" sz="1400" b="1" dirty="0">
              <a:latin typeface="Courier New" pitchFamily="49" charset="0"/>
            </a:endParaRPr>
          </a:p>
          <a:p>
            <a:pPr>
              <a:tabLst>
                <a:tab pos="446088" algn="l"/>
              </a:tabLst>
            </a:pPr>
            <a:r>
              <a:rPr lang="ru-RU" sz="1400" b="1" dirty="0">
                <a:latin typeface="Courier New" pitchFamily="49" charset="0"/>
              </a:rPr>
              <a:t>{</a:t>
            </a:r>
          </a:p>
          <a:p>
            <a:pPr>
              <a:tabLst>
                <a:tab pos="446088" algn="l"/>
              </a:tabLst>
            </a:pPr>
            <a:r>
              <a:rPr lang="ru-RU" sz="1400" b="1" dirty="0" err="1">
                <a:latin typeface="Courier New" pitchFamily="49" charset="0"/>
              </a:rPr>
              <a:t>public</a:t>
            </a:r>
            <a:r>
              <a:rPr lang="ru-RU" sz="1400" b="1" dirty="0">
                <a:latin typeface="Courier New" pitchFamily="49" charset="0"/>
              </a:rPr>
              <a:t>:</a:t>
            </a:r>
          </a:p>
          <a:p>
            <a:pPr>
              <a:tabLst>
                <a:tab pos="446088" algn="l"/>
              </a:tabLst>
            </a:pPr>
            <a:r>
              <a:rPr lang="ru-RU" sz="1400" b="1" dirty="0">
                <a:latin typeface="Courier New" pitchFamily="49" charset="0"/>
              </a:rPr>
              <a:t>	</a:t>
            </a:r>
            <a:r>
              <a:rPr lang="ru-RU" sz="1400" b="1" dirty="0" err="1">
                <a:latin typeface="Courier New" pitchFamily="49" charset="0"/>
              </a:rPr>
              <a:t>IntArray</a:t>
            </a:r>
            <a:r>
              <a:rPr lang="ru-RU" sz="1400" b="1" dirty="0">
                <a:latin typeface="Courier New" pitchFamily="49" charset="0"/>
              </a:rPr>
              <a:t>():</a:t>
            </a:r>
            <a:r>
              <a:rPr lang="ru-RU" sz="1400" b="1" dirty="0" err="1">
                <a:latin typeface="Courier New" pitchFamily="49" charset="0"/>
              </a:rPr>
              <a:t>m_pData</a:t>
            </a:r>
            <a:r>
              <a:rPr lang="ru-RU" sz="1400" b="1" dirty="0">
                <a:latin typeface="Courier New" pitchFamily="49" charset="0"/>
              </a:rPr>
              <a:t>(</a:t>
            </a:r>
            <a:r>
              <a:rPr lang="en-US" sz="1400" b="1" dirty="0" err="1">
                <a:latin typeface="Courier New" pitchFamily="49" charset="0"/>
              </a:rPr>
              <a:t>nullptr</a:t>
            </a:r>
            <a:r>
              <a:rPr lang="ru-RU" sz="1400" b="1" dirty="0">
                <a:latin typeface="Courier New" pitchFamily="49" charset="0"/>
              </a:rPr>
              <a:t>), </a:t>
            </a:r>
            <a:r>
              <a:rPr lang="ru-RU" sz="1400" b="1" dirty="0" err="1">
                <a:latin typeface="Courier New" pitchFamily="49" charset="0"/>
              </a:rPr>
              <a:t>m_size</a:t>
            </a:r>
            <a:r>
              <a:rPr lang="ru-RU" sz="1400" b="1" dirty="0">
                <a:latin typeface="Courier New" pitchFamily="49" charset="0"/>
              </a:rPr>
              <a:t>(0){}</a:t>
            </a:r>
          </a:p>
          <a:p>
            <a:pPr>
              <a:tabLst>
                <a:tab pos="446088" algn="l"/>
              </a:tabLst>
            </a:pPr>
            <a:endParaRPr lang="ru-RU" sz="1400" b="1" dirty="0">
              <a:latin typeface="Courier New" pitchFamily="49" charset="0"/>
            </a:endParaRPr>
          </a:p>
          <a:p>
            <a:pPr>
              <a:tabLst>
                <a:tab pos="446088" algn="l"/>
              </a:tabLst>
            </a:pPr>
            <a:r>
              <a:rPr lang="ru-RU" sz="1400" b="1" dirty="0">
                <a:latin typeface="Courier New" pitchFamily="49" charset="0"/>
              </a:rPr>
              <a:t>	</a:t>
            </a:r>
            <a:r>
              <a:rPr lang="ru-RU" sz="1400" b="1" dirty="0" err="1">
                <a:solidFill>
                  <a:srgbClr val="FF0000"/>
                </a:solidFill>
                <a:latin typeface="Courier New" pitchFamily="49" charset="0"/>
              </a:rPr>
              <a:t>IntArray</a:t>
            </a:r>
            <a:r>
              <a:rPr lang="ru-RU" sz="1400" b="1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400" b="1" dirty="0" err="1">
                <a:solidFill>
                  <a:srgbClr val="FF0000"/>
                </a:solidFill>
                <a:latin typeface="Courier New" pitchFamily="49" charset="0"/>
              </a:rPr>
              <a:t>IntArray</a:t>
            </a:r>
            <a:r>
              <a:rPr lang="ru-RU" sz="1400" b="1" dirty="0">
                <a:solidFill>
                  <a:srgbClr val="FF0000"/>
                </a:solidFill>
                <a:latin typeface="Courier New" pitchFamily="49" charset="0"/>
              </a:rPr>
              <a:t> </a:t>
            </a:r>
            <a:r>
              <a:rPr lang="ru-RU" sz="1400" b="1" dirty="0" err="1">
                <a:solidFill>
                  <a:srgbClr val="FF0000"/>
                </a:solidFill>
                <a:latin typeface="Courier New" pitchFamily="49" charset="0"/>
              </a:rPr>
              <a:t>const&amp;</a:t>
            </a:r>
            <a:r>
              <a:rPr lang="ru-RU" sz="1400" b="1" dirty="0">
                <a:solidFill>
                  <a:srgbClr val="FF0000"/>
                </a:solidFill>
                <a:latin typeface="Courier New" pitchFamily="49" charset="0"/>
              </a:rPr>
              <a:t> </a:t>
            </a:r>
            <a:r>
              <a:rPr lang="ru-RU" sz="1400" b="1" dirty="0" err="1">
                <a:solidFill>
                  <a:srgbClr val="FF0000"/>
                </a:solidFill>
                <a:latin typeface="Courier New" pitchFamily="49" charset="0"/>
              </a:rPr>
              <a:t>arr</a:t>
            </a:r>
            <a:r>
              <a:rPr lang="ru-RU" sz="1400" b="1" dirty="0">
                <a:solidFill>
                  <a:srgbClr val="FF0000"/>
                </a:solidFill>
                <a:latin typeface="Courier New" pitchFamily="49" charset="0"/>
              </a:rPr>
              <a:t>)</a:t>
            </a:r>
          </a:p>
          <a:p>
            <a:pPr>
              <a:tabLst>
                <a:tab pos="446088" algn="l"/>
              </a:tabLst>
            </a:pPr>
            <a:r>
              <a:rPr lang="ru-RU" sz="1400" b="1" dirty="0">
                <a:latin typeface="Courier New" pitchFamily="49" charset="0"/>
              </a:rPr>
              <a:t>		:</a:t>
            </a:r>
            <a:r>
              <a:rPr lang="ru-RU" sz="1400" b="1" dirty="0" err="1">
                <a:latin typeface="Courier New" pitchFamily="49" charset="0"/>
              </a:rPr>
              <a:t>m_pData</a:t>
            </a:r>
            <a:r>
              <a:rPr lang="ru-RU" sz="1400" b="1" dirty="0">
                <a:latin typeface="Courier New" pitchFamily="49" charset="0"/>
              </a:rPr>
              <a:t>(</a:t>
            </a:r>
            <a:r>
              <a:rPr lang="ru-RU" sz="1400" b="1" dirty="0" err="1">
                <a:latin typeface="Courier New" pitchFamily="49" charset="0"/>
              </a:rPr>
              <a:t>new</a:t>
            </a:r>
            <a:r>
              <a:rPr lang="ru-RU" sz="1400" b="1" dirty="0">
                <a:latin typeface="Courier New" pitchFamily="49" charset="0"/>
              </a:rPr>
              <a:t> int [</a:t>
            </a:r>
            <a:r>
              <a:rPr lang="ru-RU" sz="1400" b="1" dirty="0" err="1">
                <a:latin typeface="Courier New" pitchFamily="49" charset="0"/>
              </a:rPr>
              <a:t>arr.m_size</a:t>
            </a:r>
            <a:r>
              <a:rPr lang="ru-RU" sz="1400" b="1" dirty="0">
                <a:latin typeface="Courier New" pitchFamily="49" charset="0"/>
              </a:rPr>
              <a:t>])</a:t>
            </a:r>
          </a:p>
          <a:p>
            <a:pPr>
              <a:tabLst>
                <a:tab pos="446088" algn="l"/>
              </a:tabLst>
            </a:pPr>
            <a:r>
              <a:rPr lang="ru-RU" sz="1400" b="1" dirty="0">
                <a:latin typeface="Courier New" pitchFamily="49" charset="0"/>
              </a:rPr>
              <a:t>		,</a:t>
            </a:r>
            <a:r>
              <a:rPr lang="ru-RU" sz="1400" b="1" dirty="0" err="1">
                <a:latin typeface="Courier New" pitchFamily="49" charset="0"/>
              </a:rPr>
              <a:t>m_size</a:t>
            </a:r>
            <a:r>
              <a:rPr lang="ru-RU" sz="1400" b="1" dirty="0">
                <a:latin typeface="Courier New" pitchFamily="49" charset="0"/>
              </a:rPr>
              <a:t>(</a:t>
            </a:r>
            <a:r>
              <a:rPr lang="ru-RU" sz="1400" b="1" dirty="0" err="1">
                <a:latin typeface="Courier New" pitchFamily="49" charset="0"/>
              </a:rPr>
              <a:t>arr.m_size</a:t>
            </a:r>
            <a:r>
              <a:rPr lang="ru-RU" sz="1400" b="1" dirty="0">
                <a:latin typeface="Courier New" pitchFamily="49" charset="0"/>
              </a:rPr>
              <a:t>)</a:t>
            </a:r>
          </a:p>
          <a:p>
            <a:pPr>
              <a:tabLst>
                <a:tab pos="446088" algn="l"/>
              </a:tabLst>
            </a:pPr>
            <a:r>
              <a:rPr lang="ru-RU" sz="1400" b="1" dirty="0">
                <a:latin typeface="Courier New" pitchFamily="49" charset="0"/>
              </a:rPr>
              <a:t>	{</a:t>
            </a:r>
          </a:p>
          <a:p>
            <a:pPr>
              <a:tabLst>
                <a:tab pos="446088" algn="l"/>
              </a:tabLst>
            </a:pPr>
            <a:r>
              <a:rPr lang="ru-RU" sz="1400" b="1" dirty="0">
                <a:latin typeface="Courier New" pitchFamily="49" charset="0"/>
              </a:rPr>
              <a:t>	</a:t>
            </a:r>
            <a:r>
              <a:rPr lang="en-US" sz="1400" b="1" dirty="0">
                <a:latin typeface="Courier New" pitchFamily="49" charset="0"/>
              </a:rPr>
              <a:t>  </a:t>
            </a:r>
            <a:r>
              <a:rPr lang="ru-RU" sz="1400" b="1" dirty="0" err="1">
                <a:latin typeface="Courier New" pitchFamily="49" charset="0"/>
              </a:rPr>
              <a:t>if</a:t>
            </a:r>
            <a:r>
              <a:rPr lang="ru-RU" sz="1400" b="1" dirty="0">
                <a:latin typeface="Courier New" pitchFamily="49" charset="0"/>
              </a:rPr>
              <a:t> (</a:t>
            </a:r>
            <a:r>
              <a:rPr lang="ru-RU" sz="1400" b="1" dirty="0" err="1">
                <a:latin typeface="Courier New" pitchFamily="49" charset="0"/>
              </a:rPr>
              <a:t>m_size</a:t>
            </a:r>
            <a:r>
              <a:rPr lang="ru-RU" sz="1400" b="1" dirty="0">
                <a:latin typeface="Courier New" pitchFamily="49" charset="0"/>
              </a:rPr>
              <a:t> != 0)</a:t>
            </a:r>
          </a:p>
          <a:p>
            <a:pPr>
              <a:tabLst>
                <a:tab pos="446088" algn="l"/>
              </a:tabLst>
            </a:pPr>
            <a:r>
              <a:rPr lang="ru-RU" sz="1400" b="1" dirty="0">
                <a:latin typeface="Courier New" pitchFamily="49" charset="0"/>
              </a:rPr>
              <a:t>		</a:t>
            </a:r>
            <a:r>
              <a:rPr lang="en-US" sz="1400" b="1" dirty="0">
                <a:latin typeface="Courier New" pitchFamily="49" charset="0"/>
              </a:rPr>
              <a:t>  </a:t>
            </a:r>
            <a:r>
              <a:rPr lang="ru-RU" sz="1400" b="1" dirty="0">
                <a:latin typeface="Courier New" pitchFamily="49" charset="0"/>
              </a:rPr>
              <a:t>{</a:t>
            </a:r>
          </a:p>
          <a:p>
            <a:pPr>
              <a:tabLst>
                <a:tab pos="446088" algn="l"/>
              </a:tabLst>
            </a:pPr>
            <a:r>
              <a:rPr lang="ru-RU" sz="1400" b="1" dirty="0">
                <a:latin typeface="Courier New" pitchFamily="49" charset="0"/>
              </a:rPr>
              <a:t>			</a:t>
            </a:r>
            <a:r>
              <a:rPr lang="ru-RU" sz="1400" b="1" dirty="0" err="1">
                <a:latin typeface="Courier New" pitchFamily="49" charset="0"/>
              </a:rPr>
              <a:t>memcpy</a:t>
            </a:r>
            <a:r>
              <a:rPr lang="ru-RU" sz="1400" b="1" dirty="0">
                <a:latin typeface="Courier New" pitchFamily="49" charset="0"/>
              </a:rPr>
              <a:t>(</a:t>
            </a:r>
            <a:r>
              <a:rPr lang="ru-RU" sz="1400" b="1" dirty="0" err="1">
                <a:latin typeface="Courier New" pitchFamily="49" charset="0"/>
              </a:rPr>
              <a:t>m_pData</a:t>
            </a:r>
            <a:r>
              <a:rPr lang="ru-RU" sz="1400" b="1" dirty="0">
                <a:latin typeface="Courier New" pitchFamily="49" charset="0"/>
              </a:rPr>
              <a:t>, </a:t>
            </a:r>
            <a:r>
              <a:rPr lang="ru-RU" sz="1400" b="1" dirty="0" err="1">
                <a:latin typeface="Courier New" pitchFamily="49" charset="0"/>
              </a:rPr>
              <a:t>arr.m_pData</a:t>
            </a:r>
            <a:r>
              <a:rPr lang="ru-RU" sz="1400" b="1" dirty="0">
                <a:latin typeface="Courier New" pitchFamily="49" charset="0"/>
              </a:rPr>
              <a:t>, </a:t>
            </a:r>
            <a:r>
              <a:rPr lang="ru-RU" sz="1400" b="1" dirty="0" err="1">
                <a:latin typeface="Courier New" pitchFamily="49" charset="0"/>
              </a:rPr>
              <a:t>sizeof</a:t>
            </a:r>
            <a:r>
              <a:rPr lang="ru-RU" sz="1400" b="1" dirty="0">
                <a:latin typeface="Courier New" pitchFamily="49" charset="0"/>
              </a:rPr>
              <a:t>(int) * </a:t>
            </a:r>
            <a:r>
              <a:rPr lang="ru-RU" sz="1400" b="1" dirty="0" err="1">
                <a:latin typeface="Courier New" pitchFamily="49" charset="0"/>
              </a:rPr>
              <a:t>m_size</a:t>
            </a:r>
            <a:r>
              <a:rPr lang="ru-RU" sz="1400" b="1" dirty="0">
                <a:latin typeface="Courier New" pitchFamily="49" charset="0"/>
              </a:rPr>
              <a:t>);</a:t>
            </a:r>
          </a:p>
          <a:p>
            <a:pPr>
              <a:tabLst>
                <a:tab pos="446088" algn="l"/>
              </a:tabLst>
            </a:pPr>
            <a:r>
              <a:rPr lang="ru-RU" sz="1400" b="1" dirty="0">
                <a:latin typeface="Courier New" pitchFamily="49" charset="0"/>
              </a:rPr>
              <a:t>		</a:t>
            </a:r>
            <a:r>
              <a:rPr lang="en-US" sz="1400" b="1" dirty="0">
                <a:latin typeface="Courier New" pitchFamily="49" charset="0"/>
              </a:rPr>
              <a:t>  </a:t>
            </a:r>
            <a:r>
              <a:rPr lang="ru-RU" sz="1400" b="1" dirty="0">
                <a:latin typeface="Courier New" pitchFamily="49" charset="0"/>
              </a:rPr>
              <a:t>}</a:t>
            </a:r>
          </a:p>
          <a:p>
            <a:pPr>
              <a:tabLst>
                <a:tab pos="446088" algn="l"/>
              </a:tabLst>
            </a:pPr>
            <a:r>
              <a:rPr lang="ru-RU" sz="1400" b="1" dirty="0">
                <a:latin typeface="Courier New" pitchFamily="49" charset="0"/>
              </a:rPr>
              <a:t>	}</a:t>
            </a:r>
            <a:endParaRPr lang="en-US" sz="1400" b="1" dirty="0">
              <a:latin typeface="Courier New" pitchFamily="49" charset="0"/>
            </a:endParaRPr>
          </a:p>
          <a:p>
            <a:pPr>
              <a:tabLst>
                <a:tab pos="446088" algn="l"/>
              </a:tabLst>
            </a:pPr>
            <a:r>
              <a:rPr lang="en-US" sz="1400" b="1" dirty="0">
                <a:latin typeface="Courier New" pitchFamily="49" charset="0"/>
              </a:rPr>
              <a:t>	</a:t>
            </a:r>
            <a:r>
              <a:rPr lang="en-US" sz="1400" b="1" dirty="0">
                <a:latin typeface="Courier New" pitchFamily="49" charset="0"/>
                <a:cs typeface="Courier New" pitchFamily="49" charset="0"/>
              </a:rPr>
              <a:t>~</a:t>
            </a:r>
            <a:r>
              <a:rPr lang="en-US" sz="1400" b="1" dirty="0" err="1">
                <a:latin typeface="Courier New" pitchFamily="49" charset="0"/>
                <a:cs typeface="Courier New" pitchFamily="49" charset="0"/>
              </a:rPr>
              <a:t>IntArray</a:t>
            </a:r>
            <a:r>
              <a:rPr lang="en-US" sz="1400" b="1" dirty="0">
                <a:latin typeface="Courier New" pitchFamily="49" charset="0"/>
                <a:cs typeface="Courier New" pitchFamily="49" charset="0"/>
              </a:rPr>
              <a:t>(){delete [] </a:t>
            </a:r>
            <a:r>
              <a:rPr lang="en-US" sz="1400" b="1" dirty="0" err="1">
                <a:latin typeface="Courier New" pitchFamily="49" charset="0"/>
                <a:cs typeface="Courier New" pitchFamily="49" charset="0"/>
              </a:rPr>
              <a:t>m_pData</a:t>
            </a:r>
            <a:r>
              <a:rPr lang="en-US" sz="1400" b="1" dirty="0">
                <a:latin typeface="Courier New" pitchFamily="49" charset="0"/>
                <a:cs typeface="Courier New" pitchFamily="49" charset="0"/>
              </a:rPr>
              <a:t>;}</a:t>
            </a:r>
            <a:endParaRPr lang="ru-RU" sz="1400" b="1" dirty="0">
              <a:latin typeface="Courier New" pitchFamily="49" charset="0"/>
            </a:endParaRPr>
          </a:p>
          <a:p>
            <a:pPr>
              <a:tabLst>
                <a:tab pos="446088" algn="l"/>
              </a:tabLst>
            </a:pPr>
            <a:endParaRPr lang="ru-RU" sz="1400" b="1" dirty="0">
              <a:latin typeface="Courier New" pitchFamily="49" charset="0"/>
            </a:endParaRPr>
          </a:p>
          <a:p>
            <a:pPr>
              <a:tabLst>
                <a:tab pos="446088" algn="l"/>
              </a:tabLst>
            </a:pPr>
            <a:r>
              <a:rPr lang="ru-RU" sz="1400" b="1" dirty="0" err="1">
                <a:latin typeface="Courier New" pitchFamily="49" charset="0"/>
              </a:rPr>
              <a:t>private</a:t>
            </a:r>
            <a:r>
              <a:rPr lang="ru-RU" sz="1400" b="1" dirty="0">
                <a:latin typeface="Courier New" pitchFamily="49" charset="0"/>
              </a:rPr>
              <a:t>:</a:t>
            </a:r>
          </a:p>
          <a:p>
            <a:pPr>
              <a:tabLst>
                <a:tab pos="446088" algn="l"/>
              </a:tabLst>
            </a:pPr>
            <a:r>
              <a:rPr lang="ru-RU" sz="1400" b="1" dirty="0">
                <a:latin typeface="Courier New" pitchFamily="49" charset="0"/>
              </a:rPr>
              <a:t>	int * </a:t>
            </a:r>
            <a:r>
              <a:rPr lang="ru-RU" sz="1400" b="1" dirty="0" err="1">
                <a:latin typeface="Courier New" pitchFamily="49" charset="0"/>
              </a:rPr>
              <a:t>m_pData</a:t>
            </a:r>
            <a:r>
              <a:rPr lang="ru-RU" sz="1400" b="1" dirty="0">
                <a:latin typeface="Courier New" pitchFamily="49" charset="0"/>
              </a:rPr>
              <a:t>;</a:t>
            </a:r>
          </a:p>
          <a:p>
            <a:pPr>
              <a:tabLst>
                <a:tab pos="446088" algn="l"/>
              </a:tabLst>
            </a:pPr>
            <a:r>
              <a:rPr lang="ru-RU" sz="1400" b="1" dirty="0">
                <a:latin typeface="Courier New" pitchFamily="49" charset="0"/>
              </a:rPr>
              <a:t>	int	</a:t>
            </a:r>
            <a:r>
              <a:rPr lang="ru-RU" sz="1400" b="1" dirty="0" err="1">
                <a:latin typeface="Courier New" pitchFamily="49" charset="0"/>
              </a:rPr>
              <a:t>m_size</a:t>
            </a:r>
            <a:r>
              <a:rPr lang="ru-RU" sz="1400" b="1" dirty="0">
                <a:latin typeface="Courier New" pitchFamily="49" charset="0"/>
              </a:rPr>
              <a:t>;</a:t>
            </a:r>
          </a:p>
          <a:p>
            <a:pPr>
              <a:tabLst>
                <a:tab pos="446088" algn="l"/>
              </a:tabLst>
            </a:pPr>
            <a:r>
              <a:rPr lang="ru-RU" sz="1400" b="1" dirty="0">
                <a:latin typeface="Courier New" pitchFamily="49" charset="0"/>
              </a:rPr>
              <a:t>};</a:t>
            </a:r>
          </a:p>
        </p:txBody>
      </p:sp>
    </p:spTree>
    <p:custDataLst>
      <p:tags r:id="rId1"/>
    </p:custData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77C7A89-7415-4BDA-A87E-4393C0BB6C2A}"/>
              </a:ext>
            </a:extLst>
          </p:cNvPr>
          <p:cNvSpPr txBox="1"/>
          <p:nvPr/>
        </p:nvSpPr>
        <p:spPr>
          <a:xfrm>
            <a:off x="0" y="-1"/>
            <a:ext cx="9156340" cy="61863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String {</a:t>
            </a: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String()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String(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char*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text);</a:t>
            </a:r>
          </a:p>
          <a:p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String(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String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other)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: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m_size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other.m_size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,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m_capacity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other.m_size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,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m_chars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 Allocate(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m_capacity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uninitialized_copy_n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other.m_chars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m_size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m_chars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~String();</a:t>
            </a: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char*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Allocate(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size);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Deallocate(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char*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buffer)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inline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s_emptyString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= {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'\0'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};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m_size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m_capacity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m_chars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  <p:grpSp>
        <p:nvGrpSpPr>
          <p:cNvPr id="48" name="Группа 47">
            <a:extLst>
              <a:ext uri="{FF2B5EF4-FFF2-40B4-BE49-F238E27FC236}">
                <a16:creationId xmlns:a16="http://schemas.microsoft.com/office/drawing/2014/main" id="{237F44B4-6AF7-4DCD-95BC-81FE18E763F4}"/>
              </a:ext>
            </a:extLst>
          </p:cNvPr>
          <p:cNvGrpSpPr/>
          <p:nvPr/>
        </p:nvGrpSpPr>
        <p:grpSpPr>
          <a:xfrm>
            <a:off x="7392144" y="3429868"/>
            <a:ext cx="3924436" cy="3137024"/>
            <a:chOff x="7392144" y="3429868"/>
            <a:chExt cx="3924436" cy="3137024"/>
          </a:xfrm>
        </p:grpSpPr>
        <p:sp>
          <p:nvSpPr>
            <p:cNvPr id="7" name="Прямоугольник 6">
              <a:extLst>
                <a:ext uri="{FF2B5EF4-FFF2-40B4-BE49-F238E27FC236}">
                  <a16:creationId xmlns:a16="http://schemas.microsoft.com/office/drawing/2014/main" id="{0E4355BE-3DA5-48D7-95CB-04E4C14B2710}"/>
                </a:ext>
              </a:extLst>
            </p:cNvPr>
            <p:cNvSpPr/>
            <p:nvPr/>
          </p:nvSpPr>
          <p:spPr>
            <a:xfrm>
              <a:off x="7860196" y="3429868"/>
              <a:ext cx="432048" cy="432048"/>
            </a:xfrm>
            <a:prstGeom prst="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T</a:t>
              </a:r>
              <a:endParaRPr lang="ru-RU" dirty="0"/>
            </a:p>
          </p:txBody>
        </p:sp>
        <p:sp>
          <p:nvSpPr>
            <p:cNvPr id="8" name="Прямоугольник 7">
              <a:extLst>
                <a:ext uri="{FF2B5EF4-FFF2-40B4-BE49-F238E27FC236}">
                  <a16:creationId xmlns:a16="http://schemas.microsoft.com/office/drawing/2014/main" id="{4E7E2A18-094C-4CD4-8C93-E6A17F9BA604}"/>
                </a:ext>
              </a:extLst>
            </p:cNvPr>
            <p:cNvSpPr/>
            <p:nvPr/>
          </p:nvSpPr>
          <p:spPr>
            <a:xfrm>
              <a:off x="8292244" y="3429868"/>
              <a:ext cx="432048" cy="432048"/>
            </a:xfrm>
            <a:prstGeom prst="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E</a:t>
              </a:r>
              <a:endParaRPr lang="ru-RU" dirty="0"/>
            </a:p>
          </p:txBody>
        </p:sp>
        <p:sp>
          <p:nvSpPr>
            <p:cNvPr id="9" name="Прямоугольник 8">
              <a:extLst>
                <a:ext uri="{FF2B5EF4-FFF2-40B4-BE49-F238E27FC236}">
                  <a16:creationId xmlns:a16="http://schemas.microsoft.com/office/drawing/2014/main" id="{321D90A5-032B-4A3F-B77F-5A6B48893F5F}"/>
                </a:ext>
              </a:extLst>
            </p:cNvPr>
            <p:cNvSpPr/>
            <p:nvPr/>
          </p:nvSpPr>
          <p:spPr>
            <a:xfrm>
              <a:off x="8724292" y="3429868"/>
              <a:ext cx="432048" cy="432048"/>
            </a:xfrm>
            <a:prstGeom prst="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X</a:t>
              </a:r>
              <a:endParaRPr lang="ru-RU" dirty="0"/>
            </a:p>
          </p:txBody>
        </p:sp>
        <p:sp>
          <p:nvSpPr>
            <p:cNvPr id="10" name="Прямоугольник 9">
              <a:extLst>
                <a:ext uri="{FF2B5EF4-FFF2-40B4-BE49-F238E27FC236}">
                  <a16:creationId xmlns:a16="http://schemas.microsoft.com/office/drawing/2014/main" id="{3AF9C722-5B5F-46F5-988B-D1EDD892DBA1}"/>
                </a:ext>
              </a:extLst>
            </p:cNvPr>
            <p:cNvSpPr/>
            <p:nvPr/>
          </p:nvSpPr>
          <p:spPr>
            <a:xfrm>
              <a:off x="9156340" y="3429868"/>
              <a:ext cx="432048" cy="432048"/>
            </a:xfrm>
            <a:prstGeom prst="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T</a:t>
              </a:r>
              <a:endParaRPr lang="ru-RU" dirty="0"/>
            </a:p>
          </p:txBody>
        </p:sp>
        <p:sp>
          <p:nvSpPr>
            <p:cNvPr id="11" name="Прямоугольник 10">
              <a:extLst>
                <a:ext uri="{FF2B5EF4-FFF2-40B4-BE49-F238E27FC236}">
                  <a16:creationId xmlns:a16="http://schemas.microsoft.com/office/drawing/2014/main" id="{B9E1CEA9-6502-4D29-BCF5-18291E99066B}"/>
                </a:ext>
              </a:extLst>
            </p:cNvPr>
            <p:cNvSpPr/>
            <p:nvPr/>
          </p:nvSpPr>
          <p:spPr>
            <a:xfrm>
              <a:off x="9588388" y="3429868"/>
              <a:ext cx="432048" cy="432048"/>
            </a:xfrm>
            <a:prstGeom prst="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\0</a:t>
              </a:r>
              <a:endParaRPr lang="ru-RU" dirty="0"/>
            </a:p>
          </p:txBody>
        </p:sp>
        <p:sp>
          <p:nvSpPr>
            <p:cNvPr id="13" name="Прямоугольник 12">
              <a:extLst>
                <a:ext uri="{FF2B5EF4-FFF2-40B4-BE49-F238E27FC236}">
                  <a16:creationId xmlns:a16="http://schemas.microsoft.com/office/drawing/2014/main" id="{937062F0-CD74-49D2-9A10-A5FF381FCAA1}"/>
                </a:ext>
              </a:extLst>
            </p:cNvPr>
            <p:cNvSpPr/>
            <p:nvPr/>
          </p:nvSpPr>
          <p:spPr>
            <a:xfrm>
              <a:off x="7392144" y="6134844"/>
              <a:ext cx="1512168" cy="43204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/>
                <a:t>m_chars</a:t>
              </a:r>
              <a:endParaRPr lang="ru-RU" dirty="0"/>
            </a:p>
          </p:txBody>
        </p:sp>
        <p:sp>
          <p:nvSpPr>
            <p:cNvPr id="15" name="Прямоугольник 14">
              <a:extLst>
                <a:ext uri="{FF2B5EF4-FFF2-40B4-BE49-F238E27FC236}">
                  <a16:creationId xmlns:a16="http://schemas.microsoft.com/office/drawing/2014/main" id="{B983EDE4-7C54-47F5-A3D8-E37B6132FEE4}"/>
                </a:ext>
              </a:extLst>
            </p:cNvPr>
            <p:cNvSpPr/>
            <p:nvPr/>
          </p:nvSpPr>
          <p:spPr>
            <a:xfrm>
              <a:off x="7392144" y="5702796"/>
              <a:ext cx="1512168" cy="43204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m_capacity:7</a:t>
              </a:r>
              <a:endParaRPr lang="ru-RU" dirty="0"/>
            </a:p>
          </p:txBody>
        </p:sp>
        <p:sp>
          <p:nvSpPr>
            <p:cNvPr id="16" name="Прямоугольник 15">
              <a:extLst>
                <a:ext uri="{FF2B5EF4-FFF2-40B4-BE49-F238E27FC236}">
                  <a16:creationId xmlns:a16="http://schemas.microsoft.com/office/drawing/2014/main" id="{034707C2-2D0A-4A68-A9A3-4E0CA2D87EDF}"/>
                </a:ext>
              </a:extLst>
            </p:cNvPr>
            <p:cNvSpPr/>
            <p:nvPr/>
          </p:nvSpPr>
          <p:spPr>
            <a:xfrm>
              <a:off x="7392144" y="5270748"/>
              <a:ext cx="1512168" cy="43204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m_size:4</a:t>
              </a:r>
              <a:endParaRPr lang="ru-RU" dirty="0"/>
            </a:p>
          </p:txBody>
        </p:sp>
        <p:cxnSp>
          <p:nvCxnSpPr>
            <p:cNvPr id="20" name="Соединитель: уступ 19">
              <a:extLst>
                <a:ext uri="{FF2B5EF4-FFF2-40B4-BE49-F238E27FC236}">
                  <a16:creationId xmlns:a16="http://schemas.microsoft.com/office/drawing/2014/main" id="{1802EDC2-EB69-48C8-9C97-35D24D354D49}"/>
                </a:ext>
              </a:extLst>
            </p:cNvPr>
            <p:cNvCxnSpPr>
              <a:stCxn id="13" idx="3"/>
              <a:endCxn id="7" idx="2"/>
            </p:cNvCxnSpPr>
            <p:nvPr/>
          </p:nvCxnSpPr>
          <p:spPr>
            <a:xfrm flipH="1" flipV="1">
              <a:off x="8076220" y="3861916"/>
              <a:ext cx="828092" cy="2488952"/>
            </a:xfrm>
            <a:prstGeom prst="bentConnector4">
              <a:avLst>
                <a:gd name="adj1" fmla="val -27606"/>
                <a:gd name="adj2" fmla="val 54340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Прямоугольник 24">
              <a:extLst>
                <a:ext uri="{FF2B5EF4-FFF2-40B4-BE49-F238E27FC236}">
                  <a16:creationId xmlns:a16="http://schemas.microsoft.com/office/drawing/2014/main" id="{14029C99-C96B-4F92-9568-281424106D0A}"/>
                </a:ext>
              </a:extLst>
            </p:cNvPr>
            <p:cNvSpPr/>
            <p:nvPr/>
          </p:nvSpPr>
          <p:spPr>
            <a:xfrm>
              <a:off x="10020436" y="3429868"/>
              <a:ext cx="432048" cy="432048"/>
            </a:xfrm>
            <a:prstGeom prst="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?</a:t>
              </a:r>
              <a:endParaRPr lang="ru-RU" dirty="0"/>
            </a:p>
          </p:txBody>
        </p:sp>
        <p:sp>
          <p:nvSpPr>
            <p:cNvPr id="26" name="Прямоугольник 25">
              <a:extLst>
                <a:ext uri="{FF2B5EF4-FFF2-40B4-BE49-F238E27FC236}">
                  <a16:creationId xmlns:a16="http://schemas.microsoft.com/office/drawing/2014/main" id="{78F22C12-88F3-4104-956C-F8163EE6036D}"/>
                </a:ext>
              </a:extLst>
            </p:cNvPr>
            <p:cNvSpPr/>
            <p:nvPr/>
          </p:nvSpPr>
          <p:spPr>
            <a:xfrm>
              <a:off x="10452484" y="3429868"/>
              <a:ext cx="432048" cy="432048"/>
            </a:xfrm>
            <a:prstGeom prst="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?</a:t>
              </a:r>
              <a:endParaRPr lang="ru-RU" dirty="0"/>
            </a:p>
          </p:txBody>
        </p:sp>
        <p:sp>
          <p:nvSpPr>
            <p:cNvPr id="27" name="Прямоугольник 26">
              <a:extLst>
                <a:ext uri="{FF2B5EF4-FFF2-40B4-BE49-F238E27FC236}">
                  <a16:creationId xmlns:a16="http://schemas.microsoft.com/office/drawing/2014/main" id="{9C581B60-3515-4267-A70A-8B2D7E246436}"/>
                </a:ext>
              </a:extLst>
            </p:cNvPr>
            <p:cNvSpPr/>
            <p:nvPr/>
          </p:nvSpPr>
          <p:spPr>
            <a:xfrm>
              <a:off x="10884532" y="3429868"/>
              <a:ext cx="432048" cy="432048"/>
            </a:xfrm>
            <a:prstGeom prst="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?</a:t>
              </a:r>
              <a:endParaRPr lang="ru-RU" dirty="0"/>
            </a:p>
          </p:txBody>
        </p:sp>
      </p:grpSp>
      <p:grpSp>
        <p:nvGrpSpPr>
          <p:cNvPr id="46" name="Группа 45">
            <a:extLst>
              <a:ext uri="{FF2B5EF4-FFF2-40B4-BE49-F238E27FC236}">
                <a16:creationId xmlns:a16="http://schemas.microsoft.com/office/drawing/2014/main" id="{AF001EB4-2CC1-4453-9E03-33A7CDDEB713}"/>
              </a:ext>
            </a:extLst>
          </p:cNvPr>
          <p:cNvGrpSpPr/>
          <p:nvPr/>
        </p:nvGrpSpPr>
        <p:grpSpPr>
          <a:xfrm>
            <a:off x="9114804" y="4134284"/>
            <a:ext cx="2160240" cy="2432608"/>
            <a:chOff x="9114804" y="4134284"/>
            <a:chExt cx="2160240" cy="2432608"/>
          </a:xfrm>
        </p:grpSpPr>
        <p:sp>
          <p:nvSpPr>
            <p:cNvPr id="22" name="Прямоугольник 21">
              <a:extLst>
                <a:ext uri="{FF2B5EF4-FFF2-40B4-BE49-F238E27FC236}">
                  <a16:creationId xmlns:a16="http://schemas.microsoft.com/office/drawing/2014/main" id="{8F75DB22-5D14-4125-A007-EEAE6AD4438C}"/>
                </a:ext>
              </a:extLst>
            </p:cNvPr>
            <p:cNvSpPr/>
            <p:nvPr/>
          </p:nvSpPr>
          <p:spPr>
            <a:xfrm>
              <a:off x="9588388" y="6134844"/>
              <a:ext cx="1512168" cy="43204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/>
                <a:t>m_chars</a:t>
              </a:r>
              <a:endParaRPr lang="ru-RU" dirty="0"/>
            </a:p>
          </p:txBody>
        </p:sp>
        <p:sp>
          <p:nvSpPr>
            <p:cNvPr id="23" name="Прямоугольник 22">
              <a:extLst>
                <a:ext uri="{FF2B5EF4-FFF2-40B4-BE49-F238E27FC236}">
                  <a16:creationId xmlns:a16="http://schemas.microsoft.com/office/drawing/2014/main" id="{0B911A00-6FA8-44F1-B0BB-B060C4748412}"/>
                </a:ext>
              </a:extLst>
            </p:cNvPr>
            <p:cNvSpPr/>
            <p:nvPr/>
          </p:nvSpPr>
          <p:spPr>
            <a:xfrm>
              <a:off x="9588388" y="5702796"/>
              <a:ext cx="1512168" cy="43204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m_capacity:4</a:t>
              </a:r>
              <a:endParaRPr lang="ru-RU" dirty="0"/>
            </a:p>
          </p:txBody>
        </p:sp>
        <p:sp>
          <p:nvSpPr>
            <p:cNvPr id="24" name="Прямоугольник 23">
              <a:extLst>
                <a:ext uri="{FF2B5EF4-FFF2-40B4-BE49-F238E27FC236}">
                  <a16:creationId xmlns:a16="http://schemas.microsoft.com/office/drawing/2014/main" id="{5FBE92BD-D2A3-4C1C-A360-A28752F63822}"/>
                </a:ext>
              </a:extLst>
            </p:cNvPr>
            <p:cNvSpPr/>
            <p:nvPr/>
          </p:nvSpPr>
          <p:spPr>
            <a:xfrm>
              <a:off x="9588388" y="5270748"/>
              <a:ext cx="1512168" cy="43204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m_size:4</a:t>
              </a:r>
              <a:endParaRPr lang="ru-RU" dirty="0"/>
            </a:p>
          </p:txBody>
        </p:sp>
        <p:sp>
          <p:nvSpPr>
            <p:cNvPr id="29" name="Прямоугольник 28">
              <a:extLst>
                <a:ext uri="{FF2B5EF4-FFF2-40B4-BE49-F238E27FC236}">
                  <a16:creationId xmlns:a16="http://schemas.microsoft.com/office/drawing/2014/main" id="{B9F93D66-ED09-42A7-A634-E9CEE04B92EA}"/>
                </a:ext>
              </a:extLst>
            </p:cNvPr>
            <p:cNvSpPr/>
            <p:nvPr/>
          </p:nvSpPr>
          <p:spPr>
            <a:xfrm>
              <a:off x="9114804" y="4134284"/>
              <a:ext cx="432048" cy="432048"/>
            </a:xfrm>
            <a:prstGeom prst="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?</a:t>
              </a:r>
              <a:endParaRPr lang="ru-RU" dirty="0"/>
            </a:p>
          </p:txBody>
        </p:sp>
        <p:sp>
          <p:nvSpPr>
            <p:cNvPr id="30" name="Прямоугольник 29">
              <a:extLst>
                <a:ext uri="{FF2B5EF4-FFF2-40B4-BE49-F238E27FC236}">
                  <a16:creationId xmlns:a16="http://schemas.microsoft.com/office/drawing/2014/main" id="{440F88A9-1EB9-45D7-B0C1-9FB88C6C3A9B}"/>
                </a:ext>
              </a:extLst>
            </p:cNvPr>
            <p:cNvSpPr/>
            <p:nvPr/>
          </p:nvSpPr>
          <p:spPr>
            <a:xfrm>
              <a:off x="9546852" y="4134284"/>
              <a:ext cx="432048" cy="432048"/>
            </a:xfrm>
            <a:prstGeom prst="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?</a:t>
              </a:r>
              <a:endParaRPr lang="ru-RU" dirty="0"/>
            </a:p>
          </p:txBody>
        </p:sp>
        <p:sp>
          <p:nvSpPr>
            <p:cNvPr id="31" name="Прямоугольник 30">
              <a:extLst>
                <a:ext uri="{FF2B5EF4-FFF2-40B4-BE49-F238E27FC236}">
                  <a16:creationId xmlns:a16="http://schemas.microsoft.com/office/drawing/2014/main" id="{1A0208A0-F5C8-4C37-B811-2DCD530721E5}"/>
                </a:ext>
              </a:extLst>
            </p:cNvPr>
            <p:cNvSpPr/>
            <p:nvPr/>
          </p:nvSpPr>
          <p:spPr>
            <a:xfrm>
              <a:off x="9978900" y="4134284"/>
              <a:ext cx="432048" cy="432048"/>
            </a:xfrm>
            <a:prstGeom prst="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?</a:t>
              </a:r>
              <a:endParaRPr lang="ru-RU" dirty="0"/>
            </a:p>
          </p:txBody>
        </p:sp>
        <p:sp>
          <p:nvSpPr>
            <p:cNvPr id="32" name="Прямоугольник 31">
              <a:extLst>
                <a:ext uri="{FF2B5EF4-FFF2-40B4-BE49-F238E27FC236}">
                  <a16:creationId xmlns:a16="http://schemas.microsoft.com/office/drawing/2014/main" id="{7FCD76E8-7C35-49F1-93B5-CA3DCDC523C4}"/>
                </a:ext>
              </a:extLst>
            </p:cNvPr>
            <p:cNvSpPr/>
            <p:nvPr/>
          </p:nvSpPr>
          <p:spPr>
            <a:xfrm>
              <a:off x="10410948" y="4134284"/>
              <a:ext cx="432048" cy="432048"/>
            </a:xfrm>
            <a:prstGeom prst="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?</a:t>
              </a:r>
              <a:endParaRPr lang="ru-RU" dirty="0"/>
            </a:p>
          </p:txBody>
        </p:sp>
        <p:sp>
          <p:nvSpPr>
            <p:cNvPr id="33" name="Прямоугольник 32">
              <a:extLst>
                <a:ext uri="{FF2B5EF4-FFF2-40B4-BE49-F238E27FC236}">
                  <a16:creationId xmlns:a16="http://schemas.microsoft.com/office/drawing/2014/main" id="{DFEB4E39-758A-4EA3-8DCF-06A60019B98A}"/>
                </a:ext>
              </a:extLst>
            </p:cNvPr>
            <p:cNvSpPr/>
            <p:nvPr/>
          </p:nvSpPr>
          <p:spPr>
            <a:xfrm>
              <a:off x="10842996" y="4134284"/>
              <a:ext cx="432048" cy="432048"/>
            </a:xfrm>
            <a:prstGeom prst="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?</a:t>
              </a:r>
              <a:endParaRPr lang="ru-RU" dirty="0"/>
            </a:p>
          </p:txBody>
        </p:sp>
        <p:cxnSp>
          <p:nvCxnSpPr>
            <p:cNvPr id="37" name="Соединитель: уступ 36">
              <a:extLst>
                <a:ext uri="{FF2B5EF4-FFF2-40B4-BE49-F238E27FC236}">
                  <a16:creationId xmlns:a16="http://schemas.microsoft.com/office/drawing/2014/main" id="{EB949936-9BA8-4BD3-8671-A8B06CB46D6C}"/>
                </a:ext>
              </a:extLst>
            </p:cNvPr>
            <p:cNvCxnSpPr>
              <a:cxnSpLocks/>
              <a:stCxn id="22" idx="3"/>
              <a:endCxn id="29" idx="2"/>
            </p:cNvCxnSpPr>
            <p:nvPr/>
          </p:nvCxnSpPr>
          <p:spPr>
            <a:xfrm flipH="1" flipV="1">
              <a:off x="9330828" y="4566332"/>
              <a:ext cx="1769728" cy="1784536"/>
            </a:xfrm>
            <a:prstGeom prst="bentConnector4">
              <a:avLst>
                <a:gd name="adj1" fmla="val -12917"/>
                <a:gd name="adj2" fmla="val 74556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7" name="Группа 46">
            <a:extLst>
              <a:ext uri="{FF2B5EF4-FFF2-40B4-BE49-F238E27FC236}">
                <a16:creationId xmlns:a16="http://schemas.microsoft.com/office/drawing/2014/main" id="{9D1D135D-F4FF-47BE-9833-6A1D90BB15E5}"/>
              </a:ext>
            </a:extLst>
          </p:cNvPr>
          <p:cNvGrpSpPr/>
          <p:nvPr/>
        </p:nvGrpSpPr>
        <p:grpSpPr>
          <a:xfrm>
            <a:off x="9114804" y="4134284"/>
            <a:ext cx="2160240" cy="432048"/>
            <a:chOff x="12288688" y="4144460"/>
            <a:chExt cx="2160240" cy="432048"/>
          </a:xfrm>
        </p:grpSpPr>
        <p:sp>
          <p:nvSpPr>
            <p:cNvPr id="41" name="Прямоугольник 40">
              <a:extLst>
                <a:ext uri="{FF2B5EF4-FFF2-40B4-BE49-F238E27FC236}">
                  <a16:creationId xmlns:a16="http://schemas.microsoft.com/office/drawing/2014/main" id="{56C95ADD-571B-41F9-9A55-AD92E234C46A}"/>
                </a:ext>
              </a:extLst>
            </p:cNvPr>
            <p:cNvSpPr/>
            <p:nvPr/>
          </p:nvSpPr>
          <p:spPr>
            <a:xfrm>
              <a:off x="12288688" y="4144460"/>
              <a:ext cx="432048" cy="432048"/>
            </a:xfrm>
            <a:prstGeom prst="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T</a:t>
              </a:r>
              <a:endParaRPr lang="ru-RU" dirty="0"/>
            </a:p>
          </p:txBody>
        </p:sp>
        <p:sp>
          <p:nvSpPr>
            <p:cNvPr id="42" name="Прямоугольник 41">
              <a:extLst>
                <a:ext uri="{FF2B5EF4-FFF2-40B4-BE49-F238E27FC236}">
                  <a16:creationId xmlns:a16="http://schemas.microsoft.com/office/drawing/2014/main" id="{F6304DC4-ED30-459A-98DF-2C834017899D}"/>
                </a:ext>
              </a:extLst>
            </p:cNvPr>
            <p:cNvSpPr/>
            <p:nvPr/>
          </p:nvSpPr>
          <p:spPr>
            <a:xfrm>
              <a:off x="12720736" y="4144460"/>
              <a:ext cx="432048" cy="432048"/>
            </a:xfrm>
            <a:prstGeom prst="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E</a:t>
              </a:r>
              <a:endParaRPr lang="ru-RU" dirty="0"/>
            </a:p>
          </p:txBody>
        </p:sp>
        <p:sp>
          <p:nvSpPr>
            <p:cNvPr id="43" name="Прямоугольник 42">
              <a:extLst>
                <a:ext uri="{FF2B5EF4-FFF2-40B4-BE49-F238E27FC236}">
                  <a16:creationId xmlns:a16="http://schemas.microsoft.com/office/drawing/2014/main" id="{1BBF4F04-F8CB-4C03-A9A0-E72459A7D711}"/>
                </a:ext>
              </a:extLst>
            </p:cNvPr>
            <p:cNvSpPr/>
            <p:nvPr/>
          </p:nvSpPr>
          <p:spPr>
            <a:xfrm>
              <a:off x="13152784" y="4144460"/>
              <a:ext cx="432048" cy="432048"/>
            </a:xfrm>
            <a:prstGeom prst="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X</a:t>
              </a:r>
              <a:endParaRPr lang="ru-RU" dirty="0"/>
            </a:p>
          </p:txBody>
        </p:sp>
        <p:sp>
          <p:nvSpPr>
            <p:cNvPr id="44" name="Прямоугольник 43">
              <a:extLst>
                <a:ext uri="{FF2B5EF4-FFF2-40B4-BE49-F238E27FC236}">
                  <a16:creationId xmlns:a16="http://schemas.microsoft.com/office/drawing/2014/main" id="{A225F88F-8718-4AC3-9739-E969905A330C}"/>
                </a:ext>
              </a:extLst>
            </p:cNvPr>
            <p:cNvSpPr/>
            <p:nvPr/>
          </p:nvSpPr>
          <p:spPr>
            <a:xfrm>
              <a:off x="13584832" y="4144460"/>
              <a:ext cx="432048" cy="432048"/>
            </a:xfrm>
            <a:prstGeom prst="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T</a:t>
              </a:r>
              <a:endParaRPr lang="ru-RU" dirty="0"/>
            </a:p>
          </p:txBody>
        </p:sp>
        <p:sp>
          <p:nvSpPr>
            <p:cNvPr id="45" name="Прямоугольник 44">
              <a:extLst>
                <a:ext uri="{FF2B5EF4-FFF2-40B4-BE49-F238E27FC236}">
                  <a16:creationId xmlns:a16="http://schemas.microsoft.com/office/drawing/2014/main" id="{CFE50153-62A0-4CEB-9AE4-9CDEC5025BF6}"/>
                </a:ext>
              </a:extLst>
            </p:cNvPr>
            <p:cNvSpPr/>
            <p:nvPr/>
          </p:nvSpPr>
          <p:spPr>
            <a:xfrm>
              <a:off x="14016880" y="4144460"/>
              <a:ext cx="432048" cy="432048"/>
            </a:xfrm>
            <a:prstGeom prst="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\0</a:t>
              </a:r>
              <a:endParaRPr lang="ru-RU" dirty="0"/>
            </a:p>
          </p:txBody>
        </p:sp>
      </p:grpSp>
    </p:spTree>
    <p:extLst>
      <p:ext uri="{BB962C8B-B14F-4D97-AF65-F5344CB8AC3E}">
        <p14:creationId xmlns:p14="http://schemas.microsoft.com/office/powerpoint/2010/main" val="16795342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ru-RU"/>
              <a:t>Запрещение копирования объектов</a:t>
            </a:r>
          </a:p>
        </p:txBody>
      </p:sp>
      <p:sp>
        <p:nvSpPr>
          <p:cNvPr id="52227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80000"/>
              </a:lnSpc>
            </a:pPr>
            <a:r>
              <a:rPr lang="ru-RU" sz="2800" dirty="0"/>
              <a:t>Возможны ситуации, когда операция копирования объекта не имеет смысла и должна быть запрещена</a:t>
            </a:r>
          </a:p>
          <a:p>
            <a:pPr lvl="1">
              <a:lnSpc>
                <a:spcPct val="80000"/>
              </a:lnSpc>
            </a:pPr>
            <a:r>
              <a:rPr lang="ru-RU" sz="2300" dirty="0"/>
              <a:t>Класс, инкапсулирующий сетевое соединение</a:t>
            </a:r>
          </a:p>
          <a:p>
            <a:pPr lvl="1">
              <a:lnSpc>
                <a:spcPct val="80000"/>
              </a:lnSpc>
            </a:pPr>
            <a:r>
              <a:rPr lang="ru-RU" sz="2300" dirty="0"/>
              <a:t>Класс, инкапсулирующий работу с файлом</a:t>
            </a:r>
          </a:p>
          <a:p>
            <a:pPr lvl="1">
              <a:lnSpc>
                <a:spcPct val="80000"/>
              </a:lnSpc>
            </a:pPr>
            <a:r>
              <a:rPr lang="ru-RU" sz="2300" dirty="0"/>
              <a:t>Объект должен существовать в единственном экземпляре внутри приложения, например, «клавиатура»</a:t>
            </a:r>
          </a:p>
          <a:p>
            <a:pPr>
              <a:lnSpc>
                <a:spcPct val="80000"/>
              </a:lnSpc>
            </a:pPr>
            <a:r>
              <a:rPr lang="ru-RU" dirty="0"/>
              <a:t>Для запрещения копирования объекта, конструктор помечается = </a:t>
            </a:r>
            <a:r>
              <a:rPr lang="en-US" dirty="0"/>
              <a:t>delete</a:t>
            </a:r>
            <a:endParaRPr lang="ru-RU" dirty="0"/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C28E7928-B8A2-42F2-BD9F-3456E53A0ED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11624" y="4869160"/>
            <a:ext cx="7344816" cy="181588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defTabSz="539750"/>
            <a:r>
              <a:rPr lang="en-US" sz="1600" b="1" dirty="0">
                <a:latin typeface="Courier New" pitchFamily="49" charset="0"/>
              </a:rPr>
              <a:t>class </a:t>
            </a:r>
            <a:r>
              <a:rPr lang="en-US" sz="1600" b="1" dirty="0" err="1">
                <a:latin typeface="Courier New" pitchFamily="49" charset="0"/>
              </a:rPr>
              <a:t>NetworkConnection</a:t>
            </a:r>
            <a:endParaRPr lang="en-US" sz="1600" b="1" dirty="0">
              <a:latin typeface="Courier New" pitchFamily="49" charset="0"/>
            </a:endParaRPr>
          </a:p>
          <a:p>
            <a:pPr defTabSz="539750"/>
            <a:r>
              <a:rPr lang="en-US" sz="1600" b="1" dirty="0">
                <a:latin typeface="Courier New" pitchFamily="49" charset="0"/>
              </a:rPr>
              <a:t>{</a:t>
            </a:r>
          </a:p>
          <a:p>
            <a:pPr defTabSz="539750"/>
            <a:r>
              <a:rPr lang="en-US" sz="1600" b="1" dirty="0">
                <a:latin typeface="Courier New" pitchFamily="49" charset="0"/>
              </a:rPr>
              <a:t>public:</a:t>
            </a:r>
          </a:p>
          <a:p>
            <a:pPr defTabSz="539750"/>
            <a:r>
              <a:rPr lang="en-US" sz="1600" b="1" dirty="0">
                <a:latin typeface="Courier New" pitchFamily="49" charset="0"/>
              </a:rPr>
              <a:t>	// …</a:t>
            </a:r>
          </a:p>
          <a:p>
            <a:pPr defTabSz="539750"/>
            <a:r>
              <a:rPr lang="en-US" sz="1600" b="1" dirty="0">
                <a:latin typeface="Courier New" pitchFamily="49" charset="0"/>
              </a:rPr>
              <a:t>	</a:t>
            </a:r>
            <a:r>
              <a:rPr lang="en-US" sz="1600" b="1" dirty="0" err="1">
                <a:solidFill>
                  <a:srgbClr val="FF0000"/>
                </a:solidFill>
                <a:latin typeface="Courier New" pitchFamily="49" charset="0"/>
              </a:rPr>
              <a:t>NetworkConnection</a:t>
            </a:r>
            <a:r>
              <a:rPr lang="en-US" sz="1600" b="1" dirty="0">
                <a:solidFill>
                  <a:srgbClr val="FF0000"/>
                </a:solidFill>
                <a:latin typeface="Courier New" pitchFamily="49" charset="0"/>
              </a:rPr>
              <a:t>(const </a:t>
            </a:r>
            <a:r>
              <a:rPr lang="en-US" sz="1600" b="1" dirty="0" err="1">
                <a:solidFill>
                  <a:srgbClr val="FF0000"/>
                </a:solidFill>
                <a:latin typeface="Courier New" pitchFamily="49" charset="0"/>
              </a:rPr>
              <a:t>NetwordConnection</a:t>
            </a:r>
            <a:r>
              <a:rPr lang="en-US" sz="1600" b="1" dirty="0">
                <a:solidFill>
                  <a:srgbClr val="FF0000"/>
                </a:solidFill>
                <a:latin typeface="Courier New" pitchFamily="49" charset="0"/>
              </a:rPr>
              <a:t>&amp;) = delete;</a:t>
            </a:r>
          </a:p>
          <a:p>
            <a:pPr defTabSz="539750"/>
            <a:r>
              <a:rPr lang="en-US" sz="1600" b="1" dirty="0">
                <a:latin typeface="Courier New" pitchFamily="49" charset="0"/>
              </a:rPr>
              <a:t>	// …</a:t>
            </a:r>
          </a:p>
          <a:p>
            <a:pPr defTabSz="539750"/>
            <a:r>
              <a:rPr lang="en-US" sz="1600" b="1" dirty="0">
                <a:latin typeface="Courier New" pitchFamily="49" charset="0"/>
              </a:rPr>
              <a:t>};</a:t>
            </a:r>
            <a:endParaRPr lang="ru-RU" sz="1600" b="1" dirty="0">
              <a:latin typeface="Courier New" pitchFamily="49" charset="0"/>
            </a:endParaRPr>
          </a:p>
        </p:txBody>
      </p:sp>
    </p:spTree>
    <p:custDataLst>
      <p:tags r:id="rId1"/>
    </p:custData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22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2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222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2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222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2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222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2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222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2227" grpId="0" build="p"/>
      <p:bldP spid="4" grpId="0"/>
    </p:bld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54D3C13-77C4-4F94-AF9D-CFB5EDFB43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Делегирующий конструктор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6C3C5482-84C0-4734-B0AF-A75ED942FC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14733230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26974F6E-3DD1-4582-AC75-0DEF405156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Делегирующий конструктор</a:t>
            </a:r>
          </a:p>
        </p:txBody>
      </p:sp>
      <p:sp>
        <p:nvSpPr>
          <p:cNvPr id="5" name="Объект 4">
            <a:extLst>
              <a:ext uri="{FF2B5EF4-FFF2-40B4-BE49-F238E27FC236}">
                <a16:creationId xmlns:a16="http://schemas.microsoft.com/office/drawing/2014/main" id="{52C74851-AF28-4D7C-8118-13B3F76DD6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Это конструктор, который делегирует инициализацию полей другому  (</a:t>
            </a:r>
            <a:r>
              <a:rPr lang="ru-RU" b="1" dirty="0"/>
              <a:t>целевому</a:t>
            </a:r>
            <a:r>
              <a:rPr lang="ru-RU" dirty="0"/>
              <a:t>) конструктору этого же класса</a:t>
            </a:r>
          </a:p>
          <a:p>
            <a:r>
              <a:rPr lang="ru-RU" dirty="0"/>
              <a:t>В списке инициализации указано имя этого же класса</a:t>
            </a:r>
          </a:p>
          <a:p>
            <a:pPr lvl="1"/>
            <a:r>
              <a:rPr lang="ru-RU" dirty="0"/>
              <a:t>Поля указывать нельзя</a:t>
            </a:r>
          </a:p>
          <a:p>
            <a:r>
              <a:rPr lang="ru-RU" dirty="0"/>
              <a:t>Сначала выполнится список инициализации и тело целевого конструктора, затем управление вернётся к делегирующему и выполнится его тело</a:t>
            </a:r>
          </a:p>
          <a:p>
            <a:r>
              <a:rPr lang="ru-RU" dirty="0"/>
              <a:t>Делегирующий конструктор помогает устранить дублирование кода</a:t>
            </a:r>
          </a:p>
        </p:txBody>
      </p:sp>
    </p:spTree>
    <p:extLst>
      <p:ext uri="{BB962C8B-B14F-4D97-AF65-F5344CB8AC3E}">
        <p14:creationId xmlns:p14="http://schemas.microsoft.com/office/powerpoint/2010/main" val="20211389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32B1A84-CCDE-4A89-A9C2-12E697D748AB}"/>
              </a:ext>
            </a:extLst>
          </p:cNvPr>
          <p:cNvSpPr txBox="1"/>
          <p:nvPr/>
        </p:nvSpPr>
        <p:spPr>
          <a:xfrm>
            <a:off x="0" y="1"/>
            <a:ext cx="12192000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String {</a:t>
            </a: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String(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char*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text,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size)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: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m_size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 size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,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m_capacity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m_size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,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m_chars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 Allocate(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m_capacity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end =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uninitialized_copy_n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(text,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m_size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m_chars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*end =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'\0'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// Следующие конструкторы делегируют работу конструктору 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String(const char*, </a:t>
            </a:r>
            <a:r>
              <a:rPr lang="en-US" dirty="0" err="1">
                <a:solidFill>
                  <a:srgbClr val="008000"/>
                </a:solidFill>
                <a:latin typeface="Consolas" panose="020B0609020204030204" pitchFamily="49" charset="0"/>
              </a:rPr>
              <a:t>size_t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 size)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String(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char*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text)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: String(text,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strlen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(text))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String(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String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other)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: String(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other.m_chars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other.m_size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…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…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m_size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m_capacity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m_chars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4126698316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Перегрузка оператора присваивания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72102066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Автоматически сгенерированный оператор присваивания</a:t>
            </a:r>
          </a:p>
        </p:txBody>
      </p:sp>
      <p:sp>
        <p:nvSpPr>
          <p:cNvPr id="5" name="Содержимое 4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Если пользователь не определил в классе операцию присваивания, его сгенерирует компилятор</a:t>
            </a:r>
            <a:endParaRPr lang="en-US" dirty="0"/>
          </a:p>
          <a:p>
            <a:pPr lvl="1"/>
            <a:r>
              <a:rPr lang="ru-RU" dirty="0"/>
              <a:t>Автоматический сгенерированный оператор присвоит значения всех полей класса и вызове операцию присваивания у родителя (при его наличии)</a:t>
            </a:r>
          </a:p>
          <a:p>
            <a:r>
              <a:rPr lang="ru-RU" dirty="0"/>
              <a:t>Иногда компилятор не может сгенерировать оператор присваивания</a:t>
            </a:r>
          </a:p>
          <a:p>
            <a:pPr lvl="1"/>
            <a:r>
              <a:rPr lang="ru-RU" dirty="0"/>
              <a:t>Класс содержит ссылки или константы</a:t>
            </a:r>
          </a:p>
          <a:p>
            <a:pPr lvl="1"/>
            <a:r>
              <a:rPr lang="ru-RU" dirty="0"/>
              <a:t>В родительском классе оператор присваивания объявлен приватным или удалён</a:t>
            </a:r>
          </a:p>
        </p:txBody>
      </p:sp>
    </p:spTree>
    <p:extLst>
      <p:ext uri="{BB962C8B-B14F-4D97-AF65-F5344CB8AC3E}">
        <p14:creationId xmlns:p14="http://schemas.microsoft.com/office/powerpoint/2010/main" val="475290575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Когда нужен собственный оператор присваивания?</a:t>
            </a:r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ru-RU" dirty="0"/>
              <a:t>Как правило, во всех случаях, когда классу нужен собственный конструктор копирования</a:t>
            </a:r>
          </a:p>
          <a:p>
            <a:pPr lvl="1"/>
            <a:r>
              <a:rPr lang="ru-RU" dirty="0"/>
              <a:t>Создание копии не сводится к обычному копированию полей класса</a:t>
            </a:r>
            <a:endParaRPr lang="en-US" dirty="0"/>
          </a:p>
          <a:p>
            <a:r>
              <a:rPr lang="ru-RU" dirty="0"/>
              <a:t>Оператор присваивания должен возвращать ссылку на левый операнд, чтобы были возможны следующие выражения, допустимые для встроенных типов:</a:t>
            </a:r>
          </a:p>
          <a:p>
            <a:pPr lvl="1"/>
            <a:r>
              <a:rPr lang="en-US" dirty="0"/>
              <a:t>if ((a =</a:t>
            </a:r>
            <a:r>
              <a:rPr lang="ru-RU" dirty="0"/>
              <a:t> </a:t>
            </a:r>
            <a:r>
              <a:rPr lang="en-US" dirty="0"/>
              <a:t>b) == c) {…}</a:t>
            </a:r>
            <a:endParaRPr lang="ru-RU" dirty="0"/>
          </a:p>
          <a:p>
            <a:r>
              <a:rPr lang="ru-RU" dirty="0"/>
              <a:t>Оператор присваивания должен корректно обрабатывать некоторые особенные ситуации</a:t>
            </a:r>
          </a:p>
          <a:p>
            <a:pPr lvl="1"/>
            <a:r>
              <a:rPr lang="ru-RU" dirty="0"/>
              <a:t>Например, присваивание самому себе не должно приводить к порче данных</a:t>
            </a:r>
          </a:p>
          <a:p>
            <a:pPr lvl="1"/>
            <a:r>
              <a:rPr lang="ru-RU" dirty="0"/>
              <a:t>Наиболее надежный способ – использовать конструктор копирования для создания копии</a:t>
            </a:r>
          </a:p>
        </p:txBody>
      </p:sp>
    </p:spTree>
    <p:extLst>
      <p:ext uri="{BB962C8B-B14F-4D97-AF65-F5344CB8AC3E}">
        <p14:creationId xmlns:p14="http://schemas.microsoft.com/office/powerpoint/2010/main" val="615132516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99FFA69-1756-4DB7-89F4-DCBBDFE01BAF}"/>
              </a:ext>
            </a:extLst>
          </p:cNvPr>
          <p:cNvSpPr txBox="1"/>
          <p:nvPr/>
        </p:nvSpPr>
        <p:spPr>
          <a:xfrm>
            <a:off x="0" y="1"/>
            <a:ext cx="12192000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PostCard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…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PostCard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operator=(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PostCard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other)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"Post card 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m_text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 is assigned value 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other.m_text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m_text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other.m_text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…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std::string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m_text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Envelope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PostCard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postCard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main()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Envelope env1{ .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postCard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"Hello"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};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Envelope env2{ .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postCard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"world"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};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env1 = env2;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env1.postCard.GetText() &lt;&lt;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EDEFC91-7FC9-40B8-AFDA-F5EDA30D8A6F}"/>
              </a:ext>
            </a:extLst>
          </p:cNvPr>
          <p:cNvSpPr txBox="1"/>
          <p:nvPr/>
        </p:nvSpPr>
        <p:spPr>
          <a:xfrm>
            <a:off x="6960096" y="5013176"/>
            <a:ext cx="5112568" cy="1754326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ru-RU" dirty="0">
                <a:latin typeface="Consolas" panose="020B0609020204030204" pitchFamily="49" charset="0"/>
              </a:rPr>
              <a:t>Post </a:t>
            </a:r>
            <a:r>
              <a:rPr lang="ru-RU" dirty="0" err="1">
                <a:latin typeface="Consolas" panose="020B0609020204030204" pitchFamily="49" charset="0"/>
              </a:rPr>
              <a:t>card</a:t>
            </a:r>
            <a:r>
              <a:rPr lang="ru-RU" dirty="0">
                <a:latin typeface="Consolas" panose="020B0609020204030204" pitchFamily="49" charset="0"/>
              </a:rPr>
              <a:t> </a:t>
            </a:r>
            <a:r>
              <a:rPr lang="ru-RU" dirty="0" err="1">
                <a:latin typeface="Consolas" panose="020B0609020204030204" pitchFamily="49" charset="0"/>
              </a:rPr>
              <a:t>was</a:t>
            </a:r>
            <a:r>
              <a:rPr lang="ru-RU" dirty="0">
                <a:latin typeface="Consolas" panose="020B0609020204030204" pitchFamily="49" charset="0"/>
              </a:rPr>
              <a:t> </a:t>
            </a:r>
            <a:r>
              <a:rPr lang="ru-RU" dirty="0" err="1">
                <a:latin typeface="Consolas" panose="020B0609020204030204" pitchFamily="49" charset="0"/>
              </a:rPr>
              <a:t>created</a:t>
            </a:r>
            <a:r>
              <a:rPr lang="ru-RU" dirty="0">
                <a:latin typeface="Consolas" panose="020B0609020204030204" pitchFamily="49" charset="0"/>
              </a:rPr>
              <a:t>: </a:t>
            </a:r>
            <a:r>
              <a:rPr lang="ru-RU" dirty="0" err="1">
                <a:latin typeface="Consolas" panose="020B0609020204030204" pitchFamily="49" charset="0"/>
              </a:rPr>
              <a:t>Hello</a:t>
            </a:r>
            <a:endParaRPr lang="ru-RU" dirty="0">
              <a:latin typeface="Consolas" panose="020B0609020204030204" pitchFamily="49" charset="0"/>
            </a:endParaRPr>
          </a:p>
          <a:p>
            <a:r>
              <a:rPr lang="ru-RU" dirty="0">
                <a:latin typeface="Consolas" panose="020B0609020204030204" pitchFamily="49" charset="0"/>
              </a:rPr>
              <a:t>Post </a:t>
            </a:r>
            <a:r>
              <a:rPr lang="ru-RU" dirty="0" err="1">
                <a:latin typeface="Consolas" panose="020B0609020204030204" pitchFamily="49" charset="0"/>
              </a:rPr>
              <a:t>card</a:t>
            </a:r>
            <a:r>
              <a:rPr lang="ru-RU" dirty="0">
                <a:latin typeface="Consolas" panose="020B0609020204030204" pitchFamily="49" charset="0"/>
              </a:rPr>
              <a:t> </a:t>
            </a:r>
            <a:r>
              <a:rPr lang="ru-RU" dirty="0" err="1">
                <a:latin typeface="Consolas" panose="020B0609020204030204" pitchFamily="49" charset="0"/>
              </a:rPr>
              <a:t>was</a:t>
            </a:r>
            <a:r>
              <a:rPr lang="ru-RU" dirty="0">
                <a:latin typeface="Consolas" panose="020B0609020204030204" pitchFamily="49" charset="0"/>
              </a:rPr>
              <a:t> </a:t>
            </a:r>
            <a:r>
              <a:rPr lang="ru-RU" dirty="0" err="1">
                <a:latin typeface="Consolas" panose="020B0609020204030204" pitchFamily="49" charset="0"/>
              </a:rPr>
              <a:t>created</a:t>
            </a:r>
            <a:r>
              <a:rPr lang="ru-RU" dirty="0">
                <a:latin typeface="Consolas" panose="020B0609020204030204" pitchFamily="49" charset="0"/>
              </a:rPr>
              <a:t>: </a:t>
            </a:r>
            <a:r>
              <a:rPr lang="ru-RU" dirty="0" err="1">
                <a:latin typeface="Consolas" panose="020B0609020204030204" pitchFamily="49" charset="0"/>
              </a:rPr>
              <a:t>world</a:t>
            </a:r>
            <a:endParaRPr lang="ru-RU" dirty="0">
              <a:latin typeface="Consolas" panose="020B0609020204030204" pitchFamily="49" charset="0"/>
            </a:endParaRPr>
          </a:p>
          <a:p>
            <a:r>
              <a:rPr lang="ru-RU" dirty="0">
                <a:latin typeface="Consolas" panose="020B0609020204030204" pitchFamily="49" charset="0"/>
              </a:rPr>
              <a:t>Post </a:t>
            </a:r>
            <a:r>
              <a:rPr lang="ru-RU" dirty="0" err="1">
                <a:latin typeface="Consolas" panose="020B0609020204030204" pitchFamily="49" charset="0"/>
              </a:rPr>
              <a:t>card</a:t>
            </a:r>
            <a:r>
              <a:rPr lang="ru-RU" dirty="0">
                <a:latin typeface="Consolas" panose="020B0609020204030204" pitchFamily="49" charset="0"/>
              </a:rPr>
              <a:t> </a:t>
            </a:r>
            <a:r>
              <a:rPr lang="ru-RU" dirty="0" err="1">
                <a:latin typeface="Consolas" panose="020B0609020204030204" pitchFamily="49" charset="0"/>
              </a:rPr>
              <a:t>Hello</a:t>
            </a:r>
            <a:r>
              <a:rPr lang="ru-RU" dirty="0">
                <a:latin typeface="Consolas" panose="020B0609020204030204" pitchFamily="49" charset="0"/>
              </a:rPr>
              <a:t> </a:t>
            </a:r>
            <a:r>
              <a:rPr lang="ru-RU" dirty="0" err="1">
                <a:latin typeface="Consolas" panose="020B0609020204030204" pitchFamily="49" charset="0"/>
              </a:rPr>
              <a:t>is</a:t>
            </a:r>
            <a:r>
              <a:rPr lang="ru-RU" dirty="0">
                <a:latin typeface="Consolas" panose="020B0609020204030204" pitchFamily="49" charset="0"/>
              </a:rPr>
              <a:t> </a:t>
            </a:r>
            <a:r>
              <a:rPr lang="ru-RU" dirty="0" err="1">
                <a:latin typeface="Consolas" panose="020B0609020204030204" pitchFamily="49" charset="0"/>
              </a:rPr>
              <a:t>assigned</a:t>
            </a:r>
            <a:r>
              <a:rPr lang="ru-RU" dirty="0">
                <a:latin typeface="Consolas" panose="020B0609020204030204" pitchFamily="49" charset="0"/>
              </a:rPr>
              <a:t> </a:t>
            </a:r>
            <a:r>
              <a:rPr lang="ru-RU" dirty="0" err="1">
                <a:latin typeface="Consolas" panose="020B0609020204030204" pitchFamily="49" charset="0"/>
              </a:rPr>
              <a:t>value</a:t>
            </a:r>
            <a:r>
              <a:rPr lang="ru-RU" dirty="0">
                <a:latin typeface="Consolas" panose="020B0609020204030204" pitchFamily="49" charset="0"/>
              </a:rPr>
              <a:t> </a:t>
            </a:r>
            <a:r>
              <a:rPr lang="ru-RU" dirty="0" err="1">
                <a:latin typeface="Consolas" panose="020B0609020204030204" pitchFamily="49" charset="0"/>
              </a:rPr>
              <a:t>world</a:t>
            </a:r>
            <a:endParaRPr lang="ru-RU" dirty="0">
              <a:latin typeface="Consolas" panose="020B0609020204030204" pitchFamily="49" charset="0"/>
            </a:endParaRPr>
          </a:p>
          <a:p>
            <a:r>
              <a:rPr lang="ru-RU" dirty="0" err="1">
                <a:latin typeface="Consolas" panose="020B0609020204030204" pitchFamily="49" charset="0"/>
              </a:rPr>
              <a:t>world</a:t>
            </a:r>
            <a:endParaRPr lang="ru-RU" dirty="0">
              <a:latin typeface="Consolas" panose="020B0609020204030204" pitchFamily="49" charset="0"/>
            </a:endParaRPr>
          </a:p>
          <a:p>
            <a:r>
              <a:rPr lang="ru-RU" dirty="0">
                <a:latin typeface="Consolas" panose="020B0609020204030204" pitchFamily="49" charset="0"/>
              </a:rPr>
              <a:t>Post </a:t>
            </a:r>
            <a:r>
              <a:rPr lang="ru-RU" dirty="0" err="1">
                <a:latin typeface="Consolas" panose="020B0609020204030204" pitchFamily="49" charset="0"/>
              </a:rPr>
              <a:t>card</a:t>
            </a:r>
            <a:r>
              <a:rPr lang="ru-RU" dirty="0">
                <a:latin typeface="Consolas" panose="020B0609020204030204" pitchFamily="49" charset="0"/>
              </a:rPr>
              <a:t> </a:t>
            </a:r>
            <a:r>
              <a:rPr lang="ru-RU" dirty="0" err="1">
                <a:latin typeface="Consolas" panose="020B0609020204030204" pitchFamily="49" charset="0"/>
              </a:rPr>
              <a:t>was</a:t>
            </a:r>
            <a:r>
              <a:rPr lang="ru-RU" dirty="0">
                <a:latin typeface="Consolas" panose="020B0609020204030204" pitchFamily="49" charset="0"/>
              </a:rPr>
              <a:t> </a:t>
            </a:r>
            <a:r>
              <a:rPr lang="ru-RU" dirty="0" err="1">
                <a:latin typeface="Consolas" panose="020B0609020204030204" pitchFamily="49" charset="0"/>
              </a:rPr>
              <a:t>destroyed</a:t>
            </a:r>
            <a:r>
              <a:rPr lang="ru-RU" dirty="0">
                <a:latin typeface="Consolas" panose="020B0609020204030204" pitchFamily="49" charset="0"/>
              </a:rPr>
              <a:t>: </a:t>
            </a:r>
            <a:r>
              <a:rPr lang="ru-RU" dirty="0" err="1">
                <a:latin typeface="Consolas" panose="020B0609020204030204" pitchFamily="49" charset="0"/>
              </a:rPr>
              <a:t>world</a:t>
            </a:r>
            <a:endParaRPr lang="ru-RU" dirty="0">
              <a:latin typeface="Consolas" panose="020B0609020204030204" pitchFamily="49" charset="0"/>
            </a:endParaRPr>
          </a:p>
          <a:p>
            <a:r>
              <a:rPr lang="ru-RU" dirty="0">
                <a:latin typeface="Consolas" panose="020B0609020204030204" pitchFamily="49" charset="0"/>
              </a:rPr>
              <a:t>Post </a:t>
            </a:r>
            <a:r>
              <a:rPr lang="ru-RU" dirty="0" err="1">
                <a:latin typeface="Consolas" panose="020B0609020204030204" pitchFamily="49" charset="0"/>
              </a:rPr>
              <a:t>card</a:t>
            </a:r>
            <a:r>
              <a:rPr lang="ru-RU" dirty="0">
                <a:latin typeface="Consolas" panose="020B0609020204030204" pitchFamily="49" charset="0"/>
              </a:rPr>
              <a:t> </a:t>
            </a:r>
            <a:r>
              <a:rPr lang="ru-RU" dirty="0" err="1">
                <a:latin typeface="Consolas" panose="020B0609020204030204" pitchFamily="49" charset="0"/>
              </a:rPr>
              <a:t>was</a:t>
            </a:r>
            <a:r>
              <a:rPr lang="ru-RU" dirty="0">
                <a:latin typeface="Consolas" panose="020B0609020204030204" pitchFamily="49" charset="0"/>
              </a:rPr>
              <a:t> </a:t>
            </a:r>
            <a:r>
              <a:rPr lang="ru-RU" dirty="0" err="1">
                <a:latin typeface="Consolas" panose="020B0609020204030204" pitchFamily="49" charset="0"/>
              </a:rPr>
              <a:t>destroyed</a:t>
            </a:r>
            <a:r>
              <a:rPr lang="ru-RU" dirty="0">
                <a:latin typeface="Consolas" panose="020B0609020204030204" pitchFamily="49" charset="0"/>
              </a:rPr>
              <a:t>: </a:t>
            </a:r>
            <a:r>
              <a:rPr lang="ru-RU" dirty="0" err="1">
                <a:latin typeface="Consolas" panose="020B0609020204030204" pitchFamily="49" charset="0"/>
              </a:rPr>
              <a:t>world</a:t>
            </a:r>
            <a:endParaRPr lang="ru-RU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845652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4" dur="500" tmFilter="0, 0; .2, .5; .8, .5; 1, 0"/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55" dur="250" autoRev="1" fill="hold"/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4" dur="500" tmFilter="0, 0; .2, .5; .8, .5; 1, 0"/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65" dur="250" autoRev="1" fill="hold"/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4" dur="500" tmFilter="0, 0; .2, .5; .8, .5; 1, 0"/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5" dur="250" autoRev="1" fill="hold"/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9" dur="500" tmFilter="0, 0; .2, .5; .8, .5; 1, 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80" dur="250" autoRev="1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6" fill="hold">
                      <p:stCondLst>
                        <p:cond delay="indefinite"/>
                      </p:stCondLst>
                      <p:childTnLst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9" dur="500" tmFilter="0, 0; .2, .5; .8, .5; 1, 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90" dur="250" autoRev="1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4" dur="500" tmFilter="0, 0; .2, .5; .8, .5; 1, 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95" dur="250" autoRev="1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6" fill="hold">
                      <p:stCondLst>
                        <p:cond delay="indefinite"/>
                      </p:stCondLst>
                      <p:childTnLst>
                        <p:par>
                          <p:cTn id="97" fill="hold">
                            <p:stCondLst>
                              <p:cond delay="0"/>
                            </p:stCondLst>
                            <p:childTnLst>
                              <p:par>
                                <p:cTn id="98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9" dur="500" tmFilter="0, 0; .2, .5; .8, .5; 1, 0"/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00" dur="250" autoRev="1" fill="hold"/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1" fill="hold">
                      <p:stCondLst>
                        <p:cond delay="indefinite"/>
                      </p:stCondLst>
                      <p:childTnLst>
                        <p:par>
                          <p:cTn id="102" fill="hold">
                            <p:stCondLst>
                              <p:cond delay="0"/>
                            </p:stCondLst>
                            <p:childTnLst>
                              <p:par>
                                <p:cTn id="10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6" fill="hold">
                      <p:stCondLst>
                        <p:cond delay="indefinite"/>
                      </p:stCondLst>
                      <p:childTnLst>
                        <p:par>
                          <p:cTn id="107" fill="hold">
                            <p:stCondLst>
                              <p:cond delay="0"/>
                            </p:stCondLst>
                            <p:childTnLst>
                              <p:par>
                                <p:cTn id="108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9" dur="500" tmFilter="0, 0; .2, .5; .8, .5; 1, 0"/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10" dur="250" autoRev="1" fill="hold"/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indefinite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500"/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B7FC795-5628-49E8-BDDF-C47F57DA9F34}"/>
              </a:ext>
            </a:extLst>
          </p:cNvPr>
          <p:cNvSpPr txBox="1"/>
          <p:nvPr/>
        </p:nvSpPr>
        <p:spPr>
          <a:xfrm>
            <a:off x="670720" y="476672"/>
            <a:ext cx="11521280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String {</a:t>
            </a: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…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String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operator=(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String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other)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!= &amp;other)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m_capacity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&gt;=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other.m_size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&amp;&amp;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m_chars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!=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s_emptyString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destroy_n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m_chars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m_size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Уничтожили старые символы строки</a:t>
            </a:r>
          </a:p>
          <a:p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 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uninitialized_copy_n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other.m_chars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m_size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m_chars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 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m_size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other.m_size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}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     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Используем идиому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copy-and-swap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  String copy{ other };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  std::swap(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m_size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copy.m_size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  std::swap(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m_capacity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copy.m_capacity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  std::swap(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m_chars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copy.m_chars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…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10130380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Запрет операции присваивания</a:t>
            </a:r>
          </a:p>
        </p:txBody>
      </p:sp>
      <p:sp>
        <p:nvSpPr>
          <p:cNvPr id="4" name="Содержимое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В ряде случае операция присваивания объектов может быть нежелательной</a:t>
            </a:r>
          </a:p>
          <a:p>
            <a:pPr lvl="1"/>
            <a:r>
              <a:rPr lang="ru-RU" dirty="0"/>
              <a:t>С экземпляром объекта связываются какие-то внешние объекты, например, файловый дескриптор или сетевое соединение</a:t>
            </a:r>
          </a:p>
          <a:p>
            <a:r>
              <a:rPr lang="ru-RU" dirty="0"/>
              <a:t>Операцию присваивания для объектов можно</a:t>
            </a:r>
            <a:r>
              <a:rPr lang="en-US" dirty="0"/>
              <a:t> </a:t>
            </a:r>
            <a:r>
              <a:rPr lang="ru-RU" dirty="0"/>
              <a:t>запретить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5C88B0A-9157-41FB-99C3-CEDAF6123D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59496" y="4627384"/>
            <a:ext cx="8712968" cy="15696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defTabSz="539750"/>
            <a:r>
              <a:rPr lang="en-US" sz="1600" b="1" dirty="0">
                <a:latin typeface="Courier New" pitchFamily="49" charset="0"/>
              </a:rPr>
              <a:t>class </a:t>
            </a:r>
            <a:r>
              <a:rPr lang="en-US" sz="1600" b="1" dirty="0" err="1">
                <a:latin typeface="Courier New" pitchFamily="49" charset="0"/>
              </a:rPr>
              <a:t>NetworkConnection</a:t>
            </a:r>
            <a:endParaRPr lang="en-US" sz="1600" b="1" dirty="0">
              <a:latin typeface="Courier New" pitchFamily="49" charset="0"/>
            </a:endParaRPr>
          </a:p>
          <a:p>
            <a:pPr defTabSz="539750"/>
            <a:r>
              <a:rPr lang="en-US" sz="1600" b="1" dirty="0">
                <a:latin typeface="Courier New" pitchFamily="49" charset="0"/>
              </a:rPr>
              <a:t>{</a:t>
            </a:r>
          </a:p>
          <a:p>
            <a:pPr defTabSz="539750"/>
            <a:r>
              <a:rPr lang="en-US" sz="1600" b="1" dirty="0">
                <a:latin typeface="Courier New" pitchFamily="49" charset="0"/>
              </a:rPr>
              <a:t>public:</a:t>
            </a:r>
          </a:p>
          <a:p>
            <a:pPr defTabSz="539750"/>
            <a:r>
              <a:rPr lang="en-US" sz="1600" b="1" dirty="0">
                <a:latin typeface="Courier New" pitchFamily="49" charset="0"/>
              </a:rPr>
              <a:t>	// …</a:t>
            </a:r>
          </a:p>
          <a:p>
            <a:pPr defTabSz="539750"/>
            <a:r>
              <a:rPr lang="en-US" sz="1600" b="1" dirty="0">
                <a:latin typeface="Courier New" pitchFamily="49" charset="0"/>
              </a:rPr>
              <a:t>	</a:t>
            </a:r>
            <a:r>
              <a:rPr lang="en-US" sz="1600" b="1" dirty="0" err="1">
                <a:solidFill>
                  <a:srgbClr val="FF0000"/>
                </a:solidFill>
                <a:latin typeface="Courier New" pitchFamily="49" charset="0"/>
              </a:rPr>
              <a:t>NetworkConnection</a:t>
            </a:r>
            <a:r>
              <a:rPr lang="en-US" sz="1600" b="1" dirty="0">
                <a:solidFill>
                  <a:srgbClr val="FF0000"/>
                </a:solidFill>
                <a:latin typeface="Courier New" pitchFamily="49" charset="0"/>
              </a:rPr>
              <a:t>&amp; operator=(const </a:t>
            </a:r>
            <a:r>
              <a:rPr lang="en-US" sz="1600" b="1" dirty="0" err="1">
                <a:solidFill>
                  <a:srgbClr val="FF0000"/>
                </a:solidFill>
                <a:latin typeface="Courier New" pitchFamily="49" charset="0"/>
              </a:rPr>
              <a:t>NetwordConnection</a:t>
            </a:r>
            <a:r>
              <a:rPr lang="en-US" sz="1600" b="1" dirty="0">
                <a:solidFill>
                  <a:srgbClr val="FF0000"/>
                </a:solidFill>
                <a:latin typeface="Courier New" pitchFamily="49" charset="0"/>
              </a:rPr>
              <a:t>&amp;) = delete;</a:t>
            </a:r>
          </a:p>
          <a:p>
            <a:pPr defTabSz="539750"/>
            <a:r>
              <a:rPr lang="en-US" sz="1600" b="1" dirty="0">
                <a:latin typeface="Courier New" pitchFamily="49" charset="0"/>
              </a:rPr>
              <a:t>};</a:t>
            </a:r>
            <a:endParaRPr lang="ru-RU" sz="1600" b="1" dirty="0">
              <a:latin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834156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Перемещающий конструктор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5339338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Проблемы с копированием объектов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Проблемы с производительностью</a:t>
            </a:r>
          </a:p>
          <a:p>
            <a:pPr lvl="1"/>
            <a:r>
              <a:rPr lang="ru-RU" dirty="0"/>
              <a:t>Избыточное создание временных объектов</a:t>
            </a:r>
          </a:p>
          <a:p>
            <a:pPr lvl="2"/>
            <a:r>
              <a:rPr lang="ru-RU" dirty="0"/>
              <a:t>Оптимизатор не всегда справляется</a:t>
            </a:r>
          </a:p>
          <a:p>
            <a:pPr lvl="1"/>
            <a:r>
              <a:rPr lang="ru-RU" dirty="0"/>
              <a:t>Создание копий «тяжелых» объектов может сильно ударить по производительности</a:t>
            </a:r>
          </a:p>
          <a:p>
            <a:r>
              <a:rPr lang="ru-RU" dirty="0"/>
              <a:t>Не для всех типов объектов имеет смысл семантика копирования</a:t>
            </a:r>
          </a:p>
          <a:p>
            <a:pPr lvl="1"/>
            <a:r>
              <a:rPr lang="en-US" dirty="0" err="1"/>
              <a:t>fstream</a:t>
            </a:r>
            <a:r>
              <a:rPr lang="en-US" dirty="0"/>
              <a:t>, thread, </a:t>
            </a:r>
            <a:r>
              <a:rPr lang="en-US" dirty="0" err="1"/>
              <a:t>mutex</a:t>
            </a:r>
            <a:endParaRPr lang="ru-RU" dirty="0"/>
          </a:p>
          <a:p>
            <a:pPr lvl="1"/>
            <a:r>
              <a:rPr lang="ru-RU" dirty="0"/>
              <a:t>В то же время может быть необходима семантика перемещения содержимого от одного объекта к другому</a:t>
            </a:r>
          </a:p>
        </p:txBody>
      </p:sp>
    </p:spTree>
    <p:extLst>
      <p:ext uri="{BB962C8B-B14F-4D97-AF65-F5344CB8AC3E}">
        <p14:creationId xmlns:p14="http://schemas.microsoft.com/office/powerpoint/2010/main" val="33015429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F875D66-9A35-1CA7-4C0F-7D7D6B4E1686}"/>
              </a:ext>
            </a:extLst>
          </p:cNvPr>
          <p:cNvSpPr txBox="1"/>
          <p:nvPr/>
        </p:nvSpPr>
        <p:spPr>
          <a:xfrm>
            <a:off x="1343472" y="197346"/>
            <a:ext cx="8232576" cy="61863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Student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explicit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Student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: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Создаст временную строку из строкового литерала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string,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а потом в конструкторе копирования скопирует её в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m_name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Student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student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Ivan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746555662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Избыточное копирование объектов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В приведенном примере конструктор </a:t>
            </a:r>
            <a:r>
              <a:rPr lang="en-US" dirty="0"/>
              <a:t>std::string </a:t>
            </a:r>
            <a:r>
              <a:rPr lang="ru-RU" dirty="0"/>
              <a:t>будет вызван дважды</a:t>
            </a:r>
          </a:p>
          <a:p>
            <a:pPr lvl="1"/>
            <a:r>
              <a:rPr lang="ru-RU" dirty="0"/>
              <a:t>Для создания временного объекта </a:t>
            </a:r>
            <a:r>
              <a:rPr lang="en-US" dirty="0"/>
              <a:t>std::string </a:t>
            </a:r>
            <a:r>
              <a:rPr lang="ru-RU" dirty="0"/>
              <a:t>из строкового литерала</a:t>
            </a:r>
          </a:p>
          <a:p>
            <a:pPr lvl="1"/>
            <a:r>
              <a:rPr lang="ru-RU" dirty="0"/>
              <a:t>Для копирования параметра </a:t>
            </a:r>
            <a:r>
              <a:rPr lang="en-US" dirty="0"/>
              <a:t>name </a:t>
            </a:r>
            <a:r>
              <a:rPr lang="ru-RU" dirty="0"/>
              <a:t>в поле </a:t>
            </a:r>
            <a:r>
              <a:rPr lang="en-US" dirty="0" err="1"/>
              <a:t>m_name</a:t>
            </a:r>
            <a:endParaRPr lang="ru-RU" dirty="0"/>
          </a:p>
          <a:p>
            <a:r>
              <a:rPr lang="en-US" dirty="0"/>
              <a:t>C++11</a:t>
            </a:r>
            <a:r>
              <a:rPr lang="ru-RU" dirty="0"/>
              <a:t> это позволяет за счет нового типа ссылок на </a:t>
            </a:r>
            <a:r>
              <a:rPr lang="en-US" dirty="0" err="1"/>
              <a:t>rvalue</a:t>
            </a:r>
            <a:endParaRPr lang="ru-RU" dirty="0"/>
          </a:p>
          <a:p>
            <a:pPr lvl="1"/>
            <a:r>
              <a:rPr lang="ru-RU" dirty="0"/>
              <a:t>Все контейнеры </a:t>
            </a:r>
            <a:r>
              <a:rPr lang="en-US" dirty="0"/>
              <a:t>STL</a:t>
            </a:r>
            <a:r>
              <a:rPr lang="ru-RU" dirty="0"/>
              <a:t> в стандарте </a:t>
            </a:r>
            <a:r>
              <a:rPr lang="en-US" dirty="0"/>
              <a:t>C++11 </a:t>
            </a:r>
            <a:r>
              <a:rPr lang="ru-RU" dirty="0"/>
              <a:t>поддерживают семантику перемещения своих элементов при копировании и присваивании</a:t>
            </a:r>
          </a:p>
          <a:p>
            <a:endParaRPr lang="ru-RU" dirty="0"/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926729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Что такое </a:t>
            </a:r>
            <a:r>
              <a:rPr lang="en-US" dirty="0" err="1"/>
              <a:t>Rvalue</a:t>
            </a:r>
            <a:r>
              <a:rPr lang="en-US" dirty="0"/>
              <a:t> </a:t>
            </a:r>
            <a:r>
              <a:rPr lang="ru-RU" dirty="0"/>
              <a:t>и </a:t>
            </a:r>
            <a:r>
              <a:rPr lang="en-US" dirty="0" err="1"/>
              <a:t>Lvalue</a:t>
            </a:r>
            <a:r>
              <a:rPr lang="ru-RU" dirty="0"/>
              <a:t>?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-RU" dirty="0"/>
              <a:t>Название термина происходит от синтаксиса операции присваивания во многих языках программирования:</a:t>
            </a:r>
          </a:p>
          <a:p>
            <a:pPr lvl="1"/>
            <a:r>
              <a:rPr lang="en-US" i="1" dirty="0"/>
              <a:t>&lt;</a:t>
            </a:r>
            <a:r>
              <a:rPr lang="ru-RU" i="1" dirty="0"/>
              <a:t>выражение1</a:t>
            </a:r>
            <a:r>
              <a:rPr lang="en-US" i="1" dirty="0"/>
              <a:t>&gt;</a:t>
            </a:r>
            <a:r>
              <a:rPr lang="ru-RU" dirty="0"/>
              <a:t> = </a:t>
            </a:r>
            <a:r>
              <a:rPr lang="en-US" i="1" dirty="0"/>
              <a:t>&lt;</a:t>
            </a:r>
            <a:r>
              <a:rPr lang="ru-RU" i="1" dirty="0"/>
              <a:t>выражение2</a:t>
            </a:r>
            <a:r>
              <a:rPr lang="en-US" i="1" dirty="0"/>
              <a:t>&gt;</a:t>
            </a:r>
            <a:endParaRPr lang="en-US" b="1" i="1" dirty="0"/>
          </a:p>
          <a:p>
            <a:pPr lvl="1"/>
            <a:r>
              <a:rPr lang="en-US" i="1" dirty="0"/>
              <a:t>&lt;</a:t>
            </a:r>
            <a:r>
              <a:rPr lang="ru-RU" i="1" dirty="0"/>
              <a:t>Выражение1</a:t>
            </a:r>
            <a:r>
              <a:rPr lang="en-US" i="1" dirty="0"/>
              <a:t>&gt;</a:t>
            </a:r>
            <a:r>
              <a:rPr lang="ru-RU" dirty="0"/>
              <a:t> после вычисления должно привести к местоположению объекта данных, в который будет производиться запись (левостороннее значение или </a:t>
            </a:r>
            <a:r>
              <a:rPr lang="en-US" dirty="0" err="1"/>
              <a:t>lvalue</a:t>
            </a:r>
            <a:r>
              <a:rPr lang="en-US" dirty="0"/>
              <a:t>)</a:t>
            </a:r>
            <a:endParaRPr lang="ru-RU" dirty="0"/>
          </a:p>
          <a:p>
            <a:pPr lvl="1"/>
            <a:r>
              <a:rPr lang="en-US" i="1" dirty="0"/>
              <a:t>&lt;</a:t>
            </a:r>
            <a:r>
              <a:rPr lang="ru-RU" i="1" dirty="0"/>
              <a:t>Выражение2</a:t>
            </a:r>
            <a:r>
              <a:rPr lang="en-US" i="1" dirty="0"/>
              <a:t>&gt;</a:t>
            </a:r>
            <a:r>
              <a:rPr lang="ru-RU" dirty="0"/>
              <a:t> после вычисления должно обозначать величину, которая будет присвоена объекту данных (правостороннее значение или </a:t>
            </a:r>
            <a:r>
              <a:rPr lang="en-US" dirty="0" err="1"/>
              <a:t>rvalue</a:t>
            </a:r>
            <a:r>
              <a:rPr lang="en-US" dirty="0"/>
              <a:t>)</a:t>
            </a:r>
            <a:endParaRPr lang="ru-RU" dirty="0"/>
          </a:p>
          <a:p>
            <a:r>
              <a:rPr lang="ru-RU" dirty="0"/>
              <a:t>Примеры</a:t>
            </a:r>
          </a:p>
          <a:p>
            <a:pPr lvl="1"/>
            <a:r>
              <a:rPr lang="en-US" dirty="0" err="1"/>
              <a:t>ptr</a:t>
            </a:r>
            <a:r>
              <a:rPr lang="en-US" dirty="0"/>
              <a:t> = NULL;</a:t>
            </a:r>
          </a:p>
          <a:p>
            <a:pPr lvl="1"/>
            <a:r>
              <a:rPr lang="en-US" dirty="0" err="1"/>
              <a:t>arr</a:t>
            </a:r>
            <a:r>
              <a:rPr lang="en-US" dirty="0"/>
              <a:t>[</a:t>
            </a:r>
            <a:r>
              <a:rPr lang="en-US" dirty="0" err="1"/>
              <a:t>i</a:t>
            </a:r>
            <a:r>
              <a:rPr lang="en-US" dirty="0"/>
              <a:t>*2] = b;</a:t>
            </a:r>
            <a:endParaRPr lang="ru-RU" dirty="0"/>
          </a:p>
          <a:p>
            <a:pPr lvl="1"/>
            <a:r>
              <a:rPr lang="en-US" dirty="0"/>
              <a:t>*(</a:t>
            </a:r>
            <a:r>
              <a:rPr lang="en-US" dirty="0" err="1"/>
              <a:t>pInt</a:t>
            </a:r>
            <a:r>
              <a:rPr lang="en-US" dirty="0"/>
              <a:t> + 3) = 42;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2169539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Два типа ссылок в </a:t>
            </a:r>
            <a:r>
              <a:rPr lang="en-US" dirty="0"/>
              <a:t>C++</a:t>
            </a:r>
            <a:endParaRPr lang="ru-RU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Обычные (</a:t>
            </a:r>
            <a:r>
              <a:rPr lang="en-US" dirty="0"/>
              <a:t>l-value) </a:t>
            </a:r>
            <a:r>
              <a:rPr lang="ru-RU" dirty="0"/>
              <a:t>ссылки:</a:t>
            </a:r>
          </a:p>
          <a:p>
            <a:pPr lvl="1"/>
            <a:r>
              <a:rPr lang="en-US" dirty="0"/>
              <a:t>Type &amp; ref = </a:t>
            </a:r>
            <a:r>
              <a:rPr lang="en-US" dirty="0" err="1"/>
              <a:t>someVar</a:t>
            </a:r>
            <a:r>
              <a:rPr lang="en-US" dirty="0"/>
              <a:t>;</a:t>
            </a:r>
          </a:p>
          <a:p>
            <a:pPr lvl="1"/>
            <a:r>
              <a:rPr lang="en-US" dirty="0" err="1"/>
              <a:t>const</a:t>
            </a:r>
            <a:r>
              <a:rPr lang="en-US" dirty="0"/>
              <a:t> Type &amp; </a:t>
            </a:r>
            <a:r>
              <a:rPr lang="en-US" dirty="0" err="1"/>
              <a:t>constRef</a:t>
            </a:r>
            <a:r>
              <a:rPr lang="en-US" dirty="0"/>
              <a:t> = </a:t>
            </a:r>
            <a:r>
              <a:rPr lang="en-US" dirty="0" err="1"/>
              <a:t>someVar</a:t>
            </a:r>
            <a:r>
              <a:rPr lang="en-US" dirty="0"/>
              <a:t>;</a:t>
            </a:r>
          </a:p>
          <a:p>
            <a:r>
              <a:rPr lang="ru-RU" dirty="0"/>
              <a:t>В </a:t>
            </a:r>
            <a:r>
              <a:rPr lang="en-US" dirty="0"/>
              <a:t>C++</a:t>
            </a:r>
            <a:r>
              <a:rPr lang="ru-RU" dirty="0"/>
              <a:t>11 введен новый тип ссылок</a:t>
            </a:r>
            <a:r>
              <a:rPr lang="en-US" dirty="0"/>
              <a:t>: </a:t>
            </a:r>
            <a:r>
              <a:rPr lang="en-US" dirty="0" err="1"/>
              <a:t>rvalue</a:t>
            </a:r>
            <a:r>
              <a:rPr lang="en-US" dirty="0"/>
              <a:t> reference:</a:t>
            </a:r>
          </a:p>
          <a:p>
            <a:pPr lvl="1"/>
            <a:r>
              <a:rPr lang="en-US" dirty="0"/>
              <a:t>Type &amp;&amp; ref = </a:t>
            </a:r>
            <a:r>
              <a:rPr lang="en-US" dirty="0" err="1"/>
              <a:t>someRvalueExpr</a:t>
            </a:r>
            <a:r>
              <a:rPr lang="en-US" dirty="0"/>
              <a:t>;</a:t>
            </a:r>
            <a:endParaRPr lang="ru-RU" dirty="0"/>
          </a:p>
          <a:p>
            <a:r>
              <a:rPr lang="ru-RU" dirty="0"/>
              <a:t>Использование </a:t>
            </a:r>
            <a:r>
              <a:rPr lang="en-US" dirty="0" err="1"/>
              <a:t>rvalue</a:t>
            </a:r>
            <a:r>
              <a:rPr lang="en-US" dirty="0"/>
              <a:t> </a:t>
            </a:r>
            <a:r>
              <a:rPr lang="ru-RU" dirty="0"/>
              <a:t>ссылок позволяет реализовать семантику перемещения в конструкторе и операторе присваивания</a:t>
            </a:r>
            <a:endParaRPr lang="en-US" dirty="0"/>
          </a:p>
          <a:p>
            <a:pPr lvl="1"/>
            <a:r>
              <a:rPr lang="ru-RU" dirty="0"/>
              <a:t>Рассмотрим на следующем примере</a:t>
            </a:r>
          </a:p>
        </p:txBody>
      </p:sp>
    </p:spTree>
    <p:extLst>
      <p:ext uri="{BB962C8B-B14F-4D97-AF65-F5344CB8AC3E}">
        <p14:creationId xmlns:p14="http://schemas.microsoft.com/office/powerpoint/2010/main" val="22171437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623392" y="188641"/>
            <a:ext cx="9865096" cy="67403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365125"/>
            <a:r>
              <a:rPr lang="en-US" b="1" dirty="0">
                <a:latin typeface="Courier New" pitchFamily="49" charset="0"/>
                <a:cs typeface="Courier New" pitchFamily="49" charset="0"/>
              </a:rPr>
              <a:t>#include &lt;string&gt;</a:t>
            </a:r>
          </a:p>
          <a:p>
            <a:pPr defTabSz="365125"/>
            <a:r>
              <a:rPr lang="en-US" b="1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b="1" dirty="0" err="1">
                <a:latin typeface="Courier New" pitchFamily="49" charset="0"/>
                <a:cs typeface="Courier New" pitchFamily="49" charset="0"/>
              </a:rPr>
              <a:t>iostream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pPr defTabSz="365125"/>
            <a:endParaRPr lang="ru-RU" b="1" dirty="0">
              <a:latin typeface="Courier New" pitchFamily="49" charset="0"/>
              <a:cs typeface="Courier New" pitchFamily="49" charset="0"/>
            </a:endParaRPr>
          </a:p>
          <a:p>
            <a:pPr defTabSz="365125"/>
            <a:r>
              <a:rPr lang="en-US" b="1" dirty="0">
                <a:latin typeface="Courier New" pitchFamily="49" charset="0"/>
                <a:cs typeface="Courier New" pitchFamily="49" charset="0"/>
              </a:rPr>
              <a:t>using namespace </a:t>
            </a:r>
            <a:r>
              <a:rPr lang="en-US" b="1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pPr defTabSz="365125"/>
            <a:endParaRPr lang="ru-RU" b="1" dirty="0">
              <a:latin typeface="Courier New" pitchFamily="49" charset="0"/>
              <a:cs typeface="Courier New" pitchFamily="49" charset="0"/>
            </a:endParaRPr>
          </a:p>
          <a:p>
            <a:pPr defTabSz="365125"/>
            <a:r>
              <a:rPr lang="en-US" b="1" dirty="0">
                <a:latin typeface="Courier New" pitchFamily="49" charset="0"/>
                <a:cs typeface="Courier New" pitchFamily="49" charset="0"/>
              </a:rPr>
              <a:t>void Print(</a:t>
            </a:r>
            <a:r>
              <a:rPr lang="en-US" b="1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 string &amp; </a:t>
            </a:r>
            <a:r>
              <a:rPr lang="en-US" b="1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pPr defTabSz="365125"/>
            <a:r>
              <a:rPr lang="ru-RU" b="1" dirty="0">
                <a:latin typeface="Courier New" pitchFamily="49" charset="0"/>
                <a:cs typeface="Courier New" pitchFamily="49" charset="0"/>
              </a:rPr>
              <a:t>{</a:t>
            </a:r>
          </a:p>
          <a:p>
            <a:pPr defTabSz="365125"/>
            <a:r>
              <a:rPr lang="en-US" b="1" dirty="0">
                <a:latin typeface="Courier New" pitchFamily="49" charset="0"/>
                <a:cs typeface="Courier New" pitchFamily="49" charset="0"/>
              </a:rPr>
              <a:t>	</a:t>
            </a:r>
            <a:r>
              <a:rPr lang="en-US" b="1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b="1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 &lt;&lt; " is </a:t>
            </a:r>
            <a:r>
              <a:rPr lang="en-US" b="1" dirty="0" err="1">
                <a:latin typeface="Courier New" pitchFamily="49" charset="0"/>
                <a:cs typeface="Courier New" pitchFamily="49" charset="0"/>
              </a:rPr>
              <a:t>lvalue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\n";</a:t>
            </a:r>
          </a:p>
          <a:p>
            <a:pPr defTabSz="365125"/>
            <a:r>
              <a:rPr lang="ru-RU" b="1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pPr defTabSz="365125"/>
            <a:endParaRPr lang="ru-RU" b="1" dirty="0">
              <a:latin typeface="Courier New" pitchFamily="49" charset="0"/>
              <a:cs typeface="Courier New" pitchFamily="49" charset="0"/>
            </a:endParaRPr>
          </a:p>
          <a:p>
            <a:pPr defTabSz="365125"/>
            <a:r>
              <a:rPr lang="en-US" b="1" dirty="0">
                <a:latin typeface="Courier New" pitchFamily="49" charset="0"/>
                <a:cs typeface="Courier New" pitchFamily="49" charset="0"/>
              </a:rPr>
              <a:t>void Print(string &amp;&amp; </a:t>
            </a:r>
            <a:r>
              <a:rPr lang="en-US" b="1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pPr defTabSz="365125"/>
            <a:r>
              <a:rPr lang="ru-RU" b="1" dirty="0">
                <a:latin typeface="Courier New" pitchFamily="49" charset="0"/>
                <a:cs typeface="Courier New" pitchFamily="49" charset="0"/>
              </a:rPr>
              <a:t>{</a:t>
            </a:r>
          </a:p>
          <a:p>
            <a:pPr defTabSz="365125"/>
            <a:r>
              <a:rPr lang="en-US" b="1" dirty="0">
                <a:latin typeface="Courier New" pitchFamily="49" charset="0"/>
                <a:cs typeface="Courier New" pitchFamily="49" charset="0"/>
              </a:rPr>
              <a:t>	</a:t>
            </a:r>
            <a:r>
              <a:rPr lang="en-US" b="1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b="1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 &lt;&lt; " is </a:t>
            </a:r>
            <a:r>
              <a:rPr lang="en-US" b="1" dirty="0" err="1">
                <a:latin typeface="Courier New" pitchFamily="49" charset="0"/>
                <a:cs typeface="Courier New" pitchFamily="49" charset="0"/>
              </a:rPr>
              <a:t>rvalue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\n";</a:t>
            </a:r>
          </a:p>
          <a:p>
            <a:pPr defTabSz="365125"/>
            <a:r>
              <a:rPr lang="ru-RU" b="1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pPr defTabSz="365125"/>
            <a:endParaRPr lang="ru-RU" b="1" dirty="0">
              <a:latin typeface="Courier New" pitchFamily="49" charset="0"/>
              <a:cs typeface="Courier New" pitchFamily="49" charset="0"/>
            </a:endParaRPr>
          </a:p>
          <a:p>
            <a:pPr defTabSz="365125"/>
            <a:r>
              <a:rPr lang="en-US" b="1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 main()</a:t>
            </a:r>
          </a:p>
          <a:p>
            <a:pPr defTabSz="365125"/>
            <a:r>
              <a:rPr lang="ru-RU" b="1" dirty="0">
                <a:latin typeface="Courier New" pitchFamily="49" charset="0"/>
                <a:cs typeface="Courier New" pitchFamily="49" charset="0"/>
              </a:rPr>
              <a:t>{</a:t>
            </a:r>
          </a:p>
          <a:p>
            <a:pPr defTabSz="365125"/>
            <a:r>
              <a:rPr lang="en-US" b="1" dirty="0">
                <a:latin typeface="Courier New" pitchFamily="49" charset="0"/>
                <a:cs typeface="Courier New" pitchFamily="49" charset="0"/>
              </a:rPr>
              <a:t>	string s1 = "</a:t>
            </a:r>
            <a:r>
              <a:rPr lang="en-US" b="1" dirty="0" err="1">
                <a:latin typeface="Courier New" pitchFamily="49" charset="0"/>
                <a:cs typeface="Courier New" pitchFamily="49" charset="0"/>
              </a:rPr>
              <a:t>LValue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";</a:t>
            </a:r>
          </a:p>
          <a:p>
            <a:pPr defTabSz="365125"/>
            <a:endParaRPr lang="ru-RU" b="1" dirty="0">
              <a:latin typeface="Courier New" pitchFamily="49" charset="0"/>
              <a:cs typeface="Courier New" pitchFamily="49" charset="0"/>
            </a:endParaRPr>
          </a:p>
          <a:p>
            <a:pPr defTabSz="365125"/>
            <a:r>
              <a:rPr lang="en-US" b="1" dirty="0">
                <a:latin typeface="Courier New" pitchFamily="49" charset="0"/>
                <a:cs typeface="Courier New" pitchFamily="49" charset="0"/>
              </a:rPr>
              <a:t>	Print(s1);</a:t>
            </a:r>
          </a:p>
          <a:p>
            <a:pPr defTabSz="365125"/>
            <a:r>
              <a:rPr lang="en-US" b="1" dirty="0">
                <a:latin typeface="Courier New" pitchFamily="49" charset="0"/>
                <a:cs typeface="Courier New" pitchFamily="49" charset="0"/>
              </a:rPr>
              <a:t>	Print("</a:t>
            </a:r>
            <a:r>
              <a:rPr lang="en-US" b="1" dirty="0" err="1">
                <a:latin typeface="Courier New" pitchFamily="49" charset="0"/>
                <a:cs typeface="Courier New" pitchFamily="49" charset="0"/>
              </a:rPr>
              <a:t>RValue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");</a:t>
            </a:r>
          </a:p>
          <a:p>
            <a:pPr defTabSz="365125"/>
            <a:endParaRPr lang="ru-RU" b="1" dirty="0">
              <a:latin typeface="Courier New" pitchFamily="49" charset="0"/>
              <a:cs typeface="Courier New" pitchFamily="49" charset="0"/>
            </a:endParaRPr>
          </a:p>
          <a:p>
            <a:pPr defTabSz="365125"/>
            <a:r>
              <a:rPr lang="en-US" b="1" dirty="0">
                <a:latin typeface="Courier New" pitchFamily="49" charset="0"/>
                <a:cs typeface="Courier New" pitchFamily="49" charset="0"/>
              </a:rPr>
              <a:t>	return 0;</a:t>
            </a:r>
          </a:p>
          <a:p>
            <a:pPr defTabSz="365125"/>
            <a:r>
              <a:rPr lang="ru-RU" b="1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5" name="Line Callout 2 4"/>
          <p:cNvSpPr/>
          <p:nvPr/>
        </p:nvSpPr>
        <p:spPr>
          <a:xfrm>
            <a:off x="6528048" y="3717032"/>
            <a:ext cx="5040560" cy="1368152"/>
          </a:xfrm>
          <a:prstGeom prst="borderCallout2">
            <a:avLst>
              <a:gd name="adj1" fmla="val 70669"/>
              <a:gd name="adj2" fmla="val -1984"/>
              <a:gd name="adj3" fmla="val 120746"/>
              <a:gd name="adj4" fmla="val -36433"/>
              <a:gd name="adj5" fmla="val 138154"/>
              <a:gd name="adj6" fmla="val -67985"/>
            </a:avLst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s1 </a:t>
            </a:r>
            <a:r>
              <a:rPr lang="ru-RU" dirty="0"/>
              <a:t>не является временным объектом, поэтому для него будет вызвана версия функции </a:t>
            </a:r>
            <a:r>
              <a:rPr lang="en-US" dirty="0"/>
              <a:t>print</a:t>
            </a:r>
            <a:r>
              <a:rPr lang="ru-RU" dirty="0"/>
              <a:t>, принимающая </a:t>
            </a:r>
            <a:r>
              <a:rPr lang="en-US" dirty="0" err="1"/>
              <a:t>lvalue</a:t>
            </a:r>
            <a:r>
              <a:rPr lang="en-US" dirty="0"/>
              <a:t> </a:t>
            </a:r>
            <a:r>
              <a:rPr lang="ru-RU" dirty="0"/>
              <a:t>ссылку</a:t>
            </a:r>
          </a:p>
        </p:txBody>
      </p:sp>
      <p:sp>
        <p:nvSpPr>
          <p:cNvPr id="6" name="Line Callout 2 5"/>
          <p:cNvSpPr/>
          <p:nvPr/>
        </p:nvSpPr>
        <p:spPr>
          <a:xfrm>
            <a:off x="5447928" y="5229200"/>
            <a:ext cx="5040560" cy="1512168"/>
          </a:xfrm>
          <a:prstGeom prst="borderCallout2">
            <a:avLst>
              <a:gd name="adj1" fmla="val 70669"/>
              <a:gd name="adj2" fmla="val -1984"/>
              <a:gd name="adj3" fmla="val 71363"/>
              <a:gd name="adj4" fmla="val -12245"/>
              <a:gd name="adj5" fmla="val 47163"/>
              <a:gd name="adj6" fmla="val -42769"/>
            </a:avLst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/>
              <a:t>При данном вызове функции </a:t>
            </a:r>
            <a:r>
              <a:rPr lang="en-US" dirty="0"/>
              <a:t>Print </a:t>
            </a:r>
            <a:r>
              <a:rPr lang="ru-RU" dirty="0"/>
              <a:t>будет сконструирован временный объект </a:t>
            </a:r>
            <a:r>
              <a:rPr lang="en-US" dirty="0"/>
              <a:t>string</a:t>
            </a:r>
            <a:r>
              <a:rPr lang="ru-RU" dirty="0"/>
              <a:t>, поэтому будет вызвана версия функции </a:t>
            </a:r>
            <a:r>
              <a:rPr lang="en-US" dirty="0"/>
              <a:t>Print</a:t>
            </a:r>
            <a:r>
              <a:rPr lang="ru-RU" dirty="0"/>
              <a:t>, принимающая </a:t>
            </a:r>
            <a:r>
              <a:rPr lang="en-US" dirty="0" err="1"/>
              <a:t>rvalue</a:t>
            </a:r>
            <a:r>
              <a:rPr lang="en-US" dirty="0"/>
              <a:t> </a:t>
            </a:r>
            <a:r>
              <a:rPr lang="ru-RU" dirty="0"/>
              <a:t>ссылку</a:t>
            </a:r>
          </a:p>
        </p:txBody>
      </p:sp>
      <p:sp>
        <p:nvSpPr>
          <p:cNvPr id="7" name="Line Callout 2 6"/>
          <p:cNvSpPr/>
          <p:nvPr/>
        </p:nvSpPr>
        <p:spPr>
          <a:xfrm>
            <a:off x="6707560" y="1412776"/>
            <a:ext cx="5221088" cy="1800200"/>
          </a:xfrm>
          <a:prstGeom prst="borderCallout2">
            <a:avLst>
              <a:gd name="adj1" fmla="val 70669"/>
              <a:gd name="adj2" fmla="val -1984"/>
              <a:gd name="adj3" fmla="val 91784"/>
              <a:gd name="adj4" fmla="val -18732"/>
              <a:gd name="adj5" fmla="val 94230"/>
              <a:gd name="adj6" fmla="val -47504"/>
            </a:avLst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/>
              <a:t>Эта версия функции </a:t>
            </a:r>
            <a:r>
              <a:rPr lang="en-US" dirty="0"/>
              <a:t>Print</a:t>
            </a:r>
            <a:r>
              <a:rPr lang="ru-RU" dirty="0"/>
              <a:t> может быть вызвана </a:t>
            </a:r>
            <a:r>
              <a:rPr lang="ru-RU" b="1" dirty="0"/>
              <a:t>только для временных объектов</a:t>
            </a:r>
            <a:r>
              <a:rPr lang="ru-RU" dirty="0"/>
              <a:t> типа </a:t>
            </a:r>
            <a:r>
              <a:rPr lang="en-US" dirty="0"/>
              <a:t>string.</a:t>
            </a:r>
          </a:p>
          <a:p>
            <a:pPr algn="ctr"/>
            <a:r>
              <a:rPr lang="ru-RU" dirty="0"/>
              <a:t>При ее отсутствии всегда будет вызываться версия</a:t>
            </a:r>
            <a:r>
              <a:rPr lang="en-US" dirty="0"/>
              <a:t> Print</a:t>
            </a:r>
            <a:r>
              <a:rPr lang="ru-RU" dirty="0"/>
              <a:t>, принимающая </a:t>
            </a:r>
            <a:r>
              <a:rPr lang="en-US" dirty="0" err="1"/>
              <a:t>lvalue</a:t>
            </a:r>
            <a:r>
              <a:rPr lang="en-US" dirty="0"/>
              <a:t>-</a:t>
            </a:r>
            <a:r>
              <a:rPr lang="ru-RU" dirty="0"/>
              <a:t>ссылку</a:t>
            </a:r>
          </a:p>
        </p:txBody>
      </p:sp>
    </p:spTree>
    <p:extLst>
      <p:ext uri="{BB962C8B-B14F-4D97-AF65-F5344CB8AC3E}">
        <p14:creationId xmlns:p14="http://schemas.microsoft.com/office/powerpoint/2010/main" val="41191980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</p:bldLst>
  </p:timing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C4FCF58-D7BE-C59A-9D39-5C0E010AE084}"/>
              </a:ext>
            </a:extLst>
          </p:cNvPr>
          <p:cNvSpPr txBox="1"/>
          <p:nvPr/>
        </p:nvSpPr>
        <p:spPr>
          <a:xfrm>
            <a:off x="0" y="0"/>
            <a:ext cx="11712624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MovingStudent</a:t>
            </a:r>
            <a:r>
              <a:rPr lang="ru-RU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explicit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MovingStudent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: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MovingStudent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(const std::string&amp; name)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explicit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MovingStudent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&amp;&amp;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: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move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MovingStudent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(std::string&amp;&amp; name)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Ivan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MovingStudent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student2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Будет вызвано копирование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name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MovingStudent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student3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Ivan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Будет вызвано перемещение временного объекта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MovingStudent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student4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move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Будет вызвано перемещение из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name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E003935-686F-1424-6B3E-031310F3AA5B}"/>
              </a:ext>
            </a:extLst>
          </p:cNvPr>
          <p:cNvSpPr txBox="1"/>
          <p:nvPr/>
        </p:nvSpPr>
        <p:spPr>
          <a:xfrm>
            <a:off x="6096000" y="4221088"/>
            <a:ext cx="5256584" cy="923330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MovingStudent</a:t>
            </a:r>
            <a:r>
              <a:rPr lang="en-US" dirty="0">
                <a:latin typeface="Consolas" panose="020B0609020204030204" pitchFamily="49" charset="0"/>
              </a:rPr>
              <a:t>(const std::string&amp; name)</a:t>
            </a:r>
          </a:p>
          <a:p>
            <a:r>
              <a:rPr lang="en-US" dirty="0" err="1">
                <a:latin typeface="Consolas" panose="020B0609020204030204" pitchFamily="49" charset="0"/>
              </a:rPr>
              <a:t>MovingStudent</a:t>
            </a:r>
            <a:r>
              <a:rPr lang="en-US" dirty="0">
                <a:latin typeface="Consolas" panose="020B0609020204030204" pitchFamily="49" charset="0"/>
              </a:rPr>
              <a:t>(std::string&amp;&amp; name)</a:t>
            </a:r>
          </a:p>
          <a:p>
            <a:r>
              <a:rPr lang="en-US" dirty="0" err="1">
                <a:latin typeface="Consolas" panose="020B0609020204030204" pitchFamily="49" charset="0"/>
              </a:rPr>
              <a:t>MovingStudent</a:t>
            </a:r>
            <a:r>
              <a:rPr lang="en-US" dirty="0">
                <a:latin typeface="Consolas" panose="020B0609020204030204" pitchFamily="49" charset="0"/>
              </a:rPr>
              <a:t>(std::string&amp;&amp; name)</a:t>
            </a:r>
          </a:p>
        </p:txBody>
      </p:sp>
    </p:spTree>
    <p:extLst>
      <p:ext uri="{BB962C8B-B14F-4D97-AF65-F5344CB8AC3E}">
        <p14:creationId xmlns:p14="http://schemas.microsoft.com/office/powerpoint/2010/main" val="1161662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4CBAD7D-4E30-58DE-C520-B20EE23FA5C6}"/>
              </a:ext>
            </a:extLst>
          </p:cNvPr>
          <p:cNvSpPr txBox="1"/>
          <p:nvPr/>
        </p:nvSpPr>
        <p:spPr>
          <a:xfrm>
            <a:off x="14936" y="0"/>
            <a:ext cx="6096000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Name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Name(const char*)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Name(const Name&amp;)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&amp;&amp;)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Name(Name&amp;&amp;)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E365670-210C-E6ED-EF6B-DB1BFB95AFF0}"/>
              </a:ext>
            </a:extLst>
          </p:cNvPr>
          <p:cNvSpPr txBox="1"/>
          <p:nvPr/>
        </p:nvSpPr>
        <p:spPr>
          <a:xfrm>
            <a:off x="6110936" y="0"/>
            <a:ext cx="6120384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ByValueStudent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explicit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ByValueStudent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: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move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8829CF8-FD1B-360C-6A96-3185D45FB936}"/>
              </a:ext>
            </a:extLst>
          </p:cNvPr>
          <p:cNvSpPr txBox="1"/>
          <p:nvPr/>
        </p:nvSpPr>
        <p:spPr>
          <a:xfrm>
            <a:off x="14936" y="4241045"/>
            <a:ext cx="7776864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Ivan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---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ByValueStudent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student5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Copy + Move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---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ByValueStudent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student6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Ivan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Create + Move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---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ByValueStudent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student7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move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Move + Move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8749D55-A6B6-5F48-E84E-0885ED7D8F5A}"/>
              </a:ext>
            </a:extLst>
          </p:cNvPr>
          <p:cNvSpPr txBox="1"/>
          <p:nvPr/>
        </p:nvSpPr>
        <p:spPr>
          <a:xfrm>
            <a:off x="8472264" y="3724768"/>
            <a:ext cx="3600400" cy="2862322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Name(const char*)</a:t>
            </a:r>
          </a:p>
          <a:p>
            <a:r>
              <a:rPr lang="en-US" dirty="0">
                <a:latin typeface="Consolas" panose="020B0609020204030204" pitchFamily="49" charset="0"/>
              </a:rPr>
              <a:t>---</a:t>
            </a:r>
          </a:p>
          <a:p>
            <a:r>
              <a:rPr lang="en-US" dirty="0">
                <a:latin typeface="Consolas" panose="020B0609020204030204" pitchFamily="49" charset="0"/>
              </a:rPr>
              <a:t>Name(const Name&amp;)</a:t>
            </a:r>
          </a:p>
          <a:p>
            <a:r>
              <a:rPr lang="en-US" dirty="0">
                <a:latin typeface="Consolas" panose="020B0609020204030204" pitchFamily="49" charset="0"/>
              </a:rPr>
              <a:t>Name(Name&amp;&amp;)</a:t>
            </a:r>
          </a:p>
          <a:p>
            <a:r>
              <a:rPr lang="en-US" dirty="0">
                <a:latin typeface="Consolas" panose="020B0609020204030204" pitchFamily="49" charset="0"/>
              </a:rPr>
              <a:t>---</a:t>
            </a:r>
          </a:p>
          <a:p>
            <a:r>
              <a:rPr lang="en-US" dirty="0">
                <a:latin typeface="Consolas" panose="020B0609020204030204" pitchFamily="49" charset="0"/>
              </a:rPr>
              <a:t>Name(const char*)</a:t>
            </a:r>
          </a:p>
          <a:p>
            <a:r>
              <a:rPr lang="en-US" dirty="0">
                <a:latin typeface="Consolas" panose="020B0609020204030204" pitchFamily="49" charset="0"/>
              </a:rPr>
              <a:t>Name(Name&amp;&amp;)</a:t>
            </a:r>
          </a:p>
          <a:p>
            <a:r>
              <a:rPr lang="en-US" dirty="0">
                <a:latin typeface="Consolas" panose="020B0609020204030204" pitchFamily="49" charset="0"/>
              </a:rPr>
              <a:t>---</a:t>
            </a:r>
          </a:p>
          <a:p>
            <a:r>
              <a:rPr lang="en-US" dirty="0">
                <a:latin typeface="Consolas" panose="020B0609020204030204" pitchFamily="49" charset="0"/>
              </a:rPr>
              <a:t>Name(Name&amp;&amp;)</a:t>
            </a:r>
          </a:p>
          <a:p>
            <a:r>
              <a:rPr lang="en-US" dirty="0">
                <a:latin typeface="Consolas" panose="020B0609020204030204" pitchFamily="49" charset="0"/>
              </a:rPr>
              <a:t>Name(Name&amp;&amp;)</a:t>
            </a:r>
          </a:p>
        </p:txBody>
      </p:sp>
    </p:spTree>
    <p:extLst>
      <p:ext uri="{BB962C8B-B14F-4D97-AF65-F5344CB8AC3E}">
        <p14:creationId xmlns:p14="http://schemas.microsoft.com/office/powerpoint/2010/main" val="22651455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Перемещающий конструктор и оператор присваивания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Перемещающий конструктор</a:t>
            </a:r>
          </a:p>
          <a:p>
            <a:pPr lvl="1"/>
            <a:r>
              <a:rPr lang="ru-RU" dirty="0"/>
              <a:t>Служит для создания нового объекта на основе значения временного объекта</a:t>
            </a:r>
          </a:p>
          <a:p>
            <a:pPr lvl="2"/>
            <a:r>
              <a:rPr lang="ru-RU" dirty="0"/>
              <a:t>Содержимое временного объекта </a:t>
            </a:r>
            <a:r>
              <a:rPr lang="ru-RU" b="1" dirty="0"/>
              <a:t>перемещается</a:t>
            </a:r>
            <a:r>
              <a:rPr lang="ru-RU" dirty="0"/>
              <a:t> к создаваемому объекту</a:t>
            </a:r>
          </a:p>
          <a:p>
            <a:r>
              <a:rPr lang="ru-RU" dirty="0"/>
              <a:t>Перемещающий оператор присваивания</a:t>
            </a:r>
          </a:p>
          <a:p>
            <a:pPr lvl="1"/>
            <a:r>
              <a:rPr lang="ru-RU" dirty="0"/>
              <a:t>Служит для изменения значения объекта путем присваивания значения временного объекта</a:t>
            </a:r>
          </a:p>
          <a:p>
            <a:pPr lvl="2"/>
            <a:r>
              <a:rPr lang="ru-RU" dirty="0"/>
              <a:t>Содержимое временного объекта перемещается к объекту в левой части присваивания</a:t>
            </a:r>
          </a:p>
          <a:p>
            <a:pPr lvl="2"/>
            <a:r>
              <a:rPr lang="ru-RU" dirty="0"/>
              <a:t>Перегрузка операторов присваивания будет рассмотрена в следующей лекции</a:t>
            </a:r>
          </a:p>
          <a:p>
            <a:pPr lvl="1"/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3223147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Что значит «переместить содержимое объекта»?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Для примитивных значений (</a:t>
            </a:r>
            <a:r>
              <a:rPr lang="en-US" dirty="0" err="1"/>
              <a:t>int</a:t>
            </a:r>
            <a:r>
              <a:rPr lang="en-US" dirty="0"/>
              <a:t>, double, </a:t>
            </a:r>
            <a:r>
              <a:rPr lang="ru-RU" dirty="0"/>
              <a:t>и т.п.) эта операция эквивалентна копированию</a:t>
            </a:r>
          </a:p>
          <a:p>
            <a:r>
              <a:rPr lang="ru-RU" dirty="0"/>
              <a:t>С владеющими указателями сложнее:</a:t>
            </a:r>
          </a:p>
          <a:p>
            <a:pPr lvl="1"/>
            <a:r>
              <a:rPr lang="ru-RU" dirty="0"/>
              <a:t>Вместо выделения памяти и ее инициализации, мы забираем указатель себе, обнуляя соответсвующий указатель временного объекта</a:t>
            </a:r>
          </a:p>
          <a:p>
            <a:pPr lvl="2"/>
            <a:r>
              <a:rPr lang="ru-RU" dirty="0"/>
              <a:t>Применяется, как правило, при эксклюзивном владении данными, переданными по указателю</a:t>
            </a:r>
          </a:p>
          <a:p>
            <a:r>
              <a:rPr lang="ru-RU" dirty="0"/>
              <a:t>Перемещение иных типов данных выполняется с учетом конкретных особенностей их использования объектом</a:t>
            </a:r>
          </a:p>
          <a:p>
            <a:pPr lvl="1"/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9393643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Требования Стандарта к перемещающему конструктору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Значение создаваемого объекта должно быть равно значению оригинального объекта до вызова перемещающего конструктора</a:t>
            </a:r>
          </a:p>
          <a:p>
            <a:r>
              <a:rPr lang="ru-RU" dirty="0"/>
              <a:t>После перемещения объект должен остаться в некотором валидном состоянии, возможно, неизвестном</a:t>
            </a:r>
          </a:p>
          <a:p>
            <a:pPr lvl="1"/>
            <a:r>
              <a:rPr lang="ru-RU" dirty="0"/>
              <a:t>В общем случае полагаться на состояние объекта после перемещения нельзя</a:t>
            </a:r>
          </a:p>
          <a:p>
            <a:pPr lvl="2"/>
            <a:r>
              <a:rPr lang="en-US" dirty="0"/>
              <a:t>string, vector</a:t>
            </a:r>
          </a:p>
          <a:p>
            <a:r>
              <a:rPr lang="ru-RU" dirty="0"/>
              <a:t>Для некоторых классов (например, </a:t>
            </a:r>
            <a:r>
              <a:rPr lang="en-US" dirty="0" err="1"/>
              <a:t>unique_ptr</a:t>
            </a:r>
            <a:r>
              <a:rPr lang="ru-RU" dirty="0"/>
              <a:t>)</a:t>
            </a:r>
            <a:r>
              <a:rPr lang="en-US" dirty="0"/>
              <a:t> </a:t>
            </a:r>
            <a:r>
              <a:rPr lang="ru-RU" dirty="0"/>
              <a:t>поведение перемещающего конструктора определено</a:t>
            </a:r>
          </a:p>
          <a:p>
            <a:pPr lvl="1"/>
            <a:r>
              <a:rPr lang="ru-RU" dirty="0"/>
              <a:t>Правый указатель будет «пустым»</a:t>
            </a:r>
          </a:p>
        </p:txBody>
      </p:sp>
    </p:spTree>
    <p:extLst>
      <p:ext uri="{BB962C8B-B14F-4D97-AF65-F5344CB8AC3E}">
        <p14:creationId xmlns:p14="http://schemas.microsoft.com/office/powerpoint/2010/main" val="26601559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1631504" y="0"/>
            <a:ext cx="8424936" cy="69865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defTabSz="180975"/>
            <a:r>
              <a:rPr lang="en-US" sz="1600" b="1" dirty="0">
                <a:latin typeface="Courier New" pitchFamily="49" charset="0"/>
                <a:cs typeface="Courier New" pitchFamily="49" charset="0"/>
              </a:rPr>
              <a:t>class </a:t>
            </a:r>
            <a:r>
              <a:rPr lang="en-US" sz="1600" b="1" dirty="0" err="1">
                <a:latin typeface="Courier New" pitchFamily="49" charset="0"/>
                <a:cs typeface="Courier New" pitchFamily="49" charset="0"/>
              </a:rPr>
              <a:t>IntArray</a:t>
            </a:r>
            <a:endParaRPr lang="en-US" sz="1600" b="1" dirty="0">
              <a:latin typeface="Courier New" pitchFamily="49" charset="0"/>
              <a:cs typeface="Courier New" pitchFamily="49" charset="0"/>
            </a:endParaRPr>
          </a:p>
          <a:p>
            <a:pPr defTabSz="180975"/>
            <a:r>
              <a:rPr lang="ru-RU" sz="1600" b="1" dirty="0">
                <a:latin typeface="Courier New" pitchFamily="49" charset="0"/>
                <a:cs typeface="Courier New" pitchFamily="49" charset="0"/>
              </a:rPr>
              <a:t>{</a:t>
            </a:r>
          </a:p>
          <a:p>
            <a:pPr defTabSz="180975"/>
            <a:r>
              <a:rPr lang="en-US" sz="1600" b="1" dirty="0">
                <a:latin typeface="Courier New" pitchFamily="49" charset="0"/>
                <a:cs typeface="Courier New" pitchFamily="49" charset="0"/>
              </a:rPr>
              <a:t>public:</a:t>
            </a:r>
          </a:p>
          <a:p>
            <a:pPr defTabSz="180975"/>
            <a:r>
              <a:rPr lang="en-US" sz="1600" b="1" dirty="0">
                <a:latin typeface="Courier New" pitchFamily="49" charset="0"/>
                <a:cs typeface="Courier New" pitchFamily="49" charset="0"/>
              </a:rPr>
              <a:t>	</a:t>
            </a:r>
            <a:r>
              <a:rPr lang="en-US" sz="1600" b="1" dirty="0" err="1">
                <a:latin typeface="Courier New" pitchFamily="49" charset="0"/>
                <a:cs typeface="Courier New" pitchFamily="49" charset="0"/>
              </a:rPr>
              <a:t>IntArray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():</a:t>
            </a:r>
            <a:r>
              <a:rPr lang="en-US" sz="1600" b="1" dirty="0" err="1">
                <a:latin typeface="Courier New" pitchFamily="49" charset="0"/>
                <a:cs typeface="Courier New" pitchFamily="49" charset="0"/>
              </a:rPr>
              <a:t>m_pData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(NULL), </a:t>
            </a:r>
            <a:r>
              <a:rPr lang="en-US" sz="1600" b="1" dirty="0" err="1">
                <a:latin typeface="Courier New" pitchFamily="49" charset="0"/>
                <a:cs typeface="Courier New" pitchFamily="49" charset="0"/>
              </a:rPr>
              <a:t>m_size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(0){}</a:t>
            </a:r>
          </a:p>
          <a:p>
            <a:pPr defTabSz="180975"/>
            <a:endParaRPr lang="ru-RU" sz="1600" b="1" dirty="0">
              <a:latin typeface="Courier New" pitchFamily="49" charset="0"/>
              <a:cs typeface="Courier New" pitchFamily="49" charset="0"/>
            </a:endParaRPr>
          </a:p>
          <a:p>
            <a:pPr defTabSz="180975"/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	</a:t>
            </a:r>
            <a:r>
              <a:rPr lang="en-US" sz="1600" b="1" dirty="0" err="1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IntArray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b="1" dirty="0" err="1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IntArray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 err="1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&amp; </a:t>
            </a:r>
            <a:r>
              <a:rPr lang="en-US" sz="1600" b="1" dirty="0" err="1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arr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  <a:p>
            <a:pPr defTabSz="180975"/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	</a:t>
            </a:r>
            <a:r>
              <a:rPr lang="ru-RU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	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:</a:t>
            </a:r>
            <a:r>
              <a:rPr lang="en-US" sz="1600" b="1" dirty="0" err="1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m_pData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(new </a:t>
            </a:r>
            <a:r>
              <a:rPr lang="en-US" sz="1600" b="1" dirty="0" err="1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 [</a:t>
            </a:r>
            <a:r>
              <a:rPr lang="en-US" sz="1600" b="1" dirty="0" err="1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arr.m_size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]), </a:t>
            </a:r>
            <a:r>
              <a:rPr lang="en-US" sz="1600" b="1" dirty="0" err="1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m_size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b="1" dirty="0" err="1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arr.m_size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  <a:p>
            <a:pPr defTabSz="180975"/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	</a:t>
            </a:r>
            <a:r>
              <a:rPr lang="ru-RU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{</a:t>
            </a:r>
          </a:p>
          <a:p>
            <a:pPr defTabSz="180975"/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		if (</a:t>
            </a:r>
            <a:r>
              <a:rPr lang="en-US" sz="1600" b="1" dirty="0" err="1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m_size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 != 0)</a:t>
            </a:r>
          </a:p>
          <a:p>
            <a:pPr defTabSz="180975"/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		</a:t>
            </a:r>
            <a:r>
              <a:rPr lang="ru-RU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{</a:t>
            </a:r>
          </a:p>
          <a:p>
            <a:pPr defTabSz="180975"/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			</a:t>
            </a:r>
            <a:r>
              <a:rPr lang="en-US" sz="1600" b="1" dirty="0" err="1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memcpy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b="1" dirty="0" err="1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m_pData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b="1" dirty="0" err="1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arr.m_pData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b="1" dirty="0" err="1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sizeof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b="1" dirty="0" err="1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) * </a:t>
            </a:r>
            <a:r>
              <a:rPr lang="en-US" sz="1600" b="1" dirty="0" err="1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m_size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);</a:t>
            </a:r>
          </a:p>
          <a:p>
            <a:pPr defTabSz="180975"/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		</a:t>
            </a:r>
            <a:r>
              <a:rPr lang="ru-RU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}</a:t>
            </a:r>
          </a:p>
          <a:p>
            <a:pPr defTabSz="180975"/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	</a:t>
            </a:r>
            <a:r>
              <a:rPr lang="ru-RU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}</a:t>
            </a:r>
          </a:p>
          <a:p>
            <a:pPr defTabSz="180975"/>
            <a:endParaRPr lang="ru-RU" sz="1600" b="1" dirty="0">
              <a:latin typeface="Courier New" pitchFamily="49" charset="0"/>
              <a:cs typeface="Courier New" pitchFamily="49" charset="0"/>
            </a:endParaRPr>
          </a:p>
          <a:p>
            <a:pPr defTabSz="180975"/>
            <a:r>
              <a:rPr lang="en-US" sz="16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	</a:t>
            </a:r>
            <a:r>
              <a:rPr lang="en-US" sz="1600" b="1" dirty="0" err="1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IntArray</a:t>
            </a:r>
            <a:r>
              <a:rPr lang="en-US" sz="16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b="1" dirty="0" err="1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IntArray</a:t>
            </a:r>
            <a:r>
              <a:rPr lang="en-US" sz="16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 &amp;&amp; </a:t>
            </a:r>
            <a:r>
              <a:rPr lang="en-US" sz="1600" b="1" dirty="0" err="1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arr</a:t>
            </a:r>
            <a:r>
              <a:rPr lang="en-US" sz="16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  <a:p>
            <a:pPr defTabSz="180975"/>
            <a:r>
              <a:rPr lang="en-US" sz="16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	</a:t>
            </a:r>
            <a:r>
              <a:rPr lang="ru-RU" sz="16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	</a:t>
            </a:r>
            <a:r>
              <a:rPr lang="en-US" sz="16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:</a:t>
            </a:r>
            <a:r>
              <a:rPr lang="en-US" sz="1600" b="1" dirty="0" err="1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m_pData</a:t>
            </a:r>
            <a:r>
              <a:rPr lang="en-US" sz="16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b="1" dirty="0" err="1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arr.m_pData</a:t>
            </a:r>
            <a:r>
              <a:rPr lang="en-US" sz="16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), </a:t>
            </a:r>
            <a:r>
              <a:rPr lang="en-US" sz="1600" b="1" dirty="0" err="1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m_size</a:t>
            </a:r>
            <a:r>
              <a:rPr lang="en-US" sz="16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b="1" dirty="0" err="1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arr.m_size</a:t>
            </a:r>
            <a:r>
              <a:rPr lang="en-US" sz="16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  <a:p>
            <a:pPr defTabSz="180975"/>
            <a:r>
              <a:rPr lang="en-US" sz="16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	</a:t>
            </a:r>
            <a:r>
              <a:rPr lang="ru-RU" sz="16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{</a:t>
            </a:r>
          </a:p>
          <a:p>
            <a:pPr defTabSz="180975"/>
            <a:r>
              <a:rPr lang="ru-RU" sz="16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		</a:t>
            </a:r>
            <a:r>
              <a:rPr lang="en-US" sz="16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//</a:t>
            </a:r>
            <a:r>
              <a:rPr lang="ru-RU" sz="16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 Оригинальный объект более не владеет массивом</a:t>
            </a:r>
          </a:p>
          <a:p>
            <a:pPr defTabSz="180975"/>
            <a:r>
              <a:rPr lang="en-US" sz="16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		</a:t>
            </a:r>
            <a:r>
              <a:rPr lang="en-US" sz="1600" b="1" dirty="0" err="1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arr.m_pData</a:t>
            </a:r>
            <a:r>
              <a:rPr lang="en-US" sz="16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1600" b="1" dirty="0" err="1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nullptr</a:t>
            </a:r>
            <a:r>
              <a:rPr lang="en-US" sz="16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;</a:t>
            </a:r>
            <a:endParaRPr lang="ru-RU" sz="1600" b="1" dirty="0">
              <a:solidFill>
                <a:srgbClr val="FF0000"/>
              </a:solidFill>
              <a:latin typeface="Courier New" pitchFamily="49" charset="0"/>
              <a:cs typeface="Courier New" pitchFamily="49" charset="0"/>
            </a:endParaRPr>
          </a:p>
          <a:p>
            <a:pPr defTabSz="180975"/>
            <a:r>
              <a:rPr lang="ru-RU" sz="16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		</a:t>
            </a:r>
            <a:r>
              <a:rPr lang="en-US" sz="1600" b="1" dirty="0" err="1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arr.m_size</a:t>
            </a:r>
            <a:r>
              <a:rPr lang="en-US" sz="16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 = 0;</a:t>
            </a:r>
          </a:p>
          <a:p>
            <a:pPr defTabSz="180975"/>
            <a:r>
              <a:rPr lang="en-US" sz="16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	</a:t>
            </a:r>
            <a:r>
              <a:rPr lang="ru-RU" sz="16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}</a:t>
            </a:r>
          </a:p>
          <a:p>
            <a:pPr defTabSz="180975"/>
            <a:endParaRPr lang="ru-RU" sz="1600" b="1" dirty="0">
              <a:latin typeface="Courier New" pitchFamily="49" charset="0"/>
              <a:cs typeface="Courier New" pitchFamily="49" charset="0"/>
            </a:endParaRPr>
          </a:p>
          <a:p>
            <a:pPr defTabSz="180975"/>
            <a:r>
              <a:rPr lang="en-US" sz="1600" b="1" dirty="0">
                <a:latin typeface="Courier New" pitchFamily="49" charset="0"/>
                <a:cs typeface="Courier New" pitchFamily="49" charset="0"/>
              </a:rPr>
              <a:t>	~</a:t>
            </a:r>
            <a:r>
              <a:rPr lang="en-US" sz="1600" b="1" dirty="0" err="1">
                <a:latin typeface="Courier New" pitchFamily="49" charset="0"/>
                <a:cs typeface="Courier New" pitchFamily="49" charset="0"/>
              </a:rPr>
              <a:t>IntArray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(){delete [] </a:t>
            </a:r>
            <a:r>
              <a:rPr lang="en-US" sz="1600" b="1" dirty="0" err="1">
                <a:latin typeface="Courier New" pitchFamily="49" charset="0"/>
                <a:cs typeface="Courier New" pitchFamily="49" charset="0"/>
              </a:rPr>
              <a:t>m_pData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;}</a:t>
            </a:r>
          </a:p>
          <a:p>
            <a:pPr defTabSz="180975"/>
            <a:endParaRPr lang="ru-RU" sz="1600" b="1" dirty="0">
              <a:latin typeface="Courier New" pitchFamily="49" charset="0"/>
              <a:cs typeface="Courier New" pitchFamily="49" charset="0"/>
            </a:endParaRPr>
          </a:p>
          <a:p>
            <a:pPr defTabSz="180975"/>
            <a:r>
              <a:rPr lang="en-US" sz="1600" b="1" dirty="0">
                <a:latin typeface="Courier New" pitchFamily="49" charset="0"/>
                <a:cs typeface="Courier New" pitchFamily="49" charset="0"/>
              </a:rPr>
              <a:t>private:</a:t>
            </a:r>
          </a:p>
          <a:p>
            <a:pPr defTabSz="180975"/>
            <a:r>
              <a:rPr lang="en-US" sz="1600" b="1" dirty="0">
                <a:latin typeface="Courier New" pitchFamily="49" charset="0"/>
                <a:cs typeface="Courier New" pitchFamily="49" charset="0"/>
              </a:rPr>
              <a:t>	</a:t>
            </a:r>
            <a:r>
              <a:rPr lang="en-US" sz="1600" b="1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 * </a:t>
            </a:r>
            <a:r>
              <a:rPr lang="en-US" sz="1600" b="1" dirty="0" err="1">
                <a:latin typeface="Courier New" pitchFamily="49" charset="0"/>
                <a:cs typeface="Courier New" pitchFamily="49" charset="0"/>
              </a:rPr>
              <a:t>m_pData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pPr defTabSz="180975"/>
            <a:r>
              <a:rPr lang="en-US" sz="1600" b="1" dirty="0">
                <a:latin typeface="Courier New" pitchFamily="49" charset="0"/>
                <a:cs typeface="Courier New" pitchFamily="49" charset="0"/>
              </a:rPr>
              <a:t>	</a:t>
            </a:r>
            <a:r>
              <a:rPr lang="en-US" sz="1600" b="1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 err="1">
                <a:latin typeface="Courier New" pitchFamily="49" charset="0"/>
                <a:cs typeface="Courier New" pitchFamily="49" charset="0"/>
              </a:rPr>
              <a:t>m_size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pPr defTabSz="180975"/>
            <a:r>
              <a:rPr lang="ru-RU" sz="1600" b="1" dirty="0">
                <a:latin typeface="Courier New" pitchFamily="49" charset="0"/>
                <a:cs typeface="Courier New" pitchFamily="49" charset="0"/>
              </a:rPr>
              <a:t>};</a:t>
            </a:r>
          </a:p>
        </p:txBody>
      </p:sp>
      <p:sp>
        <p:nvSpPr>
          <p:cNvPr id="5" name="Line Callout 2 4"/>
          <p:cNvSpPr/>
          <p:nvPr/>
        </p:nvSpPr>
        <p:spPr>
          <a:xfrm>
            <a:off x="6671556" y="2852936"/>
            <a:ext cx="3996444" cy="756084"/>
          </a:xfrm>
          <a:prstGeom prst="borderCallout2">
            <a:avLst>
              <a:gd name="adj1" fmla="val 70669"/>
              <a:gd name="adj2" fmla="val -1984"/>
              <a:gd name="adj3" fmla="val 71363"/>
              <a:gd name="adj4" fmla="val -12245"/>
              <a:gd name="adj5" fmla="val 119051"/>
              <a:gd name="adj6" fmla="val -39796"/>
            </a:avLst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/>
              <a:t>Перемещающий конструктор «крадет» у оригинала его данные</a:t>
            </a:r>
          </a:p>
        </p:txBody>
      </p:sp>
      <p:sp>
        <p:nvSpPr>
          <p:cNvPr id="6" name="Line Callout 2 5"/>
          <p:cNvSpPr/>
          <p:nvPr/>
        </p:nvSpPr>
        <p:spPr>
          <a:xfrm>
            <a:off x="6675761" y="260648"/>
            <a:ext cx="3996444" cy="756084"/>
          </a:xfrm>
          <a:prstGeom prst="borderCallout2">
            <a:avLst>
              <a:gd name="adj1" fmla="val 114795"/>
              <a:gd name="adj2" fmla="val 5746"/>
              <a:gd name="adj3" fmla="val 143273"/>
              <a:gd name="adj4" fmla="val -4206"/>
              <a:gd name="adj5" fmla="val 150103"/>
              <a:gd name="adj6" fmla="val -28974"/>
            </a:avLst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/>
              <a:t>Копирующий конструктор</a:t>
            </a:r>
          </a:p>
        </p:txBody>
      </p:sp>
    </p:spTree>
    <p:extLst>
      <p:ext uri="{BB962C8B-B14F-4D97-AF65-F5344CB8AC3E}">
        <p14:creationId xmlns:p14="http://schemas.microsoft.com/office/powerpoint/2010/main" val="9728974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</p:bldLst>
  </p:timing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E8D7A3BF-EEAC-4BC2-87A0-744254C01F56}"/>
              </a:ext>
            </a:extLst>
          </p:cNvPr>
          <p:cNvSpPr txBox="1"/>
          <p:nvPr/>
        </p:nvSpPr>
        <p:spPr>
          <a:xfrm>
            <a:off x="220666" y="396361"/>
            <a:ext cx="11352584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String {</a:t>
            </a: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…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String(String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&amp;&amp;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other)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: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m_size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 std::exchange(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other.m_size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,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m_capacity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 std::exchange(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other.m_capacity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,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m_chars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hlinkClick r:id="rId2"/>
              </a:rPr>
              <a:t>std::exchange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other.m_chars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s_emptyString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…</a:t>
            </a:r>
            <a:endParaRPr lang="ru-RU" b="0" dirty="0">
              <a:solidFill>
                <a:srgbClr val="0000FF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…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inline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s_emptyString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= {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'\0'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};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m_size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m_capacity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m_chars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8087017D-F422-49F8-B3DE-027FF327C3FB}"/>
              </a:ext>
            </a:extLst>
          </p:cNvPr>
          <p:cNvSpPr/>
          <p:nvPr/>
        </p:nvSpPr>
        <p:spPr>
          <a:xfrm>
            <a:off x="6638822" y="4509120"/>
            <a:ext cx="1919830" cy="64807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m_chars</a:t>
            </a:r>
            <a:endParaRPr lang="ru-RU" dirty="0"/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5F552EFC-A664-47B5-93A6-6393B33D806D}"/>
              </a:ext>
            </a:extLst>
          </p:cNvPr>
          <p:cNvSpPr/>
          <p:nvPr/>
        </p:nvSpPr>
        <p:spPr>
          <a:xfrm>
            <a:off x="6663208" y="5805264"/>
            <a:ext cx="1919830" cy="64807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other.m_chars</a:t>
            </a:r>
            <a:endParaRPr lang="ru-RU" dirty="0"/>
          </a:p>
        </p:txBody>
      </p:sp>
      <p:grpSp>
        <p:nvGrpSpPr>
          <p:cNvPr id="11" name="Группа 10">
            <a:extLst>
              <a:ext uri="{FF2B5EF4-FFF2-40B4-BE49-F238E27FC236}">
                <a16:creationId xmlns:a16="http://schemas.microsoft.com/office/drawing/2014/main" id="{B1351A42-8249-417E-86B7-2BCAC67CF90D}"/>
              </a:ext>
            </a:extLst>
          </p:cNvPr>
          <p:cNvGrpSpPr/>
          <p:nvPr/>
        </p:nvGrpSpPr>
        <p:grpSpPr>
          <a:xfrm>
            <a:off x="9840416" y="5211873"/>
            <a:ext cx="2160240" cy="432048"/>
            <a:chOff x="12288688" y="4144460"/>
            <a:chExt cx="2160240" cy="432048"/>
          </a:xfrm>
        </p:grpSpPr>
        <p:sp>
          <p:nvSpPr>
            <p:cNvPr id="12" name="Прямоугольник 11">
              <a:extLst>
                <a:ext uri="{FF2B5EF4-FFF2-40B4-BE49-F238E27FC236}">
                  <a16:creationId xmlns:a16="http://schemas.microsoft.com/office/drawing/2014/main" id="{F921C691-7469-4219-AA97-132AC0371978}"/>
                </a:ext>
              </a:extLst>
            </p:cNvPr>
            <p:cNvSpPr/>
            <p:nvPr/>
          </p:nvSpPr>
          <p:spPr>
            <a:xfrm>
              <a:off x="12288688" y="4144460"/>
              <a:ext cx="432048" cy="432048"/>
            </a:xfrm>
            <a:prstGeom prst="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T</a:t>
              </a:r>
              <a:endParaRPr lang="ru-RU" dirty="0"/>
            </a:p>
          </p:txBody>
        </p:sp>
        <p:sp>
          <p:nvSpPr>
            <p:cNvPr id="13" name="Прямоугольник 12">
              <a:extLst>
                <a:ext uri="{FF2B5EF4-FFF2-40B4-BE49-F238E27FC236}">
                  <a16:creationId xmlns:a16="http://schemas.microsoft.com/office/drawing/2014/main" id="{ABB32655-55D4-4206-809C-553DBEAD58D2}"/>
                </a:ext>
              </a:extLst>
            </p:cNvPr>
            <p:cNvSpPr/>
            <p:nvPr/>
          </p:nvSpPr>
          <p:spPr>
            <a:xfrm>
              <a:off x="12720736" y="4144460"/>
              <a:ext cx="432048" cy="432048"/>
            </a:xfrm>
            <a:prstGeom prst="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E</a:t>
              </a:r>
              <a:endParaRPr lang="ru-RU" dirty="0"/>
            </a:p>
          </p:txBody>
        </p:sp>
        <p:sp>
          <p:nvSpPr>
            <p:cNvPr id="14" name="Прямоугольник 13">
              <a:extLst>
                <a:ext uri="{FF2B5EF4-FFF2-40B4-BE49-F238E27FC236}">
                  <a16:creationId xmlns:a16="http://schemas.microsoft.com/office/drawing/2014/main" id="{8D1DD161-86ED-4454-9635-4193385002E0}"/>
                </a:ext>
              </a:extLst>
            </p:cNvPr>
            <p:cNvSpPr/>
            <p:nvPr/>
          </p:nvSpPr>
          <p:spPr>
            <a:xfrm>
              <a:off x="13152784" y="4144460"/>
              <a:ext cx="432048" cy="432048"/>
            </a:xfrm>
            <a:prstGeom prst="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X</a:t>
              </a:r>
              <a:endParaRPr lang="ru-RU" dirty="0"/>
            </a:p>
          </p:txBody>
        </p:sp>
        <p:sp>
          <p:nvSpPr>
            <p:cNvPr id="15" name="Прямоугольник 14">
              <a:extLst>
                <a:ext uri="{FF2B5EF4-FFF2-40B4-BE49-F238E27FC236}">
                  <a16:creationId xmlns:a16="http://schemas.microsoft.com/office/drawing/2014/main" id="{2F4DA56B-86D4-4875-A774-860E65CD0B03}"/>
                </a:ext>
              </a:extLst>
            </p:cNvPr>
            <p:cNvSpPr/>
            <p:nvPr/>
          </p:nvSpPr>
          <p:spPr>
            <a:xfrm>
              <a:off x="13584832" y="4144460"/>
              <a:ext cx="432048" cy="432048"/>
            </a:xfrm>
            <a:prstGeom prst="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T</a:t>
              </a:r>
              <a:endParaRPr lang="ru-RU" dirty="0"/>
            </a:p>
          </p:txBody>
        </p:sp>
        <p:sp>
          <p:nvSpPr>
            <p:cNvPr id="16" name="Прямоугольник 15">
              <a:extLst>
                <a:ext uri="{FF2B5EF4-FFF2-40B4-BE49-F238E27FC236}">
                  <a16:creationId xmlns:a16="http://schemas.microsoft.com/office/drawing/2014/main" id="{F44E475E-8356-4B29-B7E5-7FDFE1CFF73E}"/>
                </a:ext>
              </a:extLst>
            </p:cNvPr>
            <p:cNvSpPr/>
            <p:nvPr/>
          </p:nvSpPr>
          <p:spPr>
            <a:xfrm>
              <a:off x="14016880" y="4144460"/>
              <a:ext cx="432048" cy="432048"/>
            </a:xfrm>
            <a:prstGeom prst="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\0</a:t>
              </a:r>
              <a:endParaRPr lang="ru-RU" dirty="0"/>
            </a:p>
          </p:txBody>
        </p:sp>
      </p:grp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335B3D73-1EA7-4B6D-9050-683F04C83E49}"/>
              </a:ext>
            </a:extLst>
          </p:cNvPr>
          <p:cNvSpPr/>
          <p:nvPr/>
        </p:nvSpPr>
        <p:spPr>
          <a:xfrm>
            <a:off x="9830568" y="5880421"/>
            <a:ext cx="432048" cy="432048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\0</a:t>
            </a:r>
            <a:endParaRPr lang="ru-RU" dirty="0"/>
          </a:p>
        </p:txBody>
      </p:sp>
      <p:cxnSp>
        <p:nvCxnSpPr>
          <p:cNvPr id="24" name="Прямая со стрелкой 23">
            <a:extLst>
              <a:ext uri="{FF2B5EF4-FFF2-40B4-BE49-F238E27FC236}">
                <a16:creationId xmlns:a16="http://schemas.microsoft.com/office/drawing/2014/main" id="{CA7383FC-CEE9-419D-A39B-F65871D841AF}"/>
              </a:ext>
            </a:extLst>
          </p:cNvPr>
          <p:cNvCxnSpPr>
            <a:stCxn id="9" idx="3"/>
            <a:endCxn id="12" idx="1"/>
          </p:cNvCxnSpPr>
          <p:nvPr/>
        </p:nvCxnSpPr>
        <p:spPr>
          <a:xfrm flipV="1">
            <a:off x="8583038" y="5427897"/>
            <a:ext cx="1257378" cy="70140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DCDC0A8A-93C5-496C-8C9A-F231BED61127}"/>
              </a:ext>
            </a:extLst>
          </p:cNvPr>
          <p:cNvSpPr txBox="1"/>
          <p:nvPr/>
        </p:nvSpPr>
        <p:spPr>
          <a:xfrm>
            <a:off x="9686552" y="6326667"/>
            <a:ext cx="16660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s_emptyString</a:t>
            </a:r>
            <a:endParaRPr lang="ru-RU" dirty="0"/>
          </a:p>
        </p:txBody>
      </p:sp>
      <p:cxnSp>
        <p:nvCxnSpPr>
          <p:cNvPr id="26" name="Прямая со стрелкой 25">
            <a:extLst>
              <a:ext uri="{FF2B5EF4-FFF2-40B4-BE49-F238E27FC236}">
                <a16:creationId xmlns:a16="http://schemas.microsoft.com/office/drawing/2014/main" id="{2F20E04B-1175-4BA0-9E68-A1A7495E1777}"/>
              </a:ext>
            </a:extLst>
          </p:cNvPr>
          <p:cNvCxnSpPr>
            <a:cxnSpLocks/>
            <a:stCxn id="9" idx="3"/>
            <a:endCxn id="18" idx="1"/>
          </p:cNvCxnSpPr>
          <p:nvPr/>
        </p:nvCxnSpPr>
        <p:spPr>
          <a:xfrm flipV="1">
            <a:off x="8583038" y="6096445"/>
            <a:ext cx="1247530" cy="3285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Прямая со стрелкой 28">
            <a:extLst>
              <a:ext uri="{FF2B5EF4-FFF2-40B4-BE49-F238E27FC236}">
                <a16:creationId xmlns:a16="http://schemas.microsoft.com/office/drawing/2014/main" id="{E2AB091F-2B9D-430E-91C9-3E9E8ABAD8E3}"/>
              </a:ext>
            </a:extLst>
          </p:cNvPr>
          <p:cNvCxnSpPr>
            <a:cxnSpLocks/>
            <a:stCxn id="8" idx="3"/>
            <a:endCxn id="12" idx="1"/>
          </p:cNvCxnSpPr>
          <p:nvPr/>
        </p:nvCxnSpPr>
        <p:spPr>
          <a:xfrm>
            <a:off x="8558652" y="4833156"/>
            <a:ext cx="1281764" cy="59474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85793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8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8" grpId="0" animBg="1"/>
      <p:bldP spid="25" grpId="0"/>
    </p:bld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Когда создавать перемещающий конструктор?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-RU" dirty="0"/>
              <a:t>Когда компилятор не может сгенерировать перемещающий конструктор</a:t>
            </a:r>
          </a:p>
          <a:p>
            <a:pPr lvl="1"/>
            <a:r>
              <a:rPr lang="ru-RU" dirty="0"/>
              <a:t>В классе есть явно заданный копирующий конструктор, копирующий или перемещающий оператор присваивания или деструктор</a:t>
            </a:r>
            <a:endParaRPr lang="en-US" dirty="0"/>
          </a:p>
          <a:p>
            <a:r>
              <a:rPr lang="ru-RU" dirty="0"/>
              <a:t>Создание копии объекта является дорогостоящей операцией, а операция перемещения может быть реализована гораздо эффективнее</a:t>
            </a:r>
          </a:p>
          <a:p>
            <a:r>
              <a:rPr lang="ru-RU" dirty="0"/>
              <a:t>Операция копирования для объекта неприменима, но необходима возможность его перемещения</a:t>
            </a:r>
          </a:p>
          <a:p>
            <a:pPr lvl="1"/>
            <a:r>
              <a:rPr lang="ru-RU" dirty="0"/>
              <a:t>Возврат из функции по значению</a:t>
            </a:r>
            <a:endParaRPr lang="en-US" dirty="0"/>
          </a:p>
          <a:p>
            <a:pPr lvl="1"/>
            <a:r>
              <a:rPr lang="ru-RU" dirty="0"/>
              <a:t>Хранение в контейнерах </a:t>
            </a:r>
            <a:r>
              <a:rPr lang="en-US" dirty="0"/>
              <a:t>STL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6872697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Когда нет смысла создавать перемещающий конструктор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Компилятор может создать его автоматически</a:t>
            </a:r>
          </a:p>
          <a:p>
            <a:r>
              <a:rPr lang="ru-RU" dirty="0"/>
              <a:t>Операция перемещения не может быть реализована эффективнее операции копирования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class </a:t>
            </a:r>
            <a:r>
              <a:rPr lang="en-US" dirty="0" err="1">
                <a:latin typeface="Consolas" panose="020B0609020204030204" pitchFamily="49" charset="0"/>
              </a:rPr>
              <a:t>HeavyMovableClass</a:t>
            </a:r>
            <a:br>
              <a:rPr lang="ru-RU" dirty="0">
                <a:latin typeface="Consolas" panose="020B0609020204030204" pitchFamily="49" charset="0"/>
              </a:rPr>
            </a:br>
            <a:r>
              <a:rPr lang="ru-RU" dirty="0">
                <a:latin typeface="Consolas" panose="020B0609020204030204" pitchFamily="49" charset="0"/>
              </a:rPr>
              <a:t>{</a:t>
            </a:r>
            <a:br>
              <a:rPr lang="ru-RU" dirty="0">
                <a:latin typeface="Consolas" panose="020B0609020204030204" pitchFamily="49" charset="0"/>
              </a:rPr>
            </a:br>
            <a:r>
              <a:rPr lang="ru-RU" dirty="0">
                <a:latin typeface="Consolas" panose="020B0609020204030204" pitchFamily="49" charset="0"/>
              </a:rPr>
              <a:t>	</a:t>
            </a:r>
            <a:r>
              <a:rPr lang="en-US" dirty="0" err="1">
                <a:latin typeface="Consolas" panose="020B0609020204030204" pitchFamily="49" charset="0"/>
              </a:rPr>
              <a:t>int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m_someFixedSizeData</a:t>
            </a:r>
            <a:r>
              <a:rPr lang="en-US" dirty="0">
                <a:latin typeface="Consolas" panose="020B0609020204030204" pitchFamily="49" charset="0"/>
              </a:rPr>
              <a:t>[100];</a:t>
            </a:r>
            <a:br>
              <a:rPr lang="ru-RU" dirty="0">
                <a:latin typeface="Consolas" panose="020B0609020204030204" pitchFamily="49" charset="0"/>
              </a:rPr>
            </a:br>
            <a:r>
              <a:rPr lang="ru-RU" dirty="0">
                <a:latin typeface="Consolas" panose="020B0609020204030204" pitchFamily="49" charset="0"/>
              </a:rPr>
              <a:t>};</a:t>
            </a:r>
            <a:endParaRPr lang="en-US" dirty="0">
              <a:latin typeface="Consolas" panose="020B0609020204030204" pitchFamily="49" charset="0"/>
            </a:endParaRPr>
          </a:p>
          <a:p>
            <a:pPr lvl="2"/>
            <a:r>
              <a:rPr lang="ru-RU" dirty="0"/>
              <a:t>Операция перемещения в данном случае будет копировать все элементы</a:t>
            </a:r>
          </a:p>
        </p:txBody>
      </p:sp>
    </p:spTree>
    <p:extLst>
      <p:ext uri="{BB962C8B-B14F-4D97-AF65-F5344CB8AC3E}">
        <p14:creationId xmlns:p14="http://schemas.microsoft.com/office/powerpoint/2010/main" val="34411308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Явное преобразование </a:t>
            </a:r>
            <a:r>
              <a:rPr lang="en-US" dirty="0" err="1"/>
              <a:t>lvalue</a:t>
            </a:r>
            <a:r>
              <a:rPr lang="en-US" dirty="0"/>
              <a:t> </a:t>
            </a:r>
            <a:r>
              <a:rPr lang="ru-RU" dirty="0"/>
              <a:t>в </a:t>
            </a:r>
            <a:r>
              <a:rPr lang="en-US" dirty="0" err="1"/>
              <a:t>rvalue</a:t>
            </a:r>
            <a:r>
              <a:rPr lang="en-US" dirty="0"/>
              <a:t> </a:t>
            </a:r>
            <a:r>
              <a:rPr lang="ru-RU" dirty="0"/>
              <a:t>и </a:t>
            </a:r>
            <a:r>
              <a:rPr lang="en-US" dirty="0" err="1"/>
              <a:t>std</a:t>
            </a:r>
            <a:r>
              <a:rPr lang="en-US" dirty="0"/>
              <a:t>::move</a:t>
            </a:r>
            <a:endParaRPr lang="ru-RU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-RU" dirty="0"/>
              <a:t>Неявное преобразование ссылок на </a:t>
            </a:r>
            <a:r>
              <a:rPr lang="en-US" dirty="0" err="1"/>
              <a:t>lvalue</a:t>
            </a:r>
            <a:r>
              <a:rPr lang="en-US" dirty="0"/>
              <a:t> </a:t>
            </a:r>
            <a:r>
              <a:rPr lang="ru-RU" dirty="0"/>
              <a:t>в ссылку на </a:t>
            </a:r>
            <a:r>
              <a:rPr lang="en-US" dirty="0" err="1"/>
              <a:t>rvalue</a:t>
            </a:r>
            <a:r>
              <a:rPr lang="ru-RU" dirty="0"/>
              <a:t> запрещено Стандартом</a:t>
            </a:r>
          </a:p>
          <a:p>
            <a:pPr lvl="1"/>
            <a:r>
              <a:rPr lang="ru-RU" dirty="0"/>
              <a:t>Именованные объекты </a:t>
            </a:r>
            <a:r>
              <a:rPr lang="en-US" dirty="0"/>
              <a:t>(</a:t>
            </a:r>
            <a:r>
              <a:rPr lang="ru-RU" dirty="0"/>
              <a:t>переменные) трактуются компилятором как </a:t>
            </a:r>
            <a:r>
              <a:rPr lang="en-US" dirty="0" err="1"/>
              <a:t>lvalues</a:t>
            </a:r>
            <a:endParaRPr lang="ru-RU" dirty="0"/>
          </a:p>
          <a:p>
            <a:r>
              <a:rPr lang="ru-RU" dirty="0"/>
              <a:t>В ряде случаев требуется явное преобразование из </a:t>
            </a:r>
            <a:r>
              <a:rPr lang="en-US" dirty="0" err="1"/>
              <a:t>lvalue</a:t>
            </a:r>
            <a:r>
              <a:rPr lang="en-US" dirty="0"/>
              <a:t> </a:t>
            </a:r>
            <a:r>
              <a:rPr lang="ru-RU" dirty="0"/>
              <a:t>в </a:t>
            </a:r>
            <a:r>
              <a:rPr lang="en-US" dirty="0" err="1"/>
              <a:t>rvalue</a:t>
            </a:r>
            <a:endParaRPr lang="en-US" dirty="0"/>
          </a:p>
          <a:p>
            <a:pPr lvl="1"/>
            <a:r>
              <a:rPr lang="ru-RU" dirty="0"/>
              <a:t>Необходимо выполнить операцию (например, перемещение значения) над объектом, не являющегося временным</a:t>
            </a:r>
            <a:endParaRPr lang="en-US" dirty="0"/>
          </a:p>
          <a:p>
            <a:r>
              <a:rPr lang="ru-RU" dirty="0"/>
              <a:t>Библиотека </a:t>
            </a:r>
            <a:r>
              <a:rPr lang="en-US" dirty="0"/>
              <a:t>STL </a:t>
            </a:r>
            <a:r>
              <a:rPr lang="ru-RU" dirty="0"/>
              <a:t>предоставляет функцию </a:t>
            </a:r>
            <a:r>
              <a:rPr lang="en-US" b="1" dirty="0" err="1"/>
              <a:t>std</a:t>
            </a:r>
            <a:r>
              <a:rPr lang="en-US" b="1" dirty="0"/>
              <a:t>::move</a:t>
            </a:r>
            <a:r>
              <a:rPr lang="ru-RU" b="1" dirty="0"/>
              <a:t> </a:t>
            </a:r>
            <a:r>
              <a:rPr lang="ru-RU" dirty="0"/>
              <a:t>(файл </a:t>
            </a:r>
            <a:r>
              <a:rPr lang="en-US" dirty="0"/>
              <a:t>&lt;utility&gt;)</a:t>
            </a:r>
            <a:r>
              <a:rPr lang="ru-RU" dirty="0"/>
              <a:t>, для преобразования</a:t>
            </a:r>
            <a:r>
              <a:rPr lang="en-US" dirty="0"/>
              <a:t> </a:t>
            </a:r>
            <a:r>
              <a:rPr lang="en-US" dirty="0" err="1"/>
              <a:t>lvalue</a:t>
            </a:r>
            <a:r>
              <a:rPr lang="en-US" dirty="0"/>
              <a:t> </a:t>
            </a:r>
            <a:r>
              <a:rPr lang="ru-RU" dirty="0"/>
              <a:t>в </a:t>
            </a:r>
            <a:r>
              <a:rPr lang="en-US" dirty="0" err="1"/>
              <a:t>rvalue</a:t>
            </a:r>
            <a:endParaRPr lang="en-US" dirty="0"/>
          </a:p>
          <a:p>
            <a:pPr lvl="1"/>
            <a:r>
              <a:rPr lang="ru-RU" dirty="0"/>
              <a:t>Программист явно указывает свое намерение выполнить операцию над объектом как над временным</a:t>
            </a:r>
          </a:p>
          <a:p>
            <a:pPr lvl="2"/>
            <a:r>
              <a:rPr lang="ru-RU" dirty="0"/>
              <a:t>Например, выполнить операцию перемещения его значения</a:t>
            </a:r>
          </a:p>
        </p:txBody>
      </p:sp>
    </p:spTree>
    <p:extLst>
      <p:ext uri="{BB962C8B-B14F-4D97-AF65-F5344CB8AC3E}">
        <p14:creationId xmlns:p14="http://schemas.microsoft.com/office/powerpoint/2010/main" val="17614106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1521926" y="17779"/>
            <a:ext cx="9146073" cy="72327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185738"/>
            <a:r>
              <a:rPr lang="en-US" sz="1600" b="1" dirty="0">
                <a:latin typeface="Courier New" pitchFamily="49" charset="0"/>
                <a:cs typeface="Courier New" pitchFamily="49" charset="0"/>
              </a:rPr>
              <a:t>class A</a:t>
            </a:r>
          </a:p>
          <a:p>
            <a:pPr defTabSz="185738"/>
            <a:r>
              <a:rPr lang="ru-RU" sz="1600" b="1" dirty="0">
                <a:latin typeface="Courier New" pitchFamily="49" charset="0"/>
                <a:cs typeface="Courier New" pitchFamily="49" charset="0"/>
              </a:rPr>
              <a:t>{</a:t>
            </a:r>
          </a:p>
          <a:p>
            <a:pPr defTabSz="185738"/>
            <a:r>
              <a:rPr lang="en-US" sz="1600" b="1" dirty="0">
                <a:latin typeface="Courier New" pitchFamily="49" charset="0"/>
                <a:cs typeface="Courier New" pitchFamily="49" charset="0"/>
              </a:rPr>
              <a:t>public:</a:t>
            </a:r>
          </a:p>
          <a:p>
            <a:pPr defTabSz="185738"/>
            <a:r>
              <a:rPr lang="en-US" sz="1600" b="1" dirty="0">
                <a:latin typeface="Courier New" pitchFamily="49" charset="0"/>
                <a:cs typeface="Courier New" pitchFamily="49" charset="0"/>
              </a:rPr>
              <a:t>	A(</a:t>
            </a:r>
            <a:r>
              <a:rPr lang="en-US" sz="1600" b="1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 data):</a:t>
            </a:r>
            <a:r>
              <a:rPr lang="en-US" sz="1600" b="1" dirty="0" err="1">
                <a:latin typeface="Courier New" pitchFamily="49" charset="0"/>
                <a:cs typeface="Courier New" pitchFamily="49" charset="0"/>
              </a:rPr>
              <a:t>m_data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(data){}</a:t>
            </a:r>
          </a:p>
          <a:p>
            <a:pPr defTabSz="185738"/>
            <a:r>
              <a:rPr lang="en-US" sz="1600" b="1" dirty="0">
                <a:latin typeface="Courier New" pitchFamily="49" charset="0"/>
                <a:cs typeface="Courier New" pitchFamily="49" charset="0"/>
              </a:rPr>
              <a:t>private:</a:t>
            </a:r>
          </a:p>
          <a:p>
            <a:pPr defTabSz="185738"/>
            <a:r>
              <a:rPr lang="en-US" sz="1600" b="1" dirty="0">
                <a:latin typeface="Courier New" pitchFamily="49" charset="0"/>
                <a:cs typeface="Courier New" pitchFamily="49" charset="0"/>
              </a:rPr>
              <a:t>	</a:t>
            </a:r>
            <a:r>
              <a:rPr lang="en-US" sz="1600" b="1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 err="1">
                <a:latin typeface="Courier New" pitchFamily="49" charset="0"/>
                <a:cs typeface="Courier New" pitchFamily="49" charset="0"/>
              </a:rPr>
              <a:t>m_data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pPr defTabSz="185738"/>
            <a:r>
              <a:rPr lang="ru-RU" sz="1600" b="1" dirty="0">
                <a:latin typeface="Courier New" pitchFamily="49" charset="0"/>
                <a:cs typeface="Courier New" pitchFamily="49" charset="0"/>
              </a:rPr>
              <a:t>};</a:t>
            </a:r>
          </a:p>
          <a:p>
            <a:pPr defTabSz="185738"/>
            <a:endParaRPr lang="ru-RU" sz="1600" b="1" dirty="0">
              <a:latin typeface="Courier New" pitchFamily="49" charset="0"/>
              <a:cs typeface="Courier New" pitchFamily="49" charset="0"/>
            </a:endParaRPr>
          </a:p>
          <a:p>
            <a:pPr defTabSz="185738"/>
            <a:r>
              <a:rPr lang="en-US" sz="1600" b="1" dirty="0">
                <a:latin typeface="Courier New" pitchFamily="49" charset="0"/>
                <a:cs typeface="Courier New" pitchFamily="49" charset="0"/>
              </a:rPr>
              <a:t>using namespace </a:t>
            </a:r>
            <a:r>
              <a:rPr lang="en-US" sz="1600" b="1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pPr defTabSz="185738"/>
            <a:r>
              <a:rPr lang="en-US" sz="1600" b="1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 main1()</a:t>
            </a:r>
          </a:p>
          <a:p>
            <a:pPr defTabSz="185738"/>
            <a:r>
              <a:rPr lang="ru-RU" sz="1600" b="1" dirty="0">
                <a:latin typeface="Courier New" pitchFamily="49" charset="0"/>
                <a:cs typeface="Courier New" pitchFamily="49" charset="0"/>
              </a:rPr>
              <a:t>{</a:t>
            </a:r>
          </a:p>
          <a:p>
            <a:pPr defTabSz="185738"/>
            <a:r>
              <a:rPr lang="en-US" sz="1600" b="1" dirty="0">
                <a:latin typeface="Courier New" pitchFamily="49" charset="0"/>
                <a:cs typeface="Courier New" pitchFamily="49" charset="0"/>
              </a:rPr>
              <a:t>	</a:t>
            </a:r>
            <a:r>
              <a:rPr lang="en-US" sz="1600" b="1" dirty="0" err="1">
                <a:latin typeface="Courier New" pitchFamily="49" charset="0"/>
                <a:cs typeface="Courier New" pitchFamily="49" charset="0"/>
              </a:rPr>
              <a:t>unique_ptr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&lt;A&gt; p;</a:t>
            </a:r>
            <a:endParaRPr lang="ru-RU" sz="1600" b="1" dirty="0">
              <a:latin typeface="Courier New" pitchFamily="49" charset="0"/>
              <a:cs typeface="Courier New" pitchFamily="49" charset="0"/>
            </a:endParaRPr>
          </a:p>
          <a:p>
            <a:pPr defTabSz="185738"/>
            <a:r>
              <a:rPr lang="en-US" sz="1600" b="1" dirty="0">
                <a:latin typeface="Courier New" pitchFamily="49" charset="0"/>
                <a:cs typeface="Courier New" pitchFamily="49" charset="0"/>
              </a:rPr>
              <a:t>	</a:t>
            </a:r>
            <a:r>
              <a:rPr lang="ru-RU" sz="1600" b="1" dirty="0">
                <a:latin typeface="Courier New" pitchFamily="49" charset="0"/>
                <a:cs typeface="Courier New" pitchFamily="49" charset="0"/>
              </a:rPr>
              <a:t>{</a:t>
            </a:r>
          </a:p>
          <a:p>
            <a:pPr defTabSz="185738"/>
            <a:r>
              <a:rPr lang="en-US" sz="1600" b="1" dirty="0">
                <a:latin typeface="Courier New" pitchFamily="49" charset="0"/>
                <a:cs typeface="Courier New" pitchFamily="49" charset="0"/>
              </a:rPr>
              <a:t>		</a:t>
            </a:r>
            <a:r>
              <a:rPr lang="en-US" sz="1600" b="1" dirty="0" err="1">
                <a:latin typeface="Courier New" pitchFamily="49" charset="0"/>
                <a:cs typeface="Courier New" pitchFamily="49" charset="0"/>
              </a:rPr>
              <a:t>unique_ptr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&lt;A&gt; p1(new A(1));</a:t>
            </a:r>
          </a:p>
          <a:p>
            <a:pPr defTabSz="185738"/>
            <a:r>
              <a:rPr lang="en-US" sz="1600" b="1" dirty="0">
                <a:latin typeface="Courier New" pitchFamily="49" charset="0"/>
                <a:cs typeface="Courier New" pitchFamily="49" charset="0"/>
              </a:rPr>
              <a:t>		</a:t>
            </a:r>
            <a:r>
              <a:rPr lang="en-US" sz="1600" b="1" dirty="0" err="1">
                <a:latin typeface="Courier New" pitchFamily="49" charset="0"/>
                <a:cs typeface="Courier New" pitchFamily="49" charset="0"/>
              </a:rPr>
              <a:t>unique_ptr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&lt;A&gt; p2(new A(2));</a:t>
            </a:r>
          </a:p>
          <a:p>
            <a:pPr defTabSz="185738"/>
            <a:r>
              <a:rPr lang="en-US" sz="1600" b="1" dirty="0">
                <a:latin typeface="Courier New" pitchFamily="49" charset="0"/>
                <a:cs typeface="Courier New" pitchFamily="49" charset="0"/>
              </a:rPr>
              <a:t>		</a:t>
            </a:r>
            <a:r>
              <a:rPr lang="en-US" sz="1600" b="1" dirty="0" err="1">
                <a:latin typeface="Courier New" pitchFamily="49" charset="0"/>
                <a:cs typeface="Courier New" pitchFamily="49" charset="0"/>
              </a:rPr>
              <a:t>bool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 useP1;</a:t>
            </a:r>
            <a:endParaRPr lang="ru-RU" sz="1600" b="1" dirty="0">
              <a:latin typeface="Courier New" pitchFamily="49" charset="0"/>
              <a:cs typeface="Courier New" pitchFamily="49" charset="0"/>
            </a:endParaRPr>
          </a:p>
          <a:p>
            <a:pPr defTabSz="185738"/>
            <a:r>
              <a:rPr lang="en-US" sz="1600" b="1" dirty="0">
                <a:latin typeface="Courier New" pitchFamily="49" charset="0"/>
                <a:cs typeface="Courier New" pitchFamily="49" charset="0"/>
              </a:rPr>
              <a:t>		…</a:t>
            </a:r>
            <a:endParaRPr lang="ru-RU" sz="1600" b="1" dirty="0">
              <a:latin typeface="Courier New" pitchFamily="49" charset="0"/>
              <a:cs typeface="Courier New" pitchFamily="49" charset="0"/>
            </a:endParaRPr>
          </a:p>
          <a:p>
            <a:pPr defTabSz="185738"/>
            <a:r>
              <a:rPr lang="ru-RU" sz="1600" b="1" dirty="0">
                <a:latin typeface="Courier New" pitchFamily="49" charset="0"/>
                <a:cs typeface="Courier New" pitchFamily="49" charset="0"/>
              </a:rPr>
              <a:t>		</a:t>
            </a:r>
            <a:r>
              <a:rPr lang="en-US" sz="16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//</a:t>
            </a:r>
            <a:r>
              <a:rPr lang="ru-RU" sz="16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 Ошибка</a:t>
            </a:r>
            <a:r>
              <a:rPr lang="en-US" sz="16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:</a:t>
            </a:r>
            <a:r>
              <a:rPr lang="ru-RU" sz="16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 копирующий оператор присваивания отсутствует</a:t>
            </a:r>
            <a:endParaRPr lang="en-US" sz="1600" b="1" dirty="0">
              <a:latin typeface="Courier New" pitchFamily="49" charset="0"/>
              <a:cs typeface="Courier New" pitchFamily="49" charset="0"/>
            </a:endParaRPr>
          </a:p>
          <a:p>
            <a:pPr defTabSz="185738"/>
            <a:r>
              <a:rPr lang="en-US" sz="1600" b="1" dirty="0">
                <a:latin typeface="Courier New" pitchFamily="49" charset="0"/>
                <a:cs typeface="Courier New" pitchFamily="49" charset="0"/>
              </a:rPr>
              <a:t>		</a:t>
            </a:r>
            <a:r>
              <a:rPr lang="en-US" sz="16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p = useP1 ? p1 : p2;</a:t>
            </a:r>
          </a:p>
          <a:p>
            <a:pPr defTabSz="185738"/>
            <a:r>
              <a:rPr lang="ru-RU" sz="1600" b="1" dirty="0">
                <a:latin typeface="Courier New" pitchFamily="49" charset="0"/>
                <a:cs typeface="Courier New" pitchFamily="49" charset="0"/>
              </a:rPr>
              <a:t>		// Перемещаем значение, явно преобразовав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 err="1">
                <a:latin typeface="Courier New" pitchFamily="49" charset="0"/>
                <a:cs typeface="Courier New" pitchFamily="49" charset="0"/>
              </a:rPr>
              <a:t>lvalue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ru-RU" sz="1600" b="1" dirty="0">
                <a:latin typeface="Courier New" pitchFamily="49" charset="0"/>
                <a:cs typeface="Courier New" pitchFamily="49" charset="0"/>
              </a:rPr>
              <a:t>в </a:t>
            </a:r>
            <a:r>
              <a:rPr lang="en-US" sz="1600" b="1" dirty="0" err="1">
                <a:latin typeface="Courier New" pitchFamily="49" charset="0"/>
                <a:cs typeface="Courier New" pitchFamily="49" charset="0"/>
              </a:rPr>
              <a:t>rvalue</a:t>
            </a:r>
            <a:endParaRPr lang="ru-RU" sz="1600" b="1" dirty="0">
              <a:latin typeface="Courier New" pitchFamily="49" charset="0"/>
              <a:cs typeface="Courier New" pitchFamily="49" charset="0"/>
            </a:endParaRPr>
          </a:p>
          <a:p>
            <a:pPr defTabSz="185738"/>
            <a:r>
              <a:rPr lang="en-US" sz="1600" b="1" dirty="0">
                <a:latin typeface="Courier New" pitchFamily="49" charset="0"/>
                <a:cs typeface="Courier New" pitchFamily="49" charset="0"/>
              </a:rPr>
              <a:t>		p = useP1 ? </a:t>
            </a:r>
            <a:r>
              <a:rPr lang="en-US" sz="16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move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(p1) : </a:t>
            </a:r>
            <a:r>
              <a:rPr lang="en-US" sz="16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move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(p2);</a:t>
            </a:r>
            <a:r>
              <a:rPr lang="ru-RU" sz="1600" b="1" dirty="0">
                <a:latin typeface="Courier New" pitchFamily="49" charset="0"/>
                <a:cs typeface="Courier New" pitchFamily="49" charset="0"/>
              </a:rPr>
              <a:t>//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ru-RU" sz="1600" b="1" dirty="0">
                <a:latin typeface="Courier New" pitchFamily="49" charset="0"/>
                <a:cs typeface="Courier New" pitchFamily="49" charset="0"/>
              </a:rPr>
              <a:t>А вот так 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OK</a:t>
            </a:r>
            <a:endParaRPr lang="ru-RU" sz="1600" b="1" dirty="0">
              <a:latin typeface="Courier New" pitchFamily="49" charset="0"/>
              <a:cs typeface="Courier New" pitchFamily="49" charset="0"/>
            </a:endParaRPr>
          </a:p>
          <a:p>
            <a:pPr defTabSz="185738"/>
            <a:endParaRPr lang="en-US" sz="1600" b="1" dirty="0">
              <a:latin typeface="Courier New" pitchFamily="49" charset="0"/>
              <a:cs typeface="Courier New" pitchFamily="49" charset="0"/>
            </a:endParaRPr>
          </a:p>
          <a:p>
            <a:pPr defTabSz="185738"/>
            <a:r>
              <a:rPr lang="en-US" sz="1600" b="1" dirty="0">
                <a:latin typeface="Courier New" pitchFamily="49" charset="0"/>
                <a:cs typeface="Courier New" pitchFamily="49" charset="0"/>
              </a:rPr>
              <a:t>	</a:t>
            </a:r>
            <a:r>
              <a:rPr lang="en-US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Courier New" pitchFamily="49" charset="0"/>
                <a:cs typeface="Courier New" pitchFamily="49" charset="0"/>
              </a:rPr>
              <a:t>	// </a:t>
            </a:r>
            <a:r>
              <a:rPr lang="ru-RU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Courier New" pitchFamily="49" charset="0"/>
                <a:cs typeface="Courier New" pitchFamily="49" charset="0"/>
              </a:rPr>
              <a:t>Тут </a:t>
            </a:r>
            <a:r>
              <a:rPr lang="en-US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Courier New" pitchFamily="49" charset="0"/>
                <a:cs typeface="Courier New" pitchFamily="49" charset="0"/>
              </a:rPr>
              <a:t>p1 </a:t>
            </a:r>
            <a:r>
              <a:rPr lang="ru-RU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Courier New" pitchFamily="49" charset="0"/>
                <a:cs typeface="Courier New" pitchFamily="49" charset="0"/>
              </a:rPr>
              <a:t>и </a:t>
            </a:r>
            <a:r>
              <a:rPr lang="en-US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Courier New" pitchFamily="49" charset="0"/>
                <a:cs typeface="Courier New" pitchFamily="49" charset="0"/>
              </a:rPr>
              <a:t>p2 </a:t>
            </a:r>
            <a:r>
              <a:rPr lang="ru-RU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Courier New" pitchFamily="49" charset="0"/>
                <a:cs typeface="Courier New" pitchFamily="49" charset="0"/>
              </a:rPr>
              <a:t>лучше использовать осторожно, т.к. один из них обнулен</a:t>
            </a:r>
            <a:endParaRPr lang="en-US" sz="1600" b="1" dirty="0">
              <a:solidFill>
                <a:schemeClr val="tx1">
                  <a:lumMod val="65000"/>
                  <a:lumOff val="35000"/>
                </a:schemeClr>
              </a:solidFill>
              <a:latin typeface="Courier New" pitchFamily="49" charset="0"/>
              <a:cs typeface="Courier New" pitchFamily="49" charset="0"/>
            </a:endParaRPr>
          </a:p>
          <a:p>
            <a:pPr defTabSz="185738"/>
            <a:r>
              <a:rPr lang="en-US" sz="1600" b="1" dirty="0">
                <a:latin typeface="Courier New" pitchFamily="49" charset="0"/>
                <a:cs typeface="Courier New" pitchFamily="49" charset="0"/>
              </a:rPr>
              <a:t>	</a:t>
            </a:r>
            <a:r>
              <a:rPr lang="ru-RU" sz="1600" b="1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pPr defTabSz="185738"/>
            <a:endParaRPr lang="ru-RU" sz="1600" b="1" dirty="0">
              <a:latin typeface="Courier New" pitchFamily="49" charset="0"/>
              <a:cs typeface="Courier New" pitchFamily="49" charset="0"/>
            </a:endParaRPr>
          </a:p>
          <a:p>
            <a:pPr defTabSz="185738"/>
            <a:r>
              <a:rPr lang="en-US" sz="1600" b="1" dirty="0">
                <a:latin typeface="Courier New" pitchFamily="49" charset="0"/>
                <a:cs typeface="Courier New" pitchFamily="49" charset="0"/>
              </a:rPr>
              <a:t>	//</a:t>
            </a:r>
            <a:r>
              <a:rPr lang="ru-RU" sz="1600" b="1" dirty="0">
                <a:latin typeface="Courier New" pitchFamily="49" charset="0"/>
                <a:cs typeface="Courier New" pitchFamily="49" charset="0"/>
              </a:rPr>
              <a:t> Выполняем необходимые действия над 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p</a:t>
            </a:r>
          </a:p>
          <a:p>
            <a:pPr defTabSz="185738"/>
            <a:r>
              <a:rPr lang="en-US" sz="1600" b="1" dirty="0">
                <a:latin typeface="Courier New" pitchFamily="49" charset="0"/>
                <a:cs typeface="Courier New" pitchFamily="49" charset="0"/>
              </a:rPr>
              <a:t>	return 0;</a:t>
            </a:r>
          </a:p>
          <a:p>
            <a:pPr defTabSz="185738"/>
            <a:r>
              <a:rPr lang="ru-RU" sz="1600" b="1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6103977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4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4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6" end="2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4">
                                            <p:txEl>
                                              <p:pRg st="26" end="2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ru-RU" sz="4800" dirty="0"/>
              <a:t>Перегрузка перемещающего оператора присваивания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2183289"/>
      </p:ext>
    </p:extLst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ru-RU" dirty="0"/>
              <a:t>Перемещающий оператор присваивания</a:t>
            </a:r>
          </a:p>
        </p:txBody>
      </p:sp>
      <p:sp>
        <p:nvSpPr>
          <p:cNvPr id="5" name="Объект 4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ru-RU" dirty="0"/>
              <a:t>Данный оператор используется при присваивании значения временного объекта</a:t>
            </a:r>
          </a:p>
          <a:p>
            <a:pPr lvl="1"/>
            <a:r>
              <a:rPr lang="ru-RU" dirty="0"/>
              <a:t>Как и перемещающий конструктор, вместо копирования он просто забирает данные у переданного объекта</a:t>
            </a:r>
          </a:p>
          <a:p>
            <a:r>
              <a:rPr lang="ru-RU" dirty="0"/>
              <a:t>Значение левого аргумента должно быть эквивалентно значению правого аргумента ДО операции присваивания</a:t>
            </a:r>
          </a:p>
          <a:p>
            <a:r>
              <a:rPr lang="ru-RU" dirty="0"/>
              <a:t>Правый аргумент должен остаться в</a:t>
            </a:r>
            <a:r>
              <a:rPr lang="en-US" dirty="0"/>
              <a:t> </a:t>
            </a:r>
            <a:r>
              <a:rPr lang="ru-RU" dirty="0"/>
              <a:t>валидном состоянии</a:t>
            </a:r>
          </a:p>
          <a:p>
            <a:pPr lvl="1"/>
            <a:r>
              <a:rPr lang="ru-RU" dirty="0"/>
              <a:t>Для некоторых стандартных типов состояние объекта после перемещения определено: </a:t>
            </a:r>
            <a:r>
              <a:rPr lang="en-US" dirty="0"/>
              <a:t>std::</a:t>
            </a:r>
            <a:r>
              <a:rPr lang="en-US" dirty="0" err="1"/>
              <a:t>unique_ptr</a:t>
            </a:r>
            <a:r>
              <a:rPr lang="ru-RU" dirty="0"/>
              <a:t> перестаёт владеть объектом</a:t>
            </a:r>
          </a:p>
        </p:txBody>
      </p:sp>
    </p:spTree>
    <p:extLst>
      <p:ext uri="{BB962C8B-B14F-4D97-AF65-F5344CB8AC3E}">
        <p14:creationId xmlns:p14="http://schemas.microsoft.com/office/powerpoint/2010/main" val="3476383665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433A3F1-30E2-4363-A2AE-CF11F1FDF232}"/>
              </a:ext>
            </a:extLst>
          </p:cNvPr>
          <p:cNvSpPr txBox="1"/>
          <p:nvPr/>
        </p:nvSpPr>
        <p:spPr>
          <a:xfrm>
            <a:off x="0" y="1"/>
            <a:ext cx="11352584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String {</a:t>
            </a: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…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String(String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&amp;&amp;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other)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: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m_size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 std::exchange(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other.m_size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,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m_capacity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 std::exchange(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other.m_capacity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,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m_chars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hlinkClick r:id="rId2"/>
              </a:rPr>
              <a:t>std::exchange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other.m_chars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s_emptyString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String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operator=(String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&amp;&amp;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other)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!= &amp;other)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std::swap(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m_size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other.m_size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std::swap(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m_capacity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other.m_capacity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std::swap(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m_chars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other.m_chars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…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inline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s_emptyString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= {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'\0'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};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m_size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m_capacity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m_chars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32923074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074D524-05F2-447A-859E-8FCF9A93F1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Конструкторы и деструкторы в действии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A97DB38A-E422-475B-8076-D688892D57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67516512"/>
      </p:ext>
    </p:extLst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777EC5A-0D50-7F08-503D-0B92393C8862}"/>
              </a:ext>
            </a:extLst>
          </p:cNvPr>
          <p:cNvSpPr txBox="1"/>
          <p:nvPr/>
        </p:nvSpPr>
        <p:spPr>
          <a:xfrm>
            <a:off x="838200" y="2060848"/>
            <a:ext cx="10515600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struct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Foo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{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Foo() { std::</a:t>
            </a:r>
            <a:r>
              <a:rPr lang="en-US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"Default </a:t>
            </a:r>
            <a:r>
              <a:rPr lang="en-US" kern="0" dirty="0" err="1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ctor</a:t>
            </a:r>
            <a:r>
              <a:rPr lang="en-US" kern="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\n"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 }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Foo(</a:t>
            </a: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const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Foo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&amp;) { std::</a:t>
            </a:r>
            <a:r>
              <a:rPr lang="en-US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"Copy </a:t>
            </a:r>
            <a:r>
              <a:rPr lang="en-US" kern="0" dirty="0" err="1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ctor</a:t>
            </a:r>
            <a:r>
              <a:rPr lang="en-US" kern="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\n"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 }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Foo(</a:t>
            </a:r>
            <a:r>
              <a:rPr lang="en-US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Foo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&amp;&amp;) { std::</a:t>
            </a:r>
            <a:r>
              <a:rPr lang="en-US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"Move </a:t>
            </a:r>
            <a:r>
              <a:rPr lang="en-US" kern="0" dirty="0" err="1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ctor</a:t>
            </a:r>
            <a:r>
              <a:rPr lang="en-US" kern="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\n"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 }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Foo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&amp; </a:t>
            </a:r>
            <a:r>
              <a:rPr lang="en-US" kern="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operator=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const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Foo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&amp;) {</a:t>
            </a: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std::</a:t>
            </a:r>
            <a:r>
              <a:rPr lang="en-US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"Copy assign\n"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 </a:t>
            </a: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return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*</a:t>
            </a: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this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}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Foo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&amp; </a:t>
            </a:r>
            <a:r>
              <a:rPr lang="en-US" kern="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operator=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Foo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&amp;&amp;) {</a:t>
            </a: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std::</a:t>
            </a:r>
            <a:r>
              <a:rPr lang="en-US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"Move assign\n"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 </a:t>
            </a: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return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*</a:t>
            </a: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this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}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~Foo() { std::</a:t>
            </a:r>
            <a:r>
              <a:rPr lang="en-US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</a:t>
            </a:r>
            <a:r>
              <a:rPr lang="en-US" kern="0" dirty="0" err="1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Dtor</a:t>
            </a:r>
            <a:r>
              <a:rPr lang="en-US" kern="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\n"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 }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};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EC8EBF4-FD90-4D0C-B463-F51893B616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Конструкторы и операции присваивания в действии</a:t>
            </a:r>
          </a:p>
        </p:txBody>
      </p:sp>
    </p:spTree>
    <p:extLst>
      <p:ext uri="{BB962C8B-B14F-4D97-AF65-F5344CB8AC3E}">
        <p14:creationId xmlns:p14="http://schemas.microsoft.com/office/powerpoint/2010/main" val="191454291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8CC3EB7-270D-49F3-F9D7-8B6C74DF0A36}"/>
              </a:ext>
            </a:extLst>
          </p:cNvPr>
          <p:cNvSpPr txBox="1"/>
          <p:nvPr/>
        </p:nvSpPr>
        <p:spPr>
          <a:xfrm>
            <a:off x="1524001" y="1"/>
            <a:ext cx="4355976" cy="67882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void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ByVal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Foo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foo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 {}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Foo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Create() { </a:t>
            </a: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return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{}; }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Foo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Create2() {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Foo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foo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return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foo;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Foo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Create3(</a:t>
            </a: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bool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 err="1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returnA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){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Foo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a, b;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return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 err="1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returnA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? a : b;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main() {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{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kern="0" dirty="0">
                <a:solidFill>
                  <a:srgbClr val="2B91AF"/>
                </a:solidFill>
                <a:highlight>
                  <a:srgbClr val="FFFF00"/>
                </a:highlight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Foo</a:t>
            </a:r>
            <a:r>
              <a:rPr lang="en-US" kern="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 err="1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foo</a:t>
            </a:r>
            <a:r>
              <a:rPr lang="en-US" kern="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kern="100" dirty="0">
              <a:highlight>
                <a:srgbClr val="FFFF00"/>
              </a:highlight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kern="0" dirty="0" err="1">
                <a:solidFill>
                  <a:srgbClr val="000000"/>
                </a:solidFill>
                <a:highlight>
                  <a:srgbClr val="00FF00"/>
                </a:highlight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ByVal</a:t>
            </a:r>
            <a:r>
              <a:rPr lang="en-US" kern="0" dirty="0">
                <a:solidFill>
                  <a:srgbClr val="000000"/>
                </a:solidFill>
                <a:highlight>
                  <a:srgbClr val="00FF00"/>
                </a:highlight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(foo);</a:t>
            </a:r>
            <a:endParaRPr lang="ru-RU" kern="100" dirty="0">
              <a:highlight>
                <a:srgbClr val="00FF00"/>
              </a:highlight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kern="0" dirty="0" err="1">
                <a:solidFill>
                  <a:srgbClr val="000000"/>
                </a:solidFill>
                <a:highlight>
                  <a:srgbClr val="00FFFF"/>
                </a:highlight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ByVal</a:t>
            </a:r>
            <a:r>
              <a:rPr lang="en-US" kern="0" dirty="0">
                <a:solidFill>
                  <a:srgbClr val="000000"/>
                </a:solidFill>
                <a:highlight>
                  <a:srgbClr val="00FFFF"/>
                </a:highlight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kern="0" dirty="0">
                <a:solidFill>
                  <a:srgbClr val="2B91AF"/>
                </a:solidFill>
                <a:highlight>
                  <a:srgbClr val="00FFFF"/>
                </a:highlight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Foo</a:t>
            </a:r>
            <a:r>
              <a:rPr lang="en-US" kern="0" dirty="0">
                <a:solidFill>
                  <a:srgbClr val="000000"/>
                </a:solidFill>
                <a:highlight>
                  <a:srgbClr val="00FFFF"/>
                </a:highlight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{});</a:t>
            </a:r>
            <a:endParaRPr lang="ru-RU" kern="100" dirty="0">
              <a:highlight>
                <a:srgbClr val="00FFFF"/>
              </a:highlight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kern="0" dirty="0" err="1">
                <a:solidFill>
                  <a:srgbClr val="000000"/>
                </a:solidFill>
                <a:highlight>
                  <a:srgbClr val="FF00FF"/>
                </a:highlight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ByVal</a:t>
            </a:r>
            <a:r>
              <a:rPr lang="en-US" kern="0" dirty="0">
                <a:solidFill>
                  <a:srgbClr val="000000"/>
                </a:solidFill>
                <a:highlight>
                  <a:srgbClr val="FF00FF"/>
                </a:highlight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(std::move(foo));</a:t>
            </a:r>
            <a:endParaRPr lang="ru-RU" kern="100" dirty="0">
              <a:highlight>
                <a:srgbClr val="FF00FF"/>
              </a:highlight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kern="0" dirty="0">
                <a:solidFill>
                  <a:srgbClr val="000000"/>
                </a:solidFill>
                <a:highlight>
                  <a:srgbClr val="C0C0C0"/>
                </a:highlight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</a:t>
            </a:r>
            <a:endParaRPr lang="ru-RU" kern="100" dirty="0">
              <a:highlight>
                <a:srgbClr val="C0C0C0"/>
              </a:highlight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kern="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Create();</a:t>
            </a:r>
            <a:endParaRPr lang="ru-RU" kern="100" dirty="0">
              <a:highlight>
                <a:srgbClr val="FFFF00"/>
              </a:highlight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kern="0" dirty="0">
                <a:solidFill>
                  <a:srgbClr val="000000"/>
                </a:solidFill>
                <a:highlight>
                  <a:srgbClr val="00FF00"/>
                </a:highlight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Create2();</a:t>
            </a:r>
            <a:endParaRPr lang="ru-RU" kern="100" dirty="0">
              <a:highlight>
                <a:srgbClr val="00FF00"/>
              </a:highlight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kern="0" dirty="0">
                <a:solidFill>
                  <a:srgbClr val="000000"/>
                </a:solidFill>
                <a:highlight>
                  <a:srgbClr val="00FFFF"/>
                </a:highlight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Create3(</a:t>
            </a:r>
            <a:r>
              <a:rPr lang="en-US" kern="0" dirty="0">
                <a:solidFill>
                  <a:srgbClr val="0000FF"/>
                </a:solidFill>
                <a:highlight>
                  <a:srgbClr val="00FFFF"/>
                </a:highlight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true</a:t>
            </a:r>
            <a:r>
              <a:rPr lang="en-US" kern="0" dirty="0">
                <a:solidFill>
                  <a:srgbClr val="000000"/>
                </a:solidFill>
                <a:highlight>
                  <a:srgbClr val="00FFFF"/>
                </a:highlight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);</a:t>
            </a:r>
            <a:endParaRPr lang="ru-RU" kern="100" dirty="0">
              <a:highlight>
                <a:srgbClr val="00FFFF"/>
              </a:highlight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kern="0" dirty="0">
                <a:solidFill>
                  <a:srgbClr val="0000FF"/>
                </a:solidFill>
                <a:highlight>
                  <a:srgbClr val="FF00FF"/>
                </a:highlight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auto</a:t>
            </a:r>
            <a:r>
              <a:rPr lang="en-US" kern="0" dirty="0">
                <a:solidFill>
                  <a:srgbClr val="000000"/>
                </a:solidFill>
                <a:highlight>
                  <a:srgbClr val="FF00FF"/>
                </a:highlight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a = Create2();</a:t>
            </a:r>
            <a:endParaRPr lang="ru-RU" kern="100" dirty="0">
              <a:highlight>
                <a:srgbClr val="FF00FF"/>
              </a:highlight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ru-RU" kern="0" dirty="0" err="1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std</a:t>
            </a:r>
            <a:r>
              <a:rPr lang="ru-RU" kern="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ru-RU" kern="0" dirty="0" err="1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ru-RU" kern="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ru-RU" kern="0" dirty="0">
                <a:solidFill>
                  <a:srgbClr val="008080"/>
                </a:solidFill>
                <a:highlight>
                  <a:srgbClr val="FFFF00"/>
                </a:highlight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ru-RU" kern="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ru-RU" kern="0" dirty="0">
                <a:solidFill>
                  <a:srgbClr val="A31515"/>
                </a:solidFill>
                <a:highlight>
                  <a:srgbClr val="FFFF00"/>
                </a:highlight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"--\n"</a:t>
            </a:r>
            <a:r>
              <a:rPr lang="ru-RU" kern="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kern="100" dirty="0">
              <a:highlight>
                <a:srgbClr val="FFFF00"/>
              </a:highlight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kern="0" dirty="0">
                <a:solidFill>
                  <a:srgbClr val="000000"/>
                </a:solidFill>
                <a:highlight>
                  <a:srgbClr val="C0C0C0"/>
                </a:highlight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</a:t>
            </a:r>
            <a:endParaRPr lang="ru-RU" dirty="0">
              <a:highlight>
                <a:srgbClr val="C0C0C0"/>
              </a:highlight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3C6A605-9668-5355-71BF-34F57C5199ED}"/>
              </a:ext>
            </a:extLst>
          </p:cNvPr>
          <p:cNvSpPr txBox="1"/>
          <p:nvPr/>
        </p:nvSpPr>
        <p:spPr>
          <a:xfrm>
            <a:off x="6744073" y="948690"/>
            <a:ext cx="3923927" cy="59093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err="1">
                <a:highlight>
                  <a:srgbClr val="FFFF00"/>
                </a:highlight>
                <a:latin typeface="Consolas" panose="020B0609020204030204" pitchFamily="49" charset="0"/>
              </a:rPr>
              <a:t>Default</a:t>
            </a:r>
            <a:r>
              <a:rPr lang="ru-RU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ru-RU" dirty="0" err="1">
                <a:highlight>
                  <a:srgbClr val="FFFF00"/>
                </a:highlight>
                <a:latin typeface="Consolas" panose="020B0609020204030204" pitchFamily="49" charset="0"/>
              </a:rPr>
              <a:t>ctor</a:t>
            </a:r>
            <a:endParaRPr lang="ru-RU" dirty="0"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r>
              <a:rPr lang="ru-RU" dirty="0" err="1">
                <a:highlight>
                  <a:srgbClr val="00FF00"/>
                </a:highlight>
                <a:latin typeface="Consolas" panose="020B0609020204030204" pitchFamily="49" charset="0"/>
              </a:rPr>
              <a:t>Copy</a:t>
            </a:r>
            <a:r>
              <a:rPr lang="ru-RU" dirty="0">
                <a:highlight>
                  <a:srgbClr val="00FF00"/>
                </a:highlight>
                <a:latin typeface="Consolas" panose="020B0609020204030204" pitchFamily="49" charset="0"/>
              </a:rPr>
              <a:t> </a:t>
            </a:r>
            <a:r>
              <a:rPr lang="ru-RU" dirty="0" err="1">
                <a:highlight>
                  <a:srgbClr val="00FF00"/>
                </a:highlight>
                <a:latin typeface="Consolas" panose="020B0609020204030204" pitchFamily="49" charset="0"/>
              </a:rPr>
              <a:t>ctor</a:t>
            </a:r>
            <a:endParaRPr lang="ru-RU" dirty="0">
              <a:highlight>
                <a:srgbClr val="00FF00"/>
              </a:highlight>
              <a:latin typeface="Consolas" panose="020B0609020204030204" pitchFamily="49" charset="0"/>
            </a:endParaRPr>
          </a:p>
          <a:p>
            <a:r>
              <a:rPr lang="ru-RU" dirty="0" err="1">
                <a:highlight>
                  <a:srgbClr val="00FF00"/>
                </a:highlight>
                <a:latin typeface="Consolas" panose="020B0609020204030204" pitchFamily="49" charset="0"/>
              </a:rPr>
              <a:t>Dtor</a:t>
            </a:r>
            <a:endParaRPr lang="ru-RU" dirty="0">
              <a:highlight>
                <a:srgbClr val="00FF00"/>
              </a:highlight>
              <a:latin typeface="Consolas" panose="020B0609020204030204" pitchFamily="49" charset="0"/>
            </a:endParaRPr>
          </a:p>
          <a:p>
            <a:r>
              <a:rPr lang="ru-RU" dirty="0" err="1">
                <a:highlight>
                  <a:srgbClr val="00FFFF"/>
                </a:highlight>
                <a:latin typeface="Consolas" panose="020B0609020204030204" pitchFamily="49" charset="0"/>
              </a:rPr>
              <a:t>Default</a:t>
            </a:r>
            <a:r>
              <a:rPr lang="ru-RU" dirty="0">
                <a:highlight>
                  <a:srgbClr val="00FFFF"/>
                </a:highlight>
                <a:latin typeface="Consolas" panose="020B0609020204030204" pitchFamily="49" charset="0"/>
              </a:rPr>
              <a:t> </a:t>
            </a:r>
            <a:r>
              <a:rPr lang="ru-RU" dirty="0" err="1">
                <a:highlight>
                  <a:srgbClr val="00FFFF"/>
                </a:highlight>
                <a:latin typeface="Consolas" panose="020B0609020204030204" pitchFamily="49" charset="0"/>
              </a:rPr>
              <a:t>ctor</a:t>
            </a:r>
            <a:endParaRPr lang="ru-RU" dirty="0">
              <a:highlight>
                <a:srgbClr val="00FFFF"/>
              </a:highlight>
              <a:latin typeface="Consolas" panose="020B0609020204030204" pitchFamily="49" charset="0"/>
            </a:endParaRPr>
          </a:p>
          <a:p>
            <a:r>
              <a:rPr lang="ru-RU" dirty="0" err="1">
                <a:highlight>
                  <a:srgbClr val="00FFFF"/>
                </a:highlight>
                <a:latin typeface="Consolas" panose="020B0609020204030204" pitchFamily="49" charset="0"/>
              </a:rPr>
              <a:t>Dtor</a:t>
            </a:r>
            <a:endParaRPr lang="ru-RU" dirty="0">
              <a:highlight>
                <a:srgbClr val="00FFFF"/>
              </a:highlight>
              <a:latin typeface="Consolas" panose="020B0609020204030204" pitchFamily="49" charset="0"/>
            </a:endParaRPr>
          </a:p>
          <a:p>
            <a:r>
              <a:rPr lang="ru-RU" dirty="0" err="1">
                <a:highlight>
                  <a:srgbClr val="FF00FF"/>
                </a:highlight>
                <a:latin typeface="Consolas" panose="020B0609020204030204" pitchFamily="49" charset="0"/>
              </a:rPr>
              <a:t>Move</a:t>
            </a:r>
            <a:r>
              <a:rPr lang="ru-RU" dirty="0">
                <a:highlight>
                  <a:srgbClr val="FF00FF"/>
                </a:highlight>
                <a:latin typeface="Consolas" panose="020B0609020204030204" pitchFamily="49" charset="0"/>
              </a:rPr>
              <a:t> </a:t>
            </a:r>
            <a:r>
              <a:rPr lang="ru-RU" dirty="0" err="1">
                <a:highlight>
                  <a:srgbClr val="FF00FF"/>
                </a:highlight>
                <a:latin typeface="Consolas" panose="020B0609020204030204" pitchFamily="49" charset="0"/>
              </a:rPr>
              <a:t>ctor</a:t>
            </a:r>
            <a:endParaRPr lang="ru-RU" dirty="0">
              <a:highlight>
                <a:srgbClr val="FF00FF"/>
              </a:highlight>
              <a:latin typeface="Consolas" panose="020B0609020204030204" pitchFamily="49" charset="0"/>
            </a:endParaRPr>
          </a:p>
          <a:p>
            <a:r>
              <a:rPr lang="ru-RU" dirty="0" err="1">
                <a:highlight>
                  <a:srgbClr val="FF00FF"/>
                </a:highlight>
                <a:latin typeface="Consolas" panose="020B0609020204030204" pitchFamily="49" charset="0"/>
              </a:rPr>
              <a:t>Dtor</a:t>
            </a:r>
            <a:endParaRPr lang="ru-RU" dirty="0">
              <a:highlight>
                <a:srgbClr val="FF00FF"/>
              </a:highlight>
              <a:latin typeface="Consolas" panose="020B0609020204030204" pitchFamily="49" charset="0"/>
            </a:endParaRPr>
          </a:p>
          <a:p>
            <a:r>
              <a:rPr lang="ru-RU" dirty="0" err="1">
                <a:highlight>
                  <a:srgbClr val="C0C0C0"/>
                </a:highlight>
                <a:latin typeface="Consolas" panose="020B0609020204030204" pitchFamily="49" charset="0"/>
              </a:rPr>
              <a:t>Dtor</a:t>
            </a:r>
            <a:endParaRPr lang="ru-RU" dirty="0">
              <a:highlight>
                <a:srgbClr val="C0C0C0"/>
              </a:highlight>
              <a:latin typeface="Consolas" panose="020B0609020204030204" pitchFamily="49" charset="0"/>
            </a:endParaRPr>
          </a:p>
          <a:p>
            <a:r>
              <a:rPr lang="ru-RU" dirty="0" err="1">
                <a:highlight>
                  <a:srgbClr val="FFFF00"/>
                </a:highlight>
                <a:latin typeface="Consolas" panose="020B0609020204030204" pitchFamily="49" charset="0"/>
              </a:rPr>
              <a:t>Default</a:t>
            </a:r>
            <a:r>
              <a:rPr lang="ru-RU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ru-RU" dirty="0" err="1">
                <a:highlight>
                  <a:srgbClr val="FFFF00"/>
                </a:highlight>
                <a:latin typeface="Consolas" panose="020B0609020204030204" pitchFamily="49" charset="0"/>
              </a:rPr>
              <a:t>ctor</a:t>
            </a:r>
            <a:endParaRPr lang="ru-RU" dirty="0"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r>
              <a:rPr lang="ru-RU" dirty="0" err="1">
                <a:highlight>
                  <a:srgbClr val="FFFF00"/>
                </a:highlight>
                <a:latin typeface="Consolas" panose="020B0609020204030204" pitchFamily="49" charset="0"/>
              </a:rPr>
              <a:t>Dtor</a:t>
            </a:r>
            <a:endParaRPr lang="ru-RU" dirty="0"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r>
              <a:rPr lang="ru-RU" dirty="0" err="1">
                <a:highlight>
                  <a:srgbClr val="00FF00"/>
                </a:highlight>
                <a:latin typeface="Consolas" panose="020B0609020204030204" pitchFamily="49" charset="0"/>
              </a:rPr>
              <a:t>Default</a:t>
            </a:r>
            <a:r>
              <a:rPr lang="ru-RU" dirty="0">
                <a:highlight>
                  <a:srgbClr val="00FF00"/>
                </a:highlight>
                <a:latin typeface="Consolas" panose="020B0609020204030204" pitchFamily="49" charset="0"/>
              </a:rPr>
              <a:t> </a:t>
            </a:r>
            <a:r>
              <a:rPr lang="ru-RU" dirty="0" err="1">
                <a:highlight>
                  <a:srgbClr val="00FF00"/>
                </a:highlight>
                <a:latin typeface="Consolas" panose="020B0609020204030204" pitchFamily="49" charset="0"/>
              </a:rPr>
              <a:t>ctor</a:t>
            </a:r>
            <a:endParaRPr lang="ru-RU" dirty="0">
              <a:highlight>
                <a:srgbClr val="00FF00"/>
              </a:highlight>
              <a:latin typeface="Consolas" panose="020B0609020204030204" pitchFamily="49" charset="0"/>
            </a:endParaRPr>
          </a:p>
          <a:p>
            <a:r>
              <a:rPr lang="ru-RU" dirty="0" err="1">
                <a:highlight>
                  <a:srgbClr val="00FF00"/>
                </a:highlight>
                <a:latin typeface="Consolas" panose="020B0609020204030204" pitchFamily="49" charset="0"/>
              </a:rPr>
              <a:t>Dtor</a:t>
            </a:r>
            <a:endParaRPr lang="ru-RU" dirty="0">
              <a:highlight>
                <a:srgbClr val="00FF00"/>
              </a:highlight>
              <a:latin typeface="Consolas" panose="020B0609020204030204" pitchFamily="49" charset="0"/>
            </a:endParaRPr>
          </a:p>
          <a:p>
            <a:r>
              <a:rPr lang="ru-RU" dirty="0" err="1">
                <a:highlight>
                  <a:srgbClr val="00FFFF"/>
                </a:highlight>
                <a:latin typeface="Consolas" panose="020B0609020204030204" pitchFamily="49" charset="0"/>
              </a:rPr>
              <a:t>Default</a:t>
            </a:r>
            <a:r>
              <a:rPr lang="ru-RU" dirty="0">
                <a:highlight>
                  <a:srgbClr val="00FFFF"/>
                </a:highlight>
                <a:latin typeface="Consolas" panose="020B0609020204030204" pitchFamily="49" charset="0"/>
              </a:rPr>
              <a:t> </a:t>
            </a:r>
            <a:r>
              <a:rPr lang="ru-RU" dirty="0" err="1">
                <a:highlight>
                  <a:srgbClr val="00FFFF"/>
                </a:highlight>
                <a:latin typeface="Consolas" panose="020B0609020204030204" pitchFamily="49" charset="0"/>
              </a:rPr>
              <a:t>ctor</a:t>
            </a:r>
            <a:endParaRPr lang="ru-RU" dirty="0">
              <a:highlight>
                <a:srgbClr val="00FFFF"/>
              </a:highlight>
              <a:latin typeface="Consolas" panose="020B0609020204030204" pitchFamily="49" charset="0"/>
            </a:endParaRPr>
          </a:p>
          <a:p>
            <a:r>
              <a:rPr lang="ru-RU" dirty="0" err="1">
                <a:highlight>
                  <a:srgbClr val="00FFFF"/>
                </a:highlight>
                <a:latin typeface="Consolas" panose="020B0609020204030204" pitchFamily="49" charset="0"/>
              </a:rPr>
              <a:t>Default</a:t>
            </a:r>
            <a:r>
              <a:rPr lang="ru-RU" dirty="0">
                <a:highlight>
                  <a:srgbClr val="00FFFF"/>
                </a:highlight>
                <a:latin typeface="Consolas" panose="020B0609020204030204" pitchFamily="49" charset="0"/>
              </a:rPr>
              <a:t> </a:t>
            </a:r>
            <a:r>
              <a:rPr lang="ru-RU" dirty="0" err="1">
                <a:highlight>
                  <a:srgbClr val="00FFFF"/>
                </a:highlight>
                <a:latin typeface="Consolas" panose="020B0609020204030204" pitchFamily="49" charset="0"/>
              </a:rPr>
              <a:t>ctor</a:t>
            </a:r>
            <a:endParaRPr lang="ru-RU" dirty="0">
              <a:highlight>
                <a:srgbClr val="00FFFF"/>
              </a:highlight>
              <a:latin typeface="Consolas" panose="020B0609020204030204" pitchFamily="49" charset="0"/>
            </a:endParaRPr>
          </a:p>
          <a:p>
            <a:r>
              <a:rPr lang="ru-RU" dirty="0" err="1">
                <a:highlight>
                  <a:srgbClr val="00FFFF"/>
                </a:highlight>
                <a:latin typeface="Consolas" panose="020B0609020204030204" pitchFamily="49" charset="0"/>
              </a:rPr>
              <a:t>Copy</a:t>
            </a:r>
            <a:r>
              <a:rPr lang="ru-RU" dirty="0">
                <a:highlight>
                  <a:srgbClr val="00FFFF"/>
                </a:highlight>
                <a:latin typeface="Consolas" panose="020B0609020204030204" pitchFamily="49" charset="0"/>
              </a:rPr>
              <a:t> </a:t>
            </a:r>
            <a:r>
              <a:rPr lang="ru-RU" dirty="0" err="1">
                <a:highlight>
                  <a:srgbClr val="00FFFF"/>
                </a:highlight>
                <a:latin typeface="Consolas" panose="020B0609020204030204" pitchFamily="49" charset="0"/>
              </a:rPr>
              <a:t>ctor</a:t>
            </a:r>
            <a:endParaRPr lang="ru-RU" dirty="0">
              <a:highlight>
                <a:srgbClr val="00FFFF"/>
              </a:highlight>
              <a:latin typeface="Consolas" panose="020B0609020204030204" pitchFamily="49" charset="0"/>
            </a:endParaRPr>
          </a:p>
          <a:p>
            <a:r>
              <a:rPr lang="ru-RU" dirty="0" err="1">
                <a:highlight>
                  <a:srgbClr val="00FFFF"/>
                </a:highlight>
                <a:latin typeface="Consolas" panose="020B0609020204030204" pitchFamily="49" charset="0"/>
              </a:rPr>
              <a:t>Dtor</a:t>
            </a:r>
            <a:endParaRPr lang="ru-RU" dirty="0">
              <a:highlight>
                <a:srgbClr val="00FFFF"/>
              </a:highlight>
              <a:latin typeface="Consolas" panose="020B0609020204030204" pitchFamily="49" charset="0"/>
            </a:endParaRPr>
          </a:p>
          <a:p>
            <a:r>
              <a:rPr lang="ru-RU" dirty="0" err="1">
                <a:highlight>
                  <a:srgbClr val="00FFFF"/>
                </a:highlight>
                <a:latin typeface="Consolas" panose="020B0609020204030204" pitchFamily="49" charset="0"/>
              </a:rPr>
              <a:t>Dtor</a:t>
            </a:r>
            <a:endParaRPr lang="ru-RU" dirty="0">
              <a:highlight>
                <a:srgbClr val="00FFFF"/>
              </a:highlight>
              <a:latin typeface="Consolas" panose="020B0609020204030204" pitchFamily="49" charset="0"/>
            </a:endParaRPr>
          </a:p>
          <a:p>
            <a:r>
              <a:rPr lang="ru-RU" dirty="0" err="1">
                <a:highlight>
                  <a:srgbClr val="00FFFF"/>
                </a:highlight>
                <a:latin typeface="Consolas" panose="020B0609020204030204" pitchFamily="49" charset="0"/>
              </a:rPr>
              <a:t>Dtor</a:t>
            </a:r>
            <a:endParaRPr lang="ru-RU" dirty="0">
              <a:highlight>
                <a:srgbClr val="00FFFF"/>
              </a:highlight>
              <a:latin typeface="Consolas" panose="020B0609020204030204" pitchFamily="49" charset="0"/>
            </a:endParaRPr>
          </a:p>
          <a:p>
            <a:r>
              <a:rPr lang="ru-RU" dirty="0" err="1">
                <a:highlight>
                  <a:srgbClr val="FF00FF"/>
                </a:highlight>
                <a:latin typeface="Consolas" panose="020B0609020204030204" pitchFamily="49" charset="0"/>
              </a:rPr>
              <a:t>Default</a:t>
            </a:r>
            <a:r>
              <a:rPr lang="ru-RU" dirty="0">
                <a:highlight>
                  <a:srgbClr val="FF00FF"/>
                </a:highlight>
                <a:latin typeface="Consolas" panose="020B0609020204030204" pitchFamily="49" charset="0"/>
              </a:rPr>
              <a:t> </a:t>
            </a:r>
            <a:r>
              <a:rPr lang="ru-RU" dirty="0" err="1">
                <a:highlight>
                  <a:srgbClr val="FF00FF"/>
                </a:highlight>
                <a:latin typeface="Consolas" panose="020B0609020204030204" pitchFamily="49" charset="0"/>
              </a:rPr>
              <a:t>ctor</a:t>
            </a:r>
            <a:endParaRPr lang="en-US" dirty="0">
              <a:highlight>
                <a:srgbClr val="FF00FF"/>
              </a:highlight>
              <a:latin typeface="Consolas" panose="020B0609020204030204" pitchFamily="49" charset="0"/>
            </a:endParaRPr>
          </a:p>
          <a:p>
            <a:r>
              <a:rPr lang="en-US" dirty="0">
                <a:highlight>
                  <a:srgbClr val="FFFF00"/>
                </a:highlight>
                <a:latin typeface="Consolas" panose="020B0609020204030204" pitchFamily="49" charset="0"/>
              </a:rPr>
              <a:t>--</a:t>
            </a:r>
            <a:endParaRPr lang="ru-RU" dirty="0"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r>
              <a:rPr lang="ru-RU" dirty="0" err="1">
                <a:highlight>
                  <a:srgbClr val="C0C0C0"/>
                </a:highlight>
                <a:latin typeface="Consolas" panose="020B0609020204030204" pitchFamily="49" charset="0"/>
              </a:rPr>
              <a:t>Dtor</a:t>
            </a:r>
            <a:endParaRPr lang="ru-RU" dirty="0">
              <a:highlight>
                <a:srgbClr val="C0C0C0"/>
              </a:highlight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7C7ECF3-B20F-0086-99F0-144E0AE13ACD}"/>
              </a:ext>
            </a:extLst>
          </p:cNvPr>
          <p:cNvSpPr txBox="1"/>
          <p:nvPr/>
        </p:nvSpPr>
        <p:spPr>
          <a:xfrm>
            <a:off x="5340424" y="69731"/>
            <a:ext cx="53640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>
                <a:solidFill>
                  <a:srgbClr val="FF0000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https://wandbox.org/permlink/0c2uBSY425nzNgiO</a:t>
            </a:r>
            <a:r>
              <a:rPr lang="en-US" dirty="0">
                <a:solidFill>
                  <a:srgbClr val="FF0000"/>
                </a:solidFill>
              </a:rPr>
              <a:t> </a:t>
            </a:r>
            <a:endParaRPr lang="ru-RU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314754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00"/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>
                      <p:stCondLst>
                        <p:cond delay="indefinite"/>
                      </p:stCondLst>
                      <p:childTnLst>
                        <p:par>
                          <p:cTn id="114" fill="hold">
                            <p:stCondLst>
                              <p:cond delay="0"/>
                            </p:stCondLst>
                            <p:childTnLst>
                              <p:par>
                                <p:cTn id="1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500"/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8" fill="hold">
                      <p:stCondLst>
                        <p:cond delay="indefinite"/>
                      </p:stCondLst>
                      <p:childTnLst>
                        <p:par>
                          <p:cTn id="119" fill="hold">
                            <p:stCondLst>
                              <p:cond delay="0"/>
                            </p:stCondLst>
                            <p:childTnLst>
                              <p:par>
                                <p:cTn id="1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3" fill="hold">
                      <p:stCondLst>
                        <p:cond delay="indefinite"/>
                      </p:stCondLst>
                      <p:childTnLst>
                        <p:par>
                          <p:cTn id="124" fill="hold">
                            <p:stCondLst>
                              <p:cond delay="0"/>
                            </p:stCondLst>
                            <p:childTnLst>
                              <p:par>
                                <p:cTn id="1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8" fill="hold">
                      <p:stCondLst>
                        <p:cond delay="indefinite"/>
                      </p:stCondLst>
                      <p:childTnLst>
                        <p:par>
                          <p:cTn id="129" fill="hold">
                            <p:stCondLst>
                              <p:cond delay="0"/>
                            </p:stCondLst>
                            <p:childTnLst>
                              <p:par>
                                <p:cTn id="1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500"/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3" fill="hold">
                      <p:stCondLst>
                        <p:cond delay="indefinite"/>
                      </p:stCondLst>
                      <p:childTnLst>
                        <p:par>
                          <p:cTn id="134" fill="hold">
                            <p:stCondLst>
                              <p:cond delay="0"/>
                            </p:stCondLst>
                            <p:childTnLst>
                              <p:par>
                                <p:cTn id="1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500"/>
                                        <p:tgtEl>
                                          <p:spTgt spid="3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8" fill="hold">
                      <p:stCondLst>
                        <p:cond delay="indefinite"/>
                      </p:stCondLst>
                      <p:childTnLst>
                        <p:par>
                          <p:cTn id="139" fill="hold">
                            <p:stCondLst>
                              <p:cond delay="0"/>
                            </p:stCondLst>
                            <p:childTnLst>
                              <p:par>
                                <p:cTn id="1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500"/>
                                        <p:tgtEl>
                                          <p:spTgt spid="5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ru-RU" dirty="0"/>
              <a:t>Статические методы класса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B4A41AB-14C6-43DD-A44E-4C194BD71B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9FD91C69-2050-4C52-9A80-CF7CDFFD77D4}"/>
              </a:ext>
            </a:extLst>
          </p:cNvPr>
          <p:cNvSpPr/>
          <p:nvPr/>
        </p:nvSpPr>
        <p:spPr>
          <a:xfrm>
            <a:off x="119336" y="32632"/>
            <a:ext cx="11377264" cy="67403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class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TV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{</a:t>
            </a:r>
          </a:p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: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bool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SelectChannel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channel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 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if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(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!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m_isTurnedOn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||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!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IsValidChannel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channel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)) {</a:t>
            </a:r>
          </a:p>
          <a:p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  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false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}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m_channel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channel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     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true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}</a:t>
            </a:r>
          </a:p>
          <a:p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bool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IsValidChannel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channel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channel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&gt;=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1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&amp;&amp;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channel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99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}</a:t>
            </a:r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private: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bool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m_isTurnedOn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false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m_channel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1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};</a:t>
            </a:r>
          </a:p>
          <a:p>
            <a:endParaRPr lang="de-DE" dirty="0">
              <a:solidFill>
                <a:srgbClr val="0000FF"/>
              </a:solidFill>
              <a:latin typeface="Consolas" panose="020B0609020204030204" pitchFamily="49" charset="0"/>
            </a:endParaRPr>
          </a:p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main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 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TV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tv1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tv2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   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Не имеет значения, у какого телевизора вызван метод 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IsValidChannel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.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cout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tv1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IsValidChannel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42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' '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    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tv2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IsValidChannel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100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endl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759557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5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5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5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70294F-5997-474A-8A73-4D1DB60F31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Статические методы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BC3301-2FCC-4E11-B817-31251E4F49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dirty="0"/>
              <a:t>Обозначаются ключевым словом </a:t>
            </a:r>
            <a:r>
              <a:rPr lang="en-US" b="1" dirty="0"/>
              <a:t>static</a:t>
            </a:r>
            <a:endParaRPr lang="ru-RU" b="1" dirty="0"/>
          </a:p>
          <a:p>
            <a:r>
              <a:rPr lang="ru-RU" dirty="0"/>
              <a:t>Внутри класса вызываются по имени</a:t>
            </a:r>
          </a:p>
          <a:p>
            <a:r>
              <a:rPr lang="ru-RU" dirty="0"/>
              <a:t>Вне класса вызываются по полному имени: </a:t>
            </a:r>
            <a:r>
              <a:rPr lang="ru-RU" b="1" dirty="0" err="1"/>
              <a:t>ИмяКласса</a:t>
            </a:r>
            <a:r>
              <a:rPr lang="ru-RU" b="1" dirty="0"/>
              <a:t>::</a:t>
            </a:r>
            <a:r>
              <a:rPr lang="ru-RU" b="1" dirty="0" err="1"/>
              <a:t>ИмяМетода</a:t>
            </a:r>
            <a:endParaRPr lang="ru-RU" b="1" dirty="0"/>
          </a:p>
          <a:p>
            <a:r>
              <a:rPr lang="ru-RU" dirty="0"/>
              <a:t>С ними не связан никакой экземпляр класса</a:t>
            </a:r>
          </a:p>
          <a:p>
            <a:pPr lvl="1"/>
            <a:r>
              <a:rPr lang="ru-RU" dirty="0"/>
              <a:t>Они не получают указатель </a:t>
            </a:r>
            <a:r>
              <a:rPr lang="en-US" dirty="0"/>
              <a:t>this</a:t>
            </a:r>
          </a:p>
          <a:p>
            <a:r>
              <a:rPr lang="ru-RU" dirty="0"/>
              <a:t>При их вызове нет «текущего объекта»</a:t>
            </a:r>
          </a:p>
          <a:p>
            <a:pPr lvl="1"/>
            <a:r>
              <a:rPr lang="ru-RU" dirty="0"/>
              <a:t>Из статического метода нельзя обратиться к полям класса</a:t>
            </a:r>
          </a:p>
          <a:p>
            <a:pPr lvl="1"/>
            <a:r>
              <a:rPr lang="ru-RU" dirty="0"/>
              <a:t>Можно вызывать только статические методы</a:t>
            </a:r>
          </a:p>
          <a:p>
            <a:r>
              <a:rPr lang="ru-RU" dirty="0"/>
              <a:t>Внутри статических методов можно обращаться к полям и вызывать методы объектов , переданных снаружи или созданных внутри метода</a:t>
            </a:r>
          </a:p>
          <a:p>
            <a:r>
              <a:rPr lang="ru-RU" dirty="0"/>
              <a:t>Есть доступ к приватным полям и методам</a:t>
            </a:r>
          </a:p>
        </p:txBody>
      </p:sp>
    </p:spTree>
    <p:extLst>
      <p:ext uri="{BB962C8B-B14F-4D97-AF65-F5344CB8AC3E}">
        <p14:creationId xmlns:p14="http://schemas.microsoft.com/office/powerpoint/2010/main" val="1135341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288BDC3-D265-4FAD-B61D-6ABB201E7992}"/>
              </a:ext>
            </a:extLst>
          </p:cNvPr>
          <p:cNvSpPr/>
          <p:nvPr/>
        </p:nvSpPr>
        <p:spPr>
          <a:xfrm>
            <a:off x="119336" y="1"/>
            <a:ext cx="11449272" cy="715580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sz="1700" dirty="0" err="1">
                <a:solidFill>
                  <a:srgbClr val="0000FF"/>
                </a:solidFill>
                <a:latin typeface="Consolas" panose="020B0609020204030204" pitchFamily="49" charset="0"/>
              </a:rPr>
              <a:t>class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>
                <a:solidFill>
                  <a:srgbClr val="267F99"/>
                </a:solidFill>
                <a:latin typeface="Consolas" panose="020B0609020204030204" pitchFamily="49" charset="0"/>
              </a:rPr>
              <a:t>TV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{</a:t>
            </a:r>
          </a:p>
          <a:p>
            <a:r>
              <a:rPr lang="de-DE" sz="1700" dirty="0" err="1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de-DE" sz="1700" dirty="0">
                <a:solidFill>
                  <a:srgbClr val="0000FF"/>
                </a:solidFill>
                <a:latin typeface="Consolas" panose="020B0609020204030204" pitchFamily="49" charset="0"/>
              </a:rPr>
              <a:t>:</a:t>
            </a:r>
            <a:endParaRPr lang="de-DE" sz="17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  </a:t>
            </a:r>
            <a:r>
              <a:rPr lang="de-DE" sz="1700" dirty="0" err="1">
                <a:solidFill>
                  <a:srgbClr val="0000FF"/>
                </a:solidFill>
                <a:latin typeface="Consolas" panose="020B0609020204030204" pitchFamily="49" charset="0"/>
              </a:rPr>
              <a:t>bool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 err="1">
                <a:solidFill>
                  <a:srgbClr val="795E26"/>
                </a:solidFill>
                <a:latin typeface="Consolas" panose="020B0609020204030204" pitchFamily="49" charset="0"/>
              </a:rPr>
              <a:t>SelectChannel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sz="1700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 err="1">
                <a:solidFill>
                  <a:srgbClr val="001080"/>
                </a:solidFill>
                <a:latin typeface="Consolas" panose="020B0609020204030204" pitchFamily="49" charset="0"/>
              </a:rPr>
              <a:t>channel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) {</a:t>
            </a:r>
            <a:endParaRPr lang="ru-RU" sz="17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sz="1700" dirty="0">
                <a:solidFill>
                  <a:srgbClr val="008000"/>
                </a:solidFill>
                <a:latin typeface="Consolas" panose="020B0609020204030204" pitchFamily="49" charset="0"/>
              </a:rPr>
              <a:t>    </a:t>
            </a:r>
            <a:r>
              <a:rPr lang="de-DE" sz="1700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ru-RU" sz="1700" dirty="0">
                <a:solidFill>
                  <a:srgbClr val="008000"/>
                </a:solidFill>
                <a:latin typeface="Consolas" panose="020B0609020204030204" pitchFamily="49" charset="0"/>
              </a:rPr>
              <a:t>Внутри метода класса статический метод вызывается по имени</a:t>
            </a:r>
            <a:endParaRPr lang="de-DE" sz="17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700" dirty="0" err="1">
                <a:solidFill>
                  <a:srgbClr val="AF00DB"/>
                </a:solidFill>
                <a:latin typeface="Consolas" panose="020B0609020204030204" pitchFamily="49" charset="0"/>
              </a:rPr>
              <a:t>if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(</a:t>
            </a:r>
            <a:r>
              <a:rPr lang="de-DE" sz="1700" dirty="0">
                <a:solidFill>
                  <a:srgbClr val="000000"/>
                </a:solidFill>
                <a:latin typeface="Consolas" panose="020B0609020204030204" pitchFamily="49" charset="0"/>
              </a:rPr>
              <a:t>!</a:t>
            </a:r>
            <a:r>
              <a:rPr lang="de-DE" sz="1700" dirty="0" err="1">
                <a:solidFill>
                  <a:srgbClr val="001080"/>
                </a:solidFill>
                <a:latin typeface="Consolas" panose="020B0609020204030204" pitchFamily="49" charset="0"/>
              </a:rPr>
              <a:t>m_isTurnedOn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>
                <a:solidFill>
                  <a:srgbClr val="000000"/>
                </a:solidFill>
                <a:latin typeface="Consolas" panose="020B0609020204030204" pitchFamily="49" charset="0"/>
              </a:rPr>
              <a:t>||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>
                <a:solidFill>
                  <a:srgbClr val="000000"/>
                </a:solidFill>
                <a:latin typeface="Consolas" panose="020B0609020204030204" pitchFamily="49" charset="0"/>
              </a:rPr>
              <a:t>!</a:t>
            </a:r>
            <a:r>
              <a:rPr lang="de-DE" sz="1700" dirty="0" err="1">
                <a:solidFill>
                  <a:srgbClr val="795E26"/>
                </a:solidFill>
                <a:latin typeface="Consolas" panose="020B0609020204030204" pitchFamily="49" charset="0"/>
              </a:rPr>
              <a:t>IsValidChannel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sz="1700" dirty="0" err="1">
                <a:solidFill>
                  <a:srgbClr val="001080"/>
                </a:solidFill>
                <a:latin typeface="Consolas" panose="020B0609020204030204" pitchFamily="49" charset="0"/>
              </a:rPr>
              <a:t>channel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)) {</a:t>
            </a:r>
          </a:p>
          <a:p>
            <a:r>
              <a:rPr lang="ru-RU" sz="1700" dirty="0">
                <a:solidFill>
                  <a:srgbClr val="3B3B3B"/>
                </a:solidFill>
                <a:latin typeface="Consolas" panose="020B0609020204030204" pitchFamily="49" charset="0"/>
              </a:rPr>
              <a:t>      </a:t>
            </a:r>
            <a:r>
              <a:rPr lang="de-DE" sz="1700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 err="1">
                <a:solidFill>
                  <a:srgbClr val="0000FF"/>
                </a:solidFill>
                <a:latin typeface="Consolas" panose="020B0609020204030204" pitchFamily="49" charset="0"/>
              </a:rPr>
              <a:t>false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    }</a:t>
            </a:r>
          </a:p>
          <a:p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700" dirty="0" err="1">
                <a:solidFill>
                  <a:srgbClr val="001080"/>
                </a:solidFill>
                <a:latin typeface="Consolas" panose="020B0609020204030204" pitchFamily="49" charset="0"/>
              </a:rPr>
              <a:t>m_channel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 err="1">
                <a:solidFill>
                  <a:srgbClr val="001080"/>
                </a:solidFill>
                <a:latin typeface="Consolas" panose="020B0609020204030204" pitchFamily="49" charset="0"/>
              </a:rPr>
              <a:t>channel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  }</a:t>
            </a:r>
          </a:p>
          <a:p>
            <a:endParaRPr lang="de-DE" sz="17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  </a:t>
            </a:r>
            <a:r>
              <a:rPr lang="de-DE" sz="1700" dirty="0" err="1">
                <a:solidFill>
                  <a:srgbClr val="0000FF"/>
                </a:solidFill>
                <a:latin typeface="Consolas" panose="020B0609020204030204" pitchFamily="49" charset="0"/>
              </a:rPr>
              <a:t>static</a:t>
            </a:r>
            <a:r>
              <a:rPr lang="de-DE" sz="1700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 err="1">
                <a:solidFill>
                  <a:srgbClr val="0000FF"/>
                </a:solidFill>
                <a:latin typeface="Consolas" panose="020B0609020204030204" pitchFamily="49" charset="0"/>
              </a:rPr>
              <a:t>bool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 err="1">
                <a:solidFill>
                  <a:srgbClr val="795E26"/>
                </a:solidFill>
                <a:latin typeface="Consolas" panose="020B0609020204030204" pitchFamily="49" charset="0"/>
              </a:rPr>
              <a:t>IsValidChannel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sz="1700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 err="1">
                <a:solidFill>
                  <a:srgbClr val="001080"/>
                </a:solidFill>
                <a:latin typeface="Consolas" panose="020B0609020204030204" pitchFamily="49" charset="0"/>
              </a:rPr>
              <a:t>channel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) { </a:t>
            </a:r>
            <a:r>
              <a:rPr lang="de-DE" sz="1700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en-US" sz="1700" dirty="0">
                <a:solidFill>
                  <a:srgbClr val="008000"/>
                </a:solidFill>
                <a:latin typeface="Consolas" panose="020B0609020204030204" pitchFamily="49" charset="0"/>
              </a:rPr>
              <a:t>const</a:t>
            </a:r>
            <a:r>
              <a:rPr lang="ru-RU" sz="1700" dirty="0">
                <a:solidFill>
                  <a:srgbClr val="008000"/>
                </a:solidFill>
                <a:latin typeface="Consolas" panose="020B0609020204030204" pitchFamily="49" charset="0"/>
              </a:rPr>
              <a:t> у статических методов не пишется</a:t>
            </a:r>
            <a:endParaRPr lang="de-DE" sz="17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700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 err="1">
                <a:solidFill>
                  <a:srgbClr val="001080"/>
                </a:solidFill>
                <a:latin typeface="Consolas" panose="020B0609020204030204" pitchFamily="49" charset="0"/>
              </a:rPr>
              <a:t>channel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>
                <a:solidFill>
                  <a:srgbClr val="000000"/>
                </a:solidFill>
                <a:latin typeface="Consolas" panose="020B0609020204030204" pitchFamily="49" charset="0"/>
              </a:rPr>
              <a:t>&gt;=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>
                <a:solidFill>
                  <a:srgbClr val="098658"/>
                </a:solidFill>
                <a:latin typeface="Consolas" panose="020B0609020204030204" pitchFamily="49" charset="0"/>
              </a:rPr>
              <a:t>1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>
                <a:solidFill>
                  <a:srgbClr val="000000"/>
                </a:solidFill>
                <a:latin typeface="Consolas" panose="020B0609020204030204" pitchFamily="49" charset="0"/>
              </a:rPr>
              <a:t>&amp;&amp;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 err="1">
                <a:solidFill>
                  <a:srgbClr val="001080"/>
                </a:solidFill>
                <a:latin typeface="Consolas" panose="020B0609020204030204" pitchFamily="49" charset="0"/>
              </a:rPr>
              <a:t>channel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>
                <a:solidFill>
                  <a:srgbClr val="000000"/>
                </a:solidFill>
                <a:latin typeface="Consolas" panose="020B0609020204030204" pitchFamily="49" charset="0"/>
              </a:rPr>
              <a:t>&lt;=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>
                <a:solidFill>
                  <a:srgbClr val="098658"/>
                </a:solidFill>
                <a:latin typeface="Consolas" panose="020B0609020204030204" pitchFamily="49" charset="0"/>
              </a:rPr>
              <a:t>99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  }</a:t>
            </a:r>
          </a:p>
          <a:p>
            <a:b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sz="1700" dirty="0">
                <a:solidFill>
                  <a:srgbClr val="0000FF"/>
                </a:solidFill>
                <a:latin typeface="Consolas" panose="020B0609020204030204" pitchFamily="49" charset="0"/>
              </a:rPr>
              <a:t>private:</a:t>
            </a:r>
            <a:endParaRPr lang="de-DE" sz="17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  </a:t>
            </a:r>
            <a:r>
              <a:rPr lang="de-DE" sz="1700" dirty="0" err="1">
                <a:solidFill>
                  <a:srgbClr val="0000FF"/>
                </a:solidFill>
                <a:latin typeface="Consolas" panose="020B0609020204030204" pitchFamily="49" charset="0"/>
              </a:rPr>
              <a:t>bool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 err="1">
                <a:solidFill>
                  <a:srgbClr val="001080"/>
                </a:solidFill>
                <a:latin typeface="Consolas" panose="020B0609020204030204" pitchFamily="49" charset="0"/>
              </a:rPr>
              <a:t>m_isTurnedOn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 err="1">
                <a:solidFill>
                  <a:srgbClr val="0000FF"/>
                </a:solidFill>
                <a:latin typeface="Consolas" panose="020B0609020204030204" pitchFamily="49" charset="0"/>
              </a:rPr>
              <a:t>false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  </a:t>
            </a:r>
            <a:r>
              <a:rPr lang="de-DE" sz="1700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 err="1">
                <a:solidFill>
                  <a:srgbClr val="001080"/>
                </a:solidFill>
                <a:latin typeface="Consolas" panose="020B0609020204030204" pitchFamily="49" charset="0"/>
              </a:rPr>
              <a:t>m_channel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>
                <a:solidFill>
                  <a:srgbClr val="098658"/>
                </a:solidFill>
                <a:latin typeface="Consolas" panose="020B0609020204030204" pitchFamily="49" charset="0"/>
              </a:rPr>
              <a:t>1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};</a:t>
            </a:r>
          </a:p>
          <a:p>
            <a:endParaRPr lang="de-DE" sz="1700" dirty="0">
              <a:solidFill>
                <a:srgbClr val="0000FF"/>
              </a:solidFill>
              <a:latin typeface="Consolas" panose="020B0609020204030204" pitchFamily="49" charset="0"/>
            </a:endParaRPr>
          </a:p>
          <a:p>
            <a:r>
              <a:rPr lang="de-DE" sz="1700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 err="1">
                <a:solidFill>
                  <a:srgbClr val="795E26"/>
                </a:solidFill>
                <a:latin typeface="Consolas" panose="020B0609020204030204" pitchFamily="49" charset="0"/>
              </a:rPr>
              <a:t>main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() {</a:t>
            </a:r>
          </a:p>
          <a:p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700" dirty="0">
                <a:solidFill>
                  <a:srgbClr val="267F99"/>
                </a:solidFill>
                <a:latin typeface="Consolas" panose="020B0609020204030204" pitchFamily="49" charset="0"/>
              </a:rPr>
              <a:t>TV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 err="1">
                <a:solidFill>
                  <a:srgbClr val="001080"/>
                </a:solidFill>
                <a:latin typeface="Consolas" panose="020B0609020204030204" pitchFamily="49" charset="0"/>
              </a:rPr>
              <a:t>tv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700" dirty="0">
                <a:solidFill>
                  <a:srgbClr val="008000"/>
                </a:solidFill>
                <a:latin typeface="Consolas" panose="020B0609020204030204" pitchFamily="49" charset="0"/>
              </a:rPr>
              <a:t>    //</a:t>
            </a:r>
            <a:r>
              <a:rPr lang="ru-RU" sz="1700" dirty="0">
                <a:solidFill>
                  <a:srgbClr val="008000"/>
                </a:solidFill>
                <a:latin typeface="Consolas" panose="020B0609020204030204" pitchFamily="49" charset="0"/>
              </a:rPr>
              <a:t> Вне класса статический метод вызывается с указанием имени класса</a:t>
            </a:r>
            <a:endParaRPr lang="de-DE" sz="17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700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700" dirty="0" err="1">
                <a:solidFill>
                  <a:srgbClr val="001080"/>
                </a:solidFill>
                <a:latin typeface="Consolas" panose="020B0609020204030204" pitchFamily="49" charset="0"/>
              </a:rPr>
              <a:t>cout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>
                <a:solidFill>
                  <a:srgbClr val="267F99"/>
                </a:solidFill>
                <a:latin typeface="Consolas" panose="020B0609020204030204" pitchFamily="49" charset="0"/>
              </a:rPr>
              <a:t>TV</a:t>
            </a:r>
            <a:r>
              <a:rPr lang="en-US" sz="17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700" dirty="0" err="1">
                <a:solidFill>
                  <a:srgbClr val="795E26"/>
                </a:solidFill>
                <a:latin typeface="Consolas" panose="020B0609020204030204" pitchFamily="49" charset="0"/>
              </a:rPr>
              <a:t>IsValidChannel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sz="1700" dirty="0">
                <a:solidFill>
                  <a:srgbClr val="098658"/>
                </a:solidFill>
                <a:latin typeface="Consolas" panose="020B0609020204030204" pitchFamily="49" charset="0"/>
              </a:rPr>
              <a:t>42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) </a:t>
            </a:r>
            <a:r>
              <a:rPr lang="de-DE" sz="1700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>
                <a:solidFill>
                  <a:srgbClr val="A31515"/>
                </a:solidFill>
                <a:latin typeface="Consolas" panose="020B0609020204030204" pitchFamily="49" charset="0"/>
              </a:rPr>
              <a:t>' </a:t>
            </a:r>
            <a:r>
              <a:rPr lang="en-US" sz="1700" dirty="0">
                <a:solidFill>
                  <a:srgbClr val="A31515"/>
                </a:solidFill>
                <a:latin typeface="Consolas" panose="020B0609020204030204" pitchFamily="49" charset="0"/>
              </a:rPr>
              <a:t>'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endParaRPr lang="ru-RU" sz="17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sz="1700" dirty="0">
                <a:solidFill>
                  <a:srgbClr val="3B3B3B"/>
                </a:solidFill>
                <a:latin typeface="Consolas" panose="020B0609020204030204" pitchFamily="49" charset="0"/>
              </a:rPr>
              <a:t>              </a:t>
            </a:r>
            <a:r>
              <a:rPr lang="de-DE" sz="1700" dirty="0">
                <a:solidFill>
                  <a:srgbClr val="008000"/>
                </a:solidFill>
                <a:latin typeface="Consolas" panose="020B0609020204030204" pitchFamily="49" charset="0"/>
              </a:rPr>
              <a:t>//</a:t>
            </a:r>
            <a:r>
              <a:rPr lang="ru-RU" sz="1700" dirty="0">
                <a:solidFill>
                  <a:srgbClr val="008000"/>
                </a:solidFill>
                <a:latin typeface="Consolas" panose="020B0609020204030204" pitchFamily="49" charset="0"/>
              </a:rPr>
              <a:t> Можно указать и имя объекта, но так обычно не делают</a:t>
            </a:r>
            <a:endParaRPr lang="de-DE" sz="17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     </a:t>
            </a:r>
            <a:r>
              <a:rPr lang="de-DE" sz="1700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>
                <a:solidFill>
                  <a:srgbClr val="001080"/>
                </a:solidFill>
                <a:latin typeface="Consolas" panose="020B0609020204030204" pitchFamily="49" charset="0"/>
              </a:rPr>
              <a:t>tv1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sz="1700" dirty="0">
                <a:solidFill>
                  <a:srgbClr val="795E26"/>
                </a:solidFill>
                <a:latin typeface="Consolas" panose="020B0609020204030204" pitchFamily="49" charset="0"/>
              </a:rPr>
              <a:t>IsValidChannel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sz="1700" dirty="0">
                <a:solidFill>
                  <a:srgbClr val="098658"/>
                </a:solidFill>
                <a:latin typeface="Consolas" panose="020B0609020204030204" pitchFamily="49" charset="0"/>
              </a:rPr>
              <a:t>100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) </a:t>
            </a:r>
            <a:r>
              <a:rPr lang="de-DE" sz="1700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700" dirty="0" err="1">
                <a:solidFill>
                  <a:srgbClr val="795E26"/>
                </a:solidFill>
                <a:latin typeface="Consolas" panose="020B0609020204030204" pitchFamily="49" charset="0"/>
              </a:rPr>
              <a:t>endl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  <a:endParaRPr lang="ru-RU" sz="17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2830953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4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4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4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10CFBDD-FD77-40A5-BCA2-88B308852991}"/>
              </a:ext>
            </a:extLst>
          </p:cNvPr>
          <p:cNvSpPr/>
          <p:nvPr/>
        </p:nvSpPr>
        <p:spPr>
          <a:xfrm>
            <a:off x="227348" y="116632"/>
            <a:ext cx="11737304" cy="618630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class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MyClass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{</a:t>
            </a:r>
          </a:p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: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static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StaticMethod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 {</a:t>
            </a:r>
          </a:p>
          <a:p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       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Ошибка: нельзя вызвать нестатический метод из статического.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de-DE" dirty="0" err="1">
                <a:solidFill>
                  <a:srgbClr val="FF0000"/>
                </a:solidFill>
                <a:latin typeface="Consolas" panose="020B0609020204030204" pitchFamily="49" charset="0"/>
              </a:rPr>
              <a:t>NonStaticMethod</a:t>
            </a:r>
            <a:r>
              <a:rPr lang="de-DE" dirty="0">
                <a:solidFill>
                  <a:srgbClr val="FF0000"/>
                </a:solidFill>
                <a:latin typeface="Consolas" panose="020B0609020204030204" pitchFamily="49" charset="0"/>
              </a:rPr>
              <a:t>();</a:t>
            </a:r>
          </a:p>
          <a:p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       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Когда есть экземпляр класса, можно вызывать его нестатические методы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        // и обращаться к полям.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MyClass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myObject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myObject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NonStaticMethod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myObject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m_data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42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       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Из статических методов можно вызывать другие статические методы, даже приватные.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AnotherStaticMethod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}</a:t>
            </a: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NonStaticMethod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 { }</a:t>
            </a: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private: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static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AnotherStaticMethod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 { }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m_data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};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904221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2DCB27-1DD8-4337-A93E-1736729916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Статические данные класса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0AE0503-BDDB-4FF2-9102-517FC7512D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50867317"/>
      </p:ext>
    </p:extLst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A74DB62-B932-4449-9B40-39466E79A85D}"/>
              </a:ext>
            </a:extLst>
          </p:cNvPr>
          <p:cNvSpPr/>
          <p:nvPr/>
        </p:nvSpPr>
        <p:spPr>
          <a:xfrm>
            <a:off x="479376" y="116632"/>
            <a:ext cx="11449272" cy="618630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enum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class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Gear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{ 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>
                <a:solidFill>
                  <a:srgbClr val="0070C1"/>
                </a:solidFill>
                <a:latin typeface="Consolas" panose="020B0609020204030204" pitchFamily="49" charset="0"/>
              </a:rPr>
              <a:t>NEUTRAL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070C1"/>
                </a:solidFill>
                <a:latin typeface="Consolas" panose="020B0609020204030204" pitchFamily="49" charset="0"/>
              </a:rPr>
              <a:t>FIRST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070C1"/>
                </a:solidFill>
                <a:latin typeface="Consolas" panose="020B0609020204030204" pitchFamily="49" charset="0"/>
              </a:rPr>
              <a:t>SECOND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070C1"/>
                </a:solidFill>
                <a:latin typeface="Consolas" panose="020B0609020204030204" pitchFamily="49" charset="0"/>
              </a:rPr>
              <a:t>THIRD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070C1"/>
                </a:solidFill>
                <a:latin typeface="Consolas" panose="020B0609020204030204" pitchFamily="49" charset="0"/>
              </a:rPr>
              <a:t>FOURTH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070C1"/>
                </a:solidFill>
                <a:latin typeface="Consolas" panose="020B0609020204030204" pitchFamily="49" charset="0"/>
              </a:rPr>
              <a:t>FIFTH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070C1"/>
                </a:solidFill>
                <a:latin typeface="Consolas" panose="020B0609020204030204" pitchFamily="49" charset="0"/>
              </a:rPr>
              <a:t>REVERSE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-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1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};</a:t>
            </a: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class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Car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{</a:t>
            </a:r>
          </a:p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: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   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Определяет, допустимо ли ехать со скоростью 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speed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,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когда включена передача 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gear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.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static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bool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IsSpeedValidForGear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speed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Gear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gear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 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if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(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gear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Gear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>
                <a:solidFill>
                  <a:srgbClr val="0070C1"/>
                </a:solidFill>
                <a:latin typeface="Consolas" panose="020B0609020204030204" pitchFamily="49" charset="0"/>
              </a:rPr>
              <a:t>NEUTRAL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&amp;&amp;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speed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&gt;=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&amp;&amp;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speed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150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 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  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true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}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else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if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(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gear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Gear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>
                <a:solidFill>
                  <a:srgbClr val="0070C1"/>
                </a:solidFill>
                <a:latin typeface="Consolas" panose="020B0609020204030204" pitchFamily="49" charset="0"/>
              </a:rPr>
              <a:t>FIRST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&amp;&amp;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speed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&gt;=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&amp;&amp;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speed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30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 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  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true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}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else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if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(...) 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   ...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} ...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}</a:t>
            </a:r>
          </a:p>
          <a:p>
            <a:endParaRPr lang="de-DE" dirty="0">
              <a:solidFill>
                <a:srgbClr val="0000FF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private: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bool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m_engineIsOn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false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m_speed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Gear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m_gear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Gear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>
                <a:solidFill>
                  <a:srgbClr val="0070C1"/>
                </a:solidFill>
                <a:latin typeface="Consolas" panose="020B0609020204030204" pitchFamily="49" charset="0"/>
              </a:rPr>
              <a:t>NEUTRAL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};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460550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A815F2FA-C205-433B-94A0-DDB9A92905AD}"/>
              </a:ext>
            </a:extLst>
          </p:cNvPr>
          <p:cNvSpPr/>
          <p:nvPr/>
        </p:nvSpPr>
        <p:spPr>
          <a:xfrm>
            <a:off x="479376" y="404664"/>
            <a:ext cx="11305256" cy="39703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struct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GearSpeedRange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Gear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gear</a:t>
            </a:r>
            <a:r>
              <a:rPr lang="de-DE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  <a:r>
              <a:rPr lang="de-DE">
                <a:solidFill>
                  <a:srgbClr val="008000"/>
                </a:solidFill>
                <a:latin typeface="Consolas" panose="020B0609020204030204" pitchFamily="49" charset="0"/>
              </a:rPr>
              <a:t>    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Передача.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minSpeed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Минимальная скорость на этой передаче.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maxSpeed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Максимальная скорость на этой передаче.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};</a:t>
            </a:r>
          </a:p>
          <a:p>
            <a:b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class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Car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{</a:t>
            </a:r>
          </a:p>
          <a:p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    // ...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   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static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bool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IsSpeedValidForGear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speed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Gear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gear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 { … }</a:t>
            </a: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private: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   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Таблица скоростей.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vector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GearSpeedRange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&gt;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m_speedTable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};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81975312"/>
      </p:ext>
    </p:extLst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9BAE45-E348-4247-BDD0-1E0AC6A44C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Статические поля класса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631587-9154-4C68-BAAD-F3EFC3783F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Статическое поле – общее для всех экземпляров</a:t>
            </a:r>
          </a:p>
          <a:p>
            <a:r>
              <a:rPr lang="ru-RU" dirty="0"/>
              <a:t>Создаётся при запуске программы и уничтожается при её завершении</a:t>
            </a:r>
          </a:p>
          <a:p>
            <a:r>
              <a:rPr lang="ru-RU" dirty="0"/>
              <a:t>Для доступа к статическому полю не нужно указывать объект</a:t>
            </a:r>
          </a:p>
          <a:p>
            <a:pPr lvl="1"/>
            <a:r>
              <a:rPr lang="ru-RU" dirty="0"/>
              <a:t>Можно использовать из статических методов</a:t>
            </a:r>
          </a:p>
          <a:p>
            <a:r>
              <a:rPr lang="ru-RU" dirty="0"/>
              <a:t>Перед объявлением статического поля пишется ключевое слово </a:t>
            </a:r>
            <a:r>
              <a:rPr lang="en-US" b="1" dirty="0"/>
              <a:t>static</a:t>
            </a:r>
            <a:endParaRPr lang="ru-RU" b="1" dirty="0"/>
          </a:p>
        </p:txBody>
      </p:sp>
    </p:spTree>
    <p:extLst>
      <p:ext uri="{BB962C8B-B14F-4D97-AF65-F5344CB8AC3E}">
        <p14:creationId xmlns:p14="http://schemas.microsoft.com/office/powerpoint/2010/main" val="1496135318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8161CC7-5FE1-465C-9F46-DA4BFD76C11C}"/>
              </a:ext>
            </a:extLst>
          </p:cNvPr>
          <p:cNvSpPr/>
          <p:nvPr/>
        </p:nvSpPr>
        <p:spPr>
          <a:xfrm>
            <a:off x="335360" y="620688"/>
            <a:ext cx="11665296" cy="480131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car.h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class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Car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{</a:t>
            </a:r>
          </a:p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:</a:t>
            </a:r>
          </a:p>
          <a:p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    …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static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bool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IsSpeedValidForGear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speed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Gear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gear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private: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bool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m_engineIsOn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false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m_speed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Gear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m_gear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Gear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>
                <a:solidFill>
                  <a:srgbClr val="0070C1"/>
                </a:solidFill>
                <a:latin typeface="Consolas" panose="020B0609020204030204" pitchFamily="49" charset="0"/>
              </a:rPr>
              <a:t>NEUTRAL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   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Объявляем таблицу диапазонов скоростей статической и константной,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    // чтобы она была одна всю программу и не изменялась.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static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vector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GearSpeedRange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&gt;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s_speedTable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};</a:t>
            </a: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57046676"/>
      </p:ext>
    </p:extLst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23FB970-0D0F-441C-BEEC-F464D8D75E32}"/>
              </a:ext>
            </a:extLst>
          </p:cNvPr>
          <p:cNvSpPr/>
          <p:nvPr/>
        </p:nvSpPr>
        <p:spPr>
          <a:xfrm>
            <a:off x="335360" y="260648"/>
            <a:ext cx="11377264" cy="618630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// car.cpp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AF00DB"/>
                </a:solidFill>
                <a:latin typeface="Consolas" panose="020B0609020204030204" pitchFamily="49" charset="0"/>
              </a:rPr>
              <a:t>#include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car.h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</a:p>
          <a:p>
            <a:endParaRPr lang="de-DE" dirty="0">
              <a:solidFill>
                <a:srgbClr val="0000FF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// Так объявляется статическая переменная за пределами класса.</a:t>
            </a:r>
            <a:endParaRPr lang="de-DE" dirty="0">
              <a:solidFill>
                <a:srgbClr val="0000FF"/>
              </a:solidFill>
              <a:latin typeface="Consolas" panose="020B0609020204030204" pitchFamily="49" charset="0"/>
            </a:endParaRPr>
          </a:p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vector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GearSpeedRange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&gt;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Car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s_speedTable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{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Gear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>
                <a:solidFill>
                  <a:srgbClr val="0070C1"/>
                </a:solidFill>
                <a:latin typeface="Consolas" panose="020B0609020204030204" pitchFamily="49" charset="0"/>
              </a:rPr>
              <a:t>NEUTRAL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150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},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{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Gear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>
                <a:solidFill>
                  <a:srgbClr val="0070C1"/>
                </a:solidFill>
                <a:latin typeface="Consolas" panose="020B0609020204030204" pitchFamily="49" charset="0"/>
              </a:rPr>
              <a:t>FIRST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30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},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{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Gear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>
                <a:solidFill>
                  <a:srgbClr val="0070C1"/>
                </a:solidFill>
                <a:latin typeface="Consolas" panose="020B0609020204030204" pitchFamily="49" charset="0"/>
              </a:rPr>
              <a:t>SECOND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20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50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},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{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Gear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>
                <a:solidFill>
                  <a:srgbClr val="0070C1"/>
                </a:solidFill>
                <a:latin typeface="Consolas" panose="020B0609020204030204" pitchFamily="49" charset="0"/>
              </a:rPr>
              <a:t>THIRD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30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70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},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{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Gear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>
                <a:solidFill>
                  <a:srgbClr val="0070C1"/>
                </a:solidFill>
                <a:latin typeface="Consolas" panose="020B0609020204030204" pitchFamily="49" charset="0"/>
              </a:rPr>
              <a:t>FOURTH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40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100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},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{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Gear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>
                <a:solidFill>
                  <a:srgbClr val="0070C1"/>
                </a:solidFill>
                <a:latin typeface="Consolas" panose="020B0609020204030204" pitchFamily="49" charset="0"/>
              </a:rPr>
              <a:t>FIFTH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60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150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},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{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Gear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>
                <a:solidFill>
                  <a:srgbClr val="0070C1"/>
                </a:solidFill>
                <a:latin typeface="Consolas" panose="020B0609020204030204" pitchFamily="49" charset="0"/>
              </a:rPr>
              <a:t>REVERSE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30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},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};</a:t>
            </a:r>
          </a:p>
          <a:p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bool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Car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IsSpeedValidForGear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speed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Gear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gear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 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for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(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auto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&amp;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range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: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s_speedTable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 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if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(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range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gear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gear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 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  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range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minSpeed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speed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&amp;&amp;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speed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range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maxSpeed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}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}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false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7752937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2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2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2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2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2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41801BB8-F118-409C-ABEE-9F9E27159C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Определение статического поля внутри класса (начиная с++17)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84B711C-4349-4A44-AD17-D11FB76BD7DB}"/>
              </a:ext>
            </a:extLst>
          </p:cNvPr>
          <p:cNvSpPr/>
          <p:nvPr/>
        </p:nvSpPr>
        <p:spPr>
          <a:xfrm>
            <a:off x="767408" y="2060848"/>
            <a:ext cx="10945216" cy="39703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class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Car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</a:p>
          <a:p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private: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   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Так статическое поле объявляется и определяется внутри класса.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inline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static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vector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GearSpeedRange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&gt;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1080"/>
                </a:solidFill>
                <a:latin typeface="Consolas" panose="020B0609020204030204" pitchFamily="49" charset="0"/>
              </a:rPr>
              <a:t>s_speedTable</a:t>
            </a:r>
            <a:r>
              <a:rPr lang="en-US" dirty="0">
                <a:solidFill>
                  <a:srgbClr val="001080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{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Gear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>
                <a:solidFill>
                  <a:srgbClr val="0070C1"/>
                </a:solidFill>
                <a:latin typeface="Consolas" panose="020B0609020204030204" pitchFamily="49" charset="0"/>
              </a:rPr>
              <a:t>NEUTRAL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150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},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{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Gear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>
                <a:solidFill>
                  <a:srgbClr val="0070C1"/>
                </a:solidFill>
                <a:latin typeface="Consolas" panose="020B0609020204030204" pitchFamily="49" charset="0"/>
              </a:rPr>
              <a:t>FIRST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30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},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{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Gear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>
                <a:solidFill>
                  <a:srgbClr val="0070C1"/>
                </a:solidFill>
                <a:latin typeface="Consolas" panose="020B0609020204030204" pitchFamily="49" charset="0"/>
              </a:rPr>
              <a:t>SECOND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20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50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},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{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Gear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>
                <a:solidFill>
                  <a:srgbClr val="0070C1"/>
                </a:solidFill>
                <a:latin typeface="Consolas" panose="020B0609020204030204" pitchFamily="49" charset="0"/>
              </a:rPr>
              <a:t>THIRD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30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70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},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{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Gear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>
                <a:solidFill>
                  <a:srgbClr val="0070C1"/>
                </a:solidFill>
                <a:latin typeface="Consolas" panose="020B0609020204030204" pitchFamily="49" charset="0"/>
              </a:rPr>
              <a:t>FOURTH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40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100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},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{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Gear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>
                <a:solidFill>
                  <a:srgbClr val="0070C1"/>
                </a:solidFill>
                <a:latin typeface="Consolas" panose="020B0609020204030204" pitchFamily="49" charset="0"/>
              </a:rPr>
              <a:t>FIFTH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60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150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},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{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Gear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>
                <a:solidFill>
                  <a:srgbClr val="0070C1"/>
                </a:solidFill>
                <a:latin typeface="Consolas" panose="020B0609020204030204" pitchFamily="49" charset="0"/>
              </a:rPr>
              <a:t>REVERSE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30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},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};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};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93995006"/>
      </p:ext>
    </p:extLst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700772-1F1E-405F-8B35-072A8CF81E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Статические поля в классах Стандартной Библиотеки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0D72FF6-BC5A-49C8-A02D-2FE84EE20827}"/>
              </a:ext>
            </a:extLst>
          </p:cNvPr>
          <p:cNvSpPr/>
          <p:nvPr/>
        </p:nvSpPr>
        <p:spPr>
          <a:xfrm>
            <a:off x="695400" y="2492896"/>
            <a:ext cx="11233248" cy="31393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string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text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"A quick 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brown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fox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jumps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over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the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lazy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dog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string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needle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Иголка, которую мы будем искать в стоге сена.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cin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&gt;&gt;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needle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Вводим текст для поиска.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b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// Метод 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find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возвращает позицию в строке, с которой начинается искомый текст.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// Если текст не найден, возвращается значение 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string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npos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.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if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(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size_t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found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A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t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text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find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needle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); 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found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A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t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!=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b="1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b="1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b="1" dirty="0" err="1">
                <a:solidFill>
                  <a:srgbClr val="267F99"/>
                </a:solidFill>
                <a:latin typeface="Consolas" panose="020B0609020204030204" pitchFamily="49" charset="0"/>
              </a:rPr>
              <a:t>string</a:t>
            </a:r>
            <a:r>
              <a:rPr lang="de-DE" b="1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npos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 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cout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needle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 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is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found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 at 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position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 "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found_at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endl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else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cout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needle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 was not 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found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endl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71194204"/>
      </p:ext>
    </p:extLst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1E8ACB-F3C0-42BE-A69B-EFE777CA02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Статические данные и методы – итоги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1E226F-9668-4B88-B056-938D8224D4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Статические методы не привязаны к конкретному экземпляру класса</a:t>
            </a:r>
          </a:p>
          <a:p>
            <a:r>
              <a:rPr lang="ru-RU" dirty="0"/>
              <a:t>Статические поля используются для хранения данных, общих для всех экземпляров класса</a:t>
            </a:r>
          </a:p>
          <a:p>
            <a:r>
              <a:rPr lang="ru-RU" dirty="0"/>
              <a:t>Статические данные часто делают константными</a:t>
            </a:r>
          </a:p>
        </p:txBody>
      </p:sp>
    </p:spTree>
    <p:extLst>
      <p:ext uri="{BB962C8B-B14F-4D97-AF65-F5344CB8AC3E}">
        <p14:creationId xmlns:p14="http://schemas.microsoft.com/office/powerpoint/2010/main" val="1363542643"/>
      </p:ext>
    </p:extLst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2" name="Rectangle 4"/>
          <p:cNvSpPr>
            <a:spLocks noGrp="1" noChangeArrowheads="1"/>
          </p:cNvSpPr>
          <p:nvPr>
            <p:ph type="ctrTitle"/>
          </p:nvPr>
        </p:nvSpPr>
        <p:spPr/>
        <p:txBody>
          <a:bodyPr/>
          <a:lstStyle/>
          <a:p>
            <a:pPr>
              <a:defRPr/>
            </a:pPr>
            <a:r>
              <a:rPr lang="ru-RU"/>
              <a:t>Вложенные классы</a:t>
            </a:r>
          </a:p>
        </p:txBody>
      </p:sp>
      <p:sp>
        <p:nvSpPr>
          <p:cNvPr id="20483" name="Rectangle 5"/>
          <p:cNvSpPr>
            <a:spLocks noGrp="1" noChangeArrowheads="1"/>
          </p:cNvSpPr>
          <p:nvPr>
            <p:ph type="subTitle" idx="1"/>
          </p:nvPr>
        </p:nvSpPr>
        <p:spPr/>
        <p:txBody>
          <a:bodyPr/>
          <a:lstStyle/>
          <a:p>
            <a:endParaRPr lang="ru-RU"/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ru-RU" dirty="0"/>
              <a:t>Вложенное объявление классов и других типов данных</a:t>
            </a:r>
          </a:p>
        </p:txBody>
      </p:sp>
      <p:sp>
        <p:nvSpPr>
          <p:cNvPr id="13315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274320" indent="-274320">
              <a:buClr>
                <a:schemeClr val="accent3"/>
              </a:buClr>
              <a:buFont typeface="Wingdings 2"/>
              <a:buChar char=""/>
              <a:defRPr/>
            </a:pPr>
            <a:r>
              <a:rPr lang="ru-RU" dirty="0"/>
              <a:t>Язык </a:t>
            </a:r>
            <a:r>
              <a:rPr lang="en-US" dirty="0"/>
              <a:t>C++ </a:t>
            </a:r>
            <a:r>
              <a:rPr lang="ru-RU" dirty="0"/>
              <a:t>позволяет разместить объявление одного класса (или другого типа данных) внутри объявления другого</a:t>
            </a:r>
          </a:p>
          <a:p>
            <a:pPr marL="640080" lvl="1" indent="-246888">
              <a:buFont typeface="Wingdings 2"/>
              <a:buChar char=""/>
              <a:defRPr/>
            </a:pPr>
            <a:r>
              <a:rPr lang="ru-RU" dirty="0"/>
              <a:t>Это полезно, когда вложенный тип данных используется лишь внешним классом, или совместно с ним</a:t>
            </a:r>
          </a:p>
          <a:p>
            <a:pPr lvl="2" indent="-246888">
              <a:buFont typeface="Wingdings 2"/>
              <a:buChar char=""/>
              <a:defRPr/>
            </a:pPr>
            <a:r>
              <a:rPr lang="ru-RU" dirty="0"/>
              <a:t>Пример - итераторы стандартных контейнеров </a:t>
            </a:r>
            <a:r>
              <a:rPr lang="en-US" dirty="0"/>
              <a:t>STL</a:t>
            </a:r>
            <a:endParaRPr lang="ru-RU" dirty="0"/>
          </a:p>
          <a:p>
            <a:pPr marL="274320" indent="-274320">
              <a:buClr>
                <a:schemeClr val="accent3"/>
              </a:buClr>
              <a:buFont typeface="Wingdings 2"/>
              <a:buChar char=""/>
              <a:defRPr/>
            </a:pPr>
            <a:r>
              <a:rPr lang="ru-RU" dirty="0"/>
              <a:t>Использование вложенного класса</a:t>
            </a:r>
          </a:p>
          <a:p>
            <a:pPr marL="640080" lvl="1" indent="-246888">
              <a:buFont typeface="Wingdings 2"/>
              <a:buChar char=""/>
              <a:defRPr/>
            </a:pPr>
            <a:r>
              <a:rPr lang="ru-RU" dirty="0"/>
              <a:t>Из методов внешнего класса – по имени вложенного класса</a:t>
            </a:r>
          </a:p>
          <a:p>
            <a:pPr marL="640080" lvl="1" indent="-246888">
              <a:buFont typeface="Wingdings 2"/>
              <a:buChar char=""/>
              <a:defRPr/>
            </a:pPr>
            <a:r>
              <a:rPr lang="ru-RU" dirty="0"/>
              <a:t>Снаружи – при помощи указания имени внешнего класса:</a:t>
            </a:r>
          </a:p>
          <a:p>
            <a:pPr lvl="2" indent="-246888">
              <a:buFont typeface="Wingdings 2"/>
              <a:buChar char=""/>
              <a:defRPr/>
            </a:pPr>
            <a:r>
              <a:rPr lang="en-US" dirty="0" err="1"/>
              <a:t>ExternalClass</a:t>
            </a:r>
            <a:r>
              <a:rPr lang="en-US" dirty="0"/>
              <a:t>::Internal</a:t>
            </a:r>
            <a:endParaRPr lang="ru-RU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3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33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33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33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331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331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331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315" grpId="0" build="p"/>
    </p:bldLst>
  </p:timing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ru-RU" dirty="0"/>
              <a:t>Пример</a:t>
            </a:r>
            <a:r>
              <a:rPr lang="en-US" dirty="0"/>
              <a:t> 1</a:t>
            </a:r>
            <a:endParaRPr lang="ru-RU" dirty="0"/>
          </a:p>
        </p:txBody>
      </p:sp>
      <p:sp>
        <p:nvSpPr>
          <p:cNvPr id="22531" name="Text Box 5"/>
          <p:cNvSpPr txBox="1">
            <a:spLocks noChangeArrowheads="1"/>
          </p:cNvSpPr>
          <p:nvPr/>
        </p:nvSpPr>
        <p:spPr bwMode="auto">
          <a:xfrm>
            <a:off x="2024034" y="1785926"/>
            <a:ext cx="7643842" cy="504753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defTabSz="539750"/>
            <a:r>
              <a:rPr lang="en-US" sz="1400" b="1" dirty="0">
                <a:latin typeface="Courier New" pitchFamily="49" charset="0"/>
              </a:rPr>
              <a:t>class External</a:t>
            </a:r>
          </a:p>
          <a:p>
            <a:pPr defTabSz="539750"/>
            <a:r>
              <a:rPr lang="en-US" sz="1400" b="1" dirty="0">
                <a:latin typeface="Courier New" pitchFamily="49" charset="0"/>
              </a:rPr>
              <a:t>{</a:t>
            </a:r>
          </a:p>
          <a:p>
            <a:pPr defTabSz="539750"/>
            <a:r>
              <a:rPr lang="en-US" sz="1400" b="1" dirty="0">
                <a:latin typeface="Courier New" pitchFamily="49" charset="0"/>
              </a:rPr>
              <a:t>public:</a:t>
            </a:r>
          </a:p>
          <a:p>
            <a:pPr defTabSz="539750"/>
            <a:r>
              <a:rPr lang="en-US" sz="1400" b="1" dirty="0">
                <a:latin typeface="Courier New" pitchFamily="49" charset="0"/>
              </a:rPr>
              <a:t>	class Internal</a:t>
            </a:r>
          </a:p>
          <a:p>
            <a:pPr defTabSz="539750"/>
            <a:r>
              <a:rPr lang="en-US" sz="1400" b="1" dirty="0">
                <a:latin typeface="Courier New" pitchFamily="49" charset="0"/>
              </a:rPr>
              <a:t>	{</a:t>
            </a:r>
          </a:p>
          <a:p>
            <a:pPr defTabSz="539750"/>
            <a:r>
              <a:rPr lang="en-US" sz="1400" b="1" dirty="0">
                <a:latin typeface="Courier New" pitchFamily="49" charset="0"/>
              </a:rPr>
              <a:t>	public:</a:t>
            </a:r>
          </a:p>
          <a:p>
            <a:pPr defTabSz="539750"/>
            <a:r>
              <a:rPr lang="en-US" sz="1400" b="1" dirty="0">
                <a:latin typeface="Courier New" pitchFamily="49" charset="0"/>
              </a:rPr>
              <a:t>		void </a:t>
            </a:r>
            <a:r>
              <a:rPr lang="en-US" sz="1400" b="1" dirty="0" err="1">
                <a:latin typeface="Courier New" pitchFamily="49" charset="0"/>
              </a:rPr>
              <a:t>Foo</a:t>
            </a:r>
            <a:r>
              <a:rPr lang="en-US" sz="1400" b="1" dirty="0">
                <a:latin typeface="Courier New" pitchFamily="49" charset="0"/>
              </a:rPr>
              <a:t>(){}</a:t>
            </a:r>
          </a:p>
          <a:p>
            <a:pPr defTabSz="539750"/>
            <a:r>
              <a:rPr lang="en-US" sz="1400" b="1" dirty="0">
                <a:latin typeface="Courier New" pitchFamily="49" charset="0"/>
              </a:rPr>
              <a:t>	};</a:t>
            </a:r>
          </a:p>
          <a:p>
            <a:pPr defTabSz="539750"/>
            <a:r>
              <a:rPr lang="en-US" sz="1400" b="1" dirty="0">
                <a:latin typeface="Courier New" pitchFamily="49" charset="0"/>
              </a:rPr>
              <a:t>private:</a:t>
            </a:r>
          </a:p>
          <a:p>
            <a:pPr defTabSz="539750"/>
            <a:r>
              <a:rPr lang="en-US" sz="1400" b="1" dirty="0">
                <a:latin typeface="Courier New" pitchFamily="49" charset="0"/>
              </a:rPr>
              <a:t>	void Bar()</a:t>
            </a:r>
          </a:p>
          <a:p>
            <a:pPr defTabSz="539750"/>
            <a:r>
              <a:rPr lang="en-US" sz="1400" b="1" dirty="0">
                <a:latin typeface="Courier New" pitchFamily="49" charset="0"/>
              </a:rPr>
              <a:t>	{</a:t>
            </a:r>
            <a:endParaRPr lang="ru-RU" sz="1400" b="1" dirty="0">
              <a:latin typeface="Courier New" pitchFamily="49" charset="0"/>
            </a:endParaRPr>
          </a:p>
          <a:p>
            <a:pPr defTabSz="539750"/>
            <a:r>
              <a:rPr lang="ru-RU" sz="1400" b="1" dirty="0">
                <a:latin typeface="Courier New" pitchFamily="49" charset="0"/>
              </a:rPr>
              <a:t>		</a:t>
            </a:r>
            <a:r>
              <a:rPr lang="en-US" sz="1400" b="1" dirty="0">
                <a:latin typeface="Courier New" pitchFamily="49" charset="0"/>
              </a:rPr>
              <a:t> // </a:t>
            </a:r>
            <a:r>
              <a:rPr lang="ru-RU" sz="1400" b="1" dirty="0">
                <a:latin typeface="Courier New" pitchFamily="49" charset="0"/>
              </a:rPr>
              <a:t>из методов внешнего класса можем обращаться по имени</a:t>
            </a:r>
            <a:endParaRPr lang="en-US" sz="1400" b="1" dirty="0">
              <a:latin typeface="Courier New" pitchFamily="49" charset="0"/>
            </a:endParaRPr>
          </a:p>
          <a:p>
            <a:pPr defTabSz="539750"/>
            <a:r>
              <a:rPr lang="en-US" sz="1400" b="1" dirty="0">
                <a:latin typeface="Courier New" pitchFamily="49" charset="0"/>
              </a:rPr>
              <a:t>		Internal </a:t>
            </a:r>
            <a:r>
              <a:rPr lang="en-US" sz="1400" b="1" dirty="0" err="1">
                <a:latin typeface="Courier New" pitchFamily="49" charset="0"/>
              </a:rPr>
              <a:t>internal</a:t>
            </a:r>
            <a:r>
              <a:rPr lang="en-US" sz="1400" b="1" dirty="0">
                <a:latin typeface="Courier New" pitchFamily="49" charset="0"/>
              </a:rPr>
              <a:t>;</a:t>
            </a:r>
            <a:endParaRPr lang="ru-RU" sz="1400" b="1" dirty="0">
              <a:latin typeface="Courier New" pitchFamily="49" charset="0"/>
            </a:endParaRPr>
          </a:p>
          <a:p>
            <a:pPr defTabSz="539750"/>
            <a:r>
              <a:rPr lang="en-US" sz="1400" b="1" dirty="0">
                <a:latin typeface="Courier New" pitchFamily="49" charset="0"/>
              </a:rPr>
              <a:t>		</a:t>
            </a:r>
            <a:r>
              <a:rPr lang="en-US" sz="1400" b="1" dirty="0" err="1">
                <a:latin typeface="Courier New" pitchFamily="49" charset="0"/>
              </a:rPr>
              <a:t>internal.Foo</a:t>
            </a:r>
            <a:r>
              <a:rPr lang="en-US" sz="1400" b="1" dirty="0">
                <a:latin typeface="Courier New" pitchFamily="49" charset="0"/>
              </a:rPr>
              <a:t>();</a:t>
            </a:r>
          </a:p>
          <a:p>
            <a:pPr defTabSz="539750"/>
            <a:r>
              <a:rPr lang="en-US" sz="1400" b="1" dirty="0">
                <a:latin typeface="Courier New" pitchFamily="49" charset="0"/>
              </a:rPr>
              <a:t>	}</a:t>
            </a:r>
          </a:p>
          <a:p>
            <a:pPr defTabSz="539750"/>
            <a:r>
              <a:rPr lang="en-US" sz="1400" b="1" dirty="0">
                <a:latin typeface="Courier New" pitchFamily="49" charset="0"/>
              </a:rPr>
              <a:t>};</a:t>
            </a:r>
            <a:endParaRPr lang="ru-RU" sz="1400" b="1" dirty="0">
              <a:latin typeface="Courier New" pitchFamily="49" charset="0"/>
            </a:endParaRPr>
          </a:p>
          <a:p>
            <a:pPr defTabSz="539750"/>
            <a:endParaRPr lang="ru-RU" sz="1400" b="1" dirty="0">
              <a:latin typeface="Courier New" pitchFamily="49" charset="0"/>
            </a:endParaRPr>
          </a:p>
          <a:p>
            <a:pPr defTabSz="539750"/>
            <a:r>
              <a:rPr lang="en-US" sz="1400" b="1" dirty="0">
                <a:latin typeface="Courier New" pitchFamily="49" charset="0"/>
              </a:rPr>
              <a:t>int main(int </a:t>
            </a:r>
            <a:r>
              <a:rPr lang="en-US" sz="1400" b="1" dirty="0" err="1">
                <a:latin typeface="Courier New" pitchFamily="49" charset="0"/>
              </a:rPr>
              <a:t>argc</a:t>
            </a:r>
            <a:r>
              <a:rPr lang="en-US" sz="1400" b="1" dirty="0">
                <a:latin typeface="Courier New" pitchFamily="49" charset="0"/>
              </a:rPr>
              <a:t>, char* </a:t>
            </a:r>
            <a:r>
              <a:rPr lang="en-US" sz="1400" b="1" dirty="0" err="1">
                <a:latin typeface="Courier New" pitchFamily="49" charset="0"/>
              </a:rPr>
              <a:t>argv</a:t>
            </a:r>
            <a:r>
              <a:rPr lang="en-US" sz="1400" b="1">
                <a:latin typeface="Courier New" pitchFamily="49" charset="0"/>
              </a:rPr>
              <a:t>[])</a:t>
            </a:r>
            <a:endParaRPr lang="en-US" sz="1400" b="1" dirty="0">
              <a:latin typeface="Courier New" pitchFamily="49" charset="0"/>
            </a:endParaRPr>
          </a:p>
          <a:p>
            <a:pPr defTabSz="539750"/>
            <a:r>
              <a:rPr lang="en-US" sz="1400" b="1" dirty="0">
                <a:latin typeface="Courier New" pitchFamily="49" charset="0"/>
              </a:rPr>
              <a:t>{</a:t>
            </a:r>
          </a:p>
          <a:p>
            <a:pPr defTabSz="539750"/>
            <a:r>
              <a:rPr lang="en-US" sz="1400" b="1" dirty="0">
                <a:latin typeface="Courier New" pitchFamily="49" charset="0"/>
              </a:rPr>
              <a:t>	External::Internal </a:t>
            </a:r>
            <a:r>
              <a:rPr lang="en-US" sz="1400" b="1" dirty="0" err="1">
                <a:latin typeface="Courier New" pitchFamily="49" charset="0"/>
              </a:rPr>
              <a:t>internal</a:t>
            </a:r>
            <a:r>
              <a:rPr lang="en-US" sz="1400" b="1" dirty="0">
                <a:latin typeface="Courier New" pitchFamily="49" charset="0"/>
              </a:rPr>
              <a:t>;</a:t>
            </a:r>
          </a:p>
          <a:p>
            <a:pPr defTabSz="539750"/>
            <a:r>
              <a:rPr lang="en-US" sz="1400" b="1" dirty="0">
                <a:latin typeface="Courier New" pitchFamily="49" charset="0"/>
              </a:rPr>
              <a:t>	</a:t>
            </a:r>
            <a:r>
              <a:rPr lang="en-US" sz="1400" b="1" dirty="0" err="1">
                <a:latin typeface="Courier New" pitchFamily="49" charset="0"/>
              </a:rPr>
              <a:t>internal.Foo</a:t>
            </a:r>
            <a:r>
              <a:rPr lang="en-US" sz="1400" b="1" dirty="0">
                <a:latin typeface="Courier New" pitchFamily="49" charset="0"/>
              </a:rPr>
              <a:t>();</a:t>
            </a:r>
          </a:p>
          <a:p>
            <a:pPr defTabSz="539750"/>
            <a:r>
              <a:rPr lang="en-US" sz="1400" b="1" dirty="0">
                <a:latin typeface="Courier New" pitchFamily="49" charset="0"/>
              </a:rPr>
              <a:t>	return 0;</a:t>
            </a:r>
          </a:p>
          <a:p>
            <a:pPr defTabSz="539750"/>
            <a:r>
              <a:rPr lang="en-US" sz="1400" b="1" dirty="0">
                <a:latin typeface="Courier New" pitchFamily="49" charset="0"/>
              </a:rPr>
              <a:t>}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1536204" y="764705"/>
            <a:ext cx="3703414" cy="2554545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class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Foo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public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Foo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sz="16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size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);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~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Foo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();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6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DoSomething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sz="16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arg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);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private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6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struct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Impl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600" i="1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std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sz="1600" i="1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unique_ptr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</a:t>
            </a:r>
            <a:r>
              <a:rPr lang="en-US" sz="16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Impl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&gt; </a:t>
            </a:r>
            <a:r>
              <a:rPr lang="en-US" sz="16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m_impl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};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807968" y="764705"/>
            <a:ext cx="4824462" cy="6001643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#include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</a:t>
            </a:r>
            <a:r>
              <a:rPr lang="en-US" sz="1600" dirty="0" err="1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Foo.h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struct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Foo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sz="16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Impl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6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Impl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sz="16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size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): </a:t>
            </a:r>
            <a:r>
              <a:rPr lang="en-US" sz="16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m_size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size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){}</a:t>
            </a:r>
          </a:p>
          <a:p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6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DoSomething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sz="16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arg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{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sz="16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m_size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+= </a:t>
            </a:r>
            <a:r>
              <a:rPr lang="en-US" sz="16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arg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return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m_size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}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6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m_size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};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Foo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Foo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sz="16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size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: </a:t>
            </a:r>
            <a:r>
              <a:rPr lang="en-US" sz="16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m_impl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sz="1600" i="1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std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sz="1600" i="1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make_unique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</a:t>
            </a:r>
            <a:r>
              <a:rPr lang="en-US" sz="16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Impl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&gt;(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size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))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{}</a:t>
            </a:r>
          </a:p>
          <a:p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~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Foo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Foo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 =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default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</a:p>
          <a:p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Foo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sz="1600" dirty="0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DoSomething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sz="16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arg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return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m_impl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-&gt;</a:t>
            </a:r>
            <a:r>
              <a:rPr lang="en-US" sz="1600" dirty="0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DoSomething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sz="16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arg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);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800"/>
              </a:spcAft>
            </a:pPr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4447530" y="764704"/>
            <a:ext cx="7920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Foo.h</a:t>
            </a:r>
            <a:endParaRPr lang="ru-RU" dirty="0"/>
          </a:p>
        </p:txBody>
      </p:sp>
      <p:sp>
        <p:nvSpPr>
          <p:cNvPr id="6" name="TextBox 5"/>
          <p:cNvSpPr txBox="1"/>
          <p:nvPr/>
        </p:nvSpPr>
        <p:spPr>
          <a:xfrm>
            <a:off x="9624392" y="764704"/>
            <a:ext cx="10080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Foo.cpp</a:t>
            </a:r>
            <a:endParaRPr lang="ru-RU" dirty="0"/>
          </a:p>
        </p:txBody>
      </p:sp>
      <p:sp>
        <p:nvSpPr>
          <p:cNvPr id="7" name="TextBox 6"/>
          <p:cNvSpPr txBox="1"/>
          <p:nvPr/>
        </p:nvSpPr>
        <p:spPr>
          <a:xfrm>
            <a:off x="1842716" y="3861049"/>
            <a:ext cx="338437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Идиома </a:t>
            </a:r>
            <a:r>
              <a:rPr lang="en-US" dirty="0" err="1"/>
              <a:t>PImpl</a:t>
            </a:r>
            <a:r>
              <a:rPr lang="en-US" dirty="0"/>
              <a:t> (Pointer to implementation)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5211922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/>
    </p:bld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PROJECT_OPEN" val="0"/>
  <p:tag name="ISPRING_RESOURCE_PATHS_HASH_2" val="c8c1947053ea6e455f1e2a93189d128df0d39f0"/>
  <p:tag name="ISPRING_RESOURCE_PATHS_HASH_PRESENTER" val="c41b46544913ba61c3687de2e4ca49c7dccefb4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d7954940-803c-4b70-98b9-0ebc7d70a0c9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7950cff3-6931-4ab9-96ab-7a85957e3e9a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dfef470a-e880-4b96-b419-55776cba237a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87e283f5-f0ef-448d-80a0-c992baa323a3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7019b02f-c1a7-42cc-b20c-139ca902727b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b2fadb0a-df69-4457-a4e8-a510d6c431c7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52beb681-3558-49dc-ab46-1e49c9f5bb8a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5f52d02d-7a67-44ec-8744-f2179af4d652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9a88b8e6-6e31-462d-bd10-0014c72d9f00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6b372e54-6a5c-4ecb-b298-f6471f9776b5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61c9d514-8602-4f7d-9d6d-0b325a9710a7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bc19f529-c221-4c79-80e1-6918050eccfc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155076f9-abea-4e39-a8e9-47d9872c2585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7ab1e8d9-dde9-4ca3-b05e-a7941c556288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aaa180ef-b3fb-4efc-ac6f-8f05c3067cfb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fe65d3fa-eabe-407a-bb2a-8e45c80a3f29"/>
</p:tagLst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6564</TotalTime>
  <Words>23771</Words>
  <Application>Microsoft Office PowerPoint</Application>
  <PresentationFormat>Widescreen</PresentationFormat>
  <Paragraphs>3240</Paragraphs>
  <Slides>169</Slides>
  <Notes>76</Notes>
  <HiddenSlides>7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169</vt:i4>
      </vt:variant>
    </vt:vector>
  </HeadingPairs>
  <TitlesOfParts>
    <vt:vector size="178" baseType="lpstr">
      <vt:lpstr>Arial</vt:lpstr>
      <vt:lpstr>Calibri</vt:lpstr>
      <vt:lpstr>Calibri Light</vt:lpstr>
      <vt:lpstr>Cascadia Mono</vt:lpstr>
      <vt:lpstr>Consolas</vt:lpstr>
      <vt:lpstr>Courier New</vt:lpstr>
      <vt:lpstr>SFMono-Regular</vt:lpstr>
      <vt:lpstr>Wingdings 2</vt:lpstr>
      <vt:lpstr>Office Theme</vt:lpstr>
      <vt:lpstr>Основы ООП</vt:lpstr>
      <vt:lpstr>Парадигмы программирования</vt:lpstr>
      <vt:lpstr>Структурное программирование</vt:lpstr>
      <vt:lpstr>Процедурное программирование</vt:lpstr>
      <vt:lpstr>Объектно-ориентированное программирование (ООП)</vt:lpstr>
      <vt:lpstr>Основные понятия ООП </vt:lpstr>
      <vt:lpstr>Абстракция данных</vt:lpstr>
      <vt:lpstr>Инкапсуляция</vt:lpstr>
      <vt:lpstr>PowerPoint Presentation</vt:lpstr>
      <vt:lpstr>Наследование</vt:lpstr>
      <vt:lpstr>PowerPoint Presentation</vt:lpstr>
      <vt:lpstr>Полиморфизм</vt:lpstr>
      <vt:lpstr>PowerPoint Presentation</vt:lpstr>
      <vt:lpstr>PowerPoint Presentation</vt:lpstr>
      <vt:lpstr>PowerPoint Presentation</vt:lpstr>
      <vt:lpstr>PowerPoint Presentation</vt:lpstr>
      <vt:lpstr>Анатомия класса</vt:lpstr>
      <vt:lpstr>Классы и объекты</vt:lpstr>
      <vt:lpstr>Объявление класса в С++</vt:lpstr>
      <vt:lpstr>Данные объекта (переменные объекта, члены-данные)</vt:lpstr>
      <vt:lpstr>Пример - Автомобиль</vt:lpstr>
      <vt:lpstr>Пример - Время</vt:lpstr>
      <vt:lpstr>Сокрытие данных по умолчанию</vt:lpstr>
      <vt:lpstr>Уровни доступа в классах и структурах</vt:lpstr>
      <vt:lpstr>PowerPoint Presentation</vt:lpstr>
      <vt:lpstr>Методы класса</vt:lpstr>
      <vt:lpstr>Методы класса</vt:lpstr>
      <vt:lpstr>Объявление метода класса</vt:lpstr>
      <vt:lpstr>PowerPoint Presentation</vt:lpstr>
      <vt:lpstr>PowerPoint Presentation</vt:lpstr>
      <vt:lpstr>Методы, состояние объекта и константность</vt:lpstr>
      <vt:lpstr>PowerPoint Presentation</vt:lpstr>
      <vt:lpstr>Константные методы класса</vt:lpstr>
      <vt:lpstr>Константные методы</vt:lpstr>
      <vt:lpstr>PowerPoint Presentation</vt:lpstr>
      <vt:lpstr>Физическая и логическая константность</vt:lpstr>
      <vt:lpstr>Логическая константность и кеширование</vt:lpstr>
      <vt:lpstr>Изменяемые (mutable) поля класса</vt:lpstr>
      <vt:lpstr>PowerPoint Presentation</vt:lpstr>
      <vt:lpstr>Брутфорсим пароли</vt:lpstr>
      <vt:lpstr>PowerPoint Presentation</vt:lpstr>
      <vt:lpstr>Используйте mutable-поля аккуратно</vt:lpstr>
      <vt:lpstr>PowerPoint Presentation</vt:lpstr>
      <vt:lpstr>PowerPoint Presentation</vt:lpstr>
      <vt:lpstr>Размещение классов в .h/.cpp файлах</vt:lpstr>
      <vt:lpstr>Размещение классов в файлах</vt:lpstr>
      <vt:lpstr>Пример</vt:lpstr>
      <vt:lpstr>Спецификаторы уровня доступа</vt:lpstr>
      <vt:lpstr>Публичные (public) поля и методы класса</vt:lpstr>
      <vt:lpstr>Закрытые (приватные) поля и методы класса</vt:lpstr>
      <vt:lpstr>PowerPoint Presentation</vt:lpstr>
      <vt:lpstr>Защищенные поля класса</vt:lpstr>
      <vt:lpstr>Уровни доступа к полям и методам класса</vt:lpstr>
      <vt:lpstr>Свойства (Properties)</vt:lpstr>
      <vt:lpstr>Свойства (Properties)</vt:lpstr>
      <vt:lpstr>Пример – свойства в языке C#</vt:lpstr>
      <vt:lpstr>PowerPoint Presentation</vt:lpstr>
      <vt:lpstr>PowerPoint Presentation</vt:lpstr>
      <vt:lpstr>PowerPoint Presentation</vt:lpstr>
      <vt:lpstr>Какие данные должен иметь Rectangle?</vt:lpstr>
      <vt:lpstr>Указатель this</vt:lpstr>
      <vt:lpstr>Методы vs Функции</vt:lpstr>
      <vt:lpstr>PowerPoint Presentation</vt:lpstr>
      <vt:lpstr>PowerPoint Presentation</vt:lpstr>
      <vt:lpstr>Указатель this</vt:lpstr>
      <vt:lpstr>PowerPoint Presentation</vt:lpstr>
      <vt:lpstr>PowerPoint Presentation</vt:lpstr>
      <vt:lpstr>Когда использовать this в C++?</vt:lpstr>
      <vt:lpstr>PowerPoint Presentation</vt:lpstr>
      <vt:lpstr>PowerPoint Presentation</vt:lpstr>
      <vt:lpstr>Инициализация класса</vt:lpstr>
      <vt:lpstr>Начальное состояние объекта</vt:lpstr>
      <vt:lpstr>PowerPoint Presentation</vt:lpstr>
      <vt:lpstr>Конструктор</vt:lpstr>
      <vt:lpstr>PowerPoint Presentation</vt:lpstr>
      <vt:lpstr>Конструктор по умолчанию</vt:lpstr>
      <vt:lpstr>Объявление конструктора по умолчанию</vt:lpstr>
      <vt:lpstr>Автоматическое генерирование конструктора по умолчанию</vt:lpstr>
      <vt:lpstr>Список инициализации конструктора</vt:lpstr>
      <vt:lpstr>Момент вызова конструктора</vt:lpstr>
      <vt:lpstr>Инициализация полей класса</vt:lpstr>
      <vt:lpstr>Проблема инициализации полей класса</vt:lpstr>
      <vt:lpstr>Как проинициализировать поле, если его тип не имеет конструктора по умолчанию</vt:lpstr>
      <vt:lpstr>Инициализация данных экземпляра класса</vt:lpstr>
      <vt:lpstr>Списки инициализации</vt:lpstr>
      <vt:lpstr>Список инициализации в действии</vt:lpstr>
      <vt:lpstr>PowerPoint Presentation</vt:lpstr>
      <vt:lpstr>Converting Constructor</vt:lpstr>
      <vt:lpstr>PowerPoint Presentation</vt:lpstr>
      <vt:lpstr>PowerPoint Presentation</vt:lpstr>
      <vt:lpstr>PowerPoint Presentation</vt:lpstr>
      <vt:lpstr>Explicit or Implicit?</vt:lpstr>
      <vt:lpstr>Деинициализация экземпляра класса</vt:lpstr>
      <vt:lpstr>Деинициализация экземпляра класса</vt:lpstr>
      <vt:lpstr>Деструктор</vt:lpstr>
      <vt:lpstr>Содержимое тела деструктора</vt:lpstr>
      <vt:lpstr>Пример</vt:lpstr>
      <vt:lpstr>PowerPoint Presentation</vt:lpstr>
      <vt:lpstr>Жизнь после смерти</vt:lpstr>
      <vt:lpstr>Класс «Колесо»</vt:lpstr>
      <vt:lpstr>Класс «Автомобиль»</vt:lpstr>
      <vt:lpstr>Класс «Супер автомобиль»</vt:lpstr>
      <vt:lpstr>Порядок вызова конструкторов и деструкторов</vt:lpstr>
      <vt:lpstr>Автоматически сгенерированный деструктор</vt:lpstr>
      <vt:lpstr>Корректно работающий автоматически сгенерированный деструктор</vt:lpstr>
      <vt:lpstr>Некорректно работающий автоматически сгенерированный деструктор</vt:lpstr>
      <vt:lpstr>Копирование объектов</vt:lpstr>
      <vt:lpstr>Конструктор копирования (копирующий конструктор)</vt:lpstr>
      <vt:lpstr>PowerPoint Presentation</vt:lpstr>
      <vt:lpstr>PowerPoint Presentation</vt:lpstr>
      <vt:lpstr>Copy Elision (устранение копирования)</vt:lpstr>
      <vt:lpstr>Copy Elision</vt:lpstr>
      <vt:lpstr>Автоматически сгенерированный конструктор копирования</vt:lpstr>
      <vt:lpstr>PowerPoint Presentation</vt:lpstr>
      <vt:lpstr>Пользовательский конструктор копирования</vt:lpstr>
      <vt:lpstr>Пример</vt:lpstr>
      <vt:lpstr>PowerPoint Presentation</vt:lpstr>
      <vt:lpstr>Запрещение копирования объектов</vt:lpstr>
      <vt:lpstr>Делегирующий конструктор</vt:lpstr>
      <vt:lpstr>Делегирующий конструктор</vt:lpstr>
      <vt:lpstr>PowerPoint Presentation</vt:lpstr>
      <vt:lpstr>Перегрузка оператора присваивания</vt:lpstr>
      <vt:lpstr>Автоматически сгенерированный оператор присваивания</vt:lpstr>
      <vt:lpstr>Когда нужен собственный оператор присваивания?</vt:lpstr>
      <vt:lpstr>PowerPoint Presentation</vt:lpstr>
      <vt:lpstr>PowerPoint Presentation</vt:lpstr>
      <vt:lpstr>Запрет операции присваивания</vt:lpstr>
      <vt:lpstr>Перемещающий конструктор</vt:lpstr>
      <vt:lpstr>Проблемы с копированием объектов</vt:lpstr>
      <vt:lpstr>PowerPoint Presentation</vt:lpstr>
      <vt:lpstr>Избыточное копирование объектов</vt:lpstr>
      <vt:lpstr>Что такое Rvalue и Lvalue?</vt:lpstr>
      <vt:lpstr>Два типа ссылок в C++</vt:lpstr>
      <vt:lpstr>PowerPoint Presentation</vt:lpstr>
      <vt:lpstr>PowerPoint Presentation</vt:lpstr>
      <vt:lpstr>PowerPoint Presentation</vt:lpstr>
      <vt:lpstr>Перемещающий конструктор и оператор присваивания</vt:lpstr>
      <vt:lpstr>Что значит «переместить содержимое объекта»?</vt:lpstr>
      <vt:lpstr>Требования Стандарта к перемещающему конструктору</vt:lpstr>
      <vt:lpstr>PowerPoint Presentation</vt:lpstr>
      <vt:lpstr>PowerPoint Presentation</vt:lpstr>
      <vt:lpstr>Когда создавать перемещающий конструктор?</vt:lpstr>
      <vt:lpstr>Когда нет смысла создавать перемещающий конструктор</vt:lpstr>
      <vt:lpstr>Явное преобразование lvalue в rvalue и std::move</vt:lpstr>
      <vt:lpstr>PowerPoint Presentation</vt:lpstr>
      <vt:lpstr>Перегрузка перемещающего оператора присваивания</vt:lpstr>
      <vt:lpstr>Перемещающий оператор присваивания</vt:lpstr>
      <vt:lpstr>PowerPoint Presentation</vt:lpstr>
      <vt:lpstr>Конструкторы и деструкторы в действии</vt:lpstr>
      <vt:lpstr>Конструкторы и операции присваивания в действии</vt:lpstr>
      <vt:lpstr>PowerPoint Presentation</vt:lpstr>
      <vt:lpstr>Статические методы класса</vt:lpstr>
      <vt:lpstr>PowerPoint Presentation</vt:lpstr>
      <vt:lpstr>Статические методы</vt:lpstr>
      <vt:lpstr>PowerPoint Presentation</vt:lpstr>
      <vt:lpstr>PowerPoint Presentation</vt:lpstr>
      <vt:lpstr>Статические данные класса</vt:lpstr>
      <vt:lpstr>PowerPoint Presentation</vt:lpstr>
      <vt:lpstr>PowerPoint Presentation</vt:lpstr>
      <vt:lpstr>Статические поля класса</vt:lpstr>
      <vt:lpstr>PowerPoint Presentation</vt:lpstr>
      <vt:lpstr>PowerPoint Presentation</vt:lpstr>
      <vt:lpstr>Определение статического поля внутри класса (начиная с++17)</vt:lpstr>
      <vt:lpstr>Статические поля в классах Стандартной Библиотеки</vt:lpstr>
      <vt:lpstr>Статические данные и методы – итоги</vt:lpstr>
      <vt:lpstr>Вложенные классы</vt:lpstr>
      <vt:lpstr>Вложенное объявление классов и других типов данных</vt:lpstr>
      <vt:lpstr>Пример 1</vt:lpstr>
      <vt:lpstr>PowerPoint Presentation</vt:lpstr>
    </vt:vector>
  </TitlesOfParts>
  <Company>Brainwave team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Слайд 1</dc:title>
  <dc:creator>Aleksey Malov</dc:creator>
  <cp:lastModifiedBy>Алексей Малов</cp:lastModifiedBy>
  <cp:revision>442</cp:revision>
  <dcterms:created xsi:type="dcterms:W3CDTF">2007-03-30T02:07:07Z</dcterms:created>
  <dcterms:modified xsi:type="dcterms:W3CDTF">2026-03-19T05:45:44Z</dcterms:modified>
</cp:coreProperties>
</file>