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tags/tag3.xml" ContentType="application/vnd.openxmlformats-officedocument.presentationml.tags+xml"/>
  <Override PartName="/ppt/notesSlides/notesSlide2.xml" ContentType="application/vnd.openxmlformats-officedocument.presentationml.notesSlide+xml"/>
  <Override PartName="/ppt/tags/tag4.xml" ContentType="application/vnd.openxmlformats-officedocument.presentationml.tags+xml"/>
  <Override PartName="/ppt/notesSlides/notesSlide3.xml" ContentType="application/vnd.openxmlformats-officedocument.presentationml.notesSlide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notesSlides/notesSlide4.xml" ContentType="application/vnd.openxmlformats-officedocument.presentationml.notesSlide+xml"/>
  <Override PartName="/ppt/tags/tag7.xml" ContentType="application/vnd.openxmlformats-officedocument.presentationml.tags+xml"/>
  <Override PartName="/ppt/notesSlides/notesSlide5.xml" ContentType="application/vnd.openxmlformats-officedocument.presentationml.notesSlide+xml"/>
  <Override PartName="/ppt/tags/tag8.xml" ContentType="application/vnd.openxmlformats-officedocument.presentationml.tags+xml"/>
  <Override PartName="/ppt/notesSlides/notesSlide6.xml" ContentType="application/vnd.openxmlformats-officedocument.presentationml.notesSlide+xml"/>
  <Override PartName="/ppt/tags/tag9.xml" ContentType="application/vnd.openxmlformats-officedocument.presentationml.tags+xml"/>
  <Override PartName="/ppt/notesSlides/notesSlide7.xml" ContentType="application/vnd.openxmlformats-officedocument.presentationml.notesSlide+xml"/>
  <Override PartName="/ppt/tags/tag10.xml" ContentType="application/vnd.openxmlformats-officedocument.presentationml.tags+xml"/>
  <Override PartName="/ppt/notesSlides/notesSlide8.xml" ContentType="application/vnd.openxmlformats-officedocument.presentationml.notesSlide+xml"/>
  <Override PartName="/ppt/tags/tag11.xml" ContentType="application/vnd.openxmlformats-officedocument.presentationml.tags+xml"/>
  <Override PartName="/ppt/notesSlides/notesSlide9.xml" ContentType="application/vnd.openxmlformats-officedocument.presentationml.notesSlide+xml"/>
  <Override PartName="/ppt/tags/tag12.xml" ContentType="application/vnd.openxmlformats-officedocument.presentationml.tags+xml"/>
  <Override PartName="/ppt/notesSlides/notesSlide10.xml" ContentType="application/vnd.openxmlformats-officedocument.presentationml.notesSlide+xml"/>
  <Override PartName="/ppt/tags/tag13.xml" ContentType="application/vnd.openxmlformats-officedocument.presentationml.tags+xml"/>
  <Override PartName="/ppt/notesSlides/notesSlide11.xml" ContentType="application/vnd.openxmlformats-officedocument.presentationml.notesSlide+xml"/>
  <Override PartName="/ppt/tags/tag14.xml" ContentType="application/vnd.openxmlformats-officedocument.presentationml.tags+xml"/>
  <Override PartName="/ppt/notesSlides/notesSlide12.xml" ContentType="application/vnd.openxmlformats-officedocument.presentationml.notesSlide+xml"/>
  <Override PartName="/ppt/tags/tag15.xml" ContentType="application/vnd.openxmlformats-officedocument.presentationml.tags+xml"/>
  <Override PartName="/ppt/notesSlides/notesSlide13.xml" ContentType="application/vnd.openxmlformats-officedocument.presentationml.notesSlide+xml"/>
  <Override PartName="/ppt/tags/tag16.xml" ContentType="application/vnd.openxmlformats-officedocument.presentationml.tags+xml"/>
  <Override PartName="/ppt/notesSlides/notesSlide14.xml" ContentType="application/vnd.openxmlformats-officedocument.presentationml.notesSlide+xml"/>
  <Override PartName="/ppt/tags/tag17.xml" ContentType="application/vnd.openxmlformats-officedocument.presentationml.tags+xml"/>
  <Override PartName="/ppt/notesSlides/notesSlide15.xml" ContentType="application/vnd.openxmlformats-officedocument.presentationml.notesSlide+xml"/>
  <Override PartName="/ppt/tags/tag18.xml" ContentType="application/vnd.openxmlformats-officedocument.presentationml.tags+xml"/>
  <Override PartName="/ppt/notesSlides/notesSlide16.xml" ContentType="application/vnd.openxmlformats-officedocument.presentationml.notesSlide+xml"/>
  <Override PartName="/ppt/tags/tag19.xml" ContentType="application/vnd.openxmlformats-officedocument.presentationml.tags+xml"/>
  <Override PartName="/ppt/notesSlides/notesSlide17.xml" ContentType="application/vnd.openxmlformats-officedocument.presentationml.notesSlide+xml"/>
  <Override PartName="/ppt/tags/tag20.xml" ContentType="application/vnd.openxmlformats-officedocument.presentationml.tags+xml"/>
  <Override PartName="/ppt/notesSlides/notesSlide18.xml" ContentType="application/vnd.openxmlformats-officedocument.presentationml.notesSlide+xml"/>
  <Override PartName="/ppt/tags/tag21.xml" ContentType="application/vnd.openxmlformats-officedocument.presentationml.tags+xml"/>
  <Override PartName="/ppt/notesSlides/notesSlide19.xml" ContentType="application/vnd.openxmlformats-officedocument.presentationml.notesSlide+xml"/>
  <Override PartName="/ppt/tags/tag22.xml" ContentType="application/vnd.openxmlformats-officedocument.presentationml.tags+xml"/>
  <Override PartName="/ppt/notesSlides/notesSlide20.xml" ContentType="application/vnd.openxmlformats-officedocument.presentationml.notesSlide+xml"/>
  <Override PartName="/ppt/tags/tag23.xml" ContentType="application/vnd.openxmlformats-officedocument.presentationml.tags+xml"/>
  <Override PartName="/ppt/notesSlides/notesSlide21.xml" ContentType="application/vnd.openxmlformats-officedocument.presentationml.notesSlide+xml"/>
  <Override PartName="/ppt/tags/tag24.xml" ContentType="application/vnd.openxmlformats-officedocument.presentationml.tags+xml"/>
  <Override PartName="/ppt/notesSlides/notesSlide22.xml" ContentType="application/vnd.openxmlformats-officedocument.presentationml.notesSlide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notesSlides/notesSlide23.xml" ContentType="application/vnd.openxmlformats-officedocument.presentationml.notesSlide+xml"/>
  <Override PartName="/ppt/tags/tag27.xml" ContentType="application/vnd.openxmlformats-officedocument.presentationml.tags+xml"/>
  <Override PartName="/ppt/notesSlides/notesSlide24.xml" ContentType="application/vnd.openxmlformats-officedocument.presentationml.notesSlide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notesSlides/notesSlide25.xml" ContentType="application/vnd.openxmlformats-officedocument.presentationml.notesSlide+xml"/>
  <Override PartName="/ppt/tags/tag30.xml" ContentType="application/vnd.openxmlformats-officedocument.presentationml.tags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3" r:id="rId1"/>
  </p:sldMasterIdLst>
  <p:notesMasterIdLst>
    <p:notesMasterId r:id="rId32"/>
  </p:notesMasterIdLst>
  <p:sldIdLst>
    <p:sldId id="377" r:id="rId2"/>
    <p:sldId id="378" r:id="rId3"/>
    <p:sldId id="353" r:id="rId4"/>
    <p:sldId id="380" r:id="rId5"/>
    <p:sldId id="381" r:id="rId6"/>
    <p:sldId id="382" r:id="rId7"/>
    <p:sldId id="384" r:id="rId8"/>
    <p:sldId id="355" r:id="rId9"/>
    <p:sldId id="354" r:id="rId10"/>
    <p:sldId id="356" r:id="rId11"/>
    <p:sldId id="357" r:id="rId12"/>
    <p:sldId id="358" r:id="rId13"/>
    <p:sldId id="359" r:id="rId14"/>
    <p:sldId id="360" r:id="rId15"/>
    <p:sldId id="361" r:id="rId16"/>
    <p:sldId id="362" r:id="rId17"/>
    <p:sldId id="364" r:id="rId18"/>
    <p:sldId id="379" r:id="rId19"/>
    <p:sldId id="365" r:id="rId20"/>
    <p:sldId id="366" r:id="rId21"/>
    <p:sldId id="367" r:id="rId22"/>
    <p:sldId id="368" r:id="rId23"/>
    <p:sldId id="369" r:id="rId24"/>
    <p:sldId id="370" r:id="rId25"/>
    <p:sldId id="371" r:id="rId26"/>
    <p:sldId id="372" r:id="rId27"/>
    <p:sldId id="373" r:id="rId28"/>
    <p:sldId id="383" r:id="rId29"/>
    <p:sldId id="374" r:id="rId30"/>
    <p:sldId id="375" r:id="rId31"/>
  </p:sldIdLst>
  <p:sldSz cx="12192000" cy="6858000"/>
  <p:notesSz cx="6858000" cy="9144000"/>
  <p:custDataLst>
    <p:tags r:id="rId33"/>
  </p:custData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05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9" autoAdjust="0"/>
    <p:restoredTop sz="75126" autoAdjust="0"/>
  </p:normalViewPr>
  <p:slideViewPr>
    <p:cSldViewPr>
      <p:cViewPr varScale="1">
        <p:scale>
          <a:sx n="57" d="100"/>
          <a:sy n="57" d="100"/>
        </p:scale>
        <p:origin x="108" y="564"/>
      </p:cViewPr>
      <p:guideLst>
        <p:guide orient="horz" pos="2205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gs" Target="tags/tag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A782170-78E6-47DA-9E37-7AC29E4CF366}" type="datetimeFigureOut">
              <a:rPr lang="ru-RU" smtClean="0"/>
              <a:pPr/>
              <a:t>02.04.2026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D27560-579B-482E-BED7-036450DE1808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018945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2A1285-F988-4153-B7C5-B887A867730D}" type="slidenum">
              <a:rPr lang="ru-RU" smtClean="0"/>
              <a:pPr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685553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Подобно тому, как функции и методы состоят из определённого набора инструкций, решающих нужную задачу, классы программы создаются и взаимодействуют по определённым правилам.</a:t>
            </a:r>
            <a:endParaRPr lang="en-US" dirty="0"/>
          </a:p>
          <a:p>
            <a:endParaRPr lang="ru-RU" dirty="0"/>
          </a:p>
          <a:p>
            <a:r>
              <a:rPr lang="ru-RU" dirty="0"/>
              <a:t>Понимание этих правил позволяет создавать программы не методом проб и ошибок, а проектировать и анализировать архитектуру программы ещё до того, как вы напишете первую строчку кода. В результате вы будете иметь представление о том, из каких классов должна состоять ваша программа и о связях между ними. Также вы можете обсудить структуру программы с коллегами и распределить работу над ней.</a:t>
            </a:r>
            <a:endParaRPr lang="en-US" dirty="0"/>
          </a:p>
          <a:p>
            <a:endParaRPr lang="ru-RU" dirty="0"/>
          </a:p>
          <a:p>
            <a:r>
              <a:rPr lang="ru-RU" dirty="0"/>
              <a:t>Обнаруженную на этапе проектирования ошибку легко исправить — ведь вам не нужно переписывать ненаписанный код. Аналогия из реального мира: пока дом существует лишь на бумаге, вносить в него изменения легче, чем когда дом уже построен.</a:t>
            </a:r>
            <a:endParaRPr lang="en-US" dirty="0"/>
          </a:p>
          <a:p>
            <a:endParaRPr lang="ru-RU" dirty="0"/>
          </a:p>
          <a:p>
            <a:r>
              <a:rPr lang="ru-RU" dirty="0"/>
              <a:t>Вы научитесь визуализировать архитектуру программы и узнаете о свойствах связей между классами. Благодаря этому вы сможете обозревать структуру программы «‎с высоты птичьего полёта» и принимать стратегические решения, касающиеся её архитектуры.</a:t>
            </a:r>
          </a:p>
          <a:p>
            <a:endParaRPr lang="ru-RU" dirty="0"/>
          </a:p>
          <a:p>
            <a:endParaRPr lang="ru-RU" dirty="0"/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D27560-579B-482E-BED7-036450DE1808}" type="slidenum">
              <a:rPr lang="ru-RU" smtClean="0"/>
              <a:pPr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8495876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Один из способов визуализации структуры программы — диаграмма классов. Диаграмма визуализирует классы и интерфейсы, из которых состоит программа или её часть, свойства и методы классов, а также связи между компонентами программы. Используемые обозначения основываются на упрощённой нотации универсального языка моделирования </a:t>
            </a:r>
            <a:r>
              <a:rPr lang="en-US" dirty="0"/>
              <a:t>UML</a:t>
            </a:r>
            <a:r>
              <a:rPr lang="ru-RU" dirty="0"/>
              <a:t>.</a:t>
            </a:r>
            <a:endParaRPr lang="en-US" dirty="0"/>
          </a:p>
          <a:p>
            <a:endParaRPr lang="ru-RU" dirty="0"/>
          </a:p>
          <a:p>
            <a:r>
              <a:rPr lang="ru-RU" dirty="0"/>
              <a:t>Класс обозначается прямоугольником, содержащим имя класса, его методы и поля. Перед именем публичного метода и поля класса может ставиться символ +, а приватного — символ -. Тип полей, аргументов и возвращаемых значений указывается после двоеточия. Указатели, ссылки, а также тип </a:t>
            </a:r>
            <a:r>
              <a:rPr lang="ru-RU" dirty="0" err="1"/>
              <a:t>void</a:t>
            </a:r>
            <a:r>
              <a:rPr lang="ru-RU" dirty="0"/>
              <a:t> для краткости записи можно опустить.</a:t>
            </a:r>
          </a:p>
          <a:p>
            <a:r>
              <a:rPr lang="ru-RU" dirty="0"/>
              <a:t>Приватная часть класса, часть публичных методов или все публичные методы, несущественные на данной схеме, могут быть пропущены:</a:t>
            </a:r>
          </a:p>
          <a:p>
            <a:r>
              <a:rPr lang="ru-RU" dirty="0"/>
              <a:t>Стандартные классы вроде </a:t>
            </a:r>
            <a:r>
              <a:rPr lang="ru-RU" dirty="0" err="1"/>
              <a:t>string</a:t>
            </a:r>
            <a:r>
              <a:rPr lang="ru-RU" dirty="0"/>
              <a:t>, </a:t>
            </a:r>
            <a:r>
              <a:rPr lang="ru-RU" dirty="0" err="1"/>
              <a:t>vector</a:t>
            </a:r>
            <a:r>
              <a:rPr lang="ru-RU" dirty="0"/>
              <a:t>, а также несущественные для диаграммы классы обычно на ней не отображаются.</a:t>
            </a:r>
          </a:p>
          <a:p>
            <a:r>
              <a:rPr lang="ru-RU" dirty="0"/>
              <a:t>Перечислимые типы отображаются похожим на класс образом, с той лишь разницей, что перед именем класса записывают слово </a:t>
            </a:r>
            <a:r>
              <a:rPr lang="ru-RU" b="1" dirty="0" err="1"/>
              <a:t>enumeration</a:t>
            </a:r>
            <a:r>
              <a:rPr lang="ru-RU" dirty="0"/>
              <a:t>.</a:t>
            </a:r>
          </a:p>
          <a:p>
            <a:endParaRPr lang="ru-RU" dirty="0"/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D27560-579B-482E-BED7-036450DE1808}" type="slidenum">
              <a:rPr lang="ru-RU" smtClean="0"/>
              <a:pPr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4814641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ru-RU" dirty="0"/>
              <a:t>Ассоциация — это </a:t>
            </a:r>
            <a:r>
              <a:rPr lang="ru-RU" b="1" dirty="0"/>
              <a:t>общее понятие связи между классами</a:t>
            </a:r>
            <a:r>
              <a:rPr lang="ru-RU" dirty="0"/>
              <a:t>.</a:t>
            </a:r>
            <a:endParaRPr lang="en-US" dirty="0"/>
          </a:p>
          <a:p>
            <a:br>
              <a:rPr lang="ru-RU" dirty="0"/>
            </a:br>
            <a:r>
              <a:rPr lang="ru-RU" dirty="0"/>
              <a:t>То есть, когда мы говорим, что два класса как-то связаны — чаще всего речь идёт именно об ассоциации.</a:t>
            </a:r>
            <a:endParaRPr lang="en-US" dirty="0"/>
          </a:p>
          <a:p>
            <a:endParaRPr lang="ru-RU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ru-RU" dirty="0"/>
              <a:t>Но внутри этого общего понятия есть более частные случаи: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агрегация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композиция </a:t>
            </a:r>
            <a:endParaRPr lang="en-US" dirty="0"/>
          </a:p>
          <a:p>
            <a:pPr marL="0" indent="0">
              <a:buFont typeface="Arial" panose="020B0604020202020204" pitchFamily="34" charset="0"/>
              <a:buNone/>
            </a:pPr>
            <a:endParaRPr lang="ru-RU" dirty="0"/>
          </a:p>
          <a:p>
            <a:r>
              <a:rPr lang="ru-RU" dirty="0"/>
              <a:t>Они отличаются тем, насколько сильная связь между объектами и есть ли между ними владение.</a:t>
            </a:r>
            <a:endParaRPr lang="en-US" dirty="0"/>
          </a:p>
          <a:p>
            <a:endParaRPr lang="ru-RU" dirty="0"/>
          </a:p>
          <a:p>
            <a:r>
              <a:rPr lang="ru-RU" dirty="0"/>
              <a:t>Если связи почти нет — просто «объекты знают друг о друге» — это </a:t>
            </a:r>
            <a:r>
              <a:rPr lang="ru-RU" b="1" dirty="0"/>
              <a:t>простая ассоциация</a:t>
            </a:r>
            <a:r>
              <a:rPr lang="ru-RU" dirty="0"/>
              <a:t>.</a:t>
            </a:r>
          </a:p>
          <a:p>
            <a:r>
              <a:rPr lang="ru-RU" dirty="0"/>
              <a:t>Если появляется </a:t>
            </a:r>
            <a:r>
              <a:rPr lang="ru-RU" b="1" dirty="0"/>
              <a:t>слабое владение</a:t>
            </a:r>
            <a:r>
              <a:rPr lang="ru-RU" dirty="0"/>
              <a:t> — это уже агрегация.</a:t>
            </a:r>
          </a:p>
          <a:p>
            <a:r>
              <a:rPr lang="ru-RU" dirty="0"/>
              <a:t>Если же один объект полностью управляет жизненным циклом другого — это композиция.</a:t>
            </a:r>
          </a:p>
          <a:p>
            <a:r>
              <a:rPr lang="ru-RU" dirty="0"/>
              <a:t>Важно понимать:</a:t>
            </a:r>
            <a:br>
              <a:rPr lang="ru-RU" dirty="0"/>
            </a:br>
            <a:r>
              <a:rPr lang="ru-RU" b="1" dirty="0"/>
              <a:t>агрегация и композиция — это частные случаи ассоциации</a:t>
            </a:r>
            <a:r>
              <a:rPr lang="ru-RU" dirty="0"/>
              <a:t>.</a:t>
            </a:r>
          </a:p>
          <a:p>
            <a:r>
              <a:rPr lang="ru-RU" dirty="0"/>
              <a:t>Теперь вернёмся к базовой ассоциации.</a:t>
            </a:r>
          </a:p>
          <a:p>
            <a:r>
              <a:rPr lang="ru-RU" dirty="0"/>
              <a:t>Здесь: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объекты </a:t>
            </a:r>
            <a:r>
              <a:rPr lang="ru-RU" b="1" dirty="0"/>
              <a:t>не владеют друг другом</a:t>
            </a:r>
            <a:r>
              <a:rPr lang="ru-RU" dirty="0"/>
              <a:t>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их жизненные циклы </a:t>
            </a:r>
            <a:r>
              <a:rPr lang="ru-RU" b="1" dirty="0"/>
              <a:t>не связаны</a:t>
            </a:r>
            <a:r>
              <a:rPr lang="ru-RU" dirty="0"/>
              <a:t>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каждый может существовать отдельно </a:t>
            </a:r>
          </a:p>
          <a:p>
            <a:r>
              <a:rPr lang="ru-RU" dirty="0"/>
              <a:t>Например, учитель и ученик.</a:t>
            </a:r>
            <a:br>
              <a:rPr lang="ru-RU" dirty="0"/>
            </a:br>
            <a:r>
              <a:rPr lang="ru-RU" dirty="0"/>
              <a:t>Они могут ссылаться друг на друга, но один не управляет жизнью другого.</a:t>
            </a:r>
          </a:p>
          <a:p>
            <a:r>
              <a:rPr lang="ru-RU" dirty="0"/>
              <a:t>В C++ такая связь обычно реализуется через указатели или ссылки.</a:t>
            </a:r>
            <a:br>
              <a:rPr lang="ru-RU" dirty="0"/>
            </a:br>
            <a:r>
              <a:rPr lang="ru-RU" dirty="0"/>
              <a:t>При этом мы не отвечаем за создание или удаление связанного объекта — мы просто его используем.</a:t>
            </a:r>
          </a:p>
          <a:p>
            <a:r>
              <a:rPr lang="ru-RU" dirty="0"/>
              <a:t>И это делает ассоциацию самым общим и самым гибким видом отношений между классами.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D27560-579B-482E-BED7-036450DE1808}" type="slidenum">
              <a:rPr lang="ru-RU" smtClean="0"/>
              <a:pPr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8506868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Рассмотрим простой пример.</a:t>
            </a:r>
          </a:p>
          <a:p>
            <a:r>
              <a:rPr lang="ru-RU" dirty="0"/>
              <a:t>У нас есть два класса: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Student</a:t>
            </a:r>
            <a:r>
              <a:rPr lang="ru-RU" dirty="0"/>
              <a:t> и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Teacher</a:t>
            </a:r>
            <a:r>
              <a:rPr lang="ru-RU" dirty="0"/>
              <a:t>.</a:t>
            </a:r>
            <a:br>
              <a:rPr lang="ru-RU" dirty="0"/>
            </a:br>
            <a:r>
              <a:rPr lang="ru-RU" dirty="0"/>
              <a:t>Студент хранит указатель на учителя — то есть он «знает» о нём.</a:t>
            </a:r>
          </a:p>
          <a:p>
            <a:r>
              <a:rPr lang="ru-RU" dirty="0"/>
              <a:t>Обратите внимание:</a:t>
            </a:r>
            <a:r>
              <a:rPr lang="en-US" dirty="0"/>
              <a:t> </a:t>
            </a:r>
            <a:r>
              <a:rPr lang="ru-RU" dirty="0"/>
              <a:t>мы передаём адрес уже существующего объекта.</a:t>
            </a:r>
          </a:p>
          <a:p>
            <a:r>
              <a:rPr lang="ru-RU" dirty="0"/>
              <a:t>Студент:</a:t>
            </a: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не создаёт учителя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не удаляет его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не управляет его временем жизни </a:t>
            </a:r>
          </a:p>
          <a:p>
            <a:r>
              <a:rPr lang="ru-RU" dirty="0"/>
              <a:t>Он просто хранит ссылку на него.</a:t>
            </a:r>
          </a:p>
          <a:p>
            <a:r>
              <a:rPr lang="ru-RU" dirty="0"/>
              <a:t>Это и есть классическая ассоциация:</a:t>
            </a:r>
            <a:r>
              <a:rPr lang="en-US" dirty="0"/>
              <a:t> </a:t>
            </a:r>
            <a:r>
              <a:rPr lang="ru-RU" dirty="0"/>
              <a:t>объекты связаны, но </a:t>
            </a:r>
            <a:r>
              <a:rPr lang="ru-RU" b="1" dirty="0"/>
              <a:t>не владеют друг другом</a:t>
            </a:r>
            <a:r>
              <a:rPr lang="ru-RU" dirty="0"/>
              <a:t>.</a:t>
            </a:r>
          </a:p>
          <a:p>
            <a:r>
              <a:rPr lang="ru-RU" dirty="0"/>
              <a:t>Если мы удалим учителя, студент всё ещё может существовать —</a:t>
            </a:r>
            <a:r>
              <a:rPr lang="en-US" dirty="0"/>
              <a:t> </a:t>
            </a:r>
            <a:r>
              <a:rPr lang="ru-RU" dirty="0"/>
              <a:t>просто его указатель станет </a:t>
            </a:r>
            <a:r>
              <a:rPr lang="ru-RU" dirty="0" err="1"/>
              <a:t>невалидным</a:t>
            </a:r>
            <a:r>
              <a:rPr lang="ru-RU" dirty="0"/>
              <a:t>.</a:t>
            </a:r>
          </a:p>
          <a:p>
            <a:r>
              <a:rPr lang="ru-RU" dirty="0"/>
              <a:t>Именно независимость жизненных циклов — ключевой признак ассоциации.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D27560-579B-482E-BED7-036450DE1808}" type="slidenum">
              <a:rPr lang="ru-RU" smtClean="0"/>
              <a:pPr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5379954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/>
              <a:t>Композиция — один из самых простых способов создать новый тип данных, используя функционал уже имеющихся. При композиции мы получаем новый, более сложный тип, состоящий из одного или нескольких более простых объектов.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D27560-579B-482E-BED7-036450DE1808}" type="slidenum">
              <a:rPr lang="ru-RU" smtClean="0"/>
              <a:pPr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0609654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Теперь переходим к более сильному типу связи — композиции.</a:t>
            </a:r>
          </a:p>
          <a:p>
            <a:r>
              <a:rPr lang="ru-RU" dirty="0"/>
              <a:t>Композиция — это отношение «часть–целое»,</a:t>
            </a:r>
            <a:r>
              <a:rPr lang="en-US" dirty="0"/>
              <a:t> </a:t>
            </a:r>
            <a:r>
              <a:rPr lang="ru-RU" dirty="0"/>
              <a:t>где один объект </a:t>
            </a:r>
            <a:r>
              <a:rPr lang="ru-RU" b="1" dirty="0"/>
              <a:t>владеет</a:t>
            </a:r>
            <a:r>
              <a:rPr lang="ru-RU" dirty="0"/>
              <a:t> другими.</a:t>
            </a:r>
          </a:p>
          <a:p>
            <a:r>
              <a:rPr lang="ru-RU" dirty="0"/>
              <a:t>Это означает, что:</a:t>
            </a:r>
            <a:r>
              <a:rPr lang="en-US" dirty="0"/>
              <a:t> </a:t>
            </a:r>
            <a:r>
              <a:rPr lang="ru-RU" dirty="0"/>
              <a:t>части не существуют отдельно </a:t>
            </a:r>
          </a:p>
          <a:p>
            <a:r>
              <a:rPr lang="ru-RU" dirty="0"/>
              <a:t>их жизненный цикл полностью зависит от целого </a:t>
            </a:r>
            <a:r>
              <a:rPr lang="en-US" dirty="0"/>
              <a:t>/</a:t>
            </a:r>
          </a:p>
          <a:p>
            <a:endParaRPr lang="ru-RU" dirty="0"/>
          </a:p>
          <a:p>
            <a:r>
              <a:rPr lang="ru-RU" dirty="0"/>
              <a:t>Если уничтожается целый объект — уничтожаются и все его части.</a:t>
            </a:r>
          </a:p>
          <a:p>
            <a:r>
              <a:rPr lang="ru-RU" dirty="0"/>
              <a:t>Например, дом и комнаты.</a:t>
            </a:r>
            <a:br>
              <a:rPr lang="ru-RU" dirty="0"/>
            </a:br>
            <a:r>
              <a:rPr lang="ru-RU" dirty="0"/>
              <a:t>Комната не существует сама по себе — она часть конкретного дома.</a:t>
            </a:r>
          </a:p>
          <a:p>
            <a:r>
              <a:rPr lang="ru-RU" dirty="0"/>
              <a:t>В C++ композиция встречается постоянно:</a:t>
            </a:r>
            <a:r>
              <a:rPr lang="en-US" dirty="0"/>
              <a:t> </a:t>
            </a:r>
            <a:r>
              <a:rPr lang="ru-RU" dirty="0"/>
              <a:t>когда один класс содержит другой как поле.</a:t>
            </a:r>
          </a:p>
          <a:p>
            <a:r>
              <a:rPr lang="ru-RU" dirty="0"/>
              <a:t>Важно:</a:t>
            </a:r>
            <a:br>
              <a:rPr lang="ru-RU" dirty="0"/>
            </a:br>
            <a:r>
              <a:rPr lang="ru-RU" dirty="0"/>
              <a:t>здесь уже есть </a:t>
            </a:r>
            <a:r>
              <a:rPr lang="ru-RU" b="1" dirty="0"/>
              <a:t>владение</a:t>
            </a:r>
            <a:r>
              <a:rPr lang="ru-RU" dirty="0"/>
              <a:t>, в отличие от ассоциации, где его не было.</a:t>
            </a:r>
          </a:p>
          <a:p>
            <a:r>
              <a:rPr lang="ru-RU" dirty="0"/>
              <a:t>Именно это делает композицию самой сильной формой связи между объектами.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D27560-579B-482E-BED7-036450DE1808}" type="slidenum">
              <a:rPr lang="ru-RU" smtClean="0"/>
              <a:pPr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6140553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Примеры композиции: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Точка на плоскости состоит из двух чисел, хранящих её координаты.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Окружность состоит из точки, задающей координаты центра, и числа, задающего радиус.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Класс рациональных чисел состоит из двух целых чисел — числителя и знаменателя.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D27560-579B-482E-BED7-036450DE1808}" type="slidenum">
              <a:rPr lang="ru-RU" smtClean="0"/>
              <a:pPr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6871574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Композиция позволяет с лёгкостью создавать сложные объекты из более простых. Однажды разработав и протестировав класс, мы можем многократно использовать его как надёжный «кирпичик» в составе более крупных компонентов нашей программы. Классы стандартной библиотеки C++ являются хорошим примером таких «кирпичиков». 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D27560-579B-482E-BED7-036450DE1808}" type="slidenum">
              <a:rPr lang="ru-RU" smtClean="0"/>
              <a:pPr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53593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На диаграмме классов композиция обозначается соединительной линией с закрашенным ромбом, исходящим от составного объекта. Со стороны включаемого объекта наконечника может и не быть.</a:t>
            </a:r>
          </a:p>
          <a:p>
            <a:r>
              <a:rPr lang="ru-RU" dirty="0"/>
              <a:t>Ограничений на количество включений простого объекта в состав более сложного нет. В приведённом примере </a:t>
            </a:r>
            <a:r>
              <a:rPr lang="ru-RU" dirty="0" err="1"/>
              <a:t>Circle</a:t>
            </a:r>
            <a:r>
              <a:rPr lang="ru-RU" dirty="0"/>
              <a:t> содержит один экземпляр </a:t>
            </a:r>
            <a:r>
              <a:rPr lang="ru-RU" dirty="0" err="1"/>
              <a:t>Point</a:t>
            </a:r>
            <a:r>
              <a:rPr lang="ru-RU" dirty="0"/>
              <a:t>, а </a:t>
            </a:r>
            <a:r>
              <a:rPr lang="ru-RU" dirty="0" err="1"/>
              <a:t>Triangle</a:t>
            </a:r>
            <a:r>
              <a:rPr lang="ru-RU" dirty="0"/>
              <a:t> — три. Чтобы подчеркнуть множественный характер связи, на конце стрелочки может указываться количество экземпляров.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D27560-579B-482E-BED7-036450DE1808}" type="slidenum">
              <a:rPr lang="ru-RU" smtClean="0"/>
              <a:pPr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1435778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Композиция даёт нам важное преимущество — </a:t>
            </a:r>
            <a:r>
              <a:rPr lang="ru-RU" b="1" dirty="0"/>
              <a:t>сокрытие реализации</a:t>
            </a:r>
            <a:r>
              <a:rPr lang="ru-RU" dirty="0"/>
              <a:t>.</a:t>
            </a:r>
          </a:p>
          <a:p>
            <a:r>
              <a:rPr lang="ru-RU" dirty="0"/>
              <a:t>Класс-владелец управляет своими частями и </a:t>
            </a:r>
            <a:r>
              <a:rPr lang="ru-RU" b="1" dirty="0"/>
              <a:t>не обязан раскрывать их наружу</a:t>
            </a:r>
            <a:r>
              <a:rPr lang="ru-RU" dirty="0"/>
              <a:t>.</a:t>
            </a:r>
            <a:br>
              <a:rPr lang="ru-RU" dirty="0"/>
            </a:br>
            <a:r>
              <a:rPr lang="ru-RU" dirty="0"/>
              <a:t>Во внешнем интерфейсе может вообще не быть упоминаний внутренних типов.</a:t>
            </a:r>
          </a:p>
          <a:p>
            <a:r>
              <a:rPr lang="ru-RU" dirty="0"/>
              <a:t>Например,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AlarmClock</a:t>
            </a:r>
            <a:r>
              <a:rPr lang="ru-RU" dirty="0"/>
              <a:t> использует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Clock</a:t>
            </a:r>
            <a:r>
              <a:rPr lang="ru-RU" dirty="0"/>
              <a:t> и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Beeper</a:t>
            </a:r>
            <a:r>
              <a:rPr lang="ru-RU" dirty="0"/>
              <a:t>,</a:t>
            </a:r>
            <a:br>
              <a:rPr lang="ru-RU" dirty="0"/>
            </a:br>
            <a:r>
              <a:rPr lang="ru-RU" dirty="0"/>
              <a:t>но пользователь будильника работает только с самим будильником.</a:t>
            </a:r>
          </a:p>
          <a:p>
            <a:r>
              <a:rPr lang="ru-RU" dirty="0"/>
              <a:t>Это позволяет: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упростить интерфейс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защитить внутреннее состояние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свободно менять реализацию </a:t>
            </a:r>
          </a:p>
          <a:p>
            <a:r>
              <a:rPr lang="ru-RU" dirty="0"/>
              <a:t>При этом сами компоненты остаются универсальными:</a:t>
            </a:r>
            <a:br>
              <a:rPr lang="ru-RU" dirty="0"/>
            </a:b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Beeper</a:t>
            </a:r>
            <a:r>
              <a:rPr lang="ru-RU" dirty="0"/>
              <a:t> можно использовать и в других классах, не только в будильнике.</a:t>
            </a:r>
          </a:p>
          <a:p>
            <a:r>
              <a:rPr lang="ru-RU" dirty="0"/>
              <a:t>И, как и в любой композиции, при удалении объекта</a:t>
            </a:r>
            <a:br>
              <a:rPr lang="ru-RU" dirty="0"/>
            </a:br>
            <a:r>
              <a:rPr lang="ru-RU" dirty="0"/>
              <a:t>все его части удаляются вместе с ним.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D27560-579B-482E-BED7-036450DE1808}" type="slidenum">
              <a:rPr lang="ru-RU" smtClean="0"/>
              <a:pPr/>
              <a:t>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8802356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D27560-579B-482E-BED7-036450DE1808}" type="slidenum">
              <a:rPr lang="ru-RU" smtClean="0"/>
              <a:pPr/>
              <a:t>14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7182748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Агрегация — это промежуточный вариант между ассоциацией и композицией.</a:t>
            </a:r>
          </a:p>
          <a:p>
            <a:r>
              <a:rPr lang="ru-RU" dirty="0"/>
              <a:t>Как и в композиции, здесь есть отношение «часть–целое», но без полного владения.</a:t>
            </a:r>
          </a:p>
          <a:p>
            <a:r>
              <a:rPr lang="ru-RU" dirty="0"/>
              <a:t>Целое использует части, но не управляет их временем жизни. Если удалить целый объект, его части продолжают существовать.</a:t>
            </a:r>
          </a:p>
          <a:p>
            <a:r>
              <a:rPr lang="ru-RU" dirty="0"/>
              <a:t>Ключевое отличие от композиции: часть может принадлежать сразу нескольким объектам и существовать отдельно.</a:t>
            </a:r>
          </a:p>
          <a:p>
            <a:r>
              <a:rPr lang="ru-RU" dirty="0"/>
              <a:t>В C++ это обычно реализуется через указатели или ссылки на объекты, созданные снаружи.</a:t>
            </a:r>
          </a:p>
          <a:p>
            <a:r>
              <a:rPr lang="ru-RU" dirty="0"/>
              <a:t>Таким образом, агрегация — это «ослабленная композиция»: связь есть, но владение неполное.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D27560-579B-482E-BED7-036450DE1808}" type="slidenum">
              <a:rPr lang="ru-RU" smtClean="0"/>
              <a:pPr/>
              <a:t>15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3080930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Здесь показан пример агрегации.</a:t>
            </a:r>
          </a:p>
          <a:p>
            <a:r>
              <a:rPr lang="ru-RU" dirty="0"/>
              <a:t>Класс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RemoteControl</a:t>
            </a:r>
            <a:r>
              <a:rPr lang="ru-RU" dirty="0"/>
              <a:t> использует объект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TV</a:t>
            </a:r>
            <a:r>
              <a:rPr lang="ru-RU" dirty="0"/>
              <a:t>, но не создаёт его и не управляет его временем жизни. Телевизор передаётся извне и сохраняется по ссылке.</a:t>
            </a:r>
          </a:p>
          <a:p>
            <a:r>
              <a:rPr lang="ru-RU" dirty="0"/>
              <a:t>Да, в этой реализации пульт не может работать без телевизора — он обязан получить его в конструкторе. Но это ограничение интерфейса, а не владения.</a:t>
            </a:r>
          </a:p>
          <a:p>
            <a:r>
              <a:rPr lang="ru-RU" dirty="0"/>
              <a:t>Ключевой момент в другом: пульт </a:t>
            </a:r>
            <a:r>
              <a:rPr lang="ru-RU" b="1" dirty="0"/>
              <a:t>не владеет телевизором</a:t>
            </a:r>
            <a:r>
              <a:rPr lang="ru-RU" dirty="0"/>
              <a:t>. Он его не создаёт и не удаляет.</a:t>
            </a:r>
          </a:p>
          <a:p>
            <a:r>
              <a:rPr lang="ru-RU" dirty="0"/>
              <a:t>Телевизор может существовать отдельно от пульта и использоваться другими объектами.</a:t>
            </a:r>
          </a:p>
          <a:p>
            <a:r>
              <a:rPr lang="ru-RU" dirty="0"/>
              <a:t>Именно это и отличает агрегацию от композиции: зависимость может быть, но </a:t>
            </a:r>
            <a:r>
              <a:rPr lang="ru-RU" b="1" dirty="0"/>
              <a:t>владение отсутствует</a:t>
            </a:r>
            <a:r>
              <a:rPr lang="ru-RU" dirty="0"/>
              <a:t>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D27560-579B-482E-BED7-036450DE1808}" type="slidenum">
              <a:rPr lang="ru-RU" smtClean="0"/>
              <a:pPr/>
              <a:t>16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1008431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Агрегация часто используется для </a:t>
            </a:r>
            <a:r>
              <a:rPr lang="ru-RU" b="1" dirty="0"/>
              <a:t>делегирования работы</a:t>
            </a:r>
            <a:r>
              <a:rPr lang="ru-RU" dirty="0"/>
              <a:t>.</a:t>
            </a:r>
          </a:p>
          <a:p>
            <a:r>
              <a:rPr lang="ru-RU" dirty="0"/>
              <a:t>Один объект не реализует всю логику сам, а передаёт её другому объекту, который получил извне.</a:t>
            </a:r>
          </a:p>
          <a:p>
            <a:r>
              <a:rPr lang="ru-RU" dirty="0"/>
              <a:t>В нашем примере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RemoteControl</a:t>
            </a:r>
            <a:r>
              <a:rPr lang="ru-RU" dirty="0"/>
              <a:t> не управляет телевизором напрямую — он просто принимает команды пользователя и </a:t>
            </a:r>
            <a:r>
              <a:rPr lang="ru-RU" b="1" dirty="0"/>
              <a:t>делегирует выполнение</a:t>
            </a:r>
            <a:r>
              <a:rPr lang="ru-RU" dirty="0"/>
              <a:t> объекту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TV</a:t>
            </a:r>
            <a:r>
              <a:rPr lang="ru-RU" dirty="0"/>
              <a:t>.</a:t>
            </a:r>
          </a:p>
          <a:p>
            <a:r>
              <a:rPr lang="ru-RU" dirty="0"/>
              <a:t>Например, при включении пульт вызывает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m_tv.TurnOn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ru-RU" dirty="0"/>
              <a:t> и не знает, как именно телевизор это делает.</a:t>
            </a:r>
          </a:p>
          <a:p>
            <a:r>
              <a:rPr lang="ru-RU" dirty="0"/>
              <a:t>Так мы разделяем ответственность:</a:t>
            </a:r>
            <a:br>
              <a:rPr lang="ru-RU" dirty="0"/>
            </a:br>
            <a:r>
              <a:rPr lang="ru-RU" dirty="0"/>
              <a:t>пульт отвечает за взаимодействие с пользователем, а телевизор — за свою внутреннюю логику.</a:t>
            </a:r>
          </a:p>
          <a:p>
            <a:r>
              <a:rPr lang="ru-RU" dirty="0"/>
              <a:t>Это делает систему более гибкой: мы можем заменить телевизор на другой, не меняя код пульта.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D27560-579B-482E-BED7-036450DE1808}" type="slidenum">
              <a:rPr lang="ru-RU" smtClean="0"/>
              <a:pPr/>
              <a:t>17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0094000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Здесь показан более реалистичный пример агрегации.</a:t>
            </a:r>
          </a:p>
          <a:p>
            <a:r>
              <a:rPr lang="ru-RU" dirty="0"/>
              <a:t>Классы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ImageView</a:t>
            </a:r>
            <a:r>
              <a:rPr lang="ru-RU" dirty="0"/>
              <a:t> и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UsersAPIGateway</a:t>
            </a:r>
            <a:r>
              <a:rPr lang="ru-RU" dirty="0"/>
              <a:t> используют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HTTPClient</a:t>
            </a:r>
            <a:r>
              <a:rPr lang="ru-RU" dirty="0"/>
              <a:t> для отправки запросов. При этом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HTTPClient</a:t>
            </a:r>
            <a:r>
              <a:rPr lang="ru-RU" dirty="0"/>
              <a:t> передаётся им извне и хранится по ссылке.</a:t>
            </a:r>
          </a:p>
          <a:p>
            <a:r>
              <a:rPr lang="ru-RU" dirty="0"/>
              <a:t>Важно, что ни один из этих классов не владеет клиентом. Они просто используют его как сервис.</a:t>
            </a:r>
          </a:p>
          <a:p>
            <a:r>
              <a:rPr lang="ru-RU" dirty="0"/>
              <a:t>При этом вовсе не обязательно, что они используют один и тот же экземпляр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HTTPClient</a:t>
            </a:r>
            <a:r>
              <a:rPr lang="ru-RU" dirty="0"/>
              <a:t>. Но такая возможность есть — и это удобно.</a:t>
            </a:r>
          </a:p>
          <a:p>
            <a:r>
              <a:rPr lang="ru-RU" dirty="0"/>
              <a:t>Фактически,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HTTPClient</a:t>
            </a:r>
            <a:r>
              <a:rPr lang="ru-RU" dirty="0"/>
              <a:t> выступает как переиспользуемый компонент. Мы можем подключать его к разным частям системы, не дублируя код.</a:t>
            </a:r>
          </a:p>
          <a:p>
            <a:r>
              <a:rPr lang="ru-RU" dirty="0"/>
              <a:t>И это ключевое преимущество агрегации:</a:t>
            </a:r>
            <a:br>
              <a:rPr lang="ru-RU" dirty="0"/>
            </a:br>
            <a:r>
              <a:rPr lang="ru-RU" dirty="0"/>
              <a:t>мы можем делиться объектами между классами, не накладывая жёстких ограничений на владение и жизненный цикл.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D27560-579B-482E-BED7-036450DE1808}" type="slidenum">
              <a:rPr lang="ru-RU" smtClean="0"/>
              <a:pPr/>
              <a:t>18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8604652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При композиции и агрегации Целое оказывается связанным с Частью в течение длительного времени — поля Целого хранят Часть по значению, ссылке или указателю.</a:t>
            </a:r>
          </a:p>
          <a:p>
            <a:r>
              <a:rPr lang="ru-RU" dirty="0"/>
              <a:t>В жизни потребность в каком-либо объекте нам часто нужна лишь для выполнения некоторой задачи: мы вызываем такси, чтобы доехать до нужного места, берём нож, чтобы сделать бутерброд, прибегаем к услугам парикмахера, чтобы подстричься. После выполнения задачи потребность в объекте исчезает до следующего раза. И правда, незачем держать при себе парикмахера до конца своей жизни.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D27560-579B-482E-BED7-036450DE1808}" type="slidenum">
              <a:rPr lang="ru-RU" smtClean="0"/>
              <a:pPr/>
              <a:t>19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0721724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Зависимость — это самый слабый тип связи между классами.</a:t>
            </a:r>
          </a:p>
          <a:p>
            <a:r>
              <a:rPr lang="ru-RU" dirty="0"/>
              <a:t>Здесь объект не хранит другой объект, а лишь временно его использует, например, внутри метода.</a:t>
            </a:r>
          </a:p>
          <a:p>
            <a:r>
              <a:rPr lang="ru-RU" dirty="0"/>
              <a:t>Связь возникает на короткое время: при передаче параметра, создании объекта или возврате значения.</a:t>
            </a:r>
          </a:p>
          <a:p>
            <a:r>
              <a:rPr lang="ru-RU" dirty="0"/>
              <a:t>Ключевое отличие от ассоциации в том, что нет хранения — значит, нет постоянной связи между объектами.</a:t>
            </a:r>
          </a:p>
          <a:p>
            <a:r>
              <a:rPr lang="ru-RU" dirty="0"/>
              <a:t>При этом клиент зависит от поставщика: если интерфейс поставщика изменится, клиент тоже придётся менять.</a:t>
            </a:r>
          </a:p>
          <a:p>
            <a:r>
              <a:rPr lang="ru-RU" dirty="0"/>
              <a:t>Поэтому зависимость — это минимальная, но всё же важная связь между классами.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D27560-579B-482E-BED7-036450DE1808}" type="slidenum">
              <a:rPr lang="ru-RU" smtClean="0"/>
              <a:pPr/>
              <a:t>20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6927160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Здесь показаны разные варианты зависимости.</a:t>
            </a:r>
          </a:p>
          <a:p>
            <a:r>
              <a:rPr lang="ru-RU" dirty="0"/>
              <a:t>В методе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DependentMethod1</a:t>
            </a:r>
            <a:r>
              <a:rPr lang="ru-RU" dirty="0"/>
              <a:t> объект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Supplier</a:t>
            </a:r>
            <a:r>
              <a:rPr lang="ru-RU" dirty="0"/>
              <a:t> передаётся в качестве параметра, и клиент просто вызывает его метод.</a:t>
            </a:r>
          </a:p>
          <a:p>
            <a:r>
              <a:rPr lang="ru-RU" dirty="0"/>
              <a:t>В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DependentMethod2</a:t>
            </a:r>
            <a:r>
              <a:rPr lang="ru-RU" dirty="0"/>
              <a:t> объект создаётся прямо внутри метода и используется локально.</a:t>
            </a:r>
          </a:p>
          <a:p>
            <a:r>
              <a:rPr lang="ru-RU" dirty="0"/>
              <a:t>В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DependentMethod3</a:t>
            </a:r>
            <a:r>
              <a:rPr lang="ru-RU" dirty="0"/>
              <a:t> объект возвращается из метода.</a:t>
            </a:r>
          </a:p>
          <a:p>
            <a:r>
              <a:rPr lang="ru-RU" dirty="0"/>
              <a:t>Во всех этих случаях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Client</a:t>
            </a:r>
            <a:r>
              <a:rPr lang="ru-RU" dirty="0"/>
              <a:t> не хранит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Supplier</a:t>
            </a:r>
            <a:r>
              <a:rPr lang="ru-RU" dirty="0"/>
              <a:t> как поле, а использует его только временно — в рамках вызова метода.</a:t>
            </a:r>
          </a:p>
          <a:p>
            <a:r>
              <a:rPr lang="ru-RU" dirty="0"/>
              <a:t>Именно это и есть зависимость: кратковременное использование объекта без установления постоянной связи.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D27560-579B-482E-BED7-036450DE1808}" type="slidenum">
              <a:rPr lang="ru-RU" smtClean="0"/>
              <a:pPr/>
              <a:t>21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0821831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Здесь показан практический пример зависимости.</a:t>
            </a:r>
          </a:p>
          <a:p>
            <a:r>
              <a:rPr lang="ru-RU" dirty="0"/>
              <a:t>Класс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Document</a:t>
            </a:r>
            <a:r>
              <a:rPr lang="ru-RU" dirty="0"/>
              <a:t> использует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istream</a:t>
            </a:r>
            <a:r>
              <a:rPr lang="ru-RU" dirty="0"/>
              <a:t> и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ostream</a:t>
            </a:r>
            <a:r>
              <a:rPr lang="ru-RU" dirty="0"/>
              <a:t>, но только внутри методов загрузки и сохранения.</a:t>
            </a:r>
          </a:p>
          <a:p>
            <a:r>
              <a:rPr lang="ru-RU" dirty="0"/>
              <a:t>Он не хранит потоки как поля, а принимает их как параметры, то есть использует временно.</a:t>
            </a:r>
          </a:p>
          <a:p>
            <a:r>
              <a:rPr lang="ru-RU" dirty="0"/>
              <a:t>Это значит, что один и тот же документ можно читать из разных источников и записывать в разные места.</a:t>
            </a:r>
          </a:p>
          <a:p>
            <a:r>
              <a:rPr lang="ru-RU" dirty="0"/>
              <a:t>Например, сегодня — в файл, завтра — в строку или сетевое соединение.</a:t>
            </a:r>
          </a:p>
          <a:p>
            <a:r>
              <a:rPr lang="ru-RU" dirty="0"/>
              <a:t>При этом сами потоки ничего не знают о документе.</a:t>
            </a:r>
          </a:p>
          <a:p>
            <a:r>
              <a:rPr lang="ru-RU" dirty="0"/>
              <a:t>Это и есть зависимость: объект использует другой объект только в момент выполнения операции, не устанавливая с ним постоянной связи.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D27560-579B-482E-BED7-036450DE1808}" type="slidenum">
              <a:rPr lang="ru-RU" smtClean="0"/>
              <a:pPr/>
              <a:t>22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1420918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На диаграммах зависимость изображается пунктирной стрелкой от клиента к поставщику.</a:t>
            </a:r>
          </a:p>
          <a:p>
            <a:r>
              <a:rPr lang="ru-RU" dirty="0"/>
              <a:t>Иногда на стрелке уточняют тип зависимости:</a:t>
            </a:r>
          </a:p>
          <a:p>
            <a:r>
              <a:rPr lang="ru-RU" b="1" dirty="0" err="1"/>
              <a:t>create</a:t>
            </a:r>
            <a:r>
              <a:rPr lang="ru-RU" dirty="0"/>
              <a:t> — объект создаётся внутри метода </a:t>
            </a:r>
          </a:p>
          <a:p>
            <a:r>
              <a:rPr lang="ru-RU" b="1" dirty="0" err="1"/>
              <a:t>use</a:t>
            </a:r>
            <a:r>
              <a:rPr lang="ru-RU" dirty="0"/>
              <a:t> — объект передаётся и используется </a:t>
            </a:r>
          </a:p>
          <a:p>
            <a:r>
              <a:rPr lang="ru-RU" b="1" dirty="0" err="1"/>
              <a:t>return</a:t>
            </a:r>
            <a:r>
              <a:rPr lang="ru-RU" dirty="0"/>
              <a:t> — объект возвращается </a:t>
            </a:r>
          </a:p>
          <a:p>
            <a:r>
              <a:rPr lang="ru-RU" dirty="0"/>
              <a:t>В примере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Rectangle</a:t>
            </a:r>
            <a:r>
              <a:rPr lang="ru-RU" dirty="0"/>
              <a:t> использует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Canvas</a:t>
            </a:r>
            <a:r>
              <a:rPr lang="ru-RU" dirty="0"/>
              <a:t>: он получает его в методе и вызывает его методы для рисования.</a:t>
            </a:r>
          </a:p>
          <a:p>
            <a:r>
              <a:rPr lang="ru-RU" dirty="0"/>
              <a:t>При этом один и тот же прямоугольник можно рисовать на разных холстах.</a:t>
            </a:r>
          </a:p>
          <a:p>
            <a:r>
              <a:rPr lang="ru-RU" dirty="0"/>
              <a:t>Это типичный пример зависимости типа </a:t>
            </a:r>
            <a:r>
              <a:rPr lang="ru-RU" b="1" dirty="0" err="1"/>
              <a:t>use</a:t>
            </a:r>
            <a:r>
              <a:rPr lang="ru-RU" dirty="0"/>
              <a:t>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D27560-579B-482E-BED7-036450DE1808}" type="slidenum">
              <a:rPr lang="ru-RU" smtClean="0"/>
              <a:pPr/>
              <a:t>23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6440846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Зависимость — самая слабая связь, но именно поэтому самая гибкая: каждый вызов может работать с разными объектами.</a:t>
            </a:r>
            <a:endParaRPr lang="en-US" dirty="0"/>
          </a:p>
          <a:p>
            <a:endParaRPr lang="ru-RU" dirty="0"/>
          </a:p>
          <a:p>
            <a:r>
              <a:rPr lang="ru-RU" dirty="0"/>
              <a:t>Однако у этой гибкости есть цена — зависимость транзитивна.</a:t>
            </a:r>
          </a:p>
          <a:p>
            <a:r>
              <a:rPr lang="ru-RU" dirty="0"/>
              <a:t>Если класс зависит от другого, а тот — от третьего, то клиенту приходится знать обо всех.</a:t>
            </a:r>
          </a:p>
          <a:p>
            <a:r>
              <a:rPr lang="ru-RU" dirty="0"/>
              <a:t>В примере: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Foo</a:t>
            </a:r>
            <a:r>
              <a:rPr lang="ru-RU" dirty="0"/>
              <a:t> возвращает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Bar</a:t>
            </a:r>
            <a:r>
              <a:rPr lang="ru-RU" dirty="0"/>
              <a:t>, а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Bar</a:t>
            </a:r>
            <a:r>
              <a:rPr lang="ru-RU" dirty="0"/>
              <a:t> использует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Baz</a:t>
            </a:r>
            <a:r>
              <a:rPr lang="ru-RU" dirty="0"/>
              <a:t>. В итоге клиент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Foo</a:t>
            </a:r>
            <a:r>
              <a:rPr lang="ru-RU" dirty="0"/>
              <a:t> вынужден знать и про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Bar</a:t>
            </a:r>
            <a:r>
              <a:rPr lang="ru-RU" dirty="0"/>
              <a:t>, и про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Baz</a:t>
            </a:r>
            <a:r>
              <a:rPr lang="ru-RU" dirty="0"/>
              <a:t>.</a:t>
            </a:r>
          </a:p>
          <a:p>
            <a:r>
              <a:rPr lang="ru-RU" dirty="0"/>
              <a:t>В отличие от этого, при композиции и агрегации внутренние детали скрыты и не «протекают» наружу.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D27560-579B-482E-BED7-036450DE1808}" type="slidenum">
              <a:rPr lang="ru-RU" smtClean="0"/>
              <a:pPr/>
              <a:t>24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4486073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Треугольник содержит точки и единолично ими владеет.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D27560-579B-482E-BED7-036450DE1808}" type="slidenum">
              <a:rPr lang="ru-RU" smtClean="0"/>
              <a:pPr/>
              <a:t>26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4700059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err="1"/>
              <a:t>Graphics</a:t>
            </a:r>
            <a:r>
              <a:rPr lang="ru-RU" dirty="0"/>
              <a:t> хранит ссылку на растровое изображение, на котором рисует графические примитивы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D27560-579B-482E-BED7-036450DE1808}" type="slidenum">
              <a:rPr lang="ru-RU" smtClean="0"/>
              <a:pPr/>
              <a:t>27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759435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Треугольник использует </a:t>
            </a:r>
            <a:r>
              <a:rPr lang="ru-RU" dirty="0" err="1"/>
              <a:t>Graphics</a:t>
            </a:r>
            <a:r>
              <a:rPr lang="ru-RU" dirty="0"/>
              <a:t> в методе </a:t>
            </a:r>
            <a:r>
              <a:rPr lang="ru-RU" dirty="0" err="1"/>
              <a:t>Draw</a:t>
            </a:r>
            <a:r>
              <a:rPr lang="ru-RU" dirty="0"/>
              <a:t>, чтобы нарисовать на нём своё изображение.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D27560-579B-482E-BED7-036450DE1808}" type="slidenum">
              <a:rPr lang="ru-RU" smtClean="0"/>
              <a:pPr/>
              <a:t>29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9274054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Вам представлены несколько диаграмм, выражающих отношения между классами </a:t>
            </a:r>
            <a:r>
              <a:rPr lang="en-US" dirty="0">
                <a:solidFill>
                  <a:srgbClr val="EB5757"/>
                </a:solidFill>
                <a:effectLst/>
                <a:latin typeface="SFMono-Regular"/>
              </a:rPr>
              <a:t>House</a:t>
            </a:r>
            <a:r>
              <a:rPr lang="en-US" dirty="0"/>
              <a:t>, </a:t>
            </a:r>
            <a:r>
              <a:rPr lang="en-US" dirty="0">
                <a:solidFill>
                  <a:srgbClr val="EB5757"/>
                </a:solidFill>
                <a:effectLst/>
                <a:latin typeface="SFMono-Regular"/>
              </a:rPr>
              <a:t>Wall</a:t>
            </a:r>
            <a:r>
              <a:rPr lang="en-US" dirty="0"/>
              <a:t>, </a:t>
            </a:r>
            <a:r>
              <a:rPr lang="en-US" dirty="0">
                <a:solidFill>
                  <a:srgbClr val="EB5757"/>
                </a:solidFill>
                <a:effectLst/>
                <a:latin typeface="SFMono-Regular"/>
              </a:rPr>
              <a:t>Base</a:t>
            </a:r>
            <a:r>
              <a:rPr lang="en-US" dirty="0"/>
              <a:t>, </a:t>
            </a:r>
            <a:r>
              <a:rPr lang="en-US" dirty="0">
                <a:solidFill>
                  <a:srgbClr val="EB5757"/>
                </a:solidFill>
                <a:effectLst/>
                <a:latin typeface="SFMono-Regular"/>
              </a:rPr>
              <a:t>Roof</a:t>
            </a:r>
            <a:r>
              <a:rPr lang="ru-RU" dirty="0">
                <a:solidFill>
                  <a:srgbClr val="EB5757"/>
                </a:solidFill>
                <a:effectLst/>
                <a:latin typeface="SFMono-Regular"/>
              </a:rPr>
              <a:t> </a:t>
            </a:r>
            <a:r>
              <a:rPr lang="ru-RU" dirty="0"/>
              <a:t>и </a:t>
            </a:r>
            <a:r>
              <a:rPr lang="en-US" dirty="0">
                <a:solidFill>
                  <a:srgbClr val="EB5757"/>
                </a:solidFill>
                <a:effectLst/>
                <a:latin typeface="SFMono-Regular"/>
              </a:rPr>
              <a:t>Window</a:t>
            </a:r>
            <a:r>
              <a:rPr lang="en-US" dirty="0"/>
              <a:t>. </a:t>
            </a:r>
            <a:r>
              <a:rPr lang="ru-RU" dirty="0"/>
              <a:t>Выберите среди них одну правильную.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D27560-579B-482E-BED7-036450DE1808}" type="slidenum">
              <a:rPr lang="ru-RU" smtClean="0"/>
              <a:pPr/>
              <a:t>30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143247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92731D-D587-48A4-A987-5B9B29913E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6CC8CE3-AC95-499F-AFEF-0633314273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A9EDE0-717F-4B6B-BEF5-B300A235AD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80913A-90BC-490B-B2FF-8A38744845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1EC945-BEC4-4BF5-AE0C-BEB6923EA6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5F8955-9F71-4E77-B108-B5F82C6F0AFB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882394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180451-BA17-408E-9FE6-D4A2F8D671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7756CD-C151-4011-80A7-341F276F01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AFCB68-E950-4783-A979-645916355B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74D9E9-BC9F-46BB-A974-0DA45B5003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7174FF-F804-4255-868A-2099000099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5F8955-9F71-4E77-B108-B5F82C6F0AFB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304076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9FAA43-C638-41B4-9D09-8DAC0F2128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D7E0F0-8FA1-4FDE-A768-BA0A832445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8B2F30-0FFE-460F-BF9A-18B14A62B0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2BAFA3-F593-43F7-AC15-5A541EAFDA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0B51DF-475D-439B-8BA3-5AEC16A0C6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5F8955-9F71-4E77-B108-B5F82C6F0AFB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781709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A3ED57-019D-4078-B0B0-A936DF7D7A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3FC616-218A-4F78-9174-B0C0BA3E69A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635D6CB-FF84-478E-8737-63A07B52DE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F13432-6F70-46CD-867C-88FAF98372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0ECD7A-6BC1-43D5-B6C1-D20B9AAAE5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F52AED-AB27-4AF6-AF21-AAFBEA257D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5F8955-9F71-4E77-B108-B5F82C6F0AFB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208294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FA8582-F4B2-428D-AF50-6A14A5C098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F0D483-CB7E-45DC-9E46-8B88A853B7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1FC07EB-22A4-465B-9AEA-F2DF071942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0B9011F-9B8F-47A8-ADA0-EEB762D2022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DCD0B74-20EA-4C87-9061-8BE9A475739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7D00B79-C15D-4DF7-903F-9A67F05B09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5692749-8B79-442D-A595-E3FEC7D40D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15EC848-9C37-457D-934A-AD70E11E92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5F8955-9F71-4E77-B108-B5F82C6F0AFB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656514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1A2D1-EABE-47D8-BE50-B321B348C8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413629C-5D35-4E95-A791-7BFF388985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5200E4D-393D-4269-AF9C-396BE23CC9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612F503-D35E-4F77-8BA2-C96C3D9E6B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5F8955-9F71-4E77-B108-B5F82C6F0AFB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070214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A43F4B1-84FB-4C6E-A070-020A94FC9A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309479D-2BD5-4315-B6EC-DB87C1F04D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5DE799-302B-40F8-BD85-F547F3DB99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5F8955-9F71-4E77-B108-B5F82C6F0AFB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88195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7688E9-61FD-47E6-AA7E-637200EA69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36E1CD-E8A7-47C4-98E6-D683EA4B50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059A90C-8888-4AAB-8411-DB13B6D8A3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04C21B-3D5A-4AE1-934E-0D72EA42D9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C67982-D057-481B-BB94-81BCC7A014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C6A13E-931A-4873-903E-08EB07BB26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5F8955-9F71-4E77-B108-B5F82C6F0AFB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925745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7C52F0-8146-4EC4-806E-FB4EF3139D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AB6A9BF-6CD4-4DFC-B7F2-5BD17C2BD12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47ACF84-E4E5-439D-928B-6D1419548E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761ECB-2171-4030-9101-C29C83DE09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ADDF45-D7F0-4BDA-87A9-C67746B4D9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E78671-499E-479C-B7EE-2BE44A6BE0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5F8955-9F71-4E77-B108-B5F82C6F0AFB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526814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017B78-7536-4199-B6CA-13099BF7C3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D54194-52F3-4102-9CBE-D8B4D7334F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4B71C1-BD7D-4818-9A38-5910028FEA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B89A66-D549-42E1-8F4B-8EA6B3F01F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9B3F61-AC32-4C7A-9502-25EA1F8734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5F8955-9F71-4E77-B108-B5F82C6F0AFB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728485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7374EFA-9A89-4D4B-92F3-8FB5F6F5F6F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9F308EB-599B-4511-8D62-EE3FE8FA29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4125EC-0527-4224-81E8-36F84CF149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899B68-13E4-4CBD-B0EA-9CC621FB63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B2DED7-840B-4A16-83A4-D19833C8B7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5F8955-9F71-4E77-B108-B5F82C6F0AFB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313589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0F363EB-AB7A-46A8-95B4-AFC0C4C6CA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B1B3B2-2E0B-454B-92E5-9DDB2B80D0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089CC3-23CA-4541-8AD3-CD7A716A648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359FC4-F33C-43DD-B0FE-6367F865DB7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0336AB-5C26-45B2-92DA-4FE167E16A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5F8955-9F71-4E77-B108-B5F82C6F0AFB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024901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7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1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12.xml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13.xml"/><Relationship Id="rId4" Type="http://schemas.openxmlformats.org/officeDocument/2006/relationships/image" Target="../media/image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1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17.xml"/><Relationship Id="rId4" Type="http://schemas.openxmlformats.org/officeDocument/2006/relationships/image" Target="../media/image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18.xml"/><Relationship Id="rId4" Type="http://schemas.openxmlformats.org/officeDocument/2006/relationships/image" Target="../media/image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9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0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2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2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23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24.xml"/><Relationship Id="rId4" Type="http://schemas.openxmlformats.org/officeDocument/2006/relationships/image" Target="../media/image10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25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6.xml"/><Relationship Id="rId4" Type="http://schemas.openxmlformats.org/officeDocument/2006/relationships/image" Target="../media/image11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7.xml"/><Relationship Id="rId4" Type="http://schemas.openxmlformats.org/officeDocument/2006/relationships/image" Target="../media/image12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28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9.xml"/><Relationship Id="rId4" Type="http://schemas.openxmlformats.org/officeDocument/2006/relationships/image" Target="../media/image14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notesSlide" Target="../notesSlides/notesSlide26.xml"/><Relationship Id="rId7" Type="http://schemas.openxmlformats.org/officeDocument/2006/relationships/image" Target="../media/image18.png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30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77CAD62A-E4D8-4B1B-9985-B57FC37A679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>
            <a:noAutofit/>
          </a:bodyPr>
          <a:lstStyle/>
          <a:p>
            <a:r>
              <a:rPr lang="ru-RU" dirty="0"/>
              <a:t>Отношения между классами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A216A59-4113-8393-B67C-596BF4D9FE3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2393312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339A0ED-8DD3-4A0D-BE41-177DCF99B7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Визуализация архитектуры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B699399-666B-4850-8464-3DF2B61BBE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Классы программы создаются и взаимодействуют по определённым правилам</a:t>
            </a:r>
          </a:p>
          <a:p>
            <a:r>
              <a:rPr lang="ru-RU" dirty="0"/>
              <a:t>Знание этих правил позволяет создавать программу не методом проб и ошибок, а проектировать её ещё до написания кода</a:t>
            </a:r>
          </a:p>
          <a:p>
            <a:r>
              <a:rPr lang="ru-RU" dirty="0"/>
              <a:t>Можно обсудить архитектуру и распределить работу над программы между программистами</a:t>
            </a:r>
          </a:p>
          <a:p>
            <a:r>
              <a:rPr lang="ru-RU" dirty="0"/>
              <a:t>Можно распределить работу над различными частями программы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2922014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12DDA6B-B205-44FB-9002-AC2269452C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Диаграмма классов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FA450FE-1DFD-47E9-9263-7D0A9C7B31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Один из способов визуализации структуры программы</a:t>
            </a:r>
          </a:p>
          <a:p>
            <a:r>
              <a:rPr lang="ru-RU" dirty="0"/>
              <a:t>Показывает классы и интерфейсы, их состав и связи между ними</a:t>
            </a:r>
          </a:p>
          <a:p>
            <a:r>
              <a:rPr lang="en-US" dirty="0"/>
              <a:t>UML – </a:t>
            </a:r>
            <a:r>
              <a:rPr lang="ru-RU" dirty="0"/>
              <a:t>универсальный язык моделирования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C60A991B-FF38-4274-A00D-85B8ED5419B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775520" y="4020439"/>
            <a:ext cx="8820944" cy="2623952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1785133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8F3E2CB-B7E0-3A2B-2012-6108E70AEC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Ассоциация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D82796-DC12-A85E-0600-A664C649B8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8607574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4168834-60C5-D734-1BF7-237FCAE628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Ассоциация (</a:t>
            </a:r>
            <a:r>
              <a:rPr lang="en-US" dirty="0"/>
              <a:t>Association)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CA4C718-811A-7A3F-B183-AAA49597FC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ru-RU" dirty="0"/>
              <a:t>Общее понятие связи между классами</a:t>
            </a:r>
          </a:p>
          <a:p>
            <a:r>
              <a:rPr lang="ru-RU" b="1" dirty="0"/>
              <a:t>Характеристики:</a:t>
            </a:r>
            <a:endParaRPr lang="ru-RU" dirty="0"/>
          </a:p>
          <a:p>
            <a:pPr lvl="1"/>
            <a:r>
              <a:rPr lang="ru-RU" dirty="0"/>
              <a:t>Объекты знают друг о друге </a:t>
            </a:r>
          </a:p>
          <a:p>
            <a:pPr lvl="1"/>
            <a:r>
              <a:rPr lang="ru-RU" dirty="0"/>
              <a:t>Нет владения (</a:t>
            </a:r>
            <a:r>
              <a:rPr lang="ru-RU" dirty="0" err="1"/>
              <a:t>ownership</a:t>
            </a:r>
            <a:r>
              <a:rPr lang="ru-RU" dirty="0"/>
              <a:t>) </a:t>
            </a:r>
          </a:p>
          <a:p>
            <a:pPr lvl="1"/>
            <a:r>
              <a:rPr lang="ru-RU" dirty="0"/>
              <a:t>Независимые жизненные циклы </a:t>
            </a:r>
          </a:p>
          <a:p>
            <a:r>
              <a:rPr lang="ru-RU" b="1" dirty="0"/>
              <a:t>Виды ассоциации:</a:t>
            </a:r>
            <a:endParaRPr lang="ru-RU" dirty="0"/>
          </a:p>
          <a:p>
            <a:pPr lvl="1"/>
            <a:r>
              <a:rPr lang="ru-RU" dirty="0"/>
              <a:t>Простая ассоциация </a:t>
            </a:r>
          </a:p>
          <a:p>
            <a:pPr lvl="1"/>
            <a:r>
              <a:rPr lang="ru-RU" dirty="0"/>
              <a:t>Агрегация (слабое владение) </a:t>
            </a:r>
          </a:p>
          <a:p>
            <a:pPr lvl="1"/>
            <a:r>
              <a:rPr lang="ru-RU" dirty="0"/>
              <a:t>Композиция (сильное владение) </a:t>
            </a:r>
          </a:p>
          <a:p>
            <a:r>
              <a:rPr lang="ru-RU" b="1" dirty="0"/>
              <a:t>Связь может быть:</a:t>
            </a:r>
            <a:endParaRPr lang="ru-RU" dirty="0"/>
          </a:p>
          <a:p>
            <a:pPr lvl="1"/>
            <a:r>
              <a:rPr lang="ru-RU" dirty="0"/>
              <a:t>односторонней </a:t>
            </a:r>
          </a:p>
          <a:p>
            <a:pPr lvl="1"/>
            <a:r>
              <a:rPr lang="ru-RU" dirty="0"/>
              <a:t>двусторонней </a:t>
            </a:r>
          </a:p>
          <a:p>
            <a:r>
              <a:rPr lang="ru-RU" b="1" dirty="0"/>
              <a:t>Реализация в C++:</a:t>
            </a:r>
            <a:endParaRPr lang="ru-RU" dirty="0"/>
          </a:p>
          <a:p>
            <a:pPr lvl="1"/>
            <a:r>
              <a:rPr lang="ru-RU" dirty="0"/>
              <a:t>указатели (*) </a:t>
            </a:r>
          </a:p>
          <a:p>
            <a:pPr lvl="1"/>
            <a:r>
              <a:rPr lang="ru-RU" dirty="0"/>
              <a:t>ссылки (&amp;) </a:t>
            </a:r>
          </a:p>
          <a:p>
            <a:r>
              <a:rPr lang="ru-RU" b="1" dirty="0"/>
              <a:t>Пример:</a:t>
            </a:r>
            <a:r>
              <a:rPr lang="en-US" b="1" dirty="0"/>
              <a:t> </a:t>
            </a:r>
            <a:r>
              <a:rPr lang="ru-RU" dirty="0"/>
              <a:t>Учитель ↔ Ученик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8261537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D4D7D27-C7EF-4896-9192-D9108F9BC4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Обозначение ассоциации на диаграмме классов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8BAD32E-75DA-AFEA-FF26-C5C5A442031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7448" y="2553191"/>
            <a:ext cx="9937104" cy="1422259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D297F57D-AE32-3EC6-BFE9-7B5C39E111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7448" y="4581128"/>
            <a:ext cx="9937104" cy="14495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753308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D63E94-B7C2-3B33-6A10-7DCC3F1330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Учитель - ученик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CEE1758-00C1-A173-766F-2582E06037C7}"/>
              </a:ext>
            </a:extLst>
          </p:cNvPr>
          <p:cNvSpPr txBox="1"/>
          <p:nvPr/>
        </p:nvSpPr>
        <p:spPr>
          <a:xfrm>
            <a:off x="7513" y="1698455"/>
            <a:ext cx="6098240" cy="47705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Teacher;</a:t>
            </a:r>
          </a:p>
          <a:p>
            <a:pPr>
              <a:buNone/>
            </a:pP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Student {</a:t>
            </a:r>
          </a:p>
          <a:p>
            <a:pPr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Student(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std::string&amp; name)</a:t>
            </a:r>
          </a:p>
          <a:p>
            <a:pPr>
              <a:buNone/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m_name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(name),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m_teacher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nullptr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{}</a:t>
            </a:r>
          </a:p>
          <a:p>
            <a:pPr>
              <a:buNone/>
            </a:pP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SetTeacher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(Teacher* t) {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m_teacher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t;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buNone/>
            </a:pP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Print()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std::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"Student: "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name</a:t>
            </a:r>
          </a:p>
          <a:p>
            <a:pPr>
              <a:buNone/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  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&lt;&lt; std::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endl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std::string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m_name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Teacher*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m_teacher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ассоциация</a:t>
            </a:r>
            <a:endParaRPr lang="ru-RU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04CFDD3-D723-9756-B33B-5C01EFB70F49}"/>
              </a:ext>
            </a:extLst>
          </p:cNvPr>
          <p:cNvSpPr txBox="1"/>
          <p:nvPr/>
        </p:nvSpPr>
        <p:spPr>
          <a:xfrm>
            <a:off x="6060597" y="1690688"/>
            <a:ext cx="611841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Teacher {</a:t>
            </a:r>
          </a:p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Teacher(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std::string&amp; name)</a:t>
            </a:r>
          </a:p>
          <a:p>
            <a:pPr>
              <a:buNone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m_name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(name) {}</a:t>
            </a:r>
          </a:p>
          <a:p>
            <a:pPr>
              <a:buNone/>
            </a:pP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Print()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std::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"Teacher: 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m_name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            &lt;&lt; std::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endl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std::string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m_name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22467375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3BFE267-D992-4B74-A5FB-7DD145E468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Композиция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ED4DA888-5B7B-417D-8854-E5B11DB984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1216454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14A5E15-5E17-4A6D-9194-572D33F9FD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Композиция (</a:t>
            </a:r>
            <a:r>
              <a:rPr lang="en-US" dirty="0"/>
              <a:t>composition)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3761BE8-4C5F-40DF-8BFA-BB3F4B5C3A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ru-RU" dirty="0"/>
              <a:t>Сильная связь: отношение «часть–целое» с владением (</a:t>
            </a:r>
            <a:r>
              <a:rPr lang="ru-RU" dirty="0" err="1"/>
              <a:t>ownership</a:t>
            </a:r>
            <a:r>
              <a:rPr lang="ru-RU" dirty="0"/>
              <a:t>)</a:t>
            </a:r>
          </a:p>
          <a:p>
            <a:r>
              <a:rPr lang="ru-RU" b="1" dirty="0"/>
              <a:t>Ключевые свойства:</a:t>
            </a:r>
            <a:endParaRPr lang="ru-RU" dirty="0"/>
          </a:p>
          <a:p>
            <a:pPr lvl="1"/>
            <a:r>
              <a:rPr lang="ru-RU" dirty="0"/>
              <a:t>Объект состоит из частей </a:t>
            </a:r>
          </a:p>
          <a:p>
            <a:pPr lvl="1"/>
            <a:r>
              <a:rPr lang="ru-RU" dirty="0"/>
              <a:t>✅ Есть владение (</a:t>
            </a:r>
            <a:r>
              <a:rPr lang="ru-RU" dirty="0" err="1"/>
              <a:t>ownership</a:t>
            </a:r>
            <a:r>
              <a:rPr lang="ru-RU" dirty="0"/>
              <a:t>) </a:t>
            </a:r>
          </a:p>
          <a:p>
            <a:pPr lvl="1"/>
            <a:r>
              <a:rPr lang="ru-RU" dirty="0"/>
              <a:t>Общий жизненный цикл </a:t>
            </a:r>
          </a:p>
          <a:p>
            <a:pPr lvl="1"/>
            <a:r>
              <a:rPr lang="ru-RU" dirty="0"/>
              <a:t>Часть принадлежит только одному объекту </a:t>
            </a:r>
          </a:p>
          <a:p>
            <a:r>
              <a:rPr lang="ru-RU" b="1" dirty="0"/>
              <a:t>Жизненный цикл:</a:t>
            </a:r>
            <a:endParaRPr lang="ru-RU" dirty="0"/>
          </a:p>
          <a:p>
            <a:pPr lvl="1"/>
            <a:r>
              <a:rPr lang="ru-RU" dirty="0"/>
              <a:t>Создаётся вместе с целым </a:t>
            </a:r>
          </a:p>
          <a:p>
            <a:pPr lvl="1"/>
            <a:r>
              <a:rPr lang="ru-RU" dirty="0"/>
              <a:t>Удаляется вместе с целым </a:t>
            </a:r>
          </a:p>
          <a:p>
            <a:r>
              <a:rPr lang="ru-RU" b="1" dirty="0"/>
              <a:t>Особенности:</a:t>
            </a:r>
            <a:endParaRPr lang="ru-RU" dirty="0"/>
          </a:p>
          <a:p>
            <a:pPr lvl="1"/>
            <a:r>
              <a:rPr lang="ru-RU" dirty="0"/>
              <a:t>Часть обычно не знает о целом </a:t>
            </a:r>
          </a:p>
          <a:p>
            <a:pPr lvl="1"/>
            <a:r>
              <a:rPr lang="ru-RU" dirty="0"/>
              <a:t>Нельзя «разделить» часть между объектами </a:t>
            </a:r>
          </a:p>
          <a:p>
            <a:r>
              <a:rPr lang="ru-RU" b="1" dirty="0"/>
              <a:t>Реализация в C++:</a:t>
            </a:r>
            <a:endParaRPr lang="ru-RU" dirty="0"/>
          </a:p>
          <a:p>
            <a:pPr lvl="1"/>
            <a:r>
              <a:rPr lang="ru-RU" dirty="0"/>
              <a:t>поле класса (по значению) 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180980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F7EDF0C-5F6E-4497-A839-4FCA94CDB1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F76F067-A745-4012-8CF4-6EB40B0AB0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553944" cy="4351338"/>
          </a:xfrm>
        </p:spPr>
        <p:txBody>
          <a:bodyPr>
            <a:normAutofit fontScale="92500"/>
          </a:bodyPr>
          <a:lstStyle/>
          <a:p>
            <a:r>
              <a:rPr lang="ru-RU" dirty="0"/>
              <a:t>Точка на плоскости</a:t>
            </a:r>
          </a:p>
          <a:p>
            <a:pPr lvl="1"/>
            <a:r>
              <a:rPr lang="ru-RU" dirty="0"/>
              <a:t>Пара чисел, задающих координаты точки</a:t>
            </a:r>
          </a:p>
          <a:p>
            <a:r>
              <a:rPr lang="ru-RU" dirty="0"/>
              <a:t>Окружность</a:t>
            </a:r>
          </a:p>
          <a:p>
            <a:pPr lvl="1"/>
            <a:r>
              <a:rPr lang="ru-RU" dirty="0"/>
              <a:t>Точка (центр) и число (радиус)</a:t>
            </a:r>
          </a:p>
          <a:p>
            <a:r>
              <a:rPr lang="ru-RU" dirty="0"/>
              <a:t>Класс комплексных чисел</a:t>
            </a:r>
          </a:p>
          <a:p>
            <a:pPr lvl="1"/>
            <a:r>
              <a:rPr lang="ru-RU" dirty="0"/>
              <a:t>Действительная и мнимая часть</a:t>
            </a:r>
            <a:endParaRPr lang="en-US" dirty="0"/>
          </a:p>
          <a:p>
            <a:r>
              <a:rPr lang="ru-RU" dirty="0"/>
              <a:t>Класс рациональных чисел</a:t>
            </a:r>
          </a:p>
          <a:p>
            <a:pPr lvl="1"/>
            <a:r>
              <a:rPr lang="ru-RU" dirty="0"/>
              <a:t>Пара целых чисел - числитель и знаменатель</a:t>
            </a:r>
          </a:p>
          <a:p>
            <a:r>
              <a:rPr lang="ru-RU" dirty="0"/>
              <a:t>Многоугольник</a:t>
            </a:r>
          </a:p>
          <a:p>
            <a:pPr lvl="1"/>
            <a:r>
              <a:rPr lang="ru-RU" dirty="0"/>
              <a:t>Координаты вершин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104880E-E7E2-4F8C-80D3-DB6BEC83767B}"/>
              </a:ext>
            </a:extLst>
          </p:cNvPr>
          <p:cNvSpPr txBox="1"/>
          <p:nvPr/>
        </p:nvSpPr>
        <p:spPr>
          <a:xfrm>
            <a:off x="7536160" y="548680"/>
            <a:ext cx="4557119" cy="61863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Point {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x, y;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Circle {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Point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m_center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m_radius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Complex {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real;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im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Rational {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m_numerator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m_denominator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Polygon {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std::vector&lt;Point&gt;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m_vertices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8868575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F94B3B5A-2F67-4AD6-8D6A-85F8682DBA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CD436B7-0125-4F27-AD64-3E0F0CC7E1D0}"/>
              </a:ext>
            </a:extLst>
          </p:cNvPr>
          <p:cNvSpPr txBox="1"/>
          <p:nvPr/>
        </p:nvSpPr>
        <p:spPr>
          <a:xfrm>
            <a:off x="983432" y="1690688"/>
            <a:ext cx="9401339" cy="47705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lang="ru-RU" sz="1600" dirty="0">
                <a:solidFill>
                  <a:srgbClr val="008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 Книга - пример композиции экземпляров </a:t>
            </a:r>
            <a:r>
              <a:rPr lang="ru-RU" sz="1600" dirty="0" err="1">
                <a:solidFill>
                  <a:srgbClr val="008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string</a:t>
            </a:r>
            <a:r>
              <a:rPr lang="ru-RU" sz="1600" dirty="0">
                <a:solidFill>
                  <a:srgbClr val="008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и </a:t>
            </a:r>
            <a:r>
              <a:rPr lang="ru-RU" sz="1600" dirty="0" err="1">
                <a:solidFill>
                  <a:srgbClr val="008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int</a:t>
            </a:r>
            <a:r>
              <a:rPr lang="ru-RU" sz="1600" dirty="0">
                <a:solidFill>
                  <a:srgbClr val="008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.</a:t>
            </a:r>
            <a:endParaRPr lang="ru-RU" sz="1600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class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2B91A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Book</a:t>
            </a:r>
            <a:endParaRPr lang="ru-RU" sz="1600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{</a:t>
            </a:r>
            <a:endParaRPr lang="ru-RU" sz="1600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... </a:t>
            </a:r>
            <a:endParaRPr lang="ru-RU" sz="1600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private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: </a:t>
            </a:r>
            <a:endParaRPr lang="ru-RU" sz="1600" dirty="0">
              <a:solidFill>
                <a:srgbClr val="000000"/>
              </a:solidFill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pPr>
              <a:spcAft>
                <a:spcPts val="0"/>
              </a:spcAft>
            </a:pPr>
            <a:r>
              <a:rPr lang="ru-RU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string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m_title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sz="1600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ru-RU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ru-RU" sz="160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string</a:t>
            </a:r>
            <a:r>
              <a:rPr lang="ru-RU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m_</a:t>
            </a:r>
            <a:r>
              <a:rPr lang="ru-RU" sz="160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author</a:t>
            </a:r>
            <a:r>
              <a:rPr lang="ru-RU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sz="1600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ru-RU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ru-RU" sz="160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string</a:t>
            </a:r>
            <a:r>
              <a:rPr lang="ru-RU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m_</a:t>
            </a:r>
            <a:r>
              <a:rPr lang="ru-RU" sz="160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isbn</a:t>
            </a:r>
            <a:r>
              <a:rPr lang="ru-RU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 </a:t>
            </a:r>
            <a:r>
              <a:rPr lang="ru-RU" sz="1600" dirty="0">
                <a:solidFill>
                  <a:srgbClr val="008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 ISBN - уникальный номер книжного издания</a:t>
            </a:r>
            <a:endParaRPr lang="ru-RU" sz="1600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ru-RU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m_publicationYear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 </a:t>
            </a:r>
            <a:r>
              <a:rPr lang="en-US" sz="1600" dirty="0">
                <a:solidFill>
                  <a:srgbClr val="008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 </a:t>
            </a:r>
            <a:r>
              <a:rPr lang="ru-RU" sz="1600" dirty="0">
                <a:solidFill>
                  <a:srgbClr val="008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Год публикации</a:t>
            </a:r>
            <a:endParaRPr lang="ru-RU" sz="1600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};</a:t>
            </a:r>
            <a:endParaRPr lang="ru-RU" sz="1600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 </a:t>
            </a:r>
            <a:endParaRPr lang="ru-RU" sz="1600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ru-RU" sz="1600" dirty="0">
                <a:solidFill>
                  <a:srgbClr val="008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 Человек - ещё один пример композиции экземпляров </a:t>
            </a:r>
            <a:r>
              <a:rPr lang="ru-RU" sz="1600" dirty="0" err="1">
                <a:solidFill>
                  <a:srgbClr val="008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string</a:t>
            </a:r>
            <a:r>
              <a:rPr lang="ru-RU" sz="1600" dirty="0">
                <a:solidFill>
                  <a:srgbClr val="008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и </a:t>
            </a:r>
            <a:r>
              <a:rPr lang="ru-RU" sz="1600" dirty="0" err="1">
                <a:solidFill>
                  <a:srgbClr val="008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int</a:t>
            </a:r>
            <a:endParaRPr lang="ru-RU" sz="1600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class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2B91A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Person</a:t>
            </a:r>
            <a:endParaRPr lang="ru-RU" sz="1600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{</a:t>
            </a:r>
            <a:endParaRPr lang="ru-RU" sz="1600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private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:</a:t>
            </a:r>
            <a:endParaRPr lang="ru-RU" sz="1600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string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m_name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sz="1600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string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m_address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sz="1600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m_birthYear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sz="1600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ru-RU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};</a:t>
            </a:r>
            <a:endParaRPr lang="ru-RU" sz="1600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788386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D165B14-FC91-47B1-B3C2-C2A9861DA8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Обозначение композиции на диаграммах классов</a:t>
            </a:r>
          </a:p>
        </p:txBody>
      </p:sp>
      <p:pic>
        <p:nvPicPr>
          <p:cNvPr id="4" name="Рисунок 3" descr="Изображение выглядит как текст&#10;&#10;Автоматически созданное описание">
            <a:extLst>
              <a:ext uri="{FF2B5EF4-FFF2-40B4-BE49-F238E27FC236}">
                <a16:creationId xmlns:a16="http://schemas.microsoft.com/office/drawing/2014/main" id="{B22C2DE6-3098-45BB-BF6F-A5F58DCB115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23592" y="2143262"/>
            <a:ext cx="7080076" cy="4370863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3421196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A449526-14E0-4BFD-9026-B7A21C8EE5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Сокрытие данных при композиции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0653B2E1-2FAF-4320-9BCB-07C07690392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470720" y="2132856"/>
            <a:ext cx="7020780" cy="432048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9649972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DFA4413-24DE-4ED2-B703-609DAF7FCB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Агрегация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C8A4E74-53CF-43B7-8A16-81BF6EC552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8867021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65C44A9F-0763-4613-B91E-356B14A03D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Агрегация (</a:t>
            </a:r>
            <a:r>
              <a:rPr lang="en-US" dirty="0"/>
              <a:t>Aggregation)</a:t>
            </a:r>
            <a:endParaRPr lang="ru-RU" dirty="0"/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id="{7367FF40-2062-4098-8E11-68A66F3FAE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ru-RU" dirty="0"/>
              <a:t>Связь «Часть – Целое» без полного владения</a:t>
            </a:r>
          </a:p>
          <a:p>
            <a:r>
              <a:rPr lang="ru-RU" b="1" dirty="0"/>
              <a:t>Ключевые свойства:</a:t>
            </a:r>
            <a:endParaRPr lang="ru-RU" dirty="0"/>
          </a:p>
          <a:p>
            <a:pPr lvl="1"/>
            <a:r>
              <a:rPr lang="ru-RU" dirty="0"/>
              <a:t>Часть входит в состав целого </a:t>
            </a:r>
          </a:p>
          <a:p>
            <a:pPr lvl="1"/>
            <a:r>
              <a:rPr lang="ru-RU" dirty="0"/>
              <a:t>Нет полного владения </a:t>
            </a:r>
          </a:p>
          <a:p>
            <a:pPr lvl="1"/>
            <a:r>
              <a:rPr lang="ru-RU" dirty="0"/>
              <a:t>Независимые жизненные циклы </a:t>
            </a:r>
          </a:p>
          <a:p>
            <a:pPr lvl="1"/>
            <a:r>
              <a:rPr lang="ru-RU" dirty="0"/>
              <a:t>Часть может принадлежать нескольким объектам </a:t>
            </a:r>
          </a:p>
          <a:p>
            <a:r>
              <a:rPr lang="ru-RU" b="1" dirty="0"/>
              <a:t>Поведение:</a:t>
            </a:r>
            <a:endParaRPr lang="ru-RU" dirty="0"/>
          </a:p>
          <a:p>
            <a:pPr lvl="1"/>
            <a:r>
              <a:rPr lang="ru-RU" dirty="0"/>
              <a:t>Удаление целого не удаляет часть </a:t>
            </a:r>
          </a:p>
          <a:p>
            <a:pPr lvl="1"/>
            <a:r>
              <a:rPr lang="ru-RU" dirty="0"/>
              <a:t>Часть существует отдельно </a:t>
            </a:r>
          </a:p>
          <a:p>
            <a:pPr lvl="1"/>
            <a:r>
              <a:rPr lang="ru-RU" dirty="0"/>
              <a:t>Часть не знает о целом </a:t>
            </a:r>
          </a:p>
          <a:p>
            <a:r>
              <a:rPr lang="ru-RU" b="1" dirty="0"/>
              <a:t>Ограничение:</a:t>
            </a:r>
            <a:endParaRPr lang="ru-RU" dirty="0"/>
          </a:p>
          <a:p>
            <a:pPr lvl="1"/>
            <a:r>
              <a:rPr lang="ru-RU" dirty="0"/>
              <a:t>Нет циклов (объект не может содержать сам себя) </a:t>
            </a:r>
          </a:p>
          <a:p>
            <a:r>
              <a:rPr lang="ru-RU" b="1" dirty="0"/>
              <a:t>Реализация в C++:</a:t>
            </a:r>
            <a:endParaRPr lang="ru-RU" dirty="0"/>
          </a:p>
          <a:p>
            <a:pPr lvl="1"/>
            <a:r>
              <a:rPr lang="ru-RU" dirty="0"/>
              <a:t>указатели (*) </a:t>
            </a:r>
          </a:p>
          <a:p>
            <a:pPr lvl="1"/>
            <a:r>
              <a:rPr lang="ru-RU" dirty="0"/>
              <a:t>ссылки (&amp;) </a:t>
            </a:r>
          </a:p>
          <a:p>
            <a:pPr lvl="1"/>
            <a:r>
              <a:rPr lang="en-US" dirty="0" err="1"/>
              <a:t>shared_ptr</a:t>
            </a:r>
            <a:endParaRPr lang="ru-RU" dirty="0"/>
          </a:p>
          <a:p>
            <a:pPr lvl="1"/>
            <a:r>
              <a:rPr lang="ru-RU" dirty="0"/>
              <a:t>объекты создаются вне класса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2486824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4CD310B-2E72-4973-98EC-91C6CE71D8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 агрегации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E09ED54-3DB7-DEAD-562E-FFD1CF1D8EFC}"/>
              </a:ext>
            </a:extLst>
          </p:cNvPr>
          <p:cNvSpPr txBox="1"/>
          <p:nvPr/>
        </p:nvSpPr>
        <p:spPr>
          <a:xfrm>
            <a:off x="868252" y="1916832"/>
            <a:ext cx="10730408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TV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…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pPr>
              <a:buNone/>
            </a:pPr>
            <a:endParaRPr lang="en-US" b="0" dirty="0">
              <a:solidFill>
                <a:srgbClr val="0000FF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endParaRPr lang="en-US" dirty="0">
              <a:solidFill>
                <a:srgbClr val="0000FF"/>
              </a:solidFill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RemoteControl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RemoteControl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TVSe</a:t>
            </a:r>
            <a:r>
              <a:rPr lang="en-US" dirty="0" err="1">
                <a:solidFill>
                  <a:srgbClr val="2B91AF"/>
                </a:solidFill>
                <a:latin typeface="Consolas" panose="020B0609020204030204" pitchFamily="49" charset="0"/>
              </a:rPr>
              <a:t>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&amp;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tv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std::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istream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input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std::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ostream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output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…</a:t>
            </a:r>
          </a:p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private: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TVSet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m_tv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std::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istream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m_input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std::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ostream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m_output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39419562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73E1AC1-1020-4294-A077-007A71C780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Агрегация и делегирование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CA871CF4-AACF-395E-5682-5A4F4F5F35D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702933" y="1841512"/>
            <a:ext cx="8786134" cy="5027358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74261939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132D142-1727-46E9-802D-5C11B0B03F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Агрегация и делегирование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D717AC3E-2C14-4F44-866D-6B0A5CE0B4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1656716" y="2003232"/>
            <a:ext cx="8878568" cy="48565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53754454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6A3ED60-46B9-4A37-B70A-5752E1E19E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Зависимость (</a:t>
            </a:r>
            <a:r>
              <a:rPr lang="en-US" dirty="0"/>
              <a:t>Dependency)</a:t>
            </a:r>
            <a:endParaRPr lang="ru-RU" dirty="0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AC5D6E4-B347-4185-B6F6-AB7F13C142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57133191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F6B10609-342F-4D6F-BA8A-7D410D91A0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Зависимость </a:t>
            </a:r>
            <a:r>
              <a:rPr lang="en-US" dirty="0"/>
              <a:t>(Dependency)</a:t>
            </a:r>
            <a:endParaRPr lang="ru-RU" dirty="0"/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id="{602CA5C1-4842-495A-B15F-9560F1308E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ru-RU" dirty="0"/>
              <a:t>Слабая кратковременная связь «клиент–поставщик»</a:t>
            </a:r>
          </a:p>
          <a:p>
            <a:r>
              <a:rPr lang="ru-RU" b="1" dirty="0"/>
              <a:t>Суть:</a:t>
            </a:r>
            <a:endParaRPr lang="ru-RU" dirty="0"/>
          </a:p>
          <a:p>
            <a:pPr lvl="1"/>
            <a:r>
              <a:rPr lang="ru-RU" dirty="0"/>
              <a:t>Клиент использует Поставщика </a:t>
            </a:r>
          </a:p>
          <a:p>
            <a:pPr lvl="1"/>
            <a:r>
              <a:rPr lang="ru-RU" dirty="0"/>
              <a:t>Нет хранения ссылки/указателя </a:t>
            </a:r>
          </a:p>
          <a:p>
            <a:pPr lvl="1"/>
            <a:r>
              <a:rPr lang="ru-RU" dirty="0"/>
              <a:t>Связь возникает только во время вызова метода </a:t>
            </a:r>
          </a:p>
          <a:p>
            <a:r>
              <a:rPr lang="ru-RU" b="1" dirty="0"/>
              <a:t>Когда возникает:</a:t>
            </a:r>
            <a:endParaRPr lang="ru-RU" dirty="0"/>
          </a:p>
          <a:p>
            <a:pPr lvl="1"/>
            <a:r>
              <a:rPr lang="ru-RU" dirty="0"/>
              <a:t>объект создаётся внутри метода </a:t>
            </a:r>
          </a:p>
          <a:p>
            <a:pPr lvl="1"/>
            <a:r>
              <a:rPr lang="ru-RU" dirty="0"/>
              <a:t>объект передаётся в метод (параметр) </a:t>
            </a:r>
          </a:p>
          <a:p>
            <a:pPr lvl="1"/>
            <a:r>
              <a:rPr lang="ru-RU" dirty="0"/>
              <a:t>объект возвращается из метода </a:t>
            </a:r>
          </a:p>
          <a:p>
            <a:r>
              <a:rPr lang="ru-RU" b="1" dirty="0"/>
              <a:t>Особенности:</a:t>
            </a:r>
            <a:endParaRPr lang="ru-RU" dirty="0"/>
          </a:p>
          <a:p>
            <a:pPr lvl="1"/>
            <a:r>
              <a:rPr lang="ru-RU" dirty="0"/>
              <a:t>Поставщик не знает о Клиенте </a:t>
            </a:r>
          </a:p>
          <a:p>
            <a:pPr lvl="1"/>
            <a:r>
              <a:rPr lang="ru-RU" dirty="0"/>
              <a:t>Изменения в Поставщике могут влиять на Клиента </a:t>
            </a:r>
          </a:p>
          <a:p>
            <a:pPr lvl="1"/>
            <a:r>
              <a:rPr lang="ru-RU" dirty="0"/>
              <a:t>Самая слабая форма связи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4004798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053BA4E5-A729-4593-BC5C-A364B445904D}"/>
              </a:ext>
            </a:extLst>
          </p:cNvPr>
          <p:cNvSpPr txBox="1"/>
          <p:nvPr/>
        </p:nvSpPr>
        <p:spPr>
          <a:xfrm>
            <a:off x="839548" y="1497751"/>
            <a:ext cx="9682485" cy="5262979"/>
          </a:xfrm>
          <a:prstGeom prst="rect">
            <a:avLst/>
          </a:prstGeom>
          <a:noFill/>
        </p:spPr>
        <p:txBody>
          <a:bodyPr wrap="square" numCol="1">
            <a:spAutoFit/>
          </a:bodyPr>
          <a:lstStyle/>
          <a:p>
            <a:pPr>
              <a:spcAft>
                <a:spcPts val="0"/>
              </a:spcAft>
            </a:pPr>
            <a:r>
              <a:rPr lang="ru-RU" sz="1600" dirty="0" err="1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class</a:t>
            </a:r>
            <a:r>
              <a:rPr lang="ru-RU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ru-RU" sz="1600" dirty="0" err="1">
                <a:solidFill>
                  <a:srgbClr val="2B91A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Supplier</a:t>
            </a:r>
            <a:endParaRPr lang="ru-RU" sz="1600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ru-RU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{</a:t>
            </a:r>
            <a:endParaRPr lang="ru-RU" sz="1600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ru-RU" sz="1600" dirty="0" err="1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public</a:t>
            </a:r>
            <a:r>
              <a:rPr lang="ru-RU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:</a:t>
            </a:r>
            <a:endParaRPr lang="ru-RU" sz="1600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ru-RU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ru-RU" sz="1600" dirty="0" err="1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void</a:t>
            </a:r>
            <a:r>
              <a:rPr lang="ru-RU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ru-RU" sz="160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DoSomething</a:t>
            </a:r>
            <a:r>
              <a:rPr lang="ru-RU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();</a:t>
            </a:r>
            <a:endParaRPr lang="ru-RU" sz="1600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ru-RU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};</a:t>
            </a:r>
          </a:p>
          <a:p>
            <a:pPr>
              <a:spcAft>
                <a:spcPts val="0"/>
              </a:spcAft>
            </a:pPr>
            <a:endParaRPr lang="ru-RU" sz="1600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ru-RU" sz="1600" dirty="0" err="1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class</a:t>
            </a:r>
            <a:r>
              <a:rPr lang="ru-RU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ru-RU" sz="1600" dirty="0" err="1">
                <a:solidFill>
                  <a:srgbClr val="2B91A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Client</a:t>
            </a:r>
            <a:endParaRPr lang="ru-RU" sz="1600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ru-RU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{</a:t>
            </a:r>
            <a:endParaRPr lang="ru-RU" sz="1600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ru-RU" sz="1600" dirty="0" err="1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public</a:t>
            </a:r>
            <a:r>
              <a:rPr lang="ru-RU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:</a:t>
            </a:r>
            <a:endParaRPr lang="ru-RU" sz="1600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void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DependentMethod</a:t>
            </a:r>
            <a:r>
              <a:rPr lang="ru-RU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1(</a:t>
            </a:r>
            <a:r>
              <a:rPr lang="en-US" sz="1600" b="1" dirty="0">
                <a:solidFill>
                  <a:srgbClr val="2B91A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Supplier</a:t>
            </a:r>
            <a:r>
              <a:rPr lang="ru-RU" sz="1600" b="1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&amp; </a:t>
            </a:r>
            <a:r>
              <a:rPr lang="en-US" sz="1600" b="1" dirty="0">
                <a:solidFill>
                  <a:srgbClr val="8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supplier</a:t>
            </a:r>
            <a:r>
              <a:rPr lang="ru-RU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ru-RU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{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600" b="1" dirty="0">
                <a:solidFill>
                  <a:srgbClr val="8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supplier</a:t>
            </a:r>
            <a:r>
              <a:rPr lang="ru-RU" sz="1600" b="1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.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DoSomething</a:t>
            </a:r>
            <a:r>
              <a:rPr lang="ru-RU" sz="1600" b="1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(); </a:t>
            </a:r>
            <a:r>
              <a:rPr lang="ru-RU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}</a:t>
            </a:r>
            <a:endParaRPr lang="ru-RU" sz="1600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ru-RU" sz="16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void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DependentMethod2()</a:t>
            </a:r>
            <a:endParaRPr lang="ru-RU" sz="1600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{</a:t>
            </a:r>
            <a:endParaRPr lang="ru-RU" sz="1600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</a:t>
            </a:r>
            <a:r>
              <a:rPr lang="en-US" sz="1600" b="1" dirty="0">
                <a:solidFill>
                  <a:srgbClr val="2B91A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Supplier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600" b="1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supplier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sz="1600" b="1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</a:t>
            </a:r>
            <a:r>
              <a:rPr lang="en-US" sz="1600" b="1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supplier.DoSomething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();</a:t>
            </a:r>
            <a:endParaRPr lang="ru-RU" sz="1600" b="1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ru-RU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}</a:t>
            </a:r>
            <a:endParaRPr lang="ru-RU" sz="1600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sz="1600" dirty="0">
                <a:solidFill>
                  <a:srgbClr val="2B91A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ru-RU" sz="1600" b="1" dirty="0" err="1">
                <a:solidFill>
                  <a:srgbClr val="2B91A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Supplier</a:t>
            </a:r>
            <a:r>
              <a:rPr lang="ru-RU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DependentMethod3()</a:t>
            </a:r>
            <a:r>
              <a:rPr lang="en-US" sz="16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{ </a:t>
            </a:r>
            <a:r>
              <a:rPr lang="ru-RU" sz="1600" b="1" dirty="0" err="1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return</a:t>
            </a:r>
            <a:r>
              <a:rPr lang="ru-RU" sz="1600" b="1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ru-RU" sz="1600" b="1" dirty="0" err="1">
                <a:solidFill>
                  <a:srgbClr val="2B91A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Supplier</a:t>
            </a:r>
            <a:r>
              <a:rPr lang="ru-RU" sz="1600" b="1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{};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ru-RU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}</a:t>
            </a:r>
            <a:endParaRPr lang="en-US" sz="1600" dirty="0">
              <a:solidFill>
                <a:srgbClr val="0000FF"/>
              </a:solidFill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pPr>
              <a:spcAft>
                <a:spcPts val="0"/>
              </a:spcAft>
            </a:pP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void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IndependentMethod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()</a:t>
            </a:r>
            <a:endParaRPr lang="ru-RU" sz="1600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{</a:t>
            </a:r>
            <a:endParaRPr lang="ru-RU" sz="1600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cout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&lt;&lt; </a:t>
            </a:r>
            <a:r>
              <a:rPr lang="en-US" sz="1600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</a:t>
            </a:r>
            <a:r>
              <a:rPr lang="en-US" sz="1600" dirty="0" err="1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Hello"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&lt;&lt;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endl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sz="1600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ru-RU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}</a:t>
            </a:r>
            <a:endParaRPr lang="ru-RU" sz="1600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ru-RU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};</a:t>
            </a:r>
            <a:endParaRPr lang="ru-RU" sz="1600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" name="Заголовок 7">
            <a:extLst>
              <a:ext uri="{FF2B5EF4-FFF2-40B4-BE49-F238E27FC236}">
                <a16:creationId xmlns:a16="http://schemas.microsoft.com/office/drawing/2014/main" id="{E1B1CBAD-0E16-4617-82CD-F2695C0379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88710571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33BF43C6-9B95-4028-882B-1165568B76B9}"/>
              </a:ext>
            </a:extLst>
          </p:cNvPr>
          <p:cNvSpPr txBox="1"/>
          <p:nvPr/>
        </p:nvSpPr>
        <p:spPr>
          <a:xfrm>
            <a:off x="1415480" y="58847"/>
            <a:ext cx="7704856" cy="64940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lang="ru-RU" sz="1600" dirty="0" err="1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class</a:t>
            </a:r>
            <a:r>
              <a:rPr lang="ru-RU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ru-RU" sz="1600" dirty="0" err="1">
                <a:solidFill>
                  <a:srgbClr val="2B91A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Document</a:t>
            </a:r>
            <a:endParaRPr lang="ru-RU" sz="1600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ru-RU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{</a:t>
            </a:r>
            <a:endParaRPr lang="ru-RU" sz="1600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ru-RU" sz="1600" dirty="0" err="1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public</a:t>
            </a:r>
            <a:r>
              <a:rPr lang="ru-RU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:</a:t>
            </a:r>
            <a:endParaRPr lang="ru-RU" sz="1600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ru-RU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ru-RU" sz="1600" dirty="0">
                <a:solidFill>
                  <a:srgbClr val="008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 </a:t>
            </a:r>
            <a:r>
              <a:rPr lang="ru-RU" sz="1600" dirty="0" err="1">
                <a:solidFill>
                  <a:srgbClr val="008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output</a:t>
            </a:r>
            <a:r>
              <a:rPr lang="ru-RU" sz="1600" dirty="0">
                <a:solidFill>
                  <a:srgbClr val="008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используется только для записи документа</a:t>
            </a:r>
            <a:endParaRPr lang="ru-RU" sz="1600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ru-RU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void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SaveToStream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ostream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&amp; </a:t>
            </a:r>
            <a:r>
              <a:rPr lang="en-US" sz="1600" b="1" dirty="0">
                <a:solidFill>
                  <a:srgbClr val="8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output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const</a:t>
            </a:r>
            <a:r>
              <a:rPr lang="ru-RU" sz="16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{</a:t>
            </a:r>
            <a:endParaRPr lang="ru-RU" sz="1600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</a:t>
            </a:r>
            <a:r>
              <a:rPr lang="en-US" sz="1600" b="1" dirty="0">
                <a:solidFill>
                  <a:srgbClr val="8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output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&lt;&lt;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m_title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&lt;&lt; std::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endl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&lt;&lt;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m_text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&lt;&lt; std::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endl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sz="1600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ru-RU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}</a:t>
            </a:r>
          </a:p>
          <a:p>
            <a:pPr>
              <a:spcAft>
                <a:spcPts val="0"/>
              </a:spcAft>
            </a:pPr>
            <a:endParaRPr lang="ru-RU" sz="1600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ru-RU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ru-RU" sz="1600" dirty="0">
                <a:solidFill>
                  <a:srgbClr val="008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 </a:t>
            </a:r>
            <a:r>
              <a:rPr lang="ru-RU" sz="1600" dirty="0" err="1">
                <a:solidFill>
                  <a:srgbClr val="008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input</a:t>
            </a:r>
            <a:r>
              <a:rPr lang="ru-RU" sz="1600" dirty="0">
                <a:solidFill>
                  <a:srgbClr val="008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используется только для чтения документа</a:t>
            </a:r>
            <a:endParaRPr lang="ru-RU" sz="1600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ru-RU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void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LoadFromStream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istream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&amp; </a:t>
            </a:r>
            <a:r>
              <a:rPr lang="en-US" sz="1600" b="1" dirty="0">
                <a:solidFill>
                  <a:srgbClr val="8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input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</a:t>
            </a:r>
            <a:r>
              <a:rPr lang="ru-RU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{</a:t>
            </a:r>
            <a:endParaRPr lang="ru-RU" sz="1600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std::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getline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lang="en-US" sz="1600" b="1" dirty="0">
                <a:solidFill>
                  <a:srgbClr val="8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input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,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m_title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);</a:t>
            </a:r>
          </a:p>
          <a:p>
            <a:pPr>
              <a:spcAft>
                <a:spcPts val="0"/>
              </a:spcAft>
            </a:pPr>
            <a:endParaRPr lang="ru-RU" sz="1600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m_text.clear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();</a:t>
            </a:r>
            <a:endParaRPr lang="ru-RU" sz="1600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std::string line;</a:t>
            </a:r>
            <a:endParaRPr lang="ru-RU" sz="1600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while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(std::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getline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lang="en-US" sz="1600" b="1" dirty="0">
                <a:solidFill>
                  <a:srgbClr val="8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input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, line)) </a:t>
            </a:r>
            <a:r>
              <a:rPr lang="ru-RU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{</a:t>
            </a:r>
            <a:endParaRPr lang="ru-RU" sz="1600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ru-RU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</a:t>
            </a:r>
            <a:r>
              <a:rPr lang="ru-RU" sz="1600" dirty="0" err="1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if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ru-RU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m_</a:t>
            </a:r>
            <a:r>
              <a:rPr lang="ru-RU" sz="160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text.empty</a:t>
            </a:r>
            <a:r>
              <a:rPr lang="ru-RU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())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ru-RU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{</a:t>
            </a:r>
            <a:endParaRPr lang="ru-RU" sz="1600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ru-RU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m_</a:t>
            </a:r>
            <a:r>
              <a:rPr lang="ru-RU" sz="160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text</a:t>
            </a:r>
            <a:r>
              <a:rPr lang="ru-RU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+= </a:t>
            </a:r>
            <a:r>
              <a:rPr lang="ru-RU" sz="1600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'\n'</a:t>
            </a:r>
            <a:r>
              <a:rPr lang="ru-RU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sz="1600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ru-RU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}</a:t>
            </a:r>
            <a:endParaRPr lang="ru-RU" sz="1600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m_text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+= line;</a:t>
            </a:r>
            <a:endParaRPr lang="ru-RU" sz="1600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}</a:t>
            </a:r>
            <a:endParaRPr lang="ru-RU" sz="1600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}</a:t>
            </a:r>
          </a:p>
          <a:p>
            <a:pPr>
              <a:spcAft>
                <a:spcPts val="0"/>
              </a:spcAft>
            </a:pPr>
            <a:endParaRPr lang="ru-RU" sz="1600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private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:</a:t>
            </a:r>
            <a:endParaRPr lang="ru-RU" sz="1600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std::string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m_title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sz="1600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std::</a:t>
            </a:r>
            <a:r>
              <a:rPr lang="ru-RU" sz="160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string</a:t>
            </a:r>
            <a:r>
              <a:rPr lang="ru-RU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m_</a:t>
            </a:r>
            <a:r>
              <a:rPr lang="ru-RU" sz="160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text</a:t>
            </a:r>
            <a:r>
              <a:rPr lang="ru-RU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sz="1600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ru-RU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};</a:t>
            </a:r>
            <a:endParaRPr lang="ru-RU" sz="1600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1847117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6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6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6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6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6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6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 descr="Изображение выглядит как текст&#10;&#10;Автоматически созданное описание">
            <a:extLst>
              <a:ext uri="{FF2B5EF4-FFF2-40B4-BE49-F238E27FC236}">
                <a16:creationId xmlns:a16="http://schemas.microsoft.com/office/drawing/2014/main" id="{BA670F6D-AA93-4847-B11C-B1FD5042CAE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6862" y="1772817"/>
            <a:ext cx="7778276" cy="3711388"/>
          </a:xfrm>
          <a:prstGeom prst="rect">
            <a:avLst/>
          </a:prstGeom>
        </p:spPr>
      </p:pic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DF2AFD21-51D0-42B2-A0D5-D8E2BA6F90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Обозначение зависимости на диаграммах классов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C3FA3E94-BB74-4F46-AA91-DE7D08A6D2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67608" y="5566334"/>
            <a:ext cx="6724390" cy="10200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3549857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87B3CCF-CE61-427C-AAF4-82B5C96764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Транзитивность зависимостей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3A04AB77-04FD-495C-B5C4-F0A58A2A95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4227" y="2708920"/>
            <a:ext cx="8243546" cy="12260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97700671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CE8DAB6-4772-450D-8ECC-CEE2E6529E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Итоги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CE9D771-8627-4D30-B65A-F280BC027B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8731616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AF3E383-4A76-4B92-BBFB-A505521E47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Композиция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5E718F9-BF89-439D-9E04-4AD7E170E5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35480"/>
            <a:ext cx="10515600" cy="2645648"/>
          </a:xfrm>
        </p:spPr>
        <p:txBody>
          <a:bodyPr>
            <a:normAutofit/>
          </a:bodyPr>
          <a:lstStyle/>
          <a:p>
            <a:r>
              <a:rPr lang="ru-RU" dirty="0"/>
              <a:t>При композиции Целое единолично владеет содержащейся в нём Частью</a:t>
            </a:r>
          </a:p>
          <a:p>
            <a:r>
              <a:rPr lang="ru-RU" dirty="0"/>
              <a:t>Как правило, Целое не отдаёт наружу ссылки на свои Части</a:t>
            </a:r>
          </a:p>
          <a:p>
            <a:r>
              <a:rPr lang="ru-RU" dirty="0"/>
              <a:t>Композиция обозначается стрелкой с закрашенным ромбиком.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C1ECDB6F-D2E7-4C54-AFCF-05C66930C60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140983" y="4284321"/>
            <a:ext cx="7910034" cy="2097008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20618207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6AE12DF-D882-4E0C-8C8F-3CC63F46F7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Агрегация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A098149-C42D-4A71-BF4F-824FD5CD8F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35480"/>
            <a:ext cx="10730408" cy="2213600"/>
          </a:xfrm>
        </p:spPr>
        <p:txBody>
          <a:bodyPr>
            <a:normAutofit lnSpcReduction="10000"/>
          </a:bodyPr>
          <a:lstStyle/>
          <a:p>
            <a:r>
              <a:rPr lang="ru-RU" dirty="0"/>
              <a:t>При агрегации Целое пользуется Частью совместно с другими объектами и не владеет им единолично</a:t>
            </a:r>
          </a:p>
          <a:p>
            <a:r>
              <a:rPr lang="ru-RU" dirty="0"/>
              <a:t>Состояние Части может измениться из-за обращения к ней других объектов</a:t>
            </a:r>
          </a:p>
          <a:p>
            <a:r>
              <a:rPr lang="ru-RU" dirty="0"/>
              <a:t>Агрегация обозначается стрелкой с </a:t>
            </a:r>
            <a:r>
              <a:rPr lang="ru-RU" dirty="0" err="1"/>
              <a:t>незакрашенным</a:t>
            </a:r>
            <a:r>
              <a:rPr lang="ru-RU" dirty="0"/>
              <a:t> ромбиком.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27FC2E4B-0220-4891-9683-8EAE9661D2A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794641" y="4380461"/>
            <a:ext cx="6602717" cy="2372234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82265009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DB1B391-9EE9-86D9-4B8D-049976D51B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Различие между композицией и агрегацией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BC91039-A383-BDEE-11AD-4E689F2416A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ru-RU" dirty="0"/>
              <a:t>При композиции время жизни Части ограничено временем жизни Целого</a:t>
            </a:r>
          </a:p>
          <a:p>
            <a:r>
              <a:rPr lang="ru-RU" dirty="0"/>
              <a:t>При агрегации Часть и Целое живут независимо</a:t>
            </a:r>
            <a:endParaRPr lang="en-US" dirty="0"/>
          </a:p>
        </p:txBody>
      </p:sp>
      <p:pic>
        <p:nvPicPr>
          <p:cNvPr id="2052" name="Picture 4">
            <a:extLst>
              <a:ext uri="{FF2B5EF4-FFF2-40B4-BE49-F238E27FC236}">
                <a16:creationId xmlns:a16="http://schemas.microsoft.com/office/drawing/2014/main" id="{1AEA068B-2BFA-B7C7-DC08-DFB89145F176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2200" y="2769394"/>
            <a:ext cx="5181600" cy="2463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5215565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60CBEE5-A4C3-4062-9ED1-190E755733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Зависимость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DBCC30E-6F92-4490-8D6D-4B1EB22BA4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395463"/>
          </a:xfrm>
        </p:spPr>
        <p:txBody>
          <a:bodyPr/>
          <a:lstStyle/>
          <a:p>
            <a:r>
              <a:rPr lang="ru-RU" dirty="0"/>
              <a:t>Зависимость задаёт отношение вида «‎Клиент-Поставщик»‎.</a:t>
            </a:r>
          </a:p>
          <a:p>
            <a:r>
              <a:rPr lang="ru-RU" dirty="0"/>
              <a:t>Клиент использует переданного ему Поставщика, но не сохраняет ссылку на него в своих полях</a:t>
            </a:r>
          </a:p>
          <a:p>
            <a:pPr lvl="1"/>
            <a:r>
              <a:rPr lang="ru-RU"/>
              <a:t>Либо создаёт  </a:t>
            </a:r>
            <a:endParaRPr lang="ru-RU" dirty="0"/>
          </a:p>
          <a:p>
            <a:r>
              <a:rPr lang="ru-RU" dirty="0"/>
              <a:t>Зависимость обозначается пунктирной стрелкой.</a:t>
            </a:r>
          </a:p>
        </p:txBody>
      </p:sp>
      <p:pic>
        <p:nvPicPr>
          <p:cNvPr id="5" name="Рисунок 4" descr="Изображение выглядит как текст&#10;&#10;Автоматически созданное описание">
            <a:extLst>
              <a:ext uri="{FF2B5EF4-FFF2-40B4-BE49-F238E27FC236}">
                <a16:creationId xmlns:a16="http://schemas.microsoft.com/office/drawing/2014/main" id="{D42682D8-9DE3-44E9-B326-486DF1D6EEF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75198" y="4869160"/>
            <a:ext cx="7041604" cy="1744822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15377928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9615F52A-8D86-426E-B766-1E70D17F67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Выберите корректную диаграмму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5EC401AB-AAC9-447B-A7CD-1D268E5310F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52067" y="3861048"/>
            <a:ext cx="3406711" cy="2634213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D87466AE-0671-4985-931F-88F00DA81C7A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46566" y="1465639"/>
            <a:ext cx="3596599" cy="2781043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462C292F-4AF0-47B5-AED2-BD9A919CE418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5400" y="1465639"/>
            <a:ext cx="3596599" cy="2781043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075C0AC2-F646-4224-8F3E-5609173F5E4D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9616" y="4029329"/>
            <a:ext cx="3235094" cy="2501512"/>
          </a:xfrm>
          <a:prstGeom prst="rect">
            <a:avLst/>
          </a:prstGeom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859F0D9A-374F-46C9-B53B-C783C9A2AAEB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72264" y="1556792"/>
            <a:ext cx="3210635" cy="2482599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AAA1C897-16A3-44CB-AABE-2899E1697328}"/>
              </a:ext>
            </a:extLst>
          </p:cNvPr>
          <p:cNvSpPr txBox="1"/>
          <p:nvPr/>
        </p:nvSpPr>
        <p:spPr>
          <a:xfrm>
            <a:off x="4725834" y="1429078"/>
            <a:ext cx="206471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800" dirty="0">
                <a:latin typeface="Apple Color Emoji"/>
              </a:rPr>
              <a:t>✅</a:t>
            </a:r>
            <a:endParaRPr lang="ru-RU" sz="280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8850698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RESOURCE_PATHS_HASH_2" val="a7197b217475d3226aebdae81613cffabc9f2799"/>
  <p:tag name="ISPRING_RESOURCE_PATHS_HASH_PRESENTER" val="ba372758fdf4f0c1ea3984f80cf9416459824ea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8AE8C027-5672-438F-A221-C53C2998B666}:377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A5E643E8-E92A-4495-9435-1CAABE02F86E}:378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C891076B-ADE4-40DE-A0CB-AB09F0869115}:353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C70CA8DD-767F-490C-9C9B-FF5D0E767093}:380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7927C31A-8D67-4634-A415-E7466DACA2CE}:38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06E37FE0-D772-47AC-AB10-75650C53D3D9}:382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437079CB-7251-4BAE-9755-2B15959250F7}:355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6FF087D3-7077-47B6-871A-E5442FFF20EF}:354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9A9032B0-4C20-47B8-B244-2F5A415CD059}:356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5E443E5D-520C-4F61-8353-C9017603A5A8}:357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B455F6FA-6578-4145-ADF1-733352071034}:358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B2CC5A91-8563-43D0-95A8-B0A467F712B0}:359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590A9B20-5CB4-4604-9399-69D5B2411D90}:360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306F0067-97BF-486A-B043-E41C1A09968D}:361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63AD3A78-8DD4-4CFB-A054-175DD9210187}:362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69F67075-8FD3-4A8C-AE9E-DAAE27F579FB}:364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4BFEF5C3-3595-423B-B8F4-C288618318DF}:379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7E3DE7AD-ACD2-44CE-A2A3-353F75305CC3}:365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B80A0980-A4F9-4ED2-86D7-AE24588D1AB3}:366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1A9CC48F-9429-46C9-BFE3-EB1F8DA2C05C}:367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8FBFF52C-2E9B-48BC-A5F5-BC83089361DE}:368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8D39E5C6-A92B-46DB-8545-146859354541}:369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6652AD58-7993-40E2-8A88-DB3832737447}:370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3E7A3CB8-FB8A-49CE-876A-49C706513AFA}:371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9A4FA2D8-3D13-4F4C-A798-BEA73055FEDD}:372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6A199E6A-AD46-49E7-9207-5BD84D9904D7}:373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A10EB570-F99D-4F3B-B0CD-5291267A24AB}:383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57CEDABF-3CA7-40EB-8455-AB6E0D05A70E}:374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C5C70B1C-332C-4172-8101-BE895C88E17F}:375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3447</TotalTime>
  <Words>3226</Words>
  <Application>Microsoft Office PowerPoint</Application>
  <PresentationFormat>Widescreen</PresentationFormat>
  <Paragraphs>410</Paragraphs>
  <Slides>30</Slides>
  <Notes>26</Notes>
  <HiddenSlides>1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7" baseType="lpstr">
      <vt:lpstr>Apple Color Emoji</vt:lpstr>
      <vt:lpstr>Arial</vt:lpstr>
      <vt:lpstr>Calibri</vt:lpstr>
      <vt:lpstr>Calibri Light</vt:lpstr>
      <vt:lpstr>Consolas</vt:lpstr>
      <vt:lpstr>SFMono-Regular</vt:lpstr>
      <vt:lpstr>Office Theme</vt:lpstr>
      <vt:lpstr>Отношения между классами</vt:lpstr>
      <vt:lpstr>Визуализация архитектуры</vt:lpstr>
      <vt:lpstr>Диаграмма классов</vt:lpstr>
      <vt:lpstr>Ассоциация</vt:lpstr>
      <vt:lpstr>Ассоциация (Association)</vt:lpstr>
      <vt:lpstr>Обозначение ассоциации на диаграмме классов</vt:lpstr>
      <vt:lpstr>Учитель - ученик</vt:lpstr>
      <vt:lpstr>Композиция</vt:lpstr>
      <vt:lpstr>Композиция (composition)</vt:lpstr>
      <vt:lpstr>Примеры</vt:lpstr>
      <vt:lpstr>Пример</vt:lpstr>
      <vt:lpstr>Обозначение композиции на диаграммах классов</vt:lpstr>
      <vt:lpstr>Сокрытие данных при композиции</vt:lpstr>
      <vt:lpstr>Агрегация</vt:lpstr>
      <vt:lpstr>Агрегация (Aggregation)</vt:lpstr>
      <vt:lpstr>Пример агрегации</vt:lpstr>
      <vt:lpstr>Агрегация и делегирование</vt:lpstr>
      <vt:lpstr>Агрегация и делегирование</vt:lpstr>
      <vt:lpstr>Зависимость (Dependency)</vt:lpstr>
      <vt:lpstr>Зависимость (Dependency)</vt:lpstr>
      <vt:lpstr>Пример</vt:lpstr>
      <vt:lpstr>PowerPoint Presentation</vt:lpstr>
      <vt:lpstr>Обозначение зависимости на диаграммах классов</vt:lpstr>
      <vt:lpstr>Транзитивность зависимостей</vt:lpstr>
      <vt:lpstr>Итоги</vt:lpstr>
      <vt:lpstr>Композиция</vt:lpstr>
      <vt:lpstr>Агрегация</vt:lpstr>
      <vt:lpstr>Различие между композицией и агрегацией</vt:lpstr>
      <vt:lpstr>Зависимость</vt:lpstr>
      <vt:lpstr>Выберите корректную диаграмму</vt:lpstr>
    </vt:vector>
  </TitlesOfParts>
  <Company>Brainwave team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Слайд 1</dc:title>
  <dc:creator>Aleksey Malov</dc:creator>
  <cp:lastModifiedBy>Алексей Малов</cp:lastModifiedBy>
  <cp:revision>224</cp:revision>
  <dcterms:created xsi:type="dcterms:W3CDTF">2007-04-12T21:07:55Z</dcterms:created>
  <dcterms:modified xsi:type="dcterms:W3CDTF">2026-04-02T17:56:48Z</dcterms:modified>
</cp:coreProperties>
</file>