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84"/>
  </p:notesMasterIdLst>
  <p:sldIdLst>
    <p:sldId id="439" r:id="rId2"/>
    <p:sldId id="451" r:id="rId3"/>
    <p:sldId id="347" r:id="rId4"/>
    <p:sldId id="443" r:id="rId5"/>
    <p:sldId id="349" r:id="rId6"/>
    <p:sldId id="444" r:id="rId7"/>
    <p:sldId id="452" r:id="rId8"/>
    <p:sldId id="440" r:id="rId9"/>
    <p:sldId id="456" r:id="rId10"/>
    <p:sldId id="457" r:id="rId11"/>
    <p:sldId id="288" r:id="rId12"/>
    <p:sldId id="286" r:id="rId13"/>
    <p:sldId id="290" r:id="rId14"/>
    <p:sldId id="291" r:id="rId15"/>
    <p:sldId id="292" r:id="rId16"/>
    <p:sldId id="293" r:id="rId17"/>
    <p:sldId id="298" r:id="rId18"/>
    <p:sldId id="353" r:id="rId19"/>
    <p:sldId id="300" r:id="rId20"/>
    <p:sldId id="302" r:id="rId21"/>
    <p:sldId id="331" r:id="rId22"/>
    <p:sldId id="332" r:id="rId23"/>
    <p:sldId id="333" r:id="rId24"/>
    <p:sldId id="442" r:id="rId25"/>
    <p:sldId id="303" r:id="rId26"/>
    <p:sldId id="304" r:id="rId27"/>
    <p:sldId id="354" r:id="rId28"/>
    <p:sldId id="355" r:id="rId29"/>
    <p:sldId id="356" r:id="rId30"/>
    <p:sldId id="458" r:id="rId31"/>
    <p:sldId id="319" r:id="rId32"/>
    <p:sldId id="453" r:id="rId33"/>
    <p:sldId id="454" r:id="rId34"/>
    <p:sldId id="455" r:id="rId35"/>
    <p:sldId id="358" r:id="rId36"/>
    <p:sldId id="359" r:id="rId37"/>
    <p:sldId id="360" r:id="rId38"/>
    <p:sldId id="377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9" r:id="rId47"/>
    <p:sldId id="459" r:id="rId48"/>
    <p:sldId id="372" r:id="rId49"/>
    <p:sldId id="373" r:id="rId50"/>
    <p:sldId id="376" r:id="rId51"/>
    <p:sldId id="368" r:id="rId52"/>
    <p:sldId id="379" r:id="rId53"/>
    <p:sldId id="334" r:id="rId54"/>
    <p:sldId id="335" r:id="rId55"/>
    <p:sldId id="446" r:id="rId56"/>
    <p:sldId id="447" r:id="rId57"/>
    <p:sldId id="448" r:id="rId58"/>
    <p:sldId id="460" r:id="rId59"/>
    <p:sldId id="449" r:id="rId60"/>
    <p:sldId id="313" r:id="rId61"/>
    <p:sldId id="314" r:id="rId62"/>
    <p:sldId id="461" r:id="rId63"/>
    <p:sldId id="316" r:id="rId64"/>
    <p:sldId id="450" r:id="rId65"/>
    <p:sldId id="352" r:id="rId66"/>
    <p:sldId id="325" r:id="rId67"/>
    <p:sldId id="326" r:id="rId68"/>
    <p:sldId id="462" r:id="rId69"/>
    <p:sldId id="463" r:id="rId70"/>
    <p:sldId id="464" r:id="rId71"/>
    <p:sldId id="337" r:id="rId72"/>
    <p:sldId id="338" r:id="rId73"/>
    <p:sldId id="465" r:id="rId74"/>
    <p:sldId id="341" r:id="rId75"/>
    <p:sldId id="344" r:id="rId76"/>
    <p:sldId id="466" r:id="rId77"/>
    <p:sldId id="378" r:id="rId78"/>
    <p:sldId id="380" r:id="rId79"/>
    <p:sldId id="381" r:id="rId80"/>
    <p:sldId id="467" r:id="rId81"/>
    <p:sldId id="468" r:id="rId82"/>
    <p:sldId id="382" r:id="rId83"/>
  </p:sldIdLst>
  <p:sldSz cx="12192000" cy="6858000"/>
  <p:notesSz cx="6858000" cy="9144000"/>
  <p:custDataLst>
    <p:tags r:id="rId8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ружественные функции и классы" id="{A2874CE8-3974-4ED6-A4D1-9B01F64B6762}">
          <p14:sldIdLst>
            <p14:sldId id="439"/>
            <p14:sldId id="451"/>
            <p14:sldId id="347"/>
            <p14:sldId id="443"/>
            <p14:sldId id="349"/>
            <p14:sldId id="444"/>
            <p14:sldId id="452"/>
          </p14:sldIdLst>
        </p14:section>
        <p14:section name="Перегрузка операций" id="{372CC79D-9911-470C-A0D8-1A1B8493D6DB}">
          <p14:sldIdLst>
            <p14:sldId id="440"/>
            <p14:sldId id="456"/>
            <p14:sldId id="457"/>
          </p14:sldIdLst>
        </p14:section>
        <p14:section name="Перегрузка арифметических операций" id="{7843C7D6-F47D-432B-BC92-1B24B0F931AB}">
          <p14:sldIdLst>
            <p14:sldId id="288"/>
            <p14:sldId id="286"/>
            <p14:sldId id="290"/>
            <p14:sldId id="291"/>
            <p14:sldId id="292"/>
            <p14:sldId id="293"/>
            <p14:sldId id="298"/>
            <p14:sldId id="353"/>
            <p14:sldId id="300"/>
            <p14:sldId id="302"/>
          </p14:sldIdLst>
        </p14:section>
        <p14:section name="Перегрузка унарного плюса и минуса" id="{406ECC19-C7B2-4F58-A362-A8E61A741C60}">
          <p14:sldIdLst>
            <p14:sldId id="331"/>
            <p14:sldId id="332"/>
            <p14:sldId id="333"/>
          </p14:sldIdLst>
        </p14:section>
        <p14:section name="Перегрузка операций сравнения" id="{01E1288C-BC2B-4067-A797-BBEBADCE7304}">
          <p14:sldIdLst>
            <p14:sldId id="442"/>
            <p14:sldId id="303"/>
            <p14:sldId id="304"/>
            <p14:sldId id="354"/>
            <p14:sldId id="355"/>
            <p14:sldId id="356"/>
            <p14:sldId id="458"/>
          </p14:sldIdLst>
        </p14:section>
        <p14:section name="Перегрузка операций потокового ввода-вывода" id="{3283E04E-AB44-4570-908C-8B1F5B5D36DB}">
          <p14:sldIdLst>
            <p14:sldId id="319"/>
            <p14:sldId id="453"/>
            <p14:sldId id="454"/>
            <p14:sldId id="455"/>
          </p14:sldIdLst>
        </p14:section>
        <p14:section name="Маркированные типы" id="{A964B3E1-111E-435C-BD2E-C0F87620E33E}">
          <p14:sldIdLst>
            <p14:sldId id="358"/>
            <p14:sldId id="359"/>
            <p14:sldId id="360"/>
            <p14:sldId id="377"/>
            <p14:sldId id="361"/>
            <p14:sldId id="362"/>
            <p14:sldId id="363"/>
            <p14:sldId id="364"/>
            <p14:sldId id="365"/>
            <p14:sldId id="366"/>
            <p14:sldId id="367"/>
          </p14:sldIdLst>
        </p14:section>
        <p14:section name="User-defined literals" id="{FB5FFB47-9FB3-4EC8-9F4A-B6E6B23959FC}">
          <p14:sldIdLst>
            <p14:sldId id="369"/>
            <p14:sldId id="459"/>
            <p14:sldId id="372"/>
            <p14:sldId id="373"/>
            <p14:sldId id="376"/>
            <p14:sldId id="368"/>
            <p14:sldId id="379"/>
          </p14:sldIdLst>
        </p14:section>
        <p14:section name="Перегрузка операции индексации" id="{F0B15282-976F-45A4-A4A2-BF716D7E01EE}">
          <p14:sldIdLst>
            <p14:sldId id="334"/>
            <p14:sldId id="335"/>
            <p14:sldId id="446"/>
            <p14:sldId id="447"/>
            <p14:sldId id="448"/>
            <p14:sldId id="460"/>
            <p14:sldId id="449"/>
          </p14:sldIdLst>
        </p14:section>
        <p14:section name="Перегрузка инкремента и декремента" id="{A008161A-3AC7-49A7-8F06-F4233C4842A8}">
          <p14:sldIdLst>
            <p14:sldId id="313"/>
            <p14:sldId id="314"/>
            <p14:sldId id="461"/>
            <p14:sldId id="316"/>
            <p14:sldId id="450"/>
            <p14:sldId id="352"/>
          </p14:sldIdLst>
        </p14:section>
        <p14:section name="Перегрузка оператора приведения типа" id="{E6607EF7-9339-4124-B2B7-DE66FAE84DB0}">
          <p14:sldIdLst>
            <p14:sldId id="325"/>
            <p14:sldId id="326"/>
            <p14:sldId id="462"/>
            <p14:sldId id="463"/>
            <p14:sldId id="464"/>
          </p14:sldIdLst>
        </p14:section>
        <p14:section name="Перегрузка оператора ()" id="{B3BBC066-BB18-4C50-8F4B-E060E7909F68}">
          <p14:sldIdLst>
            <p14:sldId id="337"/>
            <p14:sldId id="338"/>
            <p14:sldId id="465"/>
            <p14:sldId id="341"/>
            <p14:sldId id="344"/>
            <p14:sldId id="466"/>
            <p14:sldId id="378"/>
            <p14:sldId id="380"/>
            <p14:sldId id="381"/>
            <p14:sldId id="467"/>
            <p14:sldId id="468"/>
            <p14:sldId id="3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ey Malov" initials="AM" lastIdx="1" clrIdx="0">
    <p:extLst>
      <p:ext uri="{19B8F6BF-5375-455C-9EA6-DF929625EA0E}">
        <p15:presenceInfo xmlns:p15="http://schemas.microsoft.com/office/powerpoint/2012/main" userId="S-1-5-21-358714862-226685413-3973368097-16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77" autoAdjust="0"/>
  </p:normalViewPr>
  <p:slideViewPr>
    <p:cSldViewPr>
      <p:cViewPr varScale="1">
        <p:scale>
          <a:sx n="84" d="100"/>
          <a:sy n="84" d="100"/>
        </p:scale>
        <p:origin x="151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CC56C-3DAC-4FB5-BCF3-814523C0A47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B54ED-772F-4740-A910-62A8A6C6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8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позволяет классу специально разрешить доступ к своим закрытым данным.</a:t>
            </a:r>
            <a:br>
              <a:rPr lang="ru-RU" dirty="0"/>
            </a:br>
            <a:r>
              <a:rPr lang="ru-RU" dirty="0"/>
              <a:t>Этот доступ можно выдать либо отдельной функции, либо целому классу.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дружественная функция не становится методом. Она остаётся обычной внешней функцией, просто получает особое право доступа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protected</a:t>
            </a:r>
            <a:r>
              <a:rPr lang="ru-RU" dirty="0"/>
              <a:t> членам.</a:t>
            </a:r>
          </a:p>
          <a:p>
            <a:r>
              <a:rPr lang="ru-RU" dirty="0"/>
              <a:t>Также важно, что дружба не возникает автоматически. Если класс объявил кого-то другом, это не значит, что дружба взаимна.</a:t>
            </a:r>
            <a:endParaRPr lang="en-US" dirty="0"/>
          </a:p>
          <a:p>
            <a:r>
              <a:rPr lang="ru-RU" dirty="0"/>
              <a:t>Более того, она не наследуется: если базовый класс с кем-то дружит, производный класс не обязан дружить с тем же самым кодом.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стоит тогда, когда внешний код действительно тесно связан с внутренней логикой объекта, и без этого пришлось бы делать лишние геттеры или раскрывать детали реализации наружу.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08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Чаще всего дружественные функции используют тогда, когда операция по смыслу должна быть внешней, а не методом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это удобно для операторов вывода в поток, для некоторых операторов сравнения или для вспомогательных функций форматирования и сериализации.</a:t>
            </a:r>
          </a:p>
          <a:p>
            <a:endParaRPr lang="en-US" dirty="0"/>
          </a:p>
          <a:p>
            <a:r>
              <a:rPr lang="ru-RU" dirty="0"/>
              <a:t>Почему не сделать такую функцию методом? Потому что не любая операция естественно привязана к одному объекту как к левому операнду. Кроме того, внешняя функция иногда лучше отражает смысл операции.</a:t>
            </a:r>
          </a:p>
          <a:p>
            <a:endParaRPr lang="en-US" dirty="0"/>
          </a:p>
          <a:p>
            <a:r>
              <a:rPr lang="ru-RU" dirty="0"/>
              <a:t>Если при этом ей нужен доступ к закрытым полям объекта, класс может явно объявить её дружественной.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78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один из самых типичных случаев использования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— перегрузка оператора вывода в поток.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 удобно делать именно внешней функцией, а не методом класса. Причина в том, что левым операндом здесь является 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ru-RU" dirty="0"/>
              <a:t>, а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 находится справа. Мы не можем добавить новый метод в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ru-RU" dirty="0"/>
              <a:t>, потому что это класс стандартной библиотеки. Поэтому оператор объявляется как обычная внешняя функция.</a:t>
            </a:r>
          </a:p>
          <a:p>
            <a:endParaRPr lang="ru-RU" dirty="0"/>
          </a:p>
          <a:p>
            <a:r>
              <a:rPr lang="ru-RU" dirty="0"/>
              <a:t>При этом для красивого вывода нам нужен доступ к закрытым полям объекта — имени и возрасту пользователя. Чтобы не делать ради этого лишние геттеры, 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 явно объявляет оператор вывода дружественной функцией.</a:t>
            </a:r>
          </a:p>
          <a:p>
            <a:endParaRPr lang="ru-RU" dirty="0"/>
          </a:p>
          <a:p>
            <a:r>
              <a:rPr lang="ru-RU" dirty="0"/>
              <a:t>В результате получается хороший баланс. С одной стороны,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m_name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m_age</a:t>
            </a:r>
            <a:r>
              <a:rPr lang="ru-RU" dirty="0"/>
              <a:t> остаются закрытыми для произвольного внешнего кода. С другой стороны, конкретная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 получает к ним доступ и может вывести объект в удобном виде.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видно, как это используется. Мы создаём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, а затем просто 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. Для программиста это выглядит естественно: пользовательский тип ведёт себя похоже на встроенные и библиотечные типы, которые тоже можно выводить в поток через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и есть одна из главных целей перегрузки операторов: сделать работу с пользовательскими типами более естественной и выразительной.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97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дружественной можно сделать отдельную функцию, то точно так же можно сделать дружественным и целый класс.</a:t>
            </a:r>
          </a:p>
          <a:p>
            <a:r>
              <a:rPr lang="ru-RU" dirty="0"/>
              <a:t>Это означает, что все методы этого класса получают доступ к закрытым членам другого класса.</a:t>
            </a:r>
          </a:p>
          <a:p>
            <a:endParaRPr lang="ru-RU" dirty="0"/>
          </a:p>
          <a:p>
            <a:r>
              <a:rPr lang="ru-RU" dirty="0"/>
              <a:t>Такой механизм полезен, когда два класса тесно связаны по смыслу. Например, один класс представляет объект, а второй отвечает за его создание, восстановление, настройку или внутреннее обслуживание.</a:t>
            </a:r>
          </a:p>
          <a:p>
            <a:endParaRPr lang="ru-RU" dirty="0"/>
          </a:p>
          <a:p>
            <a:r>
              <a:rPr lang="ru-RU" dirty="0"/>
              <a:t>Но использовать дружественные классы надо осторожно. Это сильная форма связи между классами, поэтому она оправдана только там, где такая близость действительно нужна.</a:t>
            </a:r>
          </a:p>
          <a:p>
            <a:endParaRPr lang="ru-RU" dirty="0"/>
          </a:p>
          <a:p>
            <a:r>
              <a:rPr lang="ru-RU" dirty="0"/>
              <a:t>Дружба между классами не взаимна.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7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работает дружественный класс.</a:t>
            </a:r>
          </a:p>
          <a:p>
            <a:endParaRPr lang="ru-RU" dirty="0"/>
          </a:p>
          <a:p>
            <a:r>
              <a:rPr lang="ru-RU" dirty="0"/>
              <a:t>У нас есть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UserAccount</a:t>
            </a:r>
            <a:r>
              <a:rPr lang="ru-RU" dirty="0"/>
              <a:t>, который хранит логин и </a:t>
            </a:r>
            <a:r>
              <a:rPr lang="ru-RU" dirty="0" err="1"/>
              <a:t>хеш</a:t>
            </a:r>
            <a:r>
              <a:rPr lang="ru-RU" dirty="0"/>
              <a:t> пароля. Обратите внимание: </a:t>
            </a:r>
            <a:r>
              <a:rPr lang="ru-RU" dirty="0" err="1"/>
              <a:t>хеш</a:t>
            </a:r>
            <a:r>
              <a:rPr lang="ru-RU" dirty="0"/>
              <a:t> пароля — это чувствительные данные, и мы специально держим их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, чтобы к ним нельзя было обращаться напрямую из произвольного кода.</a:t>
            </a:r>
          </a:p>
          <a:p>
            <a:endParaRPr lang="ru-RU" dirty="0"/>
          </a:p>
          <a:p>
            <a:r>
              <a:rPr lang="ru-RU" dirty="0"/>
              <a:t>Теперь появляется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PasswordManager</a:t>
            </a:r>
            <a:r>
              <a:rPr lang="ru-RU" dirty="0"/>
              <a:t>. Он отвечает за проверку пароля и его изменение. По смыслу это сервисный класс, который работает с аккаунтами и должен иметь доступ к их внутреннему состоянию.</a:t>
            </a:r>
          </a:p>
          <a:p>
            <a:r>
              <a:rPr lang="ru-RU" dirty="0"/>
              <a:t>Чтобы не раскрывать </a:t>
            </a:r>
            <a:r>
              <a:rPr lang="ru-RU" dirty="0" err="1"/>
              <a:t>хеш</a:t>
            </a:r>
            <a:r>
              <a:rPr lang="ru-RU" dirty="0"/>
              <a:t> пароля через публичные методы, мы объявляем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PasswordManager</a:t>
            </a:r>
            <a:r>
              <a:rPr lang="ru-RU" dirty="0"/>
              <a:t> дружественным классом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UserAccount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все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PasswordManager</a:t>
            </a:r>
            <a:r>
              <a:rPr lang="ru-RU" dirty="0"/>
              <a:t> получают доступ к приватным полям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UserAccount</a:t>
            </a:r>
            <a:r>
              <a:rPr lang="ru-RU" dirty="0"/>
              <a:t>. Это видно в коде: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CheckPassword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ChangePassword</a:t>
            </a:r>
            <a:r>
              <a:rPr lang="ru-RU" dirty="0"/>
              <a:t> напрямую обращаются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user.m_passwordHash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понимать, что доступ получили только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PasswordManager</a:t>
            </a:r>
            <a:r>
              <a:rPr lang="ru-RU" dirty="0"/>
              <a:t>. Для любого другого кода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m_passwordHash</a:t>
            </a:r>
            <a:r>
              <a:rPr lang="ru-RU" dirty="0"/>
              <a:t> по-прежнему остаётся закрытым.</a:t>
            </a:r>
          </a:p>
          <a:p>
            <a:endParaRPr lang="ru-RU" dirty="0"/>
          </a:p>
          <a:p>
            <a:r>
              <a:rPr lang="ru-RU" dirty="0"/>
              <a:t>Такой подход позволяет сохранить инкапсуляцию: мы не открываем внутренности класса всем подряд, а даём доступ только тому компоненту, которому это действительно необходимо по логике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02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важно обсудить, когда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не стоит.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Самая частая ошибка — использовать его просто “для удобства”. Например, чтобы не писать геттеры или быстро получить доступ к полям. Это плохая практика, потому что мы начинаем размывать границы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Ещё одна проблема — когда класс объявляет слишком много дружественных функций и классов. В этом случае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 фактически перестаёт быть приватным, и инкапсуляция теряет смысл.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не должен заменять нормальный публичный интерфейс. Если задачу можно решить через аккуратные методы класса — так и нужно делать.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наконец, чрезмерное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приводит к сильной связности между классами. Это усложняет сопровождение и изменение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Хорошее правило простое: сначала проектируем чистый и понятный интерфейс.</a:t>
            </a:r>
            <a:r>
              <a:rPr lang="en-US" dirty="0"/>
              <a:t> </a:t>
            </a:r>
            <a:r>
              <a:rPr lang="ru-RU" dirty="0"/>
              <a:t>И только если без доступа к внутренностям не обойтись — аккуратно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, причём даём доступ минимально необходимому количеству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57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877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операторов позволяет сделать пользовательские типы более естественными в использовании.</a:t>
            </a:r>
          </a:p>
          <a:p>
            <a:endParaRPr lang="ru-RU" dirty="0"/>
          </a:p>
          <a:p>
            <a:r>
              <a:rPr lang="ru-RU" dirty="0"/>
              <a:t>Например, если у нас есть 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Vector2D</a:t>
            </a:r>
            <a:r>
              <a:rPr lang="ru-RU" dirty="0"/>
              <a:t>, мы хотим писать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(a, b)</a:t>
            </a:r>
            <a:r>
              <a:rPr lang="ru-RU" dirty="0"/>
              <a:t>. Это делает код ближе к предметной области и проще для чтения.</a:t>
            </a:r>
          </a:p>
          <a:p>
            <a:endParaRPr lang="ru-RU" dirty="0"/>
          </a:p>
          <a:p>
            <a:r>
              <a:rPr lang="ru-RU" dirty="0"/>
              <a:t>Но здесь есть очень важное ограничение — не техническое, а смысловое.</a:t>
            </a:r>
          </a:p>
          <a:p>
            <a:r>
              <a:rPr lang="ru-RU" dirty="0"/>
              <a:t>Оператор должен вести себя так, как от него ожидают. Если программист видит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, он ожидает сложение, а не, например, запись в файл или сетевой запрос.</a:t>
            </a:r>
          </a:p>
          <a:p>
            <a:endParaRPr lang="ru-RU" dirty="0"/>
          </a:p>
          <a:p>
            <a:r>
              <a:rPr lang="ru-RU" dirty="0"/>
              <a:t>Кроме того, перегрузка не должна скрывать сложную или дорогую операцию. Если за простым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 стоит тяжёлая логика, это может привести к ошибкам в проектировании.</a:t>
            </a:r>
          </a:p>
          <a:p>
            <a:endParaRPr lang="ru-RU" dirty="0"/>
          </a:p>
          <a:p>
            <a:r>
              <a:rPr lang="ru-RU" dirty="0"/>
              <a:t>Хорошее правило: перегрузка должна делать код </a:t>
            </a:r>
            <a:r>
              <a:rPr lang="ru-RU" b="1" dirty="0"/>
              <a:t>проще и понятнее</a:t>
            </a:r>
            <a:r>
              <a:rPr lang="ru-RU" dirty="0"/>
              <a:t>, а не просто “красивее”.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67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в C++ можно объявить тремя способами, и выбор здесь — это уже вопрос дизайна.</a:t>
            </a:r>
          </a:p>
          <a:p>
            <a:endParaRPr lang="ru-RU" dirty="0"/>
          </a:p>
          <a:p>
            <a:r>
              <a:rPr lang="ru-RU" dirty="0"/>
              <a:t>Первый вариант — сделать его методом класса. Это удобно для операций, которые изменяют объект,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. У нас есть доступ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и это естественная форма записи.</a:t>
            </a:r>
          </a:p>
          <a:p>
            <a:endParaRPr lang="ru-RU" dirty="0"/>
          </a:p>
          <a:p>
            <a:r>
              <a:rPr lang="ru-RU" dirty="0"/>
              <a:t>Но у метода есть ограничение — он несимметричен. Левый операнд всегда должен быть объектом этого класса. Поэтому, например,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ru-RU" dirty="0"/>
              <a:t> так не реализовать.</a:t>
            </a:r>
          </a:p>
          <a:p>
            <a:endParaRPr lang="ru-RU" dirty="0"/>
          </a:p>
          <a:p>
            <a:r>
              <a:rPr lang="ru-RU" dirty="0"/>
              <a:t>Второй вариант — обычная внешняя функция. Это даёт симметрию: оба операнда равноправны. Это особенно важно для бинарных операторов, таких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.</a:t>
            </a:r>
          </a:p>
          <a:p>
            <a:r>
              <a:rPr lang="ru-RU" dirty="0"/>
              <a:t>Но у такой функции нет доступа к закрытым полям.</a:t>
            </a:r>
          </a:p>
          <a:p>
            <a:endParaRPr lang="ru-RU" dirty="0"/>
          </a:p>
          <a:p>
            <a:r>
              <a:rPr lang="ru-RU" dirty="0"/>
              <a:t>Поэтому появляется третий вариант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. Это компромисс: мы сохраняем симметрию и при этом получаем доступ к приватным данным. Но за это платим более сильной связностью между классом и функцией.</a:t>
            </a:r>
          </a:p>
          <a:p>
            <a:endParaRPr lang="ru-RU" dirty="0"/>
          </a:p>
          <a:p>
            <a:r>
              <a:rPr lang="ru-RU" dirty="0"/>
              <a:t>И в конце — технические ограничения. Не все операторы можно перегрузить, и нельзя изменить их базовые свойства, такие как приоритет или количество аргументов.</a:t>
            </a:r>
          </a:p>
          <a:p>
            <a:endParaRPr lang="ru-RU" dirty="0"/>
          </a:p>
          <a:p>
            <a:r>
              <a:rPr lang="ru-RU" dirty="0"/>
              <a:t>Но на практике гораздо важнее не эти ограничения, а выбор правильного способа реализации оператора под задачу.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41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7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арифметических операторов — это не про синтаксис, а про модель данных.</a:t>
            </a:r>
          </a:p>
          <a:p>
            <a:r>
              <a:rPr lang="ru-RU" dirty="0"/>
              <a:t>Её имеет смысл использовать тогда, когда у вашего типа есть естественная арифметика.</a:t>
            </a:r>
          </a:p>
          <a:p>
            <a:br>
              <a:rPr lang="ru-RU" dirty="0"/>
            </a:br>
            <a:r>
              <a:rPr lang="ru-RU" dirty="0"/>
              <a:t>Например, для векторов мы ожидаем операции сложения и вычитания.</a:t>
            </a:r>
            <a:br>
              <a:rPr lang="ru-RU" dirty="0"/>
            </a:br>
            <a:r>
              <a:rPr lang="ru-RU" dirty="0"/>
              <a:t>Для комплексных чисел — умножение и деление.</a:t>
            </a:r>
            <a:br>
              <a:rPr lang="ru-RU" dirty="0"/>
            </a:br>
            <a:r>
              <a:rPr lang="ru-RU" dirty="0"/>
              <a:t>Для рациональных чисел — те же операции, что и для обычных дробей.</a:t>
            </a:r>
          </a:p>
          <a:p>
            <a:r>
              <a:rPr lang="ru-RU" dirty="0"/>
              <a:t>В таких случаях запись через операторы делает код гораздо ближе к математике и проще для восприятия.</a:t>
            </a:r>
          </a:p>
          <a:p>
            <a:endParaRPr lang="ru-RU" dirty="0"/>
          </a:p>
          <a:p>
            <a:r>
              <a:rPr lang="ru-RU" dirty="0"/>
              <a:t>Но важно соблюдать несколько правил.</a:t>
            </a:r>
          </a:p>
          <a:p>
            <a:r>
              <a:rPr lang="ru-RU" dirty="0"/>
              <a:t>Во-первых, операция должна соответствовать смыслу предметной области.</a:t>
            </a:r>
            <a:br>
              <a:rPr lang="ru-RU" dirty="0"/>
            </a:br>
            <a:r>
              <a:rPr lang="ru-RU" dirty="0"/>
              <a:t>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 делает что-то неожиданное, это плохая перегрузка.</a:t>
            </a:r>
          </a:p>
          <a:p>
            <a:endParaRPr lang="ru-RU" dirty="0"/>
          </a:p>
          <a:p>
            <a:r>
              <a:rPr lang="ru-RU" dirty="0"/>
              <a:t>Во-вторых, операции должны быть согласованы между собой.</a:t>
            </a:r>
            <a:br>
              <a:rPr lang="ru-RU" dirty="0"/>
            </a:br>
            <a:r>
              <a:rPr lang="ru-RU" dirty="0"/>
              <a:t>Например, если есть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, логично ожидать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есть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 должен вести себя согласованно.</a:t>
            </a:r>
          </a:p>
          <a:p>
            <a:endParaRPr lang="ru-RU" dirty="0"/>
          </a:p>
          <a:p>
            <a:r>
              <a:rPr lang="ru-RU" dirty="0"/>
              <a:t>И наконец, если у типа нет естественной арифметики, лучше не придумывать её искусственно.</a:t>
            </a:r>
            <a:br>
              <a:rPr lang="ru-RU" dirty="0"/>
            </a:br>
            <a:r>
              <a:rPr lang="ru-RU" dirty="0"/>
              <a:t>Перегрузка ради “красоты синтаксиса” почти всегда приводит к запутанному коду.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86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оператор сложения реализован как метод класса.</a:t>
            </a:r>
          </a:p>
          <a:p>
            <a:r>
              <a:rPr lang="ru-RU" dirty="0"/>
              <a:t>Это самый простой вариант: левый операнд — это текущий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правый передаётся параметром.</a:t>
            </a:r>
          </a:p>
          <a:p>
            <a:endParaRPr lang="ru-RU" dirty="0"/>
          </a:p>
          <a:p>
            <a:r>
              <a:rPr lang="ru-RU" dirty="0"/>
              <a:t>Метод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потому что сложение не изменяет исходные векторы, а возвращает новый.</a:t>
            </a:r>
          </a:p>
          <a:p>
            <a:endParaRPr lang="ru-RU" dirty="0"/>
          </a:p>
          <a:p>
            <a:r>
              <a:rPr lang="ru-RU" dirty="0"/>
              <a:t>Такой способ удобен, но у него есть ограничение — левый операнд обязательно должен быть объектом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Vector2D</a:t>
            </a:r>
            <a:r>
              <a:rPr lang="ru-RU" dirty="0"/>
              <a:t>. Поэтому симметрия операций может быть нарушена.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33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оператор реализован как обычная внешняя функция.</a:t>
            </a:r>
          </a:p>
          <a:p>
            <a:endParaRPr lang="ru-RU" dirty="0"/>
          </a:p>
          <a:p>
            <a:r>
              <a:rPr lang="ru-RU" dirty="0"/>
              <a:t>Здесь оба операнда равноправны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lhs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rhs</a:t>
            </a:r>
            <a:r>
              <a:rPr lang="ru-RU" dirty="0"/>
              <a:t>. Это даёт симметрию и делает такой вариант более универсальным.</a:t>
            </a:r>
          </a:p>
          <a:p>
            <a:r>
              <a:rPr lang="ru-RU" dirty="0"/>
              <a:t>Но есть нюанс: функция не имеет доступа к приватным полям класса.</a:t>
            </a:r>
          </a:p>
          <a:p>
            <a:endParaRPr lang="ru-RU" dirty="0"/>
          </a:p>
          <a:p>
            <a:r>
              <a:rPr lang="ru-RU" dirty="0"/>
              <a:t>В нашем примере поля публичные, поэтому это не проблема, но в реальном коде это может быть ограничением.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8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вариант сочетает преимущества двух предыдущих.</a:t>
            </a:r>
          </a:p>
          <a:p>
            <a:r>
              <a:rPr lang="ru-RU" dirty="0"/>
              <a:t>Оператор остаётся внешней функцией, поэтому сохраняется симметрия. Но при этом он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, и значит имеет доступ к приватным полям класса.</a:t>
            </a:r>
          </a:p>
          <a:p>
            <a:r>
              <a:rPr lang="ru-RU" dirty="0"/>
              <a:t>Это наиболее гибкий вариант и часто используется на практике, особенно для бинарных операций вроде сложения.</a:t>
            </a:r>
          </a:p>
          <a:p>
            <a:r>
              <a:rPr lang="ru-RU" dirty="0"/>
              <a:t>Но важно помнить,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 усиливает связность, поэтому применять его стоит осознанно.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98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важно не просто знать синтаксис, а понимать, какой способ выбирать на практике.</a:t>
            </a:r>
          </a:p>
          <a:p>
            <a:endParaRPr lang="ru-RU" dirty="0"/>
          </a:p>
          <a:p>
            <a:r>
              <a:rPr lang="ru-RU" dirty="0"/>
              <a:t>Для бинарных операций, таких как сложение или умножение, обычно лучше использовать внешние функции. Это даёт симметрию — оба операнда выглядят равноправно.</a:t>
            </a:r>
          </a:p>
          <a:p>
            <a:r>
              <a:rPr lang="ru-RU" dirty="0"/>
              <a:t>Если при этом нужен доступ к приватным данным, такую функцию объявляют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важный момент — операции со скаляром.</a:t>
            </a:r>
            <a:br>
              <a:rPr lang="ru-RU" dirty="0"/>
            </a:br>
            <a:r>
              <a:rPr lang="ru-RU" dirty="0"/>
              <a:t>Если у нас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dirty="0"/>
              <a:t>, это можно реализовать как метод. Но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уже нельзя сделать методом, потому что левый операнд — не наш тип. Поэтому такая операция всегда реализуется как внешняя функция.</a:t>
            </a:r>
          </a:p>
          <a:p>
            <a:endParaRPr lang="ru-RU" dirty="0"/>
          </a:p>
          <a:p>
            <a:r>
              <a:rPr lang="ru-RU" dirty="0"/>
              <a:t>И наконец, очень полезное практическое правило:</a:t>
            </a:r>
            <a:br>
              <a:rPr lang="ru-RU" dirty="0"/>
            </a:br>
            <a:r>
              <a:rPr lang="ru-RU" dirty="0"/>
              <a:t>модифицирующие операции, такие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, обычно делают методами класса.</a:t>
            </a:r>
          </a:p>
          <a:p>
            <a:br>
              <a:rPr lang="ru-RU" dirty="0"/>
            </a:br>
            <a:r>
              <a:rPr lang="ru-RU" dirty="0"/>
              <a:t>А </a:t>
            </a:r>
            <a:r>
              <a:rPr lang="ru-RU" dirty="0" err="1"/>
              <a:t>немодифицирующие</a:t>
            </a:r>
            <a:r>
              <a:rPr lang="ru-RU" dirty="0"/>
              <a:t>, такие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, часто реализуют как внешние функции, иногда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.</a:t>
            </a:r>
          </a:p>
          <a:p>
            <a:r>
              <a:rPr lang="ru-RU" dirty="0"/>
              <a:t>Это простой шаблон, который хорошо работает в большинстве случаев.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39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перегрузка операций умножения и деления вектора на скаляр.</a:t>
            </a:r>
          </a:p>
          <a:p>
            <a:endParaRPr lang="ru-RU" dirty="0"/>
          </a:p>
          <a:p>
            <a:r>
              <a:rPr lang="ru-RU" dirty="0"/>
              <a:t>Обратите внимание, что мы реализуем </a:t>
            </a:r>
            <a:r>
              <a:rPr lang="ru-RU" b="1" dirty="0"/>
              <a:t>две версии умножения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 Это нужно для симметрии — чтобы выражения работали в любом порядке.</a:t>
            </a:r>
          </a:p>
          <a:p>
            <a:endParaRPr lang="ru-RU" dirty="0"/>
          </a:p>
          <a:p>
            <a:r>
              <a:rPr lang="ru-RU" dirty="0"/>
              <a:t>Во втором случае можно даже переиспользовать уже написанную функцию, просто вызвав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lhs</a:t>
            </a:r>
            <a:r>
              <a:rPr lang="ru-RU" dirty="0"/>
              <a:t>.</a:t>
            </a:r>
          </a:p>
          <a:p>
            <a:r>
              <a:rPr lang="ru-RU" dirty="0"/>
              <a:t>Деление определено только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dirty="0"/>
              <a:t>, что соответствует математическому смыслу.</a:t>
            </a:r>
          </a:p>
          <a:p>
            <a:endParaRPr lang="ru-RU" dirty="0"/>
          </a:p>
          <a:p>
            <a:r>
              <a:rPr lang="ru-RU" dirty="0"/>
              <a:t>Такие операторы обычно делают внешними функциями, чтобы поддержать симметрию и не ограничиваться случаем, когда левый операнд — объект нашего класса.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61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возникает вопрос: где лучше реализовать оператор сложения — как метод класса или как внешнюю функцию?</a:t>
            </a:r>
          </a:p>
          <a:p>
            <a:endParaRPr lang="ru-RU" dirty="0"/>
          </a:p>
          <a:p>
            <a:r>
              <a:rPr lang="ru-RU" dirty="0"/>
              <a:t>На практике для таких типов,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, лучше выбирать </a:t>
            </a:r>
            <a:r>
              <a:rPr lang="ru-RU" b="1" dirty="0"/>
              <a:t>внешнюю функцию</a:t>
            </a:r>
            <a:r>
              <a:rPr lang="ru-RU" dirty="0"/>
              <a:t>.</a:t>
            </a:r>
          </a:p>
          <a:p>
            <a:r>
              <a:rPr lang="ru-RU" dirty="0"/>
              <a:t>Почему? Потому что это даёт нам симметрию и поддержку неявных преобразований с обеих сторон</a:t>
            </a:r>
          </a:p>
          <a:p>
            <a:endParaRPr lang="ru-RU" dirty="0"/>
          </a:p>
          <a:p>
            <a:r>
              <a:rPr lang="ru-RU" dirty="0"/>
              <a:t>Например, благодаря конструктору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выражения вроде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+ 5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+ r</a:t>
            </a:r>
            <a:r>
              <a:rPr lang="ru-RU" dirty="0"/>
              <a:t> будут работать одинаково.</a:t>
            </a:r>
          </a:p>
          <a:p>
            <a:r>
              <a:rPr lang="ru-RU" dirty="0"/>
              <a:t>Если же реализовать оператор как метод, то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+ r</a:t>
            </a:r>
            <a:r>
              <a:rPr lang="ru-RU" dirty="0"/>
              <a:t> уже не скомпилируется, потому что слева стоит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для бинарных арифметических операций одного типа обычно используют внешнюю функцию — при необходимости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, чтобы получить доступ к внутренним данным.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34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Присваивающие операторы, такие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*=</a:t>
            </a:r>
            <a:r>
              <a:rPr lang="ru-RU" dirty="0"/>
              <a:t>, отличаются от обычных арифметических.</a:t>
            </a:r>
          </a:p>
          <a:p>
            <a:r>
              <a:rPr lang="ru-RU" dirty="0"/>
              <a:t>Они изменяют левый операнд и возвращают ссылку на него. Это позволяет писать цепочки,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+= b += 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Такие операторы почти всегда реализуют как методы класса, потому что им нужно менять внутреннее состояние объекта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здесь есть очень полезный практический шаблон.</a:t>
            </a:r>
            <a:br>
              <a:rPr lang="ru-RU" dirty="0"/>
            </a:br>
            <a:r>
              <a:rPr lang="ru-RU" dirty="0"/>
              <a:t>Сначала реализуется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, а затем на его основе реализуется обычное сложение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.</a:t>
            </a:r>
          </a:p>
          <a:p>
            <a:r>
              <a:rPr lang="ru-RU" dirty="0"/>
              <a:t>Во втором случае левый аргумент передаётся по значению, копируется, затем к нему применяется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, и результат возвращается.</a:t>
            </a:r>
          </a:p>
          <a:p>
            <a:endParaRPr lang="ru-RU" dirty="0"/>
          </a:p>
          <a:p>
            <a:r>
              <a:rPr lang="ru-RU" dirty="0"/>
              <a:t>Это позволяет избежать дублирования кода и делает реализацию более аккуратной и поддерживаемой.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76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типичный и рекомендуемый способ реализации арифметических операций.</a:t>
            </a:r>
          </a:p>
          <a:p>
            <a:endParaRPr lang="ru-RU" dirty="0"/>
          </a:p>
          <a:p>
            <a:r>
              <a:rPr lang="ru-RU" dirty="0"/>
              <a:t>Сначала реализуется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 как метод класса. Он изменяет текущий объект и возвращает ссылку на него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затем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 реализуется как внешняя функция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. Левый операнд передаётся по значению, то есть копируется, затем к нему применяется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, и результат возвращается.</a:t>
            </a:r>
          </a:p>
          <a:p>
            <a:endParaRPr lang="ru-RU" dirty="0"/>
          </a:p>
          <a:p>
            <a:r>
              <a:rPr lang="ru-RU" dirty="0"/>
              <a:t>Такой подход позволяет избежать дублирования логики сложения и делает код проще в поддержке.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78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65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привычных бинарных операций сложения и вычитания, есть ещё их унарные версии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</a:t>
            </a:r>
            <a:r>
              <a:rPr lang="ru-RU" dirty="0"/>
              <a:t>.</a:t>
            </a:r>
          </a:p>
          <a:p>
            <a:r>
              <a:rPr lang="ru-RU" dirty="0"/>
              <a:t>Унарный плюс обычно ничего не меняет и просто возвращает копию объекта.</a:t>
            </a:r>
            <a:br>
              <a:rPr lang="ru-RU" dirty="0"/>
            </a:br>
            <a:r>
              <a:rPr lang="ru-RU" dirty="0"/>
              <a:t>А унарный минус реализует смену знака — например, для вектора это инверсия координат.</a:t>
            </a:r>
          </a:p>
          <a:p>
            <a:endParaRPr lang="ru-RU" dirty="0"/>
          </a:p>
          <a:p>
            <a:r>
              <a:rPr lang="ru-RU" dirty="0"/>
              <a:t>Такие операторы чаще всего реализуют как методы класса и помечают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потому что они не изменяют исходный объект, а создают новый.</a:t>
            </a:r>
          </a:p>
          <a:p>
            <a:endParaRPr lang="ru-RU" dirty="0"/>
          </a:p>
          <a:p>
            <a:r>
              <a:rPr lang="ru-RU" dirty="0"/>
              <a:t>Это довольно простые, но полезные операторы, которые делают работу с типом более естественной.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49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перегрузки унарных операторов для вектора.</a:t>
            </a:r>
          </a:p>
          <a:p>
            <a:endParaRPr lang="ru-RU" dirty="0"/>
          </a:p>
          <a:p>
            <a:r>
              <a:rPr lang="ru-RU" dirty="0"/>
              <a:t>Оператор унарного минуса возвращает новый вектор с противоположными координатами — фактически меняет направление вектора.</a:t>
            </a:r>
          </a:p>
          <a:p>
            <a:endParaRPr lang="ru-RU" dirty="0"/>
          </a:p>
          <a:p>
            <a:r>
              <a:rPr lang="ru-RU" dirty="0"/>
              <a:t>Унарный плюс, как правило, ничего не делает и просто возвращает копию объекта. Он нужен скорее для полноты интерфейса.</a:t>
            </a:r>
          </a:p>
          <a:p>
            <a:endParaRPr lang="ru-RU" dirty="0"/>
          </a:p>
          <a:p>
            <a:r>
              <a:rPr lang="ru-RU" dirty="0"/>
              <a:t>Обратите внимание, что оба оператора не изменяют исходный объект, поэтому объявлены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 возвращают новый результат.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89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09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Операторы сравнения используются для проверки равенства и неравенства объектов.</a:t>
            </a:r>
          </a:p>
          <a:p>
            <a:endParaRPr lang="ru-RU" dirty="0"/>
          </a:p>
          <a:p>
            <a:r>
              <a:rPr lang="ru-RU" dirty="0"/>
              <a:t>Главное здесь — мы сравниваем не просто поля, а </a:t>
            </a:r>
            <a:r>
              <a:rPr lang="ru-RU" b="1" dirty="0"/>
              <a:t>смысловое значение объекта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Для вектора это означает, что два вектора равны, если у них совпадают координаты.</a:t>
            </a:r>
          </a:p>
          <a:p>
            <a:endParaRPr lang="ru-RU" dirty="0"/>
          </a:p>
          <a:p>
            <a:r>
              <a:rPr lang="ru-RU" dirty="0"/>
              <a:t>Важно, чтобы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 действительно отражал понятие равенства в вашей предметной области.</a:t>
            </a:r>
          </a:p>
          <a:p>
            <a:br>
              <a:rPr lang="ru-RU" dirty="0"/>
            </a:br>
            <a:r>
              <a:rPr lang="ru-RU" dirty="0"/>
              <a:t>А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 должен быть с ним согласован — обычно его реализуют как отрицание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простой на первый взгляд момент, но на практике здесь часто допускаются ошибки, особенно когда у объекта есть несколько способов представления одного и того же значения.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128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базовая реализация операторов сравнения для вектора.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 проверяет равенство координат — это и есть смысловое равенство 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Vector2D</a:t>
            </a:r>
            <a:r>
              <a:rPr lang="ru-RU" dirty="0"/>
              <a:t>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 обычно не пишут “с нуля”, а выражают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чтобы гарантировать согласованность.</a:t>
            </a:r>
          </a:p>
          <a:p>
            <a:endParaRPr lang="ru-RU" dirty="0"/>
          </a:p>
          <a:p>
            <a:r>
              <a:rPr lang="ru-RU" dirty="0"/>
              <a:t>В C++20 ситуация стала ещё проще: если реализован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компилятор может автоматически сгенерировать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, поэтому его можно не писать вручную.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840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C++20 появился так называемый “трёхсторонний оператор сравнения” —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</a:t>
            </a:r>
            <a:r>
              <a:rPr lang="ru-RU" dirty="0"/>
              <a:t>, его ещё называют </a:t>
            </a:r>
            <a:r>
              <a:rPr lang="ru-RU" dirty="0" err="1"/>
              <a:t>spaceship</a:t>
            </a:r>
            <a:r>
              <a:rPr lang="ru-RU" dirty="0"/>
              <a:t> </a:t>
            </a:r>
            <a:r>
              <a:rPr lang="ru-RU" dirty="0" err="1"/>
              <a:t>operator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мы объявляем его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</a:t>
            </a:r>
            <a:r>
              <a:rPr lang="ru-RU" dirty="0"/>
              <a:t>, компилятор автоматически генерирует сравнение по всем полям класса в лексикографическом порядке.</a:t>
            </a:r>
          </a:p>
          <a:p>
            <a:endParaRPr lang="ru-RU" dirty="0"/>
          </a:p>
          <a:p>
            <a:r>
              <a:rPr lang="ru-RU" dirty="0"/>
              <a:t>В данном примере объекты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</a:t>
            </a:r>
            <a:r>
              <a:rPr lang="ru-RU" dirty="0"/>
              <a:t> будут сравниваться сначала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, затем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floor</a:t>
            </a:r>
            <a:r>
              <a:rPr lang="ru-RU" dirty="0"/>
              <a:t>, затем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этом компилятор автоматически сгенерирует и все остальные операторы сравнения: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&gt;=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сильно упрощает код, если сравнение по всем полям действительно соответствует смыслу равенства и порядка для данного типа.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245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</a:t>
            </a:r>
            <a:r>
              <a:rPr lang="ru-RU" dirty="0"/>
              <a:t>, и компилятор генерирует сравнение по полям — сначала по числителю, затем по знаменателю.</a:t>
            </a:r>
          </a:p>
          <a:p>
            <a:endParaRPr lang="ru-RU" dirty="0"/>
          </a:p>
          <a:p>
            <a:r>
              <a:rPr lang="ru-RU" dirty="0"/>
              <a:t>Это лексикографическое сравнение, но для дробей оно не соответствует математическому смыслу.</a:t>
            </a:r>
          </a:p>
          <a:p>
            <a:r>
              <a:rPr lang="ru-RU" dirty="0"/>
              <a:t>Например, при таком сравнении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1/2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1/3</a:t>
            </a:r>
            <a:r>
              <a:rPr lang="ru-RU" dirty="0"/>
              <a:t> сравниваются сначала по числителю — он равен, затем по знаменателю: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&gt; 3</a:t>
            </a:r>
            <a:r>
              <a:rPr lang="ru-RU" dirty="0"/>
              <a:t> даёт неверный с точки зрения математики результат.</a:t>
            </a:r>
          </a:p>
          <a:p>
            <a:endParaRPr lang="ru-RU" dirty="0"/>
          </a:p>
          <a:p>
            <a:r>
              <a:rPr lang="ru-RU" dirty="0"/>
              <a:t>Поэтому последние проверки не пройдут. Для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 сравнение нужно реализовывать вручную — сравнивая дроби по значению, например через перекрёстное умножение.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78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корректная реализация сравнения для рациональных чисел.</a:t>
            </a:r>
          </a:p>
          <a:p>
            <a:endParaRPr lang="ru-RU" dirty="0"/>
          </a:p>
          <a:p>
            <a:r>
              <a:rPr lang="ru-RU" dirty="0"/>
              <a:t>Мы больше не сравниваем поля напрямую, а сравниваем значения дробей с помощью перекрёстного умножения: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a/b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c/d</a:t>
            </a:r>
            <a:r>
              <a:rPr lang="ru-RU" dirty="0"/>
              <a:t> сравниваются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* d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* b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Такое сравнение соответствует математическому смыслу и работает правильно для всех дробей.</a:t>
            </a:r>
          </a:p>
          <a:p>
            <a:endParaRPr lang="ru-RU" dirty="0"/>
          </a:p>
          <a:p>
            <a:r>
              <a:rPr lang="ru-RU" dirty="0"/>
              <a:t>Мы явно указываем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strong_ordering</a:t>
            </a:r>
            <a:r>
              <a:rPr lang="ru-RU" dirty="0"/>
              <a:t>, потому что для рациональных чисел существует строгий порядок.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 можно оставить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</a:t>
            </a:r>
            <a:r>
              <a:rPr lang="ru-RU" dirty="0"/>
              <a:t>, если предполагается, что дроби уже нормализованы — то есть,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1/2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2/4</a:t>
            </a:r>
            <a:r>
              <a:rPr lang="ru-RU" dirty="0"/>
              <a:t> не существуют одновременно в разных представлениях.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73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реализуем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</a:t>
            </a:r>
            <a:r>
              <a:rPr lang="ru-RU" dirty="0"/>
              <a:t>, мы должны выбрать, какой тип порядка возвращать.</a:t>
            </a:r>
          </a:p>
          <a:p>
            <a:r>
              <a:rPr lang="ru-RU" dirty="0"/>
              <a:t>Идея в том, что не все типы можно сравнивать одинаково.</a:t>
            </a:r>
          </a:p>
          <a:p>
            <a:endParaRPr lang="ru-RU" dirty="0"/>
          </a:p>
          <a:p>
            <a:r>
              <a:rPr lang="ru-RU" dirty="0"/>
              <a:t>Самый простой случай — это строгий порядок,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strong_ordering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означает, что если два объекта равны, то они полностью эквивалентны и неразличимы. Например,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корректно реализованных рациональных чисел.</a:t>
            </a:r>
          </a:p>
          <a:p>
            <a:endParaRPr lang="ru-RU" dirty="0"/>
          </a:p>
          <a:p>
            <a:r>
              <a:rPr lang="ru-RU" dirty="0"/>
              <a:t>Интересный пример — строки. У строки есть не только содержимое, но и,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 — объём выделенной памяти. Две строки могут иметь одинаковый текст, но разный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 этом при сравнении учитывается только содержимое, а не внутреннее представление. То есть такие строки считаются равными.</a:t>
            </a:r>
          </a:p>
          <a:p>
            <a:r>
              <a:rPr lang="ru-RU" dirty="0"/>
              <a:t>Это как раз иллюстрирует важную идею: сравнение должно зависеть от </a:t>
            </a:r>
            <a:r>
              <a:rPr lang="ru-RU" b="1" dirty="0"/>
              <a:t>значения</a:t>
            </a:r>
            <a:r>
              <a:rPr lang="ru-RU" dirty="0"/>
              <a:t>, а не от того, как объект устроен внутри.</a:t>
            </a:r>
          </a:p>
          <a:p>
            <a:endParaRPr lang="ru-RU" dirty="0"/>
          </a:p>
          <a:p>
            <a:r>
              <a:rPr lang="ru-RU" dirty="0"/>
              <a:t>Дальше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weak_ordering</a:t>
            </a:r>
            <a:r>
              <a:rPr lang="ru-RU" dirty="0"/>
              <a:t>. Здесь порядок есть, но равенство — это скорее “эквивалентность”, а не полная идентичность. Например, строки можно сравнивать без учёта регистра — тогда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"ABC"</a:t>
            </a:r>
            <a:r>
              <a:rPr lang="ru-RU" dirty="0"/>
              <a:t> эквивалентны, но не одинаковы.</a:t>
            </a:r>
          </a:p>
          <a:p>
            <a:endParaRPr lang="ru-RU" dirty="0"/>
          </a:p>
          <a:p>
            <a:r>
              <a:rPr lang="ru-RU" dirty="0"/>
              <a:t>И наконец,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partial_ordering</a:t>
            </a:r>
            <a:r>
              <a:rPr lang="ru-RU" dirty="0"/>
              <a:t>. Это случай, когда не все значения вообще можно сравнить. Классический пример — числа с плавающей точкой и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</a:t>
            </a:r>
            <a:r>
              <a:rPr lang="ru-RU" dirty="0"/>
              <a:t>, которое не равно даже самому себе.</a:t>
            </a:r>
          </a:p>
          <a:p>
            <a:endParaRPr lang="ru-RU" dirty="0"/>
          </a:p>
          <a:p>
            <a:r>
              <a:rPr lang="ru-RU" dirty="0"/>
              <a:t>Таким образом,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ordering</a:t>
            </a:r>
            <a:r>
              <a:rPr lang="ru-RU" dirty="0"/>
              <a:t> позволяет точно выразить, </a:t>
            </a:r>
            <a:r>
              <a:rPr lang="ru-RU" b="1" dirty="0"/>
              <a:t>какую модель сравнения реализует ваш тип</a:t>
            </a:r>
            <a:r>
              <a:rPr lang="ru-RU" dirty="0"/>
              <a:t>, и избежать логических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10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087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стандартной библиотеке ввод и вывод реализованы через потоки — это объекты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.</a:t>
            </a:r>
          </a:p>
          <a:p>
            <a:r>
              <a:rPr lang="ru-RU" dirty="0"/>
              <a:t>Работа с ними происходит через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42</a:t>
            </a:r>
            <a:r>
              <a:rPr lang="ru-RU" dirty="0"/>
              <a:t> выводит число,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x</a:t>
            </a:r>
            <a:r>
              <a:rPr lang="ru-RU" dirty="0"/>
              <a:t> считывает значение в переменную.</a:t>
            </a:r>
          </a:p>
          <a:p>
            <a:endParaRPr lang="ru-RU" dirty="0"/>
          </a:p>
          <a:p>
            <a:r>
              <a:rPr lang="ru-RU" dirty="0"/>
              <a:t>Когда мы хотим поддержать такой же синтаксис для своих типов, нам нужно перегрузить эти операторы.</a:t>
            </a:r>
          </a:p>
          <a:p>
            <a:r>
              <a:rPr lang="ru-RU" dirty="0"/>
              <a:t>Ключевой момент — такие операторы </a:t>
            </a:r>
            <a:r>
              <a:rPr lang="ru-RU" b="1" dirty="0"/>
              <a:t>всегда объявляются вне класса</a:t>
            </a:r>
            <a:r>
              <a:rPr lang="ru-RU" dirty="0"/>
              <a:t>. Мы не можем добавить методы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istream</a:t>
            </a:r>
            <a:r>
              <a:rPr lang="ru-RU" dirty="0"/>
              <a:t>, потому что это классы стандартной библиотеки. Поэтому перегрузка делается как обычная функция.</a:t>
            </a:r>
          </a:p>
          <a:p>
            <a:endParaRPr lang="ru-RU" dirty="0"/>
          </a:p>
          <a:p>
            <a:r>
              <a:rPr lang="ru-RU" dirty="0"/>
              <a:t>При этом часто такие функции объявляют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, чтобы они могли получить доступ к закрытым полям объекта.</a:t>
            </a:r>
          </a:p>
          <a:p>
            <a:r>
              <a:rPr lang="ru-RU" dirty="0"/>
              <a:t>Обратите внимание на сигнатуру: оператор принимает поток первым параметром и возвращает ссылку на него же. Это сделано для поддержки цепочек вызовов.</a:t>
            </a:r>
          </a:p>
          <a:p>
            <a:endParaRPr lang="ru-RU" dirty="0"/>
          </a:p>
          <a:p>
            <a:r>
              <a:rPr lang="ru-RU" dirty="0"/>
              <a:t>Например,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a &lt;&lt; b &lt;&lt; c</a:t>
            </a:r>
            <a:r>
              <a:rPr lang="ru-RU" dirty="0"/>
              <a:t> работает именно потому, что каждый вызов возвращает тот же самый поток.</a:t>
            </a:r>
          </a:p>
          <a:p>
            <a:endParaRPr lang="ru-RU" dirty="0"/>
          </a:p>
          <a:p>
            <a:r>
              <a:rPr lang="ru-RU" dirty="0"/>
              <a:t>Это важный практический шаблон, который вы будете использовать постоянно: если ваш тип можно разумно вывести или считать — почти всегда стоит реализовать для него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 и, при необходимости,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960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перегружаем оператор вывода для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.</a:t>
            </a:r>
          </a:p>
          <a:p>
            <a:r>
              <a:rPr lang="ru-RU" dirty="0"/>
              <a:t>Формат вывода выбираем естественный — в виде дроби: числитель, затем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, затем знаменатель.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3/4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внимание, что оператор объявлен как внешняя функция и при этом сделан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. Это даёт ему доступ к закрытым полям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m_numerator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m_denominator</a:t>
            </a:r>
            <a:r>
              <a:rPr lang="ru-RU" dirty="0"/>
              <a:t>, не раскрывая их через публичные методы.</a:t>
            </a:r>
          </a:p>
          <a:p>
            <a:endParaRPr lang="ru-RU" dirty="0"/>
          </a:p>
          <a:p>
            <a:r>
              <a:rPr lang="ru-RU" dirty="0"/>
              <a:t>Функция возвращает ссылку на поток. Это важно для поддержки цепочек вызовов, например: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r1 &lt;&lt; " " &lt;&lt; r2;</a:t>
            </a:r>
            <a:endParaRPr lang="ru-RU" dirty="0"/>
          </a:p>
          <a:p>
            <a:r>
              <a:rPr lang="ru-RU" dirty="0"/>
              <a:t>Такой оператор делает пользовательский тип удобным: его можно выводить так же, как встроенные типы.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499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перегрузим оператор ввода.</a:t>
            </a:r>
          </a:p>
          <a:p>
            <a:endParaRPr lang="ru-RU" dirty="0"/>
          </a:p>
          <a:p>
            <a:r>
              <a:rPr lang="ru-RU" dirty="0"/>
              <a:t>Мы ожидаем ввод в формате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числитель/знаменатель</a:t>
            </a:r>
            <a:r>
              <a:rPr lang="ru-RU" dirty="0"/>
              <a:t>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3/4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Сначала читаем числитель, затем символ-разделитель, затем знаменатель. После этого проверяем, что разделитель действительно равен символу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важную деталь: мы не меняем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dirty="0"/>
              <a:t> сразу. Сначала читаем значения во временные переменные, и только если всё успешно — создаём новый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хороший стиль: либо объект полностью корректно считан, либо остаётся без изменений.</a:t>
            </a:r>
          </a:p>
          <a:p>
            <a:endParaRPr lang="ru-RU" dirty="0"/>
          </a:p>
          <a:p>
            <a:r>
              <a:rPr lang="ru-RU" dirty="0"/>
              <a:t>Если формат ввода нарушен, мы устанавливаем у потока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failbit</a:t>
            </a:r>
            <a:r>
              <a:rPr lang="ru-RU" dirty="0"/>
              <a:t>. Это стандартный механизм сигнализации об ошибке ввода в C++.</a:t>
            </a:r>
          </a:p>
          <a:p>
            <a:endParaRPr lang="ru-RU" dirty="0"/>
          </a:p>
          <a:p>
            <a:r>
              <a:rPr lang="ru-RU" dirty="0"/>
              <a:t>Теперь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 ведёт себя так же, как встроенные типы.</a:t>
            </a:r>
          </a:p>
          <a:p>
            <a:endParaRPr lang="ru-RU" dirty="0"/>
          </a:p>
          <a:p>
            <a:r>
              <a:rPr lang="ru-RU" dirty="0"/>
              <a:t>Мы можем считать дробь из потока и вывести её обратно, используя привычный синтаксис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.</a:t>
            </a:r>
          </a:p>
          <a:p>
            <a:r>
              <a:rPr lang="ru-RU" dirty="0"/>
              <a:t>Это и есть цель перегрузки операторов ввода-вывода — сделать пользовательский тип максимально естественным в использовании.</a:t>
            </a:r>
          </a:p>
          <a:p>
            <a:endParaRPr lang="ru-RU" dirty="0"/>
          </a:p>
          <a:p>
            <a:r>
              <a:rPr lang="ru-RU" dirty="0"/>
              <a:t>Дополнительный плюс этого примера в том, что вся проверка корректности — например, проверка знаменателя на ноль и нормализация дроби — уже реализована внутри конструктора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Оператор ввода просто делегирует эту работу, не дублируя логику.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812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145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типичная проблема встроенных типов.</a:t>
            </a:r>
          </a:p>
          <a:p>
            <a:r>
              <a:rPr lang="ru-RU" dirty="0"/>
              <a:t>Один и тот же тип,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может использоваться для совершенно разных сущностей — денег, расстояний, идентификаторов и так далее.</a:t>
            </a:r>
          </a:p>
          <a:p>
            <a:endParaRPr lang="ru-RU" dirty="0"/>
          </a:p>
          <a:p>
            <a:r>
              <a:rPr lang="ru-RU" dirty="0"/>
              <a:t>Компилятор этого не различает, поэтому легко допустить логическую ошибку. В примере мы складываем рубли и доллары, и программа спокойно это делает, хотя с точки зрения предметной области это бессмысленно.</a:t>
            </a:r>
          </a:p>
          <a:p>
            <a:endParaRPr lang="ru-RU" dirty="0"/>
          </a:p>
          <a:p>
            <a:r>
              <a:rPr lang="ru-RU" dirty="0"/>
              <a:t>Такие ошибки сложно заметить, потому что код корректен с точки зрения типов, но неверен по смыслу.</a:t>
            </a:r>
          </a:p>
          <a:p>
            <a:r>
              <a:rPr lang="ru-RU" dirty="0"/>
              <a:t>Именно для решения этой проблемы используются более строгие пользовательские типы.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17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139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Решение этой проблемы — ввести более строгие типы, которые различают значения по смыслу.</a:t>
            </a:r>
          </a:p>
          <a:p>
            <a:endParaRPr lang="ru-RU" dirty="0"/>
          </a:p>
          <a:p>
            <a:r>
              <a:rPr lang="ru-RU" dirty="0"/>
              <a:t>Мы можем сделать это с помощью шаблонного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. Идея в том, что помимо самого значения мы добавляем второй параметр — тип-маркер, который делает тип уникальным.</a:t>
            </a:r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RoublesTag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DollarsTag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— это уже разные типы, и их нельзя случайно сложить.</a:t>
            </a:r>
          </a:p>
          <a:p>
            <a:endParaRPr lang="ru-RU" dirty="0"/>
          </a:p>
          <a:p>
            <a:r>
              <a:rPr lang="ru-RU" dirty="0"/>
              <a:t>Сам маркер при этом не хранится — он нужен только на этапе компиляции.</a:t>
            </a:r>
          </a:p>
          <a:p>
            <a:r>
              <a:rPr lang="ru-RU" dirty="0"/>
              <a:t>Чтобы такой тип было удобно использовать, мы перегружаем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 для доступа к значению, а также оператор сравнения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получаем безопасные типы, которые защищают нас от логических ошибок на уровне компиляции.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75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реализация шаблонного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 хранит значение внутри, но за счёт дополнительного параметра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</a:t>
            </a:r>
            <a:r>
              <a:rPr lang="ru-RU" dirty="0"/>
              <a:t> создаёт новый, уникальный тип. Даже если внутри лежит один и тот 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разные теги делают типы несовместимыми.</a:t>
            </a:r>
          </a:p>
          <a:p>
            <a:endParaRPr lang="ru-RU" dirty="0"/>
          </a:p>
          <a:p>
            <a:r>
              <a:rPr lang="ru-RU" dirty="0"/>
              <a:t>Для удобства использования перегружены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, чтобы можно было работать с внутренним значением почти так же, как напрямую.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</a:t>
            </a:r>
            <a:r>
              <a:rPr lang="ru-RU" dirty="0"/>
              <a:t> реализован по умолчанию — это даёт корректное сравнение значений одного и того же типа.</a:t>
            </a:r>
          </a:p>
          <a:p>
            <a:endParaRPr lang="ru-RU" dirty="0"/>
          </a:p>
          <a:p>
            <a:r>
              <a:rPr lang="ru-RU" dirty="0"/>
              <a:t>Также добавлен оператор вывода в поток, чтобы такие объекты можно было удобно печатать.</a:t>
            </a:r>
          </a:p>
          <a:p>
            <a:endParaRPr lang="ru-RU" dirty="0"/>
          </a:p>
          <a:p>
            <a:r>
              <a:rPr lang="ru-RU" dirty="0"/>
              <a:t>В итоге получается лёгкая обёртка, которая усиливает </a:t>
            </a:r>
            <a:r>
              <a:rPr lang="ru-RU" dirty="0" err="1"/>
              <a:t>типобезопасность</a:t>
            </a:r>
            <a:r>
              <a:rPr lang="ru-RU" dirty="0"/>
              <a:t>, но почти не усложняет использование.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395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на практике.</a:t>
            </a:r>
          </a:p>
          <a:p>
            <a:endParaRPr lang="ru-RU" dirty="0"/>
          </a:p>
          <a:p>
            <a:r>
              <a:rPr lang="ru-RU" dirty="0"/>
              <a:t>Мы объявляем пустую структуру-маркер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UserIdTag</a:t>
            </a:r>
            <a:r>
              <a:rPr lang="ru-RU" dirty="0"/>
              <a:t>, которая нужна только для создания уникального типа. На её основе получаем новый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ru-RU" dirty="0"/>
              <a:t> — это уже не просто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а отдельный тип, который нельзя случайно перепутать с другими строками.</a:t>
            </a:r>
          </a:p>
          <a:p>
            <a:endParaRPr lang="ru-RU" dirty="0"/>
          </a:p>
          <a:p>
            <a:r>
              <a:rPr lang="ru-RU" dirty="0"/>
              <a:t>В классе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ru-RU" dirty="0"/>
              <a:t> для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. Обратите внимание: теперь нельзя присвоить обычную строку напрямую — такая ошибка не скомпилируется.</a:t>
            </a:r>
          </a:p>
          <a:p>
            <a:endParaRPr lang="ru-RU" dirty="0"/>
          </a:p>
          <a:p>
            <a:r>
              <a:rPr lang="ru-RU" dirty="0"/>
              <a:t>При этом пользоваться типом удобно: его можно выводить в поток и работать с ним почти как с обычной строкой.</a:t>
            </a:r>
          </a:p>
          <a:p>
            <a:endParaRPr lang="ru-RU" dirty="0"/>
          </a:p>
          <a:p>
            <a:r>
              <a:rPr lang="ru-RU" dirty="0"/>
              <a:t>Таким образом, мы получаем более безопасный код без лишних усложнений.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190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более компактный способ создания уникального типа — без явной структуры-маркера.</a:t>
            </a:r>
          </a:p>
          <a:p>
            <a:r>
              <a:rPr lang="ru-RU" dirty="0"/>
              <a:t>Мы используем тот факт, что лямбда-выражение имеет уникальный тип, и берём его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decltype</a:t>
            </a:r>
            <a:r>
              <a:rPr lang="ru-RU" dirty="0"/>
              <a:t>. В результате получаем новый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, не объявляя отдельную структуру.</a:t>
            </a:r>
          </a:p>
          <a:p>
            <a:endParaRPr lang="ru-RU" dirty="0"/>
          </a:p>
          <a:p>
            <a:r>
              <a:rPr lang="ru-RU" dirty="0"/>
              <a:t>Дальше всё работает так же: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 — это уже не просто строка, а отдельный тип, который нельзя перепутать с другими идентификаторами.</a:t>
            </a:r>
          </a:p>
          <a:p>
            <a:endParaRPr lang="ru-RU" dirty="0"/>
          </a:p>
          <a:p>
            <a:r>
              <a:rPr lang="ru-RU" dirty="0"/>
              <a:t>Обратите внимание, что такой тип удобно использовать вместе со стандартными алгоритмами. В примере мы ищем книгу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мы получаем </a:t>
            </a:r>
            <a:r>
              <a:rPr lang="ru-RU" dirty="0" err="1"/>
              <a:t>типобезопасность</a:t>
            </a:r>
            <a:r>
              <a:rPr lang="ru-RU" dirty="0"/>
              <a:t> без лишнего шаблонного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487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строим уже более практичный пример — тип для представления денег.</a:t>
            </a:r>
          </a:p>
          <a:p>
            <a:endParaRPr lang="ru-RU" dirty="0"/>
          </a:p>
          <a:p>
            <a:r>
              <a:rPr lang="ru-RU" dirty="0"/>
              <a:t>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, чтобы создать разные валюты на основе одного базового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int64_t</a:t>
            </a:r>
            <a:r>
              <a:rPr lang="ru-RU" dirty="0"/>
              <a:t>. При этом разные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</a:t>
            </a:r>
            <a:r>
              <a:rPr lang="ru-RU" dirty="0"/>
              <a:t> делают валюты несовместимыми между собой.</a:t>
            </a:r>
          </a:p>
          <a:p>
            <a:endParaRPr lang="ru-RU" dirty="0"/>
          </a:p>
          <a:p>
            <a:r>
              <a:rPr lang="ru-RU" dirty="0"/>
              <a:t>Далее перегружаем арифметические операторы. Обратите внимание: операции определены только для одного и того 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</a:t>
            </a:r>
            <a:r>
              <a:rPr lang="ru-RU" dirty="0"/>
              <a:t>, то есть складывать можно только одинаковые валюты.</a:t>
            </a:r>
          </a:p>
          <a:p>
            <a:endParaRPr lang="ru-RU" dirty="0"/>
          </a:p>
          <a:p>
            <a:r>
              <a:rPr lang="ru-RU" dirty="0"/>
              <a:t>Мы также добавляем унарные операции, чтобы тип вёл себя максимально естественно.</a:t>
            </a:r>
          </a:p>
          <a:p>
            <a:endParaRPr lang="ru-RU" dirty="0"/>
          </a:p>
          <a:p>
            <a:r>
              <a:rPr lang="ru-RU" dirty="0"/>
              <a:t>В результате получаем тип, который выглядит как число, но при этом защищает нас от логических ошибок, например от сложения рублей и долларов.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927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объявляем конкретные валюты — рубли, доллары и евро. Все они имеют одинаковую внутреннюю реализацию, но за счёт разных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</a:t>
            </a:r>
            <a:r>
              <a:rPr lang="ru-RU" dirty="0"/>
              <a:t> становятся разными типами.</a:t>
            </a:r>
          </a:p>
          <a:p>
            <a:endParaRPr lang="ru-RU" dirty="0"/>
          </a:p>
          <a:p>
            <a:r>
              <a:rPr lang="ru-RU" dirty="0"/>
              <a:t>Мы добавляем оператор вывода, чтобы удобно печатать значения с указанием валюты.</a:t>
            </a:r>
          </a:p>
          <a:p>
            <a:endParaRPr lang="ru-RU" dirty="0"/>
          </a:p>
          <a:p>
            <a:r>
              <a:rPr lang="ru-RU" dirty="0"/>
              <a:t>Далее видно, что операции работают только внутри одной валюты: рубли складываются с рублями, доллары — с долларами.</a:t>
            </a:r>
          </a:p>
          <a:p>
            <a:endParaRPr lang="ru-RU" dirty="0"/>
          </a:p>
          <a:p>
            <a:r>
              <a:rPr lang="ru-RU" dirty="0"/>
              <a:t>И самое важное — попытка присвоить долларам рубли не компилируется. Это как раз то, ради чего всё делалось: компилятор не даёт смешивать несовместимые значения.</a:t>
            </a:r>
          </a:p>
          <a:p>
            <a:endParaRPr lang="ru-RU" dirty="0"/>
          </a:p>
          <a:p>
            <a:r>
              <a:rPr lang="ru-RU" dirty="0"/>
              <a:t>Таким образом, мы переносим проверку корректности из </a:t>
            </a:r>
            <a:r>
              <a:rPr lang="ru-RU" dirty="0" err="1"/>
              <a:t>runtime</a:t>
            </a:r>
            <a:r>
              <a:rPr lang="ru-RU" dirty="0"/>
              <a:t> в </a:t>
            </a:r>
            <a:r>
              <a:rPr lang="ru-RU" dirty="0" err="1"/>
              <a:t>compile-time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695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делаем следующий шаг — объединяем разные валюты в один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переменная может хранить либо рубли, либо доллары, либо евро.</a:t>
            </a:r>
          </a:p>
          <a:p>
            <a:r>
              <a:rPr lang="ru-RU" dirty="0"/>
              <a:t>Для вывода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ru-RU" dirty="0"/>
              <a:t>: мы передаём функцию, которая умеет печатать любую валюту, и она вызывается для текущего значения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Интереснее выглядит сложение.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ru-RU" dirty="0"/>
              <a:t>, чтобы обработать все возможные комбинации типов.</a:t>
            </a:r>
          </a:p>
          <a:p>
            <a:r>
              <a:rPr lang="ru-RU" dirty="0"/>
              <a:t>Если валюты совпадают — выполняется сложение.</a:t>
            </a:r>
            <a:br>
              <a:rPr lang="ru-RU" dirty="0"/>
            </a:br>
            <a:r>
              <a:rPr lang="ru-RU" dirty="0"/>
              <a:t>Если разные — выбрасывается исключение.</a:t>
            </a:r>
          </a:p>
          <a:p>
            <a:endParaRPr lang="ru-RU" dirty="0"/>
          </a:p>
          <a:p>
            <a:r>
              <a:rPr lang="ru-RU" dirty="0"/>
              <a:t>Важно: такой код компилируется даже для несовместимых валют, но ошибка возникает уже во время выполнения. Это отличие от предыдущего подхода, где несовместимые операции запрещались на этапе компиляции.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817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видно поведение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 на практике.</a:t>
            </a:r>
          </a:p>
          <a:p>
            <a:r>
              <a:rPr lang="ru-RU" dirty="0"/>
              <a:t>Если валюты совпадают, всё работает ожидаемо — доллары складываются с долларами.</a:t>
            </a:r>
          </a:p>
          <a:p>
            <a:endParaRPr lang="ru-RU" dirty="0"/>
          </a:p>
          <a:p>
            <a:r>
              <a:rPr lang="ru-RU" dirty="0"/>
              <a:t>Но если попытаться сложить рубли и доллары, код всё равно компилируется. Это происходит из-за неявного преобразования к типу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Ошибка возникает уже во время выполнения — выбрасывается исключение.</a:t>
            </a:r>
          </a:p>
          <a:p>
            <a:r>
              <a:rPr lang="ru-RU" dirty="0"/>
              <a:t>Это важный момент: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мы ловили такие ошибки на этапе компиляции, а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 — только в </a:t>
            </a:r>
            <a:r>
              <a:rPr lang="ru-RU" dirty="0" err="1"/>
              <a:t>runtime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То есть мы получаем большую гибкость, но теряем часть </a:t>
            </a:r>
            <a:r>
              <a:rPr lang="ru-RU" dirty="0" err="1"/>
              <a:t>типобезопасности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582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048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Литералы позволяют создавать объекты с помощью суффиксов — прямо в коде.</a:t>
            </a:r>
          </a:p>
          <a:p>
            <a:r>
              <a:rPr lang="ru-RU" dirty="0"/>
              <a:t>Вы уже встречали стандартные литералы,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hello"s</a:t>
            </a:r>
            <a:r>
              <a:rPr lang="ru-RU" dirty="0"/>
              <a:t> для строки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125ms</a:t>
            </a:r>
            <a:r>
              <a:rPr lang="ru-RU" dirty="0"/>
              <a:t> для времени. Они делают код короче и понятнее.</a:t>
            </a:r>
          </a:p>
          <a:p>
            <a:endParaRPr lang="ru-RU" dirty="0"/>
          </a:p>
          <a:p>
            <a:r>
              <a:rPr lang="ru-RU" dirty="0"/>
              <a:t>В C++ можно объявлять и свои литералы.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100_usd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"user-1"_UserId</a:t>
            </a:r>
            <a:r>
              <a:rPr lang="ru-RU" dirty="0"/>
              <a:t>. Это особенно удобно в сочетании с нашими типами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Важно, что пользовательские суффиксы должны начинаться с подчёркивания.</a:t>
            </a:r>
          </a:p>
          <a:p>
            <a:endParaRPr lang="ru-RU" dirty="0"/>
          </a:p>
          <a:p>
            <a:r>
              <a:rPr lang="ru-RU" dirty="0"/>
              <a:t>Главная идея здесь — сделать код ближе к предметной области. Вместо “сырых” чисел и строк мы сразу видим смысл значения, и это снижает вероятность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998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простой пример пользовательского литерала.</a:t>
            </a:r>
          </a:p>
          <a:p>
            <a:r>
              <a:rPr lang="ru-RU" dirty="0"/>
              <a:t>Мы объявляем суффикс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deg_to_rad</a:t>
            </a:r>
            <a:r>
              <a:rPr lang="ru-RU" dirty="0"/>
              <a:t>, который автоматически переводит значение из градусов в радианы.</a:t>
            </a:r>
          </a:p>
          <a:p>
            <a:endParaRPr lang="ru-RU" dirty="0"/>
          </a:p>
          <a:p>
            <a:r>
              <a:rPr lang="ru-RU" dirty="0"/>
              <a:t>Теперь вместо явного вызова функции можно писать прямо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180.0_deg_to_rad</a:t>
            </a:r>
            <a:r>
              <a:rPr lang="ru-RU" dirty="0"/>
              <a:t>, и это выглядит гораздо нагляднее.</a:t>
            </a:r>
          </a:p>
          <a:p>
            <a:endParaRPr lang="ru-RU" dirty="0"/>
          </a:p>
          <a:p>
            <a:r>
              <a:rPr lang="ru-RU" dirty="0"/>
              <a:t>Такие литералы позволяют встраивать преобразования прямо в код и делают его ближе к предметной области.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65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добавляем пользовательские литералы для наших валют.</a:t>
            </a:r>
          </a:p>
          <a:p>
            <a:endParaRPr lang="ru-RU" dirty="0"/>
          </a:p>
          <a:p>
            <a:r>
              <a:rPr lang="ru-RU" dirty="0"/>
              <a:t>Идея в том, чтобы можно было писать не просто числа, а сразу значения с типом: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100_usd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50_rur</a:t>
            </a:r>
            <a:r>
              <a:rPr lang="ru-RU" dirty="0"/>
              <a:t>. Это делает код гораздо более выразительным.</a:t>
            </a:r>
          </a:p>
          <a:p>
            <a:endParaRPr lang="ru-RU" dirty="0"/>
          </a:p>
          <a:p>
            <a:r>
              <a:rPr lang="ru-RU" dirty="0"/>
              <a:t>Вспомогательная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MakeCurrency</a:t>
            </a:r>
            <a:r>
              <a:rPr lang="ru-RU" dirty="0"/>
              <a:t> выполняет приведение к нужному типу и заодно проверяет, что значение не выходит за допустимый диапазон.</a:t>
            </a:r>
          </a:p>
          <a:p>
            <a:endParaRPr lang="ru-RU" dirty="0"/>
          </a:p>
          <a:p>
            <a:r>
              <a:rPr lang="ru-RU" dirty="0"/>
              <a:t>Дальше для каждой валюты объявляется свой литерал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</a:t>
            </a:r>
            <a:r>
              <a:rPr lang="ru-RU" dirty="0"/>
              <a:t>. Каждый из них создаёт соответствующий тип.</a:t>
            </a:r>
          </a:p>
          <a:p>
            <a:endParaRPr lang="ru-RU" dirty="0"/>
          </a:p>
          <a:p>
            <a:r>
              <a:rPr lang="ru-RU" dirty="0"/>
              <a:t>В результате мы получаем удобный и безопасный способ работы с деньгами: тип задаётся прямо в месте создания значения, и вероятность ошибки заметно снижается.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525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все элементы складываются вместе.</a:t>
            </a:r>
          </a:p>
          <a:p>
            <a:r>
              <a:rPr lang="ru-RU" dirty="0"/>
              <a:t>Мы используем пользовательские литералы, чтобы создавать значения валют прямо в коде —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100_usd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20_eur</a:t>
            </a:r>
            <a:r>
              <a:rPr lang="ru-RU" dirty="0"/>
              <a:t>. Это делает код более читаемым и уменьшает вероятность ошибок.</a:t>
            </a:r>
          </a:p>
          <a:p>
            <a:endParaRPr lang="ru-RU" dirty="0"/>
          </a:p>
          <a:p>
            <a:r>
              <a:rPr lang="ru-RU" dirty="0"/>
              <a:t>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 позволяет хранить разные валюты,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— гарантирует, что мы не перепутаем идентификаторы.</a:t>
            </a:r>
          </a:p>
          <a:p>
            <a:endParaRPr lang="ru-RU" dirty="0"/>
          </a:p>
          <a:p>
            <a:r>
              <a:rPr lang="ru-RU" dirty="0"/>
              <a:t>В результате получаем код, который близок к предметной области: сразу видно, что происходит — создаются заказы с ценой в конкретной валюте, и операции выполняются только над совместимыми значениями.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30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ещё один удобный приём — использовать сам класс в качестве маркера типа.</a:t>
            </a:r>
          </a:p>
          <a:p>
            <a:endParaRPr lang="ru-RU" dirty="0"/>
          </a:p>
          <a:p>
            <a:r>
              <a:rPr lang="ru-RU" dirty="0"/>
              <a:t>Мы объявляем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&lt;uint64_t,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выступает в роли уникального тега, и нам не нужно создавать отдельную структуру-маркер.</a:t>
            </a:r>
          </a:p>
          <a:p>
            <a:endParaRPr lang="ru-RU" dirty="0"/>
          </a:p>
          <a:p>
            <a:r>
              <a:rPr lang="ru-RU" dirty="0"/>
              <a:t>В результате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становится отдельным типом, который нельзя перепутать с другими идентификаторами, при этом код остаётся компактным и читаемым.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147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делаем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ru-RU" dirty="0"/>
              <a:t> ещё удобнее с помощью пользовательского литерала.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вместо явного создания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ru-RU" dirty="0"/>
              <a:t> можно писать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"user-2"_UserId</a:t>
            </a:r>
            <a:r>
              <a:rPr lang="ru-RU" dirty="0"/>
              <a:t>. Это сокращает код и делает его более читаемым.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такой тип спокойно используется в стандартных контейнерах, например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. Это работает благодаря тому, что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реализован оператор сравнения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&lt;=&gt;</a:t>
            </a:r>
            <a:r>
              <a:rPr lang="ru-RU" dirty="0"/>
              <a:t>, который задаёт порядок элементов.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мы получаем </a:t>
            </a:r>
            <a:r>
              <a:rPr lang="ru-RU" dirty="0" err="1"/>
              <a:t>типобезопасность</a:t>
            </a:r>
            <a:r>
              <a:rPr lang="ru-RU" dirty="0"/>
              <a:t>, поддержку стандартных алгоритмов и удобный синтаксис одновременно.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495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33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используется для доступа к элементам контейнера — например, как в массивах или строках.</a:t>
            </a:r>
          </a:p>
          <a:p>
            <a:endParaRPr lang="ru-RU" dirty="0"/>
          </a:p>
          <a:p>
            <a:r>
              <a:rPr lang="ru-RU" dirty="0"/>
              <a:t>Его можно перегружать для своих классов, если они моделируют структуру данных с доступом по индексу — например, массив, матрицу или словарь.</a:t>
            </a:r>
          </a:p>
          <a:p>
            <a:endParaRPr lang="ru-RU" dirty="0"/>
          </a:p>
          <a:p>
            <a:r>
              <a:rPr lang="ru-RU" dirty="0"/>
              <a:t>В отличие от многих других операторов,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может быть объявлен только как метод класса.</a:t>
            </a:r>
          </a:p>
          <a:p>
            <a:endParaRPr lang="ru-RU" dirty="0"/>
          </a:p>
          <a:p>
            <a:r>
              <a:rPr lang="ru-RU" dirty="0"/>
              <a:t>Обычно делают две версии: </a:t>
            </a:r>
            <a:r>
              <a:rPr lang="ru-RU" dirty="0" err="1"/>
              <a:t>неконстантную</a:t>
            </a:r>
            <a:r>
              <a:rPr lang="ru-RU" dirty="0"/>
              <a:t> — для изменения значения, и константную — для чтения. Обе возвращают ссылку, чтобы можно было работать с элементом напрямую.</a:t>
            </a:r>
          </a:p>
          <a:p>
            <a:endParaRPr lang="ru-RU" dirty="0"/>
          </a:p>
          <a:p>
            <a:r>
              <a:rPr lang="ru-RU" dirty="0"/>
              <a:t>Тип индекса при этом может быть любым — не обязательно числом. Например, в словарях это может быть строка.</a:t>
            </a:r>
          </a:p>
          <a:p>
            <a:endParaRPr lang="ru-RU" dirty="0"/>
          </a:p>
          <a:p>
            <a:r>
              <a:rPr lang="ru-RU" dirty="0"/>
              <a:t>Главная идея — сделать доступ к данным естественным и похожим на работу со стандартными контейнерами.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618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перегрузки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для собственного класса строки.</a:t>
            </a:r>
          </a:p>
          <a:p>
            <a:endParaRPr lang="ru-RU" dirty="0"/>
          </a:p>
          <a:p>
            <a:r>
              <a:rPr lang="ru-RU" dirty="0"/>
              <a:t>Мы реализуем две версии: </a:t>
            </a:r>
            <a:r>
              <a:rPr lang="ru-RU" dirty="0" err="1"/>
              <a:t>неконстантную</a:t>
            </a:r>
            <a:r>
              <a:rPr lang="ru-RU" dirty="0"/>
              <a:t> — для изменения символа, и константную — для чтения. Обе возвращают ссылку на символ.</a:t>
            </a:r>
          </a:p>
          <a:p>
            <a:endParaRPr lang="ru-RU" dirty="0"/>
          </a:p>
          <a:p>
            <a:r>
              <a:rPr lang="ru-RU" dirty="0"/>
              <a:t>Внутри есть проверка границ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, чтобы избежать выхода за пределы строки.</a:t>
            </a:r>
          </a:p>
          <a:p>
            <a:endParaRPr lang="ru-RU" dirty="0"/>
          </a:p>
          <a:p>
            <a:r>
              <a:rPr lang="ru-RU" dirty="0"/>
              <a:t>В результате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можно использовать так же, как обычную строку: читать и изменять символы через индекс.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48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C++23 появилась возможность перегружать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с несколькими аргументами.</a:t>
            </a:r>
          </a:p>
          <a:p>
            <a:endParaRPr lang="ru-RU" dirty="0"/>
          </a:p>
          <a:p>
            <a:r>
              <a:rPr lang="ru-RU" dirty="0"/>
              <a:t>Это позволяет писать,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[i, j]</a:t>
            </a:r>
            <a:r>
              <a:rPr lang="ru-RU" dirty="0"/>
              <a:t>, что выглядит гораздо ближе к математической записи и удобнее, чем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[i][j]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(i, j)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здесь есть важный нюанс: это работает только для пользовательских типов. Для встроенных массивов ничего не изменилось.</a:t>
            </a:r>
          </a:p>
          <a:p>
            <a:endParaRPr lang="ru-RU" dirty="0"/>
          </a:p>
          <a:p>
            <a:r>
              <a:rPr lang="ru-RU" dirty="0"/>
              <a:t>Если вы напишете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[i, j]</a:t>
            </a:r>
            <a:r>
              <a:rPr lang="ru-RU" dirty="0"/>
              <a:t>, это будет работать как оператор запятая и фактически превратится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[j]</a:t>
            </a:r>
            <a:r>
              <a:rPr lang="ru-RU" dirty="0"/>
              <a:t>. Это поведение осталось для совместимости с C.</a:t>
            </a:r>
          </a:p>
          <a:p>
            <a:endParaRPr lang="ru-RU" dirty="0"/>
          </a:p>
          <a:p>
            <a:r>
              <a:rPr lang="ru-RU" dirty="0"/>
              <a:t>Поэтому новый синтаксис — это именно расширение возможностей перегрузки операторов, а не изменение поведения языка для всех типов.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48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использовать новый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из C++23 на практике.</a:t>
            </a:r>
          </a:p>
          <a:p>
            <a:endParaRPr lang="ru-RU" dirty="0"/>
          </a:p>
          <a:p>
            <a:r>
              <a:rPr lang="ru-RU" dirty="0"/>
              <a:t>Мы реализуем его с двумя параметрами — строка и столбец. Теперь можно обращаться к элементу матрицы напрямую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m[1, 2]</a:t>
            </a:r>
            <a:r>
              <a:rPr lang="ru-RU" dirty="0"/>
              <a:t>, без цепочек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[][]</a:t>
            </a:r>
            <a:r>
              <a:rPr lang="ru-RU" dirty="0"/>
              <a:t> или альтернативного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Внутри мы просто проверяем границы и возвращаем ссылку на нужный элемент.</a:t>
            </a:r>
          </a:p>
          <a:p>
            <a:endParaRPr lang="ru-RU" dirty="0"/>
          </a:p>
          <a:p>
            <a:r>
              <a:rPr lang="ru-RU" dirty="0"/>
              <a:t>Обратите внимание, что реализованы две версии — для чтения и для записи, как и в обычном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интерфейс становится более естественным и ближе к математической записи, а код — проще и понятнее.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468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C++23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мог принимать только один аргумент.</a:t>
            </a:r>
          </a:p>
          <a:p>
            <a:endParaRPr lang="ru-RU" dirty="0"/>
          </a:p>
          <a:p>
            <a:r>
              <a:rPr lang="ru-RU" dirty="0"/>
              <a:t>Это означает, что запись вида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[i, j]</a:t>
            </a:r>
            <a:r>
              <a:rPr lang="ru-RU" dirty="0"/>
              <a:t> была невозможна.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Приходилось использовать либо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[i][j]</a:t>
            </a:r>
            <a:r>
              <a:rPr lang="ru-RU" dirty="0"/>
              <a:t>, либо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(i, j)</a:t>
            </a:r>
            <a:r>
              <a:rPr lang="ru-RU" dirty="0"/>
              <a:t>.</a:t>
            </a:r>
          </a:p>
          <a:p>
            <a:r>
              <a:rPr lang="ru-RU" dirty="0"/>
              <a:t>Если мы хотим поддержать именно синтаксис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[i][j]</a:t>
            </a:r>
            <a:r>
              <a:rPr lang="ru-RU" dirty="0"/>
              <a:t>, возникает проблема: первый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получает только индекс строки и ещё не знает столбец.</a:t>
            </a:r>
          </a:p>
          <a:p>
            <a:endParaRPr lang="ru-RU" dirty="0"/>
          </a:p>
          <a:p>
            <a:r>
              <a:rPr lang="ru-RU" dirty="0"/>
              <a:t>Значит, он не может вернуть сам элемент.</a:t>
            </a:r>
          </a:p>
          <a:p>
            <a:endParaRPr lang="ru-RU" dirty="0"/>
          </a:p>
          <a:p>
            <a:r>
              <a:rPr lang="ru-RU" dirty="0"/>
              <a:t>Решение — вернуть не элемент, а специальный промежуточный объект, который запомнит строку и будет ожидать второй индекс.</a:t>
            </a:r>
          </a:p>
          <a:p>
            <a:endParaRPr lang="ru-RU" dirty="0"/>
          </a:p>
          <a:p>
            <a:r>
              <a:rPr lang="ru-RU" dirty="0"/>
              <a:t>Такой объект называют </a:t>
            </a:r>
            <a:r>
              <a:rPr lang="ru-RU" dirty="0" err="1"/>
              <a:t>proxy</a:t>
            </a:r>
            <a:r>
              <a:rPr lang="ru-RU" dirty="0"/>
              <a:t>-объектом.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81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это реализуется.</a:t>
            </a:r>
          </a:p>
          <a:p>
            <a:r>
              <a:rPr lang="ru-RU" dirty="0"/>
              <a:t>Первый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возвращает не элемент, а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RowProxy</a:t>
            </a:r>
            <a:r>
              <a:rPr lang="ru-RU" dirty="0"/>
              <a:t>. Этот </a:t>
            </a:r>
            <a:r>
              <a:rPr lang="en-US" dirty="0" err="1"/>
              <a:t>RowProxy</a:t>
            </a:r>
            <a:r>
              <a:rPr lang="en-US" dirty="0"/>
              <a:t> </a:t>
            </a:r>
            <a:r>
              <a:rPr lang="ru-RU" dirty="0"/>
              <a:t>хранит ссылку на строку матрицы.</a:t>
            </a:r>
          </a:p>
          <a:p>
            <a:endParaRPr lang="ru-RU" dirty="0"/>
          </a:p>
          <a:p>
            <a:r>
              <a:rPr lang="ru-RU" dirty="0"/>
              <a:t>Дальше уже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RowProxy</a:t>
            </a:r>
            <a:r>
              <a:rPr lang="ru-RU" dirty="0"/>
              <a:t> есть свой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, который принимает индекс столбца и возвращает нужный элемент.</a:t>
            </a:r>
          </a:p>
          <a:p>
            <a:r>
              <a:rPr lang="ru-RU" dirty="0"/>
              <a:t>Таким образом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m[1][2]</a:t>
            </a:r>
            <a:r>
              <a:rPr lang="ru-RU" dirty="0"/>
              <a:t> разбивается на два шага:</a:t>
            </a:r>
            <a:r>
              <a:rPr lang="en-US" dirty="0"/>
              <a:t> </a:t>
            </a:r>
            <a:r>
              <a:rPr lang="ru-RU" dirty="0"/>
              <a:t>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m[1]</a:t>
            </a:r>
            <a:r>
              <a:rPr lang="ru-RU" dirty="0"/>
              <a:t> возвращает </a:t>
            </a:r>
            <a:r>
              <a:rPr lang="ru-RU" dirty="0" err="1"/>
              <a:t>proxy</a:t>
            </a:r>
            <a:r>
              <a:rPr lang="ru-RU" dirty="0"/>
              <a:t> для строки,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[2]</a:t>
            </a:r>
            <a:r>
              <a:rPr lang="ru-RU" dirty="0"/>
              <a:t> обращается к элементу внутри неё.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здесь есть две версии — для константного и </a:t>
            </a:r>
            <a:r>
              <a:rPr lang="ru-RU" dirty="0" err="1"/>
              <a:t>неконстантного</a:t>
            </a:r>
            <a:r>
              <a:rPr lang="ru-RU" dirty="0"/>
              <a:t> доступа. Это нужно, чтобы корректно работать как с чтением, так и с изменением элементов.</a:t>
            </a:r>
          </a:p>
          <a:p>
            <a:endParaRPr lang="en-US" dirty="0"/>
          </a:p>
          <a:p>
            <a:r>
              <a:rPr lang="ru-RU" dirty="0"/>
              <a:t>Такой подход работает, но требует дополнительного класса и усложняет реализацию. Именно поэтому в C++23 появился более простой и естественный способ — передавать несколько индексов сразу.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4125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9064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Операторы инкремента и декремента имеют две формы — префиксную и постфиксную.</a:t>
            </a:r>
          </a:p>
          <a:p>
            <a:endParaRPr lang="ru-RU" dirty="0"/>
          </a:p>
          <a:p>
            <a:r>
              <a:rPr lang="ru-RU" dirty="0"/>
              <a:t>Префиксная форма,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++a</a:t>
            </a:r>
            <a:r>
              <a:rPr lang="ru-RU" dirty="0"/>
              <a:t>, сначала изменяет объект, а затем возвращает ссылку на него. Это позволяет использовать результат дальше, например в выражениях.</a:t>
            </a:r>
          </a:p>
          <a:p>
            <a:endParaRPr lang="ru-RU" dirty="0"/>
          </a:p>
          <a:p>
            <a:r>
              <a:rPr lang="ru-RU" dirty="0"/>
              <a:t>Постфиксная форма,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a++</a:t>
            </a:r>
            <a:r>
              <a:rPr lang="ru-RU" dirty="0"/>
              <a:t>, работает иначе: она должна вернуть старое значение до изменения. Поэтому внутри обычно создаётся копия.</a:t>
            </a:r>
          </a:p>
          <a:p>
            <a:endParaRPr lang="ru-RU" dirty="0"/>
          </a:p>
          <a:p>
            <a:r>
              <a:rPr lang="ru-RU" dirty="0"/>
              <a:t>С точки зрения интерфейса они отличаются сигнатурой: у постфиксной формы есть дополнительный параметр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который не используется и нужен только для различия.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446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почти всегда начинают с реализации префиксной формы.</a:t>
            </a:r>
          </a:p>
          <a:p>
            <a:r>
              <a:rPr lang="ru-RU" dirty="0"/>
              <a:t>Она проще: мы изменяем объект и возвращаем ссылку на него.</a:t>
            </a:r>
          </a:p>
          <a:p>
            <a:endParaRPr lang="ru-RU" dirty="0"/>
          </a:p>
          <a:p>
            <a:r>
              <a:rPr lang="ru-RU" dirty="0"/>
              <a:t>Постфиксную форму обычно реализуют через префиксную. Сначала создаётся копия текущего состояния, затем вызывается префиксный оператор, и в конце возвращается сохранённая копия.</a:t>
            </a:r>
          </a:p>
          <a:p>
            <a:endParaRPr lang="ru-RU" dirty="0"/>
          </a:p>
          <a:p>
            <a:r>
              <a:rPr lang="ru-RU" dirty="0"/>
              <a:t>Важно понимать, что постфиксная форма потенциально дороже, потому что требует создания временного объекта. Поэтому в реальном коде, если нет необходимости в старом значении, предпочтительнее использовать префиксную форму.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286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не обязан означать буквально “прибавить единицу к числу”. Для пользовательского типа он должен означать естественный переход к следующему значению.</a:t>
            </a:r>
          </a:p>
          <a:p>
            <a:endParaRPr lang="ru-RU" dirty="0"/>
          </a:p>
          <a:p>
            <a:r>
              <a:rPr lang="ru-RU" dirty="0"/>
              <a:t>Для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dirty="0"/>
              <a:t> такой переход — следующий календарный день. Здесь уже есть настоящая логика: нужно учитывать конец месяца, переход на следующий год и високосные годы.</a:t>
            </a:r>
          </a:p>
          <a:p>
            <a:endParaRPr lang="ru-RU" dirty="0"/>
          </a:p>
          <a:p>
            <a:r>
              <a:rPr lang="ru-RU" dirty="0"/>
              <a:t>Префиксная форма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dirty="0"/>
              <a:t> изменяет дату и возвращает новое значение. Постфиксная форма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сначала сохраняет старую дату, затем вызывает префиксный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и возвращает прежнее значение.</a:t>
            </a:r>
          </a:p>
          <a:p>
            <a:endParaRPr lang="ru-RU" dirty="0"/>
          </a:p>
          <a:p>
            <a:r>
              <a:rPr lang="ru-RU" dirty="0"/>
              <a:t>Такой пример хорошо показывает, зачем перегружать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: мы делаем пользовательский тип удобным, но сохраняем ожидаемую семантику оператора.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377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уже более реалистичный пример перегрузки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— итератор двусвязного списка.</a:t>
            </a:r>
          </a:p>
          <a:p>
            <a:endParaRPr lang="ru-RU" dirty="0"/>
          </a:p>
          <a:p>
            <a:r>
              <a:rPr lang="ru-RU" dirty="0"/>
              <a:t>Итератор хранит указатель на текущий узел списка, и операция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означает переход к следующему элементу.</a:t>
            </a:r>
          </a:p>
          <a:p>
            <a:r>
              <a:rPr lang="ru-RU" dirty="0"/>
              <a:t>Префиксная форма просто сдвигает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 и возвращает ссылку на самого себя. Это основной и наиболее эффективный вариант.</a:t>
            </a:r>
          </a:p>
          <a:p>
            <a:endParaRPr lang="ru-RU" dirty="0"/>
          </a:p>
          <a:p>
            <a:r>
              <a:rPr lang="ru-RU" dirty="0"/>
              <a:t>Постфиксная форма работает через префиксную: сначала сохраняется копия текущего итератора, затем выполняется переход вперёд, и возвращается старая версия.</a:t>
            </a:r>
          </a:p>
          <a:p>
            <a:endParaRPr lang="ru-RU" dirty="0"/>
          </a:p>
          <a:p>
            <a:r>
              <a:rPr lang="ru-RU" dirty="0"/>
              <a:t>Обратите внимание, что 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— это уже не арифметическая операция, а переход по структуре данных. Это хороший пример того, как перегрузка операторов позволяет выразить естественное поведение пользовательского типа.</a:t>
            </a:r>
          </a:p>
          <a:p>
            <a:endParaRPr lang="ru-RU" dirty="0"/>
          </a:p>
          <a:p>
            <a:r>
              <a:rPr lang="ru-RU" dirty="0"/>
              <a:t>Дополнительно объявлены служебные типы, чтобы итератор был совместим со стандартными алгоритмами.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925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lang="ru-RU" dirty="0"/>
              <a:t> можно перегружать не только как методы класса, но и как обычные функции.</a:t>
            </a:r>
          </a:p>
          <a:p>
            <a:endParaRPr lang="ru-RU" dirty="0"/>
          </a:p>
          <a:p>
            <a:r>
              <a:rPr lang="ru-RU" dirty="0"/>
              <a:t>В этом случае объект передаётся в качестве аргумента. Для постфиксной формы добавляется фиктивный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чтобы отличить её от префиксной.</a:t>
            </a:r>
          </a:p>
          <a:p>
            <a:endParaRPr lang="ru-RU" dirty="0"/>
          </a:p>
          <a:p>
            <a:r>
              <a:rPr lang="ru-RU" dirty="0"/>
              <a:t>Такой подход используется редко — в основном тогда, когда мы не можем изменить исходный код класса.</a:t>
            </a:r>
          </a:p>
          <a:p>
            <a:endParaRPr lang="ru-RU" dirty="0"/>
          </a:p>
          <a:p>
            <a:r>
              <a:rPr lang="ru-RU" dirty="0"/>
              <a:t>Если при этом нужен доступ к приватным данным, функцию можно объявить дружественной.</a:t>
            </a:r>
          </a:p>
          <a:p>
            <a:endParaRPr lang="ru-RU" dirty="0"/>
          </a:p>
          <a:p>
            <a:r>
              <a:rPr lang="ru-RU" dirty="0"/>
              <a:t>Однако в большинстве случаев предпочтительнее реализовывать эти операторы как методы класса — это проще, понятнее и лучше соответствует ожидаемому стилю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157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920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нам нужно преобразовать объект пользовательского типа к другому типу — например, получить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из рационального числа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из строки.\</a:t>
            </a:r>
          </a:p>
          <a:p>
            <a:endParaRPr lang="ru-RU" dirty="0"/>
          </a:p>
          <a:p>
            <a:r>
              <a:rPr lang="ru-RU" dirty="0"/>
              <a:t>В C++ для этого можно перегружать оператор приведения типа. Он задаёт, как объект преобразуется к другому типу.</a:t>
            </a:r>
          </a:p>
          <a:p>
            <a:endParaRPr lang="ru-RU" dirty="0"/>
          </a:p>
          <a:p>
            <a:r>
              <a:rPr lang="ru-RU" dirty="0"/>
              <a:t>Такой оператор может вызываться как явно, так и неявно, что делает использование типа более удобным — его можно передавать в функции, ожидающие другой тип.</a:t>
            </a:r>
          </a:p>
          <a:p>
            <a:endParaRPr lang="ru-RU" dirty="0"/>
          </a:p>
          <a:p>
            <a:r>
              <a:rPr lang="ru-RU" dirty="0"/>
              <a:t>Однако здесь есть важный момент: неявные преобразования могут приводить к неожиданным ошибкам. Поэтому использовать такие операторы нужно аккуратно.</a:t>
            </a:r>
          </a:p>
          <a:p>
            <a:endParaRPr lang="ru-RU" dirty="0"/>
          </a:p>
          <a:p>
            <a:r>
              <a:rPr lang="ru-RU" dirty="0"/>
              <a:t>В современных библиотеках часто предпочитают явные методы,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c_str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ToDouble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чтобы избежать неочевидного поведения.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09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мог бы выглядеть оператор приведения для класса строки.</a:t>
            </a:r>
          </a:p>
          <a:p>
            <a:endParaRPr lang="ru-RU" dirty="0"/>
          </a:p>
          <a:p>
            <a:r>
              <a:rPr lang="ru-RU" dirty="0"/>
              <a:t>Мы возвращаем указатель на внутренний буфер, чтобы объект можно было использовать там, где ожидается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позволяет писать более компактный код — например, передавать строку напрямую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у такого подхода есть серьёзный недостаток: преобразование происходит неявно. Это может приводить к неожиданным эффектам, например к неочевидным арифметическим операциям с указателями.</a:t>
            </a:r>
          </a:p>
          <a:p>
            <a:endParaRPr lang="ru-RU" dirty="0"/>
          </a:p>
          <a:p>
            <a:r>
              <a:rPr lang="ru-RU" dirty="0"/>
              <a:t>Именно поэтому в стандартной библиотеке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не используется оператор приведения, а вместо него есть явный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c_str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делает код чуть более многословным, но гораздо более безопасным.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77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оператора приведения для рационального числа.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просто делим числитель на знаменатель и возвращаем результат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 Обратите внимание на явное приведение числителя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чтобы избежать целочисленного деления.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оператор делает использование типа удобным: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 можно автоматически преобразовать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например при присваивании или передаче в функцию.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здесь есть два важных момента. Во-первых, происходит потеря точности, так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не может точно представить все дроби. Во-вторых, преобразование может происходить неявно, что иногда приводит к неожиданному поведению.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такие операторы стоит использовать аккуратно и только там, где преобразование действительно естественно.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757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Операторы приведения типов могут быть неявными или явными.</a:t>
            </a:r>
          </a:p>
          <a:p>
            <a:endParaRPr lang="ru-RU" dirty="0"/>
          </a:p>
          <a:p>
            <a:r>
              <a:rPr lang="ru-RU" dirty="0"/>
              <a:t>Если оператор объявлен без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, преобразование может происходить автоматически. Это удобно, но может привести к неожиданному поведению — например, к выбору не той перегрузки функции.</a:t>
            </a:r>
          </a:p>
          <a:p>
            <a:endParaRPr lang="ru-RU" dirty="0"/>
          </a:p>
          <a:p>
            <a:r>
              <a:rPr lang="ru-RU" dirty="0"/>
              <a:t>Если добавить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, преобразование станет только явным. Его нужно будет писать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.</a:t>
            </a:r>
          </a:p>
          <a:p>
            <a:r>
              <a:rPr lang="ru-RU" dirty="0"/>
              <a:t>Это делает код немного более многословным, но значительно более безопасным.</a:t>
            </a:r>
          </a:p>
          <a:p>
            <a:endParaRPr lang="ru-RU" dirty="0"/>
          </a:p>
          <a:p>
            <a:r>
              <a:rPr lang="ru-RU" dirty="0"/>
              <a:t>Общее правило простое: если преобразование может быть неоднозначным или связано с потерей точности, лучше сделать его явным.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5582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1194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Функциональный объект — это объект, для которого перегружен оператор круглых скобок. Благодаря этому его можно вызывать так же, как обычную функцию.</a:t>
            </a:r>
          </a:p>
          <a:p>
            <a:endParaRPr lang="ru-RU" dirty="0"/>
          </a:p>
          <a:p>
            <a:r>
              <a:rPr lang="ru-RU" dirty="0"/>
              <a:t>Ключевое отличие от обычной функции — наличие состояния. Объект может хранить данные в полях и использовать их при каждом вызове. Это позволяет “настроить” его поведение один раз при создании и затем переиспользовать.</a:t>
            </a:r>
          </a:p>
          <a:p>
            <a:endParaRPr lang="ru-RU" dirty="0"/>
          </a:p>
          <a:p>
            <a:r>
              <a:rPr lang="ru-RU" dirty="0"/>
              <a:t>Под настраиваемым поведением здесь понимается следующее: мы можем передать объект с определёнными параметрами внутрь алгоритма. Например, не просто “что-то сделать с элементами”, а “прибавить 5”, “умножить на коэффициент”, “сравнивать по определённому правилу”. Эти параметры хранятся внутри объекта.</a:t>
            </a:r>
          </a:p>
          <a:p>
            <a:endParaRPr lang="ru-RU" dirty="0"/>
          </a:p>
          <a:p>
            <a:r>
              <a:rPr lang="ru-RU" dirty="0"/>
              <a:t>Кроме того, у функционального объекта есть конкретный тип, в отличие от обычных функций. Это важно для шаблонов и позволяет компилятору лучше оптимизировать код.</a:t>
            </a:r>
          </a:p>
          <a:p>
            <a:endParaRPr lang="ru-RU" dirty="0"/>
          </a:p>
          <a:p>
            <a:r>
              <a:rPr lang="ru-RU" dirty="0"/>
              <a:t>На практике такие объекты активно используются в алгоритмах STL, например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for_each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</a:t>
            </a:r>
            <a:r>
              <a:rPr lang="ru-RU" dirty="0"/>
              <a:t>, а также лежат в основе лямбда-выражений, которые вы уже могли видеть.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3502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практичный пример функционального объекта.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описываем условие “больше заданного значения”. Это значение — параметр, который передаётся в конструктор и хранится внутри объекта.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проверяет, подходит ли элемент под это условие.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мы можем передать такой объект в алгоритм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find_if</a:t>
            </a:r>
            <a:r>
              <a:rPr lang="ru-RU" dirty="0"/>
              <a:t>, и он будет использовать нашу логику.</a:t>
            </a:r>
          </a:p>
          <a:p>
            <a:r>
              <a:rPr lang="ru-RU" dirty="0"/>
              <a:t>Это и есть настраиваемое поведение: мы не просто передаём функцию, а передаём объект с параметрами, который определяет, как именно должен работать алгоритм.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16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Главное отличие функционального объекта от обычной функции — наличие состояния.</a:t>
            </a:r>
          </a:p>
          <a:p>
            <a:endParaRPr lang="ru-RU" dirty="0"/>
          </a:p>
          <a:p>
            <a:r>
              <a:rPr lang="ru-RU" dirty="0"/>
              <a:t>Функтор — это обычный объект, у которого есть поля. Эти поля могут хранить параметры или внутреннее состояние, которое сохраняется между вызовами.</a:t>
            </a:r>
          </a:p>
          <a:p>
            <a:endParaRPr lang="ru-RU" dirty="0"/>
          </a:p>
          <a:p>
            <a:r>
              <a:rPr lang="ru-RU" dirty="0"/>
              <a:t>В отличие от функции, где результат зависит только от аргументов, у функтора результат может зависеть ещё и от текущего состояния объекта.</a:t>
            </a:r>
          </a:p>
          <a:p>
            <a:endParaRPr lang="ru-RU" dirty="0"/>
          </a:p>
          <a:p>
            <a:r>
              <a:rPr lang="ru-RU" dirty="0"/>
              <a:t>Это позволяет создавать настраиваемое поведение: мы один раз создаём объект с нужными параметрами, а затем многократно его используем.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110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функтора с изменяемым состоянием — генератор псевдослучайных чисел.</a:t>
            </a:r>
          </a:p>
          <a:p>
            <a:endParaRPr lang="ru-RU" dirty="0"/>
          </a:p>
          <a:p>
            <a:r>
              <a:rPr lang="ru-RU" dirty="0"/>
              <a:t>Внутри объекта хранится текущее состояние генератора —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m_seed</a:t>
            </a:r>
            <a:r>
              <a:rPr lang="ru-RU" dirty="0"/>
              <a:t>. Каждый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изменяет это состояние и возвращает новое число.</a:t>
            </a:r>
          </a:p>
          <a:p>
            <a:endParaRPr lang="ru-RU" dirty="0"/>
          </a:p>
          <a:p>
            <a:r>
              <a:rPr lang="ru-RU" dirty="0"/>
              <a:t>Обратите внимание: метод не принимает аргументов, но при каждом вызове возвращает разные значения. Это как раз происходит за счёт изменения внутреннего состояния.</a:t>
            </a:r>
          </a:p>
          <a:p>
            <a:endParaRPr lang="ru-RU" dirty="0"/>
          </a:p>
          <a:p>
            <a:r>
              <a:rPr lang="ru-RU" dirty="0"/>
              <a:t>Также есть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dirty="0"/>
              <a:t>, который позволяет изменить начальное состояние генератора.</a:t>
            </a:r>
          </a:p>
          <a:p>
            <a:endParaRPr lang="ru-RU" dirty="0"/>
          </a:p>
          <a:p>
            <a:r>
              <a:rPr lang="ru-RU" dirty="0"/>
              <a:t>Это хороший пример того, где функтор естественно подходит: объект одновременно хранит состояние и реализует поведение, которое зависит от этого состояния.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6411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Функциональные объекты активно используются в стандартной библиотеке.</a:t>
            </a:r>
          </a:p>
          <a:p>
            <a:endParaRPr lang="ru-RU" dirty="0"/>
          </a:p>
          <a:p>
            <a:r>
              <a:rPr lang="ru-RU" dirty="0"/>
              <a:t>Контейнеры не “зашивают” внутрь себя логику сравнения или хеширования. Вместо этого они принимают функторы, которые определяют это поведение.</a:t>
            </a:r>
          </a:p>
          <a:p>
            <a:endParaRPr lang="ru-RU" dirty="0"/>
          </a:p>
          <a:p>
            <a:r>
              <a:rPr lang="ru-RU" dirty="0"/>
              <a:t>Например,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используется функтор сравнения, 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— функтор хеширования.</a:t>
            </a:r>
          </a:p>
          <a:p>
            <a:endParaRPr lang="ru-RU" dirty="0"/>
          </a:p>
          <a:p>
            <a:r>
              <a:rPr lang="ru-RU" dirty="0"/>
              <a:t>Это как раз пример настраиваемого поведения: мы можем передать свою логику внутрь контейнера, и он будет работать так, как нам нужно.</a:t>
            </a:r>
          </a:p>
          <a:p>
            <a:endParaRPr lang="ru-RU" dirty="0"/>
          </a:p>
          <a:p>
            <a:r>
              <a:rPr lang="ru-RU" dirty="0"/>
              <a:t>Таким образом, функторы позволяют делать стандартные компоненты гибкими и расширяемыми.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6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проблема, которая возникает при использовании пользовательского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Контейнер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работает, потому что ему нужен только оператор сравнения, который у нас уже есть.</a:t>
            </a:r>
          </a:p>
          <a:p>
            <a:endParaRPr lang="ru-RU" dirty="0"/>
          </a:p>
          <a:p>
            <a:r>
              <a:rPr lang="ru-RU" dirty="0"/>
              <a:t>А вот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требует хеш-функцию. Для нашего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 она не определена, поэтому такой код не компилируется.</a:t>
            </a:r>
          </a:p>
          <a:p>
            <a:endParaRPr lang="ru-RU" dirty="0"/>
          </a:p>
          <a:p>
            <a:r>
              <a:rPr lang="ru-RU" dirty="0"/>
              <a:t>Это типичная ситуация: стандартная библиотека не знает, как работать с пользовательским типом, пока мы явно не опишем нужное поведение.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4053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решаем эту проблему с помощью функтора.</a:t>
            </a:r>
          </a:p>
          <a:p>
            <a:endParaRPr lang="ru-RU" dirty="0"/>
          </a:p>
          <a:p>
            <a:r>
              <a:rPr lang="ru-RU" dirty="0"/>
              <a:t>Мы создаём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TaggedHasher</a:t>
            </a:r>
            <a:r>
              <a:rPr lang="ru-RU" dirty="0"/>
              <a:t> и перегружаем в ней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Этот оператор принимает объект и возвращает его </a:t>
            </a:r>
            <a:r>
              <a:rPr lang="ru-RU" dirty="0" err="1"/>
              <a:t>хеш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что мы не придумываем свою хеш-функцию с нуля, а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hash</a:t>
            </a:r>
            <a:r>
              <a:rPr lang="ru-RU" dirty="0"/>
              <a:t> для внутреннего значения.</a:t>
            </a:r>
          </a:p>
          <a:p>
            <a:endParaRPr lang="ru-RU" dirty="0"/>
          </a:p>
          <a:p>
            <a:r>
              <a:rPr lang="ru-RU" dirty="0"/>
              <a:t>Дальше мы передаём этот функтор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как третий параметр шаблона.</a:t>
            </a:r>
          </a:p>
          <a:p>
            <a:endParaRPr lang="ru-RU" dirty="0"/>
          </a:p>
          <a:p>
            <a:r>
              <a:rPr lang="ru-RU" dirty="0"/>
              <a:t>В результате контейнер получает всю необходимую информацию и может работать с нашим типом.</a:t>
            </a:r>
          </a:p>
          <a:p>
            <a:endParaRPr lang="ru-RU" dirty="0"/>
          </a:p>
          <a:p>
            <a:r>
              <a:rPr lang="ru-RU" dirty="0"/>
              <a:t>Это хороший пример того, как функторы позволяют интегрировать пользовательские типы в стандартную библиотеку.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495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более удобный способ интеграции нашего типа в стандартную библиотеку.</a:t>
            </a:r>
          </a:p>
          <a:p>
            <a:r>
              <a:rPr lang="ru-RU" dirty="0"/>
              <a:t>Вместо того чтобы каждый раз явно передавать </a:t>
            </a:r>
            <a:r>
              <a:rPr lang="ru-RU" dirty="0" err="1"/>
              <a:t>хешер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, мы можем специализировать шаблон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hash</a:t>
            </a:r>
            <a:r>
              <a:rPr lang="ru-RU" dirty="0"/>
              <a:t> для нашего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объявляем специализацию в пространстве имён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dirty="0"/>
              <a:t> и внутри просто делегируем вычисление </a:t>
            </a:r>
            <a:r>
              <a:rPr lang="ru-RU" dirty="0" err="1"/>
              <a:t>хеша</a:t>
            </a:r>
            <a:r>
              <a:rPr lang="ru-RU" dirty="0"/>
              <a:t> нашему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TaggedHasher</a:t>
            </a:r>
            <a:r>
              <a:rPr lang="ru-RU" dirty="0"/>
              <a:t>.</a:t>
            </a:r>
          </a:p>
          <a:p>
            <a:r>
              <a:rPr lang="ru-RU" dirty="0"/>
              <a:t>После этого стандартные контейнеры автоматически начинают использовать эту реализацию. В результате код становится чище — больше не нужно явно указывать </a:t>
            </a:r>
            <a:r>
              <a:rPr lang="ru-RU" dirty="0" err="1"/>
              <a:t>хешер</a:t>
            </a:r>
            <a:r>
              <a:rPr lang="ru-RU" dirty="0"/>
              <a:t> при каждом использовании.</a:t>
            </a:r>
          </a:p>
          <a:p>
            <a:endParaRPr lang="ru-RU" dirty="0"/>
          </a:p>
          <a:p>
            <a:r>
              <a:rPr lang="ru-RU" dirty="0"/>
              <a:t>Это стандартный приём: если вы хотите, чтобы пользовательский тип “естественно” работал со стандартными контейнерами, нужно определить для него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помнить, что такие специализации разрешено добавлять только для пользовательских типов.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1676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операторов — мощный инструмент, но его легко использовать неправильно.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Главное правило — поведение должно быть ожидаемым. Если по записи невозможно понять, что происходит, лучше использовать обычный метод.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не должен иметь неожиданных побочных эффектов. Например,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 не должно изменять операнды.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важно не нарушать семантику. Если вы перегружаете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он должен означать равенство, а не “похожесть” или что-то ещё.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обычный метод делает код понятнее, лучше выбрать его. Перегрузка операторов — это не про сокращение кода, а про выразительность.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3612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операторов позволяет сделать пользовательские типы более удобными и естественными в использовании.</a:t>
            </a:r>
          </a:p>
          <a:p>
            <a:endParaRPr lang="ru-RU" dirty="0"/>
          </a:p>
          <a:p>
            <a:r>
              <a:rPr lang="ru-RU" dirty="0"/>
              <a:t>Главная цель — приблизить код к предметной области. Например, чтобы векторы складывались как векторы, а не через вызовы методов.</a:t>
            </a:r>
          </a:p>
          <a:p>
            <a:endParaRPr lang="ru-RU" dirty="0"/>
          </a:p>
          <a:p>
            <a:r>
              <a:rPr lang="ru-RU" dirty="0"/>
              <a:t>При этом важно соблюдать баланс: сохранять ожидаемую семантику, не злоупотреблять неявными преобразованиями и выбирать правильный способ реализации.</a:t>
            </a:r>
          </a:p>
          <a:p>
            <a:endParaRPr lang="ru-RU" dirty="0"/>
          </a:p>
          <a:p>
            <a:r>
              <a:rPr lang="ru-RU" dirty="0"/>
              <a:t>Мы видели, что перегрузка активно используется в стандартной библиотеке — в контейнерах, итераторах, алгоритмах.</a:t>
            </a:r>
          </a:p>
          <a:p>
            <a:endParaRPr lang="ru-RU" dirty="0"/>
          </a:p>
          <a:p>
            <a:r>
              <a:rPr lang="ru-RU"/>
              <a:t>Ключевая мысль лекции: </a:t>
            </a:r>
            <a:r>
              <a:rPr lang="ru-RU" dirty="0"/>
              <a:t>оператор — это часть интерфейса. Он должен делать код понятнее, а не усложнять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B54ED-772F-4740-A910-62A8A6C6233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3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0742-3EB5-4D73-A285-29B272A3E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59FE6-5BD4-4268-B1FD-47C700EAB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333A-5F35-4C7E-9454-A39BE528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93A3-506F-423F-96C1-6B90A649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89C5-098B-4BE9-8397-7EF2BCA6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09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ABE7-CD62-419E-A6D2-58266C14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3EF99-36E6-4FE7-80E4-3610FA3F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6B1C6-82E2-4471-96EB-F9A35912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CA441-4148-40CC-B27A-16031473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5934C-0EEA-40B6-AEBE-C61F2769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40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8CBF-3C68-4120-8147-CDD4A5FD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29F89-F265-4813-9430-A345741B5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20550-EA9A-4D85-8A29-482ADAE5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5AFEE-034E-4913-92A1-E503BB1A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4F5D6-A572-4CCC-BED6-D8016EB7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75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EA51-2CB2-46BB-9379-14716DBE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FAA29-6800-422B-99B3-BB4F08360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D0893-70C9-464F-9085-6414CCDD0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460F0-6FAB-4D82-ACEE-85162741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6D572-F298-4D7D-A105-85185496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04713-FC42-4D9B-B579-A2BC5805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93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A1EE-4BC4-4540-A72D-7421A005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C4C8C-BC11-43BB-AFDB-2F96CE9A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0920F-F65A-40E4-9B95-096A491AB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632FC-E7D1-4F42-9FA1-43DF76CE5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61AEB-6694-4BB4-8F5A-2D158ED2A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4DE2C-0EFB-4144-B0B0-34C8BE21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67337-C532-42A1-8D57-58D20452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170C65-858B-4CBB-AFA4-A28A01CE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0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B9B8-5058-4146-8BBC-A18B8D11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75859-D675-46F2-935D-4461FD24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5CFB1-521F-4EC8-930A-3F74E57A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D57B5-7072-49E6-B38C-1F683550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79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F7EC8-5F92-4FCE-A132-63D4FB05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6639E-411B-4FED-BAB9-7C9B8B21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0E5C-865D-466D-970F-F00BD9C2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26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3D4D-AEB9-4217-B195-A69C5E102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4BB75-AFFB-47EA-82B4-7EA14BC8E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DD26F-1469-4507-A7FA-DA220BEB5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6CBCD-C877-4EDD-B4F6-43A6D842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65369-6E1C-4BE7-A2B8-C8B48B2A4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6517F-D28B-4D7A-A744-9ED56457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53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CEC8-A2D1-487F-9F52-A4818A64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BA1E2-6DF5-49F7-9ADA-9483F56DD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97A55-D766-44D5-B93B-2EC824881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D26AB-B3B5-4C08-A99A-C55E86A6A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B28EA-F2A3-4E0C-916C-4987F6C2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654EE-5F6B-41D8-8BC4-DFD788C9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49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7F74-0165-4BF7-8478-00399F4E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11C3F-C77D-4C65-9002-712F1E9E1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B728-ED45-4416-BFA7-2EADAD04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988C2-8624-4212-B6A9-2AC99798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26A4A-6245-49BE-8816-D1B251F2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45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04D15-35B8-4D5B-85CF-4ADC71714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53C74-4DC0-459A-942E-790F7A7A1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204ED-D4B1-4DCB-AC4D-9B69EDBB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C4634-C2CC-4460-8690-74745D35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D91CE-6DD8-4CA9-BE27-2EFC8F3D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30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01B1D-614A-4EA7-8B82-BFD58480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FE1D9-76CD-42A7-88DA-1DF3CB8A0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6685B-FAC0-412F-AC48-2C45DCB67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DC9DB-4351-496A-8E1E-BE8C25C40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B5036-30CD-4D6B-99A5-3B2D4C488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86580D-69D4-4E21-969C-1757B646BE5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21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hash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h4EgO13Etg" TargetMode="External"/><Relationship Id="rId2" Type="http://schemas.openxmlformats.org/officeDocument/2006/relationships/hyperlink" Target="https://en.cppreference.com/w/cpp/language/opera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Дружественные функции и классы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AC3EAFC-26FA-3DF1-0C38-4916BA41E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F45B8-4223-4D8A-B7AC-2F586FAF2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254" y="2923833"/>
            <a:ext cx="3197746" cy="391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3209-D73B-3604-0351-748ABB64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en-US" dirty="0"/>
              <a:t>friend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947BE-0E91-BE77-8B6D-C2CDF38A7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friend</a:t>
            </a:r>
            <a:r>
              <a:rPr lang="ru-RU" dirty="0"/>
              <a:t> — это способ дать внешней функции или другому классу доступ к закрытым членам класса</a:t>
            </a:r>
          </a:p>
          <a:p>
            <a:r>
              <a:rPr lang="ru-RU" dirty="0"/>
              <a:t>Что важно:</a:t>
            </a:r>
          </a:p>
          <a:p>
            <a:pPr lvl="1"/>
            <a:r>
              <a:rPr lang="ru-RU" dirty="0"/>
              <a:t>дружественная функция не становится методом класса </a:t>
            </a:r>
          </a:p>
          <a:p>
            <a:pPr lvl="1"/>
            <a:r>
              <a:rPr lang="ru-RU" dirty="0"/>
              <a:t>доступ выдаётся явно и точечно </a:t>
            </a:r>
          </a:p>
          <a:p>
            <a:pPr lvl="1"/>
            <a:r>
              <a:rPr lang="ru-RU" dirty="0"/>
              <a:t>дружба не взаимна </a:t>
            </a:r>
          </a:p>
          <a:p>
            <a:pPr lvl="1"/>
            <a:r>
              <a:rPr lang="ru-RU" dirty="0"/>
              <a:t>дружба не наследуется </a:t>
            </a:r>
          </a:p>
          <a:p>
            <a:r>
              <a:rPr lang="ru-RU" dirty="0"/>
              <a:t>Когда это полезно:</a:t>
            </a:r>
          </a:p>
          <a:p>
            <a:pPr lvl="1"/>
            <a:r>
              <a:rPr lang="ru-RU" dirty="0"/>
              <a:t>для внешних операций, тесно связанных с классом </a:t>
            </a:r>
          </a:p>
          <a:p>
            <a:pPr lvl="1"/>
            <a:r>
              <a:rPr lang="ru-RU" dirty="0"/>
              <a:t>для совместной работы двух тесно связанных классов </a:t>
            </a:r>
          </a:p>
          <a:p>
            <a:pPr lvl="1"/>
            <a:r>
              <a:rPr lang="ru-RU" dirty="0"/>
              <a:t>когда не хочется раскрывать внутреннее устройство через лишние </a:t>
            </a:r>
            <a:r>
              <a:rPr lang="ru-RU" dirty="0" err="1"/>
              <a:t>public</a:t>
            </a:r>
            <a:r>
              <a:rPr lang="ru-RU" dirty="0"/>
              <a:t>-методы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0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Дружественные функции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Дружественная функция:</a:t>
            </a:r>
          </a:p>
          <a:p>
            <a:pPr lvl="1"/>
            <a:r>
              <a:rPr lang="ru-RU" dirty="0"/>
              <a:t>объявляется внутри класса с ключевым словом </a:t>
            </a:r>
            <a:r>
              <a:rPr lang="ru-RU" dirty="0" err="1"/>
              <a:t>friend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может обращаться к </a:t>
            </a:r>
            <a:r>
              <a:rPr lang="ru-RU" dirty="0" err="1"/>
              <a:t>private</a:t>
            </a:r>
            <a:r>
              <a:rPr lang="ru-RU" dirty="0"/>
              <a:t> и </a:t>
            </a:r>
            <a:r>
              <a:rPr lang="ru-RU" dirty="0" err="1"/>
              <a:t>protected</a:t>
            </a:r>
            <a:r>
              <a:rPr lang="ru-RU" dirty="0"/>
              <a:t> членам </a:t>
            </a:r>
          </a:p>
          <a:p>
            <a:pPr lvl="1"/>
            <a:r>
              <a:rPr lang="ru-RU" dirty="0"/>
              <a:t>не является методом класса </a:t>
            </a:r>
          </a:p>
          <a:p>
            <a:r>
              <a:rPr lang="ru-RU" dirty="0"/>
              <a:t>Когда использовать:</a:t>
            </a:r>
          </a:p>
          <a:p>
            <a:pPr lvl="1"/>
            <a:r>
              <a:rPr lang="ru-RU" dirty="0"/>
              <a:t>для симметричных внешних операций </a:t>
            </a:r>
          </a:p>
          <a:p>
            <a:pPr lvl="1"/>
            <a:r>
              <a:rPr lang="ru-RU" dirty="0"/>
              <a:t>для операторов ввода-вывода </a:t>
            </a:r>
          </a:p>
          <a:p>
            <a:pPr lvl="1"/>
            <a:r>
              <a:rPr lang="ru-RU" dirty="0"/>
              <a:t>для функций, которым нужен доступ к внутреннему состоянию объекта </a:t>
            </a:r>
          </a:p>
          <a:p>
            <a:r>
              <a:rPr lang="ru-RU" dirty="0"/>
              <a:t>Типичный пример:</a:t>
            </a:r>
          </a:p>
          <a:p>
            <a:pPr lvl="1"/>
            <a:r>
              <a:rPr lang="ru-RU" dirty="0" err="1"/>
              <a:t>operator</a:t>
            </a:r>
            <a:r>
              <a:rPr lang="ru-RU" dirty="0"/>
              <a:t>&lt;&lt; </a:t>
            </a:r>
          </a:p>
          <a:p>
            <a:pPr lvl="1"/>
            <a:r>
              <a:rPr lang="ru-RU" dirty="0" err="1"/>
              <a:t>operator</a:t>
            </a:r>
            <a:r>
              <a:rPr lang="ru-RU" dirty="0"/>
              <a:t>== </a:t>
            </a:r>
          </a:p>
          <a:p>
            <a:pPr lvl="1"/>
            <a:r>
              <a:rPr lang="ru-RU" dirty="0"/>
              <a:t>внешняя функция сериализации или форматированного вывода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EA6A5-9BCB-1FFE-B634-61E4D2F3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 </a:t>
            </a:r>
            <a:r>
              <a:rPr lang="ru-RU" dirty="0"/>
              <a:t>дружественной функции: вывод в поток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73E76-D781-C6C4-83AD-42656C5226BC}"/>
              </a:ext>
            </a:extLst>
          </p:cNvPr>
          <p:cNvSpPr txBox="1"/>
          <p:nvPr/>
        </p:nvSpPr>
        <p:spPr>
          <a:xfrm>
            <a:off x="807479" y="1690688"/>
            <a:ext cx="111365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operator&lt;&lt;(std::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operator&lt;&lt;(std::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User{name: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.m_name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age: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270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Дружественные классы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Дружественный класс — это класс, которому разрешён доступ к </a:t>
            </a:r>
            <a:r>
              <a:rPr lang="ru-RU" dirty="0" err="1"/>
              <a:t>private</a:t>
            </a:r>
            <a:r>
              <a:rPr lang="ru-RU" dirty="0"/>
              <a:t> и </a:t>
            </a:r>
            <a:r>
              <a:rPr lang="ru-RU" dirty="0" err="1"/>
              <a:t>protected</a:t>
            </a:r>
            <a:r>
              <a:rPr lang="ru-RU" dirty="0"/>
              <a:t> членам другого класса</a:t>
            </a:r>
          </a:p>
          <a:p>
            <a:r>
              <a:rPr lang="ru-RU" dirty="0"/>
              <a:t>Когда использовать:</a:t>
            </a:r>
          </a:p>
          <a:p>
            <a:pPr lvl="1"/>
            <a:r>
              <a:rPr lang="ru-RU" dirty="0"/>
              <a:t>если два класса тесно сотрудничают </a:t>
            </a:r>
          </a:p>
          <a:p>
            <a:pPr lvl="1"/>
            <a:r>
              <a:rPr lang="ru-RU" dirty="0"/>
              <a:t>если один класс является вспомогательным по отношению к другому </a:t>
            </a:r>
          </a:p>
          <a:p>
            <a:pPr lvl="1"/>
            <a:r>
              <a:rPr lang="ru-RU" dirty="0"/>
              <a:t>если без </a:t>
            </a:r>
            <a:r>
              <a:rPr lang="ru-RU" dirty="0" err="1"/>
              <a:t>friend</a:t>
            </a:r>
            <a:r>
              <a:rPr lang="ru-RU" dirty="0"/>
              <a:t> пришлось бы открывать наружу детали реализации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доступ получают все методы дружественного класса </a:t>
            </a:r>
          </a:p>
          <a:p>
            <a:pPr lvl="1"/>
            <a:r>
              <a:rPr lang="ru-RU" dirty="0"/>
              <a:t>дружба не взаимна автоматически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49080-B854-680A-0C6C-151967A3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дружественного класса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19199-B060-3A2A-01AB-3F1D582E8D3A}"/>
              </a:ext>
            </a:extLst>
          </p:cNvPr>
          <p:cNvSpPr txBox="1"/>
          <p:nvPr/>
        </p:nvSpPr>
        <p:spPr>
          <a:xfrm>
            <a:off x="191344" y="1844824"/>
            <a:ext cx="6408712" cy="4185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PasswordManager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UserAccount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UserAccount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PasswordManager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36EF5-07A4-E8E4-1B4F-294662F1653E}"/>
              </a:ext>
            </a:extLst>
          </p:cNvPr>
          <p:cNvSpPr txBox="1"/>
          <p:nvPr/>
        </p:nvSpPr>
        <p:spPr>
          <a:xfrm>
            <a:off x="4055096" y="4437112"/>
            <a:ext cx="8136904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PasswordManager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CheckPassword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UserAccount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ChangePassword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UserAccount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.m_passwordHash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newHash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205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46D13B-638A-C30D-1B9B-B2542F10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Антипаттерны</a:t>
            </a:r>
            <a:r>
              <a:rPr lang="ru-RU" dirty="0"/>
              <a:t> использования </a:t>
            </a:r>
            <a:r>
              <a:rPr lang="en-US" dirty="0"/>
              <a:t>friend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D9F89-BF3A-35FF-62E1-7B97934A7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ru-RU" dirty="0" err="1"/>
              <a:t>friend</a:t>
            </a:r>
            <a:r>
              <a:rPr lang="ru-RU" dirty="0"/>
              <a:t> — плохая идея:</a:t>
            </a:r>
          </a:p>
          <a:p>
            <a:pPr lvl="1"/>
            <a:r>
              <a:rPr lang="ru-RU" dirty="0"/>
              <a:t>Используется “для удобства”, чтобы не писать геттеры</a:t>
            </a:r>
            <a:endParaRPr lang="en-US" dirty="0"/>
          </a:p>
          <a:p>
            <a:pPr lvl="1"/>
            <a:r>
              <a:rPr lang="ru-RU" dirty="0"/>
              <a:t>Класс раздаёт доступ слишком многим функциям и классам</a:t>
            </a:r>
            <a:endParaRPr lang="en-US" dirty="0"/>
          </a:p>
          <a:p>
            <a:pPr lvl="1"/>
            <a:r>
              <a:rPr lang="ru-RU" dirty="0"/>
              <a:t>Нарушается инкапсуляция без веской причины</a:t>
            </a:r>
            <a:endParaRPr lang="en-US" dirty="0"/>
          </a:p>
          <a:p>
            <a:pPr lvl="1"/>
            <a:r>
              <a:rPr lang="ru-RU" dirty="0" err="1"/>
              <a:t>friend</a:t>
            </a:r>
            <a:r>
              <a:rPr lang="ru-RU" dirty="0"/>
              <a:t> используется вместо продуманного интерфейса</a:t>
            </a:r>
            <a:endParaRPr lang="en-US" dirty="0"/>
          </a:p>
          <a:p>
            <a:pPr lvl="1"/>
            <a:r>
              <a:rPr lang="ru-RU" dirty="0"/>
              <a:t>Сильная связность между классами без необходимости</a:t>
            </a:r>
          </a:p>
          <a:p>
            <a:r>
              <a:rPr lang="ru-RU" dirty="0"/>
              <a:t>Хорошая практика:</a:t>
            </a:r>
            <a:endParaRPr lang="en-US" dirty="0"/>
          </a:p>
          <a:p>
            <a:pPr lvl="1"/>
            <a:r>
              <a:rPr lang="ru-RU" dirty="0"/>
              <a:t> Сначала проектируйте </a:t>
            </a:r>
            <a:r>
              <a:rPr lang="ru-RU" dirty="0" err="1"/>
              <a:t>public</a:t>
            </a:r>
            <a:r>
              <a:rPr lang="ru-RU" dirty="0"/>
              <a:t>-интерфейс</a:t>
            </a:r>
            <a:endParaRPr lang="en-US" dirty="0"/>
          </a:p>
          <a:p>
            <a:pPr lvl="1"/>
            <a:r>
              <a:rPr lang="ru-RU" dirty="0"/>
              <a:t>Используйте </a:t>
            </a:r>
            <a:r>
              <a:rPr lang="ru-RU" dirty="0" err="1"/>
              <a:t>friend</a:t>
            </a:r>
            <a:r>
              <a:rPr lang="ru-RU" dirty="0"/>
              <a:t> только при реальной необходимости</a:t>
            </a:r>
            <a:endParaRPr lang="en-US" dirty="0"/>
          </a:p>
          <a:p>
            <a:pPr lvl="1"/>
            <a:r>
              <a:rPr lang="ru-RU" dirty="0"/>
              <a:t>Давайте доступ минимально возможному числу сущностей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7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Перегрузка операций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3CD03-241F-2D8F-12C9-7BCC14483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6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480BB7-C28F-16EA-0069-DB8C03A7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операций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D90829-9834-8202-32D5-9241CFDA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Перегрузка операторов — это способ задать поведение операторов для своих типов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Vector2D a, b;</a:t>
            </a:r>
            <a:br>
              <a:rPr lang="ru-RU" dirty="0"/>
            </a:br>
            <a:r>
              <a:rPr lang="ru-RU" dirty="0" err="1"/>
              <a:t>auto</a:t>
            </a:r>
            <a:r>
              <a:rPr lang="ru-RU" dirty="0"/>
              <a:t> c = a + b;</a:t>
            </a:r>
          </a:p>
          <a:p>
            <a:r>
              <a:rPr lang="ru-RU" dirty="0"/>
              <a:t>Главные правила:</a:t>
            </a:r>
          </a:p>
          <a:p>
            <a:pPr lvl="1"/>
            <a:r>
              <a:rPr lang="ru-RU" dirty="0"/>
              <a:t>Оператор должен вести себя ожидаемо</a:t>
            </a:r>
          </a:p>
          <a:p>
            <a:pPr lvl="1"/>
            <a:r>
              <a:rPr lang="ru-RU" dirty="0"/>
              <a:t>Семантика не должна нарушаться</a:t>
            </a:r>
          </a:p>
          <a:p>
            <a:pPr lvl="1"/>
            <a:r>
              <a:rPr lang="ru-RU" dirty="0"/>
              <a:t>Код должен быть понятнее, а не “умнее”</a:t>
            </a:r>
          </a:p>
          <a:p>
            <a:r>
              <a:rPr lang="ru-RU" dirty="0"/>
              <a:t>Плохие примеры:</a:t>
            </a:r>
          </a:p>
          <a:p>
            <a:pPr lvl="1"/>
            <a:r>
              <a:rPr lang="ru-RU" dirty="0"/>
              <a:t>a + b делает что-то неожиданное</a:t>
            </a:r>
          </a:p>
          <a:p>
            <a:pPr lvl="1"/>
            <a:r>
              <a:rPr lang="ru-RU" dirty="0"/>
              <a:t>Операция выглядит дешёвой, а на деле - дорогая</a:t>
            </a:r>
          </a:p>
          <a:p>
            <a:pPr lvl="1"/>
            <a:r>
              <a:rPr lang="ru-RU" dirty="0"/>
              <a:t>Оператор скрывает сложную логику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6581-27C9-06C6-F239-E3E76F7A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объявлять оператор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9FE89-A389-B832-87E3-E34D21AC6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Метод класса</a:t>
            </a:r>
            <a:endParaRPr lang="ru-RU" dirty="0"/>
          </a:p>
          <a:p>
            <a:pPr lvl="1"/>
            <a:r>
              <a:rPr lang="ru-RU" dirty="0"/>
              <a:t>a += b;</a:t>
            </a:r>
          </a:p>
          <a:p>
            <a:pPr lvl="1"/>
            <a:r>
              <a:rPr lang="ru-RU" dirty="0"/>
              <a:t>✔ есть доступ к </a:t>
            </a:r>
            <a:r>
              <a:rPr lang="ru-RU" dirty="0" err="1"/>
              <a:t>this</a:t>
            </a:r>
            <a:br>
              <a:rPr lang="ru-RU" dirty="0"/>
            </a:br>
            <a:r>
              <a:rPr lang="ru-RU" dirty="0"/>
              <a:t>✔ для модифицирующих операций</a:t>
            </a:r>
            <a:br>
              <a:rPr lang="ru-RU" dirty="0"/>
            </a:br>
            <a:r>
              <a:rPr lang="ru-RU" dirty="0"/>
              <a:t>❌ нет симметрии</a:t>
            </a:r>
          </a:p>
          <a:p>
            <a:r>
              <a:rPr lang="ru-RU" b="1" dirty="0"/>
              <a:t>Внешняя функция</a:t>
            </a:r>
            <a:endParaRPr lang="ru-RU" dirty="0"/>
          </a:p>
          <a:p>
            <a:pPr lvl="1"/>
            <a:r>
              <a:rPr lang="ru-RU" dirty="0"/>
              <a:t>a + b;</a:t>
            </a:r>
          </a:p>
          <a:p>
            <a:pPr lvl="1"/>
            <a:r>
              <a:rPr lang="ru-RU" dirty="0"/>
              <a:t>✔ симметрия</a:t>
            </a:r>
            <a:br>
              <a:rPr lang="ru-RU" dirty="0"/>
            </a:br>
            <a:r>
              <a:rPr lang="ru-RU" dirty="0"/>
              <a:t>✔ подходит, если левый операнд не наш тип</a:t>
            </a:r>
            <a:br>
              <a:rPr lang="ru-RU" dirty="0"/>
            </a:br>
            <a:r>
              <a:rPr lang="ru-RU" dirty="0"/>
              <a:t>❌ нет доступа к </a:t>
            </a:r>
            <a:r>
              <a:rPr lang="ru-RU" dirty="0" err="1"/>
              <a:t>private</a:t>
            </a:r>
            <a:endParaRPr lang="ru-RU" dirty="0"/>
          </a:p>
          <a:p>
            <a:r>
              <a:rPr lang="ru-RU" b="1" dirty="0" err="1"/>
              <a:t>friend</a:t>
            </a:r>
            <a:r>
              <a:rPr lang="ru-RU" b="1" dirty="0"/>
              <a:t>-функция</a:t>
            </a:r>
            <a:endParaRPr lang="ru-RU" dirty="0"/>
          </a:p>
          <a:p>
            <a:pPr lvl="1"/>
            <a:r>
              <a:rPr lang="ru-RU" dirty="0" err="1"/>
              <a:t>friend</a:t>
            </a:r>
            <a:r>
              <a:rPr lang="ru-RU" dirty="0"/>
              <a:t> T </a:t>
            </a:r>
            <a:r>
              <a:rPr lang="ru-RU" dirty="0" err="1"/>
              <a:t>operator</a:t>
            </a:r>
            <a:r>
              <a:rPr lang="ru-RU" dirty="0"/>
              <a:t>+(...);</a:t>
            </a:r>
          </a:p>
          <a:p>
            <a:pPr lvl="1"/>
            <a:r>
              <a:rPr lang="ru-RU" dirty="0"/>
              <a:t>✔ симметрия + доступ к </a:t>
            </a:r>
            <a:r>
              <a:rPr lang="ru-RU" dirty="0" err="1"/>
              <a:t>private</a:t>
            </a:r>
            <a:endParaRPr lang="ru-RU" dirty="0"/>
          </a:p>
          <a:p>
            <a:pPr lvl="1"/>
            <a:r>
              <a:rPr lang="ru-RU" dirty="0"/>
              <a:t>❌ усиливает связность</a:t>
            </a:r>
          </a:p>
          <a:p>
            <a:r>
              <a:rPr lang="ru-RU" dirty="0"/>
              <a:t>Ограничения:</a:t>
            </a:r>
          </a:p>
          <a:p>
            <a:pPr lvl="1"/>
            <a:r>
              <a:rPr lang="ru-RU" dirty="0"/>
              <a:t>нельзя перегрузить ::, ., ?:, </a:t>
            </a:r>
            <a:r>
              <a:rPr lang="ru-RU" dirty="0" err="1"/>
              <a:t>sizeof</a:t>
            </a:r>
            <a:r>
              <a:rPr lang="ru-RU" dirty="0"/>
              <a:t> и др. </a:t>
            </a:r>
          </a:p>
          <a:p>
            <a:pPr lvl="1"/>
            <a:r>
              <a:rPr lang="ru-RU" dirty="0"/>
              <a:t>нельзя менять приоритет и число аргументов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54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ru-RU" dirty="0"/>
              <a:t>Перегрузка арифметических операций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DE1A6-9EF7-81B9-2FEF-A87B70E61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перегружать арифметические операторы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Перегрузка уместна, если тип имеет </a:t>
            </a:r>
            <a:r>
              <a:rPr lang="ru-RU" b="1" dirty="0"/>
              <a:t>естественную арифметику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векторы → a + b, a - b </a:t>
            </a:r>
          </a:p>
          <a:p>
            <a:pPr lvl="1"/>
            <a:r>
              <a:rPr lang="ru-RU" dirty="0"/>
              <a:t>комплексные числа → a * b </a:t>
            </a:r>
          </a:p>
          <a:p>
            <a:pPr lvl="1"/>
            <a:r>
              <a:rPr lang="ru-RU" dirty="0"/>
              <a:t>рациональные числа → a / b </a:t>
            </a:r>
          </a:p>
          <a:p>
            <a:pPr lvl="1"/>
            <a:r>
              <a:rPr lang="ru-RU" dirty="0"/>
              <a:t>величины → </a:t>
            </a:r>
            <a:r>
              <a:rPr lang="ru-RU" dirty="0" err="1"/>
              <a:t>distance</a:t>
            </a:r>
            <a:r>
              <a:rPr lang="ru-RU" dirty="0"/>
              <a:t> + </a:t>
            </a:r>
            <a:r>
              <a:rPr lang="ru-RU" dirty="0" err="1"/>
              <a:t>distance</a:t>
            </a:r>
            <a:r>
              <a:rPr lang="ru-RU" dirty="0"/>
              <a:t> </a:t>
            </a:r>
          </a:p>
          <a:p>
            <a:r>
              <a:rPr lang="ru-RU" dirty="0"/>
              <a:t>Что важно учитывать:</a:t>
            </a:r>
          </a:p>
          <a:p>
            <a:pPr lvl="1"/>
            <a:r>
              <a:rPr lang="ru-RU" dirty="0"/>
              <a:t>Операции должны соответствовать смыслу предметной области</a:t>
            </a:r>
          </a:p>
          <a:p>
            <a:pPr lvl="1"/>
            <a:r>
              <a:rPr lang="ru-RU" dirty="0"/>
              <a:t>Результат должен быть математически ожидаемым</a:t>
            </a:r>
          </a:p>
          <a:p>
            <a:pPr lvl="1"/>
            <a:r>
              <a:rPr lang="ru-RU" dirty="0"/>
              <a:t>Операции должны быть согласованы между собой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0F696-7C4D-EFEC-560F-B9675BD348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Типичные операции:</a:t>
            </a:r>
          </a:p>
          <a:p>
            <a:pPr lvl="1"/>
            <a:r>
              <a:rPr lang="ru-RU" dirty="0"/>
              <a:t>a + b</a:t>
            </a:r>
          </a:p>
          <a:p>
            <a:pPr lvl="1"/>
            <a:r>
              <a:rPr lang="ru-RU" dirty="0"/>
              <a:t>a – b</a:t>
            </a:r>
          </a:p>
          <a:p>
            <a:pPr lvl="1"/>
            <a:r>
              <a:rPr lang="ru-RU" dirty="0"/>
              <a:t>a * k, k * a</a:t>
            </a:r>
          </a:p>
          <a:p>
            <a:pPr lvl="1"/>
            <a:r>
              <a:rPr lang="ru-RU" dirty="0"/>
              <a:t>a += b</a:t>
            </a:r>
          </a:p>
          <a:p>
            <a:r>
              <a:rPr lang="ru-RU" dirty="0"/>
              <a:t>Не стоит перегружать:</a:t>
            </a:r>
          </a:p>
          <a:p>
            <a:pPr lvl="1"/>
            <a:r>
              <a:rPr lang="ru-RU" dirty="0"/>
              <a:t>❌ если нет “естественной” арифметики</a:t>
            </a:r>
          </a:p>
          <a:p>
            <a:pPr lvl="1"/>
            <a:r>
              <a:rPr lang="ru-RU" dirty="0"/>
              <a:t>❌ если операция может ввести в заблуждение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оператора сложения внутри класса</a:t>
            </a:r>
            <a:r>
              <a:rPr lang="en-US" dirty="0"/>
              <a:t> Vector2D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70A5C-10DD-52A1-A493-35FDC92DA9E3}"/>
              </a:ext>
            </a:extLst>
          </p:cNvPr>
          <p:cNvSpPr txBox="1"/>
          <p:nvPr/>
        </p:nvSpPr>
        <p:spPr>
          <a:xfrm>
            <a:off x="838200" y="1772816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x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.x, y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оператора сложения вне класса </a:t>
            </a:r>
            <a:r>
              <a:rPr lang="en-US" dirty="0"/>
              <a:t>Vector2D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1C8B4-5F07-1441-9B2C-1A5859DDB328}"/>
              </a:ext>
            </a:extLst>
          </p:cNvPr>
          <p:cNvSpPr txBox="1"/>
          <p:nvPr/>
        </p:nvSpPr>
        <p:spPr>
          <a:xfrm>
            <a:off x="838200" y="169068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дружественного оператора сложения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3FED4-09C2-AA67-8827-EF1242A0CDAF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Какой способ перегрузки выбрать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Бинарные операции (+, -, *, /):</a:t>
            </a:r>
          </a:p>
          <a:p>
            <a:pPr lvl="1"/>
            <a:r>
              <a:rPr lang="ru-RU" dirty="0"/>
              <a:t>Обычно реализуются </a:t>
            </a:r>
            <a:r>
              <a:rPr lang="ru-RU" b="1" dirty="0"/>
              <a:t>вне класса</a:t>
            </a:r>
          </a:p>
          <a:p>
            <a:pPr lvl="1"/>
            <a:r>
              <a:rPr lang="ru-RU" dirty="0"/>
              <a:t>Часто как </a:t>
            </a:r>
            <a:r>
              <a:rPr lang="ru-RU" dirty="0" err="1"/>
              <a:t>friend</a:t>
            </a:r>
            <a:r>
              <a:rPr lang="ru-RU" dirty="0"/>
              <a:t> (если нужен доступ к </a:t>
            </a:r>
            <a:r>
              <a:rPr lang="ru-RU" dirty="0" err="1"/>
              <a:t>private</a:t>
            </a:r>
            <a:r>
              <a:rPr lang="ru-RU" dirty="0"/>
              <a:t>) </a:t>
            </a:r>
          </a:p>
          <a:p>
            <a:pPr lvl="2"/>
            <a:r>
              <a:rPr lang="ru-RU" dirty="0"/>
              <a:t>обеспечивает симметрию: a + b</a:t>
            </a:r>
          </a:p>
          <a:p>
            <a:r>
              <a:rPr lang="ru-RU" dirty="0"/>
              <a:t>Операции со скаляром:</a:t>
            </a:r>
          </a:p>
          <a:p>
            <a:pPr lvl="1"/>
            <a:r>
              <a:rPr lang="ru-RU" dirty="0" err="1"/>
              <a:t>vector</a:t>
            </a:r>
            <a:r>
              <a:rPr lang="ru-RU" dirty="0"/>
              <a:t> * </a:t>
            </a:r>
            <a:r>
              <a:rPr lang="ru-RU" dirty="0" err="1"/>
              <a:t>scalar</a:t>
            </a:r>
            <a:r>
              <a:rPr lang="ru-RU" dirty="0"/>
              <a:t> — можно как метод или внешнюю</a:t>
            </a:r>
            <a:br>
              <a:rPr lang="ru-RU" dirty="0"/>
            </a:br>
            <a:r>
              <a:rPr lang="ru-RU" dirty="0" err="1"/>
              <a:t>scalar</a:t>
            </a:r>
            <a:r>
              <a:rPr lang="ru-RU" dirty="0"/>
              <a:t> * </a:t>
            </a:r>
            <a:r>
              <a:rPr lang="ru-RU" dirty="0" err="1"/>
              <a:t>vector</a:t>
            </a:r>
            <a:r>
              <a:rPr lang="ru-RU" dirty="0"/>
              <a:t> — только внешняя функция</a:t>
            </a:r>
          </a:p>
          <a:p>
            <a:r>
              <a:rPr lang="ru-RU" dirty="0"/>
              <a:t>Практическое правило:</a:t>
            </a:r>
          </a:p>
          <a:p>
            <a:pPr lvl="1"/>
            <a:r>
              <a:rPr lang="ru-RU" dirty="0"/>
              <a:t>Модифицирующие (+=, *=) → методы класса</a:t>
            </a:r>
          </a:p>
          <a:p>
            <a:pPr lvl="1"/>
            <a:r>
              <a:rPr lang="ru-RU" dirty="0" err="1"/>
              <a:t>Немодифицирующие</a:t>
            </a:r>
            <a:r>
              <a:rPr lang="ru-RU" dirty="0"/>
              <a:t> (+, *) → внешние функции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Умножение и деление вектора и скаляра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E16C4-E2D5-E7E1-CEE1-B0F7BC66F730}"/>
              </a:ext>
            </a:extLst>
          </p:cNvPr>
          <p:cNvSpPr txBox="1"/>
          <p:nvPr/>
        </p:nvSpPr>
        <p:spPr>
          <a:xfrm>
            <a:off x="838200" y="1696616"/>
            <a:ext cx="8308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так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Vector2D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operator/(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Vector2D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1B698AA-DF01-DD06-4AE3-25E34C02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 как лучше перегрузить сложение дробей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7AF7C-BFE0-269F-42D0-8EE47669937D}"/>
              </a:ext>
            </a:extLst>
          </p:cNvPr>
          <p:cNvSpPr txBox="1"/>
          <p:nvPr/>
        </p:nvSpPr>
        <p:spPr>
          <a:xfrm>
            <a:off x="838200" y="2132856"/>
            <a:ext cx="105863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Rational(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numerator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0,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denominator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operator+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m_numerator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0,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m_denominator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operator+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F44BF2-E3B5-5C78-CE26-37EA3B8F676D}"/>
              </a:ext>
            </a:extLst>
          </p:cNvPr>
          <p:cNvSpPr/>
          <p:nvPr/>
        </p:nvSpPr>
        <p:spPr>
          <a:xfrm>
            <a:off x="7617296" y="4005063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0A3D14E-EB7A-39FB-D0B7-7A854E5D8A7A}"/>
              </a:ext>
            </a:extLst>
          </p:cNvPr>
          <p:cNvCxnSpPr/>
          <p:nvPr/>
        </p:nvCxnSpPr>
        <p:spPr>
          <a:xfrm flipH="1" flipV="1">
            <a:off x="6393160" y="3841015"/>
            <a:ext cx="1080120" cy="5240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03A73A9-0E6A-48E6-5687-ECA86C0FC8B9}"/>
              </a:ext>
            </a:extLst>
          </p:cNvPr>
          <p:cNvCxnSpPr>
            <a:cxnSpLocks/>
          </p:cNvCxnSpPr>
          <p:nvPr/>
        </p:nvCxnSpPr>
        <p:spPr>
          <a:xfrm flipH="1">
            <a:off x="6249144" y="4637295"/>
            <a:ext cx="1152128" cy="5198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B38DDF-A601-46A9-D190-CF94C2D2B22B}"/>
              </a:ext>
            </a:extLst>
          </p:cNvPr>
          <p:cNvSpPr/>
          <p:nvPr/>
        </p:nvSpPr>
        <p:spPr>
          <a:xfrm>
            <a:off x="838200" y="5165961"/>
            <a:ext cx="7844680" cy="5198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82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Перегрузка присваивающих выражений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модифицируют левый операнд </a:t>
            </a:r>
          </a:p>
          <a:p>
            <a:pPr lvl="1"/>
            <a:r>
              <a:rPr lang="ru-RU" dirty="0"/>
              <a:t>возвращают ссылку на него </a:t>
            </a:r>
          </a:p>
          <a:p>
            <a:pPr lvl="1"/>
            <a:r>
              <a:rPr lang="en-US" dirty="0"/>
              <a:t>a += b;  // </a:t>
            </a:r>
            <a:r>
              <a:rPr lang="ru-RU" dirty="0"/>
              <a:t>изменяет </a:t>
            </a:r>
            <a:r>
              <a:rPr lang="en-US" dirty="0"/>
              <a:t>a</a:t>
            </a:r>
          </a:p>
          <a:p>
            <a:r>
              <a:rPr lang="ru-RU" dirty="0"/>
              <a:t>Реализация:</a:t>
            </a:r>
          </a:p>
          <a:p>
            <a:pPr lvl="1"/>
            <a:r>
              <a:rPr lang="ru-RU" dirty="0"/>
              <a:t>обычно как методы класса</a:t>
            </a:r>
          </a:p>
          <a:p>
            <a:pPr lvl="1"/>
            <a:r>
              <a:rPr lang="ru-RU" dirty="0"/>
              <a:t>имеют доступ к </a:t>
            </a:r>
            <a:r>
              <a:rPr lang="en-US" dirty="0"/>
              <a:t>this</a:t>
            </a:r>
          </a:p>
          <a:p>
            <a:r>
              <a:rPr lang="ru-RU" dirty="0"/>
              <a:t>Практический шаблон:</a:t>
            </a:r>
          </a:p>
          <a:p>
            <a:pPr lvl="1"/>
            <a:r>
              <a:rPr lang="en-US" dirty="0"/>
              <a:t>T&amp; operator+=(const T&amp; </a:t>
            </a:r>
            <a:r>
              <a:rPr lang="en-US" dirty="0" err="1"/>
              <a:t>rhs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T operator+(T </a:t>
            </a:r>
            <a:r>
              <a:rPr lang="en-US" dirty="0" err="1"/>
              <a:t>lhs</a:t>
            </a:r>
            <a:r>
              <a:rPr lang="en-US" dirty="0"/>
              <a:t>, const T&amp; </a:t>
            </a:r>
            <a:r>
              <a:rPr lang="en-US" dirty="0" err="1"/>
              <a:t>rhs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  return </a:t>
            </a:r>
            <a:r>
              <a:rPr lang="en-US" dirty="0" err="1"/>
              <a:t>lhs</a:t>
            </a:r>
            <a:r>
              <a:rPr lang="en-US" dirty="0"/>
              <a:t> += </a:t>
            </a:r>
            <a:r>
              <a:rPr lang="en-US" dirty="0" err="1"/>
              <a:t>rhs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</a:t>
            </a:r>
            <a:r>
              <a:rPr lang="en-US" dirty="0"/>
              <a:t>+=</a:t>
            </a:r>
            <a:r>
              <a:rPr lang="ru-RU" dirty="0"/>
              <a:t> для </a:t>
            </a:r>
            <a:r>
              <a:rPr lang="en-US" dirty="0"/>
              <a:t>Vector2D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098F1-6EC9-02AA-DF2F-D6DEF45954CD}"/>
              </a:ext>
            </a:extLst>
          </p:cNvPr>
          <p:cNvSpPr txBox="1"/>
          <p:nvPr/>
        </p:nvSpPr>
        <p:spPr>
          <a:xfrm>
            <a:off x="838200" y="1690688"/>
            <a:ext cx="92182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operator+=(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x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y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operator+(</a:t>
            </a:r>
            <a:r>
              <a:rPr lang="en-US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унарного плюса и минуса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Унарные + и -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Унарные операторы:</a:t>
            </a:r>
          </a:p>
          <a:p>
            <a:pPr lvl="1"/>
            <a:r>
              <a:rPr lang="ru-RU" dirty="0"/>
              <a:t>+</a:t>
            </a:r>
            <a:r>
              <a:rPr lang="en-US" dirty="0"/>
              <a:t>a   // </a:t>
            </a:r>
            <a:r>
              <a:rPr lang="ru-RU" dirty="0"/>
              <a:t>унарный плюс</a:t>
            </a:r>
            <a:br>
              <a:rPr lang="ru-RU" dirty="0"/>
            </a:br>
            <a:r>
              <a:rPr lang="ru-RU" dirty="0"/>
              <a:t>-</a:t>
            </a:r>
            <a:r>
              <a:rPr lang="en-US" dirty="0"/>
              <a:t>a   // </a:t>
            </a:r>
            <a:r>
              <a:rPr lang="ru-RU" dirty="0"/>
              <a:t>унарный минус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+</a:t>
            </a:r>
            <a:r>
              <a:rPr lang="en-US" dirty="0"/>
              <a:t>a — </a:t>
            </a:r>
            <a:r>
              <a:rPr lang="ru-RU" dirty="0"/>
              <a:t>обычно возвращает копию </a:t>
            </a:r>
          </a:p>
          <a:p>
            <a:pPr lvl="1"/>
            <a:r>
              <a:rPr lang="ru-RU" dirty="0"/>
              <a:t>-</a:t>
            </a:r>
            <a:r>
              <a:rPr lang="en-US" dirty="0"/>
              <a:t>a — </a:t>
            </a:r>
            <a:r>
              <a:rPr lang="ru-RU" dirty="0"/>
              <a:t>меняет знак (инверсия) </a:t>
            </a:r>
          </a:p>
          <a:p>
            <a:r>
              <a:rPr lang="ru-RU" dirty="0"/>
              <a:t>Реализация:</a:t>
            </a:r>
          </a:p>
          <a:p>
            <a:pPr lvl="1"/>
            <a:r>
              <a:rPr lang="ru-RU" dirty="0"/>
              <a:t>чаще всего как метод класса</a:t>
            </a:r>
          </a:p>
          <a:p>
            <a:pPr lvl="1"/>
            <a:r>
              <a:rPr lang="ru-RU" dirty="0"/>
              <a:t>не изменяют объект (</a:t>
            </a:r>
            <a:r>
              <a:rPr lang="en-US" dirty="0"/>
              <a:t>const)</a:t>
            </a:r>
            <a:endParaRPr lang="ru-RU" dirty="0"/>
          </a:p>
          <a:p>
            <a:pPr lvl="1"/>
            <a:r>
              <a:rPr lang="en-US" dirty="0"/>
              <a:t>Vector2D operator-() const;</a:t>
            </a:r>
            <a:br>
              <a:rPr lang="en-US" dirty="0"/>
            </a:br>
            <a:r>
              <a:rPr lang="en-US" dirty="0"/>
              <a:t>Vector2D operator+() const;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перегрузки унарного минуса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809720" y="2056686"/>
            <a:ext cx="85725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class Vector2D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{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public: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…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Vector2D </a:t>
            </a:r>
            <a:r>
              <a:rPr lang="en-US" b="1" dirty="0">
                <a:latin typeface="Consolas" panose="020B0609020204030204" pitchFamily="49" charset="0"/>
              </a:rPr>
              <a:t>operator </a:t>
            </a:r>
            <a:r>
              <a:rPr lang="ru-RU" b="1" dirty="0">
                <a:latin typeface="Consolas" panose="020B0609020204030204" pitchFamily="49" charset="0"/>
              </a:rPr>
              <a:t>–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endParaRPr lang="ru-RU" b="1" dirty="0">
              <a:latin typeface="Consolas" panose="020B0609020204030204" pitchFamily="49" charset="0"/>
            </a:endParaRPr>
          </a:p>
          <a:p>
            <a:pPr defTabSz="631825">
              <a:tabLst>
                <a:tab pos="269875" algn="l"/>
              </a:tabLst>
            </a:pPr>
            <a:r>
              <a:rPr lang="ru-RU" b="1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{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	return Vector2D(-x, -y);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  <a:p>
            <a:pPr defTabSz="631825">
              <a:tabLst>
                <a:tab pos="269875" algn="l"/>
              </a:tabLst>
            </a:pPr>
            <a:endParaRPr lang="en-US" b="1" dirty="0">
              <a:latin typeface="Consolas" panose="020B0609020204030204" pitchFamily="49" charset="0"/>
            </a:endParaRP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Vector2D </a:t>
            </a:r>
            <a:r>
              <a:rPr lang="en-US" b="1" dirty="0">
                <a:latin typeface="Consolas" panose="020B0609020204030204" pitchFamily="49" charset="0"/>
              </a:rPr>
              <a:t>operator +()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endParaRPr lang="ru-RU" b="1" dirty="0">
              <a:latin typeface="Consolas" panose="020B0609020204030204" pitchFamily="49" charset="0"/>
            </a:endParaRPr>
          </a:p>
          <a:p>
            <a:pPr defTabSz="631825">
              <a:tabLst>
                <a:tab pos="269875" algn="l"/>
              </a:tabLst>
            </a:pPr>
            <a:r>
              <a:rPr lang="ru-RU" b="1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{</a:t>
            </a:r>
          </a:p>
          <a:p>
            <a:pPr defTabSz="631825">
              <a:tabLst>
                <a:tab pos="269875" algn="l"/>
              </a:tabLst>
            </a:pPr>
            <a:r>
              <a:rPr lang="en-US" i="1" dirty="0">
                <a:latin typeface="Consolas" panose="020B0609020204030204" pitchFamily="49" charset="0"/>
              </a:rPr>
              <a:t>		//</a:t>
            </a:r>
            <a:r>
              <a:rPr lang="ru-RU" i="1" dirty="0">
                <a:latin typeface="Consolas" panose="020B0609020204030204" pitchFamily="49" charset="0"/>
              </a:rPr>
              <a:t> возвращаем копию</a:t>
            </a:r>
            <a:endParaRPr lang="en-US" i="1" dirty="0">
              <a:latin typeface="Consolas" panose="020B0609020204030204" pitchFamily="49" charset="0"/>
            </a:endParaRP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	return *this;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  <a:p>
            <a:pPr defTabSz="631825">
              <a:tabLst>
                <a:tab pos="269875" algn="l"/>
              </a:tabLst>
            </a:pPr>
            <a:endParaRPr lang="en-US" b="1" dirty="0">
              <a:latin typeface="Consolas" panose="020B0609020204030204" pitchFamily="49" charset="0"/>
            </a:endParaRP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	…</a:t>
            </a:r>
          </a:p>
          <a:p>
            <a:pPr defTabSz="631825">
              <a:tabLst>
                <a:tab pos="269875" algn="l"/>
              </a:tabLst>
            </a:pPr>
            <a:r>
              <a:rPr lang="en-US" b="1" dirty="0"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2E90A-1B7F-B9BB-07E0-F139C2F6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операций сравнения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2A677-81AB-B747-9BF9-1895EFF3E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6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Перегрузка операторов сравнения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Операторы сравнения:</a:t>
            </a:r>
          </a:p>
          <a:p>
            <a:pPr lvl="1"/>
            <a:r>
              <a:rPr lang="ru-RU" dirty="0"/>
              <a:t>a == b</a:t>
            </a:r>
            <a:br>
              <a:rPr lang="ru-RU" dirty="0"/>
            </a:br>
            <a:r>
              <a:rPr lang="ru-RU" dirty="0"/>
              <a:t>a != b</a:t>
            </a:r>
          </a:p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сравнивают </a:t>
            </a:r>
            <a:r>
              <a:rPr lang="ru-RU" b="1" dirty="0"/>
              <a:t>значения</a:t>
            </a:r>
            <a:r>
              <a:rPr lang="ru-RU" dirty="0"/>
              <a:t>, а не представление в памяти </a:t>
            </a:r>
          </a:p>
          <a:p>
            <a:pPr lvl="1"/>
            <a:r>
              <a:rPr lang="ru-RU" dirty="0"/>
              <a:t>возвращают </a:t>
            </a:r>
            <a:r>
              <a:rPr lang="ru-RU" dirty="0" err="1"/>
              <a:t>bool</a:t>
            </a:r>
            <a:r>
              <a:rPr lang="ru-RU" dirty="0"/>
              <a:t> </a:t>
            </a:r>
          </a:p>
          <a:p>
            <a:r>
              <a:rPr lang="ru-RU" dirty="0"/>
              <a:t>Объекты Vector2D равны, если совпадают координаты</a:t>
            </a:r>
          </a:p>
          <a:p>
            <a:pPr lvl="1"/>
            <a:r>
              <a:rPr lang="ru-RU" dirty="0"/>
              <a:t>(x1 == x2) &amp;&amp; (y1 == y2)</a:t>
            </a:r>
          </a:p>
          <a:p>
            <a:r>
              <a:rPr lang="ru-RU" dirty="0"/>
              <a:t>Правила:</a:t>
            </a:r>
          </a:p>
          <a:p>
            <a:pPr lvl="1"/>
            <a:r>
              <a:rPr lang="ru-RU" dirty="0"/>
              <a:t>== должен отражать смысловое равенство</a:t>
            </a:r>
          </a:p>
          <a:p>
            <a:pPr lvl="1"/>
            <a:r>
              <a:rPr lang="ru-RU" dirty="0"/>
              <a:t>!= должен быть согласован с ==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Перегрузка =</a:t>
            </a:r>
            <a:r>
              <a:rPr lang="en-US" dirty="0"/>
              <a:t>=</a:t>
            </a:r>
            <a:r>
              <a:rPr lang="ru-RU" dirty="0"/>
              <a:t> и !=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CD773-2689-860E-5383-BD6395B91BD8}"/>
              </a:ext>
            </a:extLst>
          </p:cNvPr>
          <p:cNvSpPr txBox="1"/>
          <p:nvPr/>
        </p:nvSpPr>
        <p:spPr>
          <a:xfrm>
            <a:off x="838200" y="2060847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C++ 20 !=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не реализовывать, если у класса уже реализована операция ==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operator!=(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6A5A9-AFEB-B3A2-6459-84A0414E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в </a:t>
            </a:r>
            <a:r>
              <a:rPr lang="en-US" dirty="0"/>
              <a:t>C++ 20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711FD-6FF7-AF61-0E4E-F89EB62F1DAA}"/>
              </a:ext>
            </a:extLst>
          </p:cNvPr>
          <p:cNvSpPr txBox="1"/>
          <p:nvPr/>
        </p:nvSpPr>
        <p:spPr>
          <a:xfrm>
            <a:off x="609600" y="2274838"/>
            <a:ext cx="7924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Record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floor;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weight;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operator&lt;=&gt;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3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4D2D0-63A3-1803-F53E-C32372936B11}"/>
              </a:ext>
            </a:extLst>
          </p:cNvPr>
          <p:cNvSpPr txBox="1"/>
          <p:nvPr/>
        </p:nvSpPr>
        <p:spPr>
          <a:xfrm>
            <a:off x="1507429" y="-32548"/>
            <a:ext cx="86409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constexpr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Rational(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0,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1)</a:t>
            </a: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 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{}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constexpr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operator&lt;=&gt;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F6330-70F7-91B7-566B-07E30265CB09}"/>
              </a:ext>
            </a:extLst>
          </p:cNvPr>
          <p:cNvSpPr txBox="1"/>
          <p:nvPr/>
        </p:nvSpPr>
        <p:spPr>
          <a:xfrm>
            <a:off x="1507429" y="2860552"/>
            <a:ext cx="682081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(!(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3)));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3));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(!(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(2, 3));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(2, 3));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3));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kern="0" dirty="0" err="1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(1, 2) </a:t>
            </a:r>
            <a:r>
              <a:rPr lang="ru-RU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&gt;=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(1, 3));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38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CB2C5B-6DB8-F3E5-B1DD-57BD67EC9C85}"/>
              </a:ext>
            </a:extLst>
          </p:cNvPr>
          <p:cNvSpPr txBox="1"/>
          <p:nvPr/>
        </p:nvSpPr>
        <p:spPr>
          <a:xfrm>
            <a:off x="695400" y="1690688"/>
            <a:ext cx="97565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constexpr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Rational(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0,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1)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kern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en-US" sz="1600" kern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TODO: </a:t>
            </a:r>
            <a:r>
              <a:rPr lang="ru-RU" sz="1600" kern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реализовать нормализацию */ 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constexpr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600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strong_ordering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operator&lt;=&gt;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&lt;=&gt; (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rhs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constexpr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operator==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Rational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&amp;)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m_num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m_denom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670CD-C2DB-402A-32BA-5F042F2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Корректно перегружаем </a:t>
            </a:r>
            <a:r>
              <a:rPr lang="en-US" dirty="0"/>
              <a:t>&lt;=&gt;</a:t>
            </a:r>
            <a:r>
              <a:rPr lang="ru-RU" dirty="0"/>
              <a:t> для </a:t>
            </a:r>
            <a:r>
              <a:rPr lang="en-US" dirty="0"/>
              <a:t>Rational</a:t>
            </a:r>
          </a:p>
        </p:txBody>
      </p:sp>
    </p:spTree>
    <p:extLst>
      <p:ext uri="{BB962C8B-B14F-4D97-AF65-F5344CB8AC3E}">
        <p14:creationId xmlns:p14="http://schemas.microsoft.com/office/powerpoint/2010/main" val="14575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C7A7D-FA51-AAD7-1BBC-88F45D47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порядка в </a:t>
            </a:r>
            <a:r>
              <a:rPr lang="en-US" dirty="0"/>
              <a:t>C++ (&lt;=&gt;)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38AA8-171A-6B98-3B75-EE7ABDFAE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Не все типы сравниваются одинаково</a:t>
            </a:r>
          </a:p>
          <a:p>
            <a:r>
              <a:rPr lang="en-US" b="1" dirty="0"/>
              <a:t>std::</a:t>
            </a:r>
            <a:r>
              <a:rPr lang="en-US" b="1" dirty="0" err="1"/>
              <a:t>strong_ordering</a:t>
            </a:r>
            <a:endParaRPr lang="ru-RU" b="1" dirty="0"/>
          </a:p>
          <a:p>
            <a:pPr lvl="1"/>
            <a:r>
              <a:rPr lang="ru-RU" dirty="0"/>
              <a:t>строгий порядок</a:t>
            </a:r>
          </a:p>
          <a:p>
            <a:pPr lvl="1"/>
            <a:r>
              <a:rPr lang="en-US" dirty="0"/>
              <a:t>a == b ⇔ </a:t>
            </a:r>
            <a:r>
              <a:rPr lang="ru-RU" dirty="0"/>
              <a:t>объекты полностью равны</a:t>
            </a:r>
          </a:p>
          <a:p>
            <a:pPr lvl="1"/>
            <a:r>
              <a:rPr lang="ru-RU" dirty="0"/>
              <a:t>Примеры: </a:t>
            </a:r>
            <a:r>
              <a:rPr lang="en-US" dirty="0"/>
              <a:t>int, </a:t>
            </a:r>
            <a:r>
              <a:rPr lang="ru-RU" dirty="0"/>
              <a:t>нормализованный </a:t>
            </a:r>
            <a:r>
              <a:rPr lang="en-US" dirty="0"/>
              <a:t>Rational</a:t>
            </a:r>
          </a:p>
          <a:p>
            <a:r>
              <a:rPr lang="en-US" b="1" dirty="0"/>
              <a:t>std::</a:t>
            </a:r>
            <a:r>
              <a:rPr lang="en-US" b="1" dirty="0" err="1"/>
              <a:t>weak_ordering</a:t>
            </a:r>
            <a:endParaRPr lang="ru-RU" b="1" dirty="0"/>
          </a:p>
          <a:p>
            <a:pPr lvl="1"/>
            <a:r>
              <a:rPr lang="ru-RU" dirty="0"/>
              <a:t>✔ есть порядок</a:t>
            </a:r>
          </a:p>
          <a:p>
            <a:pPr lvl="1"/>
            <a:r>
              <a:rPr lang="ru-RU" dirty="0"/>
              <a:t>равные значения могут отличаться</a:t>
            </a:r>
          </a:p>
          <a:p>
            <a:pPr lvl="1"/>
            <a:r>
              <a:rPr lang="ru-RU" dirty="0"/>
              <a:t>Пример: строки без учёта регистра</a:t>
            </a:r>
          </a:p>
          <a:p>
            <a:r>
              <a:rPr lang="en-US" b="1" dirty="0"/>
              <a:t>std::</a:t>
            </a:r>
            <a:r>
              <a:rPr lang="en-US" b="1" dirty="0" err="1"/>
              <a:t>partial_ordering</a:t>
            </a:r>
            <a:endParaRPr lang="ru-RU" b="1" dirty="0"/>
          </a:p>
          <a:p>
            <a:pPr lvl="1"/>
            <a:r>
              <a:rPr lang="ru-RU" dirty="0"/>
              <a:t>не все значения сравнимы</a:t>
            </a:r>
          </a:p>
          <a:p>
            <a:pPr lvl="1"/>
            <a:r>
              <a:rPr lang="ru-RU" dirty="0"/>
              <a:t>Пример: </a:t>
            </a:r>
            <a:r>
              <a:rPr lang="en-US" dirty="0"/>
              <a:t>double (</a:t>
            </a:r>
            <a:r>
              <a:rPr lang="en-US" dirty="0" err="1"/>
              <a:t>NaN</a:t>
            </a:r>
            <a:r>
              <a:rPr lang="en-US" dirty="0"/>
              <a:t>)</a:t>
            </a:r>
            <a:endParaRPr lang="ru-RU" dirty="0"/>
          </a:p>
          <a:p>
            <a:pPr lvl="2"/>
            <a:r>
              <a:rPr lang="en-US" dirty="0"/>
              <a:t>double x = std::nan("");</a:t>
            </a:r>
            <a:br>
              <a:rPr lang="en-US" dirty="0"/>
            </a:br>
            <a:r>
              <a:rPr lang="en-US" dirty="0"/>
              <a:t>x &lt; 0   // false</a:t>
            </a:r>
            <a:br>
              <a:rPr lang="en-US" dirty="0"/>
            </a:br>
            <a:r>
              <a:rPr lang="en-US" dirty="0"/>
              <a:t>x &gt; 0   // false</a:t>
            </a:r>
            <a:br>
              <a:rPr lang="en-US" dirty="0"/>
            </a:br>
            <a:r>
              <a:rPr lang="en-US" dirty="0"/>
              <a:t>x == x  // false</a:t>
            </a:r>
          </a:p>
        </p:txBody>
      </p:sp>
    </p:spTree>
    <p:extLst>
      <p:ext uri="{BB962C8B-B14F-4D97-AF65-F5344CB8AC3E}">
        <p14:creationId xmlns:p14="http://schemas.microsoft.com/office/powerpoint/2010/main" val="257410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Перегрузка операторов потокового ввода-вывода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6CE61-590B-71C8-DD32-5E4F6B8F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операторов ввода-вывода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24336E-3E88-E6BF-1970-07E698B8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Потоки ввода-вывода в </a:t>
            </a:r>
            <a:r>
              <a:rPr lang="en-US" dirty="0"/>
              <a:t>C++: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— </a:t>
            </a:r>
            <a:r>
              <a:rPr lang="ru-RU" dirty="0"/>
              <a:t>вывод 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cin</a:t>
            </a:r>
            <a:r>
              <a:rPr lang="en-US" dirty="0"/>
              <a:t> — </a:t>
            </a:r>
            <a:r>
              <a:rPr lang="ru-RU" dirty="0"/>
              <a:t>ввод </a:t>
            </a:r>
          </a:p>
          <a:p>
            <a:pPr lvl="1"/>
            <a:r>
              <a:rPr lang="ru-RU" dirty="0"/>
              <a:t>используются операторы &lt;&lt; и &gt;&gt; 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42;</a:t>
            </a:r>
            <a:br>
              <a:rPr lang="en-US" dirty="0"/>
            </a:br>
            <a:r>
              <a:rPr lang="en-US" dirty="0"/>
              <a:t>std::</a:t>
            </a:r>
            <a:r>
              <a:rPr lang="en-US" dirty="0" err="1"/>
              <a:t>cin</a:t>
            </a:r>
            <a:r>
              <a:rPr lang="en-US" dirty="0"/>
              <a:t> &gt;&gt; x;</a:t>
            </a:r>
          </a:p>
          <a:p>
            <a:r>
              <a:rPr lang="ru-RU" dirty="0"/>
              <a:t>Перегрузка для пользовательских типов:</a:t>
            </a:r>
          </a:p>
          <a:p>
            <a:pPr lvl="1"/>
            <a:r>
              <a:rPr lang="ru-RU" dirty="0"/>
              <a:t>всегда объявляется вне класса </a:t>
            </a:r>
          </a:p>
          <a:p>
            <a:pPr lvl="1"/>
            <a:r>
              <a:rPr lang="ru-RU" dirty="0"/>
              <a:t>часто делается </a:t>
            </a:r>
            <a:r>
              <a:rPr lang="en-US" dirty="0"/>
              <a:t>friend </a:t>
            </a:r>
          </a:p>
          <a:p>
            <a:pPr lvl="1"/>
            <a:r>
              <a:rPr lang="ru-RU" dirty="0"/>
              <a:t>возвращает ссылку на поток 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ostream</a:t>
            </a:r>
            <a:r>
              <a:rPr lang="en-US" dirty="0"/>
              <a:t>&amp; operator&lt;&lt;(std::</a:t>
            </a:r>
            <a:r>
              <a:rPr lang="en-US" dirty="0" err="1"/>
              <a:t>ostream</a:t>
            </a:r>
            <a:r>
              <a:rPr lang="en-US" dirty="0"/>
              <a:t>&amp; out, const T&amp; obj);</a:t>
            </a:r>
            <a:br>
              <a:rPr lang="en-US" dirty="0"/>
            </a:br>
            <a:r>
              <a:rPr lang="en-US" dirty="0"/>
              <a:t>std::</a:t>
            </a:r>
            <a:r>
              <a:rPr lang="en-US" dirty="0" err="1"/>
              <a:t>istream</a:t>
            </a:r>
            <a:r>
              <a:rPr lang="en-US" dirty="0"/>
              <a:t>&amp; operator&gt;&gt;(std::</a:t>
            </a:r>
            <a:r>
              <a:rPr lang="en-US" dirty="0" err="1"/>
              <a:t>istream</a:t>
            </a:r>
            <a:r>
              <a:rPr lang="en-US" dirty="0"/>
              <a:t>&amp; in, T&amp; obj);</a:t>
            </a:r>
          </a:p>
          <a:p>
            <a:r>
              <a:rPr lang="ru-RU" dirty="0"/>
              <a:t>Зачем возвращать поток: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a &lt;&lt; b &lt;&lt; 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9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EE0B62-2D01-D416-6926-0A4912CD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вывода для </a:t>
            </a:r>
            <a:r>
              <a:rPr lang="ru-RU" dirty="0" err="1"/>
              <a:t>Rational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CE1AA-B85E-52F2-8CE1-12A418E29C18}"/>
              </a:ext>
            </a:extLst>
          </p:cNvPr>
          <p:cNvSpPr txBox="1"/>
          <p:nvPr/>
        </p:nvSpPr>
        <p:spPr>
          <a:xfrm>
            <a:off x="838200" y="206084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operator&lt;&lt;(std::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operator&lt;&lt;(std::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4741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DB78-A2C9-B450-7AAC-2779D587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ввода для </a:t>
            </a:r>
            <a:r>
              <a:rPr lang="ru-RU" dirty="0" err="1"/>
              <a:t>Rational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5D12D-89E3-94FC-0A62-DD6826BA50C5}"/>
              </a:ext>
            </a:extLst>
          </p:cNvPr>
          <p:cNvSpPr txBox="1"/>
          <p:nvPr/>
        </p:nvSpPr>
        <p:spPr>
          <a:xfrm>
            <a:off x="840196" y="1844824"/>
            <a:ext cx="108024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operator&gt;&gt;(std::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нормализация и проверка внутри конструктора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ios_base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failbit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818AA-9B1F-51F4-8540-B156C6F7C5EC}"/>
              </a:ext>
            </a:extLst>
          </p:cNvPr>
          <p:cNvSpPr txBox="1"/>
          <p:nvPr/>
        </p:nvSpPr>
        <p:spPr>
          <a:xfrm>
            <a:off x="5951984" y="5133133"/>
            <a:ext cx="6093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Rational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ввод: 3/4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вывод: 3/4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2596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A00515-456C-4D7F-96A3-8A30FA3B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Маркированные типы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507E01-3D06-40D0-A6B1-C378EFF7A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7901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9F9C75-E174-4F40-A39C-55E4217D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встроенных типов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C08F2B-126A-49CC-8FF0-E26924C1D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Один и тот же тип (</a:t>
            </a:r>
            <a:r>
              <a:rPr lang="en-US" dirty="0"/>
              <a:t>int, float, std::string)</a:t>
            </a:r>
            <a:r>
              <a:rPr lang="ru-RU" dirty="0"/>
              <a:t> можно использовать для представления разных значений</a:t>
            </a:r>
          </a:p>
          <a:p>
            <a:pPr lvl="1"/>
            <a:r>
              <a:rPr lang="ru-RU" dirty="0"/>
              <a:t>Скорость, деньги, </a:t>
            </a:r>
            <a:r>
              <a:rPr lang="en-US" dirty="0"/>
              <a:t>id</a:t>
            </a:r>
          </a:p>
          <a:p>
            <a:r>
              <a:rPr lang="ru-RU" dirty="0"/>
              <a:t>Легко допустить ошибку, используя в одной операции разные по смыслу значения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FDB57-A134-40D6-B3EE-4367607F24DC}"/>
              </a:ext>
            </a:extLst>
          </p:cNvPr>
          <p:cNvSpPr/>
          <p:nvPr/>
        </p:nvSpPr>
        <p:spPr>
          <a:xfrm>
            <a:off x="983432" y="4221088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roubles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dollars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roubles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"RUR + 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sv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dollars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"USD = 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sv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      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roubles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dollars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"???"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sv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4747D-A76E-40C5-A1A8-1ABC6CAD16EF}"/>
              </a:ext>
            </a:extLst>
          </p:cNvPr>
          <p:cNvSpPr/>
          <p:nvPr/>
        </p:nvSpPr>
        <p:spPr>
          <a:xfrm>
            <a:off x="1127448" y="5807631"/>
            <a:ext cx="424847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/>
              <a:t>10RUR + 20USD = 30???</a:t>
            </a:r>
          </a:p>
        </p:txBody>
      </p:sp>
    </p:spTree>
    <p:extLst>
      <p:ext uri="{BB962C8B-B14F-4D97-AF65-F5344CB8AC3E}">
        <p14:creationId xmlns:p14="http://schemas.microsoft.com/office/powerpoint/2010/main" val="8620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E70A0D-C68F-4184-8A3F-A25D0D360C56}"/>
              </a:ext>
            </a:extLst>
          </p:cNvPr>
          <p:cNvSpPr/>
          <p:nvPr/>
        </p:nvSpPr>
        <p:spPr>
          <a:xfrm>
            <a:off x="1271464" y="1628800"/>
            <a:ext cx="96490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в коде окажется незамеченной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1C1E2-69DC-4FE7-8DEB-EFF46024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</a:t>
            </a:r>
            <a:r>
              <a:rPr lang="ru-RU" dirty="0"/>
              <a:t> пользователя и </a:t>
            </a:r>
            <a:r>
              <a:rPr lang="en-US" dirty="0"/>
              <a:t>Id </a:t>
            </a:r>
            <a:r>
              <a:rPr lang="ru-RU" dirty="0"/>
              <a:t>книги – разные типы</a:t>
            </a:r>
          </a:p>
        </p:txBody>
      </p:sp>
    </p:spTree>
    <p:extLst>
      <p:ext uri="{BB962C8B-B14F-4D97-AF65-F5344CB8AC3E}">
        <p14:creationId xmlns:p14="http://schemas.microsoft.com/office/powerpoint/2010/main" val="15349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C98C-2203-431D-AE7C-422DF1B0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49AA-13E8-43E3-86AE-7AF4F04AB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шаблонный класс </a:t>
            </a:r>
            <a:r>
              <a:rPr lang="en-US" dirty="0"/>
              <a:t>Tagged</a:t>
            </a:r>
            <a:endParaRPr lang="ru-RU" dirty="0"/>
          </a:p>
          <a:p>
            <a:r>
              <a:rPr lang="ru-RU" dirty="0"/>
              <a:t>Идея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pPr lvl="1"/>
            <a:r>
              <a:rPr lang="en-US" dirty="0"/>
              <a:t>std::pair&lt;int, double&gt; </a:t>
            </a:r>
            <a:r>
              <a:rPr lang="ru-RU" dirty="0"/>
              <a:t>и</a:t>
            </a:r>
            <a:r>
              <a:rPr lang="en-US" dirty="0"/>
              <a:t> std::pair&lt;int, std::string&gt; -</a:t>
            </a:r>
            <a:r>
              <a:rPr lang="ru-RU" dirty="0"/>
              <a:t> разные типы</a:t>
            </a:r>
            <a:endParaRPr lang="en-US" dirty="0"/>
          </a:p>
          <a:p>
            <a:r>
              <a:rPr lang="ru-RU" dirty="0"/>
              <a:t>Два шаблонных параметра:</a:t>
            </a:r>
          </a:p>
          <a:p>
            <a:pPr lvl="1"/>
            <a:r>
              <a:rPr lang="ru-RU" dirty="0"/>
              <a:t>Тип значения, которое хранится внутри</a:t>
            </a:r>
          </a:p>
          <a:p>
            <a:pPr lvl="1"/>
            <a:r>
              <a:rPr lang="ru-RU" dirty="0"/>
              <a:t>Тип-маркер, чтобы отличать один тип от другого</a:t>
            </a:r>
            <a:r>
              <a:rPr lang="en-US" dirty="0"/>
              <a:t> (</a:t>
            </a:r>
            <a:r>
              <a:rPr lang="ru-RU" dirty="0"/>
              <a:t>сам маркер не хранится)</a:t>
            </a:r>
          </a:p>
          <a:p>
            <a:r>
              <a:rPr lang="ru-RU" dirty="0"/>
              <a:t>Перегрузить операции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/>
              <a:t> </a:t>
            </a:r>
            <a:r>
              <a:rPr lang="ru-RU" dirty="0"/>
              <a:t>для доступа к значению</a:t>
            </a:r>
          </a:p>
          <a:p>
            <a:r>
              <a:rPr lang="ru-RU" dirty="0"/>
              <a:t>Перегрузить</a:t>
            </a:r>
            <a:r>
              <a:rPr lang="en-US" dirty="0"/>
              <a:t> </a:t>
            </a:r>
            <a:r>
              <a:rPr lang="ru-RU" dirty="0"/>
              <a:t>операцию </a:t>
            </a:r>
            <a:r>
              <a:rPr lang="en-US" dirty="0"/>
              <a:t>&lt;=&gt; </a:t>
            </a:r>
            <a:r>
              <a:rPr lang="ru-RU" dirty="0"/>
              <a:t>для сравнения значений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93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2CD2BD-1AE4-4AD0-835E-22FD3BE9EF8D}"/>
              </a:ext>
            </a:extLst>
          </p:cNvPr>
          <p:cNvSpPr/>
          <p:nvPr/>
        </p:nvSpPr>
        <p:spPr>
          <a:xfrm>
            <a:off x="33338" y="-4455"/>
            <a:ext cx="1215866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TagType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is_nothrow_move_constructible_v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&lt;Value&gt;)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{ }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is_nothrow_copy_constructible_v</a:t>
            </a:r>
            <a:r>
              <a:rPr lang="de-DE" sz="16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&lt;Value&gt;)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operator-&gt;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value_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operator-&gt;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value_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operator&lt;=&gt;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taggedValue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taggedValue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namespace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util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7D2B39-60F6-4BBA-80F4-D389D8D7573C}"/>
              </a:ext>
            </a:extLst>
          </p:cNvPr>
          <p:cNvSpPr/>
          <p:nvPr/>
        </p:nvSpPr>
        <p:spPr>
          <a:xfrm>
            <a:off x="275692" y="476672"/>
            <a:ext cx="1164061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Эта структура-маркер нужна, чтобы иметь некоторый уникальный тип данных.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detail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"{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\"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\"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\"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\"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}"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1BCC6A-22C9-49EF-97B7-F35EA0A9C51B}"/>
              </a:ext>
            </a:extLst>
          </p:cNvPr>
          <p:cNvSpPr/>
          <p:nvPr/>
        </p:nvSpPr>
        <p:spPr>
          <a:xfrm>
            <a:off x="5807968" y="2204864"/>
            <a:ext cx="6211202" cy="92333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user1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"user-1"s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Ivan"s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Не скомпилируется: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user1.id = "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Some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userId"s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endParaRPr lang="de-DE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user1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0263A6-D98B-4822-8A9D-DABF2C8D7706}"/>
              </a:ext>
            </a:extLst>
          </p:cNvPr>
          <p:cNvSpPr/>
          <p:nvPr/>
        </p:nvSpPr>
        <p:spPr>
          <a:xfrm>
            <a:off x="5807968" y="3510526"/>
            <a:ext cx="509360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{ </a:t>
            </a:r>
            <a:r>
              <a:rPr lang="ru-RU" dirty="0" err="1">
                <a:latin typeface="Consolas" panose="020B0609020204030204" pitchFamily="49" charset="0"/>
              </a:rPr>
              <a:t>id</a:t>
            </a:r>
            <a:r>
              <a:rPr lang="ru-RU" dirty="0">
                <a:latin typeface="Consolas" panose="020B0609020204030204" pitchFamily="49" charset="0"/>
              </a:rPr>
              <a:t>: "user-1", </a:t>
            </a:r>
            <a:r>
              <a:rPr lang="ru-RU" dirty="0" err="1">
                <a:latin typeface="Consolas" panose="020B0609020204030204" pitchFamily="49" charset="0"/>
              </a:rPr>
              <a:t>name</a:t>
            </a:r>
            <a:r>
              <a:rPr lang="ru-RU" dirty="0">
                <a:latin typeface="Consolas" panose="020B0609020204030204" pitchFamily="49" charset="0"/>
              </a:rPr>
              <a:t>: "Ivan" }</a:t>
            </a:r>
          </a:p>
        </p:txBody>
      </p:sp>
    </p:spTree>
    <p:extLst>
      <p:ext uri="{BB962C8B-B14F-4D97-AF65-F5344CB8AC3E}">
        <p14:creationId xmlns:p14="http://schemas.microsoft.com/office/powerpoint/2010/main" val="174656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45D056-2719-4ECA-82CA-6AFC385ABCCB}"/>
              </a:ext>
            </a:extLst>
          </p:cNvPr>
          <p:cNvSpPr/>
          <p:nvPr/>
        </p:nvSpPr>
        <p:spPr>
          <a:xfrm>
            <a:off x="0" y="44624"/>
            <a:ext cx="1195332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Пользуемся тем, что лямбда-выражение создаёт новый уникальный тип данных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и объявляем тип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без объявления структуры-маркера.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([] {})&gt;;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Book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title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author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Book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format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R"({{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"{}", title: "{}",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author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"{}" }})"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book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title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author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de-DE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Book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{ 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"book-1"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 .title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"Moby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Dick"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author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"Herman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Melville"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{ 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"book-2"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 .title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"A Christmas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Carol"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author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"Charles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Dickens"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BookId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"book-2"s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Book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books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E3799-F204-45DE-BBCB-012453500E34}"/>
              </a:ext>
            </a:extLst>
          </p:cNvPr>
          <p:cNvSpPr/>
          <p:nvPr/>
        </p:nvSpPr>
        <p:spPr>
          <a:xfrm>
            <a:off x="2520280" y="6323266"/>
            <a:ext cx="9433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{ </a:t>
            </a:r>
            <a:r>
              <a:rPr lang="ru-RU" dirty="0" err="1">
                <a:latin typeface="Consolas" panose="020B0609020204030204" pitchFamily="49" charset="0"/>
              </a:rPr>
              <a:t>id</a:t>
            </a:r>
            <a:r>
              <a:rPr lang="ru-RU" dirty="0">
                <a:latin typeface="Consolas" panose="020B0609020204030204" pitchFamily="49" charset="0"/>
              </a:rPr>
              <a:t>: "book-2", </a:t>
            </a:r>
            <a:r>
              <a:rPr lang="ru-RU" dirty="0" err="1">
                <a:latin typeface="Consolas" panose="020B0609020204030204" pitchFamily="49" charset="0"/>
              </a:rPr>
              <a:t>title</a:t>
            </a:r>
            <a:r>
              <a:rPr lang="ru-RU" dirty="0">
                <a:latin typeface="Consolas" panose="020B0609020204030204" pitchFamily="49" charset="0"/>
              </a:rPr>
              <a:t>: "A </a:t>
            </a:r>
            <a:r>
              <a:rPr lang="ru-RU" dirty="0" err="1">
                <a:latin typeface="Consolas" panose="020B0609020204030204" pitchFamily="49" charset="0"/>
              </a:rPr>
              <a:t>Christmas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Carol</a:t>
            </a:r>
            <a:r>
              <a:rPr lang="ru-RU" dirty="0">
                <a:latin typeface="Consolas" panose="020B0609020204030204" pitchFamily="49" charset="0"/>
              </a:rPr>
              <a:t>", </a:t>
            </a:r>
            <a:r>
              <a:rPr lang="ru-RU" dirty="0" err="1">
                <a:latin typeface="Consolas" panose="020B0609020204030204" pitchFamily="49" charset="0"/>
              </a:rPr>
              <a:t>author</a:t>
            </a:r>
            <a:r>
              <a:rPr lang="ru-RU" dirty="0">
                <a:latin typeface="Consolas" panose="020B0609020204030204" pitchFamily="49" charset="0"/>
              </a:rPr>
              <a:t>: "</a:t>
            </a:r>
            <a:r>
              <a:rPr lang="ru-RU" dirty="0" err="1">
                <a:latin typeface="Consolas" panose="020B0609020204030204" pitchFamily="49" charset="0"/>
              </a:rPr>
              <a:t>Charles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Dickens</a:t>
            </a:r>
            <a:r>
              <a:rPr lang="ru-RU" dirty="0">
                <a:latin typeface="Consolas" panose="020B0609020204030204" pitchFamily="49" charset="0"/>
              </a:rPr>
              <a:t>" }</a:t>
            </a:r>
          </a:p>
        </p:txBody>
      </p:sp>
    </p:spTree>
    <p:extLst>
      <p:ext uri="{BB962C8B-B14F-4D97-AF65-F5344CB8AC3E}">
        <p14:creationId xmlns:p14="http://schemas.microsoft.com/office/powerpoint/2010/main" val="229559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F64E1-3124-4E1B-9811-473D8631B8BB}"/>
              </a:ext>
            </a:extLst>
          </p:cNvPr>
          <p:cNvSpPr/>
          <p:nvPr/>
        </p:nvSpPr>
        <p:spPr>
          <a:xfrm>
            <a:off x="119336" y="116631"/>
            <a:ext cx="1087320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Валюта (в качестве единиц используется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int64_t)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CurrencyValue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int64_t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Бинарные + и -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operator-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Унарные + и -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operator-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-*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arg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24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C85409-81D9-47CA-BB03-FFAE92578A44}"/>
              </a:ext>
            </a:extLst>
          </p:cNvPr>
          <p:cNvSpPr/>
          <p:nvPr/>
        </p:nvSpPr>
        <p:spPr>
          <a:xfrm>
            <a:off x="0" y="116632"/>
            <a:ext cx="1200065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Объявляем валюты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([] {})&gt;;</a:t>
            </a: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([] {})&gt;;</a:t>
            </a: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([] {})&gt;;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Аналогично можно объявить и другие валюты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RUR"sv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USD"sv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EUR"sv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de-DE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FF0000"/>
                </a:solidFill>
                <a:latin typeface="Consolas" panose="020B0609020204030204" pitchFamily="49" charset="0"/>
              </a:rPr>
              <a:t>d1 = r1;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F0A638-BEC9-46FD-B454-ED46A8487CF6}"/>
              </a:ext>
            </a:extLst>
          </p:cNvPr>
          <p:cNvSpPr/>
          <p:nvPr/>
        </p:nvSpPr>
        <p:spPr>
          <a:xfrm>
            <a:off x="5303912" y="5218230"/>
            <a:ext cx="609600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ru-RU" dirty="0"/>
              <a:t>10RUR + 20RUR = 30RUR</a:t>
            </a:r>
          </a:p>
          <a:p>
            <a:r>
              <a:rPr lang="ru-RU" dirty="0"/>
              <a:t>8USD + 5USD = 13USD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D0CE6-A206-429F-9603-A543EC5127F3}"/>
              </a:ext>
            </a:extLst>
          </p:cNvPr>
          <p:cNvSpPr/>
          <p:nvPr/>
        </p:nvSpPr>
        <p:spPr>
          <a:xfrm>
            <a:off x="1679848" y="5877272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binary '=': no operator found which takes a right-hand operand of type '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Roubles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' (or there is no acceptable conversion)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9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CD8777-DBFD-4311-811C-78F29680FD0E}"/>
              </a:ext>
            </a:extLst>
          </p:cNvPr>
          <p:cNvSpPr/>
          <p:nvPr/>
        </p:nvSpPr>
        <p:spPr>
          <a:xfrm>
            <a:off x="7955" y="-43543"/>
            <a:ext cx="1192864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 качестве денег можем использовать одну из нескольких валют.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variant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[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](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-&gt;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printer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ostringstream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Can't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add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and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invalid_argument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str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[](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 },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532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E9FD5-F635-4856-8DB8-BE0B25197F8B}"/>
              </a:ext>
            </a:extLst>
          </p:cNvPr>
          <p:cNvSpPr/>
          <p:nvPr/>
        </p:nvSpPr>
        <p:spPr>
          <a:xfrm>
            <a:off x="0" y="13342"/>
            <a:ext cx="116652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m2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Этот код компилируется, хотя операция сложения рублей и долларов не определена.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// Работает за счёт неявного преобразования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Dollars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 типу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Money.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// 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// Money{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{50} } + Money{ Dollars{70} }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what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18AAE-7388-4F22-85DA-4B0A61E70836}"/>
              </a:ext>
            </a:extLst>
          </p:cNvPr>
          <p:cNvSpPr/>
          <p:nvPr/>
        </p:nvSpPr>
        <p:spPr>
          <a:xfrm>
            <a:off x="263352" y="5517232"/>
            <a:ext cx="439248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15USD + 5USD = 20USD</a:t>
            </a:r>
          </a:p>
          <a:p>
            <a:r>
              <a:rPr lang="ru-RU" dirty="0" err="1">
                <a:latin typeface="Consolas" panose="020B0609020204030204" pitchFamily="49" charset="0"/>
              </a:rPr>
              <a:t>Can't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 50RUR </a:t>
            </a:r>
            <a:r>
              <a:rPr lang="ru-RU" dirty="0" err="1">
                <a:latin typeface="Consolas" panose="020B0609020204030204" pitchFamily="49" charset="0"/>
              </a:rPr>
              <a:t>and</a:t>
            </a:r>
            <a:r>
              <a:rPr lang="ru-RU" dirty="0">
                <a:latin typeface="Consolas" panose="020B0609020204030204" pitchFamily="49" charset="0"/>
              </a:rPr>
              <a:t> 70USD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151BA-FD07-4099-B3FA-A662CE29B975}"/>
              </a:ext>
            </a:extLst>
          </p:cNvPr>
          <p:cNvSpPr/>
          <p:nvPr/>
        </p:nvSpPr>
        <p:spPr>
          <a:xfrm>
            <a:off x="5015880" y="4077072"/>
            <a:ext cx="7128792" cy="267765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U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U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ostringstream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Can't</a:t>
            </a:r>
            <a:r>
              <a:rPr lang="de-DE" sz="12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add</a:t>
            </a:r>
            <a:r>
              <a:rPr lang="de-DE" sz="12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sv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A31515"/>
                </a:solidFill>
                <a:latin typeface="Consolas" panose="020B0609020204030204" pitchFamily="49" charset="0"/>
              </a:rPr>
              <a:t>" and "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invalid_argument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err</a:t>
            </a:r>
            <a:r>
              <a:rPr lang="de-DE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str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sz="1200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visit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   [](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  <a:r>
              <a:rPr lang="ru-RU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AddIfSameTypes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sz="1200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); },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lhs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return AddIfSameTypes">
            <a:extLst>
              <a:ext uri="{FF2B5EF4-FFF2-40B4-BE49-F238E27FC236}">
                <a16:creationId xmlns:a16="http://schemas.microsoft.com/office/drawing/2014/main" id="{BF08C946-DABA-4E6A-8A22-4EDD5295D9E7}"/>
              </a:ext>
            </a:extLst>
          </p:cNvPr>
          <p:cNvSpPr/>
          <p:nvPr/>
        </p:nvSpPr>
        <p:spPr>
          <a:xfrm>
            <a:off x="7464152" y="6237312"/>
            <a:ext cx="338437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turn lhs + rhs">
            <a:extLst>
              <a:ext uri="{FF2B5EF4-FFF2-40B4-BE49-F238E27FC236}">
                <a16:creationId xmlns:a16="http://schemas.microsoft.com/office/drawing/2014/main" id="{1188D7B6-4D7C-4F2E-BEF2-4C3C3153C7B9}"/>
              </a:ext>
            </a:extLst>
          </p:cNvPr>
          <p:cNvSpPr/>
          <p:nvPr/>
        </p:nvSpPr>
        <p:spPr>
          <a:xfrm>
            <a:off x="7824192" y="4256305"/>
            <a:ext cx="1512168" cy="281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hrow invalid_argument">
            <a:extLst>
              <a:ext uri="{FF2B5EF4-FFF2-40B4-BE49-F238E27FC236}">
                <a16:creationId xmlns:a16="http://schemas.microsoft.com/office/drawing/2014/main" id="{A6662289-D7C9-45D6-99A3-488A76A59BC6}"/>
              </a:ext>
            </a:extLst>
          </p:cNvPr>
          <p:cNvSpPr/>
          <p:nvPr/>
        </p:nvSpPr>
        <p:spPr>
          <a:xfrm>
            <a:off x="5231904" y="5013176"/>
            <a:ext cx="4104456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2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2" grpId="0" animBg="1"/>
      <p:bldP spid="12" grpId="1" animBg="1"/>
      <p:bldP spid="12" grpId="2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D9A3-7F95-41C0-92B8-66A57CD2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literals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D6C0B-FEDB-4D5D-8AC4-8D1CE0B3F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547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F41911-1251-C4EB-57DA-49E2C418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Пользовательские литералы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04C597-32F1-69F1-90F8-65BB96B3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Литералы — способ создавать объекты через суффиксы</a:t>
            </a:r>
          </a:p>
          <a:p>
            <a:r>
              <a:rPr lang="ru-RU" dirty="0"/>
              <a:t>Примеры из </a:t>
            </a:r>
            <a:r>
              <a:rPr lang="en-US" dirty="0"/>
              <a:t>STL: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hello"s</a:t>
            </a:r>
            <a:r>
              <a:rPr lang="en-US" dirty="0"/>
              <a:t>    // std::string</a:t>
            </a:r>
            <a:br>
              <a:rPr lang="en-US" dirty="0"/>
            </a:br>
            <a:r>
              <a:rPr lang="en-US" dirty="0"/>
              <a:t>"</a:t>
            </a:r>
            <a:r>
              <a:rPr lang="en-US" dirty="0" err="1"/>
              <a:t>hello"sv</a:t>
            </a:r>
            <a:r>
              <a:rPr lang="en-US" dirty="0"/>
              <a:t>   // std::</a:t>
            </a:r>
            <a:r>
              <a:rPr lang="en-US" dirty="0" err="1"/>
              <a:t>string_view</a:t>
            </a:r>
            <a:br>
              <a:rPr lang="en-US" dirty="0"/>
            </a:br>
            <a:r>
              <a:rPr lang="en-US" dirty="0"/>
              <a:t>125ms       // std::chrono::milliseconds</a:t>
            </a:r>
            <a:br>
              <a:rPr lang="en-US" dirty="0"/>
            </a:br>
            <a:r>
              <a:rPr lang="en-US" dirty="0"/>
              <a:t>18.5i       // std::complex</a:t>
            </a:r>
          </a:p>
          <a:p>
            <a:r>
              <a:rPr lang="ru-RU" dirty="0"/>
              <a:t>Можно объявлять свои:</a:t>
            </a:r>
          </a:p>
          <a:p>
            <a:pPr lvl="1"/>
            <a:r>
              <a:rPr lang="en-US" dirty="0"/>
              <a:t>auto x = 100_usd;</a:t>
            </a:r>
            <a:br>
              <a:rPr lang="en-US" dirty="0"/>
            </a:br>
            <a:r>
              <a:rPr lang="en-US" dirty="0"/>
              <a:t>auto id = "user-1"_UserId;</a:t>
            </a:r>
          </a:p>
          <a:p>
            <a:pPr lvl="1"/>
            <a:r>
              <a:rPr lang="ru-RU" dirty="0"/>
              <a:t>Правило: суффикс начинается с _</a:t>
            </a:r>
          </a:p>
          <a:p>
            <a:r>
              <a:rPr lang="ru-RU" dirty="0"/>
              <a:t>Зачем:</a:t>
            </a:r>
          </a:p>
          <a:p>
            <a:pPr lvl="1"/>
            <a:r>
              <a:rPr lang="ru-RU" dirty="0"/>
              <a:t>более выразительный код</a:t>
            </a:r>
          </a:p>
          <a:p>
            <a:pPr lvl="1"/>
            <a:r>
              <a:rPr lang="ru-RU" dirty="0"/>
              <a:t>меньше ошибок</a:t>
            </a:r>
          </a:p>
          <a:p>
            <a:pPr lvl="1"/>
            <a:r>
              <a:rPr lang="ru-RU" dirty="0"/>
              <a:t>ближе к предметной области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4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03BA-8E40-4F32-9FC5-A1F25D29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Автоматический перевод из градусов в радианы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1FC24-343C-4F41-B1FD-3F3EFB749441}"/>
              </a:ext>
            </a:extLst>
          </p:cNvPr>
          <p:cNvSpPr/>
          <p:nvPr/>
        </p:nvSpPr>
        <p:spPr>
          <a:xfrm>
            <a:off x="911424" y="1988840"/>
            <a:ext cx="82325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operator""_</a:t>
            </a:r>
            <a:r>
              <a:rPr lang="en-US" dirty="0" err="1">
                <a:solidFill>
                  <a:srgbClr val="098658"/>
                </a:solidFill>
                <a:latin typeface="Consolas" panose="020B0609020204030204" pitchFamily="49" charset="0"/>
              </a:rPr>
              <a:t>deg_to_rad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deg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deg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pi_v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180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nn-NO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098658"/>
                </a:solidFill>
                <a:latin typeface="Consolas" panose="020B0609020204030204" pitchFamily="49" charset="0"/>
              </a:rPr>
              <a:t>180.0_deg_to_rad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nn-NO" dirty="0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nn-NO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3.14159</a:t>
            </a:r>
            <a:endParaRPr lang="nn-NO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73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154C-4146-456C-A616-6F5672E6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литералы к валюте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A1481-3B65-4484-B6BD-E3039076CC11}"/>
              </a:ext>
            </a:extLst>
          </p:cNvPr>
          <p:cNvSpPr/>
          <p:nvPr/>
        </p:nvSpPr>
        <p:spPr>
          <a:xfrm>
            <a:off x="911424" y="1502688"/>
            <a:ext cx="1036915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CurrencyType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CurrencyType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signedAmount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CurrencyType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ValueType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cmp_equal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signedAmount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out_of_range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"Value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out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of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range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CurrencyType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signedAmount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""_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rur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Roubles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""_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usd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make_unsigned_t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ValueType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""_</a:t>
            </a:r>
            <a:r>
              <a:rPr lang="de-DE" dirty="0" err="1">
                <a:solidFill>
                  <a:srgbClr val="098658"/>
                </a:solidFill>
                <a:latin typeface="Consolas" panose="020B0609020204030204" pitchFamily="49" charset="0"/>
              </a:rPr>
              <a:t>eur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make_unsigned_t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ValueType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MakeCurrency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Euros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7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C392-1A85-45F2-85BF-D6816C06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Денежные литералы в действии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2A0DB6-2BF6-4620-A8C5-6C05D698A67D}"/>
              </a:ext>
            </a:extLst>
          </p:cNvPr>
          <p:cNvSpPr/>
          <p:nvPr/>
        </p:nvSpPr>
        <p:spPr>
          <a:xfrm>
            <a:off x="838200" y="1502688"/>
            <a:ext cx="1044116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качестве значения используется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uint64_t</a:t>
            </a: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 Используем охватывающий класс или структуру в качестве маркера типа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uint64_t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price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100_usd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order1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20_eur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70_eur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order2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500_rur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17_rur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74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1693E0-1B3C-4D8E-93E9-8180EB03004D}"/>
              </a:ext>
            </a:extLst>
          </p:cNvPr>
          <p:cNvSpPr/>
          <p:nvPr/>
        </p:nvSpPr>
        <p:spPr>
          <a:xfrm>
            <a:off x="767408" y="1720840"/>
            <a:ext cx="92890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Используем охватывающий класс или структуру в качестве маркера типа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качестве значения используется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uint64_t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uint64_t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Order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AF5187-E433-A241-0B92-984A96EA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класс в качестве маркера типа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37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CA6C-E773-4ABC-B683-AB9BB332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Упрощаем создание </a:t>
            </a:r>
            <a:r>
              <a:rPr lang="en-US" dirty="0" err="1"/>
              <a:t>UserId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DC33E-5FC5-427D-888B-1030B280D43D}"/>
              </a:ext>
            </a:extLst>
          </p:cNvPr>
          <p:cNvSpPr/>
          <p:nvPr/>
        </p:nvSpPr>
        <p:spPr>
          <a:xfrm>
            <a:off x="838200" y="1440520"/>
            <a:ext cx="7058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UserIdTag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{ };</a:t>
            </a:r>
          </a:p>
          <a:p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UserIdTag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&gt;;</a:t>
            </a:r>
            <a:endParaRPr lang="de-DE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""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_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len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{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len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emplace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"user-0"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Dollars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});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emplace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"user-2"_UserId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100_usd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F2747-5D8A-4A3E-8B64-76ED8F6F10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49" r="50000"/>
          <a:stretch/>
        </p:blipFill>
        <p:spPr>
          <a:xfrm>
            <a:off x="7972292" y="5085184"/>
            <a:ext cx="1613483" cy="1634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3BD96D-1C58-4F26-85A0-6095AD66C2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773"/>
          <a:stretch/>
        </p:blipFill>
        <p:spPr>
          <a:xfrm>
            <a:off x="7974553" y="3140968"/>
            <a:ext cx="1611222" cy="158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1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</a:t>
            </a:r>
            <a:r>
              <a:rPr lang="en-US" dirty="0"/>
              <a:t>[]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</a:t>
            </a:r>
            <a:r>
              <a:rPr lang="en-US" dirty="0"/>
              <a:t>[]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Назначение: доступ к элементам контейнера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container</a:t>
            </a:r>
            <a:r>
              <a:rPr lang="ru-RU" dirty="0">
                <a:latin typeface="Consolas" panose="020B0609020204030204" pitchFamily="49" charset="0"/>
              </a:rPr>
              <a:t>[</a:t>
            </a:r>
            <a:r>
              <a:rPr lang="ru-RU" dirty="0" err="1">
                <a:latin typeface="Consolas" panose="020B0609020204030204" pitchFamily="49" charset="0"/>
              </a:rPr>
              <a:t>index</a:t>
            </a:r>
            <a:r>
              <a:rPr lang="ru-RU" dirty="0">
                <a:latin typeface="Consolas" panose="020B0609020204030204" pitchFamily="49" charset="0"/>
              </a:rPr>
              <a:t>]</a:t>
            </a:r>
          </a:p>
          <a:p>
            <a:r>
              <a:rPr lang="ru-RU" dirty="0"/>
              <a:t>Где используется:</a:t>
            </a:r>
          </a:p>
          <a:p>
            <a:pPr lvl="1"/>
            <a:r>
              <a:rPr lang="ru-RU" dirty="0"/>
              <a:t>массивы </a:t>
            </a:r>
          </a:p>
          <a:p>
            <a:pPr lvl="1"/>
            <a:r>
              <a:rPr lang="ru-RU" dirty="0"/>
              <a:t>строки </a:t>
            </a:r>
          </a:p>
          <a:p>
            <a:pPr lvl="1"/>
            <a:r>
              <a:rPr lang="ru-RU" dirty="0"/>
              <a:t>словари </a:t>
            </a:r>
          </a:p>
          <a:p>
            <a:pPr lvl="1"/>
            <a:r>
              <a:rPr lang="ru-RU" dirty="0"/>
              <a:t>пользовательские контейнеры </a:t>
            </a:r>
          </a:p>
          <a:p>
            <a:r>
              <a:rPr lang="ru-RU" dirty="0"/>
              <a:t>Особенности:</a:t>
            </a:r>
            <a:endParaRPr lang="en-US" dirty="0"/>
          </a:p>
          <a:p>
            <a:pPr lvl="1"/>
            <a:r>
              <a:rPr lang="ru-RU" dirty="0"/>
              <a:t>объявляется только внутри класса</a:t>
            </a:r>
            <a:endParaRPr lang="en-US" dirty="0"/>
          </a:p>
          <a:p>
            <a:pPr lvl="1"/>
            <a:r>
              <a:rPr lang="ru-RU" dirty="0"/>
              <a:t>тип индекса — произвольный</a:t>
            </a:r>
            <a:endParaRPr lang="en-US" dirty="0"/>
          </a:p>
          <a:p>
            <a:pPr lvl="1"/>
            <a:r>
              <a:rPr lang="ru-RU" dirty="0"/>
              <a:t>обычно возвращает ссылку (или ее аналог)</a:t>
            </a:r>
            <a:r>
              <a:rPr lang="en-US" dirty="0"/>
              <a:t> </a:t>
            </a:r>
            <a:r>
              <a:rPr lang="ru-RU" dirty="0"/>
              <a:t>на элемент</a:t>
            </a:r>
          </a:p>
          <a:p>
            <a:r>
              <a:rPr lang="ru-RU" dirty="0"/>
              <a:t>Обычно имеет две версии: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T&amp; 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[](Index i);             // запись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T&amp; 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[](Index i) </a:t>
            </a:r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; // чтение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F63872-654E-45E5-1A3B-743DD2CF6C92}"/>
              </a:ext>
            </a:extLst>
          </p:cNvPr>
          <p:cNvSpPr txBox="1"/>
          <p:nvPr/>
        </p:nvSpPr>
        <p:spPr>
          <a:xfrm>
            <a:off x="0" y="0"/>
            <a:ext cx="746415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String(const char* str) : String(str, std::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(str)) { }</a:t>
            </a:r>
          </a:p>
          <a:p>
            <a:pPr>
              <a:buNone/>
            </a:pPr>
            <a:b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String(const char* str,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length)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&lt;char*&gt;(operator new(length + 1)))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,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m_length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(length)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,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(length) {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uninitialized_copy_n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(str, length,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[length] = 0;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char*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m_length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0;</a:t>
            </a:r>
          </a:p>
          <a:p>
            <a:pPr>
              <a:buNone/>
            </a:pP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0;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0FB85-4FE5-3085-C8F3-B293DABA7B86}"/>
              </a:ext>
            </a:extLst>
          </p:cNvPr>
          <p:cNvSpPr txBox="1"/>
          <p:nvPr/>
        </p:nvSpPr>
        <p:spPr>
          <a:xfrm>
            <a:off x="6096000" y="5103674"/>
            <a:ext cx="43924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8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463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87CC-EE9F-EF3B-DBCA-49C418D8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</a:t>
            </a:r>
            <a:r>
              <a:rPr lang="en-US" dirty="0"/>
              <a:t>[] </a:t>
            </a:r>
            <a:r>
              <a:rPr lang="ru-RU" dirty="0"/>
              <a:t>в </a:t>
            </a:r>
            <a:r>
              <a:rPr lang="en-US" dirty="0"/>
              <a:t>C++ 23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9A24-DD4D-3CDB-0396-8C10A2382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Теперь </a:t>
            </a:r>
            <a:r>
              <a:rPr lang="ru-RU" dirty="0" err="1"/>
              <a:t>operator</a:t>
            </a:r>
            <a:r>
              <a:rPr lang="ru-RU" dirty="0"/>
              <a:t>[] может принимать </a:t>
            </a:r>
            <a:r>
              <a:rPr lang="ru-RU" b="1" dirty="0"/>
              <a:t>несколько аргументов</a:t>
            </a:r>
            <a:br>
              <a:rPr lang="ru-RU" dirty="0"/>
            </a:br>
            <a:r>
              <a:rPr lang="ru-RU" dirty="0"/>
              <a:t>(только для пользовательских типов)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matrix</a:t>
            </a:r>
            <a:r>
              <a:rPr lang="ru-RU" dirty="0">
                <a:latin typeface="Consolas" panose="020B0609020204030204" pitchFamily="49" charset="0"/>
              </a:rPr>
              <a:t>[i, j]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tensor</a:t>
            </a:r>
            <a:r>
              <a:rPr lang="ru-RU" dirty="0">
                <a:latin typeface="Consolas" panose="020B0609020204030204" pitchFamily="49" charset="0"/>
              </a:rPr>
              <a:t>[x, y, z]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map</a:t>
            </a:r>
            <a:r>
              <a:rPr lang="ru-RU" dirty="0">
                <a:latin typeface="Consolas" panose="020B0609020204030204" pitchFamily="49" charset="0"/>
              </a:rPr>
              <a:t>[key1, key2]</a:t>
            </a:r>
          </a:p>
          <a:p>
            <a:r>
              <a:rPr lang="ru-RU" dirty="0"/>
              <a:t>Раньше: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matrix</a:t>
            </a:r>
            <a:r>
              <a:rPr lang="ru-RU" dirty="0">
                <a:latin typeface="Consolas" panose="020B0609020204030204" pitchFamily="49" charset="0"/>
              </a:rPr>
              <a:t>[i][j]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matrix</a:t>
            </a:r>
            <a:r>
              <a:rPr lang="ru-RU" dirty="0">
                <a:latin typeface="Consolas" panose="020B0609020204030204" pitchFamily="49" charset="0"/>
              </a:rPr>
              <a:t>(i, j)</a:t>
            </a:r>
          </a:p>
          <a:p>
            <a:r>
              <a:rPr lang="ru-RU" dirty="0"/>
              <a:t>Важно: для встроенных массивов всё по-старому: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arr</a:t>
            </a:r>
            <a:r>
              <a:rPr lang="ru-RU" dirty="0">
                <a:latin typeface="Consolas" panose="020B0609020204030204" pitchFamily="49" charset="0"/>
              </a:rPr>
              <a:t>[i, j]  // это </a:t>
            </a:r>
            <a:r>
              <a:rPr lang="ru-RU" dirty="0" err="1">
                <a:latin typeface="Consolas" panose="020B0609020204030204" pitchFamily="49" charset="0"/>
              </a:rPr>
              <a:t>arr</a:t>
            </a:r>
            <a:r>
              <a:rPr lang="ru-RU" dirty="0">
                <a:latin typeface="Consolas" panose="020B0609020204030204" pitchFamily="49" charset="0"/>
              </a:rPr>
              <a:t>[j] (оператор запятая)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более естественный синтаксис</a:t>
            </a:r>
          </a:p>
          <a:p>
            <a:pPr lvl="1"/>
            <a:r>
              <a:rPr lang="ru-RU" dirty="0"/>
              <a:t>удобен для многомерных структур</a:t>
            </a:r>
          </a:p>
        </p:txBody>
      </p:sp>
    </p:spTree>
    <p:extLst>
      <p:ext uri="{BB962C8B-B14F-4D97-AF65-F5344CB8AC3E}">
        <p14:creationId xmlns:p14="http://schemas.microsoft.com/office/powerpoint/2010/main" val="41907898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040B88-E622-F4B9-BFD6-289C1FECD11D}"/>
              </a:ext>
            </a:extLst>
          </p:cNvPr>
          <p:cNvSpPr txBox="1"/>
          <p:nvPr/>
        </p:nvSpPr>
        <p:spPr>
          <a:xfrm>
            <a:off x="0" y="-1"/>
            <a:ext cx="7392144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ru-RU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Matrix()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7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7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explicit Matrix(T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initVal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for (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r = 0; r &lt;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 ++r)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  for (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c = 0; c &lt;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 ++c)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[r][c] = (r == c) ?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initVal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: T{};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column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[row][column];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operator[](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column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[row][column];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7AB3A-D7B3-B4FE-E9FC-61B739AE8017}"/>
              </a:ext>
            </a:extLst>
          </p:cNvPr>
          <p:cNvSpPr txBox="1"/>
          <p:nvPr/>
        </p:nvSpPr>
        <p:spPr>
          <a:xfrm>
            <a:off x="7896200" y="5301208"/>
            <a:ext cx="417646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359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2736-EBD4-C907-ACE2-A9090B15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работали с многомерными массивами до </a:t>
            </a:r>
            <a:r>
              <a:rPr lang="en-US" dirty="0"/>
              <a:t>C++ 23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A59C-E1E7-6AD0-44C0-F9410B488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 C++23</a:t>
            </a:r>
            <a:r>
              <a:rPr lang="en-US" dirty="0"/>
              <a:t> </a:t>
            </a:r>
            <a:r>
              <a:rPr lang="ru-RU" dirty="0" err="1"/>
              <a:t>operator</a:t>
            </a:r>
            <a:r>
              <a:rPr lang="ru-RU" dirty="0"/>
              <a:t>[] мог принимать только </a:t>
            </a:r>
            <a:r>
              <a:rPr lang="ru-RU" b="1" dirty="0"/>
              <a:t>один аргумент</a:t>
            </a:r>
            <a:r>
              <a:rPr lang="ru-RU" dirty="0"/>
              <a:t> </a:t>
            </a:r>
          </a:p>
          <a:p>
            <a:r>
              <a:rPr lang="ru-RU" dirty="0"/>
              <a:t>Проблема:</a:t>
            </a:r>
          </a:p>
          <a:p>
            <a:pPr lvl="1"/>
            <a:r>
              <a:rPr lang="ru-RU" dirty="0" err="1"/>
              <a:t>matrix</a:t>
            </a:r>
            <a:r>
              <a:rPr lang="ru-RU" dirty="0"/>
              <a:t>[i, j]   // нельзя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en-US" dirty="0"/>
              <a:t>matrix(</a:t>
            </a:r>
            <a:r>
              <a:rPr lang="en-US" dirty="0" err="1"/>
              <a:t>i</a:t>
            </a:r>
            <a:r>
              <a:rPr lang="en-US" dirty="0"/>
              <a:t>, j) //</a:t>
            </a:r>
            <a:r>
              <a:rPr lang="ru-RU" dirty="0"/>
              <a:t> НО: выглядит как вызов функции</a:t>
            </a:r>
          </a:p>
          <a:p>
            <a:pPr lvl="1"/>
            <a:r>
              <a:rPr lang="ru-RU" dirty="0" err="1"/>
              <a:t>matrix</a:t>
            </a:r>
            <a:r>
              <a:rPr lang="ru-RU" dirty="0"/>
              <a:t>[i][j]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первый [] не может сразу вернуть элемент </a:t>
            </a:r>
          </a:p>
          <a:p>
            <a:pPr lvl="1"/>
            <a:r>
              <a:rPr lang="ru-RU" dirty="0"/>
              <a:t>нужен промежуточный прокси-объект с оператором </a:t>
            </a:r>
            <a:r>
              <a:rPr lang="en-US" dirty="0"/>
              <a:t>[]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349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B3393-B2AE-E7A3-A7EE-E0AE01B1BF76}"/>
              </a:ext>
            </a:extLst>
          </p:cNvPr>
          <p:cNvSpPr txBox="1"/>
          <p:nvPr/>
        </p:nvSpPr>
        <p:spPr>
          <a:xfrm>
            <a:off x="0" y="0"/>
            <a:ext cx="1228868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NumColumns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conditional_t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conditional_t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operator[](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operator[](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operator[](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NumRows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D0B27-E7C9-0E6D-2738-18C8915B79AB}"/>
              </a:ext>
            </a:extLst>
          </p:cNvPr>
          <p:cNvSpPr txBox="1"/>
          <p:nvPr/>
        </p:nvSpPr>
        <p:spPr>
          <a:xfrm>
            <a:off x="7968208" y="112813"/>
            <a:ext cx="415178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672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Перегрузка операций инкремента и декремента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Префиксный и постфиксный ++ и --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Операторы инкремента и декремента имеют две формы</a:t>
            </a:r>
          </a:p>
          <a:p>
            <a:pPr lvl="1"/>
            <a:r>
              <a:rPr lang="ru-RU" dirty="0"/>
              <a:t>++a   // префикс</a:t>
            </a:r>
            <a:br>
              <a:rPr lang="ru-RU" dirty="0"/>
            </a:br>
            <a:r>
              <a:rPr lang="ru-RU" dirty="0"/>
              <a:t>a++   // постфикс</a:t>
            </a:r>
          </a:p>
          <a:p>
            <a:r>
              <a:rPr lang="ru-RU" dirty="0"/>
              <a:t>Префиксная форма</a:t>
            </a:r>
          </a:p>
          <a:p>
            <a:pPr lvl="1"/>
            <a:r>
              <a:rPr lang="ru-RU" dirty="0"/>
              <a:t>изменяет объект</a:t>
            </a:r>
          </a:p>
          <a:p>
            <a:pPr lvl="1"/>
            <a:r>
              <a:rPr lang="ru-RU" dirty="0"/>
              <a:t>возвращает ссылку на него</a:t>
            </a:r>
          </a:p>
          <a:p>
            <a:r>
              <a:rPr lang="ru-RU" dirty="0"/>
              <a:t>Постфиксная форма</a:t>
            </a:r>
          </a:p>
          <a:p>
            <a:pPr lvl="1"/>
            <a:r>
              <a:rPr lang="ru-RU" dirty="0"/>
              <a:t>изменяет объект</a:t>
            </a:r>
          </a:p>
          <a:p>
            <a:pPr lvl="1"/>
            <a:r>
              <a:rPr lang="ru-RU" dirty="0"/>
              <a:t>возвращает старое значение</a:t>
            </a:r>
          </a:p>
          <a:p>
            <a:r>
              <a:rPr lang="ru-RU" dirty="0"/>
              <a:t>Сигнатуры:</a:t>
            </a:r>
          </a:p>
          <a:p>
            <a:pPr lvl="1"/>
            <a:r>
              <a:rPr lang="ru-RU" dirty="0"/>
              <a:t>T&amp; </a:t>
            </a:r>
            <a:r>
              <a:rPr lang="ru-RU" dirty="0" err="1"/>
              <a:t>operator</a:t>
            </a:r>
            <a:r>
              <a:rPr lang="ru-RU" dirty="0"/>
              <a:t>++();     // префикс</a:t>
            </a:r>
            <a:br>
              <a:rPr lang="ru-RU" dirty="0"/>
            </a:br>
            <a:r>
              <a:rPr lang="ru-RU" dirty="0"/>
              <a:t>T  </a:t>
            </a:r>
            <a:r>
              <a:rPr lang="ru-RU" dirty="0" err="1"/>
              <a:t>operator</a:t>
            </a:r>
            <a:r>
              <a:rPr lang="ru-RU" dirty="0"/>
              <a:t>++(</a:t>
            </a:r>
            <a:r>
              <a:rPr lang="ru-RU" dirty="0" err="1"/>
              <a:t>int</a:t>
            </a:r>
            <a:r>
              <a:rPr lang="ru-RU" dirty="0"/>
              <a:t>);  // постфикс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2319-162D-2E75-6483-C30061C1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реализация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E0E6-4230-C382-970E-F4C6D18E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Рекомендуемый шаблон: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T&amp; operator++() {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ru-RU" dirty="0">
                <a:latin typeface="Consolas" panose="020B0609020204030204" pitchFamily="49" charset="0"/>
              </a:rPr>
              <a:t>Префиксная форма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// </a:t>
            </a:r>
            <a:r>
              <a:rPr lang="ru-RU" dirty="0">
                <a:latin typeface="Consolas" panose="020B0609020204030204" pitchFamily="49" charset="0"/>
              </a:rPr>
              <a:t>изменить состояние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return *this;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 operator++(int) {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ru-RU" dirty="0">
                <a:latin typeface="Consolas" panose="020B0609020204030204" pitchFamily="49" charset="0"/>
              </a:rPr>
              <a:t>Постфиксная форма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T copy = *this;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++(*this);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copy;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Рекомендации:</a:t>
            </a:r>
          </a:p>
          <a:p>
            <a:pPr lvl="1"/>
            <a:r>
              <a:rPr lang="ru-RU" dirty="0"/>
              <a:t>Префиксная форма – основная</a:t>
            </a:r>
          </a:p>
          <a:p>
            <a:pPr lvl="1"/>
            <a:r>
              <a:rPr lang="ru-RU" dirty="0"/>
              <a:t>Постфиксную версию реализовывайте через префиксную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7008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- дата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5A09B-F8FC-CAFF-A4D1-A20D4DB25E56}"/>
              </a:ext>
            </a:extLst>
          </p:cNvPr>
          <p:cNvSpPr txBox="1"/>
          <p:nvPr/>
        </p:nvSpPr>
        <p:spPr>
          <a:xfrm>
            <a:off x="983432" y="1690688"/>
            <a:ext cx="103703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operator++()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AddDays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operator++(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++(*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AddDays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days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Переход к следующему дню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m_month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m_year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72FF62-AF81-D78F-8FF8-7FB4BF515166}"/>
              </a:ext>
            </a:extLst>
          </p:cNvPr>
          <p:cNvSpPr txBox="1"/>
          <p:nvPr/>
        </p:nvSpPr>
        <p:spPr>
          <a:xfrm>
            <a:off x="0" y="1"/>
            <a:ext cx="11424592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List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Эти типы нужны, чтобы итератор был совместим с алгоритмами Стандартной библиотеки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iterator_category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bidirectional_iterator_tag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В списке можно двигаться только вперед и назад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conditional_t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add_lvalue_reference_t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add_pointer_t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difference_type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ptrdiff_t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operator++()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operator++(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++(*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friend class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Делаем конструктор доступный только классу «Список»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m_node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const_iterator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290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Альтернативные способы перегрузки операторов </a:t>
            </a:r>
            <a:r>
              <a:rPr lang="en-US" dirty="0"/>
              <a:t>++ </a:t>
            </a:r>
            <a:r>
              <a:rPr lang="ru-RU" dirty="0"/>
              <a:t>и </a:t>
            </a:r>
            <a:r>
              <a:rPr lang="en-US" dirty="0"/>
              <a:t>--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Помимо методов класса, операторы можно объявить вне класса: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Type&amp; 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++(Type&amp; </a:t>
            </a:r>
            <a:r>
              <a:rPr lang="ru-RU" dirty="0" err="1">
                <a:latin typeface="Consolas" panose="020B0609020204030204" pitchFamily="49" charset="0"/>
              </a:rPr>
              <a:t>obj</a:t>
            </a:r>
            <a:r>
              <a:rPr lang="ru-RU" dirty="0">
                <a:latin typeface="Consolas" panose="020B0609020204030204" pitchFamily="49" charset="0"/>
              </a:rPr>
              <a:t>);      // префикс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Type  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++(Type&amp; </a:t>
            </a:r>
            <a:r>
              <a:rPr lang="ru-RU" dirty="0" err="1">
                <a:latin typeface="Consolas" panose="020B0609020204030204" pitchFamily="49" charset="0"/>
              </a:rPr>
              <a:t>obj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); // постфикс</a:t>
            </a:r>
          </a:p>
          <a:p>
            <a:r>
              <a:rPr lang="ru-RU" dirty="0"/>
              <a:t>Когда это нужно:</a:t>
            </a:r>
          </a:p>
          <a:p>
            <a:pPr lvl="1"/>
            <a:r>
              <a:rPr lang="ru-RU" dirty="0"/>
              <a:t>нельзя изменить исходный код класса</a:t>
            </a:r>
          </a:p>
          <a:p>
            <a:pPr lvl="1"/>
            <a:r>
              <a:rPr lang="ru-RU" dirty="0"/>
              <a:t>требуется симметричный внешний интерфейс</a:t>
            </a:r>
          </a:p>
          <a:p>
            <a:r>
              <a:rPr lang="ru-RU" dirty="0"/>
              <a:t>Доступ к </a:t>
            </a:r>
            <a:r>
              <a:rPr lang="ru-RU" dirty="0" err="1"/>
              <a:t>private</a:t>
            </a:r>
            <a:r>
              <a:rPr lang="ru-RU" dirty="0"/>
              <a:t>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friend</a:t>
            </a:r>
            <a:r>
              <a:rPr lang="ru-RU" dirty="0">
                <a:latin typeface="Consolas" panose="020B0609020204030204" pitchFamily="49" charset="0"/>
              </a:rPr>
              <a:t> Type&amp; 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++(Type&amp;);</a:t>
            </a:r>
          </a:p>
          <a:p>
            <a:pPr lvl="1"/>
            <a:r>
              <a:rPr lang="ru-RU" dirty="0"/>
              <a:t>используется при необходимости доступа к закрытым данным</a:t>
            </a:r>
          </a:p>
          <a:p>
            <a:r>
              <a:rPr lang="ru-RU" dirty="0"/>
              <a:t>Ограничения:</a:t>
            </a:r>
          </a:p>
          <a:p>
            <a:pPr lvl="1"/>
            <a:r>
              <a:rPr lang="ru-RU" dirty="0"/>
              <a:t>менее естественно, чем метод класса</a:t>
            </a:r>
          </a:p>
          <a:p>
            <a:pPr lvl="1"/>
            <a:r>
              <a:rPr lang="ru-RU" dirty="0"/>
              <a:t>сложнее читать и поддерживать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приведения типа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приведения типа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Позволяют преобразовать объект к другому типу</a:t>
            </a:r>
          </a:p>
          <a:p>
            <a:pPr lvl="1"/>
            <a:r>
              <a:rPr lang="en-US" dirty="0"/>
              <a:t>Rational → double</a:t>
            </a:r>
            <a:br>
              <a:rPr lang="en-US" dirty="0"/>
            </a:br>
            <a:r>
              <a:rPr lang="en-US" dirty="0" err="1"/>
              <a:t>MyString</a:t>
            </a:r>
            <a:r>
              <a:rPr lang="en-US" dirty="0"/>
              <a:t> → const char*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operator Type() const;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вызывается неявно или явно</a:t>
            </a:r>
          </a:p>
          <a:p>
            <a:pPr lvl="1"/>
            <a:r>
              <a:rPr lang="ru-RU" dirty="0"/>
              <a:t>делает тип удобнее в использовании</a:t>
            </a:r>
          </a:p>
          <a:p>
            <a:r>
              <a:rPr lang="ru-RU" dirty="0"/>
              <a:t>Альтернатива:</a:t>
            </a:r>
          </a:p>
          <a:p>
            <a:pPr lvl="1"/>
            <a:r>
              <a:rPr lang="en-US" dirty="0" err="1"/>
              <a:t>value.ToDouble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value.c_str</a:t>
            </a:r>
            <a:r>
              <a:rPr lang="en-US" dirty="0"/>
              <a:t>()</a:t>
            </a:r>
          </a:p>
          <a:p>
            <a:r>
              <a:rPr lang="ru-RU" dirty="0"/>
              <a:t>Используйте осторожно (может приводить к неявным ошибкам)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2850F8-4B5B-DDA1-2F4B-153E4712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приведения типа для </a:t>
            </a:r>
            <a:r>
              <a:rPr lang="en-US" dirty="0"/>
              <a:t>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F218E-D29D-6BE3-00DC-6F65D077C07C}"/>
              </a:ext>
            </a:extLst>
          </p:cNvPr>
          <p:cNvSpPr txBox="1"/>
          <p:nvPr/>
        </p:nvSpPr>
        <p:spPr>
          <a:xfrm>
            <a:off x="817565" y="1916832"/>
            <a:ext cx="49904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operator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C7947F-8800-979E-620B-FB0B403CC576}"/>
              </a:ext>
            </a:extLst>
          </p:cNvPr>
          <p:cNvSpPr txBox="1"/>
          <p:nvPr/>
        </p:nvSpPr>
        <p:spPr>
          <a:xfrm>
            <a:off x="6096000" y="1932321"/>
            <a:ext cx="56886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Использование:</a:t>
            </a:r>
          </a:p>
          <a:p>
            <a:pPr>
              <a:buNone/>
            </a:pPr>
            <a:endParaRPr lang="ru-RU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неявное приведение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A7125-49E2-A6CE-29D8-D91B14D92185}"/>
              </a:ext>
            </a:extLst>
          </p:cNvPr>
          <p:cNvSpPr txBox="1"/>
          <p:nvPr/>
        </p:nvSpPr>
        <p:spPr>
          <a:xfrm>
            <a:off x="6096000" y="3928280"/>
            <a:ext cx="62376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Проблема:</a:t>
            </a:r>
          </a:p>
          <a:p>
            <a:endParaRPr lang="ru-RU" dirty="0"/>
          </a:p>
          <a:p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&lt;&lt; (s + 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// неожиданный результат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F40997-C054-F3A3-4432-9C5922DA2AB8}"/>
              </a:ext>
            </a:extLst>
          </p:cNvPr>
          <p:cNvSpPr txBox="1"/>
          <p:nvPr/>
        </p:nvSpPr>
        <p:spPr>
          <a:xfrm>
            <a:off x="6096000" y="5308786"/>
            <a:ext cx="5688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Предпочтительный способ реализации:</a:t>
            </a:r>
          </a:p>
          <a:p>
            <a:pPr>
              <a:buNone/>
            </a:pP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520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4696-4DAE-0C29-D772-498640D7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приведения </a:t>
            </a:r>
            <a:r>
              <a:rPr lang="en-US"/>
              <a:t>Rational → double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80F916-C25F-FC6A-DDED-3019F021C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064" y="1825625"/>
            <a:ext cx="5112568" cy="4351338"/>
          </a:xfrm>
        </p:spPr>
        <p:txBody>
          <a:bodyPr/>
          <a:lstStyle/>
          <a:p>
            <a:r>
              <a:rPr lang="ru-RU" dirty="0"/>
              <a:t>Особенности:</a:t>
            </a:r>
            <a:endParaRPr lang="en-US" dirty="0"/>
          </a:p>
          <a:p>
            <a:pPr lvl="1"/>
            <a:r>
              <a:rPr lang="en-US" dirty="0"/>
              <a:t>✔ </a:t>
            </a:r>
            <a:r>
              <a:rPr lang="ru-RU" dirty="0"/>
              <a:t>удобно использовать</a:t>
            </a:r>
            <a:endParaRPr lang="en-US" dirty="0"/>
          </a:p>
          <a:p>
            <a:pPr lvl="1"/>
            <a:r>
              <a:rPr lang="en-US" dirty="0"/>
              <a:t>⚠ </a:t>
            </a:r>
            <a:r>
              <a:rPr lang="ru-RU" dirty="0"/>
              <a:t>возможна потеря точности</a:t>
            </a:r>
            <a:endParaRPr lang="en-US" dirty="0"/>
          </a:p>
          <a:p>
            <a:pPr lvl="1"/>
            <a:r>
              <a:rPr lang="en-US" dirty="0"/>
              <a:t>⚠ </a:t>
            </a:r>
            <a:r>
              <a:rPr lang="ru-RU" dirty="0"/>
              <a:t>неявные преобразования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6F5DB-D943-E95D-7855-A66A0E1E549B}"/>
              </a:ext>
            </a:extLst>
          </p:cNvPr>
          <p:cNvSpPr txBox="1"/>
          <p:nvPr/>
        </p:nvSpPr>
        <p:spPr>
          <a:xfrm>
            <a:off x="324241" y="1940938"/>
            <a:ext cx="63478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operator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98326-5B59-7B25-0EA2-949700FA675A}"/>
              </a:ext>
            </a:extLst>
          </p:cNvPr>
          <p:cNvSpPr txBox="1"/>
          <p:nvPr/>
        </p:nvSpPr>
        <p:spPr>
          <a:xfrm>
            <a:off x="324241" y="501554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Использование:</a:t>
            </a:r>
          </a:p>
          <a:p>
            <a:pPr>
              <a:buNone/>
            </a:pPr>
            <a:endParaRPr lang="en-US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неявное приведение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ожидается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290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D7F9-DB15-5380-7CA2-C5A0F175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Явные и неявные преобразования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7621-5DCA-6ADB-5FD8-0FEA9E4B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Неявное приведение: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operator double() const;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Rational r(1, 2);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double x = r;   // </a:t>
            </a:r>
            <a:r>
              <a:rPr lang="ru-RU" dirty="0">
                <a:latin typeface="Consolas" panose="020B0609020204030204" pitchFamily="49" charset="0"/>
              </a:rPr>
              <a:t>неявно</a:t>
            </a:r>
          </a:p>
          <a:p>
            <a:r>
              <a:rPr lang="ru-RU" dirty="0"/>
              <a:t>Явное приведение: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explicit operator double() const;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double x = </a:t>
            </a:r>
            <a:r>
              <a:rPr lang="en-US" dirty="0" err="1">
                <a:latin typeface="Consolas" panose="020B0609020204030204" pitchFamily="49" charset="0"/>
              </a:rPr>
              <a:t>static_cast</a:t>
            </a:r>
            <a:r>
              <a:rPr lang="en-US" dirty="0">
                <a:latin typeface="Consolas" panose="020B0609020204030204" pitchFamily="49" charset="0"/>
              </a:rPr>
              <a:t>&lt;double&gt;(r); // </a:t>
            </a:r>
            <a:r>
              <a:rPr lang="ru-RU" dirty="0">
                <a:latin typeface="Consolas" panose="020B0609020204030204" pitchFamily="49" charset="0"/>
              </a:rPr>
              <a:t>явно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double y = r; // </a:t>
            </a:r>
            <a:r>
              <a:rPr lang="ru-RU" dirty="0">
                <a:latin typeface="Consolas" panose="020B0609020204030204" pitchFamily="49" charset="0"/>
              </a:rPr>
              <a:t>ошибка</a:t>
            </a:r>
          </a:p>
          <a:p>
            <a:r>
              <a:rPr lang="ru-RU" dirty="0"/>
              <a:t>Когда использовать </a:t>
            </a:r>
            <a:r>
              <a:rPr lang="en-US" dirty="0"/>
              <a:t>explicit:</a:t>
            </a:r>
            <a:endParaRPr lang="ru-RU" dirty="0"/>
          </a:p>
          <a:p>
            <a:pPr lvl="1"/>
            <a:r>
              <a:rPr lang="ru-RU" dirty="0"/>
              <a:t>возможна потеря точности</a:t>
            </a:r>
          </a:p>
          <a:p>
            <a:pPr lvl="1"/>
            <a:r>
              <a:rPr lang="ru-RU" dirty="0"/>
              <a:t>преобразование неочевидно</a:t>
            </a:r>
          </a:p>
          <a:p>
            <a:pPr lvl="1"/>
            <a:r>
              <a:rPr lang="ru-RU" dirty="0"/>
              <a:t>есть риск ошибок</a:t>
            </a:r>
          </a:p>
          <a:p>
            <a:r>
              <a:rPr lang="ru-RU" dirty="0"/>
              <a:t>Если есть сомнения — делайте </a:t>
            </a:r>
            <a:r>
              <a:rPr lang="en-US" dirty="0"/>
              <a:t>explicit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</a:t>
            </a:r>
            <a:r>
              <a:rPr dirty="0"/>
              <a:t>()</a:t>
            </a:r>
            <a:r>
              <a:rPr lang="ru-RU" dirty="0"/>
              <a:t>. Функциональные объекты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объекты (</a:t>
            </a:r>
            <a:r>
              <a:rPr lang="en-US" dirty="0"/>
              <a:t>operator())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Функциональный объект — это объект, который можно вызывать как функцию:</a:t>
            </a:r>
          </a:p>
          <a:p>
            <a:pPr lvl="1"/>
            <a:r>
              <a:rPr lang="en-US" dirty="0"/>
              <a:t>obj(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ru-RU" dirty="0"/>
              <a:t>Реализация:</a:t>
            </a:r>
          </a:p>
          <a:p>
            <a:pPr lvl="1"/>
            <a:r>
              <a:rPr lang="en-US" dirty="0"/>
              <a:t>class Functor {</a:t>
            </a:r>
            <a:br>
              <a:rPr lang="en-US" dirty="0"/>
            </a:br>
            <a:r>
              <a:rPr lang="en-US" dirty="0"/>
              <a:t>public:</a:t>
            </a:r>
            <a:br>
              <a:rPr lang="en-US" dirty="0"/>
            </a:br>
            <a:r>
              <a:rPr lang="en-US" dirty="0"/>
              <a:t>    void operator()(int x) const {</a:t>
            </a:r>
            <a:br>
              <a:rPr lang="en-US" dirty="0"/>
            </a:br>
            <a:r>
              <a:rPr lang="en-US" dirty="0"/>
              <a:t>        // </a:t>
            </a:r>
            <a:r>
              <a:rPr lang="ru-RU" dirty="0"/>
              <a:t>логика</a:t>
            </a:r>
            <a:br>
              <a:rPr lang="ru-RU" dirty="0"/>
            </a:br>
            <a:r>
              <a:rPr lang="ru-RU" dirty="0"/>
              <a:t>    }</a:t>
            </a:r>
            <a:br>
              <a:rPr lang="ru-RU" dirty="0"/>
            </a:br>
            <a:r>
              <a:rPr lang="ru-RU" dirty="0"/>
              <a:t>};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может хранить состояние</a:t>
            </a:r>
            <a:br>
              <a:rPr lang="ru-RU" dirty="0"/>
            </a:br>
            <a:r>
              <a:rPr lang="ru-RU" dirty="0"/>
              <a:t>имеет собственный тип</a:t>
            </a:r>
            <a:br>
              <a:rPr lang="ru-RU" dirty="0"/>
            </a:br>
            <a:r>
              <a:rPr lang="ru-RU" dirty="0"/>
              <a:t>удобно использовать в шаблонах и </a:t>
            </a:r>
            <a:r>
              <a:rPr lang="en-US" dirty="0"/>
              <a:t>STL</a:t>
            </a:r>
          </a:p>
          <a:p>
            <a:r>
              <a:rPr lang="ru-RU" dirty="0"/>
              <a:t>Где используется:</a:t>
            </a:r>
          </a:p>
          <a:p>
            <a:pPr lvl="1"/>
            <a:r>
              <a:rPr lang="ru-RU" dirty="0"/>
              <a:t>алгоритмы </a:t>
            </a:r>
            <a:r>
              <a:rPr lang="en-US" dirty="0"/>
              <a:t>STL (std::</a:t>
            </a:r>
            <a:r>
              <a:rPr lang="en-US" dirty="0" err="1"/>
              <a:t>for_each</a:t>
            </a:r>
            <a:r>
              <a:rPr lang="en-US" dirty="0"/>
              <a:t>, std::sort) </a:t>
            </a:r>
          </a:p>
          <a:p>
            <a:pPr lvl="1"/>
            <a:r>
              <a:rPr lang="ru-RU" dirty="0"/>
              <a:t>лямбда-выражения </a:t>
            </a:r>
          </a:p>
          <a:p>
            <a:pPr lvl="1"/>
            <a:r>
              <a:rPr lang="ru-RU" dirty="0"/>
              <a:t>настраиваемое </a:t>
            </a:r>
            <a:r>
              <a:rPr lang="ru-RU" dirty="0" err="1"/>
              <a:t>поведене</a:t>
            </a:r>
            <a:r>
              <a:rPr lang="ru-RU" dirty="0"/>
              <a:t>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39253-F250-D52E-4459-67A406B5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Функтор как настраиваемое условие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9D95A-3F21-3D9E-8EB7-908D7C952EF7}"/>
              </a:ext>
            </a:extLst>
          </p:cNvPr>
          <p:cNvSpPr txBox="1"/>
          <p:nvPr/>
        </p:nvSpPr>
        <p:spPr>
          <a:xfrm>
            <a:off x="838200" y="1988840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GreaterThan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GreaterThan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m_threshold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find_if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GreaterThan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найдёт первый элемент &gt; 25 (это 30)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6884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Функтор с состоянием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Функтор — это объект, у которого есть:</a:t>
            </a:r>
          </a:p>
          <a:p>
            <a:pPr lvl="1"/>
            <a:r>
              <a:rPr lang="ru-RU" dirty="0"/>
              <a:t>поведение (</a:t>
            </a:r>
            <a:r>
              <a:rPr lang="ru-RU" dirty="0" err="1">
                <a:latin typeface="Consolas" panose="020B0609020204030204" pitchFamily="49" charset="0"/>
              </a:rPr>
              <a:t>operator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состояние (поля класса) </a:t>
            </a:r>
          </a:p>
          <a:p>
            <a:r>
              <a:rPr lang="ru-RU" dirty="0"/>
              <a:t>Отличие от функции:</a:t>
            </a:r>
          </a:p>
          <a:p>
            <a:pPr lvl="1"/>
            <a:r>
              <a:rPr lang="ru-RU" dirty="0"/>
              <a:t>хранит параметры между вызовами</a:t>
            </a:r>
          </a:p>
          <a:p>
            <a:pPr lvl="1"/>
            <a:r>
              <a:rPr lang="ru-RU" dirty="0"/>
              <a:t>можно настраивать при создании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результат зависит не только от аргументов</a:t>
            </a:r>
          </a:p>
          <a:p>
            <a:pPr lvl="1"/>
            <a:r>
              <a:rPr lang="ru-RU" dirty="0"/>
              <a:t>один и тот же объект может вести себя по-разному со временем</a:t>
            </a:r>
          </a:p>
          <a:p>
            <a:r>
              <a:rPr lang="ru-RU" dirty="0"/>
              <a:t>Идея: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f(x)  // функция</a:t>
            </a:r>
            <a:br>
              <a:rPr lang="ru-RU" dirty="0">
                <a:latin typeface="Consolas" panose="020B0609020204030204" pitchFamily="49" charset="0"/>
              </a:rPr>
            </a:b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obj</a:t>
            </a:r>
            <a:r>
              <a:rPr lang="ru-RU" dirty="0">
                <a:latin typeface="Consolas" panose="020B0609020204030204" pitchFamily="49" charset="0"/>
              </a:rPr>
              <a:t>(x)  // функтор + состояние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Пример: генератор псевдослучайных чисел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51384" y="1690688"/>
            <a:ext cx="5544616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class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RandomGenerator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public: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RandomGenerator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(unsigned modulus,</a:t>
            </a:r>
            <a:r>
              <a:rPr lang="ru-RU" sz="14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unsigned seed = 0, 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                unsigned multiplier = 733,</a:t>
            </a:r>
            <a:endParaRPr lang="ru-RU" sz="14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                unsigned summand = 1559)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: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m_modulus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(modulus)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,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(seed)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,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m_multiplier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(multiplier)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,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m_summand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(summand)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{ }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void Reset(unsigned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newSeed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newSeed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unsigned </a:t>
            </a:r>
            <a:r>
              <a:rPr lang="en-US" sz="1400" b="1" dirty="0">
                <a:latin typeface="Consolas" panose="020B0609020204030204" pitchFamily="49" charset="0"/>
                <a:cs typeface="Courier New" pitchFamily="49" charset="0"/>
              </a:rPr>
              <a:t>operator()() 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m_multiplier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m_summand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  return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%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m_modulus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private: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unsigned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m_modulus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unsigned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m_seed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unsigned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m_multiplier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 unsigned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m_summand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;	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744072" y="1690688"/>
            <a:ext cx="4781120" cy="24622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#include &lt;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iostream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55600" algn="l"/>
                <a:tab pos="723900" algn="l"/>
              </a:tabLst>
            </a:pPr>
            <a:endParaRPr lang="ru-RU" sz="14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int main(int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argc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, char*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argv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[])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RandomGenerator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rnd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(10);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for (int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= 0;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&lt; 10; ++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	std::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 &lt;&lt; </a:t>
            </a:r>
            <a:r>
              <a:rPr lang="en-US" sz="1400" dirty="0" err="1">
                <a:latin typeface="Consolas" panose="020B0609020204030204" pitchFamily="49" charset="0"/>
                <a:cs typeface="Courier New" pitchFamily="49" charset="0"/>
              </a:rPr>
              <a:t>rnd</a:t>
            </a: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() &lt;&lt; ", ";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	return 0;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sz="1400" dirty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744072" y="4649698"/>
            <a:ext cx="4286248" cy="10352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Consolas" panose="020B0609020204030204" pitchFamily="49" charset="0"/>
                <a:cs typeface="Courier New" pitchFamily="49" charset="0"/>
              </a:rPr>
              <a:t>Output:</a:t>
            </a:r>
          </a:p>
          <a:p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9, 6, 7, 2, 1, 6, 7, 8, 3, 8,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03BD-9C4D-5226-4689-08C734D4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Функторы в стандартной библиотеке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4DB6-66AD-3065-BA12-B6AABB22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Стандартные контейнеры используют функторы для настройки поведения</a:t>
            </a:r>
          </a:p>
          <a:p>
            <a:pPr lvl="1"/>
            <a:r>
              <a:rPr lang="en-US" dirty="0"/>
              <a:t>std::set&lt;T, Compare&gt;</a:t>
            </a:r>
            <a:br>
              <a:rPr lang="en-US" dirty="0"/>
            </a:br>
            <a:r>
              <a:rPr lang="en-US" dirty="0"/>
              <a:t>std::map&lt;Key, Value, Compare&gt;</a:t>
            </a:r>
            <a:br>
              <a:rPr lang="en-US" dirty="0"/>
            </a:br>
            <a:r>
              <a:rPr lang="en-US" dirty="0"/>
              <a:t>std::</a:t>
            </a:r>
            <a:r>
              <a:rPr lang="en-US" dirty="0" err="1"/>
              <a:t>unordered_map</a:t>
            </a:r>
            <a:r>
              <a:rPr lang="en-US" dirty="0"/>
              <a:t>&lt;Key, Value, Hash&gt;</a:t>
            </a:r>
          </a:p>
          <a:p>
            <a:r>
              <a:rPr lang="ru-RU" dirty="0"/>
              <a:t>Функторы задают:</a:t>
            </a:r>
          </a:p>
          <a:p>
            <a:pPr lvl="1"/>
            <a:r>
              <a:rPr lang="ru-RU" dirty="0"/>
              <a:t>как сравнивать элементы</a:t>
            </a:r>
          </a:p>
          <a:p>
            <a:pPr lvl="1"/>
            <a:r>
              <a:rPr lang="ru-RU" dirty="0"/>
              <a:t>как вычислять </a:t>
            </a:r>
            <a:r>
              <a:rPr lang="ru-RU" dirty="0" err="1"/>
              <a:t>хеш</a:t>
            </a:r>
            <a:endParaRPr lang="ru-RU" dirty="0"/>
          </a:p>
          <a:p>
            <a:r>
              <a:rPr lang="ru-RU" dirty="0"/>
              <a:t>Идея:</a:t>
            </a:r>
          </a:p>
          <a:p>
            <a:pPr lvl="1"/>
            <a:r>
              <a:rPr lang="en-US" dirty="0"/>
              <a:t>container(key, functor)</a:t>
            </a:r>
          </a:p>
        </p:txBody>
      </p:sp>
    </p:spTree>
    <p:extLst>
      <p:ext uri="{BB962C8B-B14F-4D97-AF65-F5344CB8AC3E}">
        <p14:creationId xmlns:p14="http://schemas.microsoft.com/office/powerpoint/2010/main" val="18470439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BBC4-2809-47DD-B0D0-34078C67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  <a:r>
              <a:rPr lang="en-US" dirty="0"/>
              <a:t>: Tagged value</a:t>
            </a:r>
            <a:r>
              <a:rPr lang="ru-RU" dirty="0"/>
              <a:t> в </a:t>
            </a:r>
            <a:r>
              <a:rPr lang="en-US" dirty="0" err="1"/>
              <a:t>unordered_map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685B2-A250-4572-BA95-B424284DD168}"/>
              </a:ext>
            </a:extLst>
          </p:cNvPr>
          <p:cNvSpPr/>
          <p:nvPr/>
        </p:nvSpPr>
        <p:spPr>
          <a:xfrm>
            <a:off x="911424" y="1988840"/>
            <a:ext cx="10442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unordered_map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salariesUMap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1E6D1A-5B36-4036-A426-69B57BEB3DDE}"/>
              </a:ext>
            </a:extLst>
          </p:cNvPr>
          <p:cNvSpPr/>
          <p:nvPr/>
        </p:nvSpPr>
        <p:spPr>
          <a:xfrm>
            <a:off x="2351584" y="3812847"/>
            <a:ext cx="5328592" cy="1296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Для </a:t>
            </a:r>
            <a:r>
              <a:rPr lang="en-US" dirty="0" err="1"/>
              <a:t>TaggedValue</a:t>
            </a:r>
            <a:r>
              <a:rPr lang="ru-RU" dirty="0"/>
              <a:t> не определена хеш-функция.</a:t>
            </a:r>
          </a:p>
        </p:txBody>
      </p:sp>
    </p:spTree>
    <p:extLst>
      <p:ext uri="{BB962C8B-B14F-4D97-AF65-F5344CB8AC3E}">
        <p14:creationId xmlns:p14="http://schemas.microsoft.com/office/powerpoint/2010/main" val="31370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ows Critical St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326E-4E4D-41AB-B0F8-A1F308FD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Пишем </a:t>
            </a:r>
            <a:r>
              <a:rPr lang="ru-RU" dirty="0" err="1"/>
              <a:t>хешер</a:t>
            </a:r>
            <a:r>
              <a:rPr lang="ru-RU" dirty="0"/>
              <a:t> для </a:t>
            </a:r>
            <a:r>
              <a:rPr lang="en-US" dirty="0"/>
              <a:t>Tagged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8E701-A6E6-4995-B6E1-9A70774113C2}"/>
              </a:ext>
            </a:extLst>
          </p:cNvPr>
          <p:cNvSpPr/>
          <p:nvPr/>
        </p:nvSpPr>
        <p:spPr>
          <a:xfrm>
            <a:off x="191344" y="1720840"/>
            <a:ext cx="117373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TaggedHasher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()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TaggedValue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Возвращает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хеш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значения, хранящегося внутри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hash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ValueType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{}(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unordered_map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тип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хешера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TaggedHasher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salariesUMap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emplace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"user-2"_UserId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200'000_usd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4C99-F1E2-4CF3-B3B7-50E36306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Специализируем шаблон </a:t>
            </a:r>
            <a:r>
              <a:rPr lang="en-US" dirty="0"/>
              <a:t>std::hash&lt;Tagged&gt;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9A7ED-3153-4FFB-B37D-3FAE88D10277}"/>
              </a:ext>
            </a:extLst>
          </p:cNvPr>
          <p:cNvSpPr/>
          <p:nvPr/>
        </p:nvSpPr>
        <p:spPr>
          <a:xfrm>
            <a:off x="911424" y="1556793"/>
            <a:ext cx="110172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hash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&gt;&gt;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[[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nodiscard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]]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()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Tagged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Tag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util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TaggedHasher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Tag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{}(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namespace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std</a:t>
            </a:r>
            <a:endParaRPr lang="de-DE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de-DE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ru-RU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Теперь работает и без явного указания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хешера</a:t>
            </a:r>
            <a:endParaRPr lang="de-DE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unordered_map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Money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salariesUMap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</a:p>
          <a:p>
            <a:endParaRPr lang="de-DE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salaries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emplace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"user-2"_UserId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200'000_usd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186EE-05DB-4182-90EC-915E823BF3C7}"/>
              </a:ext>
            </a:extLst>
          </p:cNvPr>
          <p:cNvSpPr/>
          <p:nvPr/>
        </p:nvSpPr>
        <p:spPr>
          <a:xfrm>
            <a:off x="6594055" y="6450440"/>
            <a:ext cx="4794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https://en.cppreference.com/w/cpp/utility/hash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9740DC-CD9B-4347-B558-0A0602C95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058" y="3769883"/>
            <a:ext cx="2476518" cy="250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3218-8C5B-587C-1A88-8A2E70A6D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не стоит перегружать операторы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E900-B2AD-6A54-E080-0F5AFEAAD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поведение неочевидно</a:t>
            </a:r>
          </a:p>
          <a:p>
            <a:pPr lvl="1"/>
            <a:r>
              <a:rPr lang="ru-RU" dirty="0"/>
              <a:t>a + b  // не означает сложение</a:t>
            </a:r>
          </a:p>
          <a:p>
            <a:r>
              <a:rPr lang="ru-RU" dirty="0"/>
              <a:t>Если есть побочные эффекты там, где их быть не должно</a:t>
            </a:r>
          </a:p>
          <a:p>
            <a:r>
              <a:rPr lang="ru-RU" dirty="0"/>
              <a:t>a + b  // изменяет a или b</a:t>
            </a:r>
          </a:p>
          <a:p>
            <a:r>
              <a:rPr lang="ru-RU" dirty="0"/>
              <a:t>Если нарушается ожидаемая семантика</a:t>
            </a:r>
          </a:p>
          <a:p>
            <a:pPr lvl="1"/>
            <a:r>
              <a:rPr lang="ru-RU" dirty="0"/>
              <a:t>==  // не отражает равенство</a:t>
            </a:r>
          </a:p>
          <a:p>
            <a:r>
              <a:rPr lang="ru-RU" dirty="0"/>
              <a:t>Если обычный метод понятнее</a:t>
            </a:r>
          </a:p>
          <a:p>
            <a:pPr lvl="1"/>
            <a:r>
              <a:rPr lang="ru-RU" dirty="0" err="1"/>
              <a:t>user.AddFriend</a:t>
            </a:r>
            <a:r>
              <a:rPr lang="ru-RU" dirty="0"/>
              <a:t>(</a:t>
            </a:r>
            <a:r>
              <a:rPr lang="ru-RU" dirty="0" err="1"/>
              <a:t>other</a:t>
            </a:r>
            <a:r>
              <a:rPr lang="ru-RU" dirty="0"/>
              <a:t>)  // лучше, чем </a:t>
            </a:r>
            <a:r>
              <a:rPr lang="ru-RU" dirty="0" err="1"/>
              <a:t>user</a:t>
            </a:r>
            <a:r>
              <a:rPr lang="ru-RU" dirty="0"/>
              <a:t> + </a:t>
            </a:r>
            <a:r>
              <a:rPr lang="ru-RU" dirty="0" err="1"/>
              <a:t>other</a:t>
            </a:r>
            <a:endParaRPr lang="ru-RU" dirty="0"/>
          </a:p>
          <a:p>
            <a:r>
              <a:rPr lang="ru-RU" dirty="0"/>
              <a:t>Если используется только «ради синтаксиса»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41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9F2A-3150-C75A-3ED3-012A02B37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DC80E-5ABA-CB50-3EDF-BBBB0684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Для чего применяется перегрузка операций:</a:t>
            </a:r>
          </a:p>
          <a:p>
            <a:pPr lvl="1"/>
            <a:r>
              <a:rPr lang="ru-RU" dirty="0"/>
              <a:t>сделать типы удобными и выразительными</a:t>
            </a:r>
          </a:p>
          <a:p>
            <a:pPr lvl="1"/>
            <a:r>
              <a:rPr lang="ru-RU" dirty="0"/>
              <a:t>приблизить код к предметной области</a:t>
            </a:r>
          </a:p>
          <a:p>
            <a:r>
              <a:rPr lang="ru-RU" dirty="0"/>
              <a:t>Как использовать:</a:t>
            </a:r>
          </a:p>
          <a:p>
            <a:pPr lvl="1"/>
            <a:r>
              <a:rPr lang="ru-RU" dirty="0"/>
              <a:t>сохранять ожидаемую семантику</a:t>
            </a:r>
          </a:p>
          <a:p>
            <a:pPr lvl="1"/>
            <a:r>
              <a:rPr lang="ru-RU" dirty="0"/>
              <a:t>выбирать правильную форму (метод / функция / </a:t>
            </a:r>
            <a:r>
              <a:rPr lang="ru-RU" dirty="0" err="1"/>
              <a:t>friend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минимизировать неявные преобразования</a:t>
            </a:r>
          </a:p>
          <a:p>
            <a:r>
              <a:rPr lang="ru-RU" dirty="0"/>
              <a:t>Где особенно полезно:</a:t>
            </a:r>
          </a:p>
          <a:p>
            <a:pPr lvl="1"/>
            <a:r>
              <a:rPr lang="ru-RU" dirty="0"/>
              <a:t>математика (векторы, дроби)</a:t>
            </a:r>
          </a:p>
          <a:p>
            <a:pPr lvl="1"/>
            <a:r>
              <a:rPr lang="ru-RU" dirty="0"/>
              <a:t>контейнеры и итераторы</a:t>
            </a:r>
          </a:p>
          <a:p>
            <a:pPr lvl="1"/>
            <a:r>
              <a:rPr lang="ru-RU" dirty="0"/>
              <a:t>интеграция со STL</a:t>
            </a:r>
          </a:p>
          <a:p>
            <a:r>
              <a:rPr lang="ru-RU" dirty="0"/>
              <a:t>Оператор — это интерфейс, а не «синтаксический трюк»</a:t>
            </a:r>
          </a:p>
        </p:txBody>
      </p:sp>
    </p:spTree>
    <p:extLst>
      <p:ext uri="{BB962C8B-B14F-4D97-AF65-F5344CB8AC3E}">
        <p14:creationId xmlns:p14="http://schemas.microsoft.com/office/powerpoint/2010/main" val="267929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1DFF-C4EA-4716-85C7-9EBCDCFF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91BA-F048-4D37-8490-34A52A43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8120" cy="4351338"/>
          </a:xfrm>
        </p:spPr>
        <p:txBody>
          <a:bodyPr/>
          <a:lstStyle/>
          <a:p>
            <a:r>
              <a:rPr lang="en-US" dirty="0"/>
              <a:t>Operator Overloading (</a:t>
            </a:r>
            <a:r>
              <a:rPr lang="en-US" dirty="0" err="1"/>
              <a:t>Cpp</a:t>
            </a:r>
            <a:r>
              <a:rPr lang="en-US" dirty="0"/>
              <a:t> Reference)</a:t>
            </a:r>
          </a:p>
          <a:p>
            <a:pPr lvl="1"/>
            <a:r>
              <a:rPr lang="de-DE" dirty="0">
                <a:hlinkClick r:id="rId2"/>
              </a:rPr>
              <a:t>https://en.cppreference.com/w/cpp/language/operators</a:t>
            </a:r>
            <a:r>
              <a:rPr lang="de-DE" dirty="0"/>
              <a:t> </a:t>
            </a:r>
          </a:p>
          <a:p>
            <a:r>
              <a:rPr lang="de-DE" dirty="0"/>
              <a:t>Ben Deane </a:t>
            </a:r>
            <a:r>
              <a:rPr lang="ru-RU"/>
              <a:t>«</a:t>
            </a:r>
            <a:r>
              <a:rPr lang="de-DE"/>
              <a:t>Operator </a:t>
            </a:r>
            <a:r>
              <a:rPr lang="de-DE" dirty="0"/>
              <a:t>Overloading: History, Principles and Practice</a:t>
            </a:r>
            <a:r>
              <a:rPr lang="ru-RU" dirty="0"/>
              <a:t>»</a:t>
            </a:r>
            <a:endParaRPr lang="de-DE" dirty="0"/>
          </a:p>
          <a:p>
            <a:pPr lvl="1"/>
            <a:r>
              <a:rPr lang="de-DE" dirty="0">
                <a:hlinkClick r:id="rId3"/>
              </a:rPr>
              <a:t>https://www.youtube.com/watch?v=zh4EgO13Etg</a:t>
            </a:r>
            <a:r>
              <a:rPr lang="de-DE" dirty="0"/>
              <a:t> </a:t>
            </a:r>
          </a:p>
          <a:p>
            <a:pPr lvl="1"/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BD0A3-75A8-4217-BFE3-6F8F4F87F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581" y="1196752"/>
            <a:ext cx="1857021" cy="186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724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2" val="9a1eccc82ab28744bea9ad9a3b349a99766acd"/>
  <p:tag name="ISPRING_RESOURCE_PATHS_HASH_PRESENTER" val="63964b15f123df85eeb32e9769124c964e7442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5113</TotalTime>
  <Words>15258</Words>
  <Application>Microsoft Office PowerPoint</Application>
  <PresentationFormat>Widescreen</PresentationFormat>
  <Paragraphs>1797</Paragraphs>
  <Slides>82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Aptos</vt:lpstr>
      <vt:lpstr>Arial</vt:lpstr>
      <vt:lpstr>Calibri</vt:lpstr>
      <vt:lpstr>Calibri Light</vt:lpstr>
      <vt:lpstr>Cascadia Mono</vt:lpstr>
      <vt:lpstr>Consolas</vt:lpstr>
      <vt:lpstr>Office Theme</vt:lpstr>
      <vt:lpstr>Дружественные функции и классы</vt:lpstr>
      <vt:lpstr>Ключевое слово friend</vt:lpstr>
      <vt:lpstr>Дружественные функции</vt:lpstr>
      <vt:lpstr>Пример дружественной функции: вывод в поток</vt:lpstr>
      <vt:lpstr>Дружественные классы</vt:lpstr>
      <vt:lpstr>Пример дружественного класса</vt:lpstr>
      <vt:lpstr>Антипаттерны использования friend</vt:lpstr>
      <vt:lpstr>Перегрузка операций</vt:lpstr>
      <vt:lpstr>Перегрузка операций</vt:lpstr>
      <vt:lpstr>Где объявлять оператор</vt:lpstr>
      <vt:lpstr>Перегрузка арифметических операций</vt:lpstr>
      <vt:lpstr>Когда перегружать арифметические операторы</vt:lpstr>
      <vt:lpstr>Реализация оператора сложения внутри класса Vector2D</vt:lpstr>
      <vt:lpstr>Реализация оператора сложения вне класса Vector2D</vt:lpstr>
      <vt:lpstr>Реализация дружественного оператора сложения</vt:lpstr>
      <vt:lpstr>Какой способ перегрузки выбрать</vt:lpstr>
      <vt:lpstr>Умножение и деление вектора и скаляра</vt:lpstr>
      <vt:lpstr>А как лучше перегрузить сложение дробей?</vt:lpstr>
      <vt:lpstr>Перегрузка присваивающих выражений</vt:lpstr>
      <vt:lpstr>Перегрузка оператора += для Vector2D</vt:lpstr>
      <vt:lpstr>Перегрузка унарного плюса и минуса</vt:lpstr>
      <vt:lpstr>Унарные + и -</vt:lpstr>
      <vt:lpstr>Пример перегрузки унарного минуса</vt:lpstr>
      <vt:lpstr>Перегрузка операций сравнения</vt:lpstr>
      <vt:lpstr>Перегрузка операторов сравнения</vt:lpstr>
      <vt:lpstr>Перегрузка == и !=</vt:lpstr>
      <vt:lpstr>Сравнение в C++ 20</vt:lpstr>
      <vt:lpstr>PowerPoint Presentation</vt:lpstr>
      <vt:lpstr>Корректно перегружаем &lt;=&gt; для Rational</vt:lpstr>
      <vt:lpstr>Типы порядка в C++ (&lt;=&gt;)</vt:lpstr>
      <vt:lpstr>Перегрузка операторов потокового ввода-вывода</vt:lpstr>
      <vt:lpstr>Перегрузка операторов ввода-вывода</vt:lpstr>
      <vt:lpstr>Перегрузка оператора вывода для Rational</vt:lpstr>
      <vt:lpstr>Перегрузка оператора ввода для Rational</vt:lpstr>
      <vt:lpstr>Маркированные типы</vt:lpstr>
      <vt:lpstr>Проблемы встроенных типов</vt:lpstr>
      <vt:lpstr>Id пользователя и Id книги – разные типы</vt:lpstr>
      <vt:lpstr>Решение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User-defined literals</vt:lpstr>
      <vt:lpstr>Пользовательские литералы</vt:lpstr>
      <vt:lpstr>Автоматический перевод из градусов в радианы</vt:lpstr>
      <vt:lpstr>Добавляем литералы к валюте</vt:lpstr>
      <vt:lpstr>Денежные литералы в действии</vt:lpstr>
      <vt:lpstr>Используем класс в качестве маркера типа</vt:lpstr>
      <vt:lpstr>Упрощаем создание UserId</vt:lpstr>
      <vt:lpstr>Перегрузка оператора []</vt:lpstr>
      <vt:lpstr>Перегрузка оператора []</vt:lpstr>
      <vt:lpstr>PowerPoint Presentation</vt:lpstr>
      <vt:lpstr>Оператор[] в C++ 23</vt:lpstr>
      <vt:lpstr>PowerPoint Presentation</vt:lpstr>
      <vt:lpstr>Как работали с многомерными массивами до C++ 23</vt:lpstr>
      <vt:lpstr>PowerPoint Presentation</vt:lpstr>
      <vt:lpstr>Перегрузка операций инкремента и декремента</vt:lpstr>
      <vt:lpstr>Префиксный и постфиксный ++ и --</vt:lpstr>
      <vt:lpstr>Практическая реализация</vt:lpstr>
      <vt:lpstr>Пример - дата</vt:lpstr>
      <vt:lpstr>PowerPoint Presentation</vt:lpstr>
      <vt:lpstr>Альтернативные способы перегрузки операторов ++ и --</vt:lpstr>
      <vt:lpstr>Перегрузка оператора приведения типа</vt:lpstr>
      <vt:lpstr>Операторы приведения типа</vt:lpstr>
      <vt:lpstr>Оператор приведения типа для String</vt:lpstr>
      <vt:lpstr>Оператор приведения Rational → double</vt:lpstr>
      <vt:lpstr>Явные и неявные преобразования</vt:lpstr>
      <vt:lpstr>Перегрузка оператора (). Функциональные объекты</vt:lpstr>
      <vt:lpstr>Функциональные объекты (operator())</vt:lpstr>
      <vt:lpstr>Функтор как настраиваемое условие</vt:lpstr>
      <vt:lpstr>Функтор с состоянием</vt:lpstr>
      <vt:lpstr>Пример: генератор псевдослучайных чисел</vt:lpstr>
      <vt:lpstr>Функторы в стандартной библиотеке</vt:lpstr>
      <vt:lpstr>Проблема: Tagged value в unordered_map</vt:lpstr>
      <vt:lpstr>Пишем хешер для Tagged</vt:lpstr>
      <vt:lpstr>Специализируем шаблон std::hash&lt;Tagged&gt;</vt:lpstr>
      <vt:lpstr>Когда не стоит перегружать операторы</vt:lpstr>
      <vt:lpstr>Итоги</vt:lpstr>
      <vt:lpstr>Ссылки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Копирование объектов</dc:title>
  <dc:creator>Aleksey Malov</dc:creator>
  <cp:lastModifiedBy>Алексей Малов</cp:lastModifiedBy>
  <cp:revision>358</cp:revision>
  <dcterms:created xsi:type="dcterms:W3CDTF">2007-04-06T03:56:12Z</dcterms:created>
  <dcterms:modified xsi:type="dcterms:W3CDTF">2026-04-30T18:56:41Z</dcterms:modified>
</cp:coreProperties>
</file>