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78"/>
  </p:notesMasterIdLst>
  <p:sldIdLst>
    <p:sldId id="256" r:id="rId2"/>
    <p:sldId id="394" r:id="rId3"/>
    <p:sldId id="395" r:id="rId4"/>
    <p:sldId id="370" r:id="rId5"/>
    <p:sldId id="371" r:id="rId6"/>
    <p:sldId id="372" r:id="rId7"/>
    <p:sldId id="369" r:id="rId8"/>
    <p:sldId id="306" r:id="rId9"/>
    <p:sldId id="396" r:id="rId10"/>
    <p:sldId id="307" r:id="rId11"/>
    <p:sldId id="308" r:id="rId12"/>
    <p:sldId id="320" r:id="rId13"/>
    <p:sldId id="373" r:id="rId14"/>
    <p:sldId id="382" r:id="rId15"/>
    <p:sldId id="383" r:id="rId16"/>
    <p:sldId id="384" r:id="rId17"/>
    <p:sldId id="385" r:id="rId18"/>
    <p:sldId id="321" r:id="rId19"/>
    <p:sldId id="376" r:id="rId20"/>
    <p:sldId id="374" r:id="rId21"/>
    <p:sldId id="375" r:id="rId22"/>
    <p:sldId id="293" r:id="rId23"/>
    <p:sldId id="377" r:id="rId24"/>
    <p:sldId id="303" r:id="rId25"/>
    <p:sldId id="304" r:id="rId26"/>
    <p:sldId id="397" r:id="rId27"/>
    <p:sldId id="300" r:id="rId28"/>
    <p:sldId id="398" r:id="rId29"/>
    <p:sldId id="378" r:id="rId30"/>
    <p:sldId id="379" r:id="rId31"/>
    <p:sldId id="399" r:id="rId32"/>
    <p:sldId id="400" r:id="rId33"/>
    <p:sldId id="401" r:id="rId34"/>
    <p:sldId id="388" r:id="rId35"/>
    <p:sldId id="389" r:id="rId36"/>
    <p:sldId id="324" r:id="rId37"/>
    <p:sldId id="325" r:id="rId38"/>
    <p:sldId id="326" r:id="rId39"/>
    <p:sldId id="328" r:id="rId40"/>
    <p:sldId id="329" r:id="rId41"/>
    <p:sldId id="330" r:id="rId42"/>
    <p:sldId id="365" r:id="rId43"/>
    <p:sldId id="367" r:id="rId44"/>
    <p:sldId id="368" r:id="rId45"/>
    <p:sldId id="331" r:id="rId46"/>
    <p:sldId id="332" r:id="rId47"/>
    <p:sldId id="333" r:id="rId48"/>
    <p:sldId id="334" r:id="rId49"/>
    <p:sldId id="335" r:id="rId50"/>
    <p:sldId id="390" r:id="rId51"/>
    <p:sldId id="391" r:id="rId52"/>
    <p:sldId id="392" r:id="rId53"/>
    <p:sldId id="393" r:id="rId54"/>
    <p:sldId id="336" r:id="rId55"/>
    <p:sldId id="337" r:id="rId56"/>
    <p:sldId id="402" r:id="rId57"/>
    <p:sldId id="338" r:id="rId58"/>
    <p:sldId id="339" r:id="rId59"/>
    <p:sldId id="341" r:id="rId60"/>
    <p:sldId id="342" r:id="rId61"/>
    <p:sldId id="343" r:id="rId62"/>
    <p:sldId id="403" r:id="rId63"/>
    <p:sldId id="404" r:id="rId64"/>
    <p:sldId id="405" r:id="rId65"/>
    <p:sldId id="406" r:id="rId66"/>
    <p:sldId id="407" r:id="rId67"/>
    <p:sldId id="408" r:id="rId68"/>
    <p:sldId id="409" r:id="rId69"/>
    <p:sldId id="411" r:id="rId70"/>
    <p:sldId id="410" r:id="rId71"/>
    <p:sldId id="412" r:id="rId72"/>
    <p:sldId id="413" r:id="rId73"/>
    <p:sldId id="414" r:id="rId74"/>
    <p:sldId id="362" r:id="rId75"/>
    <p:sldId id="363" r:id="rId76"/>
    <p:sldId id="364" r:id="rId77"/>
  </p:sldIdLst>
  <p:sldSz cx="12192000" cy="6858000"/>
  <p:notesSz cx="6858000" cy="9144000"/>
  <p:custDataLst>
    <p:tags r:id="rId7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61" autoAdjust="0"/>
    <p:restoredTop sz="77482" autoAdjust="0"/>
  </p:normalViewPr>
  <p:slideViewPr>
    <p:cSldViewPr>
      <p:cViewPr varScale="1">
        <p:scale>
          <a:sx n="82" d="100"/>
          <a:sy n="82" d="100"/>
        </p:scale>
        <p:origin x="121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77D634-B335-4CAB-82C1-10C146D58B0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C73A300-8D8C-4261-9BB8-0E6165F31F39}">
      <dgm:prSet/>
      <dgm:spPr/>
      <dgm:t>
        <a:bodyPr/>
        <a:lstStyle/>
        <a:p>
          <a:r>
            <a:rPr lang="en-US" dirty="0">
              <a:solidFill>
                <a:srgbClr val="FF0000"/>
              </a:solidFill>
            </a:rPr>
            <a:t>exception</a:t>
          </a:r>
          <a:endParaRPr lang="ru-RU" dirty="0">
            <a:solidFill>
              <a:srgbClr val="FF0000"/>
            </a:solidFill>
          </a:endParaRPr>
        </a:p>
      </dgm:t>
    </dgm:pt>
    <dgm:pt modelId="{3431E5F1-C306-44ED-B1FE-D3DE1FC9A6ED}" type="parTrans" cxnId="{26F98C1D-14BE-41ED-A894-84479E306E54}">
      <dgm:prSet/>
      <dgm:spPr/>
      <dgm:t>
        <a:bodyPr/>
        <a:lstStyle/>
        <a:p>
          <a:endParaRPr lang="ru-RU"/>
        </a:p>
      </dgm:t>
    </dgm:pt>
    <dgm:pt modelId="{B2937F8F-A4AF-4C2B-AE09-1AFA211DB49C}" type="sibTrans" cxnId="{26F98C1D-14BE-41ED-A894-84479E306E54}">
      <dgm:prSet/>
      <dgm:spPr/>
      <dgm:t>
        <a:bodyPr/>
        <a:lstStyle/>
        <a:p>
          <a:endParaRPr lang="ru-RU"/>
        </a:p>
      </dgm:t>
    </dgm:pt>
    <dgm:pt modelId="{8D6B7914-E137-427C-85DB-8E074C6E1798}">
      <dgm:prSet/>
      <dgm:spPr/>
      <dgm:t>
        <a:bodyPr/>
        <a:lstStyle/>
        <a:p>
          <a:r>
            <a:rPr lang="en-US" b="1" dirty="0" err="1">
              <a:solidFill>
                <a:srgbClr val="FF0000"/>
              </a:solidFill>
            </a:rPr>
            <a:t>logic_error</a:t>
          </a:r>
          <a:endParaRPr lang="ru-RU" b="1" dirty="0">
            <a:solidFill>
              <a:srgbClr val="FF0000"/>
            </a:solidFill>
          </a:endParaRPr>
        </a:p>
      </dgm:t>
    </dgm:pt>
    <dgm:pt modelId="{38D7770A-DBEF-453A-A965-D6A1CA90B5BD}" type="parTrans" cxnId="{518EE7EB-8ED0-4C43-B02A-7192CA336A52}">
      <dgm:prSet/>
      <dgm:spPr/>
      <dgm:t>
        <a:bodyPr/>
        <a:lstStyle/>
        <a:p>
          <a:endParaRPr lang="ru-RU"/>
        </a:p>
      </dgm:t>
    </dgm:pt>
    <dgm:pt modelId="{BDDDCC0C-C237-4FA4-BE96-0457A1A02297}" type="sibTrans" cxnId="{518EE7EB-8ED0-4C43-B02A-7192CA336A52}">
      <dgm:prSet/>
      <dgm:spPr/>
      <dgm:t>
        <a:bodyPr/>
        <a:lstStyle/>
        <a:p>
          <a:endParaRPr lang="ru-RU"/>
        </a:p>
      </dgm:t>
    </dgm:pt>
    <dgm:pt modelId="{7800080E-04DD-4AC1-9DC9-214BAF800059}">
      <dgm:prSet/>
      <dgm:spPr/>
      <dgm:t>
        <a:bodyPr/>
        <a:lstStyle/>
        <a:p>
          <a:r>
            <a:rPr lang="en-US"/>
            <a:t>invalid_argument</a:t>
          </a:r>
          <a:endParaRPr lang="ru-RU"/>
        </a:p>
      </dgm:t>
    </dgm:pt>
    <dgm:pt modelId="{0BA9D359-7C65-4BD7-B97E-FB26CCB987C3}" type="parTrans" cxnId="{8A481530-660B-49E0-A7D1-676B45A6A22A}">
      <dgm:prSet/>
      <dgm:spPr/>
      <dgm:t>
        <a:bodyPr/>
        <a:lstStyle/>
        <a:p>
          <a:endParaRPr lang="ru-RU"/>
        </a:p>
      </dgm:t>
    </dgm:pt>
    <dgm:pt modelId="{3E377E04-DFBB-4514-BBA2-0D67ADA4CEF7}" type="sibTrans" cxnId="{8A481530-660B-49E0-A7D1-676B45A6A22A}">
      <dgm:prSet/>
      <dgm:spPr/>
      <dgm:t>
        <a:bodyPr/>
        <a:lstStyle/>
        <a:p>
          <a:endParaRPr lang="ru-RU"/>
        </a:p>
      </dgm:t>
    </dgm:pt>
    <dgm:pt modelId="{F8E7F83A-34DF-4E36-9769-222440326EA6}">
      <dgm:prSet/>
      <dgm:spPr/>
      <dgm:t>
        <a:bodyPr/>
        <a:lstStyle/>
        <a:p>
          <a:r>
            <a:rPr lang="en-US"/>
            <a:t>out_of_range</a:t>
          </a:r>
          <a:endParaRPr lang="ru-RU"/>
        </a:p>
      </dgm:t>
    </dgm:pt>
    <dgm:pt modelId="{F8F77A78-B074-412F-A92C-035C4D392D42}" type="parTrans" cxnId="{C30CCC17-CC7F-41D3-A679-AC8420B5D01D}">
      <dgm:prSet/>
      <dgm:spPr/>
      <dgm:t>
        <a:bodyPr/>
        <a:lstStyle/>
        <a:p>
          <a:endParaRPr lang="ru-RU"/>
        </a:p>
      </dgm:t>
    </dgm:pt>
    <dgm:pt modelId="{EE8E0B98-3717-4935-A850-37AA4243BACE}" type="sibTrans" cxnId="{C30CCC17-CC7F-41D3-A679-AC8420B5D01D}">
      <dgm:prSet/>
      <dgm:spPr/>
      <dgm:t>
        <a:bodyPr/>
        <a:lstStyle/>
        <a:p>
          <a:endParaRPr lang="ru-RU"/>
        </a:p>
      </dgm:t>
    </dgm:pt>
    <dgm:pt modelId="{4AB0BD77-8BD0-4176-A35E-FF3C3BC58266}">
      <dgm:prSet/>
      <dgm:spPr/>
      <dgm:t>
        <a:bodyPr/>
        <a:lstStyle/>
        <a:p>
          <a:r>
            <a:rPr lang="en-US"/>
            <a:t>length_error</a:t>
          </a:r>
          <a:endParaRPr lang="ru-RU"/>
        </a:p>
      </dgm:t>
    </dgm:pt>
    <dgm:pt modelId="{97EC4082-7AAA-4469-8A24-9533C6059330}" type="parTrans" cxnId="{66F237C9-775C-4D52-B1A2-6A0D9425C7DD}">
      <dgm:prSet/>
      <dgm:spPr/>
      <dgm:t>
        <a:bodyPr/>
        <a:lstStyle/>
        <a:p>
          <a:endParaRPr lang="ru-RU"/>
        </a:p>
      </dgm:t>
    </dgm:pt>
    <dgm:pt modelId="{A4C70A30-5D0C-4124-8A9C-27016386F7A7}" type="sibTrans" cxnId="{66F237C9-775C-4D52-B1A2-6A0D9425C7DD}">
      <dgm:prSet/>
      <dgm:spPr/>
      <dgm:t>
        <a:bodyPr/>
        <a:lstStyle/>
        <a:p>
          <a:endParaRPr lang="ru-RU"/>
        </a:p>
      </dgm:t>
    </dgm:pt>
    <dgm:pt modelId="{65C77A68-4272-4942-A9F4-9ECE155F3361}">
      <dgm:prSet/>
      <dgm:spPr/>
      <dgm:t>
        <a:bodyPr/>
        <a:lstStyle/>
        <a:p>
          <a:r>
            <a:rPr lang="en-US"/>
            <a:t>domain_error</a:t>
          </a:r>
          <a:endParaRPr lang="ru-RU"/>
        </a:p>
      </dgm:t>
    </dgm:pt>
    <dgm:pt modelId="{C097A61E-4BD1-41FA-B278-9A8966F9CBFE}" type="parTrans" cxnId="{FD37ED47-3829-4CBF-8F59-3ACA3AE2A3C1}">
      <dgm:prSet/>
      <dgm:spPr/>
      <dgm:t>
        <a:bodyPr/>
        <a:lstStyle/>
        <a:p>
          <a:endParaRPr lang="ru-RU"/>
        </a:p>
      </dgm:t>
    </dgm:pt>
    <dgm:pt modelId="{B1C87838-2516-4391-AD8A-D1BFD0FB7E38}" type="sibTrans" cxnId="{FD37ED47-3829-4CBF-8F59-3ACA3AE2A3C1}">
      <dgm:prSet/>
      <dgm:spPr/>
      <dgm:t>
        <a:bodyPr/>
        <a:lstStyle/>
        <a:p>
          <a:endParaRPr lang="ru-RU"/>
        </a:p>
      </dgm:t>
    </dgm:pt>
    <dgm:pt modelId="{6F2B9105-4DDF-425A-BB34-BCD5C48DEC6B}">
      <dgm:prSet/>
      <dgm:spPr/>
      <dgm:t>
        <a:bodyPr/>
        <a:lstStyle/>
        <a:p>
          <a:r>
            <a:rPr lang="en-US" dirty="0" err="1">
              <a:solidFill>
                <a:schemeClr val="tx1"/>
              </a:solidFill>
            </a:rPr>
            <a:t>bad_exception</a:t>
          </a:r>
          <a:endParaRPr lang="ru-RU" dirty="0">
            <a:solidFill>
              <a:schemeClr val="tx1"/>
            </a:solidFill>
          </a:endParaRPr>
        </a:p>
      </dgm:t>
    </dgm:pt>
    <dgm:pt modelId="{792DC645-ECAE-4C45-AA57-682CB5004F34}" type="parTrans" cxnId="{15BAB24B-0D4B-4D14-99F5-184E0209F96C}">
      <dgm:prSet/>
      <dgm:spPr/>
      <dgm:t>
        <a:bodyPr/>
        <a:lstStyle/>
        <a:p>
          <a:endParaRPr lang="ru-RU"/>
        </a:p>
      </dgm:t>
    </dgm:pt>
    <dgm:pt modelId="{5FF78EC8-9DC7-4BA9-A37C-E5D3E66C04C6}" type="sibTrans" cxnId="{15BAB24B-0D4B-4D14-99F5-184E0209F96C}">
      <dgm:prSet/>
      <dgm:spPr/>
      <dgm:t>
        <a:bodyPr/>
        <a:lstStyle/>
        <a:p>
          <a:endParaRPr lang="ru-RU"/>
        </a:p>
      </dgm:t>
    </dgm:pt>
    <dgm:pt modelId="{36ACEECB-7128-434F-8FB9-46EC788BE5D4}">
      <dgm:prSet/>
      <dgm:spPr/>
      <dgm:t>
        <a:bodyPr/>
        <a:lstStyle/>
        <a:p>
          <a:r>
            <a:rPr lang="en-US" dirty="0" err="1">
              <a:solidFill>
                <a:srgbClr val="FF0000"/>
              </a:solidFill>
            </a:rPr>
            <a:t>bad_alloc</a:t>
          </a:r>
          <a:endParaRPr lang="ru-RU" dirty="0">
            <a:solidFill>
              <a:srgbClr val="FF0000"/>
            </a:solidFill>
          </a:endParaRPr>
        </a:p>
      </dgm:t>
    </dgm:pt>
    <dgm:pt modelId="{FF03D323-6018-405B-AE2F-B9568373726F}" type="parTrans" cxnId="{CB8A1A3C-30AC-447E-9372-1DA964A92A18}">
      <dgm:prSet/>
      <dgm:spPr/>
      <dgm:t>
        <a:bodyPr/>
        <a:lstStyle/>
        <a:p>
          <a:endParaRPr lang="ru-RU"/>
        </a:p>
      </dgm:t>
    </dgm:pt>
    <dgm:pt modelId="{7CC04A5E-CBE5-4C2B-A089-33FE78718394}" type="sibTrans" cxnId="{CB8A1A3C-30AC-447E-9372-1DA964A92A18}">
      <dgm:prSet/>
      <dgm:spPr/>
      <dgm:t>
        <a:bodyPr/>
        <a:lstStyle/>
        <a:p>
          <a:endParaRPr lang="ru-RU"/>
        </a:p>
      </dgm:t>
    </dgm:pt>
    <dgm:pt modelId="{E85477FE-128B-42E9-9A1B-8F2AE1FFA292}">
      <dgm:prSet/>
      <dgm:spPr/>
      <dgm:t>
        <a:bodyPr/>
        <a:lstStyle/>
        <a:p>
          <a:r>
            <a:rPr lang="en-US" b="1" dirty="0" err="1">
              <a:solidFill>
                <a:srgbClr val="FF0000"/>
              </a:solidFill>
            </a:rPr>
            <a:t>runtime_error</a:t>
          </a:r>
          <a:endParaRPr lang="ru-RU" b="1" dirty="0">
            <a:solidFill>
              <a:srgbClr val="FF0000"/>
            </a:solidFill>
          </a:endParaRPr>
        </a:p>
      </dgm:t>
    </dgm:pt>
    <dgm:pt modelId="{1D2735E5-AACC-491D-9987-E13DA79613F2}" type="parTrans" cxnId="{0A9BC6DA-62FD-4750-8C19-64998BAD455E}">
      <dgm:prSet/>
      <dgm:spPr/>
      <dgm:t>
        <a:bodyPr/>
        <a:lstStyle/>
        <a:p>
          <a:endParaRPr lang="ru-RU"/>
        </a:p>
      </dgm:t>
    </dgm:pt>
    <dgm:pt modelId="{18198381-7AB8-4A35-A95B-975B7E981E79}" type="sibTrans" cxnId="{0A9BC6DA-62FD-4750-8C19-64998BAD455E}">
      <dgm:prSet/>
      <dgm:spPr/>
      <dgm:t>
        <a:bodyPr/>
        <a:lstStyle/>
        <a:p>
          <a:endParaRPr lang="ru-RU"/>
        </a:p>
      </dgm:t>
    </dgm:pt>
    <dgm:pt modelId="{CC883B3C-D1F5-463C-A02D-343BAD5F437A}">
      <dgm:prSet/>
      <dgm:spPr/>
      <dgm:t>
        <a:bodyPr/>
        <a:lstStyle/>
        <a:p>
          <a:r>
            <a:rPr lang="en-US" dirty="0" err="1"/>
            <a:t>overflow_error</a:t>
          </a:r>
          <a:endParaRPr lang="ru-RU" dirty="0"/>
        </a:p>
      </dgm:t>
    </dgm:pt>
    <dgm:pt modelId="{FEEB38CD-85EF-4BD3-ACD3-76D904562CE7}" type="parTrans" cxnId="{AC4499DD-3554-485F-90A6-6963AB52DA9B}">
      <dgm:prSet/>
      <dgm:spPr/>
      <dgm:t>
        <a:bodyPr/>
        <a:lstStyle/>
        <a:p>
          <a:endParaRPr lang="ru-RU"/>
        </a:p>
      </dgm:t>
    </dgm:pt>
    <dgm:pt modelId="{4123FF2C-85EF-4DCF-B986-A3749C1498DD}" type="sibTrans" cxnId="{AC4499DD-3554-485F-90A6-6963AB52DA9B}">
      <dgm:prSet/>
      <dgm:spPr/>
      <dgm:t>
        <a:bodyPr/>
        <a:lstStyle/>
        <a:p>
          <a:endParaRPr lang="ru-RU"/>
        </a:p>
      </dgm:t>
    </dgm:pt>
    <dgm:pt modelId="{885AB46B-04C3-4022-AF90-C492157C3548}">
      <dgm:prSet/>
      <dgm:spPr/>
      <dgm:t>
        <a:bodyPr/>
        <a:lstStyle/>
        <a:p>
          <a:r>
            <a:rPr lang="en-US" dirty="0" err="1"/>
            <a:t>range_error</a:t>
          </a:r>
          <a:endParaRPr lang="ru-RU" dirty="0"/>
        </a:p>
      </dgm:t>
    </dgm:pt>
    <dgm:pt modelId="{86DF2351-E739-40CB-967F-EDA421020433}" type="parTrans" cxnId="{8E403F4A-8AD7-4345-A616-C205D95DF697}">
      <dgm:prSet/>
      <dgm:spPr/>
      <dgm:t>
        <a:bodyPr/>
        <a:lstStyle/>
        <a:p>
          <a:endParaRPr lang="ru-RU"/>
        </a:p>
      </dgm:t>
    </dgm:pt>
    <dgm:pt modelId="{E55ADA7C-D8F8-43AD-8470-E0651AEFC885}" type="sibTrans" cxnId="{8E403F4A-8AD7-4345-A616-C205D95DF697}">
      <dgm:prSet/>
      <dgm:spPr/>
      <dgm:t>
        <a:bodyPr/>
        <a:lstStyle/>
        <a:p>
          <a:endParaRPr lang="ru-RU"/>
        </a:p>
      </dgm:t>
    </dgm:pt>
    <dgm:pt modelId="{3C89BA38-818D-44BC-BC08-1AA7A6898F73}">
      <dgm:prSet/>
      <dgm:spPr/>
      <dgm:t>
        <a:bodyPr/>
        <a:lstStyle/>
        <a:p>
          <a:r>
            <a:rPr lang="en-US" dirty="0" err="1"/>
            <a:t>underflow_error</a:t>
          </a:r>
          <a:endParaRPr lang="ru-RU" dirty="0"/>
        </a:p>
      </dgm:t>
    </dgm:pt>
    <dgm:pt modelId="{75AFEFCE-6C4F-4711-8565-2105B7F68E0C}" type="parTrans" cxnId="{1C15A442-B221-4A5C-9C30-0E35DB27A20A}">
      <dgm:prSet/>
      <dgm:spPr/>
      <dgm:t>
        <a:bodyPr/>
        <a:lstStyle/>
        <a:p>
          <a:endParaRPr lang="ru-RU"/>
        </a:p>
      </dgm:t>
    </dgm:pt>
    <dgm:pt modelId="{8C18BF02-F9EE-491A-960D-EBBB96895DB0}" type="sibTrans" cxnId="{1C15A442-B221-4A5C-9C30-0E35DB27A20A}">
      <dgm:prSet/>
      <dgm:spPr/>
      <dgm:t>
        <a:bodyPr/>
        <a:lstStyle/>
        <a:p>
          <a:endParaRPr lang="ru-RU"/>
        </a:p>
      </dgm:t>
    </dgm:pt>
    <dgm:pt modelId="{39D320FD-6E8E-4E3D-9F0C-85F0BDEF58CF}">
      <dgm:prSet/>
      <dgm:spPr/>
      <dgm:t>
        <a:bodyPr/>
        <a:lstStyle/>
        <a:p>
          <a:r>
            <a:rPr lang="en-US" dirty="0" err="1">
              <a:solidFill>
                <a:srgbClr val="FF0000"/>
              </a:solidFill>
            </a:rPr>
            <a:t>bad_cast</a:t>
          </a:r>
          <a:endParaRPr lang="ru-RU" dirty="0">
            <a:solidFill>
              <a:srgbClr val="FF0000"/>
            </a:solidFill>
          </a:endParaRPr>
        </a:p>
      </dgm:t>
    </dgm:pt>
    <dgm:pt modelId="{10F9160D-B702-499F-9B05-B3A17F79CF34}" type="parTrans" cxnId="{5F7C806A-0176-4F2F-8447-972C496075CD}">
      <dgm:prSet/>
      <dgm:spPr/>
      <dgm:t>
        <a:bodyPr/>
        <a:lstStyle/>
        <a:p>
          <a:endParaRPr lang="ru-RU"/>
        </a:p>
      </dgm:t>
    </dgm:pt>
    <dgm:pt modelId="{8788A9C3-EA71-4E0A-A465-A6DF94ABF5A5}" type="sibTrans" cxnId="{5F7C806A-0176-4F2F-8447-972C496075CD}">
      <dgm:prSet/>
      <dgm:spPr/>
      <dgm:t>
        <a:bodyPr/>
        <a:lstStyle/>
        <a:p>
          <a:endParaRPr lang="ru-RU"/>
        </a:p>
      </dgm:t>
    </dgm:pt>
    <dgm:pt modelId="{AB578606-A1DF-419F-BBF6-0C96320DF284}">
      <dgm:prSet/>
      <dgm:spPr/>
      <dgm:t>
        <a:bodyPr/>
        <a:lstStyle/>
        <a:p>
          <a:r>
            <a:rPr lang="en-US" dirty="0" err="1"/>
            <a:t>ios_base</a:t>
          </a:r>
          <a:r>
            <a:rPr lang="en-US" dirty="0"/>
            <a:t>::failure</a:t>
          </a:r>
          <a:endParaRPr lang="ru-RU" dirty="0"/>
        </a:p>
      </dgm:t>
    </dgm:pt>
    <dgm:pt modelId="{3DE5A967-C727-4372-9BA1-2D9F3DED2341}" type="parTrans" cxnId="{459B2C65-BEB7-4B18-A069-7169230B649D}">
      <dgm:prSet/>
      <dgm:spPr/>
      <dgm:t>
        <a:bodyPr/>
        <a:lstStyle/>
        <a:p>
          <a:endParaRPr lang="ru-RU"/>
        </a:p>
      </dgm:t>
    </dgm:pt>
    <dgm:pt modelId="{91F5F447-9417-4D88-845D-15EB2A648C74}" type="sibTrans" cxnId="{459B2C65-BEB7-4B18-A069-7169230B649D}">
      <dgm:prSet/>
      <dgm:spPr/>
      <dgm:t>
        <a:bodyPr/>
        <a:lstStyle/>
        <a:p>
          <a:endParaRPr lang="ru-RU"/>
        </a:p>
      </dgm:t>
    </dgm:pt>
    <dgm:pt modelId="{C6F2F67A-1413-4B6D-B4D8-62AE0C8339E6}">
      <dgm:prSet/>
      <dgm:spPr/>
      <dgm:t>
        <a:bodyPr/>
        <a:lstStyle/>
        <a:p>
          <a:r>
            <a:rPr lang="en-US" dirty="0" err="1"/>
            <a:t>bad_typeid</a:t>
          </a:r>
          <a:endParaRPr lang="ru-RU" dirty="0"/>
        </a:p>
      </dgm:t>
    </dgm:pt>
    <dgm:pt modelId="{7475E752-A1D3-48A1-AEB7-75699C393F6B}" type="parTrans" cxnId="{162566CE-380C-4A7D-B9DB-CD862890644E}">
      <dgm:prSet/>
      <dgm:spPr/>
      <dgm:t>
        <a:bodyPr/>
        <a:lstStyle/>
        <a:p>
          <a:endParaRPr lang="ru-RU"/>
        </a:p>
      </dgm:t>
    </dgm:pt>
    <dgm:pt modelId="{F89B0B3F-8DAB-4B68-9447-F07AEB6D8861}" type="sibTrans" cxnId="{162566CE-380C-4A7D-B9DB-CD862890644E}">
      <dgm:prSet/>
      <dgm:spPr/>
      <dgm:t>
        <a:bodyPr/>
        <a:lstStyle/>
        <a:p>
          <a:endParaRPr lang="ru-RU"/>
        </a:p>
      </dgm:t>
    </dgm:pt>
    <dgm:pt modelId="{D38FE9D7-7E55-4B88-9CA9-EF449FA536A1}">
      <dgm:prSet/>
      <dgm:spPr/>
      <dgm:t>
        <a:bodyPr/>
        <a:lstStyle/>
        <a:p>
          <a:r>
            <a:rPr lang="en-US" b="1" dirty="0" err="1">
              <a:solidFill>
                <a:srgbClr val="FF0000"/>
              </a:solidFill>
            </a:rPr>
            <a:t>system_error</a:t>
          </a:r>
          <a:endParaRPr lang="ru-RU" b="1" dirty="0">
            <a:solidFill>
              <a:srgbClr val="FF0000"/>
            </a:solidFill>
          </a:endParaRPr>
        </a:p>
      </dgm:t>
    </dgm:pt>
    <dgm:pt modelId="{20CF1B8C-BA98-48C6-9B61-1C2B25EA5E5F}" type="parTrans" cxnId="{97493295-05DB-48E2-9CDC-A597F9AE9D70}">
      <dgm:prSet/>
      <dgm:spPr/>
      <dgm:t>
        <a:bodyPr/>
        <a:lstStyle/>
        <a:p>
          <a:endParaRPr lang="en-US"/>
        </a:p>
      </dgm:t>
    </dgm:pt>
    <dgm:pt modelId="{2508DCB4-6BAC-45A2-ABB3-A398699DD2F7}" type="sibTrans" cxnId="{97493295-05DB-48E2-9CDC-A597F9AE9D70}">
      <dgm:prSet/>
      <dgm:spPr/>
      <dgm:t>
        <a:bodyPr/>
        <a:lstStyle/>
        <a:p>
          <a:endParaRPr lang="en-US"/>
        </a:p>
      </dgm:t>
    </dgm:pt>
    <dgm:pt modelId="{9C6B5DD8-5BE5-41AC-A0F9-8059CC7598A6}" type="pres">
      <dgm:prSet presAssocID="{CF77D634-B335-4CAB-82C1-10C146D58B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25414B-CF56-4C58-8F2A-4A784910A105}" type="pres">
      <dgm:prSet presAssocID="{6C73A300-8D8C-4261-9BB8-0E6165F31F39}" presName="hierRoot1" presStyleCnt="0"/>
      <dgm:spPr/>
    </dgm:pt>
    <dgm:pt modelId="{09E65B17-AC3A-4B5A-9B4F-F81880A16743}" type="pres">
      <dgm:prSet presAssocID="{6C73A300-8D8C-4261-9BB8-0E6165F31F39}" presName="composite" presStyleCnt="0"/>
      <dgm:spPr/>
    </dgm:pt>
    <dgm:pt modelId="{4FEA9A8A-3AD4-4029-AABC-E3E0F0735188}" type="pres">
      <dgm:prSet presAssocID="{6C73A300-8D8C-4261-9BB8-0E6165F31F39}" presName="background" presStyleLbl="node0" presStyleIdx="0" presStyleCnt="1"/>
      <dgm:spPr/>
    </dgm:pt>
    <dgm:pt modelId="{B39A64E1-BEA5-46D2-ABBA-49491C234240}" type="pres">
      <dgm:prSet presAssocID="{6C73A300-8D8C-4261-9BB8-0E6165F31F39}" presName="text" presStyleLbl="fgAcc0" presStyleIdx="0" presStyleCnt="1">
        <dgm:presLayoutVars>
          <dgm:chPref val="3"/>
        </dgm:presLayoutVars>
      </dgm:prSet>
      <dgm:spPr/>
    </dgm:pt>
    <dgm:pt modelId="{5B1F85A0-28C5-4138-8190-D2D61663C280}" type="pres">
      <dgm:prSet presAssocID="{6C73A300-8D8C-4261-9BB8-0E6165F31F39}" presName="hierChild2" presStyleCnt="0"/>
      <dgm:spPr/>
    </dgm:pt>
    <dgm:pt modelId="{27F808CB-D01D-444F-B206-74D669C0EA5E}" type="pres">
      <dgm:prSet presAssocID="{3DE5A967-C727-4372-9BA1-2D9F3DED2341}" presName="Name10" presStyleLbl="parChTrans1D2" presStyleIdx="0" presStyleCnt="7"/>
      <dgm:spPr/>
    </dgm:pt>
    <dgm:pt modelId="{C122B7B9-51B6-47E0-AEB1-926BA24C3A28}" type="pres">
      <dgm:prSet presAssocID="{AB578606-A1DF-419F-BBF6-0C96320DF284}" presName="hierRoot2" presStyleCnt="0"/>
      <dgm:spPr/>
    </dgm:pt>
    <dgm:pt modelId="{1476A31D-BCFA-49A9-B513-08C500A6319D}" type="pres">
      <dgm:prSet presAssocID="{AB578606-A1DF-419F-BBF6-0C96320DF284}" presName="composite2" presStyleCnt="0"/>
      <dgm:spPr/>
    </dgm:pt>
    <dgm:pt modelId="{C7A5C130-C500-4D5B-B87B-C13293C06B18}" type="pres">
      <dgm:prSet presAssocID="{AB578606-A1DF-419F-BBF6-0C96320DF284}" presName="background2" presStyleLbl="node2" presStyleIdx="0" presStyleCnt="7"/>
      <dgm:spPr/>
    </dgm:pt>
    <dgm:pt modelId="{3676E248-8972-4DB2-B896-4E170A606A18}" type="pres">
      <dgm:prSet presAssocID="{AB578606-A1DF-419F-BBF6-0C96320DF284}" presName="text2" presStyleLbl="fgAcc2" presStyleIdx="0" presStyleCnt="7">
        <dgm:presLayoutVars>
          <dgm:chPref val="3"/>
        </dgm:presLayoutVars>
      </dgm:prSet>
      <dgm:spPr/>
    </dgm:pt>
    <dgm:pt modelId="{BB82BB84-5F43-454C-A3B6-04AE86A4A039}" type="pres">
      <dgm:prSet presAssocID="{AB578606-A1DF-419F-BBF6-0C96320DF284}" presName="hierChild3" presStyleCnt="0"/>
      <dgm:spPr/>
    </dgm:pt>
    <dgm:pt modelId="{93AB4204-9EE1-4466-A220-F6248E6465CB}" type="pres">
      <dgm:prSet presAssocID="{7475E752-A1D3-48A1-AEB7-75699C393F6B}" presName="Name10" presStyleLbl="parChTrans1D2" presStyleIdx="1" presStyleCnt="7"/>
      <dgm:spPr/>
    </dgm:pt>
    <dgm:pt modelId="{50674B60-6746-4528-A43A-7458A82724FA}" type="pres">
      <dgm:prSet presAssocID="{C6F2F67A-1413-4B6D-B4D8-62AE0C8339E6}" presName="hierRoot2" presStyleCnt="0"/>
      <dgm:spPr/>
    </dgm:pt>
    <dgm:pt modelId="{D65FE7B8-D34D-40BE-8E38-94C2EA748CEE}" type="pres">
      <dgm:prSet presAssocID="{C6F2F67A-1413-4B6D-B4D8-62AE0C8339E6}" presName="composite2" presStyleCnt="0"/>
      <dgm:spPr/>
    </dgm:pt>
    <dgm:pt modelId="{22BD0722-0B72-42E0-8330-B4C3CEEB5001}" type="pres">
      <dgm:prSet presAssocID="{C6F2F67A-1413-4B6D-B4D8-62AE0C8339E6}" presName="background2" presStyleLbl="node2" presStyleIdx="1" presStyleCnt="7"/>
      <dgm:spPr/>
    </dgm:pt>
    <dgm:pt modelId="{B48F70D8-DDFD-4DE7-A89B-ACC41C2C5EFD}" type="pres">
      <dgm:prSet presAssocID="{C6F2F67A-1413-4B6D-B4D8-62AE0C8339E6}" presName="text2" presStyleLbl="fgAcc2" presStyleIdx="1" presStyleCnt="7">
        <dgm:presLayoutVars>
          <dgm:chPref val="3"/>
        </dgm:presLayoutVars>
      </dgm:prSet>
      <dgm:spPr/>
    </dgm:pt>
    <dgm:pt modelId="{C7E96C43-EB06-4598-BD77-FA47180949EF}" type="pres">
      <dgm:prSet presAssocID="{C6F2F67A-1413-4B6D-B4D8-62AE0C8339E6}" presName="hierChild3" presStyleCnt="0"/>
      <dgm:spPr/>
    </dgm:pt>
    <dgm:pt modelId="{CEEA14EA-F11B-4F3A-8CA3-7D5D773BA0B1}" type="pres">
      <dgm:prSet presAssocID="{38D7770A-DBEF-453A-A965-D6A1CA90B5BD}" presName="Name10" presStyleLbl="parChTrans1D2" presStyleIdx="2" presStyleCnt="7"/>
      <dgm:spPr/>
    </dgm:pt>
    <dgm:pt modelId="{9AC6A469-959D-42B6-8143-B8732A954888}" type="pres">
      <dgm:prSet presAssocID="{8D6B7914-E137-427C-85DB-8E074C6E1798}" presName="hierRoot2" presStyleCnt="0"/>
      <dgm:spPr/>
    </dgm:pt>
    <dgm:pt modelId="{B11332E2-DC67-458D-A6A6-25064508B255}" type="pres">
      <dgm:prSet presAssocID="{8D6B7914-E137-427C-85DB-8E074C6E1798}" presName="composite2" presStyleCnt="0"/>
      <dgm:spPr/>
    </dgm:pt>
    <dgm:pt modelId="{2F11B5FF-7555-4546-A79B-A6E4923430BD}" type="pres">
      <dgm:prSet presAssocID="{8D6B7914-E137-427C-85DB-8E074C6E1798}" presName="background2" presStyleLbl="node2" presStyleIdx="2" presStyleCnt="7"/>
      <dgm:spPr/>
    </dgm:pt>
    <dgm:pt modelId="{6380712D-8694-4073-B8B9-AF436C38F1AB}" type="pres">
      <dgm:prSet presAssocID="{8D6B7914-E137-427C-85DB-8E074C6E1798}" presName="text2" presStyleLbl="fgAcc2" presStyleIdx="2" presStyleCnt="7">
        <dgm:presLayoutVars>
          <dgm:chPref val="3"/>
        </dgm:presLayoutVars>
      </dgm:prSet>
      <dgm:spPr/>
    </dgm:pt>
    <dgm:pt modelId="{08B70C2B-D327-4C5E-A576-F1F56F7B6FEE}" type="pres">
      <dgm:prSet presAssocID="{8D6B7914-E137-427C-85DB-8E074C6E1798}" presName="hierChild3" presStyleCnt="0"/>
      <dgm:spPr/>
    </dgm:pt>
    <dgm:pt modelId="{5899BDED-E37C-4A8A-B4DB-6176A3BBD019}" type="pres">
      <dgm:prSet presAssocID="{0BA9D359-7C65-4BD7-B97E-FB26CCB987C3}" presName="Name17" presStyleLbl="parChTrans1D3" presStyleIdx="0" presStyleCnt="8"/>
      <dgm:spPr/>
    </dgm:pt>
    <dgm:pt modelId="{C139C93F-CA05-4D20-820A-429F94309AD2}" type="pres">
      <dgm:prSet presAssocID="{7800080E-04DD-4AC1-9DC9-214BAF800059}" presName="hierRoot3" presStyleCnt="0"/>
      <dgm:spPr/>
    </dgm:pt>
    <dgm:pt modelId="{6DE33F98-1B5D-4CA3-8073-6A270F35AF3A}" type="pres">
      <dgm:prSet presAssocID="{7800080E-04DD-4AC1-9DC9-214BAF800059}" presName="composite3" presStyleCnt="0"/>
      <dgm:spPr/>
    </dgm:pt>
    <dgm:pt modelId="{91F28EF6-A702-405D-9330-610A7233FC3D}" type="pres">
      <dgm:prSet presAssocID="{7800080E-04DD-4AC1-9DC9-214BAF800059}" presName="background3" presStyleLbl="node3" presStyleIdx="0" presStyleCnt="8"/>
      <dgm:spPr/>
    </dgm:pt>
    <dgm:pt modelId="{4A6E1B46-52F4-404D-8DC0-DA30A07EE61A}" type="pres">
      <dgm:prSet presAssocID="{7800080E-04DD-4AC1-9DC9-214BAF800059}" presName="text3" presStyleLbl="fgAcc3" presStyleIdx="0" presStyleCnt="8">
        <dgm:presLayoutVars>
          <dgm:chPref val="3"/>
        </dgm:presLayoutVars>
      </dgm:prSet>
      <dgm:spPr/>
    </dgm:pt>
    <dgm:pt modelId="{26D4533F-E8A1-40E3-8388-24BDEBB5A661}" type="pres">
      <dgm:prSet presAssocID="{7800080E-04DD-4AC1-9DC9-214BAF800059}" presName="hierChild4" presStyleCnt="0"/>
      <dgm:spPr/>
    </dgm:pt>
    <dgm:pt modelId="{6B268C31-385E-49AA-82B0-40856527895E}" type="pres">
      <dgm:prSet presAssocID="{F8F77A78-B074-412F-A92C-035C4D392D42}" presName="Name17" presStyleLbl="parChTrans1D3" presStyleIdx="1" presStyleCnt="8"/>
      <dgm:spPr/>
    </dgm:pt>
    <dgm:pt modelId="{1940EEE1-ADC7-4A51-BBAC-D11EB0A0C2A0}" type="pres">
      <dgm:prSet presAssocID="{F8E7F83A-34DF-4E36-9769-222440326EA6}" presName="hierRoot3" presStyleCnt="0"/>
      <dgm:spPr/>
    </dgm:pt>
    <dgm:pt modelId="{49FD22ED-9DA4-425F-BB7F-F6B8D25AF1E6}" type="pres">
      <dgm:prSet presAssocID="{F8E7F83A-34DF-4E36-9769-222440326EA6}" presName="composite3" presStyleCnt="0"/>
      <dgm:spPr/>
    </dgm:pt>
    <dgm:pt modelId="{2C342227-5416-41B1-A4C2-0C0A975393E3}" type="pres">
      <dgm:prSet presAssocID="{F8E7F83A-34DF-4E36-9769-222440326EA6}" presName="background3" presStyleLbl="node3" presStyleIdx="1" presStyleCnt="8"/>
      <dgm:spPr/>
    </dgm:pt>
    <dgm:pt modelId="{664AFC97-7F4C-46CA-86E0-A0753166A2AB}" type="pres">
      <dgm:prSet presAssocID="{F8E7F83A-34DF-4E36-9769-222440326EA6}" presName="text3" presStyleLbl="fgAcc3" presStyleIdx="1" presStyleCnt="8">
        <dgm:presLayoutVars>
          <dgm:chPref val="3"/>
        </dgm:presLayoutVars>
      </dgm:prSet>
      <dgm:spPr/>
    </dgm:pt>
    <dgm:pt modelId="{2E8B7E0B-B47F-4284-84DB-71476BF5586D}" type="pres">
      <dgm:prSet presAssocID="{F8E7F83A-34DF-4E36-9769-222440326EA6}" presName="hierChild4" presStyleCnt="0"/>
      <dgm:spPr/>
    </dgm:pt>
    <dgm:pt modelId="{85B19E51-18F1-4396-BF45-007C0D1A5BFB}" type="pres">
      <dgm:prSet presAssocID="{97EC4082-7AAA-4469-8A24-9533C6059330}" presName="Name17" presStyleLbl="parChTrans1D3" presStyleIdx="2" presStyleCnt="8"/>
      <dgm:spPr/>
    </dgm:pt>
    <dgm:pt modelId="{6BB95254-D464-4D2F-AE94-F956ADA4DBFC}" type="pres">
      <dgm:prSet presAssocID="{4AB0BD77-8BD0-4176-A35E-FF3C3BC58266}" presName="hierRoot3" presStyleCnt="0"/>
      <dgm:spPr/>
    </dgm:pt>
    <dgm:pt modelId="{59F0B0FF-E468-45E9-B5ED-2587C6B7C4E5}" type="pres">
      <dgm:prSet presAssocID="{4AB0BD77-8BD0-4176-A35E-FF3C3BC58266}" presName="composite3" presStyleCnt="0"/>
      <dgm:spPr/>
    </dgm:pt>
    <dgm:pt modelId="{73A01E18-7F91-4C9E-BC4B-B0885DBDA959}" type="pres">
      <dgm:prSet presAssocID="{4AB0BD77-8BD0-4176-A35E-FF3C3BC58266}" presName="background3" presStyleLbl="node3" presStyleIdx="2" presStyleCnt="8"/>
      <dgm:spPr/>
    </dgm:pt>
    <dgm:pt modelId="{41F997C3-65D4-4A0F-9CBE-2316DFDD2CC8}" type="pres">
      <dgm:prSet presAssocID="{4AB0BD77-8BD0-4176-A35E-FF3C3BC58266}" presName="text3" presStyleLbl="fgAcc3" presStyleIdx="2" presStyleCnt="8">
        <dgm:presLayoutVars>
          <dgm:chPref val="3"/>
        </dgm:presLayoutVars>
      </dgm:prSet>
      <dgm:spPr/>
    </dgm:pt>
    <dgm:pt modelId="{C3EB30E0-2ADF-437F-B341-503B125E5F94}" type="pres">
      <dgm:prSet presAssocID="{4AB0BD77-8BD0-4176-A35E-FF3C3BC58266}" presName="hierChild4" presStyleCnt="0"/>
      <dgm:spPr/>
    </dgm:pt>
    <dgm:pt modelId="{A1923EDC-8D23-4906-8E92-FCC7B68BB026}" type="pres">
      <dgm:prSet presAssocID="{C097A61E-4BD1-41FA-B278-9A8966F9CBFE}" presName="Name17" presStyleLbl="parChTrans1D3" presStyleIdx="3" presStyleCnt="8"/>
      <dgm:spPr/>
    </dgm:pt>
    <dgm:pt modelId="{30CBA257-8025-4C52-93AF-B3F0C83D52E4}" type="pres">
      <dgm:prSet presAssocID="{65C77A68-4272-4942-A9F4-9ECE155F3361}" presName="hierRoot3" presStyleCnt="0"/>
      <dgm:spPr/>
    </dgm:pt>
    <dgm:pt modelId="{3B23FDD7-91D6-4DD9-A040-78EAB8443372}" type="pres">
      <dgm:prSet presAssocID="{65C77A68-4272-4942-A9F4-9ECE155F3361}" presName="composite3" presStyleCnt="0"/>
      <dgm:spPr/>
    </dgm:pt>
    <dgm:pt modelId="{56F8BE59-2822-4F06-9597-5F91002399D0}" type="pres">
      <dgm:prSet presAssocID="{65C77A68-4272-4942-A9F4-9ECE155F3361}" presName="background3" presStyleLbl="node3" presStyleIdx="3" presStyleCnt="8"/>
      <dgm:spPr/>
    </dgm:pt>
    <dgm:pt modelId="{276B8F14-DD1E-41FE-8613-DDB37E63E49F}" type="pres">
      <dgm:prSet presAssocID="{65C77A68-4272-4942-A9F4-9ECE155F3361}" presName="text3" presStyleLbl="fgAcc3" presStyleIdx="3" presStyleCnt="8">
        <dgm:presLayoutVars>
          <dgm:chPref val="3"/>
        </dgm:presLayoutVars>
      </dgm:prSet>
      <dgm:spPr/>
    </dgm:pt>
    <dgm:pt modelId="{327AF915-1202-4315-A958-930A7804C265}" type="pres">
      <dgm:prSet presAssocID="{65C77A68-4272-4942-A9F4-9ECE155F3361}" presName="hierChild4" presStyleCnt="0"/>
      <dgm:spPr/>
    </dgm:pt>
    <dgm:pt modelId="{F8252597-8F45-441A-8232-A4866C656726}" type="pres">
      <dgm:prSet presAssocID="{792DC645-ECAE-4C45-AA57-682CB5004F34}" presName="Name10" presStyleLbl="parChTrans1D2" presStyleIdx="3" presStyleCnt="7"/>
      <dgm:spPr/>
    </dgm:pt>
    <dgm:pt modelId="{D85D3250-A915-497F-ADD8-18C65F5F35C9}" type="pres">
      <dgm:prSet presAssocID="{6F2B9105-4DDF-425A-BB34-BCD5C48DEC6B}" presName="hierRoot2" presStyleCnt="0"/>
      <dgm:spPr/>
    </dgm:pt>
    <dgm:pt modelId="{148CD206-F041-4073-9FF4-EE4F785EE08D}" type="pres">
      <dgm:prSet presAssocID="{6F2B9105-4DDF-425A-BB34-BCD5C48DEC6B}" presName="composite2" presStyleCnt="0"/>
      <dgm:spPr/>
    </dgm:pt>
    <dgm:pt modelId="{EBF8A63C-93C7-4A42-8939-B78EA508637D}" type="pres">
      <dgm:prSet presAssocID="{6F2B9105-4DDF-425A-BB34-BCD5C48DEC6B}" presName="background2" presStyleLbl="node2" presStyleIdx="3" presStyleCnt="7"/>
      <dgm:spPr/>
    </dgm:pt>
    <dgm:pt modelId="{779A3EAF-04D2-4C01-9BE7-C63D615EF3A2}" type="pres">
      <dgm:prSet presAssocID="{6F2B9105-4DDF-425A-BB34-BCD5C48DEC6B}" presName="text2" presStyleLbl="fgAcc2" presStyleIdx="3" presStyleCnt="7">
        <dgm:presLayoutVars>
          <dgm:chPref val="3"/>
        </dgm:presLayoutVars>
      </dgm:prSet>
      <dgm:spPr/>
    </dgm:pt>
    <dgm:pt modelId="{4C90F1E7-2A6A-46F4-8901-2D1143EB3846}" type="pres">
      <dgm:prSet presAssocID="{6F2B9105-4DDF-425A-BB34-BCD5C48DEC6B}" presName="hierChild3" presStyleCnt="0"/>
      <dgm:spPr/>
    </dgm:pt>
    <dgm:pt modelId="{31AF19AD-44CF-4B4B-BE1A-2448F309027B}" type="pres">
      <dgm:prSet presAssocID="{FF03D323-6018-405B-AE2F-B9568373726F}" presName="Name10" presStyleLbl="parChTrans1D2" presStyleIdx="4" presStyleCnt="7"/>
      <dgm:spPr/>
    </dgm:pt>
    <dgm:pt modelId="{83C80489-22B1-45FB-B1AE-28C7AEAAA7A0}" type="pres">
      <dgm:prSet presAssocID="{36ACEECB-7128-434F-8FB9-46EC788BE5D4}" presName="hierRoot2" presStyleCnt="0"/>
      <dgm:spPr/>
    </dgm:pt>
    <dgm:pt modelId="{014F15F3-10EA-413A-97F4-36F2D5993E98}" type="pres">
      <dgm:prSet presAssocID="{36ACEECB-7128-434F-8FB9-46EC788BE5D4}" presName="composite2" presStyleCnt="0"/>
      <dgm:spPr/>
    </dgm:pt>
    <dgm:pt modelId="{9BB83F59-11B3-4746-97DB-495D832256C1}" type="pres">
      <dgm:prSet presAssocID="{36ACEECB-7128-434F-8FB9-46EC788BE5D4}" presName="background2" presStyleLbl="node2" presStyleIdx="4" presStyleCnt="7"/>
      <dgm:spPr/>
    </dgm:pt>
    <dgm:pt modelId="{46F9C806-A5EA-443E-B237-B379645F94A5}" type="pres">
      <dgm:prSet presAssocID="{36ACEECB-7128-434F-8FB9-46EC788BE5D4}" presName="text2" presStyleLbl="fgAcc2" presStyleIdx="4" presStyleCnt="7">
        <dgm:presLayoutVars>
          <dgm:chPref val="3"/>
        </dgm:presLayoutVars>
      </dgm:prSet>
      <dgm:spPr/>
    </dgm:pt>
    <dgm:pt modelId="{ECF015A9-1616-44A2-9CEE-74E3036BCE42}" type="pres">
      <dgm:prSet presAssocID="{36ACEECB-7128-434F-8FB9-46EC788BE5D4}" presName="hierChild3" presStyleCnt="0"/>
      <dgm:spPr/>
    </dgm:pt>
    <dgm:pt modelId="{D98D8F3F-D27F-4CC0-8946-2E89D1D2995D}" type="pres">
      <dgm:prSet presAssocID="{1D2735E5-AACC-491D-9987-E13DA79613F2}" presName="Name10" presStyleLbl="parChTrans1D2" presStyleIdx="5" presStyleCnt="7"/>
      <dgm:spPr/>
    </dgm:pt>
    <dgm:pt modelId="{88128B4E-5FBB-44BE-9BF5-32192ABDFF54}" type="pres">
      <dgm:prSet presAssocID="{E85477FE-128B-42E9-9A1B-8F2AE1FFA292}" presName="hierRoot2" presStyleCnt="0"/>
      <dgm:spPr/>
    </dgm:pt>
    <dgm:pt modelId="{B3353464-BB4C-42F9-B1C9-CE5CECE9046D}" type="pres">
      <dgm:prSet presAssocID="{E85477FE-128B-42E9-9A1B-8F2AE1FFA292}" presName="composite2" presStyleCnt="0"/>
      <dgm:spPr/>
    </dgm:pt>
    <dgm:pt modelId="{9A182B59-659E-438A-AA5B-3A6952C28F25}" type="pres">
      <dgm:prSet presAssocID="{E85477FE-128B-42E9-9A1B-8F2AE1FFA292}" presName="background2" presStyleLbl="node2" presStyleIdx="5" presStyleCnt="7"/>
      <dgm:spPr/>
    </dgm:pt>
    <dgm:pt modelId="{6C32B300-71C8-476A-B9CC-08105D908D46}" type="pres">
      <dgm:prSet presAssocID="{E85477FE-128B-42E9-9A1B-8F2AE1FFA292}" presName="text2" presStyleLbl="fgAcc2" presStyleIdx="5" presStyleCnt="7">
        <dgm:presLayoutVars>
          <dgm:chPref val="3"/>
        </dgm:presLayoutVars>
      </dgm:prSet>
      <dgm:spPr/>
    </dgm:pt>
    <dgm:pt modelId="{74EE96DB-F889-485E-84E3-597A7B895A0B}" type="pres">
      <dgm:prSet presAssocID="{E85477FE-128B-42E9-9A1B-8F2AE1FFA292}" presName="hierChild3" presStyleCnt="0"/>
      <dgm:spPr/>
    </dgm:pt>
    <dgm:pt modelId="{D347C732-3277-42FE-952A-25CDA210ADA9}" type="pres">
      <dgm:prSet presAssocID="{20CF1B8C-BA98-48C6-9B61-1C2B25EA5E5F}" presName="Name17" presStyleLbl="parChTrans1D3" presStyleIdx="4" presStyleCnt="8"/>
      <dgm:spPr/>
    </dgm:pt>
    <dgm:pt modelId="{C53191A3-6F32-4CC3-86E5-6C0D0052918E}" type="pres">
      <dgm:prSet presAssocID="{D38FE9D7-7E55-4B88-9CA9-EF449FA536A1}" presName="hierRoot3" presStyleCnt="0"/>
      <dgm:spPr/>
    </dgm:pt>
    <dgm:pt modelId="{52E0B792-464A-4CE3-A8E1-DB7E0423F9A8}" type="pres">
      <dgm:prSet presAssocID="{D38FE9D7-7E55-4B88-9CA9-EF449FA536A1}" presName="composite3" presStyleCnt="0"/>
      <dgm:spPr/>
    </dgm:pt>
    <dgm:pt modelId="{C8A30697-94D1-45EE-9BB8-8DD952B52D6C}" type="pres">
      <dgm:prSet presAssocID="{D38FE9D7-7E55-4B88-9CA9-EF449FA536A1}" presName="background3" presStyleLbl="node3" presStyleIdx="4" presStyleCnt="8"/>
      <dgm:spPr/>
    </dgm:pt>
    <dgm:pt modelId="{08319EE7-B415-4B70-91BF-9743AFBA4906}" type="pres">
      <dgm:prSet presAssocID="{D38FE9D7-7E55-4B88-9CA9-EF449FA536A1}" presName="text3" presStyleLbl="fgAcc3" presStyleIdx="4" presStyleCnt="8">
        <dgm:presLayoutVars>
          <dgm:chPref val="3"/>
        </dgm:presLayoutVars>
      </dgm:prSet>
      <dgm:spPr/>
    </dgm:pt>
    <dgm:pt modelId="{D27048B6-CA0E-4CF2-BB30-5A339D1C359E}" type="pres">
      <dgm:prSet presAssocID="{D38FE9D7-7E55-4B88-9CA9-EF449FA536A1}" presName="hierChild4" presStyleCnt="0"/>
      <dgm:spPr/>
    </dgm:pt>
    <dgm:pt modelId="{EE0639A7-6287-47A6-90EF-395B93110EB4}" type="pres">
      <dgm:prSet presAssocID="{FEEB38CD-85EF-4BD3-ACD3-76D904562CE7}" presName="Name17" presStyleLbl="parChTrans1D3" presStyleIdx="5" presStyleCnt="8"/>
      <dgm:spPr/>
    </dgm:pt>
    <dgm:pt modelId="{37AFB1E1-985B-4C48-A187-A1252D19F111}" type="pres">
      <dgm:prSet presAssocID="{CC883B3C-D1F5-463C-A02D-343BAD5F437A}" presName="hierRoot3" presStyleCnt="0"/>
      <dgm:spPr/>
    </dgm:pt>
    <dgm:pt modelId="{692B26FD-A955-4E53-B685-48F2D147CB24}" type="pres">
      <dgm:prSet presAssocID="{CC883B3C-D1F5-463C-A02D-343BAD5F437A}" presName="composite3" presStyleCnt="0"/>
      <dgm:spPr/>
    </dgm:pt>
    <dgm:pt modelId="{30F363D5-6A69-4831-836E-177A846ABBE2}" type="pres">
      <dgm:prSet presAssocID="{CC883B3C-D1F5-463C-A02D-343BAD5F437A}" presName="background3" presStyleLbl="node3" presStyleIdx="5" presStyleCnt="8"/>
      <dgm:spPr/>
    </dgm:pt>
    <dgm:pt modelId="{BB0FD495-97F0-4CA1-8B86-4C448FC91248}" type="pres">
      <dgm:prSet presAssocID="{CC883B3C-D1F5-463C-A02D-343BAD5F437A}" presName="text3" presStyleLbl="fgAcc3" presStyleIdx="5" presStyleCnt="8">
        <dgm:presLayoutVars>
          <dgm:chPref val="3"/>
        </dgm:presLayoutVars>
      </dgm:prSet>
      <dgm:spPr/>
    </dgm:pt>
    <dgm:pt modelId="{C9AB377B-1531-4E98-936C-78C3BD2C1649}" type="pres">
      <dgm:prSet presAssocID="{CC883B3C-D1F5-463C-A02D-343BAD5F437A}" presName="hierChild4" presStyleCnt="0"/>
      <dgm:spPr/>
    </dgm:pt>
    <dgm:pt modelId="{6E153975-726F-4814-AE50-E64F49151B86}" type="pres">
      <dgm:prSet presAssocID="{86DF2351-E739-40CB-967F-EDA421020433}" presName="Name17" presStyleLbl="parChTrans1D3" presStyleIdx="6" presStyleCnt="8"/>
      <dgm:spPr/>
    </dgm:pt>
    <dgm:pt modelId="{636C049C-85DE-460E-BD09-0B26BE889CFE}" type="pres">
      <dgm:prSet presAssocID="{885AB46B-04C3-4022-AF90-C492157C3548}" presName="hierRoot3" presStyleCnt="0"/>
      <dgm:spPr/>
    </dgm:pt>
    <dgm:pt modelId="{6A315BAE-C065-456A-9159-F1BAE99AAE97}" type="pres">
      <dgm:prSet presAssocID="{885AB46B-04C3-4022-AF90-C492157C3548}" presName="composite3" presStyleCnt="0"/>
      <dgm:spPr/>
    </dgm:pt>
    <dgm:pt modelId="{C5345F1C-226A-4973-B272-787412EEF783}" type="pres">
      <dgm:prSet presAssocID="{885AB46B-04C3-4022-AF90-C492157C3548}" presName="background3" presStyleLbl="node3" presStyleIdx="6" presStyleCnt="8"/>
      <dgm:spPr/>
    </dgm:pt>
    <dgm:pt modelId="{6B2419C0-F0F9-4D05-BEDF-9F987880C2E0}" type="pres">
      <dgm:prSet presAssocID="{885AB46B-04C3-4022-AF90-C492157C3548}" presName="text3" presStyleLbl="fgAcc3" presStyleIdx="6" presStyleCnt="8">
        <dgm:presLayoutVars>
          <dgm:chPref val="3"/>
        </dgm:presLayoutVars>
      </dgm:prSet>
      <dgm:spPr/>
    </dgm:pt>
    <dgm:pt modelId="{6D9D23FC-3F3D-4D69-9102-F62326DD0002}" type="pres">
      <dgm:prSet presAssocID="{885AB46B-04C3-4022-AF90-C492157C3548}" presName="hierChild4" presStyleCnt="0"/>
      <dgm:spPr/>
    </dgm:pt>
    <dgm:pt modelId="{CE4EBA2C-7C42-4D58-AF64-01136AB16C2E}" type="pres">
      <dgm:prSet presAssocID="{75AFEFCE-6C4F-4711-8565-2105B7F68E0C}" presName="Name17" presStyleLbl="parChTrans1D3" presStyleIdx="7" presStyleCnt="8"/>
      <dgm:spPr/>
    </dgm:pt>
    <dgm:pt modelId="{8AD6550E-F3D7-413A-97C4-56E521CF304B}" type="pres">
      <dgm:prSet presAssocID="{3C89BA38-818D-44BC-BC08-1AA7A6898F73}" presName="hierRoot3" presStyleCnt="0"/>
      <dgm:spPr/>
    </dgm:pt>
    <dgm:pt modelId="{08926F07-4C7C-41D8-AEDF-48D64DF719EA}" type="pres">
      <dgm:prSet presAssocID="{3C89BA38-818D-44BC-BC08-1AA7A6898F73}" presName="composite3" presStyleCnt="0"/>
      <dgm:spPr/>
    </dgm:pt>
    <dgm:pt modelId="{F7FDDE19-2B44-4258-8BF4-FB8AA10DBFD8}" type="pres">
      <dgm:prSet presAssocID="{3C89BA38-818D-44BC-BC08-1AA7A6898F73}" presName="background3" presStyleLbl="node3" presStyleIdx="7" presStyleCnt="8"/>
      <dgm:spPr/>
    </dgm:pt>
    <dgm:pt modelId="{73BA5E39-F8F3-4E0C-A84C-FECC2FB2CAB3}" type="pres">
      <dgm:prSet presAssocID="{3C89BA38-818D-44BC-BC08-1AA7A6898F73}" presName="text3" presStyleLbl="fgAcc3" presStyleIdx="7" presStyleCnt="8">
        <dgm:presLayoutVars>
          <dgm:chPref val="3"/>
        </dgm:presLayoutVars>
      </dgm:prSet>
      <dgm:spPr/>
    </dgm:pt>
    <dgm:pt modelId="{2895A7F4-2632-4A0B-98E6-F74BCDAEB12E}" type="pres">
      <dgm:prSet presAssocID="{3C89BA38-818D-44BC-BC08-1AA7A6898F73}" presName="hierChild4" presStyleCnt="0"/>
      <dgm:spPr/>
    </dgm:pt>
    <dgm:pt modelId="{35A281B5-63C6-4021-BF8D-EBEEBE69B898}" type="pres">
      <dgm:prSet presAssocID="{10F9160D-B702-499F-9B05-B3A17F79CF34}" presName="Name10" presStyleLbl="parChTrans1D2" presStyleIdx="6" presStyleCnt="7"/>
      <dgm:spPr/>
    </dgm:pt>
    <dgm:pt modelId="{D436EFEC-C4E5-492C-943F-1B4F49203476}" type="pres">
      <dgm:prSet presAssocID="{39D320FD-6E8E-4E3D-9F0C-85F0BDEF58CF}" presName="hierRoot2" presStyleCnt="0"/>
      <dgm:spPr/>
    </dgm:pt>
    <dgm:pt modelId="{5F1E3E84-0D64-407E-BDCB-CB720CD31438}" type="pres">
      <dgm:prSet presAssocID="{39D320FD-6E8E-4E3D-9F0C-85F0BDEF58CF}" presName="composite2" presStyleCnt="0"/>
      <dgm:spPr/>
    </dgm:pt>
    <dgm:pt modelId="{A602CB2D-F69C-4C23-AB12-CB84550207AE}" type="pres">
      <dgm:prSet presAssocID="{39D320FD-6E8E-4E3D-9F0C-85F0BDEF58CF}" presName="background2" presStyleLbl="node2" presStyleIdx="6" presStyleCnt="7"/>
      <dgm:spPr/>
    </dgm:pt>
    <dgm:pt modelId="{AFD75E98-B7BF-45EF-99AD-B8D557A43512}" type="pres">
      <dgm:prSet presAssocID="{39D320FD-6E8E-4E3D-9F0C-85F0BDEF58CF}" presName="text2" presStyleLbl="fgAcc2" presStyleIdx="6" presStyleCnt="7">
        <dgm:presLayoutVars>
          <dgm:chPref val="3"/>
        </dgm:presLayoutVars>
      </dgm:prSet>
      <dgm:spPr/>
    </dgm:pt>
    <dgm:pt modelId="{FD7C775A-9038-4CC1-A479-1B387DFEAA05}" type="pres">
      <dgm:prSet presAssocID="{39D320FD-6E8E-4E3D-9F0C-85F0BDEF58CF}" presName="hierChild3" presStyleCnt="0"/>
      <dgm:spPr/>
    </dgm:pt>
  </dgm:ptLst>
  <dgm:cxnLst>
    <dgm:cxn modelId="{1C91DA10-3BA7-4BCB-A620-71526C8DF194}" type="presOf" srcId="{6C73A300-8D8C-4261-9BB8-0E6165F31F39}" destId="{B39A64E1-BEA5-46D2-ABBA-49491C234240}" srcOrd="0" destOrd="0" presId="urn:microsoft.com/office/officeart/2005/8/layout/hierarchy1"/>
    <dgm:cxn modelId="{2B243513-0C34-4C0C-9285-E3630DF16F59}" type="presOf" srcId="{AB578606-A1DF-419F-BBF6-0C96320DF284}" destId="{3676E248-8972-4DB2-B896-4E170A606A18}" srcOrd="0" destOrd="0" presId="urn:microsoft.com/office/officeart/2005/8/layout/hierarchy1"/>
    <dgm:cxn modelId="{BAC4CE16-F688-4C5C-BD20-66EAFDE3BF4F}" type="presOf" srcId="{F8E7F83A-34DF-4E36-9769-222440326EA6}" destId="{664AFC97-7F4C-46CA-86E0-A0753166A2AB}" srcOrd="0" destOrd="0" presId="urn:microsoft.com/office/officeart/2005/8/layout/hierarchy1"/>
    <dgm:cxn modelId="{C30CCC17-CC7F-41D3-A679-AC8420B5D01D}" srcId="{8D6B7914-E137-427C-85DB-8E074C6E1798}" destId="{F8E7F83A-34DF-4E36-9769-222440326EA6}" srcOrd="1" destOrd="0" parTransId="{F8F77A78-B074-412F-A92C-035C4D392D42}" sibTransId="{EE8E0B98-3717-4935-A850-37AA4243BACE}"/>
    <dgm:cxn modelId="{26F98C1D-14BE-41ED-A894-84479E306E54}" srcId="{CF77D634-B335-4CAB-82C1-10C146D58B09}" destId="{6C73A300-8D8C-4261-9BB8-0E6165F31F39}" srcOrd="0" destOrd="0" parTransId="{3431E5F1-C306-44ED-B1FE-D3DE1FC9A6ED}" sibTransId="{B2937F8F-A4AF-4C2B-AE09-1AFA211DB49C}"/>
    <dgm:cxn modelId="{0D034921-8B35-4D85-9430-6B963DBE8A82}" type="presOf" srcId="{7475E752-A1D3-48A1-AEB7-75699C393F6B}" destId="{93AB4204-9EE1-4466-A220-F6248E6465CB}" srcOrd="0" destOrd="0" presId="urn:microsoft.com/office/officeart/2005/8/layout/hierarchy1"/>
    <dgm:cxn modelId="{0AEDB921-72B6-4094-8222-C800ED39279D}" type="presOf" srcId="{97EC4082-7AAA-4469-8A24-9533C6059330}" destId="{85B19E51-18F1-4396-BF45-007C0D1A5BFB}" srcOrd="0" destOrd="0" presId="urn:microsoft.com/office/officeart/2005/8/layout/hierarchy1"/>
    <dgm:cxn modelId="{BC3D0223-DB32-4DC9-97A4-CFF0C0824A45}" type="presOf" srcId="{D38FE9D7-7E55-4B88-9CA9-EF449FA536A1}" destId="{08319EE7-B415-4B70-91BF-9743AFBA4906}" srcOrd="0" destOrd="0" presId="urn:microsoft.com/office/officeart/2005/8/layout/hierarchy1"/>
    <dgm:cxn modelId="{ABBEE926-F952-47C0-8CB9-E04FA859F153}" type="presOf" srcId="{CF77D634-B335-4CAB-82C1-10C146D58B09}" destId="{9C6B5DD8-5BE5-41AC-A0F9-8059CC7598A6}" srcOrd="0" destOrd="0" presId="urn:microsoft.com/office/officeart/2005/8/layout/hierarchy1"/>
    <dgm:cxn modelId="{59E28D27-2CD9-4BD1-A222-8304321B2C52}" type="presOf" srcId="{3DE5A967-C727-4372-9BA1-2D9F3DED2341}" destId="{27F808CB-D01D-444F-B206-74D669C0EA5E}" srcOrd="0" destOrd="0" presId="urn:microsoft.com/office/officeart/2005/8/layout/hierarchy1"/>
    <dgm:cxn modelId="{8A481530-660B-49E0-A7D1-676B45A6A22A}" srcId="{8D6B7914-E137-427C-85DB-8E074C6E1798}" destId="{7800080E-04DD-4AC1-9DC9-214BAF800059}" srcOrd="0" destOrd="0" parTransId="{0BA9D359-7C65-4BD7-B97E-FB26CCB987C3}" sibTransId="{3E377E04-DFBB-4514-BBA2-0D67ADA4CEF7}"/>
    <dgm:cxn modelId="{0A253630-8BFE-48AE-84C8-09C48EC5C86F}" type="presOf" srcId="{FF03D323-6018-405B-AE2F-B9568373726F}" destId="{31AF19AD-44CF-4B4B-BE1A-2448F309027B}" srcOrd="0" destOrd="0" presId="urn:microsoft.com/office/officeart/2005/8/layout/hierarchy1"/>
    <dgm:cxn modelId="{D08C6C35-320C-4811-B668-0000C9066FE4}" type="presOf" srcId="{4AB0BD77-8BD0-4176-A35E-FF3C3BC58266}" destId="{41F997C3-65D4-4A0F-9CBE-2316DFDD2CC8}" srcOrd="0" destOrd="0" presId="urn:microsoft.com/office/officeart/2005/8/layout/hierarchy1"/>
    <dgm:cxn modelId="{4585143B-52B1-46DE-8CD5-395C35A500A6}" type="presOf" srcId="{F8F77A78-B074-412F-A92C-035C4D392D42}" destId="{6B268C31-385E-49AA-82B0-40856527895E}" srcOrd="0" destOrd="0" presId="urn:microsoft.com/office/officeart/2005/8/layout/hierarchy1"/>
    <dgm:cxn modelId="{CB8A1A3C-30AC-447E-9372-1DA964A92A18}" srcId="{6C73A300-8D8C-4261-9BB8-0E6165F31F39}" destId="{36ACEECB-7128-434F-8FB9-46EC788BE5D4}" srcOrd="4" destOrd="0" parTransId="{FF03D323-6018-405B-AE2F-B9568373726F}" sibTransId="{7CC04A5E-CBE5-4C2B-A089-33FE78718394}"/>
    <dgm:cxn modelId="{CC9F6C3D-4980-4CE3-97AC-5AEDB80AE013}" type="presOf" srcId="{E85477FE-128B-42E9-9A1B-8F2AE1FFA292}" destId="{6C32B300-71C8-476A-B9CC-08105D908D46}" srcOrd="0" destOrd="0" presId="urn:microsoft.com/office/officeart/2005/8/layout/hierarchy1"/>
    <dgm:cxn modelId="{F8ECFB3D-8EB6-46A8-A17E-59BC87C92832}" type="presOf" srcId="{36ACEECB-7128-434F-8FB9-46EC788BE5D4}" destId="{46F9C806-A5EA-443E-B237-B379645F94A5}" srcOrd="0" destOrd="0" presId="urn:microsoft.com/office/officeart/2005/8/layout/hierarchy1"/>
    <dgm:cxn modelId="{D52B285C-5AA2-4620-8C89-B514277D8F0D}" type="presOf" srcId="{C6F2F67A-1413-4B6D-B4D8-62AE0C8339E6}" destId="{B48F70D8-DDFD-4DE7-A89B-ACC41C2C5EFD}" srcOrd="0" destOrd="0" presId="urn:microsoft.com/office/officeart/2005/8/layout/hierarchy1"/>
    <dgm:cxn modelId="{5CAFB55F-C33F-4CB2-BF5C-6A67E0561DEE}" type="presOf" srcId="{CC883B3C-D1F5-463C-A02D-343BAD5F437A}" destId="{BB0FD495-97F0-4CA1-8B86-4C448FC91248}" srcOrd="0" destOrd="0" presId="urn:microsoft.com/office/officeart/2005/8/layout/hierarchy1"/>
    <dgm:cxn modelId="{3C234C60-3D5C-4123-AE4F-7FF8048FC4BE}" type="presOf" srcId="{75AFEFCE-6C4F-4711-8565-2105B7F68E0C}" destId="{CE4EBA2C-7C42-4D58-AF64-01136AB16C2E}" srcOrd="0" destOrd="0" presId="urn:microsoft.com/office/officeart/2005/8/layout/hierarchy1"/>
    <dgm:cxn modelId="{E9B47041-7549-4DED-92FC-A876548F9AC7}" type="presOf" srcId="{FEEB38CD-85EF-4BD3-ACD3-76D904562CE7}" destId="{EE0639A7-6287-47A6-90EF-395B93110EB4}" srcOrd="0" destOrd="0" presId="urn:microsoft.com/office/officeart/2005/8/layout/hierarchy1"/>
    <dgm:cxn modelId="{1C15A442-B221-4A5C-9C30-0E35DB27A20A}" srcId="{E85477FE-128B-42E9-9A1B-8F2AE1FFA292}" destId="{3C89BA38-818D-44BC-BC08-1AA7A6898F73}" srcOrd="3" destOrd="0" parTransId="{75AFEFCE-6C4F-4711-8565-2105B7F68E0C}" sibTransId="{8C18BF02-F9EE-491A-960D-EBBB96895DB0}"/>
    <dgm:cxn modelId="{459B2C65-BEB7-4B18-A069-7169230B649D}" srcId="{6C73A300-8D8C-4261-9BB8-0E6165F31F39}" destId="{AB578606-A1DF-419F-BBF6-0C96320DF284}" srcOrd="0" destOrd="0" parTransId="{3DE5A967-C727-4372-9BA1-2D9F3DED2341}" sibTransId="{91F5F447-9417-4D88-845D-15EB2A648C74}"/>
    <dgm:cxn modelId="{FD37ED47-3829-4CBF-8F59-3ACA3AE2A3C1}" srcId="{8D6B7914-E137-427C-85DB-8E074C6E1798}" destId="{65C77A68-4272-4942-A9F4-9ECE155F3361}" srcOrd="3" destOrd="0" parTransId="{C097A61E-4BD1-41FA-B278-9A8966F9CBFE}" sibTransId="{B1C87838-2516-4391-AD8A-D1BFD0FB7E38}"/>
    <dgm:cxn modelId="{0F0B5449-9621-431C-94F8-7A559EAFF7F0}" type="presOf" srcId="{1D2735E5-AACC-491D-9987-E13DA79613F2}" destId="{D98D8F3F-D27F-4CC0-8946-2E89D1D2995D}" srcOrd="0" destOrd="0" presId="urn:microsoft.com/office/officeart/2005/8/layout/hierarchy1"/>
    <dgm:cxn modelId="{8E403F4A-8AD7-4345-A616-C205D95DF697}" srcId="{E85477FE-128B-42E9-9A1B-8F2AE1FFA292}" destId="{885AB46B-04C3-4022-AF90-C492157C3548}" srcOrd="2" destOrd="0" parTransId="{86DF2351-E739-40CB-967F-EDA421020433}" sibTransId="{E55ADA7C-D8F8-43AD-8470-E0651AEFC885}"/>
    <dgm:cxn modelId="{5F7C806A-0176-4F2F-8447-972C496075CD}" srcId="{6C73A300-8D8C-4261-9BB8-0E6165F31F39}" destId="{39D320FD-6E8E-4E3D-9F0C-85F0BDEF58CF}" srcOrd="6" destOrd="0" parTransId="{10F9160D-B702-499F-9B05-B3A17F79CF34}" sibTransId="{8788A9C3-EA71-4E0A-A465-A6DF94ABF5A5}"/>
    <dgm:cxn modelId="{07E7B24A-D452-4810-9D41-AFFF144C6EA4}" type="presOf" srcId="{65C77A68-4272-4942-A9F4-9ECE155F3361}" destId="{276B8F14-DD1E-41FE-8613-DDB37E63E49F}" srcOrd="0" destOrd="0" presId="urn:microsoft.com/office/officeart/2005/8/layout/hierarchy1"/>
    <dgm:cxn modelId="{15BAB24B-0D4B-4D14-99F5-184E0209F96C}" srcId="{6C73A300-8D8C-4261-9BB8-0E6165F31F39}" destId="{6F2B9105-4DDF-425A-BB34-BCD5C48DEC6B}" srcOrd="3" destOrd="0" parTransId="{792DC645-ECAE-4C45-AA57-682CB5004F34}" sibTransId="{5FF78EC8-9DC7-4BA9-A37C-E5D3E66C04C6}"/>
    <dgm:cxn modelId="{05A6B17D-238D-465A-87BE-6F4BB8F421FF}" type="presOf" srcId="{792DC645-ECAE-4C45-AA57-682CB5004F34}" destId="{F8252597-8F45-441A-8232-A4866C656726}" srcOrd="0" destOrd="0" presId="urn:microsoft.com/office/officeart/2005/8/layout/hierarchy1"/>
    <dgm:cxn modelId="{E041417E-89EB-4099-BC35-0C1BEE04D3E4}" type="presOf" srcId="{3C89BA38-818D-44BC-BC08-1AA7A6898F73}" destId="{73BA5E39-F8F3-4E0C-A84C-FECC2FB2CAB3}" srcOrd="0" destOrd="0" presId="urn:microsoft.com/office/officeart/2005/8/layout/hierarchy1"/>
    <dgm:cxn modelId="{D4FDFB7E-3FAA-4871-8FBA-7343FBAA49C1}" type="presOf" srcId="{39D320FD-6E8E-4E3D-9F0C-85F0BDEF58CF}" destId="{AFD75E98-B7BF-45EF-99AD-B8D557A43512}" srcOrd="0" destOrd="0" presId="urn:microsoft.com/office/officeart/2005/8/layout/hierarchy1"/>
    <dgm:cxn modelId="{FEC26687-D8D7-4F73-9427-15E752D23964}" type="presOf" srcId="{38D7770A-DBEF-453A-A965-D6A1CA90B5BD}" destId="{CEEA14EA-F11B-4F3A-8CA3-7D5D773BA0B1}" srcOrd="0" destOrd="0" presId="urn:microsoft.com/office/officeart/2005/8/layout/hierarchy1"/>
    <dgm:cxn modelId="{97493295-05DB-48E2-9CDC-A597F9AE9D70}" srcId="{E85477FE-128B-42E9-9A1B-8F2AE1FFA292}" destId="{D38FE9D7-7E55-4B88-9CA9-EF449FA536A1}" srcOrd="0" destOrd="0" parTransId="{20CF1B8C-BA98-48C6-9B61-1C2B25EA5E5F}" sibTransId="{2508DCB4-6BAC-45A2-ABB3-A398699DD2F7}"/>
    <dgm:cxn modelId="{37E10799-25E3-474D-9686-63915CB9AA8A}" type="presOf" srcId="{C097A61E-4BD1-41FA-B278-9A8966F9CBFE}" destId="{A1923EDC-8D23-4906-8E92-FCC7B68BB026}" srcOrd="0" destOrd="0" presId="urn:microsoft.com/office/officeart/2005/8/layout/hierarchy1"/>
    <dgm:cxn modelId="{1E061E99-8C4E-474C-AE06-5493CB3E865A}" type="presOf" srcId="{10F9160D-B702-499F-9B05-B3A17F79CF34}" destId="{35A281B5-63C6-4021-BF8D-EBEEBE69B898}" srcOrd="0" destOrd="0" presId="urn:microsoft.com/office/officeart/2005/8/layout/hierarchy1"/>
    <dgm:cxn modelId="{EDD848AD-169E-4733-BC52-3A8C1A51608C}" type="presOf" srcId="{7800080E-04DD-4AC1-9DC9-214BAF800059}" destId="{4A6E1B46-52F4-404D-8DC0-DA30A07EE61A}" srcOrd="0" destOrd="0" presId="urn:microsoft.com/office/officeart/2005/8/layout/hierarchy1"/>
    <dgm:cxn modelId="{2D0798C4-4C76-4666-857A-8BE3458DD380}" type="presOf" srcId="{6F2B9105-4DDF-425A-BB34-BCD5C48DEC6B}" destId="{779A3EAF-04D2-4C01-9BE7-C63D615EF3A2}" srcOrd="0" destOrd="0" presId="urn:microsoft.com/office/officeart/2005/8/layout/hierarchy1"/>
    <dgm:cxn modelId="{66F237C9-775C-4D52-B1A2-6A0D9425C7DD}" srcId="{8D6B7914-E137-427C-85DB-8E074C6E1798}" destId="{4AB0BD77-8BD0-4176-A35E-FF3C3BC58266}" srcOrd="2" destOrd="0" parTransId="{97EC4082-7AAA-4469-8A24-9533C6059330}" sibTransId="{A4C70A30-5D0C-4124-8A9C-27016386F7A7}"/>
    <dgm:cxn modelId="{B6D599CC-51AF-4B46-9E09-6CAEE99BAF65}" type="presOf" srcId="{86DF2351-E739-40CB-967F-EDA421020433}" destId="{6E153975-726F-4814-AE50-E64F49151B86}" srcOrd="0" destOrd="0" presId="urn:microsoft.com/office/officeart/2005/8/layout/hierarchy1"/>
    <dgm:cxn modelId="{162566CE-380C-4A7D-B9DB-CD862890644E}" srcId="{6C73A300-8D8C-4261-9BB8-0E6165F31F39}" destId="{C6F2F67A-1413-4B6D-B4D8-62AE0C8339E6}" srcOrd="1" destOrd="0" parTransId="{7475E752-A1D3-48A1-AEB7-75699C393F6B}" sibTransId="{F89B0B3F-8DAB-4B68-9447-F07AEB6D8861}"/>
    <dgm:cxn modelId="{BA3AD0D0-6CD3-42D7-AC0E-C039E251F405}" type="presOf" srcId="{8D6B7914-E137-427C-85DB-8E074C6E1798}" destId="{6380712D-8694-4073-B8B9-AF436C38F1AB}" srcOrd="0" destOrd="0" presId="urn:microsoft.com/office/officeart/2005/8/layout/hierarchy1"/>
    <dgm:cxn modelId="{B0782CD1-4D0B-4AF6-B0CA-E6DDDD88677D}" type="presOf" srcId="{0BA9D359-7C65-4BD7-B97E-FB26CCB987C3}" destId="{5899BDED-E37C-4A8A-B4DB-6176A3BBD019}" srcOrd="0" destOrd="0" presId="urn:microsoft.com/office/officeart/2005/8/layout/hierarchy1"/>
    <dgm:cxn modelId="{0A9BC6DA-62FD-4750-8C19-64998BAD455E}" srcId="{6C73A300-8D8C-4261-9BB8-0E6165F31F39}" destId="{E85477FE-128B-42E9-9A1B-8F2AE1FFA292}" srcOrd="5" destOrd="0" parTransId="{1D2735E5-AACC-491D-9987-E13DA79613F2}" sibTransId="{18198381-7AB8-4A35-A95B-975B7E981E79}"/>
    <dgm:cxn modelId="{AC4499DD-3554-485F-90A6-6963AB52DA9B}" srcId="{E85477FE-128B-42E9-9A1B-8F2AE1FFA292}" destId="{CC883B3C-D1F5-463C-A02D-343BAD5F437A}" srcOrd="1" destOrd="0" parTransId="{FEEB38CD-85EF-4BD3-ACD3-76D904562CE7}" sibTransId="{4123FF2C-85EF-4DCF-B986-A3749C1498DD}"/>
    <dgm:cxn modelId="{B72CA1E5-1EF9-42BA-8F13-A046DC6ACA45}" type="presOf" srcId="{885AB46B-04C3-4022-AF90-C492157C3548}" destId="{6B2419C0-F0F9-4D05-BEDF-9F987880C2E0}" srcOrd="0" destOrd="0" presId="urn:microsoft.com/office/officeart/2005/8/layout/hierarchy1"/>
    <dgm:cxn modelId="{518EE7EB-8ED0-4C43-B02A-7192CA336A52}" srcId="{6C73A300-8D8C-4261-9BB8-0E6165F31F39}" destId="{8D6B7914-E137-427C-85DB-8E074C6E1798}" srcOrd="2" destOrd="0" parTransId="{38D7770A-DBEF-453A-A965-D6A1CA90B5BD}" sibTransId="{BDDDCC0C-C237-4FA4-BE96-0457A1A02297}"/>
    <dgm:cxn modelId="{A3AE6AEC-D03D-4E7D-9406-2ECD65D8827C}" type="presOf" srcId="{20CF1B8C-BA98-48C6-9B61-1C2B25EA5E5F}" destId="{D347C732-3277-42FE-952A-25CDA210ADA9}" srcOrd="0" destOrd="0" presId="urn:microsoft.com/office/officeart/2005/8/layout/hierarchy1"/>
    <dgm:cxn modelId="{5129E9A4-9DA5-43B9-A5FD-8BA76E099B7F}" type="presParOf" srcId="{9C6B5DD8-5BE5-41AC-A0F9-8059CC7598A6}" destId="{EE25414B-CF56-4C58-8F2A-4A784910A105}" srcOrd="0" destOrd="0" presId="urn:microsoft.com/office/officeart/2005/8/layout/hierarchy1"/>
    <dgm:cxn modelId="{E5812749-D289-489D-8705-64873A54737C}" type="presParOf" srcId="{EE25414B-CF56-4C58-8F2A-4A784910A105}" destId="{09E65B17-AC3A-4B5A-9B4F-F81880A16743}" srcOrd="0" destOrd="0" presId="urn:microsoft.com/office/officeart/2005/8/layout/hierarchy1"/>
    <dgm:cxn modelId="{9F3E8B34-540F-4F90-A78B-3EE2A0EA8C81}" type="presParOf" srcId="{09E65B17-AC3A-4B5A-9B4F-F81880A16743}" destId="{4FEA9A8A-3AD4-4029-AABC-E3E0F0735188}" srcOrd="0" destOrd="0" presId="urn:microsoft.com/office/officeart/2005/8/layout/hierarchy1"/>
    <dgm:cxn modelId="{325D944C-CF3D-4372-AAA6-AFAA1E9EE9D6}" type="presParOf" srcId="{09E65B17-AC3A-4B5A-9B4F-F81880A16743}" destId="{B39A64E1-BEA5-46D2-ABBA-49491C234240}" srcOrd="1" destOrd="0" presId="urn:microsoft.com/office/officeart/2005/8/layout/hierarchy1"/>
    <dgm:cxn modelId="{30C6F0B4-0A80-4D25-A20F-CA23928FB67A}" type="presParOf" srcId="{EE25414B-CF56-4C58-8F2A-4A784910A105}" destId="{5B1F85A0-28C5-4138-8190-D2D61663C280}" srcOrd="1" destOrd="0" presId="urn:microsoft.com/office/officeart/2005/8/layout/hierarchy1"/>
    <dgm:cxn modelId="{EE392B4F-5555-4EC6-AAE9-95D07F3480A2}" type="presParOf" srcId="{5B1F85A0-28C5-4138-8190-D2D61663C280}" destId="{27F808CB-D01D-444F-B206-74D669C0EA5E}" srcOrd="0" destOrd="0" presId="urn:microsoft.com/office/officeart/2005/8/layout/hierarchy1"/>
    <dgm:cxn modelId="{217823DB-397B-4D09-9043-4A1A04091901}" type="presParOf" srcId="{5B1F85A0-28C5-4138-8190-D2D61663C280}" destId="{C122B7B9-51B6-47E0-AEB1-926BA24C3A28}" srcOrd="1" destOrd="0" presId="urn:microsoft.com/office/officeart/2005/8/layout/hierarchy1"/>
    <dgm:cxn modelId="{7681F73C-2437-4E37-B517-67382E8A03DB}" type="presParOf" srcId="{C122B7B9-51B6-47E0-AEB1-926BA24C3A28}" destId="{1476A31D-BCFA-49A9-B513-08C500A6319D}" srcOrd="0" destOrd="0" presId="urn:microsoft.com/office/officeart/2005/8/layout/hierarchy1"/>
    <dgm:cxn modelId="{1B292762-9483-4FB4-8E9E-990827B83899}" type="presParOf" srcId="{1476A31D-BCFA-49A9-B513-08C500A6319D}" destId="{C7A5C130-C500-4D5B-B87B-C13293C06B18}" srcOrd="0" destOrd="0" presId="urn:microsoft.com/office/officeart/2005/8/layout/hierarchy1"/>
    <dgm:cxn modelId="{76D0876E-3DC0-4462-AEA1-879158F39F36}" type="presParOf" srcId="{1476A31D-BCFA-49A9-B513-08C500A6319D}" destId="{3676E248-8972-4DB2-B896-4E170A606A18}" srcOrd="1" destOrd="0" presId="urn:microsoft.com/office/officeart/2005/8/layout/hierarchy1"/>
    <dgm:cxn modelId="{57E6B5B4-29FC-46FA-9344-BEDE263018AD}" type="presParOf" srcId="{C122B7B9-51B6-47E0-AEB1-926BA24C3A28}" destId="{BB82BB84-5F43-454C-A3B6-04AE86A4A039}" srcOrd="1" destOrd="0" presId="urn:microsoft.com/office/officeart/2005/8/layout/hierarchy1"/>
    <dgm:cxn modelId="{56580491-1011-4643-96DD-E1832828FC09}" type="presParOf" srcId="{5B1F85A0-28C5-4138-8190-D2D61663C280}" destId="{93AB4204-9EE1-4466-A220-F6248E6465CB}" srcOrd="2" destOrd="0" presId="urn:microsoft.com/office/officeart/2005/8/layout/hierarchy1"/>
    <dgm:cxn modelId="{E19459CF-EC4C-424D-B046-D3973BCDEBA7}" type="presParOf" srcId="{5B1F85A0-28C5-4138-8190-D2D61663C280}" destId="{50674B60-6746-4528-A43A-7458A82724FA}" srcOrd="3" destOrd="0" presId="urn:microsoft.com/office/officeart/2005/8/layout/hierarchy1"/>
    <dgm:cxn modelId="{3C45E9F2-3EA1-4876-AAC6-11D5079D47AE}" type="presParOf" srcId="{50674B60-6746-4528-A43A-7458A82724FA}" destId="{D65FE7B8-D34D-40BE-8E38-94C2EA748CEE}" srcOrd="0" destOrd="0" presId="urn:microsoft.com/office/officeart/2005/8/layout/hierarchy1"/>
    <dgm:cxn modelId="{5C8EC33C-A232-41EE-B386-31E38E189592}" type="presParOf" srcId="{D65FE7B8-D34D-40BE-8E38-94C2EA748CEE}" destId="{22BD0722-0B72-42E0-8330-B4C3CEEB5001}" srcOrd="0" destOrd="0" presId="urn:microsoft.com/office/officeart/2005/8/layout/hierarchy1"/>
    <dgm:cxn modelId="{2014016E-A6CF-4B35-8D48-57C2CB832CB9}" type="presParOf" srcId="{D65FE7B8-D34D-40BE-8E38-94C2EA748CEE}" destId="{B48F70D8-DDFD-4DE7-A89B-ACC41C2C5EFD}" srcOrd="1" destOrd="0" presId="urn:microsoft.com/office/officeart/2005/8/layout/hierarchy1"/>
    <dgm:cxn modelId="{735FB09D-64CB-4252-ADF9-3771404BC25C}" type="presParOf" srcId="{50674B60-6746-4528-A43A-7458A82724FA}" destId="{C7E96C43-EB06-4598-BD77-FA47180949EF}" srcOrd="1" destOrd="0" presId="urn:microsoft.com/office/officeart/2005/8/layout/hierarchy1"/>
    <dgm:cxn modelId="{094F113C-048A-4A4E-9275-232C3050176F}" type="presParOf" srcId="{5B1F85A0-28C5-4138-8190-D2D61663C280}" destId="{CEEA14EA-F11B-4F3A-8CA3-7D5D773BA0B1}" srcOrd="4" destOrd="0" presId="urn:microsoft.com/office/officeart/2005/8/layout/hierarchy1"/>
    <dgm:cxn modelId="{94185ED8-1E64-438E-88F1-748C590C8E21}" type="presParOf" srcId="{5B1F85A0-28C5-4138-8190-D2D61663C280}" destId="{9AC6A469-959D-42B6-8143-B8732A954888}" srcOrd="5" destOrd="0" presId="urn:microsoft.com/office/officeart/2005/8/layout/hierarchy1"/>
    <dgm:cxn modelId="{9BA26E7A-B91D-447D-97B4-46E681E52BD3}" type="presParOf" srcId="{9AC6A469-959D-42B6-8143-B8732A954888}" destId="{B11332E2-DC67-458D-A6A6-25064508B255}" srcOrd="0" destOrd="0" presId="urn:microsoft.com/office/officeart/2005/8/layout/hierarchy1"/>
    <dgm:cxn modelId="{C4134A29-2643-45CE-957D-0A0259E8D10C}" type="presParOf" srcId="{B11332E2-DC67-458D-A6A6-25064508B255}" destId="{2F11B5FF-7555-4546-A79B-A6E4923430BD}" srcOrd="0" destOrd="0" presId="urn:microsoft.com/office/officeart/2005/8/layout/hierarchy1"/>
    <dgm:cxn modelId="{D983B031-7BC9-4550-BDE7-85D878F739F4}" type="presParOf" srcId="{B11332E2-DC67-458D-A6A6-25064508B255}" destId="{6380712D-8694-4073-B8B9-AF436C38F1AB}" srcOrd="1" destOrd="0" presId="urn:microsoft.com/office/officeart/2005/8/layout/hierarchy1"/>
    <dgm:cxn modelId="{B48011A2-7C90-4257-86F7-F8813A26C331}" type="presParOf" srcId="{9AC6A469-959D-42B6-8143-B8732A954888}" destId="{08B70C2B-D327-4C5E-A576-F1F56F7B6FEE}" srcOrd="1" destOrd="0" presId="urn:microsoft.com/office/officeart/2005/8/layout/hierarchy1"/>
    <dgm:cxn modelId="{09B60943-2647-416A-9E71-8A1E90D22677}" type="presParOf" srcId="{08B70C2B-D327-4C5E-A576-F1F56F7B6FEE}" destId="{5899BDED-E37C-4A8A-B4DB-6176A3BBD019}" srcOrd="0" destOrd="0" presId="urn:microsoft.com/office/officeart/2005/8/layout/hierarchy1"/>
    <dgm:cxn modelId="{C9420306-B086-4B63-994C-C566CD8162B0}" type="presParOf" srcId="{08B70C2B-D327-4C5E-A576-F1F56F7B6FEE}" destId="{C139C93F-CA05-4D20-820A-429F94309AD2}" srcOrd="1" destOrd="0" presId="urn:microsoft.com/office/officeart/2005/8/layout/hierarchy1"/>
    <dgm:cxn modelId="{03C8686A-015B-41B5-BBA6-2563E3FB613D}" type="presParOf" srcId="{C139C93F-CA05-4D20-820A-429F94309AD2}" destId="{6DE33F98-1B5D-4CA3-8073-6A270F35AF3A}" srcOrd="0" destOrd="0" presId="urn:microsoft.com/office/officeart/2005/8/layout/hierarchy1"/>
    <dgm:cxn modelId="{FD91BBE2-1862-4E75-88E5-095B723DD726}" type="presParOf" srcId="{6DE33F98-1B5D-4CA3-8073-6A270F35AF3A}" destId="{91F28EF6-A702-405D-9330-610A7233FC3D}" srcOrd="0" destOrd="0" presId="urn:microsoft.com/office/officeart/2005/8/layout/hierarchy1"/>
    <dgm:cxn modelId="{AE541E01-93EB-461D-89E6-62C460AF0C7F}" type="presParOf" srcId="{6DE33F98-1B5D-4CA3-8073-6A270F35AF3A}" destId="{4A6E1B46-52F4-404D-8DC0-DA30A07EE61A}" srcOrd="1" destOrd="0" presId="urn:microsoft.com/office/officeart/2005/8/layout/hierarchy1"/>
    <dgm:cxn modelId="{31C92BD3-7421-4E2A-9F12-33B0AC6C0871}" type="presParOf" srcId="{C139C93F-CA05-4D20-820A-429F94309AD2}" destId="{26D4533F-E8A1-40E3-8388-24BDEBB5A661}" srcOrd="1" destOrd="0" presId="urn:microsoft.com/office/officeart/2005/8/layout/hierarchy1"/>
    <dgm:cxn modelId="{F5A06BFE-B372-49FF-B158-51D784D63DB7}" type="presParOf" srcId="{08B70C2B-D327-4C5E-A576-F1F56F7B6FEE}" destId="{6B268C31-385E-49AA-82B0-40856527895E}" srcOrd="2" destOrd="0" presId="urn:microsoft.com/office/officeart/2005/8/layout/hierarchy1"/>
    <dgm:cxn modelId="{3CAC547D-2DFF-4417-8F1A-D8AACB9595F7}" type="presParOf" srcId="{08B70C2B-D327-4C5E-A576-F1F56F7B6FEE}" destId="{1940EEE1-ADC7-4A51-BBAC-D11EB0A0C2A0}" srcOrd="3" destOrd="0" presId="urn:microsoft.com/office/officeart/2005/8/layout/hierarchy1"/>
    <dgm:cxn modelId="{28C1AE73-7C10-4925-A35D-11357C7EEEC0}" type="presParOf" srcId="{1940EEE1-ADC7-4A51-BBAC-D11EB0A0C2A0}" destId="{49FD22ED-9DA4-425F-BB7F-F6B8D25AF1E6}" srcOrd="0" destOrd="0" presId="urn:microsoft.com/office/officeart/2005/8/layout/hierarchy1"/>
    <dgm:cxn modelId="{5C98BEFD-E92E-4B29-A41A-F69E629E6A46}" type="presParOf" srcId="{49FD22ED-9DA4-425F-BB7F-F6B8D25AF1E6}" destId="{2C342227-5416-41B1-A4C2-0C0A975393E3}" srcOrd="0" destOrd="0" presId="urn:microsoft.com/office/officeart/2005/8/layout/hierarchy1"/>
    <dgm:cxn modelId="{2CF7D56C-9210-4A2A-9604-E39DDBC547DE}" type="presParOf" srcId="{49FD22ED-9DA4-425F-BB7F-F6B8D25AF1E6}" destId="{664AFC97-7F4C-46CA-86E0-A0753166A2AB}" srcOrd="1" destOrd="0" presId="urn:microsoft.com/office/officeart/2005/8/layout/hierarchy1"/>
    <dgm:cxn modelId="{D71EF9EB-1761-4DDD-AC62-DCD4C8D72B53}" type="presParOf" srcId="{1940EEE1-ADC7-4A51-BBAC-D11EB0A0C2A0}" destId="{2E8B7E0B-B47F-4284-84DB-71476BF5586D}" srcOrd="1" destOrd="0" presId="urn:microsoft.com/office/officeart/2005/8/layout/hierarchy1"/>
    <dgm:cxn modelId="{94A6D876-6527-4D5A-8014-F948D19F7A85}" type="presParOf" srcId="{08B70C2B-D327-4C5E-A576-F1F56F7B6FEE}" destId="{85B19E51-18F1-4396-BF45-007C0D1A5BFB}" srcOrd="4" destOrd="0" presId="urn:microsoft.com/office/officeart/2005/8/layout/hierarchy1"/>
    <dgm:cxn modelId="{2E818048-CF56-4B23-9BD0-4B7125A5BDA9}" type="presParOf" srcId="{08B70C2B-D327-4C5E-A576-F1F56F7B6FEE}" destId="{6BB95254-D464-4D2F-AE94-F956ADA4DBFC}" srcOrd="5" destOrd="0" presId="urn:microsoft.com/office/officeart/2005/8/layout/hierarchy1"/>
    <dgm:cxn modelId="{646F273B-8024-42EA-AE8F-150A15AEC153}" type="presParOf" srcId="{6BB95254-D464-4D2F-AE94-F956ADA4DBFC}" destId="{59F0B0FF-E468-45E9-B5ED-2587C6B7C4E5}" srcOrd="0" destOrd="0" presId="urn:microsoft.com/office/officeart/2005/8/layout/hierarchy1"/>
    <dgm:cxn modelId="{506FF0C0-E728-408D-B68A-4AFDF33B25D6}" type="presParOf" srcId="{59F0B0FF-E468-45E9-B5ED-2587C6B7C4E5}" destId="{73A01E18-7F91-4C9E-BC4B-B0885DBDA959}" srcOrd="0" destOrd="0" presId="urn:microsoft.com/office/officeart/2005/8/layout/hierarchy1"/>
    <dgm:cxn modelId="{E8921AB5-81DF-4871-9C34-2D78F8B987A8}" type="presParOf" srcId="{59F0B0FF-E468-45E9-B5ED-2587C6B7C4E5}" destId="{41F997C3-65D4-4A0F-9CBE-2316DFDD2CC8}" srcOrd="1" destOrd="0" presId="urn:microsoft.com/office/officeart/2005/8/layout/hierarchy1"/>
    <dgm:cxn modelId="{D2C2AED1-4FAF-44D4-9F17-FB6EC850CC31}" type="presParOf" srcId="{6BB95254-D464-4D2F-AE94-F956ADA4DBFC}" destId="{C3EB30E0-2ADF-437F-B341-503B125E5F94}" srcOrd="1" destOrd="0" presId="urn:microsoft.com/office/officeart/2005/8/layout/hierarchy1"/>
    <dgm:cxn modelId="{A3455213-112C-445F-B1F3-CC972C559571}" type="presParOf" srcId="{08B70C2B-D327-4C5E-A576-F1F56F7B6FEE}" destId="{A1923EDC-8D23-4906-8E92-FCC7B68BB026}" srcOrd="6" destOrd="0" presId="urn:microsoft.com/office/officeart/2005/8/layout/hierarchy1"/>
    <dgm:cxn modelId="{AFAECA64-727C-402C-A461-AC22CBB3EB49}" type="presParOf" srcId="{08B70C2B-D327-4C5E-A576-F1F56F7B6FEE}" destId="{30CBA257-8025-4C52-93AF-B3F0C83D52E4}" srcOrd="7" destOrd="0" presId="urn:microsoft.com/office/officeart/2005/8/layout/hierarchy1"/>
    <dgm:cxn modelId="{FA89C544-0C03-4CDC-8CE8-CBCE3B9F73EE}" type="presParOf" srcId="{30CBA257-8025-4C52-93AF-B3F0C83D52E4}" destId="{3B23FDD7-91D6-4DD9-A040-78EAB8443372}" srcOrd="0" destOrd="0" presId="urn:microsoft.com/office/officeart/2005/8/layout/hierarchy1"/>
    <dgm:cxn modelId="{E5FD00EB-8EF6-44CE-855C-5C56EBB193BC}" type="presParOf" srcId="{3B23FDD7-91D6-4DD9-A040-78EAB8443372}" destId="{56F8BE59-2822-4F06-9597-5F91002399D0}" srcOrd="0" destOrd="0" presId="urn:microsoft.com/office/officeart/2005/8/layout/hierarchy1"/>
    <dgm:cxn modelId="{9FCAFCAD-F5AF-4EBC-A25D-FF8DC0943858}" type="presParOf" srcId="{3B23FDD7-91D6-4DD9-A040-78EAB8443372}" destId="{276B8F14-DD1E-41FE-8613-DDB37E63E49F}" srcOrd="1" destOrd="0" presId="urn:microsoft.com/office/officeart/2005/8/layout/hierarchy1"/>
    <dgm:cxn modelId="{6BD38352-F173-4430-80C5-1EAF88AAC70D}" type="presParOf" srcId="{30CBA257-8025-4C52-93AF-B3F0C83D52E4}" destId="{327AF915-1202-4315-A958-930A7804C265}" srcOrd="1" destOrd="0" presId="urn:microsoft.com/office/officeart/2005/8/layout/hierarchy1"/>
    <dgm:cxn modelId="{CCAFC53F-607C-4991-A833-9C0E64E4A324}" type="presParOf" srcId="{5B1F85A0-28C5-4138-8190-D2D61663C280}" destId="{F8252597-8F45-441A-8232-A4866C656726}" srcOrd="6" destOrd="0" presId="urn:microsoft.com/office/officeart/2005/8/layout/hierarchy1"/>
    <dgm:cxn modelId="{647F267E-D60C-42CC-8EEC-64EA98C94D45}" type="presParOf" srcId="{5B1F85A0-28C5-4138-8190-D2D61663C280}" destId="{D85D3250-A915-497F-ADD8-18C65F5F35C9}" srcOrd="7" destOrd="0" presId="urn:microsoft.com/office/officeart/2005/8/layout/hierarchy1"/>
    <dgm:cxn modelId="{FE21ABAE-83A3-4499-829B-DA7A1D6DC4F3}" type="presParOf" srcId="{D85D3250-A915-497F-ADD8-18C65F5F35C9}" destId="{148CD206-F041-4073-9FF4-EE4F785EE08D}" srcOrd="0" destOrd="0" presId="urn:microsoft.com/office/officeart/2005/8/layout/hierarchy1"/>
    <dgm:cxn modelId="{F9D0E4E3-2496-44CD-BAC1-1DC490B3ABDC}" type="presParOf" srcId="{148CD206-F041-4073-9FF4-EE4F785EE08D}" destId="{EBF8A63C-93C7-4A42-8939-B78EA508637D}" srcOrd="0" destOrd="0" presId="urn:microsoft.com/office/officeart/2005/8/layout/hierarchy1"/>
    <dgm:cxn modelId="{DD2C9ADB-FD09-4749-8EB1-CB7BB27209A4}" type="presParOf" srcId="{148CD206-F041-4073-9FF4-EE4F785EE08D}" destId="{779A3EAF-04D2-4C01-9BE7-C63D615EF3A2}" srcOrd="1" destOrd="0" presId="urn:microsoft.com/office/officeart/2005/8/layout/hierarchy1"/>
    <dgm:cxn modelId="{6D2FCBC0-FAE6-4AC2-BC8A-F3DC646EF843}" type="presParOf" srcId="{D85D3250-A915-497F-ADD8-18C65F5F35C9}" destId="{4C90F1E7-2A6A-46F4-8901-2D1143EB3846}" srcOrd="1" destOrd="0" presId="urn:microsoft.com/office/officeart/2005/8/layout/hierarchy1"/>
    <dgm:cxn modelId="{B708E3E4-9ABF-490C-8691-ECB5754F7BE0}" type="presParOf" srcId="{5B1F85A0-28C5-4138-8190-D2D61663C280}" destId="{31AF19AD-44CF-4B4B-BE1A-2448F309027B}" srcOrd="8" destOrd="0" presId="urn:microsoft.com/office/officeart/2005/8/layout/hierarchy1"/>
    <dgm:cxn modelId="{5FFD4FDD-3E1C-4B59-A8C2-EA5DD3B8C151}" type="presParOf" srcId="{5B1F85A0-28C5-4138-8190-D2D61663C280}" destId="{83C80489-22B1-45FB-B1AE-28C7AEAAA7A0}" srcOrd="9" destOrd="0" presId="urn:microsoft.com/office/officeart/2005/8/layout/hierarchy1"/>
    <dgm:cxn modelId="{732FFA29-D033-4912-8DBA-363CF19A9855}" type="presParOf" srcId="{83C80489-22B1-45FB-B1AE-28C7AEAAA7A0}" destId="{014F15F3-10EA-413A-97F4-36F2D5993E98}" srcOrd="0" destOrd="0" presId="urn:microsoft.com/office/officeart/2005/8/layout/hierarchy1"/>
    <dgm:cxn modelId="{F3F8AAE7-BD8F-49C6-A448-5A3857796B4C}" type="presParOf" srcId="{014F15F3-10EA-413A-97F4-36F2D5993E98}" destId="{9BB83F59-11B3-4746-97DB-495D832256C1}" srcOrd="0" destOrd="0" presId="urn:microsoft.com/office/officeart/2005/8/layout/hierarchy1"/>
    <dgm:cxn modelId="{22B0FCF3-3A81-4E59-8A81-58F67B931D56}" type="presParOf" srcId="{014F15F3-10EA-413A-97F4-36F2D5993E98}" destId="{46F9C806-A5EA-443E-B237-B379645F94A5}" srcOrd="1" destOrd="0" presId="urn:microsoft.com/office/officeart/2005/8/layout/hierarchy1"/>
    <dgm:cxn modelId="{E4F84B51-12DA-437C-8541-218C714B9F59}" type="presParOf" srcId="{83C80489-22B1-45FB-B1AE-28C7AEAAA7A0}" destId="{ECF015A9-1616-44A2-9CEE-74E3036BCE42}" srcOrd="1" destOrd="0" presId="urn:microsoft.com/office/officeart/2005/8/layout/hierarchy1"/>
    <dgm:cxn modelId="{6AAF5DE7-646C-4698-A960-D6EAB117A169}" type="presParOf" srcId="{5B1F85A0-28C5-4138-8190-D2D61663C280}" destId="{D98D8F3F-D27F-4CC0-8946-2E89D1D2995D}" srcOrd="10" destOrd="0" presId="urn:microsoft.com/office/officeart/2005/8/layout/hierarchy1"/>
    <dgm:cxn modelId="{BA3AFEFC-3E9A-42E5-940D-32702EAC892B}" type="presParOf" srcId="{5B1F85A0-28C5-4138-8190-D2D61663C280}" destId="{88128B4E-5FBB-44BE-9BF5-32192ABDFF54}" srcOrd="11" destOrd="0" presId="urn:microsoft.com/office/officeart/2005/8/layout/hierarchy1"/>
    <dgm:cxn modelId="{781458C2-EE5C-48DF-97CE-868B4A53AE0F}" type="presParOf" srcId="{88128B4E-5FBB-44BE-9BF5-32192ABDFF54}" destId="{B3353464-BB4C-42F9-B1C9-CE5CECE9046D}" srcOrd="0" destOrd="0" presId="urn:microsoft.com/office/officeart/2005/8/layout/hierarchy1"/>
    <dgm:cxn modelId="{64E7EB7F-C79B-4CFA-8644-41CE003C5E15}" type="presParOf" srcId="{B3353464-BB4C-42F9-B1C9-CE5CECE9046D}" destId="{9A182B59-659E-438A-AA5B-3A6952C28F25}" srcOrd="0" destOrd="0" presId="urn:microsoft.com/office/officeart/2005/8/layout/hierarchy1"/>
    <dgm:cxn modelId="{37A79869-8EA7-4D2C-957C-85957AE8DD0C}" type="presParOf" srcId="{B3353464-BB4C-42F9-B1C9-CE5CECE9046D}" destId="{6C32B300-71C8-476A-B9CC-08105D908D46}" srcOrd="1" destOrd="0" presId="urn:microsoft.com/office/officeart/2005/8/layout/hierarchy1"/>
    <dgm:cxn modelId="{3A76F290-72CB-4090-BE83-26A2C9C4158B}" type="presParOf" srcId="{88128B4E-5FBB-44BE-9BF5-32192ABDFF54}" destId="{74EE96DB-F889-485E-84E3-597A7B895A0B}" srcOrd="1" destOrd="0" presId="urn:microsoft.com/office/officeart/2005/8/layout/hierarchy1"/>
    <dgm:cxn modelId="{CC81974F-EA4A-4231-974B-2752B44D56F2}" type="presParOf" srcId="{74EE96DB-F889-485E-84E3-597A7B895A0B}" destId="{D347C732-3277-42FE-952A-25CDA210ADA9}" srcOrd="0" destOrd="0" presId="urn:microsoft.com/office/officeart/2005/8/layout/hierarchy1"/>
    <dgm:cxn modelId="{813AE701-63E1-4B4D-A542-B809582F2AEE}" type="presParOf" srcId="{74EE96DB-F889-485E-84E3-597A7B895A0B}" destId="{C53191A3-6F32-4CC3-86E5-6C0D0052918E}" srcOrd="1" destOrd="0" presId="urn:microsoft.com/office/officeart/2005/8/layout/hierarchy1"/>
    <dgm:cxn modelId="{B078AE99-C13E-4D66-B8AA-2F6B0D620908}" type="presParOf" srcId="{C53191A3-6F32-4CC3-86E5-6C0D0052918E}" destId="{52E0B792-464A-4CE3-A8E1-DB7E0423F9A8}" srcOrd="0" destOrd="0" presId="urn:microsoft.com/office/officeart/2005/8/layout/hierarchy1"/>
    <dgm:cxn modelId="{DCF31BD2-1B3F-4EA4-80DF-BDF7A2746852}" type="presParOf" srcId="{52E0B792-464A-4CE3-A8E1-DB7E0423F9A8}" destId="{C8A30697-94D1-45EE-9BB8-8DD952B52D6C}" srcOrd="0" destOrd="0" presId="urn:microsoft.com/office/officeart/2005/8/layout/hierarchy1"/>
    <dgm:cxn modelId="{356F2DB9-C514-4B29-A807-BAD69151D7B9}" type="presParOf" srcId="{52E0B792-464A-4CE3-A8E1-DB7E0423F9A8}" destId="{08319EE7-B415-4B70-91BF-9743AFBA4906}" srcOrd="1" destOrd="0" presId="urn:microsoft.com/office/officeart/2005/8/layout/hierarchy1"/>
    <dgm:cxn modelId="{B0E050EC-78BB-4F08-8061-E033A22CB488}" type="presParOf" srcId="{C53191A3-6F32-4CC3-86E5-6C0D0052918E}" destId="{D27048B6-CA0E-4CF2-BB30-5A339D1C359E}" srcOrd="1" destOrd="0" presId="urn:microsoft.com/office/officeart/2005/8/layout/hierarchy1"/>
    <dgm:cxn modelId="{C2ECF198-89F2-4690-A329-ECFE4246FA1B}" type="presParOf" srcId="{74EE96DB-F889-485E-84E3-597A7B895A0B}" destId="{EE0639A7-6287-47A6-90EF-395B93110EB4}" srcOrd="2" destOrd="0" presId="urn:microsoft.com/office/officeart/2005/8/layout/hierarchy1"/>
    <dgm:cxn modelId="{FA3C9C4E-B0F5-4F82-A9FF-71BEF8BAA85E}" type="presParOf" srcId="{74EE96DB-F889-485E-84E3-597A7B895A0B}" destId="{37AFB1E1-985B-4C48-A187-A1252D19F111}" srcOrd="3" destOrd="0" presId="urn:microsoft.com/office/officeart/2005/8/layout/hierarchy1"/>
    <dgm:cxn modelId="{4341292A-C7E2-40F5-A352-FB399F688D39}" type="presParOf" srcId="{37AFB1E1-985B-4C48-A187-A1252D19F111}" destId="{692B26FD-A955-4E53-B685-48F2D147CB24}" srcOrd="0" destOrd="0" presId="urn:microsoft.com/office/officeart/2005/8/layout/hierarchy1"/>
    <dgm:cxn modelId="{9AEF7DE8-21CF-4C7D-B755-7CB015A9BBA7}" type="presParOf" srcId="{692B26FD-A955-4E53-B685-48F2D147CB24}" destId="{30F363D5-6A69-4831-836E-177A846ABBE2}" srcOrd="0" destOrd="0" presId="urn:microsoft.com/office/officeart/2005/8/layout/hierarchy1"/>
    <dgm:cxn modelId="{F4589379-1EC9-4CCF-B924-D162E3E26C23}" type="presParOf" srcId="{692B26FD-A955-4E53-B685-48F2D147CB24}" destId="{BB0FD495-97F0-4CA1-8B86-4C448FC91248}" srcOrd="1" destOrd="0" presId="urn:microsoft.com/office/officeart/2005/8/layout/hierarchy1"/>
    <dgm:cxn modelId="{ED96338C-5F00-4851-B21B-68B2014162AA}" type="presParOf" srcId="{37AFB1E1-985B-4C48-A187-A1252D19F111}" destId="{C9AB377B-1531-4E98-936C-78C3BD2C1649}" srcOrd="1" destOrd="0" presId="urn:microsoft.com/office/officeart/2005/8/layout/hierarchy1"/>
    <dgm:cxn modelId="{EB60D7D6-261D-4A42-81D5-D13F1BA62177}" type="presParOf" srcId="{74EE96DB-F889-485E-84E3-597A7B895A0B}" destId="{6E153975-726F-4814-AE50-E64F49151B86}" srcOrd="4" destOrd="0" presId="urn:microsoft.com/office/officeart/2005/8/layout/hierarchy1"/>
    <dgm:cxn modelId="{0D7837A0-7570-4F9C-B08E-F3A2562AB858}" type="presParOf" srcId="{74EE96DB-F889-485E-84E3-597A7B895A0B}" destId="{636C049C-85DE-460E-BD09-0B26BE889CFE}" srcOrd="5" destOrd="0" presId="urn:microsoft.com/office/officeart/2005/8/layout/hierarchy1"/>
    <dgm:cxn modelId="{AE546972-5AD5-4452-8F12-CF05805B1771}" type="presParOf" srcId="{636C049C-85DE-460E-BD09-0B26BE889CFE}" destId="{6A315BAE-C065-456A-9159-F1BAE99AAE97}" srcOrd="0" destOrd="0" presId="urn:microsoft.com/office/officeart/2005/8/layout/hierarchy1"/>
    <dgm:cxn modelId="{80C86C81-A866-4069-BCE2-71FCF059EA15}" type="presParOf" srcId="{6A315BAE-C065-456A-9159-F1BAE99AAE97}" destId="{C5345F1C-226A-4973-B272-787412EEF783}" srcOrd="0" destOrd="0" presId="urn:microsoft.com/office/officeart/2005/8/layout/hierarchy1"/>
    <dgm:cxn modelId="{35B0BD3F-5586-418F-80B6-832CE98DE019}" type="presParOf" srcId="{6A315BAE-C065-456A-9159-F1BAE99AAE97}" destId="{6B2419C0-F0F9-4D05-BEDF-9F987880C2E0}" srcOrd="1" destOrd="0" presId="urn:microsoft.com/office/officeart/2005/8/layout/hierarchy1"/>
    <dgm:cxn modelId="{9226C85D-3AE7-45B8-B344-CAE148FED1C5}" type="presParOf" srcId="{636C049C-85DE-460E-BD09-0B26BE889CFE}" destId="{6D9D23FC-3F3D-4D69-9102-F62326DD0002}" srcOrd="1" destOrd="0" presId="urn:microsoft.com/office/officeart/2005/8/layout/hierarchy1"/>
    <dgm:cxn modelId="{3FC732D8-45FF-41D0-99F3-3EAE9D00A432}" type="presParOf" srcId="{74EE96DB-F889-485E-84E3-597A7B895A0B}" destId="{CE4EBA2C-7C42-4D58-AF64-01136AB16C2E}" srcOrd="6" destOrd="0" presId="urn:microsoft.com/office/officeart/2005/8/layout/hierarchy1"/>
    <dgm:cxn modelId="{C154E899-F794-41A2-8F06-90EB2C862675}" type="presParOf" srcId="{74EE96DB-F889-485E-84E3-597A7B895A0B}" destId="{8AD6550E-F3D7-413A-97C4-56E521CF304B}" srcOrd="7" destOrd="0" presId="urn:microsoft.com/office/officeart/2005/8/layout/hierarchy1"/>
    <dgm:cxn modelId="{8E6C1780-CA3B-4701-BA39-B5D440D23195}" type="presParOf" srcId="{8AD6550E-F3D7-413A-97C4-56E521CF304B}" destId="{08926F07-4C7C-41D8-AEDF-48D64DF719EA}" srcOrd="0" destOrd="0" presId="urn:microsoft.com/office/officeart/2005/8/layout/hierarchy1"/>
    <dgm:cxn modelId="{26DF24A9-BDEB-4B60-90D0-910167BDF674}" type="presParOf" srcId="{08926F07-4C7C-41D8-AEDF-48D64DF719EA}" destId="{F7FDDE19-2B44-4258-8BF4-FB8AA10DBFD8}" srcOrd="0" destOrd="0" presId="urn:microsoft.com/office/officeart/2005/8/layout/hierarchy1"/>
    <dgm:cxn modelId="{A3CB81DF-8A39-4810-92AE-9DDA061AC63D}" type="presParOf" srcId="{08926F07-4C7C-41D8-AEDF-48D64DF719EA}" destId="{73BA5E39-F8F3-4E0C-A84C-FECC2FB2CAB3}" srcOrd="1" destOrd="0" presId="urn:microsoft.com/office/officeart/2005/8/layout/hierarchy1"/>
    <dgm:cxn modelId="{2CAC19E4-9CFD-4B39-AE78-43C4DEAF23F6}" type="presParOf" srcId="{8AD6550E-F3D7-413A-97C4-56E521CF304B}" destId="{2895A7F4-2632-4A0B-98E6-F74BCDAEB12E}" srcOrd="1" destOrd="0" presId="urn:microsoft.com/office/officeart/2005/8/layout/hierarchy1"/>
    <dgm:cxn modelId="{A416C259-6CE9-4620-AFE9-65D31DF4B5E9}" type="presParOf" srcId="{5B1F85A0-28C5-4138-8190-D2D61663C280}" destId="{35A281B5-63C6-4021-BF8D-EBEEBE69B898}" srcOrd="12" destOrd="0" presId="urn:microsoft.com/office/officeart/2005/8/layout/hierarchy1"/>
    <dgm:cxn modelId="{CBE98B1F-23E6-44CD-A2FE-A13C261A3CF8}" type="presParOf" srcId="{5B1F85A0-28C5-4138-8190-D2D61663C280}" destId="{D436EFEC-C4E5-492C-943F-1B4F49203476}" srcOrd="13" destOrd="0" presId="urn:microsoft.com/office/officeart/2005/8/layout/hierarchy1"/>
    <dgm:cxn modelId="{67DBC88E-B58C-4BEE-8EF1-946465E9B62D}" type="presParOf" srcId="{D436EFEC-C4E5-492C-943F-1B4F49203476}" destId="{5F1E3E84-0D64-407E-BDCB-CB720CD31438}" srcOrd="0" destOrd="0" presId="urn:microsoft.com/office/officeart/2005/8/layout/hierarchy1"/>
    <dgm:cxn modelId="{D1E314D0-525B-44DB-99A1-2B7A50A53BC6}" type="presParOf" srcId="{5F1E3E84-0D64-407E-BDCB-CB720CD31438}" destId="{A602CB2D-F69C-4C23-AB12-CB84550207AE}" srcOrd="0" destOrd="0" presId="urn:microsoft.com/office/officeart/2005/8/layout/hierarchy1"/>
    <dgm:cxn modelId="{1EE2D6EB-1305-41DE-8911-656B06D0DB55}" type="presParOf" srcId="{5F1E3E84-0D64-407E-BDCB-CB720CD31438}" destId="{AFD75E98-B7BF-45EF-99AD-B8D557A43512}" srcOrd="1" destOrd="0" presId="urn:microsoft.com/office/officeart/2005/8/layout/hierarchy1"/>
    <dgm:cxn modelId="{B17DBAEA-43CF-4008-92EC-4BF0A5B3EB4A}" type="presParOf" srcId="{D436EFEC-C4E5-492C-943F-1B4F49203476}" destId="{FD7C775A-9038-4CC1-A479-1B387DFEAA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281B5-63C6-4021-BF8D-EBEEBE69B898}">
      <dsp:nvSpPr>
        <dsp:cNvPr id="0" name=""/>
        <dsp:cNvSpPr/>
      </dsp:nvSpPr>
      <dsp:spPr>
        <a:xfrm>
          <a:off x="5289170" y="1635776"/>
          <a:ext cx="4732077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4732077" y="219242"/>
              </a:lnTo>
              <a:lnTo>
                <a:pt x="4732077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4EBA2C-7C42-4D58-AF64-01136AB16C2E}">
      <dsp:nvSpPr>
        <dsp:cNvPr id="0" name=""/>
        <dsp:cNvSpPr/>
      </dsp:nvSpPr>
      <dsp:spPr>
        <a:xfrm>
          <a:off x="8669226" y="2659933"/>
          <a:ext cx="2028033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2028033" y="219242"/>
              </a:lnTo>
              <a:lnTo>
                <a:pt x="2028033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53975-726F-4814-AE50-E64F49151B86}">
      <dsp:nvSpPr>
        <dsp:cNvPr id="0" name=""/>
        <dsp:cNvSpPr/>
      </dsp:nvSpPr>
      <dsp:spPr>
        <a:xfrm>
          <a:off x="8669226" y="2659933"/>
          <a:ext cx="676011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676011" y="219242"/>
              </a:lnTo>
              <a:lnTo>
                <a:pt x="676011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0639A7-6287-47A6-90EF-395B93110EB4}">
      <dsp:nvSpPr>
        <dsp:cNvPr id="0" name=""/>
        <dsp:cNvSpPr/>
      </dsp:nvSpPr>
      <dsp:spPr>
        <a:xfrm>
          <a:off x="7993215" y="2659933"/>
          <a:ext cx="676011" cy="321719"/>
        </a:xfrm>
        <a:custGeom>
          <a:avLst/>
          <a:gdLst/>
          <a:ahLst/>
          <a:cxnLst/>
          <a:rect l="0" t="0" r="0" b="0"/>
          <a:pathLst>
            <a:path>
              <a:moveTo>
                <a:pt x="676011" y="0"/>
              </a:moveTo>
              <a:lnTo>
                <a:pt x="676011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47C732-3277-42FE-952A-25CDA210ADA9}">
      <dsp:nvSpPr>
        <dsp:cNvPr id="0" name=""/>
        <dsp:cNvSpPr/>
      </dsp:nvSpPr>
      <dsp:spPr>
        <a:xfrm>
          <a:off x="6641193" y="2659933"/>
          <a:ext cx="2028033" cy="321719"/>
        </a:xfrm>
        <a:custGeom>
          <a:avLst/>
          <a:gdLst/>
          <a:ahLst/>
          <a:cxnLst/>
          <a:rect l="0" t="0" r="0" b="0"/>
          <a:pathLst>
            <a:path>
              <a:moveTo>
                <a:pt x="2028033" y="0"/>
              </a:moveTo>
              <a:lnTo>
                <a:pt x="2028033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8D8F3F-D27F-4CC0-8946-2E89D1D2995D}">
      <dsp:nvSpPr>
        <dsp:cNvPr id="0" name=""/>
        <dsp:cNvSpPr/>
      </dsp:nvSpPr>
      <dsp:spPr>
        <a:xfrm>
          <a:off x="5289170" y="1635776"/>
          <a:ext cx="3380055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3380055" y="219242"/>
              </a:lnTo>
              <a:lnTo>
                <a:pt x="3380055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AF19AD-44CF-4B4B-BE1A-2448F309027B}">
      <dsp:nvSpPr>
        <dsp:cNvPr id="0" name=""/>
        <dsp:cNvSpPr/>
      </dsp:nvSpPr>
      <dsp:spPr>
        <a:xfrm>
          <a:off x="5289170" y="1635776"/>
          <a:ext cx="676011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676011" y="219242"/>
              </a:lnTo>
              <a:lnTo>
                <a:pt x="676011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52597-8F45-441A-8232-A4866C656726}">
      <dsp:nvSpPr>
        <dsp:cNvPr id="0" name=""/>
        <dsp:cNvSpPr/>
      </dsp:nvSpPr>
      <dsp:spPr>
        <a:xfrm>
          <a:off x="4613159" y="1635776"/>
          <a:ext cx="676011" cy="321719"/>
        </a:xfrm>
        <a:custGeom>
          <a:avLst/>
          <a:gdLst/>
          <a:ahLst/>
          <a:cxnLst/>
          <a:rect l="0" t="0" r="0" b="0"/>
          <a:pathLst>
            <a:path>
              <a:moveTo>
                <a:pt x="676011" y="0"/>
              </a:moveTo>
              <a:lnTo>
                <a:pt x="676011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923EDC-8D23-4906-8E92-FCC7B68BB026}">
      <dsp:nvSpPr>
        <dsp:cNvPr id="0" name=""/>
        <dsp:cNvSpPr/>
      </dsp:nvSpPr>
      <dsp:spPr>
        <a:xfrm>
          <a:off x="3261137" y="2659933"/>
          <a:ext cx="2028033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2028033" y="219242"/>
              </a:lnTo>
              <a:lnTo>
                <a:pt x="2028033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B19E51-18F1-4396-BF45-007C0D1A5BFB}">
      <dsp:nvSpPr>
        <dsp:cNvPr id="0" name=""/>
        <dsp:cNvSpPr/>
      </dsp:nvSpPr>
      <dsp:spPr>
        <a:xfrm>
          <a:off x="3261137" y="2659933"/>
          <a:ext cx="676011" cy="321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242"/>
              </a:lnTo>
              <a:lnTo>
                <a:pt x="676011" y="219242"/>
              </a:lnTo>
              <a:lnTo>
                <a:pt x="676011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268C31-385E-49AA-82B0-40856527895E}">
      <dsp:nvSpPr>
        <dsp:cNvPr id="0" name=""/>
        <dsp:cNvSpPr/>
      </dsp:nvSpPr>
      <dsp:spPr>
        <a:xfrm>
          <a:off x="2585126" y="2659933"/>
          <a:ext cx="676011" cy="321719"/>
        </a:xfrm>
        <a:custGeom>
          <a:avLst/>
          <a:gdLst/>
          <a:ahLst/>
          <a:cxnLst/>
          <a:rect l="0" t="0" r="0" b="0"/>
          <a:pathLst>
            <a:path>
              <a:moveTo>
                <a:pt x="676011" y="0"/>
              </a:moveTo>
              <a:lnTo>
                <a:pt x="676011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99BDED-E37C-4A8A-B4DB-6176A3BBD019}">
      <dsp:nvSpPr>
        <dsp:cNvPr id="0" name=""/>
        <dsp:cNvSpPr/>
      </dsp:nvSpPr>
      <dsp:spPr>
        <a:xfrm>
          <a:off x="1233104" y="2659933"/>
          <a:ext cx="2028033" cy="321719"/>
        </a:xfrm>
        <a:custGeom>
          <a:avLst/>
          <a:gdLst/>
          <a:ahLst/>
          <a:cxnLst/>
          <a:rect l="0" t="0" r="0" b="0"/>
          <a:pathLst>
            <a:path>
              <a:moveTo>
                <a:pt x="2028033" y="0"/>
              </a:moveTo>
              <a:lnTo>
                <a:pt x="2028033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A14EA-F11B-4F3A-8CA3-7D5D773BA0B1}">
      <dsp:nvSpPr>
        <dsp:cNvPr id="0" name=""/>
        <dsp:cNvSpPr/>
      </dsp:nvSpPr>
      <dsp:spPr>
        <a:xfrm>
          <a:off x="3261137" y="1635776"/>
          <a:ext cx="2028033" cy="321719"/>
        </a:xfrm>
        <a:custGeom>
          <a:avLst/>
          <a:gdLst/>
          <a:ahLst/>
          <a:cxnLst/>
          <a:rect l="0" t="0" r="0" b="0"/>
          <a:pathLst>
            <a:path>
              <a:moveTo>
                <a:pt x="2028033" y="0"/>
              </a:moveTo>
              <a:lnTo>
                <a:pt x="2028033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B4204-9EE1-4466-A220-F6248E6465CB}">
      <dsp:nvSpPr>
        <dsp:cNvPr id="0" name=""/>
        <dsp:cNvSpPr/>
      </dsp:nvSpPr>
      <dsp:spPr>
        <a:xfrm>
          <a:off x="1909115" y="1635776"/>
          <a:ext cx="3380055" cy="321719"/>
        </a:xfrm>
        <a:custGeom>
          <a:avLst/>
          <a:gdLst/>
          <a:ahLst/>
          <a:cxnLst/>
          <a:rect l="0" t="0" r="0" b="0"/>
          <a:pathLst>
            <a:path>
              <a:moveTo>
                <a:pt x="3380055" y="0"/>
              </a:moveTo>
              <a:lnTo>
                <a:pt x="3380055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808CB-D01D-444F-B206-74D669C0EA5E}">
      <dsp:nvSpPr>
        <dsp:cNvPr id="0" name=""/>
        <dsp:cNvSpPr/>
      </dsp:nvSpPr>
      <dsp:spPr>
        <a:xfrm>
          <a:off x="557092" y="1635776"/>
          <a:ext cx="4732077" cy="321719"/>
        </a:xfrm>
        <a:custGeom>
          <a:avLst/>
          <a:gdLst/>
          <a:ahLst/>
          <a:cxnLst/>
          <a:rect l="0" t="0" r="0" b="0"/>
          <a:pathLst>
            <a:path>
              <a:moveTo>
                <a:pt x="4732077" y="0"/>
              </a:moveTo>
              <a:lnTo>
                <a:pt x="4732077" y="219242"/>
              </a:lnTo>
              <a:lnTo>
                <a:pt x="0" y="219242"/>
              </a:lnTo>
              <a:lnTo>
                <a:pt x="0" y="32171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EA9A8A-3AD4-4029-AABC-E3E0F0735188}">
      <dsp:nvSpPr>
        <dsp:cNvPr id="0" name=""/>
        <dsp:cNvSpPr/>
      </dsp:nvSpPr>
      <dsp:spPr>
        <a:xfrm>
          <a:off x="4736070" y="933339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A64E1-BEA5-46D2-ABBA-49491C234240}">
      <dsp:nvSpPr>
        <dsp:cNvPr id="0" name=""/>
        <dsp:cNvSpPr/>
      </dsp:nvSpPr>
      <dsp:spPr>
        <a:xfrm>
          <a:off x="4858981" y="1050105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rgbClr val="FF0000"/>
              </a:solidFill>
            </a:rPr>
            <a:t>exception</a:t>
          </a:r>
          <a:endParaRPr lang="ru-RU" sz="1000" kern="1200" dirty="0">
            <a:solidFill>
              <a:srgbClr val="FF0000"/>
            </a:solidFill>
          </a:endParaRPr>
        </a:p>
      </dsp:txBody>
      <dsp:txXfrm>
        <a:off x="4879555" y="1070679"/>
        <a:ext cx="1065052" cy="661289"/>
      </dsp:txXfrm>
    </dsp:sp>
    <dsp:sp modelId="{C7A5C130-C500-4D5B-B87B-C13293C06B18}">
      <dsp:nvSpPr>
        <dsp:cNvPr id="0" name=""/>
        <dsp:cNvSpPr/>
      </dsp:nvSpPr>
      <dsp:spPr>
        <a:xfrm>
          <a:off x="3992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6E248-8972-4DB2-B896-4E170A606A18}">
      <dsp:nvSpPr>
        <dsp:cNvPr id="0" name=""/>
        <dsp:cNvSpPr/>
      </dsp:nvSpPr>
      <dsp:spPr>
        <a:xfrm>
          <a:off x="126903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ios_base</a:t>
          </a:r>
          <a:r>
            <a:rPr lang="en-US" sz="1000" kern="1200" dirty="0"/>
            <a:t>::failure</a:t>
          </a:r>
          <a:endParaRPr lang="ru-RU" sz="1000" kern="1200" dirty="0"/>
        </a:p>
      </dsp:txBody>
      <dsp:txXfrm>
        <a:off x="147477" y="2094836"/>
        <a:ext cx="1065052" cy="661289"/>
      </dsp:txXfrm>
    </dsp:sp>
    <dsp:sp modelId="{22BD0722-0B72-42E0-8330-B4C3CEEB5001}">
      <dsp:nvSpPr>
        <dsp:cNvPr id="0" name=""/>
        <dsp:cNvSpPr/>
      </dsp:nvSpPr>
      <dsp:spPr>
        <a:xfrm>
          <a:off x="1356015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F70D8-DDFD-4DE7-A89B-ACC41C2C5EFD}">
      <dsp:nvSpPr>
        <dsp:cNvPr id="0" name=""/>
        <dsp:cNvSpPr/>
      </dsp:nvSpPr>
      <dsp:spPr>
        <a:xfrm>
          <a:off x="1478926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bad_typeid</a:t>
          </a:r>
          <a:endParaRPr lang="ru-RU" sz="1000" kern="1200" dirty="0"/>
        </a:p>
      </dsp:txBody>
      <dsp:txXfrm>
        <a:off x="1499500" y="2094836"/>
        <a:ext cx="1065052" cy="661289"/>
      </dsp:txXfrm>
    </dsp:sp>
    <dsp:sp modelId="{2F11B5FF-7555-4546-A79B-A6E4923430BD}">
      <dsp:nvSpPr>
        <dsp:cNvPr id="0" name=""/>
        <dsp:cNvSpPr/>
      </dsp:nvSpPr>
      <dsp:spPr>
        <a:xfrm>
          <a:off x="2708037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0712D-8694-4073-B8B9-AF436C38F1AB}">
      <dsp:nvSpPr>
        <dsp:cNvPr id="0" name=""/>
        <dsp:cNvSpPr/>
      </dsp:nvSpPr>
      <dsp:spPr>
        <a:xfrm>
          <a:off x="2830948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>
              <a:solidFill>
                <a:srgbClr val="FF0000"/>
              </a:solidFill>
            </a:rPr>
            <a:t>logic_error</a:t>
          </a:r>
          <a:endParaRPr lang="ru-RU" sz="1000" b="1" kern="1200" dirty="0">
            <a:solidFill>
              <a:srgbClr val="FF0000"/>
            </a:solidFill>
          </a:endParaRPr>
        </a:p>
      </dsp:txBody>
      <dsp:txXfrm>
        <a:off x="2851522" y="2094836"/>
        <a:ext cx="1065052" cy="661289"/>
      </dsp:txXfrm>
    </dsp:sp>
    <dsp:sp modelId="{91F28EF6-A702-405D-9330-610A7233FC3D}">
      <dsp:nvSpPr>
        <dsp:cNvPr id="0" name=""/>
        <dsp:cNvSpPr/>
      </dsp:nvSpPr>
      <dsp:spPr>
        <a:xfrm>
          <a:off x="680004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E1B46-52F4-404D-8DC0-DA30A07EE61A}">
      <dsp:nvSpPr>
        <dsp:cNvPr id="0" name=""/>
        <dsp:cNvSpPr/>
      </dsp:nvSpPr>
      <dsp:spPr>
        <a:xfrm>
          <a:off x="802915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invalid_argument</a:t>
          </a:r>
          <a:endParaRPr lang="ru-RU" sz="1000" kern="1200"/>
        </a:p>
      </dsp:txBody>
      <dsp:txXfrm>
        <a:off x="823489" y="3118993"/>
        <a:ext cx="1065052" cy="661289"/>
      </dsp:txXfrm>
    </dsp:sp>
    <dsp:sp modelId="{2C342227-5416-41B1-A4C2-0C0A975393E3}">
      <dsp:nvSpPr>
        <dsp:cNvPr id="0" name=""/>
        <dsp:cNvSpPr/>
      </dsp:nvSpPr>
      <dsp:spPr>
        <a:xfrm>
          <a:off x="2032026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4AFC97-7F4C-46CA-86E0-A0753166A2AB}">
      <dsp:nvSpPr>
        <dsp:cNvPr id="0" name=""/>
        <dsp:cNvSpPr/>
      </dsp:nvSpPr>
      <dsp:spPr>
        <a:xfrm>
          <a:off x="2154937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out_of_range</a:t>
          </a:r>
          <a:endParaRPr lang="ru-RU" sz="1000" kern="1200"/>
        </a:p>
      </dsp:txBody>
      <dsp:txXfrm>
        <a:off x="2175511" y="3118993"/>
        <a:ext cx="1065052" cy="661289"/>
      </dsp:txXfrm>
    </dsp:sp>
    <dsp:sp modelId="{73A01E18-7F91-4C9E-BC4B-B0885DBDA959}">
      <dsp:nvSpPr>
        <dsp:cNvPr id="0" name=""/>
        <dsp:cNvSpPr/>
      </dsp:nvSpPr>
      <dsp:spPr>
        <a:xfrm>
          <a:off x="3384048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997C3-65D4-4A0F-9CBE-2316DFDD2CC8}">
      <dsp:nvSpPr>
        <dsp:cNvPr id="0" name=""/>
        <dsp:cNvSpPr/>
      </dsp:nvSpPr>
      <dsp:spPr>
        <a:xfrm>
          <a:off x="3506959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length_error</a:t>
          </a:r>
          <a:endParaRPr lang="ru-RU" sz="1000" kern="1200"/>
        </a:p>
      </dsp:txBody>
      <dsp:txXfrm>
        <a:off x="3527533" y="3118993"/>
        <a:ext cx="1065052" cy="661289"/>
      </dsp:txXfrm>
    </dsp:sp>
    <dsp:sp modelId="{56F8BE59-2822-4F06-9597-5F91002399D0}">
      <dsp:nvSpPr>
        <dsp:cNvPr id="0" name=""/>
        <dsp:cNvSpPr/>
      </dsp:nvSpPr>
      <dsp:spPr>
        <a:xfrm>
          <a:off x="4736070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B8F14-DD1E-41FE-8613-DDB37E63E49F}">
      <dsp:nvSpPr>
        <dsp:cNvPr id="0" name=""/>
        <dsp:cNvSpPr/>
      </dsp:nvSpPr>
      <dsp:spPr>
        <a:xfrm>
          <a:off x="4858981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domain_error</a:t>
          </a:r>
          <a:endParaRPr lang="ru-RU" sz="1000" kern="1200"/>
        </a:p>
      </dsp:txBody>
      <dsp:txXfrm>
        <a:off x="4879555" y="3118993"/>
        <a:ext cx="1065052" cy="661289"/>
      </dsp:txXfrm>
    </dsp:sp>
    <dsp:sp modelId="{EBF8A63C-93C7-4A42-8939-B78EA508637D}">
      <dsp:nvSpPr>
        <dsp:cNvPr id="0" name=""/>
        <dsp:cNvSpPr/>
      </dsp:nvSpPr>
      <dsp:spPr>
        <a:xfrm>
          <a:off x="4060059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9A3EAF-04D2-4C01-9BE7-C63D615EF3A2}">
      <dsp:nvSpPr>
        <dsp:cNvPr id="0" name=""/>
        <dsp:cNvSpPr/>
      </dsp:nvSpPr>
      <dsp:spPr>
        <a:xfrm>
          <a:off x="4182970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chemeClr val="tx1"/>
              </a:solidFill>
            </a:rPr>
            <a:t>bad_exception</a:t>
          </a:r>
          <a:endParaRPr lang="ru-RU" sz="1000" kern="1200" dirty="0">
            <a:solidFill>
              <a:schemeClr val="tx1"/>
            </a:solidFill>
          </a:endParaRPr>
        </a:p>
      </dsp:txBody>
      <dsp:txXfrm>
        <a:off x="4203544" y="2094836"/>
        <a:ext cx="1065052" cy="661289"/>
      </dsp:txXfrm>
    </dsp:sp>
    <dsp:sp modelId="{9BB83F59-11B3-4746-97DB-495D832256C1}">
      <dsp:nvSpPr>
        <dsp:cNvPr id="0" name=""/>
        <dsp:cNvSpPr/>
      </dsp:nvSpPr>
      <dsp:spPr>
        <a:xfrm>
          <a:off x="5412081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9C806-A5EA-443E-B237-B379645F94A5}">
      <dsp:nvSpPr>
        <dsp:cNvPr id="0" name=""/>
        <dsp:cNvSpPr/>
      </dsp:nvSpPr>
      <dsp:spPr>
        <a:xfrm>
          <a:off x="5534993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rgbClr val="FF0000"/>
              </a:solidFill>
            </a:rPr>
            <a:t>bad_alloc</a:t>
          </a:r>
          <a:endParaRPr lang="ru-RU" sz="1000" kern="1200" dirty="0">
            <a:solidFill>
              <a:srgbClr val="FF0000"/>
            </a:solidFill>
          </a:endParaRPr>
        </a:p>
      </dsp:txBody>
      <dsp:txXfrm>
        <a:off x="5555567" y="2094836"/>
        <a:ext cx="1065052" cy="661289"/>
      </dsp:txXfrm>
    </dsp:sp>
    <dsp:sp modelId="{9A182B59-659E-438A-AA5B-3A6952C28F25}">
      <dsp:nvSpPr>
        <dsp:cNvPr id="0" name=""/>
        <dsp:cNvSpPr/>
      </dsp:nvSpPr>
      <dsp:spPr>
        <a:xfrm>
          <a:off x="8116126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2B300-71C8-476A-B9CC-08105D908D46}">
      <dsp:nvSpPr>
        <dsp:cNvPr id="0" name=""/>
        <dsp:cNvSpPr/>
      </dsp:nvSpPr>
      <dsp:spPr>
        <a:xfrm>
          <a:off x="8239037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>
              <a:solidFill>
                <a:srgbClr val="FF0000"/>
              </a:solidFill>
            </a:rPr>
            <a:t>runtime_error</a:t>
          </a:r>
          <a:endParaRPr lang="ru-RU" sz="1000" b="1" kern="1200" dirty="0">
            <a:solidFill>
              <a:srgbClr val="FF0000"/>
            </a:solidFill>
          </a:endParaRPr>
        </a:p>
      </dsp:txBody>
      <dsp:txXfrm>
        <a:off x="8259611" y="2094836"/>
        <a:ext cx="1065052" cy="661289"/>
      </dsp:txXfrm>
    </dsp:sp>
    <dsp:sp modelId="{C8A30697-94D1-45EE-9BB8-8DD952B52D6C}">
      <dsp:nvSpPr>
        <dsp:cNvPr id="0" name=""/>
        <dsp:cNvSpPr/>
      </dsp:nvSpPr>
      <dsp:spPr>
        <a:xfrm>
          <a:off x="6088093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319EE7-B415-4B70-91BF-9743AFBA4906}">
      <dsp:nvSpPr>
        <dsp:cNvPr id="0" name=""/>
        <dsp:cNvSpPr/>
      </dsp:nvSpPr>
      <dsp:spPr>
        <a:xfrm>
          <a:off x="6211004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 err="1">
              <a:solidFill>
                <a:srgbClr val="FF0000"/>
              </a:solidFill>
            </a:rPr>
            <a:t>system_error</a:t>
          </a:r>
          <a:endParaRPr lang="ru-RU" sz="1000" b="1" kern="1200" dirty="0">
            <a:solidFill>
              <a:srgbClr val="FF0000"/>
            </a:solidFill>
          </a:endParaRPr>
        </a:p>
      </dsp:txBody>
      <dsp:txXfrm>
        <a:off x="6231578" y="3118993"/>
        <a:ext cx="1065052" cy="661289"/>
      </dsp:txXfrm>
    </dsp:sp>
    <dsp:sp modelId="{30F363D5-6A69-4831-836E-177A846ABBE2}">
      <dsp:nvSpPr>
        <dsp:cNvPr id="0" name=""/>
        <dsp:cNvSpPr/>
      </dsp:nvSpPr>
      <dsp:spPr>
        <a:xfrm>
          <a:off x="7440115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0FD495-97F0-4CA1-8B86-4C448FC91248}">
      <dsp:nvSpPr>
        <dsp:cNvPr id="0" name=""/>
        <dsp:cNvSpPr/>
      </dsp:nvSpPr>
      <dsp:spPr>
        <a:xfrm>
          <a:off x="7563026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overflow_error</a:t>
          </a:r>
          <a:endParaRPr lang="ru-RU" sz="1000" kern="1200" dirty="0"/>
        </a:p>
      </dsp:txBody>
      <dsp:txXfrm>
        <a:off x="7583600" y="3118993"/>
        <a:ext cx="1065052" cy="661289"/>
      </dsp:txXfrm>
    </dsp:sp>
    <dsp:sp modelId="{C5345F1C-226A-4973-B272-787412EEF783}">
      <dsp:nvSpPr>
        <dsp:cNvPr id="0" name=""/>
        <dsp:cNvSpPr/>
      </dsp:nvSpPr>
      <dsp:spPr>
        <a:xfrm>
          <a:off x="8792137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419C0-F0F9-4D05-BEDF-9F987880C2E0}">
      <dsp:nvSpPr>
        <dsp:cNvPr id="0" name=""/>
        <dsp:cNvSpPr/>
      </dsp:nvSpPr>
      <dsp:spPr>
        <a:xfrm>
          <a:off x="8915048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range_error</a:t>
          </a:r>
          <a:endParaRPr lang="ru-RU" sz="1000" kern="1200" dirty="0"/>
        </a:p>
      </dsp:txBody>
      <dsp:txXfrm>
        <a:off x="8935622" y="3118993"/>
        <a:ext cx="1065052" cy="661289"/>
      </dsp:txXfrm>
    </dsp:sp>
    <dsp:sp modelId="{F7FDDE19-2B44-4258-8BF4-FB8AA10DBFD8}">
      <dsp:nvSpPr>
        <dsp:cNvPr id="0" name=""/>
        <dsp:cNvSpPr/>
      </dsp:nvSpPr>
      <dsp:spPr>
        <a:xfrm>
          <a:off x="10144159" y="2981653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A5E39-F8F3-4E0C-A84C-FECC2FB2CAB3}">
      <dsp:nvSpPr>
        <dsp:cNvPr id="0" name=""/>
        <dsp:cNvSpPr/>
      </dsp:nvSpPr>
      <dsp:spPr>
        <a:xfrm>
          <a:off x="10267071" y="3098419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/>
            <a:t>underflow_error</a:t>
          </a:r>
          <a:endParaRPr lang="ru-RU" sz="1000" kern="1200" dirty="0"/>
        </a:p>
      </dsp:txBody>
      <dsp:txXfrm>
        <a:off x="10287645" y="3118993"/>
        <a:ext cx="1065052" cy="661289"/>
      </dsp:txXfrm>
    </dsp:sp>
    <dsp:sp modelId="{A602CB2D-F69C-4C23-AB12-CB84550207AE}">
      <dsp:nvSpPr>
        <dsp:cNvPr id="0" name=""/>
        <dsp:cNvSpPr/>
      </dsp:nvSpPr>
      <dsp:spPr>
        <a:xfrm>
          <a:off x="9468148" y="1957496"/>
          <a:ext cx="1106200" cy="702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75E98-B7BF-45EF-99AD-B8D557A43512}">
      <dsp:nvSpPr>
        <dsp:cNvPr id="0" name=""/>
        <dsp:cNvSpPr/>
      </dsp:nvSpPr>
      <dsp:spPr>
        <a:xfrm>
          <a:off x="9591059" y="2074262"/>
          <a:ext cx="1106200" cy="702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 err="1">
              <a:solidFill>
                <a:srgbClr val="FF0000"/>
              </a:solidFill>
            </a:rPr>
            <a:t>bad_cast</a:t>
          </a:r>
          <a:endParaRPr lang="ru-RU" sz="1000" kern="1200" dirty="0">
            <a:solidFill>
              <a:srgbClr val="FF0000"/>
            </a:solidFill>
          </a:endParaRPr>
        </a:p>
      </dsp:txBody>
      <dsp:txXfrm>
        <a:off x="9611633" y="2094836"/>
        <a:ext cx="1065052" cy="661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85EC8-63E2-4E97-ABD1-AB8BE39E8F3E}" type="datetimeFigureOut">
              <a:rPr lang="ru-RU" smtClean="0"/>
              <a:pPr/>
              <a:t>11.05.2026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60538-7051-483A-90FD-419AF76C43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583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285-F988-4153-B7C5-B887A867730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5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Практически любая реальная программа работает не в идеальном мире.</a:t>
            </a:r>
          </a:p>
          <a:p>
            <a:br>
              <a:rPr lang="ru-RU" dirty="0"/>
            </a:br>
            <a:r>
              <a:rPr lang="ru-RU" dirty="0"/>
              <a:t>Во время выполнения могут происходить ошибки: файл не открылся, закончилась память, пользователь ввёл некорректные данные, пришёл повреждённый сетевой пакет.</a:t>
            </a:r>
          </a:p>
          <a:p>
            <a:endParaRPr lang="ru-RU" dirty="0"/>
          </a:p>
          <a:p>
            <a:r>
              <a:rPr lang="ru-RU" dirty="0"/>
              <a:t>Важно понимать: многие такие ситуации невозможно полностью предотвратить на этапе компиляции. Поэтому программа должна уметь корректно реагировать на них во время работы.</a:t>
            </a:r>
          </a:p>
          <a:p>
            <a:endParaRPr lang="ru-RU" dirty="0"/>
          </a:p>
          <a:p>
            <a:r>
              <a:rPr lang="ru-RU" dirty="0"/>
              <a:t>Источников ошибок несколько. Это могут быть: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внешние данные;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системные ресурсы;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сторонние библиотеки;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собственные ошибки программиста.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Хорошо спроектированная программа должна: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обнаружить проблему;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нарушить собственные инварианты;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корректно сообщить об ошибке;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восстановить работу, либо безопасно завершиться.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Сегодня мы будем говорить о том, как язык C++ помогает решать эту задачу при помощи механизма исключений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954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До появления исключений ошибки обычно обрабатывались при помощи кодов возврата или специальных значений.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функция могла вернуть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nullptr</a:t>
            </a:r>
            <a:r>
              <a:rPr lang="ru-RU" dirty="0"/>
              <a:t>;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</a:t>
            </a:r>
            <a:r>
              <a:rPr lang="ru-RU" dirty="0"/>
              <a:t>;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записать код ошибки в глобальную переменную. </a:t>
            </a:r>
          </a:p>
          <a:p>
            <a:r>
              <a:rPr lang="ru-RU" dirty="0"/>
              <a:t>У таких подходов есть серьёзные недостатки.</a:t>
            </a:r>
          </a:p>
          <a:p>
            <a:endParaRPr lang="ru-RU" dirty="0"/>
          </a:p>
          <a:p>
            <a:r>
              <a:rPr lang="ru-RU" dirty="0"/>
              <a:t>Во-первых, программист может просто забыть проверить результат функции.</a:t>
            </a:r>
          </a:p>
          <a:p>
            <a:br>
              <a:rPr lang="ru-RU" dirty="0"/>
            </a:br>
            <a:r>
              <a:rPr lang="ru-RU" dirty="0"/>
              <a:t>Во-вторых, код быстро становится перегружен проверками ошибок и теряет читаемость.</a:t>
            </a:r>
          </a:p>
          <a:p>
            <a:br>
              <a:rPr lang="ru-RU" dirty="0"/>
            </a:br>
            <a:r>
              <a:rPr lang="ru-RU" dirty="0"/>
              <a:t>В-третьих, некоторые ситуации неудобно обрабатывать таким способом — например, ошибки в конструкторах объектов.</a:t>
            </a:r>
          </a:p>
          <a:p>
            <a:endParaRPr lang="ru-RU" dirty="0"/>
          </a:p>
          <a:p>
            <a:r>
              <a:rPr lang="ru-RU" dirty="0"/>
              <a:t>Механизм исключений решает эту проблему иначе.</a:t>
            </a:r>
          </a:p>
          <a:p>
            <a:r>
              <a:rPr lang="ru-RU" dirty="0"/>
              <a:t>Если возникает ошибка: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выполнение текущего кода прерывается;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создаётся объект исключения;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управление передаётся обработчику ошибки. </a:t>
            </a:r>
          </a:p>
          <a:p>
            <a:endParaRPr lang="en-US" dirty="0"/>
          </a:p>
          <a:p>
            <a:r>
              <a:rPr lang="ru-RU" dirty="0"/>
              <a:t>При этом обработка может происходить не в месте возникновения проблемы, а на более высоком уровне программы, где действительно известно, что делать дальше.</a:t>
            </a:r>
          </a:p>
          <a:p>
            <a:r>
              <a:rPr lang="ru-RU" dirty="0"/>
              <a:t>Это одна из ключевых идей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handling</a:t>
            </a:r>
            <a:r>
              <a:rPr lang="ru-RU" dirty="0"/>
              <a:t> в C++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543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Здесь мы сталкиваемся с очень важной проблемой, которая исторически и привела к появлению механизма исключений в C++.</a:t>
            </a:r>
          </a:p>
          <a:p>
            <a:endParaRPr lang="ru-RU" dirty="0"/>
          </a:p>
          <a:p>
            <a:r>
              <a:rPr lang="ru-RU" dirty="0"/>
              <a:t>У нас есть класс рационального числа.</a:t>
            </a:r>
            <a:br>
              <a:rPr lang="ru-RU" dirty="0"/>
            </a:br>
            <a:r>
              <a:rPr lang="ru-RU" dirty="0"/>
              <a:t>Для корректного объекта знаменатель не должен быть равен нулю.</a:t>
            </a:r>
          </a:p>
          <a:p>
            <a:endParaRPr lang="ru-RU" dirty="0"/>
          </a:p>
          <a:p>
            <a:r>
              <a:rPr lang="ru-RU" dirty="0"/>
              <a:t>Но что делать, если пользователь написал: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r(10, 0);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В этот момент конструктор обнаруживает ошибку. И возникает вопрос: как о ней сообщить?</a:t>
            </a:r>
          </a:p>
          <a:p>
            <a:endParaRPr lang="ru-RU" dirty="0"/>
          </a:p>
          <a:p>
            <a:r>
              <a:rPr lang="ru-RU" dirty="0"/>
              <a:t>Вернуть код ошибки конструктор не может — у конструктора нет возвращаемого значения.</a:t>
            </a:r>
            <a:br>
              <a:rPr lang="ru-RU" dirty="0"/>
            </a:br>
            <a:r>
              <a:rPr lang="ru-RU" dirty="0"/>
              <a:t>Вернуть специальный объект тоже нельзя — объект ещё не создан.</a:t>
            </a:r>
            <a:br>
              <a:rPr lang="ru-RU" dirty="0"/>
            </a:br>
            <a:r>
              <a:rPr lang="ru-RU" dirty="0"/>
              <a:t>Оставить объект в </a:t>
            </a:r>
            <a:r>
              <a:rPr lang="ru-RU" dirty="0" err="1"/>
              <a:t>невалидном</a:t>
            </a:r>
            <a:r>
              <a:rPr lang="ru-RU" dirty="0"/>
              <a:t> состоянии — плохая идея, потому что дальше любая операция с ним может привести к ошибкам уже в совершенно другом месте программы.</a:t>
            </a:r>
          </a:p>
          <a:p>
            <a:endParaRPr lang="ru-RU" dirty="0"/>
          </a:p>
          <a:p>
            <a:r>
              <a:rPr lang="ru-RU" dirty="0"/>
              <a:t>Например, объект с нулевым знаменателем нарушает инварианты класса: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его нельзя корректно использовать;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другие методы класса могут не ожидать такого состояния;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ошибка станет «отложенной» и проявится позже. </a:t>
            </a:r>
          </a:p>
          <a:p>
            <a:endParaRPr lang="ru-RU" dirty="0"/>
          </a:p>
          <a:p>
            <a:r>
              <a:rPr lang="ru-RU" dirty="0"/>
              <a:t>Получается важный вывод: если конструктор не смог создать корректный объект, он должен прервать создание объекта и сообщить об ошибке наружу.</a:t>
            </a:r>
          </a:p>
          <a:p>
            <a:endParaRPr lang="ru-RU" dirty="0"/>
          </a:p>
          <a:p>
            <a:r>
              <a:rPr lang="ru-RU" dirty="0"/>
              <a:t>Именно для таких ситуаций механизм исключений подходит особенно хорошо.</a:t>
            </a:r>
          </a:p>
          <a:p>
            <a:r>
              <a:rPr lang="ru-RU" dirty="0"/>
              <a:t>Через несколько слайдов мы увидим, как эта проблема решается при помощи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исключений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3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Похожая проблема возникает и в перегруженных операциях.</a:t>
            </a:r>
          </a:p>
          <a:p>
            <a:r>
              <a:rPr lang="ru-RU" dirty="0"/>
              <a:t>Здесь реализована операция деления рациональных чисел.</a:t>
            </a:r>
          </a:p>
          <a:p>
            <a:br>
              <a:rPr lang="ru-RU" dirty="0"/>
            </a:br>
            <a:r>
              <a:rPr lang="ru-RU" dirty="0"/>
              <a:t>Перед выполнением деления мы обязаны проверить, что числитель делителя не равен нулю. Иначе произойдёт деление на ноль.</a:t>
            </a:r>
          </a:p>
          <a:p>
            <a:r>
              <a:rPr lang="ru-RU" dirty="0"/>
              <a:t>И снова возникает вопрос: как сообщить об ошибке?</a:t>
            </a:r>
          </a:p>
          <a:p>
            <a:endParaRPr lang="ru-RU" dirty="0"/>
          </a:p>
          <a:p>
            <a:r>
              <a:rPr lang="ru-RU" dirty="0"/>
              <a:t>Можно попробовать вернуть какое-нибудь специальное значение. 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(0, 0);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Но это плохое решение: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появляется </a:t>
            </a:r>
            <a:r>
              <a:rPr lang="ru-RU" dirty="0" err="1"/>
              <a:t>невалидный</a:t>
            </a:r>
            <a:r>
              <a:rPr lang="ru-RU" dirty="0"/>
              <a:t> объект;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вызывающий код обязан помнить о дополнительной проверке;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ошибку легко забыть обработать. </a:t>
            </a:r>
          </a:p>
          <a:p>
            <a:endParaRPr lang="ru-RU" dirty="0"/>
          </a:p>
          <a:p>
            <a:r>
              <a:rPr lang="ru-RU" dirty="0"/>
              <a:t>В результате ошибка распространяется дальше по программе.</a:t>
            </a:r>
          </a:p>
          <a:p>
            <a:endParaRPr lang="ru-RU" dirty="0"/>
          </a:p>
          <a:p>
            <a:r>
              <a:rPr lang="ru-RU" dirty="0"/>
              <a:t>Можно </a:t>
            </a:r>
            <a:r>
              <a:rPr lang="ru-RU" dirty="0" err="1"/>
              <a:t>аварийно</a:t>
            </a:r>
            <a:r>
              <a:rPr lang="ru-RU" dirty="0"/>
              <a:t> завершить приложение, но это тоже далеко не всегда приемлемо. Например, библиотека или математический модуль не должны самостоятельно решать, завершать программу или нет.</a:t>
            </a:r>
          </a:p>
          <a:p>
            <a:endParaRPr lang="ru-RU" dirty="0"/>
          </a:p>
          <a:p>
            <a:r>
              <a:rPr lang="ru-RU" dirty="0"/>
              <a:t>На самом деле операция деления сама не знает, как правильно реагировать на такую ситуацию. Она только обнаруживает проблему.</a:t>
            </a:r>
          </a:p>
          <a:p>
            <a:endParaRPr lang="ru-RU" dirty="0"/>
          </a:p>
          <a:p>
            <a:r>
              <a:rPr lang="ru-RU" dirty="0"/>
              <a:t>А решение о том: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показать ли сообщение пользователю;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запросить ли другие данные;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повторить ли операцию;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завершить ли программу —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должно приниматься на более высоком уровне.</a:t>
            </a:r>
          </a:p>
          <a:p>
            <a:endParaRPr lang="ru-RU" dirty="0"/>
          </a:p>
          <a:p>
            <a:r>
              <a:rPr lang="ru-RU" dirty="0"/>
              <a:t>Именно здесь исключения оказываются особенно полезны: операция может сообщить о проблеме, а обработка будет выполнена там, где есть необходимый контекст.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519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Здесь показан распространённый, но плохой подход к обработке ошибок — возврат “</a:t>
            </a:r>
            <a:r>
              <a:rPr lang="ru-RU" dirty="0" err="1"/>
              <a:t>невалидного</a:t>
            </a:r>
            <a:r>
              <a:rPr lang="ru-RU" dirty="0"/>
              <a:t>” объекта.</a:t>
            </a:r>
          </a:p>
          <a:p>
            <a:endParaRPr lang="ru-RU" dirty="0"/>
          </a:p>
          <a:p>
            <a:r>
              <a:rPr lang="ru-RU" dirty="0"/>
              <a:t>Если операция не может выполниться, функция возвращает специальное значение: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{0, 0};</a:t>
            </a:r>
          </a:p>
          <a:p>
            <a:endParaRPr lang="ru-RU" dirty="0"/>
          </a:p>
          <a:p>
            <a:r>
              <a:rPr lang="ru-RU" dirty="0"/>
              <a:t>А вызывающий код обязан помнить о проверке: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c.IsValid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())</a:t>
            </a:r>
          </a:p>
          <a:p>
            <a:endParaRPr lang="ru-RU" dirty="0"/>
          </a:p>
          <a:p>
            <a:r>
              <a:rPr lang="ru-RU" dirty="0"/>
              <a:t>Проблема в том, что такую проверку легко забыть.</a:t>
            </a:r>
            <a:br>
              <a:rPr lang="ru-RU" dirty="0"/>
            </a:br>
            <a:r>
              <a:rPr lang="ru-RU" dirty="0"/>
              <a:t>Тогда ошибка продолжит распространяться по программе.</a:t>
            </a:r>
          </a:p>
          <a:p>
            <a:r>
              <a:rPr lang="ru-RU" dirty="0"/>
              <a:t>Кроме того, класс теряет важный инвариант: раньше любой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 был корректен, а теперь внутри программы могут существовать “сломанные” объекты.</a:t>
            </a:r>
          </a:p>
          <a:p>
            <a:endParaRPr lang="ru-RU" dirty="0"/>
          </a:p>
          <a:p>
            <a:r>
              <a:rPr lang="ru-RU" dirty="0"/>
              <a:t>В результате: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усложняется код;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появляются дополнительные проверки;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растёт вероятность ошибок. </a:t>
            </a:r>
          </a:p>
          <a:p>
            <a:endParaRPr lang="en-US" dirty="0"/>
          </a:p>
          <a:p>
            <a:r>
              <a:rPr lang="ru-RU" dirty="0"/>
              <a:t>Поэтому в C++ обычно стараются придерживаться принципа:</a:t>
            </a:r>
          </a:p>
          <a:p>
            <a:r>
              <a:rPr lang="ru-RU" dirty="0"/>
              <a:t>если объект нельзя создать корректно — его не нужно создавать вообще.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эту задачу и решают исключения.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957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важная идея исключений — нелокальная обработка ошибок.</a:t>
            </a:r>
          </a:p>
          <a:p>
            <a:r>
              <a:rPr lang="ru-RU" dirty="0"/>
              <a:t>Ошибка возникает глубоко внутри цепочки вызовов,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LoadChunk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Но обработать её имеет смысл не там, а на более высоком уровне — например,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ShowImage</a:t>
            </a:r>
            <a:r>
              <a:rPr lang="ru-RU" dirty="0"/>
              <a:t>.</a:t>
            </a:r>
          </a:p>
          <a:p>
            <a:r>
              <a:rPr lang="ru-RU" dirty="0"/>
              <a:t>Именно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ShowImage</a:t>
            </a:r>
            <a:r>
              <a:rPr lang="ru-RU" dirty="0"/>
              <a:t> знает: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что показать пользователю;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можно ли загрузить изображение повторно;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нужно вывести сообщение об ошибке. </a:t>
            </a:r>
          </a:p>
          <a:p>
            <a:endParaRPr lang="ru-RU" dirty="0"/>
          </a:p>
          <a:p>
            <a:r>
              <a:rPr lang="ru-RU" dirty="0"/>
              <a:t>Без исключений пришлось бы вручную передавать код ошибки через все промежуточные функции: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LoadChunk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LoadFile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LoadImage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ShowImage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Хотя большинство этих функций сами ошибку обработать не могут.</a:t>
            </a:r>
          </a:p>
          <a:p>
            <a:endParaRPr lang="ru-RU" dirty="0"/>
          </a:p>
          <a:p>
            <a:r>
              <a:rPr lang="ru-RU" dirty="0"/>
              <a:t>Исключения позволяют автоматически “пробросить” ошибку наверх — к тому месту, где действительно известно, что с ней делать.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544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Механизм исключений — это встроенный в C++ способ сообщать об ошибках во время выполнения программы.</a:t>
            </a:r>
          </a:p>
          <a:p>
            <a:endParaRPr lang="ru-RU" dirty="0"/>
          </a:p>
          <a:p>
            <a:r>
              <a:rPr lang="ru-RU" dirty="0"/>
              <a:t>Когда программа обнаруживает проблему, она может выбросить исключение при помощи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dirty="0"/>
              <a:t>.</a:t>
            </a:r>
          </a:p>
          <a:p>
            <a:r>
              <a:rPr lang="ru-RU" dirty="0"/>
              <a:t>После этого: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обычное выполнение кода прерывается;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C++ начинает искать подходящий обработчик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если обработчик найден — управление передаётся ему. </a:t>
            </a:r>
          </a:p>
          <a:p>
            <a:r>
              <a:rPr lang="ru-RU" dirty="0"/>
              <a:t>При этом обработчик может находиться не рядом с местом возникновения ошибки, а значительно выше по стеку вызовов.</a:t>
            </a:r>
          </a:p>
          <a:p>
            <a:endParaRPr lang="ru-RU" dirty="0"/>
          </a:p>
          <a:p>
            <a:r>
              <a:rPr lang="ru-RU" dirty="0"/>
              <a:t>Это позволяет: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отделить обработку ошибок от основной логики программы;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обрабатывать ошибку там, где действительно известно, что делать дальше. </a:t>
            </a:r>
          </a:p>
          <a:p>
            <a:endParaRPr lang="ru-RU" dirty="0"/>
          </a:p>
          <a:p>
            <a:r>
              <a:rPr lang="ru-RU" dirty="0"/>
              <a:t>Во время передачи управления происходит раскрутка стека: локальные объекты уничтожаются автоматически, а их деструкторы вызываются.</a:t>
            </a:r>
          </a:p>
          <a:p>
            <a:endParaRPr lang="ru-RU" dirty="0"/>
          </a:p>
          <a:p>
            <a:r>
              <a:rPr lang="ru-RU" dirty="0"/>
              <a:t>Позже мы подробно разберём, почему это особенно важно для RAII и безопасного управления ресурсами.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55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Важно понимать: исключения нужны не для любых ошибок.</a:t>
            </a:r>
          </a:p>
          <a:p>
            <a:endParaRPr lang="ru-RU" dirty="0"/>
          </a:p>
          <a:p>
            <a:r>
              <a:rPr lang="ru-RU" dirty="0"/>
              <a:t>Исключения хорошо подходят в ситуациях, когда функция обнаружила проблему, но не знает, как правильно на неё реагировать.</a:t>
            </a:r>
          </a:p>
          <a:p>
            <a:r>
              <a:rPr lang="ru-RU" dirty="0"/>
              <a:t>Например, функция сортировки может столкнуться с нехваткой памяти.</a:t>
            </a:r>
          </a:p>
          <a:p>
            <a:br>
              <a:rPr lang="ru-RU" dirty="0"/>
            </a:br>
            <a:r>
              <a:rPr lang="ru-RU" dirty="0"/>
              <a:t>Но сама сортировка не должна решать: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показывать ли сообщение пользователю;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сохранять ли данные;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завершать ли программу.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Это решение должен принимать код более высокого уровня.</a:t>
            </a:r>
          </a:p>
          <a:p>
            <a:r>
              <a:rPr lang="ru-RU" dirty="0"/>
              <a:t>Кроме того, после обработки ошибки программа должна иметь возможность продолжить корректную работу.</a:t>
            </a:r>
          </a:p>
          <a:p>
            <a:endParaRPr lang="ru-RU" dirty="0"/>
          </a:p>
          <a:p>
            <a:r>
              <a:rPr lang="ru-RU" dirty="0"/>
              <a:t>Но бывают ситуации, где исключения не нужны.</a:t>
            </a:r>
          </a:p>
          <a:p>
            <a:r>
              <a:rPr lang="ru-RU" dirty="0"/>
              <a:t>Если проблему можно обработать сразу — лучше сделать это локально.</a:t>
            </a:r>
            <a:br>
              <a:rPr lang="ru-RU" dirty="0"/>
            </a:br>
            <a:r>
              <a:rPr lang="ru-RU" dirty="0"/>
              <a:t>Например, проверить ввод пользователя и попросить ввести данные повторно.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Также исключения плохо подходят для обычной логики программы.</a:t>
            </a:r>
            <a:br>
              <a:rPr lang="ru-RU" dirty="0"/>
            </a:br>
            <a:r>
              <a:rPr lang="ru-RU" dirty="0"/>
              <a:t>Например, отсутствие элемента в контейнере или завершение чтения файла — часто это не исключительная ситуация.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наконец, если восстановить работу невозможно, приложение обычно выполняет корректное завершение работы, а не пытается продолжать выполнение.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20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dirty="0"/>
              <a:t> содержит код, в котором может возникнуть исключение.</a:t>
            </a:r>
          </a:p>
          <a:p>
            <a:r>
              <a:rPr lang="ru-RU" dirty="0"/>
              <a:t>Если исключение выбрасывается, обычное выполнение программы прерывается, и C++ начинает искать подходящий обработчик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Обработчики проверяются сверху вниз.</a:t>
            </a:r>
            <a:br>
              <a:rPr lang="ru-RU" dirty="0"/>
            </a:br>
            <a:r>
              <a:rPr lang="ru-RU" dirty="0"/>
              <a:t>Первый подходящий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 получает управление.</a:t>
            </a:r>
          </a:p>
          <a:p>
            <a:r>
              <a:rPr lang="ru-RU" dirty="0"/>
              <a:t>Тип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 определяет, какие исключения он может обработать.</a:t>
            </a:r>
          </a:p>
          <a:p>
            <a:endParaRPr lang="ru-RU" dirty="0"/>
          </a:p>
          <a:p>
            <a:r>
              <a:rPr lang="ru-RU" dirty="0"/>
              <a:t>Последний вариант: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(...)</a:t>
            </a:r>
          </a:p>
          <a:p>
            <a:r>
              <a:rPr lang="ru-RU" dirty="0"/>
              <a:t>перехватывает любые исключения независимо от их типа.</a:t>
            </a:r>
          </a:p>
          <a:p>
            <a:r>
              <a:rPr lang="ru-RU" dirty="0"/>
              <a:t>Если подходящий обработчик не найден, программа завершается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349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dirty="0"/>
              <a:t> используется для выброса исключения.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выполнения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dirty="0"/>
              <a:t> обычное выполнение функции немедленно прерывается, и C++ начинает искать подходящий обработчик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r>
              <a:rPr lang="ru-RU" dirty="0"/>
              <a:t>При этом происходит раскрутка стека: локальные объекты уничтожаются автоматически, а их деструкторы вызываются.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очень важная особенность C++, потому что именно она делает RAII эффективным механизмом управления ресурсами.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подходящий обработчик найден — управление передаётся ему.</a:t>
            </a:r>
            <a:br>
              <a:rPr lang="ru-RU" dirty="0"/>
            </a:br>
            <a:r>
              <a:rPr lang="ru-RU" dirty="0"/>
              <a:t>Если нет — программа завершается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205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объектом исключения может быть объект любого типа, но на практике исключения обычно делают классами.</a:t>
            </a:r>
          </a:p>
          <a:p>
            <a:r>
              <a:rPr lang="ru-RU" dirty="0"/>
              <a:t>Это позволяет хранить дополнительную информацию об ошибке: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сообщение;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имя файла;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 ошибки;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другие данные. </a:t>
            </a:r>
          </a:p>
          <a:p>
            <a:r>
              <a:rPr lang="ru-RU" dirty="0"/>
              <a:t>Кроме того, классы исключений удобно объединять в иерархии.</a:t>
            </a:r>
          </a:p>
          <a:p>
            <a:endParaRPr lang="ru-RU" dirty="0"/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FileError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OutOfMemory</a:t>
            </a:r>
            <a:r>
              <a:rPr lang="ru-RU" dirty="0"/>
              <a:t> могут наследоваться от общего базового класса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dirty="0"/>
              <a:t>.</a:t>
            </a:r>
          </a:p>
          <a:p>
            <a:r>
              <a:rPr lang="ru-RU" dirty="0"/>
              <a:t>Тогда обработчик базового типа: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e)</a:t>
            </a:r>
          </a:p>
          <a:p>
            <a:r>
              <a:rPr lang="ru-RU" dirty="0"/>
              <a:t>сможет перехватывать все производные ошибки.</a:t>
            </a:r>
          </a:p>
          <a:p>
            <a:endParaRPr lang="ru-RU" dirty="0"/>
          </a:p>
          <a:p>
            <a:r>
              <a:rPr lang="ru-RU" dirty="0"/>
              <a:t>Это позволяет: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обрабатывать конкретные ошибки отдельно;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использовать общий обработчик для целой группы исключений. </a:t>
            </a:r>
          </a:p>
          <a:p>
            <a:endParaRPr lang="ru-RU" dirty="0"/>
          </a:p>
          <a:p>
            <a:r>
              <a:rPr lang="ru-RU" dirty="0"/>
              <a:t>Также важно помнить правило: исключения обычно выбрасывают по значению, а перехватывают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ссылке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1678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проблема решается значительно лучше.</a:t>
            </a:r>
          </a:p>
          <a:p>
            <a:r>
              <a:rPr lang="ru-RU" dirty="0"/>
              <a:t>Если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Rational</a:t>
            </a:r>
            <a:r>
              <a:rPr lang="ru-RU" dirty="0"/>
              <a:t> нельзя создать корректно, конструктор выбрасывает исключение: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invalid_argument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ru-RU" dirty="0"/>
              <a:t>То же самое делает операция деления при попытке деления на ноль.</a:t>
            </a:r>
          </a:p>
          <a:p>
            <a:endParaRPr lang="ru-RU" dirty="0"/>
          </a:p>
          <a:p>
            <a:r>
              <a:rPr lang="ru-RU" dirty="0"/>
              <a:t>Обратите внимание: мы больше не создаём “сломанные” объекты.</a:t>
            </a:r>
          </a:p>
          <a:p>
            <a:r>
              <a:rPr lang="ru-RU" dirty="0"/>
              <a:t>Если операция завершилась ошибкой — выполнение просто прерывается.</a:t>
            </a:r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 ошибка перехватывается в блоке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r>
              <a:rPr lang="ru-RU" dirty="0"/>
              <a:t>Здесь используется: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e)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dirty="0"/>
              <a:t> — базовый класс большинства стандартных исключений библиотеки C++.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позволяет получить текстовое описание ошибки.</a:t>
            </a:r>
          </a:p>
          <a:p>
            <a:r>
              <a:rPr lang="ru-RU" dirty="0"/>
              <a:t>В результате: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 остаётся чистым;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инварианты класса не нарушаются;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обработка ошибки выполняется отдельно от основной логики программы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1547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вспомогательный класс нужен только для демонстрации времени жизни объектов.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Конструктор выводит сообщение о создании объекта,</a:t>
            </a:r>
            <a:br>
              <a:rPr lang="ru-RU" dirty="0"/>
            </a:br>
            <a:r>
              <a:rPr lang="ru-RU" dirty="0"/>
              <a:t>деструктор — о его уничтожении.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Благодаря этому мы сможем увидеть: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порядок создания объектов;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порядок вызова деструкторов;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/>
              <a:t>и что происходит при выбросе исключения во время </a:t>
            </a:r>
            <a:r>
              <a:rPr lang="ru-RU" dirty="0"/>
              <a:t>раскрутки стека.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117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посмотрим на обычное, штатное выполнение программы.</a:t>
            </a:r>
          </a:p>
          <a:p>
            <a:endParaRPr lang="en-US" dirty="0"/>
          </a:p>
          <a:p>
            <a:r>
              <a:rPr lang="ru-RU" dirty="0"/>
              <a:t>Объекты создаются при входе в функции: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. </a:t>
            </a:r>
          </a:p>
          <a:p>
            <a:endParaRPr lang="en-US" dirty="0"/>
          </a:p>
          <a:p>
            <a:r>
              <a:rPr lang="ru-RU" dirty="0"/>
              <a:t>После завершения функций объекты уничтожаются в обратном порядке: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объект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. </a:t>
            </a:r>
          </a:p>
          <a:p>
            <a:endParaRPr lang="en-US" dirty="0"/>
          </a:p>
          <a:p>
            <a:r>
              <a:rPr lang="ru-RU" dirty="0"/>
              <a:t>Это нормальное поведение стека вызовов:</a:t>
            </a:r>
            <a:r>
              <a:rPr lang="en-US" dirty="0"/>
              <a:t> </a:t>
            </a:r>
            <a:r>
              <a:rPr lang="ru-RU" dirty="0"/>
              <a:t>последним создан — первым уничтожен.</a:t>
            </a:r>
          </a:p>
          <a:p>
            <a:r>
              <a:rPr lang="ru-RU" dirty="0"/>
              <a:t>Сейчас это выглядит очевидно, но через пару слайдов мы увидим, что точно такой же механизм продолжает работать и при выбросе исключений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9564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программа завершается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Обратите внимание: сообщения об уничтожении объектов отсутствуют.</a:t>
            </a:r>
          </a:p>
          <a:p>
            <a:r>
              <a:rPr lang="ru-RU" dirty="0"/>
              <a:t>Это означает, что при аварийном завершении программы: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раскрутка стека не выполняется;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деструкторы локальных объектов не вызываются. </a:t>
            </a:r>
          </a:p>
          <a:p>
            <a:endParaRPr lang="ru-RU" dirty="0"/>
          </a:p>
          <a:p>
            <a:r>
              <a:rPr lang="ru-RU" dirty="0"/>
              <a:t>В результате ресурсы могут не освободиться корректно.</a:t>
            </a:r>
          </a:p>
          <a:p>
            <a:r>
              <a:rPr lang="ru-RU" dirty="0"/>
              <a:t>Позже мы увидим, что при использовании исключений ситуация будет другой.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618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abort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выбрасывается исключение.</a:t>
            </a:r>
          </a:p>
          <a:p>
            <a:endParaRPr lang="ru-RU" dirty="0"/>
          </a:p>
          <a:p>
            <a:r>
              <a:rPr lang="ru-RU" dirty="0"/>
              <a:t>Обратите внимание: несмотря на аварийный выход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, деструкторы всех локальных объектов всё равно были вызваны.</a:t>
            </a:r>
          </a:p>
          <a:p>
            <a:r>
              <a:rPr lang="ru-RU" dirty="0"/>
              <a:t>Это и есть раскрутка стека — 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unwinding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Во время поиска обработчика C++ автоматически уничтожает объекты, созданные в покидаемых функциях.</a:t>
            </a:r>
          </a:p>
          <a:p>
            <a:endParaRPr lang="ru-RU" dirty="0"/>
          </a:p>
          <a:p>
            <a:r>
              <a:rPr lang="ru-RU" dirty="0"/>
              <a:t>Благодаря этому ресурсы освобождаются корректно даже при возникновении ошибок.</a:t>
            </a:r>
          </a:p>
          <a:p>
            <a:endParaRPr lang="ru-RU" dirty="0"/>
          </a:p>
          <a:p>
            <a:r>
              <a:rPr lang="ru-RU" dirty="0"/>
              <a:t>После раскрутки стека исключение перехватывается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ru-RU" dirty="0"/>
              <a:t>, и программа продолжает выполнение уже внутри блока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1950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исключения принято выбрасывать по значению, а перехватывать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ссылке.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(...);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e)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Перехват по ссылке важен по двум причинам: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 создаётся лишняя копия объекта;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сохраняется полиморфизм. 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ru-RU" dirty="0"/>
          </a:p>
          <a:p>
            <a:r>
              <a:rPr lang="ru-RU" dirty="0"/>
              <a:t>Если же перехватывать базовый класс по значению: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BaseError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e)</a:t>
            </a:r>
          </a:p>
          <a:p>
            <a:r>
              <a:rPr lang="ru-RU" dirty="0"/>
              <a:t>может произойти срезка объекта —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slicing</a:t>
            </a:r>
            <a:r>
              <a:rPr lang="ru-RU" dirty="0"/>
              <a:t>.</a:t>
            </a:r>
          </a:p>
          <a:p>
            <a:r>
              <a:rPr lang="ru-RU" dirty="0"/>
              <a:t>То есть объект производного класса превратится в объект базового класса, и часть информации будет потеряна.</a:t>
            </a:r>
          </a:p>
          <a:p>
            <a:r>
              <a:rPr lang="ru-RU" dirty="0"/>
              <a:t>На следующем примере мы увидим это на практике.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242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 явление, которое называется срезкой —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slicing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PrintInfo</a:t>
            </a:r>
            <a:r>
              <a:rPr lang="ru-RU" dirty="0"/>
              <a:t> принимает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 по значению: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(Base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Когда мы передаём туда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dirty="0"/>
              <a:t>, создаётся новая копия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.</a:t>
            </a:r>
          </a:p>
          <a:p>
            <a:r>
              <a:rPr lang="ru-RU" dirty="0"/>
              <a:t>При этом “производная” часть объекта теряется — объект как бы “срезается” до базового класса.</a:t>
            </a:r>
          </a:p>
          <a:p>
            <a:r>
              <a:rPr lang="ru-RU" dirty="0"/>
              <a:t>Поэтому внутри функции вызовется версия метода из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, а не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dirty="0"/>
              <a:t>, несмотря на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virtual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Точно такая же проблема может возникнуть при перехвате исключений по значению: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(Base e)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Именно поэтому исключения в C++ рекомендуется перехватывать по ссылке: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Base&amp; 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776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срезка происходит уже при обработке исключения.</a:t>
            </a:r>
          </a:p>
          <a:p>
            <a:r>
              <a:rPr lang="ru-RU" dirty="0"/>
              <a:t>Мы выбрасываем объект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dirty="0"/>
              <a:t>, но перехватываем его так: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(Base e)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Поскольку перехват идёт по значению, создаётся новая копия типа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.</a:t>
            </a:r>
          </a:p>
          <a:p>
            <a:r>
              <a:rPr lang="ru-RU" dirty="0"/>
              <a:t>В результате “производная” часть объекта теряется, и вызывается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PrintInfo</a:t>
            </a:r>
            <a:r>
              <a:rPr lang="ru-RU" dirty="0"/>
              <a:t> базового класса.</a:t>
            </a:r>
          </a:p>
          <a:p>
            <a:endParaRPr lang="ru-RU" dirty="0"/>
          </a:p>
          <a:p>
            <a:r>
              <a:rPr lang="ru-RU" dirty="0"/>
              <a:t>Поэтому в выводе мы видим: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SomeInfo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а не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ещё раз показывает, почему исключения в C++ нужно перехватывать по ссылке.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228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исключение перехватывается правильно —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ссылке: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Base&amp; e)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В этом случае копия объекта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Base</a:t>
            </a:r>
            <a:r>
              <a:rPr lang="ru-RU" dirty="0"/>
              <a:t> не создаётся, поэтому срезка не происходит.</a:t>
            </a:r>
          </a:p>
          <a:p>
            <a:endParaRPr lang="ru-RU" dirty="0"/>
          </a:p>
          <a:p>
            <a:r>
              <a:rPr lang="ru-RU" dirty="0"/>
              <a:t>Несмотря на то, что обработчик принимает ссылку на базовый класс, объект внутри остаётся объектом типа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виртуальный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работает корректно, и в выводе мы снова видим: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SomeInfo</a:t>
            </a:r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ru-RU" dirty="0"/>
              <a:t>Это стандартный и рекомендуемый способ обработки исключений в C++: исключения выбрасывают по значению, а перехватывают по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dirty="0"/>
              <a:t> ссылке.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4413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перехвата исключения его можно не только обработать, но и передать дальше.</a:t>
            </a:r>
          </a:p>
          <a:p>
            <a:r>
              <a:rPr lang="ru-RU" dirty="0"/>
              <a:t>Для этого используется оператор: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Он повторно выбрасывает текущее исключение.</a:t>
            </a:r>
          </a:p>
          <a:p>
            <a:endParaRPr lang="ru-RU" dirty="0"/>
          </a:p>
          <a:p>
            <a:r>
              <a:rPr lang="ru-RU" dirty="0"/>
              <a:t>Это полезно, когда функция хочет выполнить только локальные действия: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записать ошибку в лог;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освободить ресурсы;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добавить диагностическую информацию. </a:t>
            </a:r>
          </a:p>
          <a:p>
            <a:endParaRPr lang="ru-RU" dirty="0"/>
          </a:p>
          <a:p>
            <a:r>
              <a:rPr lang="ru-RU" dirty="0"/>
              <a:t>Но окончательная обработка должна выполняться выше по стеку вызовов.</a:t>
            </a:r>
          </a:p>
          <a:p>
            <a:r>
              <a:rPr lang="ru-RU" dirty="0"/>
              <a:t>Важно: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ru-RU" dirty="0"/>
              <a:t> </a:t>
            </a:r>
            <a:r>
              <a:rPr lang="ru-RU" dirty="0" err="1"/>
              <a:t>перевыбрасывает</a:t>
            </a:r>
            <a:r>
              <a:rPr lang="ru-RU" dirty="0"/>
              <a:t> исходное исключение без потери его реального типа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468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важный пример </a:t>
            </a:r>
            <a:r>
              <a:rPr lang="ru-RU" dirty="0" err="1"/>
              <a:t>exception-safe</a:t>
            </a:r>
            <a:r>
              <a:rPr lang="ru-RU" dirty="0"/>
              <a:t> кода.</a:t>
            </a:r>
          </a:p>
          <a:p>
            <a:r>
              <a:rPr lang="ru-RU" dirty="0"/>
              <a:t>Конструктор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сначала выделяет память, а затем поэлементно создаёт объекты.</a:t>
            </a:r>
          </a:p>
          <a:p>
            <a:endParaRPr lang="ru-RU" dirty="0"/>
          </a:p>
          <a:p>
            <a:r>
              <a:rPr lang="ru-RU" dirty="0"/>
              <a:t>Но конструктор элемента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</a:t>
            </a:r>
            <a:r>
              <a:rPr lang="ru-RU" dirty="0"/>
              <a:t> может выбросить исключение.</a:t>
            </a:r>
            <a:br>
              <a:rPr lang="ru-RU" dirty="0"/>
            </a:br>
            <a:r>
              <a:rPr lang="ru-RU" dirty="0"/>
              <a:t>На схеме это показано красным элементом.</a:t>
            </a:r>
          </a:p>
          <a:p>
            <a:r>
              <a:rPr lang="ru-RU" dirty="0"/>
              <a:t>В этот момент часть объектов уже создана, а часть — ещё нет.</a:t>
            </a:r>
          </a:p>
          <a:p>
            <a:r>
              <a:rPr lang="ru-RU" dirty="0"/>
              <a:t>Если просто прервать выполнение, возникнет утечка ресурсов: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уже созданные элементы не будут разрушены;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выделенная память не освободится. </a:t>
            </a:r>
          </a:p>
          <a:p>
            <a:r>
              <a:rPr lang="ru-RU" dirty="0"/>
              <a:t>Поэтому исключение перехватывается локально: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уничтожаются уже созданные объекты;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освобождается память;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 этого исключение </a:t>
            </a:r>
            <a:r>
              <a:rPr lang="ru-RU" dirty="0" err="1"/>
              <a:t>перевыбрасывается</a:t>
            </a:r>
            <a:r>
              <a:rPr lang="ru-RU" dirty="0"/>
              <a:t>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dirty="0"/>
              <a:t>. </a:t>
            </a:r>
          </a:p>
          <a:p>
            <a:r>
              <a:rPr lang="ru-RU" dirty="0"/>
              <a:t>Это хороший пример базовой гарантии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: после ошибки ресурсы не утекают, а объект не остаётся в некорректном состоянии.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66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Стандартная библиотека C++ уже содержит готовую иерархию классов исключений.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Базовым классом является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dirty="0"/>
              <a:t>.</a:t>
            </a:r>
          </a:p>
          <a:p>
            <a:r>
              <a:rPr lang="ru-RU" dirty="0"/>
              <a:t>От него наследуются различные типы ошибок: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logic_error</a:t>
            </a:r>
            <a:r>
              <a:rPr lang="ru-RU" dirty="0"/>
              <a:t> — ошибки логики программы;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runtime_error</a:t>
            </a:r>
            <a:r>
              <a:rPr lang="ru-RU" dirty="0"/>
              <a:t> — ошибки времени выполнения;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 — нехватка памяти;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out_of_range</a:t>
            </a:r>
            <a:r>
              <a:rPr lang="ru-RU" dirty="0"/>
              <a:t> — выход за границы диапазона; </a:t>
            </a:r>
          </a:p>
          <a:p>
            <a:r>
              <a:rPr lang="ru-RU" dirty="0"/>
              <a:t>и другие.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Большинство стандартных контейнеров и библиотек выбрасывают именно эти исключения.</a:t>
            </a:r>
          </a:p>
          <a:p>
            <a:r>
              <a:rPr lang="ru-RU" dirty="0"/>
              <a:t>Поэтому в своих программах часто имеет смысл:</a:t>
            </a:r>
          </a:p>
          <a:p>
            <a:r>
              <a:rPr lang="en-US" dirty="0"/>
              <a:t>- </a:t>
            </a:r>
            <a:r>
              <a:rPr lang="ru-RU" dirty="0"/>
              <a:t>либо использовать стандартные типы; </a:t>
            </a:r>
          </a:p>
          <a:p>
            <a:r>
              <a:rPr lang="en-US" dirty="0"/>
              <a:t>- </a:t>
            </a:r>
            <a:r>
              <a:rPr lang="ru-RU" dirty="0"/>
              <a:t>либо наследовать собственные исключения от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dirty="0"/>
              <a:t>. </a:t>
            </a:r>
          </a:p>
          <a:p>
            <a:endParaRPr lang="en-US" dirty="0"/>
          </a:p>
          <a:p>
            <a:r>
              <a:rPr lang="ru-RU" dirty="0"/>
              <a:t>Это позволяет единообразно обрабатывать ошибки и использовать полиморфизм.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8694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стандартной библиотеке C++ уже есть готовые классы исключений для типичных ошибок.</a:t>
            </a:r>
          </a:p>
          <a:p>
            <a:r>
              <a:rPr lang="ru-RU" dirty="0"/>
              <a:t>Базовым классом является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dirty="0"/>
              <a:t>.</a:t>
            </a:r>
          </a:p>
          <a:p>
            <a:r>
              <a:rPr lang="ru-RU" dirty="0"/>
              <a:t>От него наследуются более специализированные типы: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invalid_argument</a:t>
            </a:r>
            <a:r>
              <a:rPr lang="ru-RU" dirty="0"/>
              <a:t> — неверный аргумент функции;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out_of_range</a:t>
            </a:r>
            <a:r>
              <a:rPr lang="ru-RU" dirty="0"/>
              <a:t> — выход за границы диапазона;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 — ошибка выделения памяти;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runtime_error</a:t>
            </a:r>
            <a:r>
              <a:rPr lang="ru-RU" dirty="0"/>
              <a:t> — ошибки времени выполнения. </a:t>
            </a:r>
          </a:p>
          <a:p>
            <a:endParaRPr lang="en-US" dirty="0"/>
          </a:p>
          <a:p>
            <a:r>
              <a:rPr lang="ru-RU" dirty="0"/>
              <a:t>Использование стандартных исключений делает код более понятным и единообразным.</a:t>
            </a:r>
          </a:p>
          <a:p>
            <a:r>
              <a:rPr lang="ru-RU" dirty="0"/>
              <a:t>Кроме того, большинство таких исключений можно перехватывать через общий базовый класс: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exception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 e)</a:t>
            </a:r>
          </a:p>
          <a:p>
            <a:r>
              <a:rPr lang="ru-RU" dirty="0"/>
              <a:t>и получать текст ошибки через 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7555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Исключения делают обработку ошибок более надёжной и удобной.</a:t>
            </a:r>
          </a:p>
          <a:p>
            <a:r>
              <a:rPr lang="ru-RU" dirty="0" err="1"/>
              <a:t>Главое</a:t>
            </a:r>
            <a:r>
              <a:rPr lang="ru-RU" dirty="0"/>
              <a:t> преимущество — ошибку нельзя “тихо проигнорировать”, как это часто бывает с кодами возврата.</a:t>
            </a:r>
          </a:p>
          <a:p>
            <a:endParaRPr lang="ru-RU" dirty="0"/>
          </a:p>
          <a:p>
            <a:r>
              <a:rPr lang="ru-RU" dirty="0"/>
              <a:t>Кроме того: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код становится чище;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обработка ошибок отделяется от основной логики;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 разные типы исключений позволяют по-разному реагировать на разные проблемы. </a:t>
            </a:r>
          </a:p>
          <a:p>
            <a:r>
              <a:rPr lang="ru-RU" dirty="0"/>
              <a:t>Также объект исключения может содержать дополнительную информацию об ошибке.</a:t>
            </a:r>
          </a:p>
          <a:p>
            <a:endParaRPr lang="ru-RU" dirty="0"/>
          </a:p>
          <a:p>
            <a:r>
              <a:rPr lang="ru-RU" dirty="0"/>
              <a:t>Но у исключений есть и недостатки.</a:t>
            </a:r>
          </a:p>
          <a:p>
            <a:r>
              <a:rPr lang="ru-RU" dirty="0"/>
              <a:t>Код должен быть устойчив к возникновению исключений, то есть быть </a:t>
            </a:r>
            <a:r>
              <a:rPr lang="ru-RU" dirty="0" err="1"/>
              <a:t>exception-safe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выброс исключения — достаточно дорогая операция, поэтому исключения не используют для обычной логики программы или часто происходящих ситуаций.</a:t>
            </a:r>
          </a:p>
          <a:p>
            <a:endParaRPr lang="ru-RU" dirty="0"/>
          </a:p>
          <a:p>
            <a:r>
              <a:rPr lang="ru-RU" dirty="0"/>
              <a:t>Исключения — это механизм обработки действительно нештатных ситуаций.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8483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во время работы конструктора возникает исключение, создание объекта немедленно прерывается.</a:t>
            </a:r>
          </a:p>
          <a:p>
            <a:r>
              <a:rPr lang="ru-RU" dirty="0"/>
              <a:t>Такой объект считается не созданным, поэтому его деструктор вызван не будет.</a:t>
            </a:r>
          </a:p>
          <a:p>
            <a:endParaRPr lang="ru-RU" dirty="0"/>
          </a:p>
          <a:p>
            <a:r>
              <a:rPr lang="ru-RU" dirty="0"/>
              <a:t>Однако C++ всё равно корректно уничтожит: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уже сконструированные поля объекта;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базовые классы. </a:t>
            </a:r>
          </a:p>
          <a:p>
            <a:endParaRPr lang="ru-RU" dirty="0"/>
          </a:p>
          <a:p>
            <a:r>
              <a:rPr lang="ru-RU" dirty="0"/>
              <a:t>Причём разрушение выполняется в обратном порядке относительно конструирования.</a:t>
            </a:r>
          </a:p>
          <a:p>
            <a:r>
              <a:rPr lang="ru-RU" dirty="0"/>
              <a:t>Это очень важная особенность языка:</a:t>
            </a:r>
            <a:br>
              <a:rPr lang="ru-RU" dirty="0"/>
            </a:br>
            <a:r>
              <a:rPr lang="ru-RU" dirty="0"/>
              <a:t>она позволяет безопасно освобождать ресурсы даже при частичном создании объекта.</a:t>
            </a:r>
          </a:p>
          <a:p>
            <a:r>
              <a:rPr lang="ru-RU" dirty="0"/>
              <a:t>Именно поэтому RAII особенно хорошо сочетается с исключениями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85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показана очень важная особенность конструкторов в C++.</a:t>
            </a:r>
          </a:p>
          <a:p>
            <a:r>
              <a:rPr lang="ru-RU" dirty="0"/>
              <a:t>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ru-RU" dirty="0"/>
              <a:t> начинает создаваться: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сначала успешно конструируется поле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файл “открывается”;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затем выполняется выделение памяти под пиксели. </a:t>
            </a:r>
          </a:p>
          <a:p>
            <a:r>
              <a:rPr lang="ru-RU" dirty="0"/>
              <a:t>Но выделение памяти завершается исключением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этот момент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</a:t>
            </a:r>
            <a:r>
              <a:rPr lang="ru-RU" dirty="0"/>
              <a:t> считается не созданным, поэтому его деструктор вызван не будет.</a:t>
            </a:r>
          </a:p>
          <a:p>
            <a:r>
              <a:rPr lang="ru-RU" dirty="0"/>
              <a:t>Однако поле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m_file</a:t>
            </a:r>
            <a:r>
              <a:rPr lang="ru-RU" dirty="0"/>
              <a:t> уже успело успешно </a:t>
            </a:r>
            <a:r>
              <a:rPr lang="ru-RU" dirty="0" err="1"/>
              <a:t>сконструироваться</a:t>
            </a:r>
            <a:r>
              <a:rPr lang="ru-RU" dirty="0"/>
              <a:t>, поэтому его деструктор всё равно вызывается автоматически.</a:t>
            </a:r>
          </a:p>
          <a:p>
            <a:r>
              <a:rPr lang="ru-RU" dirty="0"/>
              <a:t>Именно поэтому мы видим: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file: cat.png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Это важнейшая идея RAII: если ресурс принадлежит объекту, то он будет корректно освобождён даже при исключениях и частичном конструировании объекта.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232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7492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сообщает компилятору и программисту, что функция не должна выбрасывать исключения.</a:t>
            </a:r>
          </a:p>
          <a:p>
            <a:r>
              <a:rPr lang="ru-RU" dirty="0"/>
              <a:t>Например: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DoesNotThrow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эквивалентно: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DoesNotThrow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Также можно явно указать, что функция может выбрасывать исключения: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ru-RU" dirty="0"/>
          </a:p>
          <a:p>
            <a:r>
              <a:rPr lang="ru-RU" dirty="0"/>
              <a:t>Выражение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  <a:r>
              <a:rPr lang="ru-RU" dirty="0"/>
              <a:t> вычисляется во время компиляции.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важен по двум причинам: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он документирует поведение функции;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позволяет стандартной библиотеке применять более эффективные алгоритмы. </a:t>
            </a:r>
          </a:p>
          <a:p>
            <a:endParaRPr lang="ru-RU" dirty="0"/>
          </a:p>
          <a:p>
            <a:r>
              <a:rPr lang="ru-RU" dirty="0"/>
              <a:t>Позже мы увидим, почему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особенно важен для </a:t>
            </a:r>
            <a:r>
              <a:rPr lang="ru-RU" dirty="0" err="1"/>
              <a:t>move</a:t>
            </a:r>
            <a:r>
              <a:rPr lang="ru-RU" dirty="0"/>
              <a:t>-конструкторов и деструкторов.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8179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исключение выходит за пределы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-функции, C++ немедленно завершает программу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Никакого дальнейшего поиска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 уже не происходит.</a:t>
            </a:r>
          </a:p>
          <a:p>
            <a:endParaRPr lang="en-US" dirty="0"/>
          </a:p>
          <a:p>
            <a:r>
              <a:rPr lang="ru-RU" dirty="0"/>
              <a:t>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— это серьёзное обещание программиста:</a:t>
            </a:r>
            <a:r>
              <a:rPr lang="en-US" dirty="0"/>
              <a:t> </a:t>
            </a:r>
            <a:r>
              <a:rPr lang="ru-RU" dirty="0"/>
              <a:t>функция действительно не должна пропускать исключения наружу.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ошибка всё же возможна, её нужно: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обработать внутри функции;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либо использовать другой способ сообщить о проблеме.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412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Деструкторы в C++ по умолчанию считаются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</a:t>
            </a:r>
          </a:p>
          <a:p>
            <a:r>
              <a:rPr lang="ru-RU" dirty="0"/>
              <a:t>Это особенно важно во время раскрутки стека.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Представьте: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одно исключение уже обрабатывается;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стек раскручивается;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вызываются деструкторы локальных объектов. </a:t>
            </a:r>
          </a:p>
          <a:p>
            <a:r>
              <a:rPr lang="ru-RU" dirty="0"/>
              <a:t>Если в этот момент деструктор выбросит второе исключение, программа немедленно завершится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Поэтому в C++ действует важное правило:</a:t>
            </a:r>
            <a:r>
              <a:rPr lang="en-US" dirty="0"/>
              <a:t> </a:t>
            </a:r>
            <a:r>
              <a:rPr lang="ru-RU" dirty="0"/>
              <a:t>исключение не должно выходить за пределы деструктора.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027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важен не только для обработки ошибок, но и для производительности.</a:t>
            </a:r>
          </a:p>
          <a:p>
            <a:endParaRPr lang="ru-RU" dirty="0"/>
          </a:p>
          <a:p>
            <a:r>
              <a:rPr lang="ru-RU" dirty="0"/>
              <a:t>Стандартные контейнеры,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, анализируют:</a:t>
            </a:r>
            <a:br>
              <a:rPr lang="ru-RU" dirty="0"/>
            </a:br>
            <a:r>
              <a:rPr lang="ru-RU" dirty="0"/>
              <a:t>может ли </a:t>
            </a:r>
            <a:r>
              <a:rPr lang="ru-RU" dirty="0" err="1"/>
              <a:t>move</a:t>
            </a:r>
            <a:r>
              <a:rPr lang="ru-RU" dirty="0"/>
              <a:t>-конструктор выбросить исключение.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move</a:t>
            </a:r>
            <a:r>
              <a:rPr lang="ru-RU" dirty="0"/>
              <a:t>-конструктор помечен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, контейнер может безопасно перемещать элементы при перераспределении памяти.</a:t>
            </a:r>
          </a:p>
          <a:p>
            <a:endParaRPr lang="ru-RU" dirty="0"/>
          </a:p>
          <a:p>
            <a:r>
              <a:rPr lang="ru-RU" dirty="0"/>
              <a:t>Если же </a:t>
            </a:r>
            <a:r>
              <a:rPr lang="ru-RU" dirty="0" err="1"/>
              <a:t>move</a:t>
            </a:r>
            <a:r>
              <a:rPr lang="ru-RU" dirty="0"/>
              <a:t> потенциально выбрасывает исключения, контейнер часто вынужден использовать копирование, потому что оно безопаснее с точки зрения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для </a:t>
            </a:r>
            <a:r>
              <a:rPr lang="ru-RU" dirty="0" err="1"/>
              <a:t>move</a:t>
            </a:r>
            <a:r>
              <a:rPr lang="ru-RU" dirty="0"/>
              <a:t>-конструкторов и </a:t>
            </a:r>
            <a:r>
              <a:rPr lang="ru-RU" dirty="0" err="1"/>
              <a:t>move</a:t>
            </a:r>
            <a:r>
              <a:rPr lang="ru-RU" dirty="0"/>
              <a:t>-операторов присваивания обычно рекомендуется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, если это действительно безопасно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273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показаны два почти одинаковых класса.</a:t>
            </a:r>
          </a:p>
          <a:p>
            <a:r>
              <a:rPr lang="ru-RU" dirty="0"/>
              <a:t>Разница только в одном:</a:t>
            </a:r>
            <a:br>
              <a:rPr lang="ru-RU" dirty="0"/>
            </a:br>
            <a:r>
              <a:rPr lang="ru-RU" dirty="0"/>
              <a:t>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 </a:t>
            </a:r>
            <a:r>
              <a:rPr lang="ru-RU" dirty="0" err="1"/>
              <a:t>move</a:t>
            </a:r>
            <a:r>
              <a:rPr lang="ru-RU" dirty="0"/>
              <a:t>-конструктор и </a:t>
            </a:r>
            <a:r>
              <a:rPr lang="ru-RU" dirty="0" err="1"/>
              <a:t>move</a:t>
            </a:r>
            <a:r>
              <a:rPr lang="ru-RU" dirty="0"/>
              <a:t>-оператор помечены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, а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 — нет.</a:t>
            </a:r>
          </a:p>
          <a:p>
            <a:r>
              <a:rPr lang="ru-RU" dirty="0"/>
              <a:t>С точки зрения логики классы одинаковы, но стандартная библиотека будет относиться к ним по-разному.</a:t>
            </a:r>
          </a:p>
          <a:p>
            <a:r>
              <a:rPr lang="ru-RU" dirty="0"/>
              <a:t>В следующем слайде мы увидим, как это влияет на работу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и производительность программы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6292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бенчмарке сравниваются два варианта: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Классы почти одинаковые, но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 </a:t>
            </a:r>
            <a:r>
              <a:rPr lang="ru-RU" dirty="0" err="1"/>
              <a:t>move</a:t>
            </a:r>
            <a:r>
              <a:rPr lang="ru-RU" dirty="0"/>
              <a:t>-операции помечены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, а 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 — нет.</a:t>
            </a:r>
          </a:p>
          <a:p>
            <a:endParaRPr lang="ru-RU" dirty="0"/>
          </a:p>
          <a:p>
            <a:r>
              <a:rPr lang="ru-RU" dirty="0"/>
              <a:t>При росте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периодически перераспределяет память и переносит уже созданные элементы в новый буфер.</a:t>
            </a:r>
          </a:p>
          <a:p>
            <a:endParaRPr lang="ru-RU" dirty="0"/>
          </a:p>
          <a:p>
            <a:r>
              <a:rPr lang="ru-RU" dirty="0"/>
              <a:t>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Foo</a:t>
            </a:r>
            <a:r>
              <a:rPr lang="ru-RU" dirty="0"/>
              <a:t> контейнер может безопасно использовать перемещение.</a:t>
            </a:r>
            <a:br>
              <a:rPr lang="ru-RU" dirty="0"/>
            </a:br>
            <a:r>
              <a:rPr lang="ru-RU" dirty="0"/>
              <a:t>Для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</a:t>
            </a:r>
            <a:r>
              <a:rPr lang="ru-RU" dirty="0"/>
              <a:t> </a:t>
            </a:r>
            <a:r>
              <a:rPr lang="ru-RU" dirty="0" err="1"/>
              <a:t>move</a:t>
            </a:r>
            <a:r>
              <a:rPr lang="ru-RU" dirty="0"/>
              <a:t> может выбросить исключение, поэтому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чаще выбирает копирование, чтобы сохранить гарантии безопасности исключений.</a:t>
            </a:r>
          </a:p>
          <a:p>
            <a:endParaRPr lang="ru-RU" dirty="0"/>
          </a:p>
          <a:p>
            <a:r>
              <a:rPr lang="ru-RU" dirty="0"/>
              <a:t>На графике видно, что вариант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работает заметно быстрее.</a:t>
            </a:r>
          </a:p>
          <a:p>
            <a:r>
              <a:rPr lang="ru-RU" dirty="0"/>
              <a:t>Вывод: если </a:t>
            </a:r>
            <a:r>
              <a:rPr lang="ru-RU" dirty="0" err="1"/>
              <a:t>move</a:t>
            </a:r>
            <a:r>
              <a:rPr lang="ru-RU" dirty="0"/>
              <a:t>-конструктор и </a:t>
            </a:r>
            <a:r>
              <a:rPr lang="ru-RU" dirty="0" err="1"/>
              <a:t>move</a:t>
            </a:r>
            <a:r>
              <a:rPr lang="ru-RU" dirty="0"/>
              <a:t>-присваивание действительно не выбрасывают исключений, их стоит помечать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3605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0638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принято говорить об уровнях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 — гарантиях безопасности исключений.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Они описывают, что произойдёт с объектом или программой, если операция завершится исключением.</a:t>
            </a:r>
          </a:p>
          <a:p>
            <a:endParaRPr lang="en-US" dirty="0"/>
          </a:p>
          <a:p>
            <a:r>
              <a:rPr lang="ru-RU" dirty="0"/>
              <a:t>Всего обычно выделяют четыре уровня: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отсутствие гарантий;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базовая гарантия;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сильная гарантия; </a:t>
            </a:r>
          </a:p>
          <a:p>
            <a:r>
              <a:rPr lang="ru-RU" dirty="0"/>
              <a:t>и гарантия отсутствия исключений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 </a:t>
            </a:r>
          </a:p>
          <a:p>
            <a:r>
              <a:rPr lang="ru-RU" dirty="0"/>
              <a:t>Каждый следующий уровень сильнее предыдущего и включает его свойства.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6251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плохая ситуация — отсутствие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</a:p>
          <a:p>
            <a:r>
              <a:rPr lang="ru-RU" dirty="0"/>
              <a:t>Если исключение возникает в неудачный момент, объект может остаться в частично изменённом и </a:t>
            </a:r>
            <a:r>
              <a:rPr lang="ru-RU" dirty="0" err="1"/>
              <a:t>невалидном</a:t>
            </a:r>
            <a:r>
              <a:rPr lang="ru-RU" dirty="0"/>
              <a:t> состоянии.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может привести: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 утечкам памяти;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нарушению инвариантов;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behavior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аварийному завершению программы. </a:t>
            </a:r>
          </a:p>
          <a:p>
            <a:endParaRPr lang="en-US" dirty="0"/>
          </a:p>
          <a:p>
            <a:r>
              <a:rPr lang="ru-RU" dirty="0"/>
              <a:t>Такой код считается небезопасным, и его нужно избегать.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86840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Базовая гарантия — это минимально приемлемый уровень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операция завершилась исключением:</a:t>
            </a:r>
          </a:p>
          <a:p>
            <a:r>
              <a:rPr lang="en-US" dirty="0"/>
              <a:t>- </a:t>
            </a:r>
            <a:r>
              <a:rPr lang="ru-RU" dirty="0"/>
              <a:t>объект всё ещё корректен; </a:t>
            </a:r>
          </a:p>
          <a:p>
            <a:r>
              <a:rPr lang="en-US" dirty="0"/>
              <a:t>- </a:t>
            </a:r>
            <a:r>
              <a:rPr lang="ru-RU" dirty="0"/>
              <a:t>ресурсы не утекли; </a:t>
            </a:r>
          </a:p>
          <a:p>
            <a:pPr marL="171450" indent="-171450">
              <a:buFontTx/>
              <a:buChar char="-"/>
            </a:pPr>
            <a:r>
              <a:rPr lang="ru-RU" dirty="0"/>
              <a:t>программу можно безопасно продолжать выполнять. </a:t>
            </a:r>
            <a:endParaRPr lang="en-US" dirty="0"/>
          </a:p>
          <a:p>
            <a:pPr marL="0" indent="0">
              <a:buFontTx/>
              <a:buNone/>
            </a:pPr>
            <a:endParaRPr lang="ru-RU" dirty="0"/>
          </a:p>
          <a:p>
            <a:r>
              <a:rPr lang="ru-RU" dirty="0"/>
              <a:t>Но состояние объекта может измениться частично.</a:t>
            </a:r>
          </a:p>
          <a:p>
            <a:r>
              <a:rPr lang="ru-RU" dirty="0"/>
              <a:t>Главное — объект остаётся валидным.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2573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Сильная гарантия означает принцип </a:t>
            </a:r>
            <a:r>
              <a:rPr lang="ru-RU" dirty="0" err="1"/>
              <a:t>commit-or-rollback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Либо операция успешно завершается,</a:t>
            </a:r>
            <a:br>
              <a:rPr lang="ru-RU" dirty="0"/>
            </a:br>
            <a:r>
              <a:rPr lang="ru-RU" dirty="0"/>
              <a:t>либо объект остаётся ровно в том состоянии, в котором был до начала операции.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более сильная и удобная гарантия, но её сложнее реализовать.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Часто для этого используют: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временные объекты;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copy-and-swap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двухфазное изменение состояния.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82300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Самая сильная гарантия — отсутствие исключений.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Функция 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обещает, что исключения не покинут её пределы.</a:t>
            </a:r>
          </a:p>
          <a:p>
            <a:r>
              <a:rPr lang="ru-RU" dirty="0"/>
              <a:t>Особенно важно это для: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деструкторов;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move</a:t>
            </a:r>
            <a:r>
              <a:rPr lang="ru-RU" dirty="0"/>
              <a:t>-операций;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функций освобождения ресурсов;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dirty="0" err="1"/>
              <a:t>callback</a:t>
            </a:r>
            <a:r>
              <a:rPr lang="ru-RU" dirty="0"/>
              <a:t>-функций. </a:t>
            </a:r>
          </a:p>
          <a:p>
            <a:r>
              <a:rPr lang="ru-RU" dirty="0"/>
              <a:t>Если исключение всё же выйдет наружу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-функции, программа завершится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1354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показаны два типичных примера использования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IsTurnedOn</a:t>
            </a:r>
            <a:r>
              <a:rPr lang="ru-RU" dirty="0"/>
              <a:t> просто возвращает значение поля и очевидно не может выбросить исключение, поэтому его разумно пометить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Второй пример — </a:t>
            </a:r>
            <a:r>
              <a:rPr lang="ru-RU" dirty="0" err="1"/>
              <a:t>move</a:t>
            </a:r>
            <a:r>
              <a:rPr lang="ru-RU" dirty="0"/>
              <a:t>-конструктор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MyString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 не выделяет память и не копирует данные, а только “забирает” указатель у другого объекта.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Такие </a:t>
            </a:r>
            <a:r>
              <a:rPr lang="ru-RU" dirty="0" err="1"/>
              <a:t>move</a:t>
            </a:r>
            <a:r>
              <a:rPr lang="ru-RU" dirty="0"/>
              <a:t>-операции обычно тоже делают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, чтобы стандартные контейнеры могли безопасно и эффективно использовать перемещение вместо копирования.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9826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Статический анализатор предлагает пометить </a:t>
            </a:r>
            <a:r>
              <a:rPr lang="ru-RU" dirty="0" err="1"/>
              <a:t>move</a:t>
            </a:r>
            <a:r>
              <a:rPr lang="ru-RU" dirty="0"/>
              <a:t>-конструктор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</a:t>
            </a:r>
          </a:p>
          <a:p>
            <a:r>
              <a:rPr lang="ru-RU" dirty="0"/>
              <a:t>Но делать это можно только тогда, когда мы действительно уверены, что операция не выбрасывает исключений.</a:t>
            </a:r>
          </a:p>
          <a:p>
            <a:endParaRPr lang="ru-RU" dirty="0"/>
          </a:p>
          <a:p>
            <a:r>
              <a:rPr lang="ru-RU" dirty="0"/>
              <a:t>Здесь </a:t>
            </a:r>
            <a:r>
              <a:rPr lang="ru-RU" dirty="0" err="1"/>
              <a:t>move</a:t>
            </a:r>
            <a:r>
              <a:rPr lang="ru-RU" dirty="0"/>
              <a:t>-конструктор вызывает </a:t>
            </a:r>
            <a:r>
              <a:rPr lang="ru-RU" dirty="0" err="1"/>
              <a:t>move</a:t>
            </a:r>
            <a:r>
              <a:rPr lang="ru-RU" dirty="0"/>
              <a:t>-конструктор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unordered_map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А у некоторых стандартных контейнеров </a:t>
            </a:r>
            <a:r>
              <a:rPr lang="ru-RU" dirty="0" err="1"/>
              <a:t>move</a:t>
            </a:r>
            <a:r>
              <a:rPr lang="ru-RU" dirty="0"/>
              <a:t>-операции потенциально могут выбрасывать исключения — например, из-за </a:t>
            </a:r>
            <a:r>
              <a:rPr lang="ru-RU" dirty="0" err="1"/>
              <a:t>аллокатора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автоматически добавлять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 нельзя: иначе при исключении программа завершится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terminate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6742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ru-RU" dirty="0"/>
              <a:t> явно показывает, что функция может выбрасывать исключения.</a:t>
            </a:r>
            <a:endParaRPr lang="en-US" dirty="0"/>
          </a:p>
          <a:p>
            <a:endParaRPr lang="en-US" dirty="0"/>
          </a:p>
          <a:p>
            <a:r>
              <a:rPr lang="ru-RU" dirty="0"/>
              <a:t>Обычно это писать не нужно, потому что такое поведение используется по умолчанию. Иногда запись может быть полезна для документации или в шаблонном коде, где спецификация исключений задаётся условно.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0219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практический пример.</a:t>
            </a:r>
          </a:p>
          <a:p>
            <a:r>
              <a:rPr lang="ru-RU" dirty="0"/>
              <a:t>Функция должна открыть файл, считать его содержимое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и вернуть результат.</a:t>
            </a:r>
          </a:p>
          <a:p>
            <a:endParaRPr lang="ru-RU" dirty="0"/>
          </a:p>
          <a:p>
            <a:r>
              <a:rPr lang="ru-RU" dirty="0"/>
              <a:t>Для работы с файлом здесь используется C API: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FILE*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fopen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fread</a:t>
            </a:r>
            <a:r>
              <a:rPr lang="ru-RU" dirty="0"/>
              <a:t>,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Такой код особенно интересен с точки зрения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, потому что управление ресурсом выполняется вручную.</a:t>
            </a:r>
          </a:p>
          <a:p>
            <a:endParaRPr lang="ru-RU" dirty="0"/>
          </a:p>
          <a:p>
            <a:r>
              <a:rPr lang="ru-RU" dirty="0"/>
              <a:t>Наша задача — проанализировать: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что произойдёт при исключениях;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возможны ли утечки ресурсов;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как сделать реализацию безопаснее.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0143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первый взгляд функция выглядит вполне рабочей: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файл открывается;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создаётся буфер;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содержимое считывается;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файл закрывается. </a:t>
            </a:r>
          </a:p>
          <a:p>
            <a:r>
              <a:rPr lang="ru-RU" dirty="0"/>
              <a:t>Но здесь есть важная проблема.</a:t>
            </a:r>
          </a:p>
          <a:p>
            <a:r>
              <a:rPr lang="ru-RU" dirty="0"/>
              <a:t>Операция: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buf.resize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(...)</a:t>
            </a:r>
          </a:p>
          <a:p>
            <a:r>
              <a:rPr lang="ru-RU" dirty="0"/>
              <a:t>может выбросить исключение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это произойдёт, выполнение функции немедленно прервётся,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 уже не будет вызван.</a:t>
            </a:r>
          </a:p>
          <a:p>
            <a:r>
              <a:rPr lang="ru-RU" dirty="0"/>
              <a:t>В результате файловый ресурс утечёт.</a:t>
            </a:r>
          </a:p>
          <a:p>
            <a:endParaRPr lang="ru-RU" dirty="0"/>
          </a:p>
          <a:p>
            <a:r>
              <a:rPr lang="ru-RU" dirty="0"/>
              <a:t>Это типичный пример кода, который корректно работает в штатной ситуации, но небезопасен при возникновении исключений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07435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этом коде есть две важные проблемы.</a:t>
            </a:r>
          </a:p>
          <a:p>
            <a:r>
              <a:rPr lang="ru-RU" dirty="0"/>
              <a:t>Первая — функция возвращает пустой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и при ошибке открытия файла, и при чтении действительно пустого файла.</a:t>
            </a:r>
          </a:p>
          <a:p>
            <a:r>
              <a:rPr lang="ru-RU" dirty="0"/>
              <a:t>Вызывающий код не может отличить одну ситуацию от другой.</a:t>
            </a:r>
          </a:p>
          <a:p>
            <a:r>
              <a:rPr lang="ru-RU" dirty="0"/>
              <a:t>Гораздо лучше явно сообщать об ошибке через исключение.</a:t>
            </a:r>
          </a:p>
          <a:p>
            <a:endParaRPr lang="ru-RU" dirty="0"/>
          </a:p>
          <a:p>
            <a:r>
              <a:rPr lang="ru-RU" dirty="0"/>
              <a:t>Вторая проблема связана с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</a:p>
          <a:p>
            <a:r>
              <a:rPr lang="ru-RU" dirty="0"/>
              <a:t>Операция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resize</a:t>
            </a:r>
            <a:r>
              <a:rPr lang="ru-RU" dirty="0"/>
              <a:t> может выбросить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Если это произойдёт, выполнение функции прервётся,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 вызван не будет.</a:t>
            </a:r>
          </a:p>
          <a:p>
            <a:r>
              <a:rPr lang="ru-RU" dirty="0"/>
              <a:t>В результате файловый дескриптор утечёт.</a:t>
            </a:r>
          </a:p>
          <a:p>
            <a:endParaRPr lang="ru-RU" dirty="0"/>
          </a:p>
          <a:p>
            <a:r>
              <a:rPr lang="ru-RU" dirty="0"/>
              <a:t>Дальше рассмотрим несколько способов решения этой проблемы.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8973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вариант решения — явный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r>
              <a:rPr lang="ru-RU" dirty="0"/>
              <a:t>Мы перехватываем любое исключение:</a:t>
            </a:r>
          </a:p>
          <a:p>
            <a:r>
              <a:rPr lang="ru-RU" dirty="0"/>
              <a:t>закрываем файл; </a:t>
            </a:r>
          </a:p>
          <a:p>
            <a:r>
              <a:rPr lang="ru-RU" dirty="0"/>
              <a:t>затем </a:t>
            </a:r>
            <a:r>
              <a:rPr lang="ru-RU" dirty="0" err="1"/>
              <a:t>перевыбрасываем</a:t>
            </a:r>
            <a:r>
              <a:rPr lang="ru-RU" dirty="0"/>
              <a:t> исключение дальше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ru-RU" dirty="0"/>
              <a:t>. </a:t>
            </a:r>
          </a:p>
          <a:p>
            <a:r>
              <a:rPr lang="ru-RU" dirty="0"/>
              <a:t>Такой код уже обеспечивает базовую гарантию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ресурс не утекает даже при ошибке.</a:t>
            </a:r>
          </a:p>
          <a:p>
            <a:r>
              <a:rPr lang="ru-RU" dirty="0"/>
              <a:t>Но решение получается довольно громоздким и легко забыть добавить такой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 в другом месте.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0227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Второй вариант — использовать механизм </a:t>
            </a:r>
            <a:r>
              <a:rPr lang="ru-RU" dirty="0" err="1"/>
              <a:t>scope</a:t>
            </a:r>
            <a:r>
              <a:rPr lang="ru-RU" dirty="0"/>
              <a:t> </a:t>
            </a:r>
            <a:r>
              <a:rPr lang="ru-RU" dirty="0" err="1"/>
              <a:t>exit</a:t>
            </a:r>
            <a:r>
              <a:rPr lang="ru-RU" dirty="0"/>
              <a:t>.</a:t>
            </a:r>
          </a:p>
          <a:p>
            <a:r>
              <a:rPr lang="ru-RU" dirty="0"/>
              <a:t>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BOOST_SCOPE_EXIT_ALL</a:t>
            </a:r>
            <a:r>
              <a:rPr lang="ru-RU" dirty="0"/>
              <a:t> автоматически выполнит указанный код при выходе из области видимости: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 обычном завершении функции;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при исключении. </a:t>
            </a:r>
          </a:p>
          <a:p>
            <a:r>
              <a:rPr lang="ru-RU" dirty="0"/>
              <a:t>Теперь закрытие файла гарантировано независимо от того, как завершится функция.</a:t>
            </a:r>
          </a:p>
          <a:p>
            <a:r>
              <a:rPr lang="ru-RU" dirty="0"/>
              <a:t>Это уже значительно ближе к идее RAII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89917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современный аналог </a:t>
            </a:r>
            <a:r>
              <a:rPr lang="ru-RU" dirty="0" err="1"/>
              <a:t>scope</a:t>
            </a:r>
            <a:r>
              <a:rPr lang="ru-RU" dirty="0"/>
              <a:t> </a:t>
            </a:r>
            <a:r>
              <a:rPr lang="ru-RU" dirty="0" err="1"/>
              <a:t>guard</a:t>
            </a:r>
            <a:r>
              <a:rPr lang="ru-RU" dirty="0"/>
              <a:t> из библиотеки GSL.</a:t>
            </a:r>
          </a:p>
          <a:p>
            <a:r>
              <a:rPr lang="ru-RU" dirty="0"/>
              <a:t>Объект, созданный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gsl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finally</a:t>
            </a:r>
            <a:r>
              <a:rPr lang="ru-RU" dirty="0"/>
              <a:t>, автоматически вызывает переданную лямбду при выходе из функции.</a:t>
            </a:r>
          </a:p>
          <a:p>
            <a:endParaRPr lang="ru-RU" dirty="0"/>
          </a:p>
          <a:p>
            <a:r>
              <a:rPr lang="ru-RU" dirty="0"/>
              <a:t>Это позволяет привязать освобождение ресурса ко времени жизни объекта и избежать ручного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в современном C++ обычно предпочитают ещё более надёжный вариант — вообще не использовать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FILE*</a:t>
            </a:r>
            <a:r>
              <a:rPr lang="ru-RU" dirty="0"/>
              <a:t>, а работать через RAII-классы стандартной библиотеки,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ifstream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18724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RAII — одна из важнейших идиом современного C++.</a:t>
            </a:r>
          </a:p>
          <a:p>
            <a:endParaRPr lang="ru-RU" dirty="0"/>
          </a:p>
          <a:p>
            <a:r>
              <a:rPr lang="ru-RU" dirty="0"/>
              <a:t>Основная идея очень простая:</a:t>
            </a:r>
            <a:br>
              <a:rPr lang="ru-RU" dirty="0"/>
            </a:br>
            <a:r>
              <a:rPr lang="ru-RU" dirty="0"/>
              <a:t>владение ресурсом привязывается ко времени жизни объекта.</a:t>
            </a:r>
          </a:p>
          <a:p>
            <a:r>
              <a:rPr lang="ru-RU" dirty="0"/>
              <a:t>Когда объект создаётся — ресурс захватывается.</a:t>
            </a:r>
            <a:br>
              <a:rPr lang="ru-RU" dirty="0"/>
            </a:br>
            <a:r>
              <a:rPr lang="ru-RU" dirty="0"/>
              <a:t>Когда объект уничтожается — ресурс автоматически освобождается.</a:t>
            </a:r>
          </a:p>
          <a:p>
            <a:endParaRPr lang="ru-RU" dirty="0"/>
          </a:p>
          <a:p>
            <a:r>
              <a:rPr lang="ru-RU" dirty="0"/>
              <a:t>Если получить ресурс не удалось, конструктор выбрасывает исключение, и объект просто не создаётся.</a:t>
            </a:r>
          </a:p>
          <a:p>
            <a:endParaRPr lang="ru-RU" dirty="0"/>
          </a:p>
          <a:p>
            <a:r>
              <a:rPr lang="ru-RU" dirty="0"/>
              <a:t>RAII особенно важен вместе с исключениями.</a:t>
            </a:r>
          </a:p>
          <a:p>
            <a:r>
              <a:rPr lang="ru-RU" dirty="0"/>
              <a:t>Во время раскрутки стека деструкторы вызываются автоматически, поэтому ресурсы корректно освобождаются даже при ошибках.</a:t>
            </a:r>
          </a:p>
          <a:p>
            <a:endParaRPr lang="ru-RU" dirty="0"/>
          </a:p>
          <a:p>
            <a:r>
              <a:rPr lang="ru-RU" dirty="0"/>
              <a:t>Именно благодаря RAII в современном C++ обычно не требуется вручную писать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ru-RU" dirty="0"/>
              <a:t> только ради освобождения ресурсов.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143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Представим, что у нас есть библиотека на языке C.</a:t>
            </a:r>
          </a:p>
          <a:p>
            <a:r>
              <a:rPr lang="ru-RU" dirty="0"/>
              <a:t>Она предоставляет некоторый ресурс: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CreateResource</a:t>
            </a:r>
            <a:r>
              <a:rPr lang="ru-RU" dirty="0"/>
              <a:t> создаёт его;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UseResource</a:t>
            </a:r>
            <a:r>
              <a:rPr lang="ru-RU" dirty="0"/>
              <a:t> использует;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DeleteResource</a:t>
            </a:r>
            <a:r>
              <a:rPr lang="ru-RU" dirty="0"/>
              <a:t> освобождает. </a:t>
            </a:r>
          </a:p>
          <a:p>
            <a:endParaRPr lang="ru-RU" dirty="0"/>
          </a:p>
          <a:p>
            <a:r>
              <a:rPr lang="ru-RU" dirty="0"/>
              <a:t>Такой стиль API очень распространён:</a:t>
            </a:r>
          </a:p>
          <a:p>
            <a:r>
              <a:rPr lang="en-US" dirty="0"/>
              <a:t>- </a:t>
            </a:r>
            <a:r>
              <a:rPr lang="ru-RU" dirty="0"/>
              <a:t>файловые дескрипторы; </a:t>
            </a:r>
          </a:p>
          <a:p>
            <a:r>
              <a:rPr lang="en-US" dirty="0"/>
              <a:t>- </a:t>
            </a:r>
            <a:r>
              <a:rPr lang="ru-RU" dirty="0"/>
              <a:t>сокеты; </a:t>
            </a:r>
          </a:p>
          <a:p>
            <a:r>
              <a:rPr lang="en-US" dirty="0"/>
              <a:t>- </a:t>
            </a:r>
            <a:r>
              <a:rPr lang="ru-RU" dirty="0"/>
              <a:t>графические ресурсы; </a:t>
            </a:r>
          </a:p>
          <a:p>
            <a:r>
              <a:rPr lang="en-US" dirty="0"/>
              <a:t>- </a:t>
            </a:r>
            <a:r>
              <a:rPr lang="ru-RU" dirty="0"/>
              <a:t>системные объекты. </a:t>
            </a:r>
          </a:p>
          <a:p>
            <a:endParaRPr lang="ru-RU" dirty="0"/>
          </a:p>
          <a:p>
            <a:r>
              <a:rPr lang="ru-RU" dirty="0"/>
              <a:t>Но у такого подхода есть проблема: программист обязан вручную помнить про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DeleteResource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При исключениях или сложной логике это легко забыть, что приводит к утечкам ресурсов.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304815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поверх C API создаётся RAII-обёртка.</a:t>
            </a:r>
          </a:p>
          <a:p>
            <a:r>
              <a:rPr lang="ru-RU" dirty="0"/>
              <a:t>Теперь ресурс принадлежит объекту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ResourceHolder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Конструктор получает ресурс.</a:t>
            </a:r>
            <a:br>
              <a:rPr lang="ru-RU" dirty="0"/>
            </a:br>
            <a:r>
              <a:rPr lang="ru-RU" dirty="0"/>
              <a:t>Если получение не удалось — выбрасывается исключение, и объект не создаётся.</a:t>
            </a:r>
          </a:p>
          <a:p>
            <a:r>
              <a:rPr lang="ru-RU" dirty="0"/>
              <a:t>Деструктор автоматически освобождает ресурс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DeleteResource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Благодаря этому:</a:t>
            </a:r>
          </a:p>
          <a:p>
            <a:r>
              <a:rPr lang="ru-RU" dirty="0"/>
              <a:t>ресурс гарантированно освобождается; </a:t>
            </a:r>
          </a:p>
          <a:p>
            <a:r>
              <a:rPr lang="ru-RU" dirty="0"/>
              <a:t>код становится безопаснее; </a:t>
            </a:r>
          </a:p>
          <a:p>
            <a:r>
              <a:rPr lang="ru-RU" dirty="0"/>
              <a:t>исчезает необходимость вручную вызывать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DeleteResource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Также класс запрещает копирование, чтобы избежать двойного освобождения ресурса, но поддерживает перемещение через </a:t>
            </a:r>
            <a:r>
              <a:rPr lang="ru-RU" dirty="0" err="1"/>
              <a:t>move</a:t>
            </a:r>
            <a:r>
              <a:rPr lang="ru-RU" dirty="0"/>
              <a:t>-конструктор и </a:t>
            </a:r>
            <a:r>
              <a:rPr lang="ru-RU" dirty="0" err="1"/>
              <a:t>move</a:t>
            </a:r>
            <a:r>
              <a:rPr lang="ru-RU" dirty="0"/>
              <a:t>-присваивание.</a:t>
            </a:r>
          </a:p>
          <a:p>
            <a:endParaRPr lang="ru-RU" dirty="0"/>
          </a:p>
          <a:p>
            <a:r>
              <a:rPr lang="ru-RU" dirty="0"/>
              <a:t>Это типичный пример RAII в современном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0943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вместо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FILE*</a:t>
            </a:r>
            <a:r>
              <a:rPr lang="ru-RU" dirty="0"/>
              <a:t> используется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ifstream</a:t>
            </a:r>
            <a:r>
              <a:rPr lang="ru-RU" dirty="0"/>
              <a:t> — RAII-класс стандартной библиотеки.</a:t>
            </a:r>
          </a:p>
          <a:p>
            <a:endParaRPr lang="ru-RU" dirty="0"/>
          </a:p>
          <a:p>
            <a:r>
              <a:rPr lang="ru-RU" dirty="0"/>
              <a:t>Файл автоматически закроется в деструкторе объекта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ru-RU" dirty="0"/>
              <a:t>, даже если во время чтения возникнет исключение.</a:t>
            </a:r>
          </a:p>
          <a:p>
            <a:endParaRPr lang="ru-RU" dirty="0"/>
          </a:p>
          <a:p>
            <a:r>
              <a:rPr lang="ru-RU" dirty="0"/>
              <a:t>Здесь содержимое файла копируется 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ru-RU" dirty="0"/>
              <a:t> через итераторы потока.</a:t>
            </a:r>
          </a:p>
          <a:p>
            <a:r>
              <a:rPr lang="ru-RU" dirty="0"/>
              <a:t>Код получается: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короче;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безопаснее;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не требует ручного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fclose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Это хороший пример того, как RAII упрощает </a:t>
            </a:r>
            <a:r>
              <a:rPr lang="ru-RU" dirty="0" err="1"/>
              <a:t>exception-safe</a:t>
            </a:r>
            <a:r>
              <a:rPr lang="ru-RU" dirty="0"/>
              <a:t> программирование.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841083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вариант работает быстрее.</a:t>
            </a:r>
          </a:p>
          <a:p>
            <a:endParaRPr lang="ru-RU" dirty="0"/>
          </a:p>
          <a:p>
            <a:r>
              <a:rPr lang="ru-RU" dirty="0"/>
              <a:t>Сначала определяется размер файла, затем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 сразу создаётся нужного размера, после чего данные считываются одним вызовом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 удаётся избежать многократных перераспределений памяти при чтении через итераторы.</a:t>
            </a:r>
          </a:p>
          <a:p>
            <a:r>
              <a:rPr lang="ru-RU" dirty="0"/>
              <a:t>При этом код по-прежнему остаётся </a:t>
            </a:r>
            <a:r>
              <a:rPr lang="ru-RU" dirty="0" err="1"/>
              <a:t>exception-safe</a:t>
            </a:r>
            <a:r>
              <a:rPr lang="ru-RU" dirty="0"/>
              <a:t>, потому что: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память управляется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</a:t>
            </a:r>
            <a:r>
              <a:rPr lang="ru-RU" dirty="0"/>
              <a:t>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файл управляется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ifstream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Все ресурсы освобождаются автоматически через RAII.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97624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хотите глубже разобраться в RAII и </a:t>
            </a:r>
            <a:r>
              <a:rPr lang="ru-RU" dirty="0" err="1"/>
              <a:t>exception-safe</a:t>
            </a:r>
            <a:r>
              <a:rPr lang="ru-RU" dirty="0"/>
              <a:t> программировании, рекомендую это видео.</a:t>
            </a:r>
          </a:p>
          <a:p>
            <a:r>
              <a:rPr lang="ru-RU" dirty="0"/>
              <a:t>В нём реализуются собственные </a:t>
            </a:r>
            <a:r>
              <a:rPr lang="ru-RU" dirty="0" err="1"/>
              <a:t>Scope</a:t>
            </a:r>
            <a:r>
              <a:rPr lang="ru-RU" dirty="0"/>
              <a:t> </a:t>
            </a:r>
            <a:r>
              <a:rPr lang="ru-RU" dirty="0" err="1"/>
              <a:t>Guards</a:t>
            </a:r>
            <a:r>
              <a:rPr lang="ru-RU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ScopeExit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ScopeFail</a:t>
            </a:r>
            <a:r>
              <a:rPr lang="ru-RU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ScopeSuccess</a:t>
            </a:r>
            <a:r>
              <a:rPr lang="ru-RU" dirty="0"/>
              <a:t>. </a:t>
            </a:r>
          </a:p>
          <a:p>
            <a:r>
              <a:rPr lang="ru-RU" dirty="0"/>
              <a:t>На практических примерах показывается: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автоматическое освобождение ресурсов;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rollback</a:t>
            </a:r>
            <a:r>
              <a:rPr lang="ru-RU" dirty="0"/>
              <a:t> при исключениях;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безопасное восстановление состояния программы. </a:t>
            </a:r>
          </a:p>
          <a:p>
            <a:r>
              <a:rPr lang="ru-RU" dirty="0"/>
              <a:t>Это очень полезная техника современного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19940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более реалистичный пример — собственную реализацию строкового класса.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Класс вручную управляет динамической памятью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Такие классы особенно интересны с точки зрения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, потому что любая ошибка при выделении памяти может оставить объект в некорректном состоянии.</a:t>
            </a:r>
          </a:p>
          <a:p>
            <a:endParaRPr lang="en-US" dirty="0"/>
          </a:p>
          <a:p>
            <a:r>
              <a:rPr lang="ru-RU" dirty="0"/>
              <a:t>Наша задача — проанализировать код и понять:</a:t>
            </a:r>
          </a:p>
          <a:p>
            <a:r>
              <a:rPr lang="ru-RU" dirty="0"/>
              <a:t>где возникают проблемы; </a:t>
            </a:r>
          </a:p>
          <a:p>
            <a:r>
              <a:rPr lang="ru-RU" dirty="0"/>
              <a:t>и как сделать реализацию безопаснее.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97112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9536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операторе присваивания есть две серьёзные проблемы.</a:t>
            </a:r>
          </a:p>
          <a:p>
            <a:r>
              <a:rPr lang="ru-RU" dirty="0"/>
              <a:t>Первая — </a:t>
            </a:r>
            <a:r>
              <a:rPr lang="ru-RU" dirty="0" err="1"/>
              <a:t>самоприсваивание</a:t>
            </a:r>
            <a:r>
              <a:rPr lang="ru-RU" dirty="0"/>
              <a:t>.</a:t>
            </a:r>
          </a:p>
          <a:p>
            <a:r>
              <a:rPr lang="ru-RU" dirty="0"/>
              <a:t>Если выполнить: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объект сначала удалит собственные данные, а затем выделит массив и попытается копировать данные в него же. Если блоки памяти в </a:t>
            </a:r>
            <a:r>
              <a:rPr lang="en-US" dirty="0" err="1"/>
              <a:t>memcpy</a:t>
            </a:r>
            <a:r>
              <a:rPr lang="ru-RU" dirty="0"/>
              <a:t> перекрываются, это </a:t>
            </a:r>
            <a:r>
              <a:rPr lang="en-US" dirty="0"/>
              <a:t>UB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Вторая проблема связана с исключениями.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 выбросит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, объект уже успеет потерять старые данные и останется в </a:t>
            </a:r>
            <a:r>
              <a:rPr lang="ru-RU" dirty="0" err="1"/>
              <a:t>невалидном</a:t>
            </a:r>
            <a:r>
              <a:rPr lang="ru-RU" dirty="0"/>
              <a:t> состоянии (указатель </a:t>
            </a:r>
            <a:r>
              <a:rPr lang="en-US" dirty="0" err="1"/>
              <a:t>m_pChars</a:t>
            </a:r>
            <a:r>
              <a:rPr lang="ru-RU" dirty="0"/>
              <a:t> будет </a:t>
            </a:r>
            <a:r>
              <a:rPr lang="ru-RU" dirty="0" err="1"/>
              <a:t>невалиден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dirty="0"/>
              <a:t>Главная идея исправления: сначала выполнить все потенциально опасные операции, и только потом менять состояние объекта.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6402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код стал значительно безопаснее.</a:t>
            </a:r>
          </a:p>
          <a:p>
            <a:r>
              <a:rPr lang="ru-RU" dirty="0"/>
              <a:t>Сначала выполняется выделение новой памяти и копирование данных во временный буфер.</a:t>
            </a:r>
          </a:p>
          <a:p>
            <a:endParaRPr lang="ru-RU" dirty="0"/>
          </a:p>
          <a:p>
            <a:r>
              <a:rPr lang="ru-RU" dirty="0"/>
              <a:t>Только после успешного завершения этих операций старая память освобождается.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 выбросит исключение, состояние объекта вообще не изменится.</a:t>
            </a:r>
          </a:p>
          <a:p>
            <a:endParaRPr lang="ru-RU" dirty="0"/>
          </a:p>
          <a:p>
            <a:r>
              <a:rPr lang="ru-RU" dirty="0"/>
              <a:t>Также добавлена проверка на </a:t>
            </a:r>
            <a:r>
              <a:rPr lang="ru-RU" dirty="0" err="1"/>
              <a:t>самоприсваивание</a:t>
            </a:r>
            <a:r>
              <a:rPr lang="ru-RU" dirty="0"/>
              <a:t>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!= &amp;s)</a:t>
            </a:r>
          </a:p>
          <a:p>
            <a:r>
              <a:rPr lang="ru-RU" dirty="0"/>
              <a:t>Это уже обеспечивает сильную гарантию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5609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используется идиома </a:t>
            </a:r>
            <a:r>
              <a:rPr lang="ru-RU" dirty="0" err="1"/>
              <a:t>copy-and-swap</a:t>
            </a:r>
            <a:r>
              <a:rPr lang="ru-RU" dirty="0"/>
              <a:t>.</a:t>
            </a:r>
          </a:p>
          <a:p>
            <a:r>
              <a:rPr lang="ru-RU" dirty="0"/>
              <a:t>Сначала создаётся временная копия объекта: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tmp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(s);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Если копирование завершится успешно, внутренние данные просто обмениваются местами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swap</a:t>
            </a:r>
            <a:r>
              <a:rPr lang="ru-RU" dirty="0"/>
              <a:t>.</a:t>
            </a:r>
          </a:p>
          <a:p>
            <a:r>
              <a:rPr lang="ru-RU" dirty="0"/>
              <a:t>После выхода из функции временный объект уничтожится и автоматически освободит старые ресурсы.</a:t>
            </a:r>
          </a:p>
          <a:p>
            <a:r>
              <a:rPr lang="ru-RU" dirty="0"/>
              <a:t>Такой подход: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делает код короче;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упрощает реализацию;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естественным образом обеспечивает сильную гарантию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730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ещё один пример —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Mesh</a:t>
            </a:r>
            <a:r>
              <a:rPr lang="ru-RU" dirty="0"/>
              <a:t>, хранящий данные 3D-модели.</a:t>
            </a:r>
          </a:p>
          <a:p>
            <a:r>
              <a:rPr lang="ru-RU" dirty="0"/>
              <a:t>Модель представлена двумя массивами: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массивом вершин;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массивом индексов.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Vertex</a:t>
            </a:r>
            <a:r>
              <a:rPr lang="ru-RU" dirty="0"/>
              <a:t> — это структура с координатами вершины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(x, y, z)</a:t>
            </a:r>
            <a:r>
              <a:rPr lang="ru-RU" dirty="0"/>
              <a:t>.</a:t>
            </a:r>
          </a:p>
          <a:p>
            <a:r>
              <a:rPr lang="ru-RU" dirty="0"/>
              <a:t>Массив индексов определяет треугольники модели: каждые три числа — это номера вершин одного треугольника.</a:t>
            </a:r>
          </a:p>
          <a:p>
            <a:endParaRPr lang="ru-RU" dirty="0"/>
          </a:p>
          <a:p>
            <a:r>
              <a:rPr lang="ru-RU" dirty="0"/>
              <a:t>Именно так обычно представляются модели в графических движках на основе OpenGL, DirectX и </a:t>
            </a:r>
            <a:r>
              <a:rPr lang="ru-RU" dirty="0" err="1"/>
              <a:t>Vulkan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Теперь посмотрим, насколько безопасен конструктор такого класса при возникновении исключений.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8452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здесь связана с частичным конструированием объекта.</a:t>
            </a:r>
          </a:p>
          <a:p>
            <a:r>
              <a:rPr lang="ru-RU" dirty="0"/>
              <a:t>Сначала успешно выделяется память под массив вершин: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m_vertices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Vertex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vertexCount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После этого начинается выделение памяти под массив индексов.</a:t>
            </a:r>
          </a:p>
          <a:p>
            <a:r>
              <a:rPr lang="ru-RU" dirty="0"/>
              <a:t>Но второй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 может выбросить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bad_alloc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этот момент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Mesh</a:t>
            </a:r>
            <a:r>
              <a:rPr lang="ru-RU" dirty="0"/>
              <a:t> ещё не создан полностью, поэтому его деструктор вызван не будет.</a:t>
            </a:r>
          </a:p>
          <a:p>
            <a:r>
              <a:rPr lang="ru-RU" dirty="0"/>
              <a:t>А значит память, уже выделенная под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m_vertices</a:t>
            </a:r>
            <a:r>
              <a:rPr lang="ru-RU" dirty="0"/>
              <a:t>, утечёт.</a:t>
            </a:r>
          </a:p>
          <a:p>
            <a:endParaRPr lang="ru-RU" dirty="0"/>
          </a:p>
          <a:p>
            <a:r>
              <a:rPr lang="ru-RU" dirty="0"/>
              <a:t>Это типичная проблема ручного управления ресурсами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[]</a:t>
            </a:r>
            <a:r>
              <a:rPr lang="ru-RU" dirty="0"/>
              <a:t>.</a:t>
            </a:r>
          </a:p>
          <a:p>
            <a:r>
              <a:rPr lang="ru-RU" dirty="0"/>
              <a:t>Такой код не является </a:t>
            </a:r>
            <a:r>
              <a:rPr lang="ru-RU" dirty="0" err="1"/>
              <a:t>exception-safe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076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26761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92550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Проблема этого метода в том, что он не обеспечивает </a:t>
            </a:r>
            <a:r>
              <a:rPr lang="ru-RU" dirty="0" err="1"/>
              <a:t>strong</a:t>
            </a:r>
            <a:r>
              <a:rPr lang="ru-RU" dirty="0"/>
              <a:t>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guarantee</a:t>
            </a:r>
            <a:r>
              <a:rPr lang="ru-RU" dirty="0"/>
              <a:t> — принцип </a:t>
            </a:r>
            <a:r>
              <a:rPr lang="ru-RU" dirty="0" err="1"/>
              <a:t>commit-or-rollback</a:t>
            </a:r>
            <a:r>
              <a:rPr lang="ru-RU" dirty="0"/>
              <a:t>.</a:t>
            </a:r>
          </a:p>
          <a:p>
            <a:r>
              <a:rPr lang="ru-RU" dirty="0"/>
              <a:t>Стек модифицируется раньше, чем операция полностью завершается.</a:t>
            </a:r>
          </a:p>
          <a:p>
            <a:endParaRPr lang="ru-RU" dirty="0"/>
          </a:p>
          <a:p>
            <a:r>
              <a:rPr lang="ru-RU" dirty="0"/>
              <a:t>В строке: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ru-RU" dirty="0"/>
              <a:t>может потребоваться вызов </a:t>
            </a:r>
            <a:r>
              <a:rPr lang="ru-RU" dirty="0" err="1"/>
              <a:t>move</a:t>
            </a:r>
            <a:r>
              <a:rPr lang="ru-RU" dirty="0"/>
              <a:t>- или </a:t>
            </a:r>
            <a:r>
              <a:rPr lang="ru-RU" dirty="0" err="1"/>
              <a:t>copy</a:t>
            </a:r>
            <a:r>
              <a:rPr lang="ru-RU" dirty="0"/>
              <a:t>-конструктора.</a:t>
            </a:r>
          </a:p>
          <a:p>
            <a:endParaRPr lang="ru-RU" dirty="0"/>
          </a:p>
          <a:p>
            <a:r>
              <a:rPr lang="ru-RU" dirty="0"/>
              <a:t>Компилятор может устранить это копирование через NRVO, но такая оптимизация для именованной переменной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dirty="0"/>
              <a:t> не гарантируется стандартом.</a:t>
            </a:r>
          </a:p>
          <a:p>
            <a:r>
              <a:rPr lang="ru-RU" dirty="0"/>
              <a:t>Если </a:t>
            </a:r>
            <a:r>
              <a:rPr lang="ru-RU" dirty="0" err="1"/>
              <a:t>copy</a:t>
            </a:r>
            <a:r>
              <a:rPr lang="ru-RU" dirty="0"/>
              <a:t> или </a:t>
            </a:r>
            <a:r>
              <a:rPr lang="ru-RU" dirty="0" err="1"/>
              <a:t>move</a:t>
            </a:r>
            <a:r>
              <a:rPr lang="ru-RU" dirty="0"/>
              <a:t> выбросит исключение: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элемент уже удалён из стека;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вернуть значение не удалось. </a:t>
            </a:r>
          </a:p>
          <a:p>
            <a:endParaRPr lang="ru-RU" dirty="0"/>
          </a:p>
          <a:p>
            <a:r>
              <a:rPr lang="ru-RU" dirty="0"/>
              <a:t>При этом стек остаётся валидным, поэтому базовая гарантия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 сохраняется.</a:t>
            </a:r>
          </a:p>
          <a:p>
            <a:r>
              <a:rPr lang="ru-RU" dirty="0"/>
              <a:t>Но исходное состояние объекта восстановить уже нельзя.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4743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способов решить проблему — возвращать значение через выходной параметр.</a:t>
            </a:r>
          </a:p>
          <a:p>
            <a:endParaRPr lang="ru-RU" dirty="0"/>
          </a:p>
          <a:p>
            <a:r>
              <a:rPr lang="ru-RU" dirty="0"/>
              <a:t>Теперь объект-приёмник создаётся заранее вызывающим кодом, а внутри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выполняется присваивание: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-&gt;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Если </a:t>
            </a:r>
            <a:r>
              <a:rPr lang="ru-RU" dirty="0" err="1"/>
              <a:t>move</a:t>
            </a:r>
            <a:r>
              <a:rPr lang="ru-RU" dirty="0"/>
              <a:t>- или </a:t>
            </a:r>
            <a:r>
              <a:rPr lang="ru-RU" dirty="0" err="1"/>
              <a:t>copy</a:t>
            </a:r>
            <a:r>
              <a:rPr lang="ru-RU" dirty="0"/>
              <a:t>-присваивание выбросит исключение, элемент всё ещё остаётся в стеке, потому что удаление узла ещё не произошло.</a:t>
            </a:r>
          </a:p>
          <a:p>
            <a:r>
              <a:rPr lang="ru-RU" dirty="0"/>
              <a:t>Таким образом можно обеспечить </a:t>
            </a:r>
            <a:r>
              <a:rPr lang="ru-RU" dirty="0" err="1"/>
              <a:t>strong</a:t>
            </a:r>
            <a:r>
              <a:rPr lang="ru-RU" dirty="0"/>
              <a:t>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guarantee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у такого подхода есть недостаток:</a:t>
            </a:r>
            <a:br>
              <a:rPr lang="ru-RU" dirty="0"/>
            </a:br>
            <a:r>
              <a:rPr lang="ru-RU" dirty="0"/>
              <a:t>вызывающий код обязан заранее создать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</a:t>
            </a:r>
            <a:r>
              <a:rPr lang="ru-RU" dirty="0"/>
              <a:t>, даже если операция завершится исключением.</a:t>
            </a:r>
          </a:p>
          <a:p>
            <a:r>
              <a:rPr lang="ru-RU" dirty="0"/>
              <a:t>Кроме того, такой интерфейс менее удобен и менее идиоматичен для современного C++.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2744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один вариант — возвращать значение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.</a:t>
            </a:r>
          </a:p>
          <a:p>
            <a:r>
              <a:rPr lang="ru-RU" dirty="0"/>
              <a:t>Объект создаётся в куче: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make_unique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&lt;T&gt;(...)</a:t>
            </a:r>
          </a:p>
          <a:p>
            <a:endParaRPr lang="ru-RU" dirty="0"/>
          </a:p>
          <a:p>
            <a:r>
              <a:rPr lang="ru-RU" dirty="0"/>
              <a:t>Если во время создания объекта возникнет исключение, стек не изменится, потому что удаление элемента выполняется позже.</a:t>
            </a:r>
          </a:p>
          <a:p>
            <a:r>
              <a:rPr lang="ru-RU" dirty="0"/>
              <a:t>А возврат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безопасен с точки зрения исключений, поскольку перемещение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помечено как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noexcept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Но у такого подхода есть серьёзный недостаток: каждый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теперь требует дополнительного выделения памяти в куче.</a:t>
            </a:r>
          </a:p>
          <a:p>
            <a:r>
              <a:rPr lang="ru-RU" dirty="0"/>
              <a:t>Это: увеличивает накладные расходы, ухудшает производительность и </a:t>
            </a:r>
            <a:r>
              <a:rPr lang="ru-RU" dirty="0" err="1"/>
              <a:t>и</a:t>
            </a:r>
            <a:r>
              <a:rPr lang="ru-RU" dirty="0"/>
              <a:t> может приводить к фрагментации памяти. </a:t>
            </a:r>
          </a:p>
          <a:p>
            <a:endParaRPr lang="ru-RU" dirty="0"/>
          </a:p>
          <a:p>
            <a:r>
              <a:rPr lang="ru-RU" dirty="0"/>
              <a:t>Поэтому на практике такой интерфейс используется редко.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85563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Более удачное решение — разделить получение значения и удаление элемента на две независимые операции.</a:t>
            </a:r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GetTop</a:t>
            </a:r>
            <a:r>
              <a:rPr lang="ru-RU" dirty="0"/>
              <a:t> только возвращает ссылку на верхний элемент стека,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занимается исключительно удалением узла.</a:t>
            </a:r>
          </a:p>
          <a:p>
            <a:endParaRPr lang="ru-RU" dirty="0"/>
          </a:p>
          <a:p>
            <a:r>
              <a:rPr lang="ru-RU" dirty="0"/>
              <a:t>Теперь пользовательский код сам контролирует порядок действий: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auto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value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stack.GetTop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  <a:b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stack.Pop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();</a:t>
            </a:r>
          </a:p>
          <a:p>
            <a:r>
              <a:rPr lang="ru-RU" dirty="0"/>
              <a:t>Если копирование или перемещение значения выбросит исключение, стек вообще не изменится.</a:t>
            </a:r>
          </a:p>
          <a:p>
            <a:endParaRPr lang="ru-RU" dirty="0"/>
          </a:p>
          <a:p>
            <a:r>
              <a:rPr lang="ru-RU" dirty="0"/>
              <a:t>А сам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dirty="0"/>
              <a:t> становится простой и безопасной операцией, которая не выполняет копирования объектов.</a:t>
            </a:r>
          </a:p>
          <a:p>
            <a:endParaRPr lang="ru-RU" dirty="0"/>
          </a:p>
          <a:p>
            <a:r>
              <a:rPr lang="ru-RU" dirty="0"/>
              <a:t>Именно поэтому интерфейс стандартного контейнера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stack</a:t>
            </a:r>
            <a:r>
              <a:rPr lang="ru-RU" dirty="0"/>
              <a:t> устроен похожим образом: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возвращает доступ к элементу; </a:t>
            </a:r>
          </a:p>
          <a:p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pop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ничего не возвращает.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21624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Умные указатели значительно повышают безопасность кода, но они не решают все проблемы автоматически.</a:t>
            </a:r>
          </a:p>
          <a:p>
            <a:r>
              <a:rPr lang="ru-RU" dirty="0"/>
              <a:t>Здесь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владеет объектом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</a:t>
            </a:r>
            <a:r>
              <a:rPr lang="ru-RU" dirty="0"/>
              <a:t>.</a:t>
            </a:r>
          </a:p>
          <a:p>
            <a:r>
              <a:rPr lang="ru-RU" dirty="0"/>
              <a:t>Но в момент вызова: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texture.release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r>
              <a:rPr lang="ru-RU" dirty="0"/>
              <a:t>владение ресурсом теряется.</a:t>
            </a:r>
          </a:p>
          <a:p>
            <a:endParaRPr lang="ru-RU" dirty="0"/>
          </a:p>
          <a:p>
            <a:r>
              <a:rPr lang="ru-RU" dirty="0"/>
              <a:t>После этого объект больше никем не управляется.</a:t>
            </a:r>
          </a:p>
          <a:p>
            <a:r>
              <a:rPr lang="ru-RU" dirty="0"/>
              <a:t>Проблема в том, что порядок вычисления аргументов функции не гарантирован.</a:t>
            </a:r>
          </a:p>
          <a:p>
            <a:endParaRPr lang="ru-RU" dirty="0"/>
          </a:p>
          <a:p>
            <a:r>
              <a:rPr lang="ru-RU" dirty="0"/>
              <a:t>Компилятор может сначала выполнить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, а затем вызвать: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LoadTextureInfo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LoadTextureInfo</a:t>
            </a:r>
            <a:r>
              <a:rPr lang="ru-RU" dirty="0"/>
              <a:t> выбросит исключение,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RegisterTexture</a:t>
            </a:r>
            <a:r>
              <a:rPr lang="ru-RU" dirty="0"/>
              <a:t> не произойдёт, а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</a:t>
            </a:r>
            <a:r>
              <a:rPr lang="ru-RU" dirty="0"/>
              <a:t> окажется потерян.</a:t>
            </a:r>
          </a:p>
          <a:p>
            <a:endParaRPr lang="ru-RU" dirty="0"/>
          </a:p>
          <a:p>
            <a:r>
              <a:rPr lang="ru-RU" dirty="0"/>
              <a:t>Возникнет утечка памяти.</a:t>
            </a:r>
          </a:p>
          <a:p>
            <a:r>
              <a:rPr lang="ru-RU" dirty="0"/>
              <a:t>Главный вывод:</a:t>
            </a:r>
            <a:br>
              <a:rPr lang="ru-RU" dirty="0"/>
            </a:br>
            <a:r>
              <a:rPr lang="ru-RU" dirty="0"/>
              <a:t>умный указатель защищает ресурс только пока действительно владеет им.»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76571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проблема устранена.</a:t>
            </a:r>
          </a:p>
          <a:p>
            <a:r>
              <a:rPr lang="ru-RU" dirty="0"/>
              <a:t>Пока выполняется: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LoadTextureInfo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path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</a:t>
            </a:r>
            <a:r>
              <a:rPr lang="ru-RU" dirty="0"/>
              <a:t> всё ещё принадлежит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возникнет исключение,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автоматически удалит текстуру, и утечки памяти не произойдёт.</a:t>
            </a:r>
          </a:p>
          <a:p>
            <a:r>
              <a:rPr lang="ru-RU" dirty="0"/>
              <a:t>Только после успешного вызова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RegisterTexture</a:t>
            </a:r>
            <a:r>
              <a:rPr lang="ru-RU" dirty="0"/>
              <a:t> владение ресурсом передаётся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TextureManager</a:t>
            </a:r>
            <a:r>
              <a:rPr lang="ru-RU" dirty="0"/>
              <a:t> через: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texture.release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</a:p>
          <a:p>
            <a:pPr rtl="0"/>
            <a:endParaRPr lang="ru-RU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То есть ресурс освобождается из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только тогда, когда новый владелец уже гарантированно появился.</a:t>
            </a:r>
          </a:p>
          <a:p>
            <a:r>
              <a:rPr lang="ru-RU" dirty="0"/>
              <a:t>Это хороший пример того, что даже при использовании RAII важно аккуратно проектировать передачу владения ресурсами.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25674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более современное и безопасное решение.</a:t>
            </a:r>
          </a:p>
          <a:p>
            <a:r>
              <a:rPr lang="ru-RU" dirty="0"/>
              <a:t>Теперь 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RegisterTexture</a:t>
            </a:r>
            <a:r>
              <a:rPr lang="ru-RU" dirty="0"/>
              <a:t> явно принимает владение объектом через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Передача владения выполняется через:</a:t>
            </a:r>
          </a:p>
          <a:p>
            <a:pPr rtl="0"/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move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ru-RU" dirty="0"/>
              <a:t>Пока вызов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RegisterTexture</a:t>
            </a:r>
            <a:r>
              <a:rPr lang="ru-RU" dirty="0"/>
              <a:t> не завершился успешно, объект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</a:t>
            </a:r>
            <a:r>
              <a:rPr lang="ru-RU" dirty="0"/>
              <a:t> продолжает принадлежать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ru-RU" dirty="0"/>
              <a:t> в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LoadTexture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LoadTextureInfo</a:t>
            </a:r>
            <a:r>
              <a:rPr lang="ru-RU" dirty="0"/>
              <a:t> выбросит исключение, память будет автоматически освобождена.</a:t>
            </a:r>
          </a:p>
          <a:p>
            <a:r>
              <a:rPr lang="ru-RU" dirty="0"/>
              <a:t>А после успешного вызова владение корректно перейдёт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TextureManager</a:t>
            </a:r>
            <a:r>
              <a:rPr lang="ru-RU" dirty="0"/>
              <a:t>.</a:t>
            </a:r>
          </a:p>
          <a:p>
            <a:r>
              <a:rPr lang="ru-RU" dirty="0"/>
              <a:t>Такой интерфейс гораздо безопаснее, потому что владение ресурсом выражено прямо в типах, а необходимость ручного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полностью исчезает.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8498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разработке </a:t>
            </a:r>
            <a:r>
              <a:rPr lang="ru-RU" dirty="0" err="1"/>
              <a:t>exception-safe</a:t>
            </a:r>
            <a:r>
              <a:rPr lang="ru-RU" dirty="0"/>
              <a:t> кода главное — понимать, где именно могут возникать исключения.</a:t>
            </a:r>
          </a:p>
          <a:p>
            <a:r>
              <a:rPr lang="ru-RU" dirty="0"/>
              <a:t>Это не только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</a:t>
            </a:r>
            <a:r>
              <a:rPr lang="ru-RU" dirty="0"/>
              <a:t>, но и:</a:t>
            </a:r>
          </a:p>
          <a:p>
            <a:r>
              <a:rPr lang="ru-RU" dirty="0"/>
              <a:t>копирование объектов; </a:t>
            </a:r>
          </a:p>
          <a:p>
            <a:r>
              <a:rPr lang="ru-RU" dirty="0"/>
              <a:t>перемещение; </a:t>
            </a:r>
          </a:p>
          <a:p>
            <a:r>
              <a:rPr lang="ru-RU" dirty="0"/>
              <a:t>работа контейнеров; </a:t>
            </a:r>
          </a:p>
          <a:p>
            <a:r>
              <a:rPr lang="ru-RU" dirty="0"/>
              <a:t>файловые операции. </a:t>
            </a:r>
          </a:p>
          <a:p>
            <a:endParaRPr lang="ru-RU" dirty="0"/>
          </a:p>
          <a:p>
            <a:r>
              <a:rPr lang="ru-RU" dirty="0"/>
              <a:t>После этого нужно проверить: останется ли объект валидным, если исключение действительно произойдёт.</a:t>
            </a:r>
          </a:p>
          <a:p>
            <a:endParaRPr lang="ru-RU" dirty="0"/>
          </a:p>
          <a:p>
            <a:r>
              <a:rPr lang="ru-RU" dirty="0"/>
              <a:t>Очень важный принцип: не изменять состояние объекта раньше времени.</a:t>
            </a:r>
          </a:p>
          <a:p>
            <a:endParaRPr lang="ru-RU" dirty="0"/>
          </a:p>
          <a:p>
            <a:r>
              <a:rPr lang="ru-RU" dirty="0"/>
              <a:t>Сначала выполняются все потенциально опасные операции, а уже потом — </a:t>
            </a:r>
            <a:r>
              <a:rPr lang="ru-RU" dirty="0" err="1"/>
              <a:t>commit</a:t>
            </a:r>
            <a:r>
              <a:rPr lang="ru-RU" dirty="0"/>
              <a:t> через операции, не выбрасывающие исключений.</a:t>
            </a:r>
          </a:p>
          <a:p>
            <a:endParaRPr lang="ru-RU" dirty="0"/>
          </a:p>
          <a:p>
            <a:r>
              <a:rPr lang="ru-RU" dirty="0"/>
              <a:t>И, конечно, в современном C++ основу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 составляет RAII: контейнеры стандартной библиотеки и умные указатели.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35795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 сильно зависит от архитектуры кода.</a:t>
            </a:r>
          </a:p>
          <a:p>
            <a:r>
              <a:rPr lang="ru-RU" dirty="0"/>
              <a:t>Чем проще и короче методы, тем легче обеспечить корректную обработку ошибок.</a:t>
            </a:r>
          </a:p>
          <a:p>
            <a:r>
              <a:rPr lang="ru-RU" dirty="0"/>
              <a:t>Лучше опираться на готовые RAII-компоненты стандартной библиотеки, чем вручную управлять ресурсами.</a:t>
            </a:r>
          </a:p>
          <a:p>
            <a:endParaRPr lang="ru-RU" dirty="0"/>
          </a:p>
          <a:p>
            <a:r>
              <a:rPr lang="ru-RU" dirty="0"/>
              <a:t>Также важно тестировать не только “хорошие” сценарии, но и аварийные: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ошибки выделения памяти;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сбои ввода-вывода;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исключения при копировании объектов. </a:t>
            </a:r>
          </a:p>
          <a:p>
            <a:endParaRPr lang="ru-RU" dirty="0"/>
          </a:p>
          <a:p>
            <a:r>
              <a:rPr lang="ru-RU" dirty="0"/>
              <a:t>И, конечно, очень помогают инструменты анализа: </a:t>
            </a:r>
            <a:r>
              <a:rPr lang="ru-RU" dirty="0" err="1"/>
              <a:t>sanitizers</a:t>
            </a:r>
            <a:r>
              <a:rPr lang="ru-RU" dirty="0"/>
              <a:t>, статические анализаторы и детекторы утечек памяти.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68929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60538-7051-483A-90FD-419AF76C4388}" type="slidenum">
              <a:rPr lang="ru-RU" smtClean="0"/>
              <a:pPr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9750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5E5F-C3E3-D4CF-99C0-3A357CBC1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881FC-3EBF-78EF-5AAD-31B2BD383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8498B-D13C-D8AB-05CD-12A9F4601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B1695-89C7-CB47-55BD-A356504AB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24E38-EE74-CE98-42D0-6002879F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51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22CF-6754-784F-364B-09BC9634E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8ECD9-D834-1332-23AA-A42488B25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9C29E-BEA7-C252-394A-805AB7A3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B2F5D-786D-F098-4172-C594FF918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F5440-9CF8-65D2-CE24-69C1E80F1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066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4820-D477-4DC3-70D3-2EFD631D4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71701-7AC6-05B6-958A-B8998A825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EC9D8-FD94-84B5-F40A-372EABD93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36602-DBFD-2CFF-D8B5-409622B3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645A5-FA2A-E329-E379-282B61DDD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73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7366-F4C6-ADBB-634A-6752302C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CA288-09F5-742E-FDDC-3AD0C48FC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F2281-5AF9-9594-2EE9-D0AAE64EC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33C4E-B08F-5495-1A12-8E09D54A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B6E0-D0BF-C5BC-94BC-F7904220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97ECE-36DE-9F42-B248-547D885F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542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DA65-7187-FB72-D41D-9E990A025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B1A38-F1DA-35F6-0F17-8696FD7D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A5CAC5-5545-F3F7-B713-D8D200A22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E9712F-6EC7-4055-7D6E-814F11B4D5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6821D5-BA4A-7ED6-394B-EAC2998BD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2A2E1-BC73-BE98-CFC7-512E7132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17F67F-D2B2-79A7-51FA-E820CB53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4E51C-5F3F-FB8B-4822-8638A71E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602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29B04-7599-EDF5-2417-7D5C49E8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19AEC-5CA7-2C5E-E1AA-1DE51312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FB2B7A-69D3-B171-4E36-C126BAF49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300EBE-DDE0-4381-2591-3FD9C3D4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9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A20B7-DD28-B67B-7C67-FA650D95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DE5D7-BD71-095A-8CA4-C3BE11E1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EA7F9-ED9F-376E-D14E-546B562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171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34FF-FE3F-E0EB-A245-471A83497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C93B3-8D8D-623F-4D15-DA9F5F5A7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DEAE9-7BEC-1DA9-E005-C7E6D81FD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8DD4C-0CA1-10BE-F09B-FED1BAAD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96ACB-0360-78A8-4A9E-12F9ADD0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A1A88-906F-287B-F827-589D2B81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342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CDD81-DEAC-9F1C-8455-7276BFDA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005AAF-390C-D84B-4ABB-525E9319EA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BB78F-1D50-84CE-0D80-131D47E2D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233E-91A9-4D63-6E3C-98EF7BB11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FDFA2-ADCA-15BF-956A-CDCD373B2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998B0-F7C5-65BA-CF6A-30C3BBFD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35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F8FF-542D-88E0-EF5E-68AF3A57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BFF4D9-80FF-BE46-C6A2-60D8B8505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BD7A0-70DA-56EE-8871-DC709B21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1DF4-984D-2230-D511-5825C36E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0BB46-13B0-544F-EBA8-12C305136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96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BA5C2-8869-2B84-BBEF-753B9467BE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FD20D6-7680-B71F-06A0-B408DC003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33392-5F9D-6DE4-C7C8-CAA03D4B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35187-EB3B-9B39-6BD1-454C45777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CFEE5-847B-F15E-B233-956C1CE13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20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47E256-9D9B-5D46-4D32-6171A12F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91C6-A07E-E0AE-DC01-590F1BB84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33EF8-FED1-BB93-5DC2-DF1BB7DC6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6B3A5-D083-A761-2200-3881D6D3F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5F57-3421-A5E8-AD64-77CFB7ACC0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5F8955-9F71-4E77-B108-B5F82C6F0AF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6677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try_catc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noexcept_spec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s://quick-bench.com/q/_uklryCDJgzH4Xa4ZtD4YO09XbY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Ur-eTYOnFE?si=iHYvTiv-NaJr3iRh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eg"/><Relationship Id="rId4" Type="http://schemas.openxmlformats.org/officeDocument/2006/relationships/hyperlink" Target="https://github.com/alexey-malov/scope-guards" TargetMode="Externa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tw.ca/gotw/066.htm" TargetMode="External"/><Relationship Id="rId3" Type="http://schemas.openxmlformats.org/officeDocument/2006/relationships/hyperlink" Target="http://www.dyn-lab.com/articles/c-streams.html" TargetMode="External"/><Relationship Id="rId7" Type="http://schemas.openxmlformats.org/officeDocument/2006/relationships/hyperlink" Target="http://ru.wikipedia.org/wiki/%D0%98%D0%BD%D0%B2%D0%B0%D1%80%D0%B8%D0%B0%D0%BD%D1%82_(%D0%BF%D1%80%D0%BE%D0%B3%D1%80%D0%B0%D0%BC%D0%BC%D0%B8%D1%80%D0%BE%D0%B2%D0%B0%D0%BD%D0%B8%D0%B5)" TargetMode="Externa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Exception_handling" TargetMode="External"/><Relationship Id="rId5" Type="http://schemas.openxmlformats.org/officeDocument/2006/relationships/hyperlink" Target="http://www.boost.org/community/exception_safety.html" TargetMode="External"/><Relationship Id="rId10" Type="http://schemas.openxmlformats.org/officeDocument/2006/relationships/hyperlink" Target="http://meetingcpp.ru/?page_id=608" TargetMode="External"/><Relationship Id="rId4" Type="http://schemas.openxmlformats.org/officeDocument/2006/relationships/hyperlink" Target="http://en.wikipedia.org/wiki/Resource_Acquisition_Is_Initialization" TargetMode="External"/><Relationship Id="rId9" Type="http://schemas.openxmlformats.org/officeDocument/2006/relationships/hyperlink" Target="http://www.gotw.ca/gotw/047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7CAD62A-E4D8-4B1B-9985-B57FC37A6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448" y="1122363"/>
            <a:ext cx="9937104" cy="2387600"/>
          </a:xfrm>
        </p:spPr>
        <p:txBody>
          <a:bodyPr>
            <a:noAutofit/>
          </a:bodyPr>
          <a:lstStyle/>
          <a:p>
            <a:r>
              <a:rPr lang="ru-RU" dirty="0"/>
              <a:t>Обработка исключений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C5388-47A1-D7E1-4C10-3957BFCE2A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721B9-B46A-95E7-2671-CC9D9A1F1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во время выполнения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5B60A-B25F-A939-B2BC-FF8DBC94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Во время работы программы могут возникать ошибки:</a:t>
            </a:r>
          </a:p>
          <a:p>
            <a:pPr lvl="1"/>
            <a:r>
              <a:rPr lang="ru-RU" dirty="0"/>
              <a:t>нехватка памяти; </a:t>
            </a:r>
          </a:p>
          <a:p>
            <a:pPr lvl="1"/>
            <a:r>
              <a:rPr lang="ru-RU" dirty="0"/>
              <a:t>ошибки ввода-вывода; </a:t>
            </a:r>
          </a:p>
          <a:p>
            <a:pPr lvl="1"/>
            <a:r>
              <a:rPr lang="ru-RU" dirty="0"/>
              <a:t>повреждённые файлы и некорректные данные; </a:t>
            </a:r>
          </a:p>
          <a:p>
            <a:pPr lvl="1"/>
            <a:r>
              <a:rPr lang="ru-RU" dirty="0"/>
              <a:t>ошибки сети и внешних сервисов; </a:t>
            </a:r>
          </a:p>
          <a:p>
            <a:pPr lvl="1"/>
            <a:r>
              <a:rPr lang="ru-RU" dirty="0"/>
              <a:t>нарушение предусловий функций. </a:t>
            </a:r>
          </a:p>
          <a:p>
            <a:r>
              <a:rPr lang="ru-RU" b="1" dirty="0"/>
              <a:t>Источники ошибок:</a:t>
            </a:r>
          </a:p>
          <a:p>
            <a:pPr lvl="1"/>
            <a:r>
              <a:rPr lang="ru-RU" dirty="0"/>
              <a:t>пользовательский ввод; </a:t>
            </a:r>
          </a:p>
          <a:p>
            <a:pPr lvl="1"/>
            <a:r>
              <a:rPr lang="ru-RU" dirty="0"/>
              <a:t>файлы и сеть; </a:t>
            </a:r>
          </a:p>
          <a:p>
            <a:pPr lvl="1"/>
            <a:r>
              <a:rPr lang="ru-RU" dirty="0"/>
              <a:t>вызовы библиотек и системного API; </a:t>
            </a:r>
          </a:p>
          <a:p>
            <a:pPr lvl="1"/>
            <a:r>
              <a:rPr lang="ru-RU" dirty="0"/>
              <a:t>ошибки логики программы. </a:t>
            </a:r>
          </a:p>
          <a:p>
            <a:r>
              <a:rPr lang="ru-RU" b="1" dirty="0"/>
              <a:t>Задача программы:</a:t>
            </a:r>
          </a:p>
          <a:p>
            <a:pPr lvl="1"/>
            <a:r>
              <a:rPr lang="ru-RU" dirty="0"/>
              <a:t>обнаружить ошибку; </a:t>
            </a:r>
          </a:p>
          <a:p>
            <a:pPr lvl="1"/>
            <a:r>
              <a:rPr lang="ru-RU" dirty="0"/>
              <a:t>сохранить корректное состояние данных; </a:t>
            </a:r>
          </a:p>
          <a:p>
            <a:pPr lvl="1"/>
            <a:r>
              <a:rPr lang="ru-RU" dirty="0"/>
              <a:t>сообщить об ошибке и обработать её.</a:t>
            </a:r>
          </a:p>
        </p:txBody>
      </p:sp>
    </p:spTree>
    <p:extLst>
      <p:ext uri="{BB962C8B-B14F-4D97-AF65-F5344CB8AC3E}">
        <p14:creationId xmlns:p14="http://schemas.microsoft.com/office/powerpoint/2010/main" val="3452439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CD07-C31C-00B3-B52A-872DA67B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обработки ошибок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E4305-2984-BFF3-E9FA-68FDA229D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/>
              <a:t>Возможные подходы:</a:t>
            </a:r>
          </a:p>
          <a:p>
            <a:pPr lvl="1"/>
            <a:r>
              <a:rPr lang="ru-RU" dirty="0"/>
              <a:t>коды ошибок; </a:t>
            </a:r>
          </a:p>
          <a:p>
            <a:pPr lvl="1"/>
            <a:r>
              <a:rPr lang="ru-RU" dirty="0"/>
              <a:t>специальные возвращаемые значения (</a:t>
            </a:r>
            <a:r>
              <a:rPr lang="ru-RU" dirty="0" err="1"/>
              <a:t>nullptr</a:t>
            </a:r>
            <a:r>
              <a:rPr lang="ru-RU" dirty="0"/>
              <a:t>, -1, </a:t>
            </a:r>
            <a:r>
              <a:rPr lang="ru-RU" dirty="0" err="1"/>
              <a:t>false</a:t>
            </a:r>
            <a:r>
              <a:rPr lang="ru-RU" dirty="0"/>
              <a:t>); </a:t>
            </a:r>
          </a:p>
          <a:p>
            <a:pPr lvl="1"/>
            <a:r>
              <a:rPr lang="ru-RU" dirty="0"/>
              <a:t>глобальные переменные ошибок; </a:t>
            </a:r>
          </a:p>
          <a:p>
            <a:pPr lvl="1"/>
            <a:r>
              <a:rPr lang="ru-RU" dirty="0"/>
              <a:t>аварийное завершение программы; </a:t>
            </a:r>
          </a:p>
          <a:p>
            <a:pPr lvl="1"/>
            <a:r>
              <a:rPr lang="ru-RU" dirty="0"/>
              <a:t>исключения. </a:t>
            </a:r>
          </a:p>
          <a:p>
            <a:r>
              <a:rPr lang="ru-RU" b="1" dirty="0"/>
              <a:t>Проблемы традиционных подходов:</a:t>
            </a:r>
          </a:p>
          <a:p>
            <a:pPr lvl="1"/>
            <a:r>
              <a:rPr lang="ru-RU" dirty="0"/>
              <a:t>ошибку можно забыть проверить; </a:t>
            </a:r>
          </a:p>
          <a:p>
            <a:pPr lvl="1"/>
            <a:r>
              <a:rPr lang="ru-RU" dirty="0"/>
              <a:t>сложно передавать контекст ошибки; </a:t>
            </a:r>
          </a:p>
          <a:p>
            <a:pPr lvl="1"/>
            <a:r>
              <a:rPr lang="ru-RU" dirty="0"/>
              <a:t>код обработки ошибок смешивается с основной логикой; </a:t>
            </a:r>
          </a:p>
          <a:p>
            <a:pPr lvl="1"/>
            <a:r>
              <a:rPr lang="ru-RU" dirty="0"/>
              <a:t>неудобно обрабатывать ошибки в конструкторах и перегруженных операциях. </a:t>
            </a:r>
          </a:p>
          <a:p>
            <a:r>
              <a:rPr lang="ru-RU" b="1" dirty="0"/>
              <a:t>Идея исключений:</a:t>
            </a:r>
          </a:p>
          <a:p>
            <a:pPr lvl="1"/>
            <a:r>
              <a:rPr lang="ru-RU" dirty="0"/>
              <a:t>Исключение позволяет:</a:t>
            </a:r>
          </a:p>
          <a:p>
            <a:pPr lvl="1"/>
            <a:r>
              <a:rPr lang="ru-RU" dirty="0"/>
              <a:t>прервать обычное выполнение; </a:t>
            </a:r>
          </a:p>
          <a:p>
            <a:pPr lvl="1"/>
            <a:r>
              <a:rPr lang="ru-RU" dirty="0"/>
              <a:t>передать информацию об ошибке; </a:t>
            </a:r>
          </a:p>
          <a:p>
            <a:pPr lvl="1"/>
            <a:r>
              <a:rPr lang="ru-RU" dirty="0"/>
              <a:t>обработать ошибку на более высоком уровне программы.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68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6407F3-0168-1E68-767B-FCF3287A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обработка ошибки в конструкторе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3C2196-E0E5-6AA6-9842-80DEB8FE5105}"/>
              </a:ext>
            </a:extLst>
          </p:cNvPr>
          <p:cNvSpPr txBox="1"/>
          <p:nvPr/>
        </p:nvSpPr>
        <p:spPr>
          <a:xfrm>
            <a:off x="838470" y="1691561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{numerator}</a:t>
            </a:r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 }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{numerator},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{denominator}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Что делать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?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/*...*/</a:t>
            </a:r>
            <a:endParaRPr lang="ru-RU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}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55354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EDAB-A5C3-158F-89C0-03D96DE2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Ошибки в перегруженных операциях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BED6B-7D9D-C8A8-F9E3-20D13229E6D6}"/>
              </a:ext>
            </a:extLst>
          </p:cNvPr>
          <p:cNvSpPr txBox="1"/>
          <p:nvPr/>
        </p:nvSpPr>
        <p:spPr>
          <a:xfrm>
            <a:off x="838200" y="2276872"/>
            <a:ext cx="70084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operator/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lhs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Rational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rhs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00108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rhs</a:t>
            </a:r>
            <a:r>
              <a:rPr lang="en-US" b="0" dirty="0" err="1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GetNumerator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{</a:t>
            </a:r>
          </a:p>
          <a:p>
            <a:r>
              <a:rPr lang="en-US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// </a:t>
            </a:r>
            <a:r>
              <a:rPr lang="ru-RU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Что делать?</a:t>
            </a:r>
            <a:endParaRPr lang="ru-RU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50638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DDF6292-B5B6-19D4-8EEA-E08B8DA65446}"/>
              </a:ext>
            </a:extLst>
          </p:cNvPr>
          <p:cNvSpPr txBox="1"/>
          <p:nvPr/>
        </p:nvSpPr>
        <p:spPr>
          <a:xfrm>
            <a:off x="862570" y="1804270"/>
            <a:ext cx="1075900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67F99"/>
                </a:solidFill>
                <a:latin typeface="Consolas" panose="020B0609020204030204" pitchFamily="49" charset="0"/>
              </a:rPr>
              <a:t>Rational 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b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IsValid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en-US" sz="14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m_denominator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  <a:b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m_numerator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m_denominator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ru-RU" sz="1400" b="0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operator/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{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}; } 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400" dirty="0">
                <a:solidFill>
                  <a:srgbClr val="008000"/>
                </a:solidFill>
                <a:latin typeface="Consolas" panose="020B0609020204030204" pitchFamily="49" charset="0"/>
              </a:rPr>
              <a:t> Это плохое решение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ru-RU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};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... */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IsValid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/* ... */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1CA7E-D7BF-7697-1FCF-EDE6C387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Антипаттерн</a:t>
            </a:r>
            <a:r>
              <a:rPr lang="ru-RU" dirty="0"/>
              <a:t> «</a:t>
            </a:r>
            <a:r>
              <a:rPr lang="ru-RU" dirty="0" err="1"/>
              <a:t>Невалидный</a:t>
            </a:r>
            <a:r>
              <a:rPr lang="ru-RU" dirty="0"/>
              <a:t> объект»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83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C76BD7-F584-AC61-E40B-13EF2D14B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Нелокальная обработка ошибок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7E032-C1D3-3BE1-1FED-2E7ABAE6F4AD}"/>
              </a:ext>
            </a:extLst>
          </p:cNvPr>
          <p:cNvSpPr/>
          <p:nvPr/>
        </p:nvSpPr>
        <p:spPr>
          <a:xfrm>
            <a:off x="283929" y="2996952"/>
            <a:ext cx="2018656" cy="86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ShowSomething</a:t>
            </a:r>
            <a:r>
              <a:rPr lang="en-US" dirty="0"/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5F8D3D-7D95-EC77-7D68-1229951DA48F}"/>
              </a:ext>
            </a:extLst>
          </p:cNvPr>
          <p:cNvSpPr/>
          <p:nvPr/>
        </p:nvSpPr>
        <p:spPr>
          <a:xfrm>
            <a:off x="2711624" y="2996952"/>
            <a:ext cx="2162672" cy="86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ShowImage</a:t>
            </a:r>
            <a:r>
              <a:rPr lang="en-US" dirty="0"/>
              <a:t>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FDCC9-380C-3224-287B-214A20AB2F6E}"/>
              </a:ext>
            </a:extLst>
          </p:cNvPr>
          <p:cNvSpPr/>
          <p:nvPr/>
        </p:nvSpPr>
        <p:spPr>
          <a:xfrm>
            <a:off x="9894170" y="2996952"/>
            <a:ext cx="1728192" cy="86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LoadChunk</a:t>
            </a:r>
            <a:r>
              <a:rPr lang="en-US" dirty="0"/>
              <a:t>()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03C780-F88D-E546-0F42-5A5FFC9DA07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302585" y="3429000"/>
            <a:ext cx="4090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C83DA8-B2E9-1372-8DF9-40A2202DCCE2}"/>
              </a:ext>
            </a:extLst>
          </p:cNvPr>
          <p:cNvSpPr/>
          <p:nvPr/>
        </p:nvSpPr>
        <p:spPr>
          <a:xfrm>
            <a:off x="5308983" y="2996952"/>
            <a:ext cx="2162670" cy="86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LoadImage</a:t>
            </a:r>
            <a:r>
              <a:rPr lang="en-US" dirty="0"/>
              <a:t>()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8F6058-0E2A-3004-414E-D42028F66823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874296" y="3429000"/>
            <a:ext cx="4346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6284BC4-7231-3EF2-7975-99B5D433BC4E}"/>
              </a:ext>
            </a:extLst>
          </p:cNvPr>
          <p:cNvSpPr/>
          <p:nvPr/>
        </p:nvSpPr>
        <p:spPr>
          <a:xfrm>
            <a:off x="7926219" y="3010263"/>
            <a:ext cx="1513385" cy="8640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LoadFile</a:t>
            </a:r>
            <a:r>
              <a:rPr lang="en-US" dirty="0"/>
              <a:t>()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ECEAA7-0551-BD23-DFC5-079CBC462C89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7471653" y="3429000"/>
            <a:ext cx="454566" cy="13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1381BE-FF06-2A5B-BA9D-B6FDA6411868}"/>
              </a:ext>
            </a:extLst>
          </p:cNvPr>
          <p:cNvCxnSpPr>
            <a:cxnSpLocks/>
            <a:stCxn id="17" idx="3"/>
            <a:endCxn id="7" idx="1"/>
          </p:cNvCxnSpPr>
          <p:nvPr/>
        </p:nvCxnSpPr>
        <p:spPr>
          <a:xfrm flipV="1">
            <a:off x="9439604" y="3429000"/>
            <a:ext cx="454566" cy="133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Multiplication Sign 23">
            <a:extLst>
              <a:ext uri="{FF2B5EF4-FFF2-40B4-BE49-F238E27FC236}">
                <a16:creationId xmlns:a16="http://schemas.microsoft.com/office/drawing/2014/main" id="{92636993-E0F9-CCCD-DD07-90A7C7288228}"/>
              </a:ext>
            </a:extLst>
          </p:cNvPr>
          <p:cNvSpPr/>
          <p:nvPr/>
        </p:nvSpPr>
        <p:spPr>
          <a:xfrm>
            <a:off x="11305024" y="2816932"/>
            <a:ext cx="360040" cy="36004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E8D62B-EBC8-2E25-13CD-37DD063140F3}"/>
              </a:ext>
            </a:extLst>
          </p:cNvPr>
          <p:cNvCxnSpPr>
            <a:cxnSpLocks/>
            <a:stCxn id="7" idx="0"/>
            <a:endCxn id="6" idx="0"/>
          </p:cNvCxnSpPr>
          <p:nvPr/>
        </p:nvCxnSpPr>
        <p:spPr>
          <a:xfrm rot="16200000" flipV="1">
            <a:off x="7275613" y="-485701"/>
            <a:ext cx="12700" cy="6965306"/>
          </a:xfrm>
          <a:prstGeom prst="curvedConnector3">
            <a:avLst>
              <a:gd name="adj1" fmla="val 8657142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24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7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Механизм исключений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Исключение — объект, сообщающий о возникновении ошибки</a:t>
            </a:r>
          </a:p>
          <a:p>
            <a:r>
              <a:rPr lang="ru-RU" dirty="0"/>
              <a:t>При возникновении ошибки:</a:t>
            </a:r>
          </a:p>
          <a:p>
            <a:pPr lvl="1"/>
            <a:r>
              <a:rPr lang="ru-RU" dirty="0"/>
              <a:t>Выполнение текущего кода прерывается (</a:t>
            </a:r>
            <a:r>
              <a:rPr lang="ru-RU" dirty="0" err="1"/>
              <a:t>throw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Начинается поиск подходящего обработчика (</a:t>
            </a:r>
            <a:r>
              <a:rPr lang="ru-RU" dirty="0" err="1"/>
              <a:t>catch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Управление передаётся обработчику ошибки </a:t>
            </a:r>
          </a:p>
          <a:p>
            <a:r>
              <a:rPr lang="ru-RU" dirty="0"/>
              <a:t>Особенности механизма исключений</a:t>
            </a:r>
          </a:p>
          <a:p>
            <a:pPr lvl="1"/>
            <a:r>
              <a:rPr lang="ru-RU" dirty="0"/>
              <a:t>обработка может происходить на более высоком уровне программы; </a:t>
            </a:r>
          </a:p>
          <a:p>
            <a:pPr lvl="1"/>
            <a:r>
              <a:rPr lang="ru-RU" dirty="0"/>
              <a:t>код обработки ошибок отделён от основной логики; </a:t>
            </a:r>
          </a:p>
          <a:p>
            <a:pPr lvl="1"/>
            <a:r>
              <a:rPr lang="ru-RU" dirty="0"/>
              <a:t>во время передачи управления выполняется раскрутка стека (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unwinding</a:t>
            </a:r>
            <a:r>
              <a:rPr lang="ru-RU"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9B597-9E11-897F-E797-C14B91C7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использовать исключения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0BAB0-4341-DC4B-F5FD-B984C2E07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Исключения подходят, если:</a:t>
            </a:r>
          </a:p>
          <a:p>
            <a:pPr lvl="1"/>
            <a:r>
              <a:rPr lang="ru-RU" dirty="0"/>
              <a:t>ошибка не может быть корректно обработана локально; </a:t>
            </a:r>
          </a:p>
          <a:p>
            <a:pPr lvl="1"/>
            <a:r>
              <a:rPr lang="ru-RU" dirty="0"/>
              <a:t>обработка должна выполняться на более высоком уровне; </a:t>
            </a:r>
          </a:p>
          <a:p>
            <a:pPr lvl="1"/>
            <a:r>
              <a:rPr lang="ru-RU" dirty="0"/>
              <a:t>программа может продолжить работу после обработки ошибки. </a:t>
            </a:r>
          </a:p>
          <a:p>
            <a:r>
              <a:rPr lang="ru-RU" b="1" dirty="0"/>
              <a:t>Исключения не подходят, если:</a:t>
            </a:r>
          </a:p>
          <a:p>
            <a:pPr lvl="1"/>
            <a:r>
              <a:rPr lang="ru-RU" dirty="0"/>
              <a:t>ситуацию можно обработать сразу; </a:t>
            </a:r>
          </a:p>
          <a:p>
            <a:pPr lvl="1"/>
            <a:r>
              <a:rPr lang="ru-RU" dirty="0"/>
              <a:t>ошибка является частью обычной логики программы; </a:t>
            </a:r>
          </a:p>
          <a:p>
            <a:pPr lvl="1"/>
            <a:r>
              <a:rPr lang="ru-RU" dirty="0"/>
              <a:t>восстановить работу программы невозможно. </a:t>
            </a:r>
          </a:p>
          <a:p>
            <a:r>
              <a:rPr lang="ru-RU" b="1" dirty="0"/>
              <a:t>Пример</a:t>
            </a:r>
          </a:p>
          <a:p>
            <a:pPr lvl="1"/>
            <a:r>
              <a:rPr lang="ru-RU" dirty="0"/>
              <a:t>Функция сортировки не должна решать, что делать при нехватке памяти.</a:t>
            </a:r>
          </a:p>
          <a:p>
            <a:pPr lvl="1"/>
            <a:r>
              <a:rPr lang="ru-RU" dirty="0"/>
              <a:t>Но вызывающий код может:</a:t>
            </a:r>
          </a:p>
          <a:p>
            <a:pPr lvl="2"/>
            <a:r>
              <a:rPr lang="ru-RU" dirty="0"/>
              <a:t>сохранить данные; </a:t>
            </a:r>
          </a:p>
          <a:p>
            <a:pPr lvl="2"/>
            <a:r>
              <a:rPr lang="ru-RU" dirty="0"/>
              <a:t>показать сообщение пользователю; </a:t>
            </a:r>
          </a:p>
          <a:p>
            <a:pPr lvl="2"/>
            <a:r>
              <a:rPr lang="ru-RU" dirty="0"/>
              <a:t>повторить операцию; </a:t>
            </a:r>
          </a:p>
          <a:p>
            <a:pPr lvl="2"/>
            <a:r>
              <a:rPr lang="ru-RU" dirty="0"/>
              <a:t>завершить программу корректно.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82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try-</a:t>
            </a:r>
            <a:r>
              <a:rPr lang="ru-RU" dirty="0"/>
              <a:t>блок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9D6B7-6A64-6AA1-C34A-2C161477EB8F}"/>
              </a:ext>
            </a:extLst>
          </p:cNvPr>
          <p:cNvSpPr txBox="1"/>
          <p:nvPr/>
        </p:nvSpPr>
        <p:spPr>
          <a:xfrm>
            <a:off x="838200" y="1690688"/>
            <a:ext cx="107304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ru-RU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/* Код, который может выбросить исключение */</a:t>
            </a:r>
            <a:endParaRPr lang="ru-RU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ru-RU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ru-RU" b="0" i="1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Тип </a:t>
            </a:r>
            <a:r>
              <a:rPr lang="ru-RU" i="1" dirty="0">
                <a:solidFill>
                  <a:srgbClr val="3B3B3B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перехватываемого</a:t>
            </a:r>
            <a:r>
              <a:rPr lang="ru-RU" b="0" i="1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исключения</a:t>
            </a:r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/* Код, обрабатывающий исключение */</a:t>
            </a:r>
            <a:endParaRPr lang="ru-RU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ru-RU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ru-RU" b="0" i="1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Тип </a:t>
            </a:r>
            <a:r>
              <a:rPr lang="ru-RU" i="1" dirty="0">
                <a:solidFill>
                  <a:srgbClr val="3B3B3B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перехватываемого</a:t>
            </a:r>
            <a:r>
              <a:rPr lang="ru-RU" b="0" i="1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исключения</a:t>
            </a:r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/* Код, обрабатывающий исключение */</a:t>
            </a:r>
            <a:endParaRPr lang="ru-RU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ru-RU" b="0" dirty="0">
                <a:solidFill>
                  <a:srgbClr val="AF00D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(...)</a:t>
            </a: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b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/* Код, обрабатывающий все прочие исключения */</a:t>
            </a:r>
            <a:endParaRPr lang="ru-RU" b="0" dirty="0">
              <a:solidFill>
                <a:srgbClr val="3B3B3B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52B8C-544F-D156-7336-540DD1E3312D}"/>
              </a:ext>
            </a:extLst>
          </p:cNvPr>
          <p:cNvSpPr txBox="1"/>
          <p:nvPr/>
        </p:nvSpPr>
        <p:spPr>
          <a:xfrm>
            <a:off x="838200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https://en.cppreference.com/w/cpp/language/try_catch</a:t>
            </a:r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B124E7-4021-5753-4F2D-E1B5DFB72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328" y="1844824"/>
            <a:ext cx="2600688" cy="263879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throw – </a:t>
            </a:r>
            <a:r>
              <a:rPr lang="ru-RU" dirty="0"/>
              <a:t>выброс исключения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Синтаксис</a:t>
            </a:r>
          </a:p>
          <a:p>
            <a:pPr lvl="1"/>
            <a:r>
              <a:rPr lang="ru-RU" dirty="0" err="1"/>
              <a:t>throw</a:t>
            </a:r>
            <a:r>
              <a:rPr lang="ru-RU" dirty="0"/>
              <a:t> </a:t>
            </a:r>
            <a:r>
              <a:rPr lang="ru-RU" dirty="0" err="1"/>
              <a:t>expression</a:t>
            </a:r>
            <a:r>
              <a:rPr lang="ru-RU" dirty="0"/>
              <a:t>; // выброс исключения</a:t>
            </a:r>
            <a:br>
              <a:rPr lang="ru-RU" dirty="0"/>
            </a:br>
            <a:r>
              <a:rPr lang="ru-RU" dirty="0" err="1"/>
              <a:t>throw</a:t>
            </a:r>
            <a:r>
              <a:rPr lang="ru-RU" dirty="0"/>
              <a:t>;            // </a:t>
            </a:r>
            <a:r>
              <a:rPr lang="ru-RU" dirty="0" err="1"/>
              <a:t>перевыброс</a:t>
            </a:r>
            <a:r>
              <a:rPr lang="ru-RU" dirty="0"/>
              <a:t> текущего исключения</a:t>
            </a:r>
          </a:p>
          <a:p>
            <a:r>
              <a:rPr lang="ru-RU" dirty="0"/>
              <a:t>Что происходит при </a:t>
            </a:r>
            <a:r>
              <a:rPr lang="ru-RU" dirty="0" err="1"/>
              <a:t>throw</a:t>
            </a:r>
            <a:endParaRPr lang="ru-RU" dirty="0"/>
          </a:p>
          <a:p>
            <a:pPr lvl="1"/>
            <a:r>
              <a:rPr lang="ru-RU" dirty="0"/>
              <a:t>Создаётся объект исключения </a:t>
            </a:r>
          </a:p>
          <a:p>
            <a:pPr lvl="1"/>
            <a:r>
              <a:rPr lang="ru-RU" dirty="0"/>
              <a:t>Выполнение текущего кода прерывается </a:t>
            </a:r>
          </a:p>
          <a:p>
            <a:pPr lvl="1"/>
            <a:r>
              <a:rPr lang="ru-RU" dirty="0"/>
              <a:t>Начинается поиск подходящего </a:t>
            </a:r>
            <a:r>
              <a:rPr lang="ru-RU" dirty="0" err="1"/>
              <a:t>catch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Выполняется </a:t>
            </a:r>
            <a:r>
              <a:rPr lang="ru-RU" b="1" dirty="0"/>
              <a:t>раскрутка стека</a:t>
            </a:r>
            <a:r>
              <a:rPr lang="ru-RU" dirty="0"/>
              <a:t> (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unwinding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Если обработчик не найден — вызывается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terminate</a:t>
            </a:r>
            <a:r>
              <a:rPr lang="ru-RU" dirty="0"/>
              <a:t> </a:t>
            </a:r>
          </a:p>
          <a:p>
            <a:r>
              <a:rPr lang="ru-RU" dirty="0"/>
              <a:t>Во время раскрутки стека</a:t>
            </a:r>
          </a:p>
          <a:p>
            <a:pPr lvl="1"/>
            <a:r>
              <a:rPr lang="ru-RU" dirty="0"/>
              <a:t>уничтожаются локальные объекты; </a:t>
            </a:r>
          </a:p>
          <a:p>
            <a:pPr lvl="1"/>
            <a:r>
              <a:rPr lang="ru-RU" dirty="0"/>
              <a:t>автоматически вызываются их деструкторы.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как объекты исключений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Почему исключения часто делают классами?</a:t>
            </a:r>
          </a:p>
          <a:p>
            <a:pPr lvl="1"/>
            <a:r>
              <a:rPr lang="ru-RU" dirty="0"/>
              <a:t>можно хранить информацию об ошибке; </a:t>
            </a:r>
          </a:p>
          <a:p>
            <a:pPr lvl="1"/>
            <a:r>
              <a:rPr lang="ru-RU" dirty="0"/>
              <a:t>удобно создавать иерархии ошибок; </a:t>
            </a:r>
          </a:p>
          <a:p>
            <a:pPr lvl="1"/>
            <a:r>
              <a:rPr lang="ru-RU" dirty="0"/>
              <a:t>можно по-разному обрабатывать разные типы исключений.</a:t>
            </a:r>
          </a:p>
          <a:p>
            <a:r>
              <a:rPr lang="ru-RU" dirty="0"/>
              <a:t>Исключения обычно:</a:t>
            </a:r>
          </a:p>
          <a:p>
            <a:pPr lvl="1"/>
            <a:r>
              <a:rPr lang="ru-RU" dirty="0"/>
              <a:t>выбрасывают по значению; </a:t>
            </a:r>
          </a:p>
          <a:p>
            <a:pPr lvl="1"/>
            <a:r>
              <a:rPr lang="ru-RU" dirty="0"/>
              <a:t>перехватывают по </a:t>
            </a:r>
            <a:r>
              <a:rPr lang="ru-RU" dirty="0" err="1"/>
              <a:t>const</a:t>
            </a:r>
            <a:r>
              <a:rPr lang="ru-RU" dirty="0"/>
              <a:t>&amp;.</a:t>
            </a:r>
          </a:p>
          <a:p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C386ABB-CFD9-7D08-6C24-732464A05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0296" y="1476825"/>
            <a:ext cx="3092574" cy="197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831CD0-502B-5BF3-A7B9-0335590A1CF2}"/>
              </a:ext>
            </a:extLst>
          </p:cNvPr>
          <p:cNvSpPr txBox="1"/>
          <p:nvPr/>
        </p:nvSpPr>
        <p:spPr>
          <a:xfrm>
            <a:off x="6127147" y="337494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};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OutOfMemory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Error&amp; e) {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Поймает: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Error,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FileError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OutOfMemory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5D42EA-6A87-D405-6487-9B2C7635DA72}"/>
              </a:ext>
            </a:extLst>
          </p:cNvPr>
          <p:cNvSpPr txBox="1"/>
          <p:nvPr/>
        </p:nvSpPr>
        <p:spPr>
          <a:xfrm>
            <a:off x="767408" y="1844824"/>
            <a:ext cx="1058639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 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"Denominator must be nonzero"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dirty="0">
                <a:solidFill>
                  <a:srgbClr val="3B3B3B"/>
                </a:solidFill>
                <a:latin typeface="Consolas" panose="020B0609020204030204" pitchFamily="49" charset="0"/>
              </a:rPr>
              <a:t>        …</a:t>
            </a:r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operator/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"Division by zero"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GetNumerator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lhs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GetDenominator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};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 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Rational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ru-RU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cerr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AC4FD-4CAF-6F2D-4E0D-1EC90107F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Исправляем </a:t>
            </a:r>
            <a:r>
              <a:rPr lang="en-US" dirty="0"/>
              <a:t>Rational </a:t>
            </a:r>
            <a:r>
              <a:rPr lang="ru-RU" dirty="0"/>
              <a:t>через исключения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0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0BBE707-4DA9-4430-9143-FEA519FEA99A}"/>
              </a:ext>
            </a:extLst>
          </p:cNvPr>
          <p:cNvSpPr/>
          <p:nvPr/>
        </p:nvSpPr>
        <p:spPr>
          <a:xfrm>
            <a:off x="838200" y="1488281"/>
            <a:ext cx="907320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Logger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Logger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}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"Logger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was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created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Logger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: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}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"Logger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was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copied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operator=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// No assignment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~Logger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"Logger 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 was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destroyed</a:t>
            </a:r>
            <a:r>
              <a:rPr lang="de-DE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m_name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81D0D08-9D3D-44AB-A7D1-901D6F11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для отслеживания времени жизни</a:t>
            </a:r>
          </a:p>
        </p:txBody>
      </p:sp>
    </p:spTree>
    <p:extLst>
      <p:ext uri="{BB962C8B-B14F-4D97-AF65-F5344CB8AC3E}">
        <p14:creationId xmlns:p14="http://schemas.microsoft.com/office/powerpoint/2010/main" val="13016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BB65-248C-4728-A376-72BAC61C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Штатное выполнение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5C5DE6-FAB3-4DFD-8DA9-2EE00E7ADC5C}"/>
              </a:ext>
            </a:extLst>
          </p:cNvPr>
          <p:cNvSpPr/>
          <p:nvPr/>
        </p:nvSpPr>
        <p:spPr>
          <a:xfrm>
            <a:off x="832892" y="1690688"/>
            <a:ext cx="5265042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"Bar"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"Foo"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DBB0D1-A210-4202-8FA3-BDABD575D9A8}"/>
              </a:ext>
            </a:extLst>
          </p:cNvPr>
          <p:cNvSpPr/>
          <p:nvPr/>
        </p:nvSpPr>
        <p:spPr>
          <a:xfrm>
            <a:off x="6030516" y="2182391"/>
            <a:ext cx="532859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ru-RU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was</a:t>
            </a:r>
            <a:r>
              <a:rPr lang="ru-RU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created</a:t>
            </a:r>
            <a:endParaRPr lang="ru-RU" sz="20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en-US" sz="2000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Foo</a:t>
            </a:r>
            <a:r>
              <a:rPr lang="ru-RU" sz="2000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was</a:t>
            </a:r>
            <a:r>
              <a:rPr lang="ru-RU" sz="2000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created</a:t>
            </a:r>
            <a:endParaRPr lang="ru-RU" sz="2000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en-US" sz="2000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Bar</a:t>
            </a:r>
            <a:r>
              <a:rPr lang="ru-RU" sz="2000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was</a:t>
            </a:r>
            <a:r>
              <a:rPr lang="ru-RU" sz="2000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created</a:t>
            </a:r>
            <a:endParaRPr lang="ru-RU" sz="2000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ru-RU" sz="2000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Bar</a:t>
            </a:r>
            <a:r>
              <a:rPr lang="ru-RU" sz="2000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was</a:t>
            </a:r>
            <a:r>
              <a:rPr lang="ru-RU" sz="2000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FF"/>
                </a:highlight>
                <a:latin typeface="Consolas" panose="020B0609020204030204" pitchFamily="49" charset="0"/>
              </a:rPr>
              <a:t>destroyed</a:t>
            </a:r>
            <a:endParaRPr lang="ru-RU" sz="2000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ru-RU" sz="2000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Foo</a:t>
            </a:r>
            <a:r>
              <a:rPr lang="ru-RU" sz="2000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was</a:t>
            </a:r>
            <a:r>
              <a:rPr lang="ru-RU" sz="2000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00FF00"/>
                </a:highlight>
                <a:latin typeface="Consolas" panose="020B0609020204030204" pitchFamily="49" charset="0"/>
              </a:rPr>
              <a:t>destroyed</a:t>
            </a:r>
            <a:endParaRPr lang="ru-RU" sz="2000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ru-RU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ru-RU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was</a:t>
            </a:r>
            <a:r>
              <a:rPr lang="ru-RU" sz="20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destroyed</a:t>
            </a:r>
            <a:endParaRPr lang="ru-RU" sz="20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0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BBB65-248C-4728-A376-72BAC61C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Завершение программы через </a:t>
            </a:r>
            <a:r>
              <a:rPr lang="en-US" dirty="0"/>
              <a:t>abort</a:t>
            </a:r>
            <a:endParaRPr lang="ru-RU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5C5DE6-FAB3-4DFD-8DA9-2EE00E7ADC5C}"/>
              </a:ext>
            </a:extLst>
          </p:cNvPr>
          <p:cNvSpPr/>
          <p:nvPr/>
        </p:nvSpPr>
        <p:spPr>
          <a:xfrm>
            <a:off x="838200" y="1690688"/>
            <a:ext cx="532859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"Bar"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  <a:endParaRPr lang="ru-RU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ru-RU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abort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()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"Foo"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DBB0D1-A210-4202-8FA3-BDABD575D9A8}"/>
              </a:ext>
            </a:extLst>
          </p:cNvPr>
          <p:cNvSpPr/>
          <p:nvPr/>
        </p:nvSpPr>
        <p:spPr>
          <a:xfrm>
            <a:off x="6074578" y="2636912"/>
            <a:ext cx="53285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highlight>
                  <a:srgbClr val="FFFF00"/>
                </a:highlight>
                <a:latin typeface="Consolas" panose="020B0609020204030204" pitchFamily="49" charset="0"/>
              </a:rPr>
              <a:t>Logger main was created</a:t>
            </a:r>
          </a:p>
          <a:p>
            <a:r>
              <a:rPr lang="ru-RU" sz="2000" dirty="0">
                <a:highlight>
                  <a:srgbClr val="00FF00"/>
                </a:highlight>
                <a:latin typeface="Consolas" panose="020B0609020204030204" pitchFamily="49" charset="0"/>
              </a:rPr>
              <a:t>Logger Foo was created</a:t>
            </a:r>
          </a:p>
          <a:p>
            <a:r>
              <a:rPr lang="ru-RU" sz="2000" dirty="0">
                <a:highlight>
                  <a:srgbClr val="00FFFF"/>
                </a:highlight>
                <a:latin typeface="Consolas" panose="020B0609020204030204" pitchFamily="49" charset="0"/>
              </a:rPr>
              <a:t>Logger Bar was created</a:t>
            </a:r>
          </a:p>
        </p:txBody>
      </p:sp>
    </p:spTree>
    <p:extLst>
      <p:ext uri="{BB962C8B-B14F-4D97-AF65-F5344CB8AC3E}">
        <p14:creationId xmlns:p14="http://schemas.microsoft.com/office/powerpoint/2010/main" val="544584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EABB6-841E-41BA-ABAB-8AEA38F7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Выбрасывание исключения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01FA-F245-4CFC-B92A-606FE6A0CE7F}"/>
              </a:ext>
            </a:extLst>
          </p:cNvPr>
          <p:cNvSpPr/>
          <p:nvPr/>
        </p:nvSpPr>
        <p:spPr>
          <a:xfrm>
            <a:off x="838200" y="1429905"/>
            <a:ext cx="1073040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"Bar"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267F99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267F99"/>
                </a:solidFill>
                <a:highlight>
                  <a:srgbClr val="C0C0C0"/>
                </a:highlight>
                <a:latin typeface="Consolas" panose="020B0609020204030204" pitchFamily="49" charset="0"/>
              </a:rPr>
              <a:t>runtime_error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"Error in Bar"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"Exit 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from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 bar"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"Foo"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de-DE" sz="1700" dirty="0">
                <a:solidFill>
                  <a:srgbClr val="AF00D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Foo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        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"OK"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 </a:t>
            </a:r>
            <a:r>
              <a:rPr lang="de-DE" sz="17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Caught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sz="17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what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sz="17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29177C-3665-4908-A4C5-6118AD9607FE}"/>
              </a:ext>
            </a:extLst>
          </p:cNvPr>
          <p:cNvSpPr/>
          <p:nvPr/>
        </p:nvSpPr>
        <p:spPr>
          <a:xfrm>
            <a:off x="7248128" y="2060848"/>
            <a:ext cx="405611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was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created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Foo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was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created</a:t>
            </a:r>
            <a:endParaRPr lang="ru-RU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Bar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was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created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Logger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Bar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was</a:t>
            </a:r>
            <a:r>
              <a:rPr lang="ru-RU" dirty="0">
                <a:highlight>
                  <a:srgbClr val="00FFFF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FF"/>
                </a:highlight>
                <a:latin typeface="Consolas" panose="020B0609020204030204" pitchFamily="49" charset="0"/>
              </a:rPr>
              <a:t>destroyed</a:t>
            </a:r>
            <a:endParaRPr lang="ru-RU" dirty="0"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Logger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Foo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was</a:t>
            </a:r>
            <a:r>
              <a:rPr lang="ru-RU" dirty="0">
                <a:highlight>
                  <a:srgbClr val="00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00FF00"/>
                </a:highlight>
                <a:latin typeface="Consolas" panose="020B0609020204030204" pitchFamily="49" charset="0"/>
              </a:rPr>
              <a:t>destroyed</a:t>
            </a:r>
            <a:endParaRPr lang="ru-RU" dirty="0">
              <a:highlight>
                <a:srgbClr val="00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Logger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main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was</a:t>
            </a:r>
            <a:r>
              <a:rPr lang="ru-RU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FFFF00"/>
                </a:highlight>
                <a:latin typeface="Consolas" panose="020B0609020204030204" pitchFamily="49" charset="0"/>
              </a:rPr>
              <a:t>destroyed</a:t>
            </a:r>
            <a:endParaRPr lang="ru-RU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ru-RU" dirty="0" err="1">
                <a:highlight>
                  <a:srgbClr val="C0C0C0"/>
                </a:highlight>
                <a:latin typeface="Consolas" panose="020B0609020204030204" pitchFamily="49" charset="0"/>
              </a:rPr>
              <a:t>Caught</a:t>
            </a:r>
            <a:r>
              <a:rPr lang="ru-RU" dirty="0"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C0C0C0"/>
                </a:highlight>
                <a:latin typeface="Consolas" panose="020B0609020204030204" pitchFamily="49" charset="0"/>
              </a:rPr>
              <a:t>Error</a:t>
            </a:r>
            <a:r>
              <a:rPr lang="ru-RU" dirty="0"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C0C0C0"/>
                </a:highlight>
                <a:latin typeface="Consolas" panose="020B0609020204030204" pitchFamily="49" charset="0"/>
              </a:rPr>
              <a:t>in</a:t>
            </a:r>
            <a:r>
              <a:rPr lang="ru-RU" dirty="0">
                <a:highlight>
                  <a:srgbClr val="C0C0C0"/>
                </a:highlight>
                <a:latin typeface="Consolas" panose="020B0609020204030204" pitchFamily="49" charset="0"/>
              </a:rPr>
              <a:t> </a:t>
            </a:r>
            <a:r>
              <a:rPr lang="ru-RU" dirty="0" err="1">
                <a:highlight>
                  <a:srgbClr val="C0C0C0"/>
                </a:highlight>
                <a:latin typeface="Consolas" panose="020B0609020204030204" pitchFamily="49" charset="0"/>
              </a:rPr>
              <a:t>Bar</a:t>
            </a:r>
            <a:endParaRPr lang="ru-RU" dirty="0"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270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3A3A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2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3A3A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A3A3A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Правила выбрасывания и перехвата исключений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Рекомендуемое правило</a:t>
            </a:r>
          </a:p>
          <a:p>
            <a:pPr lvl="1"/>
            <a:r>
              <a:rPr lang="ru-RU" dirty="0" err="1">
                <a:latin typeface="Consolas" panose="020B0609020204030204" pitchFamily="49" charset="0"/>
              </a:rPr>
              <a:t>throw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MyError</a:t>
            </a:r>
            <a:r>
              <a:rPr lang="ru-RU" dirty="0">
                <a:latin typeface="Consolas" panose="020B0609020204030204" pitchFamily="49" charset="0"/>
              </a:rPr>
              <a:t>(...);              // выбрасываем по значению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…</a:t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latin typeface="Consolas" panose="020B0609020204030204" pitchFamily="49" charset="0"/>
              </a:rPr>
              <a:t>catch</a:t>
            </a:r>
            <a:r>
              <a:rPr lang="ru-RU" dirty="0">
                <a:latin typeface="Consolas" panose="020B0609020204030204" pitchFamily="49" charset="0"/>
              </a:rPr>
              <a:t> (</a:t>
            </a:r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ru-RU" dirty="0" err="1">
                <a:latin typeface="Consolas" panose="020B0609020204030204" pitchFamily="49" charset="0"/>
              </a:rPr>
              <a:t>MyError</a:t>
            </a:r>
            <a:r>
              <a:rPr lang="ru-RU" dirty="0">
                <a:latin typeface="Consolas" panose="020B0609020204030204" pitchFamily="49" charset="0"/>
              </a:rPr>
              <a:t>&amp; e) { ... } // перехватываем по </a:t>
            </a:r>
            <a:r>
              <a:rPr lang="ru-RU" dirty="0" err="1">
                <a:latin typeface="Consolas" panose="020B0609020204030204" pitchFamily="49" charset="0"/>
              </a:rPr>
              <a:t>const</a:t>
            </a:r>
            <a:r>
              <a:rPr lang="ru-RU" dirty="0">
                <a:latin typeface="Consolas" panose="020B0609020204030204" pitchFamily="49" charset="0"/>
              </a:rPr>
              <a:t>&amp;</a:t>
            </a:r>
          </a:p>
          <a:p>
            <a:r>
              <a:rPr lang="ru-RU" dirty="0"/>
              <a:t>Почему </a:t>
            </a:r>
            <a:r>
              <a:rPr lang="ru-RU" dirty="0" err="1"/>
              <a:t>catch</a:t>
            </a:r>
            <a:r>
              <a:rPr lang="ru-RU" dirty="0"/>
              <a:t> по ссылке?</a:t>
            </a:r>
          </a:p>
          <a:p>
            <a:pPr lvl="1"/>
            <a:r>
              <a:rPr lang="ru-RU" dirty="0"/>
              <a:t>нет лишнего копирования; </a:t>
            </a:r>
          </a:p>
          <a:p>
            <a:pPr lvl="1"/>
            <a:r>
              <a:rPr lang="ru-RU" dirty="0"/>
              <a:t>сохраняется полиморфизм; </a:t>
            </a:r>
          </a:p>
          <a:p>
            <a:pPr lvl="1"/>
            <a:r>
              <a:rPr lang="ru-RU" dirty="0"/>
              <a:t>нет срезки (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slicing</a:t>
            </a:r>
            <a:r>
              <a:rPr lang="ru-RU" dirty="0"/>
              <a:t>). </a:t>
            </a:r>
          </a:p>
          <a:p>
            <a:r>
              <a:rPr lang="ru-RU" dirty="0"/>
              <a:t>Опасный вариант</a:t>
            </a:r>
          </a:p>
          <a:p>
            <a:pPr lvl="1"/>
            <a:r>
              <a:rPr lang="ru-RU" dirty="0" err="1"/>
              <a:t>catch</a:t>
            </a:r>
            <a:r>
              <a:rPr lang="ru-RU" dirty="0"/>
              <a:t> (</a:t>
            </a:r>
            <a:r>
              <a:rPr lang="ru-RU" dirty="0" err="1"/>
              <a:t>BaseError</a:t>
            </a:r>
            <a:r>
              <a:rPr lang="ru-RU" dirty="0"/>
              <a:t> e) // плохо</a:t>
            </a:r>
          </a:p>
          <a:p>
            <a:pPr lvl="1"/>
            <a:r>
              <a:rPr lang="ru-RU" dirty="0"/>
              <a:t>При перехвате по значению объект производного класса может быть «срезан».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FFFE29-5B2F-4866-97EF-AC6C57B59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Срезка</a:t>
            </a:r>
            <a:r>
              <a:rPr lang="en-US" dirty="0"/>
              <a:t> (slicing)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45A0E-C39F-498E-A64F-DE5693CF41E6}"/>
              </a:ext>
            </a:extLst>
          </p:cNvPr>
          <p:cNvSpPr/>
          <p:nvPr/>
        </p:nvSpPr>
        <p:spPr>
          <a:xfrm>
            <a:off x="838200" y="1454250"/>
            <a:ext cx="756205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Base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…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Derived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Base 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   …</a:t>
            </a:r>
          </a:p>
          <a:p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de-DE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267F99"/>
                </a:solidFill>
                <a:latin typeface="Consolas" panose="020B0609020204030204" pitchFamily="49" charset="0"/>
              </a:rPr>
              <a:t>Base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base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base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Derived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ru-RU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PrintInfo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static_cast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&lt;Base&amp;&gt;(d));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EBC9242-7797-236D-F17B-86E86D04FFDB}"/>
              </a:ext>
            </a:extLst>
          </p:cNvPr>
          <p:cNvGrpSpPr/>
          <p:nvPr/>
        </p:nvGrpSpPr>
        <p:grpSpPr>
          <a:xfrm>
            <a:off x="7138754" y="3736331"/>
            <a:ext cx="1402940" cy="1897515"/>
            <a:chOff x="6240016" y="1099437"/>
            <a:chExt cx="1402940" cy="18975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5990937-D756-2DCD-69AD-AD433275128A}"/>
                </a:ext>
              </a:extLst>
            </p:cNvPr>
            <p:cNvSpPr/>
            <p:nvPr/>
          </p:nvSpPr>
          <p:spPr>
            <a:xfrm>
              <a:off x="6240016" y="1099437"/>
              <a:ext cx="1402940" cy="18975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F708E6-2689-A26F-7F00-3DC0A51B2893}"/>
                </a:ext>
              </a:extLst>
            </p:cNvPr>
            <p:cNvSpPr/>
            <p:nvPr/>
          </p:nvSpPr>
          <p:spPr>
            <a:xfrm>
              <a:off x="6240016" y="1099438"/>
              <a:ext cx="1402940" cy="1260449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Frame 2">
            <a:extLst>
              <a:ext uri="{FF2B5EF4-FFF2-40B4-BE49-F238E27FC236}">
                <a16:creationId xmlns:a16="http://schemas.microsoft.com/office/drawing/2014/main" id="{7F85C09E-9BD1-6A7E-4E63-F107AF1BBEDE}"/>
              </a:ext>
            </a:extLst>
          </p:cNvPr>
          <p:cNvSpPr/>
          <p:nvPr/>
        </p:nvSpPr>
        <p:spPr>
          <a:xfrm>
            <a:off x="8761512" y="3501008"/>
            <a:ext cx="1798984" cy="1731096"/>
          </a:xfrm>
          <a:prstGeom prst="fram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3C55BD-F40C-0AD8-F90E-F0AFC729567E}"/>
              </a:ext>
            </a:extLst>
          </p:cNvPr>
          <p:cNvSpPr>
            <a:spLocks/>
          </p:cNvSpPr>
          <p:nvPr/>
        </p:nvSpPr>
        <p:spPr>
          <a:xfrm>
            <a:off x="7138754" y="3738901"/>
            <a:ext cx="1402940" cy="12604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79F9C4-1968-2730-31A0-880F8ADFB6B2}"/>
              </a:ext>
            </a:extLst>
          </p:cNvPr>
          <p:cNvSpPr/>
          <p:nvPr/>
        </p:nvSpPr>
        <p:spPr>
          <a:xfrm>
            <a:off x="8777288" y="3645024"/>
            <a:ext cx="183356" cy="140560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98BCFF0-3032-8C04-ED14-AB8803E94033}"/>
              </a:ext>
            </a:extLst>
          </p:cNvPr>
          <p:cNvSpPr/>
          <p:nvPr/>
        </p:nvSpPr>
        <p:spPr>
          <a:xfrm>
            <a:off x="5761451" y="3744017"/>
            <a:ext cx="219064" cy="126045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088603A-450A-6F57-46CE-4C4F1BF56786}"/>
              </a:ext>
            </a:extLst>
          </p:cNvPr>
          <p:cNvSpPr/>
          <p:nvPr/>
        </p:nvSpPr>
        <p:spPr>
          <a:xfrm>
            <a:off x="6766443" y="3744017"/>
            <a:ext cx="219064" cy="189751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00450C-F610-1E91-C0CF-31A8EB2F9DF9}"/>
              </a:ext>
            </a:extLst>
          </p:cNvPr>
          <p:cNvSpPr txBox="1"/>
          <p:nvPr/>
        </p:nvSpPr>
        <p:spPr>
          <a:xfrm>
            <a:off x="5846496" y="4508108"/>
            <a:ext cx="10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Derived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F219F5-C002-C0BA-14E4-99B56F926584}"/>
              </a:ext>
            </a:extLst>
          </p:cNvPr>
          <p:cNvSpPr txBox="1">
            <a:spLocks/>
          </p:cNvSpPr>
          <p:nvPr/>
        </p:nvSpPr>
        <p:spPr>
          <a:xfrm>
            <a:off x="4840706" y="4146462"/>
            <a:ext cx="100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91505F-7530-7EF5-8123-4857A159074A}"/>
              </a:ext>
            </a:extLst>
          </p:cNvPr>
          <p:cNvSpPr txBox="1"/>
          <p:nvPr/>
        </p:nvSpPr>
        <p:spPr>
          <a:xfrm>
            <a:off x="8616280" y="5373216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PrintInfo</a:t>
            </a:r>
            <a:r>
              <a:rPr lang="en-US" dirty="0"/>
              <a:t>(Base base)</a:t>
            </a:r>
          </a:p>
        </p:txBody>
      </p:sp>
    </p:spTree>
    <p:extLst>
      <p:ext uri="{BB962C8B-B14F-4D97-AF65-F5344CB8AC3E}">
        <p14:creationId xmlns:p14="http://schemas.microsoft.com/office/powerpoint/2010/main" val="71258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96296E-6 L 0.29401 2.96296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0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963D5D-EBB6-4B74-AEB4-C15A7269AF56}"/>
              </a:ext>
            </a:extLst>
          </p:cNvPr>
          <p:cNvSpPr/>
          <p:nvPr/>
        </p:nvSpPr>
        <p:spPr>
          <a:xfrm>
            <a:off x="23564" y="1773576"/>
            <a:ext cx="6096000" cy="509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267F99"/>
                </a:solidFill>
                <a:latin typeface="Consolas" panose="020B0609020204030204" pitchFamily="49" charset="0"/>
              </a:rPr>
              <a:t>Base 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Base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       : 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) { }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de-DE" sz="13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"Base </a:t>
            </a:r>
            <a:r>
              <a:rPr lang="de-DE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exception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de-DE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     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3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~Base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3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sz="13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Derived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267F99"/>
                </a:solidFill>
                <a:latin typeface="Consolas" panose="020B0609020204030204" pitchFamily="49" charset="0"/>
              </a:rPr>
              <a:t>Base 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Derived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3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CBase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) { }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3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3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Derived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A31515"/>
                </a:solidFill>
                <a:latin typeface="Consolas" panose="020B0609020204030204" pitchFamily="49" charset="0"/>
              </a:rPr>
              <a:t>exception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de-DE" sz="13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3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3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3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3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A00632-146C-4D49-AD24-EBC7D25EC26C}"/>
              </a:ext>
            </a:extLst>
          </p:cNvPr>
          <p:cNvSpPr/>
          <p:nvPr/>
        </p:nvSpPr>
        <p:spPr>
          <a:xfrm>
            <a:off x="6046866" y="1756749"/>
            <a:ext cx="6096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Derived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error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SomeInfo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error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error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6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</a:rPr>
              <a:t>Срезка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>
                <a:solidFill>
                  <a:srgbClr val="267F99"/>
                </a:solidFill>
                <a:latin typeface="Consolas" panose="020B0609020204030204" pitchFamily="49" charset="0"/>
              </a:rPr>
              <a:t>Base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BCEFD8-38C3-4C67-AAB6-B1E4D6A8D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564" y="4797152"/>
            <a:ext cx="4139952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Output:</a:t>
            </a:r>
            <a:endParaRPr lang="ru-RU" b="1" dirty="0">
              <a:latin typeface="Courier New" pitchFamily="49" charset="0"/>
            </a:endParaRPr>
          </a:p>
          <a:p>
            <a:r>
              <a:rPr lang="en-US" dirty="0">
                <a:latin typeface="Courier New" pitchFamily="49" charset="0"/>
              </a:rPr>
              <a:t>Derived exception: </a:t>
            </a:r>
            <a:r>
              <a:rPr lang="en-US" dirty="0" err="1">
                <a:latin typeface="Courier New" pitchFamily="49" charset="0"/>
              </a:rPr>
              <a:t>SomeInfo</a:t>
            </a:r>
            <a:endParaRPr lang="en-US" dirty="0">
              <a:latin typeface="Courier New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Base</a:t>
            </a:r>
            <a:r>
              <a:rPr lang="en-US" dirty="0">
                <a:latin typeface="Courier New" pitchFamily="49" charset="0"/>
              </a:rPr>
              <a:t> exception: </a:t>
            </a:r>
            <a:r>
              <a:rPr lang="en-US" dirty="0" err="1">
                <a:latin typeface="Courier New" pitchFamily="49" charset="0"/>
              </a:rPr>
              <a:t>SomeInfo</a:t>
            </a:r>
            <a:endParaRPr lang="ru-RU" dirty="0">
              <a:latin typeface="Courier New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69358-7AD3-9638-1455-5ED0767A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Срезка при </a:t>
            </a:r>
            <a:r>
              <a:rPr lang="en-US" dirty="0"/>
              <a:t>catch </a:t>
            </a:r>
            <a:r>
              <a:rPr lang="ru-RU" dirty="0"/>
              <a:t>по значению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963D5D-EBB6-4B74-AEB4-C15A7269AF56}"/>
              </a:ext>
            </a:extLst>
          </p:cNvPr>
          <p:cNvSpPr/>
          <p:nvPr/>
        </p:nvSpPr>
        <p:spPr>
          <a:xfrm>
            <a:off x="0" y="1"/>
            <a:ext cx="6096000" cy="6632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Base 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Base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    :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{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"Base 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exception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                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~Base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7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m_message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endParaRPr lang="de-DE" sz="17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Derived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: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267F99"/>
                </a:solidFill>
                <a:latin typeface="Consolas" panose="020B0609020204030204" pitchFamily="49" charset="0"/>
              </a:rPr>
              <a:t>Base 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Derived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CBase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{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Derived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exception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     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GetMessage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de-DE" sz="1700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A00632-146C-4D49-AD24-EBC7D25EC26C}"/>
              </a:ext>
            </a:extLst>
          </p:cNvPr>
          <p:cNvSpPr/>
          <p:nvPr/>
        </p:nvSpPr>
        <p:spPr>
          <a:xfrm>
            <a:off x="6113388" y="0"/>
            <a:ext cx="6096000" cy="29700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sz="17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 err="1">
                <a:solidFill>
                  <a:srgbClr val="267F99"/>
                </a:solidFill>
                <a:latin typeface="Consolas" panose="020B0609020204030204" pitchFamily="49" charset="0"/>
              </a:rPr>
              <a:t>Derived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error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 err="1">
                <a:solidFill>
                  <a:srgbClr val="A31515"/>
                </a:solidFill>
                <a:latin typeface="Consolas" panose="020B0609020204030204" pitchFamily="49" charset="0"/>
              </a:rPr>
              <a:t>SomeInfo</a:t>
            </a:r>
            <a:r>
              <a:rPr lang="de-DE" sz="17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error</a:t>
            </a:r>
            <a:r>
              <a:rPr lang="de-DE" sz="17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error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7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Теперь </a:t>
            </a:r>
            <a:r>
              <a:rPr lang="ru-RU" sz="1700" dirty="0" err="1">
                <a:solidFill>
                  <a:srgbClr val="008000"/>
                </a:solidFill>
                <a:latin typeface="Consolas" panose="020B0609020204030204" pitchFamily="49" charset="0"/>
              </a:rPr>
              <a:t>ок</a:t>
            </a:r>
            <a:endParaRPr lang="de-DE" sz="17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700" dirty="0">
                <a:solidFill>
                  <a:srgbClr val="AF00DB"/>
                </a:solidFill>
                <a:latin typeface="Consolas" panose="020B0609020204030204" pitchFamily="49" charset="0"/>
              </a:rPr>
              <a:t>catch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7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7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700" b="1" dirty="0">
                <a:solidFill>
                  <a:srgbClr val="267F99"/>
                </a:solidFill>
                <a:latin typeface="Consolas" panose="020B0609020204030204" pitchFamily="49" charset="0"/>
              </a:rPr>
              <a:t>Base</a:t>
            </a:r>
            <a:r>
              <a:rPr lang="de-DE" sz="1700" b="1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700" b="1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700" b="1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700" dirty="0" err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de-DE" sz="17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7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PrintInfo</a:t>
            </a:r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sz="17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BCEFD8-38C3-4C67-AAB6-B1E4D6A8D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564" y="4797152"/>
            <a:ext cx="4139952" cy="9255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itchFamily="49" charset="0"/>
              </a:rPr>
              <a:t>Output:</a:t>
            </a:r>
            <a:endParaRPr lang="ru-RU" b="1" dirty="0">
              <a:latin typeface="Courier New" pitchFamily="49" charset="0"/>
            </a:endParaRPr>
          </a:p>
          <a:p>
            <a:r>
              <a:rPr lang="en-US" dirty="0">
                <a:latin typeface="Courier New" pitchFamily="49" charset="0"/>
              </a:rPr>
              <a:t>Derived exception: </a:t>
            </a:r>
            <a:r>
              <a:rPr lang="en-US" dirty="0" err="1">
                <a:latin typeface="Courier New" pitchFamily="49" charset="0"/>
              </a:rPr>
              <a:t>SomeInfo</a:t>
            </a:r>
            <a:endParaRPr lang="en-US" dirty="0">
              <a:latin typeface="Courier New" pitchFamily="49" charset="0"/>
            </a:endParaRPr>
          </a:p>
          <a:p>
            <a:r>
              <a:rPr lang="en-US" dirty="0">
                <a:latin typeface="Courier New" pitchFamily="49" charset="0"/>
              </a:rPr>
              <a:t>Derived exception: </a:t>
            </a:r>
            <a:r>
              <a:rPr lang="en-US" dirty="0" err="1">
                <a:latin typeface="Courier New" pitchFamily="49" charset="0"/>
              </a:rPr>
              <a:t>SomeInfo</a:t>
            </a:r>
            <a:endParaRPr lang="ru-RU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06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Перевыброс исключения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ru-RU" sz="2400" dirty="0"/>
              <a:t>Исключение можно обработать частично и передать дальше</a:t>
            </a:r>
          </a:p>
          <a:p>
            <a:r>
              <a:rPr lang="ru-RU" sz="2400" dirty="0" err="1"/>
              <a:t>throw</a:t>
            </a:r>
            <a:r>
              <a:rPr lang="ru-RU" sz="2400" dirty="0"/>
              <a:t>;</a:t>
            </a:r>
            <a:endParaRPr lang="ru-RU" sz="1800" dirty="0"/>
          </a:p>
          <a:p>
            <a:pPr lvl="1"/>
            <a:r>
              <a:rPr lang="ru-RU" sz="1600" dirty="0"/>
              <a:t>повторно выбрасывает текущее исключение; </a:t>
            </a:r>
          </a:p>
          <a:p>
            <a:pPr lvl="1"/>
            <a:r>
              <a:rPr lang="ru-RU" sz="1600" dirty="0"/>
              <a:t>не создаёт новый объект исключения; </a:t>
            </a:r>
          </a:p>
          <a:p>
            <a:pPr lvl="1"/>
            <a:r>
              <a:rPr lang="ru-RU" sz="1600" dirty="0"/>
              <a:t>сохраняет исходный тип исключения. </a:t>
            </a:r>
          </a:p>
          <a:p>
            <a:r>
              <a:rPr lang="ru-RU" sz="2000" dirty="0"/>
              <a:t>Используется, когда:</a:t>
            </a:r>
          </a:p>
          <a:p>
            <a:pPr lvl="1"/>
            <a:r>
              <a:rPr lang="ru-RU" sz="1600" dirty="0"/>
              <a:t>нужно выполнить локальную обработку; </a:t>
            </a:r>
          </a:p>
          <a:p>
            <a:pPr lvl="1"/>
            <a:r>
              <a:rPr lang="ru-RU" sz="1600" dirty="0"/>
              <a:t>но окончательное решение принимается выше по стеку вызовов</a:t>
            </a:r>
          </a:p>
          <a:p>
            <a:endParaRPr lang="en-US" sz="2000" dirty="0">
              <a:latin typeface="Courier New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C770F-66A8-A919-BA06-F24ACDD36168}"/>
              </a:ext>
            </a:extLst>
          </p:cNvPr>
          <p:cNvSpPr txBox="1"/>
          <p:nvPr/>
        </p:nvSpPr>
        <p:spPr>
          <a:xfrm>
            <a:off x="6111506" y="182562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LoadImage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e)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перевыброс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текущего исключения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E8ACA4-A8E9-4CCE-9658-0C1537BB41BB}"/>
              </a:ext>
            </a:extLst>
          </p:cNvPr>
          <p:cNvSpPr txBox="1"/>
          <p:nvPr/>
        </p:nvSpPr>
        <p:spPr>
          <a:xfrm>
            <a:off x="119336" y="0"/>
            <a:ext cx="12072664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T&gt;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Vector {</a:t>
            </a:r>
          </a:p>
          <a:p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Vector() =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Vector(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data_(Allocate(size))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capacity_(size)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size_(size)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size; ++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(data_ +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T();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(...) {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переменной </a:t>
            </a:r>
            <a:r>
              <a:rPr lang="en-US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содержится количество созданных элементов.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Теперь их надо разрушить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DestroyN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(data_,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память, выделенную через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Allocate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Deallocate(data_);</a:t>
            </a:r>
          </a:p>
          <a:p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// </a:t>
            </a:r>
            <a:r>
              <a:rPr lang="ru-RU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Перевыбрасываем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пойманное исключение, чтобы сообщить об ошибке создания объекта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4AA2E7C-7A93-302B-0636-CB555DDA4871}"/>
              </a:ext>
            </a:extLst>
          </p:cNvPr>
          <p:cNvGrpSpPr/>
          <p:nvPr/>
        </p:nvGrpSpPr>
        <p:grpSpPr>
          <a:xfrm>
            <a:off x="6206690" y="1484784"/>
            <a:ext cx="4929869" cy="504056"/>
            <a:chOff x="6206690" y="1484784"/>
            <a:chExt cx="4929869" cy="50405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F7CAE39-479F-884A-6198-67EC9CBB38DB}"/>
                </a:ext>
              </a:extLst>
            </p:cNvPr>
            <p:cNvSpPr/>
            <p:nvPr/>
          </p:nvSpPr>
          <p:spPr>
            <a:xfrm>
              <a:off x="6206690" y="1484784"/>
              <a:ext cx="4929869" cy="504056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5F23EC6-1B0A-D8AC-5498-2EC3B9FA4AA7}"/>
                </a:ext>
              </a:extLst>
            </p:cNvPr>
            <p:cNvSpPr/>
            <p:nvPr/>
          </p:nvSpPr>
          <p:spPr>
            <a:xfrm>
              <a:off x="631202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A88F28-75FD-2950-AA55-DEFFDD334F26}"/>
                </a:ext>
              </a:extLst>
            </p:cNvPr>
            <p:cNvSpPr/>
            <p:nvPr/>
          </p:nvSpPr>
          <p:spPr>
            <a:xfrm>
              <a:off x="679684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BE9C7EB-3F00-706B-2466-8D31FD360023}"/>
                </a:ext>
              </a:extLst>
            </p:cNvPr>
            <p:cNvSpPr/>
            <p:nvPr/>
          </p:nvSpPr>
          <p:spPr>
            <a:xfrm>
              <a:off x="728166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AF615E-9332-C0F8-00E2-7A3787CCBBCA}"/>
                </a:ext>
              </a:extLst>
            </p:cNvPr>
            <p:cNvSpPr/>
            <p:nvPr/>
          </p:nvSpPr>
          <p:spPr>
            <a:xfrm>
              <a:off x="776648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3F5C41-3D84-2CE7-B891-2AD0CF6ED7A2}"/>
                </a:ext>
              </a:extLst>
            </p:cNvPr>
            <p:cNvSpPr/>
            <p:nvPr/>
          </p:nvSpPr>
          <p:spPr>
            <a:xfrm>
              <a:off x="825130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7C426E-95D1-FD64-547A-2B510402B937}"/>
                </a:ext>
              </a:extLst>
            </p:cNvPr>
            <p:cNvSpPr/>
            <p:nvPr/>
          </p:nvSpPr>
          <p:spPr>
            <a:xfrm>
              <a:off x="873612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FC5C50-DC5B-0CE7-8A0B-1A76F7380BB2}"/>
                </a:ext>
              </a:extLst>
            </p:cNvPr>
            <p:cNvSpPr/>
            <p:nvPr/>
          </p:nvSpPr>
          <p:spPr>
            <a:xfrm>
              <a:off x="922094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4FCBE4D-6A02-705A-5C73-CBEAED0EAE2C}"/>
                </a:ext>
              </a:extLst>
            </p:cNvPr>
            <p:cNvSpPr/>
            <p:nvPr/>
          </p:nvSpPr>
          <p:spPr>
            <a:xfrm>
              <a:off x="970576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DAC1CE-6076-23B2-280B-CE2E5D15C527}"/>
                </a:ext>
              </a:extLst>
            </p:cNvPr>
            <p:cNvSpPr/>
            <p:nvPr/>
          </p:nvSpPr>
          <p:spPr>
            <a:xfrm>
              <a:off x="1019058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81F298D-8CFE-68A3-F95C-6A13C80D2686}"/>
                </a:ext>
              </a:extLst>
            </p:cNvPr>
            <p:cNvSpPr/>
            <p:nvPr/>
          </p:nvSpPr>
          <p:spPr>
            <a:xfrm>
              <a:off x="10675404" y="1556792"/>
              <a:ext cx="360040" cy="3600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14DA71CA-22AA-AEF9-6F64-342D594EF348}"/>
              </a:ext>
            </a:extLst>
          </p:cNvPr>
          <p:cNvSpPr/>
          <p:nvPr/>
        </p:nvSpPr>
        <p:spPr>
          <a:xfrm>
            <a:off x="6312024" y="1556792"/>
            <a:ext cx="36004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F02A5D-EC7D-7AD2-112E-210A40CD8EF8}"/>
              </a:ext>
            </a:extLst>
          </p:cNvPr>
          <p:cNvSpPr/>
          <p:nvPr/>
        </p:nvSpPr>
        <p:spPr>
          <a:xfrm>
            <a:off x="6796844" y="1556792"/>
            <a:ext cx="36004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2AA604-7D92-1C77-5A87-A79D50FF77BD}"/>
              </a:ext>
            </a:extLst>
          </p:cNvPr>
          <p:cNvSpPr/>
          <p:nvPr/>
        </p:nvSpPr>
        <p:spPr>
          <a:xfrm>
            <a:off x="7281664" y="1556792"/>
            <a:ext cx="36004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5C4750-9AC2-54EE-3BBF-A8F390CAADF8}"/>
              </a:ext>
            </a:extLst>
          </p:cNvPr>
          <p:cNvSpPr/>
          <p:nvPr/>
        </p:nvSpPr>
        <p:spPr>
          <a:xfrm>
            <a:off x="7766484" y="1556792"/>
            <a:ext cx="36004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ADCC59-16F0-FF9A-2BFE-ED14D9080362}"/>
              </a:ext>
            </a:extLst>
          </p:cNvPr>
          <p:cNvSpPr/>
          <p:nvPr/>
        </p:nvSpPr>
        <p:spPr>
          <a:xfrm>
            <a:off x="8251304" y="1556792"/>
            <a:ext cx="36004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DB4DE3-4B2D-AD73-F45F-690EC5C1B6B7}"/>
              </a:ext>
            </a:extLst>
          </p:cNvPr>
          <p:cNvSpPr/>
          <p:nvPr/>
        </p:nvSpPr>
        <p:spPr>
          <a:xfrm>
            <a:off x="8736124" y="1556792"/>
            <a:ext cx="36004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659D8B-2773-7CC1-3B3A-579605F64A18}"/>
              </a:ext>
            </a:extLst>
          </p:cNvPr>
          <p:cNvSpPr/>
          <p:nvPr/>
        </p:nvSpPr>
        <p:spPr>
          <a:xfrm>
            <a:off x="9220944" y="1556792"/>
            <a:ext cx="360040" cy="360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21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Стандартные классы исключений библиотеки </a:t>
            </a:r>
            <a:r>
              <a:rPr lang="en-US" dirty="0"/>
              <a:t>STL</a:t>
            </a:r>
            <a:endParaRPr lang="ru-RU" dirty="0"/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17744"/>
              </p:ext>
            </p:extLst>
          </p:nvPr>
        </p:nvGraphicFramePr>
        <p:xfrm>
          <a:off x="407368" y="1988840"/>
          <a:ext cx="11377264" cy="47341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Некоторые стандартные классы исключений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AEC459C-CE11-7D9A-1304-E1DC76DBD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630886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616">
                  <a:extLst>
                    <a:ext uri="{9D8B030D-6E8A-4147-A177-3AD203B41FA5}">
                      <a16:colId xmlns:a16="http://schemas.microsoft.com/office/drawing/2014/main" val="3908908384"/>
                    </a:ext>
                  </a:extLst>
                </a:gridCol>
                <a:gridCol w="6913984">
                  <a:extLst>
                    <a:ext uri="{9D8B030D-6E8A-4147-A177-3AD203B41FA5}">
                      <a16:colId xmlns:a16="http://schemas.microsoft.com/office/drawing/2014/main" val="58072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Класс исключения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используется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632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std::exception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Базовый класс стандартных исключений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678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logic_error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Ошибка логики программы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431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invalid_argument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Некорректный аргумент функции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093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out_of_range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Выход за границы диапазона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0389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bad_alloc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Не удалось выделить память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65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bad_cast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Ошибка </a:t>
                      </a:r>
                      <a:r>
                        <a:rPr lang="en-US" dirty="0" err="1">
                          <a:latin typeface="Courier New" panose="02070309020205020404" pitchFamily="49" charset="0"/>
                        </a:rPr>
                        <a:t>dynamic_cast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940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bad_optional_access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 к пустому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std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::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optional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398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olas" panose="020B0609020204030204" pitchFamily="49" charset="0"/>
                        </a:rPr>
                        <a:t>std::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runtime_error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Ошибка времени выполнения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4481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CB12C-0AE0-6208-6CBF-AD2BD2A6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Плюсы и минусы исключений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2051-CCD8-60E4-B6C2-6BBE3BD04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Преимущества</a:t>
            </a:r>
          </a:p>
          <a:p>
            <a:pPr lvl="1"/>
            <a:r>
              <a:rPr lang="ru-RU" dirty="0"/>
              <a:t>невозможно «случайно забыть» обработку ошибки; </a:t>
            </a:r>
          </a:p>
          <a:p>
            <a:pPr lvl="1"/>
            <a:r>
              <a:rPr lang="ru-RU" dirty="0"/>
              <a:t>код обработки ошибок отделён от основной логики; </a:t>
            </a:r>
          </a:p>
          <a:p>
            <a:pPr lvl="1"/>
            <a:r>
              <a:rPr lang="ru-RU" dirty="0"/>
              <a:t>ошибки можно обрабатывать на разных уровнях программы; </a:t>
            </a:r>
          </a:p>
          <a:p>
            <a:pPr lvl="1"/>
            <a:r>
              <a:rPr lang="ru-RU" dirty="0"/>
              <a:t>разные типы исключений позволяют по-разному реагировать на ошибки; </a:t>
            </a:r>
          </a:p>
          <a:p>
            <a:pPr lvl="1"/>
            <a:r>
              <a:rPr lang="ru-RU" dirty="0"/>
              <a:t>исключение может хранить дополнительную информацию: </a:t>
            </a:r>
          </a:p>
          <a:p>
            <a:pPr lvl="2"/>
            <a:r>
              <a:rPr lang="ru-RU" dirty="0"/>
              <a:t>сообщение; </a:t>
            </a:r>
          </a:p>
          <a:p>
            <a:pPr lvl="2"/>
            <a:r>
              <a:rPr lang="ru-RU" dirty="0"/>
              <a:t>код ошибки; </a:t>
            </a:r>
          </a:p>
          <a:p>
            <a:pPr lvl="2"/>
            <a:r>
              <a:rPr lang="ru-RU" dirty="0"/>
              <a:t>имя файла и т.д. </a:t>
            </a:r>
          </a:p>
          <a:p>
            <a:r>
              <a:rPr lang="ru-RU" dirty="0"/>
              <a:t>Недостатки</a:t>
            </a:r>
          </a:p>
          <a:p>
            <a:pPr lvl="1"/>
            <a:r>
              <a:rPr lang="ru-RU" dirty="0"/>
              <a:t>код должен быть </a:t>
            </a:r>
            <a:r>
              <a:rPr lang="ru-RU" dirty="0" err="1"/>
              <a:t>exception-safe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сложнее анализировать возможные пути выполнения программы; </a:t>
            </a:r>
          </a:p>
          <a:p>
            <a:pPr lvl="1"/>
            <a:r>
              <a:rPr lang="ru-RU" dirty="0"/>
              <a:t>выброс исключения — сравнительно дорогая операция; </a:t>
            </a:r>
          </a:p>
          <a:p>
            <a:pPr lvl="1"/>
            <a:r>
              <a:rPr lang="ru-RU" dirty="0"/>
              <a:t>исключения увеличивают сложность реализации библиотек и классов. </a:t>
            </a:r>
          </a:p>
          <a:p>
            <a:r>
              <a:rPr lang="ru-RU" dirty="0"/>
              <a:t>Исключения предназначены для обработки действительно нештатных ситуаций.</a:t>
            </a:r>
          </a:p>
        </p:txBody>
      </p:sp>
    </p:spTree>
    <p:extLst>
      <p:ext uri="{BB962C8B-B14F-4D97-AF65-F5344CB8AC3E}">
        <p14:creationId xmlns:p14="http://schemas.microsoft.com/office/powerpoint/2010/main" val="16640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Исключение в конструкторе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Если конструктор выбросил исключение:</a:t>
            </a:r>
          </a:p>
          <a:p>
            <a:pPr lvl="1"/>
            <a:r>
              <a:rPr lang="ru-RU" dirty="0"/>
              <a:t>объект считается не созданным; </a:t>
            </a:r>
          </a:p>
          <a:p>
            <a:pPr lvl="1"/>
            <a:r>
              <a:rPr lang="ru-RU" dirty="0"/>
              <a:t>деструктор самого объекта вызван не будет; </a:t>
            </a:r>
          </a:p>
          <a:p>
            <a:pPr lvl="1"/>
            <a:r>
              <a:rPr lang="ru-RU" dirty="0"/>
              <a:t>будут уничтожены только успешно сконструированные поля и базовые классы. </a:t>
            </a:r>
          </a:p>
          <a:p>
            <a:r>
              <a:rPr lang="ru-RU" dirty="0"/>
              <a:t>Порядок инициализации и разрушения</a:t>
            </a:r>
          </a:p>
          <a:p>
            <a:pPr lvl="1"/>
            <a:r>
              <a:rPr lang="ru-RU" dirty="0"/>
              <a:t>Конструирование:   сверху вниз</a:t>
            </a:r>
          </a:p>
          <a:p>
            <a:pPr lvl="1"/>
            <a:r>
              <a:rPr lang="ru-RU" dirty="0"/>
              <a:t>Разрушение:        снизу вверх</a:t>
            </a:r>
          </a:p>
          <a:p>
            <a:r>
              <a:rPr lang="ru-RU" dirty="0"/>
              <a:t>Важно</a:t>
            </a:r>
          </a:p>
          <a:p>
            <a:pPr lvl="1"/>
            <a:r>
              <a:rPr lang="ru-RU" dirty="0"/>
              <a:t>Поля класса должны корректно освобождать свои ресурсы даже при частичном конструировании объекта.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184139-0DB9-AFBA-F79C-0076D3FE3323}"/>
              </a:ext>
            </a:extLst>
          </p:cNvPr>
          <p:cNvSpPr txBox="1"/>
          <p:nvPr/>
        </p:nvSpPr>
        <p:spPr>
          <a:xfrm>
            <a:off x="510322" y="1690688"/>
            <a:ext cx="55856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Open file: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Close file: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6B008-7807-FDFC-020F-67EE5DCF8F29}"/>
              </a:ext>
            </a:extLst>
          </p:cNvPr>
          <p:cNvSpPr txBox="1"/>
          <p:nvPr/>
        </p:nvSpPr>
        <p:spPr>
          <a:xfrm>
            <a:off x="6312024" y="1767006"/>
            <a:ext cx="5879976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pixelCount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m_pixels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pixelCount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Image loaded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~Image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m_pixels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Image destroyed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m_file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m_pixels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39F32A-E27F-B403-34CE-54CDE7998E70}"/>
              </a:ext>
            </a:extLst>
          </p:cNvPr>
          <p:cNvSpPr txBox="1"/>
          <p:nvPr/>
        </p:nvSpPr>
        <p:spPr>
          <a:xfrm>
            <a:off x="507370" y="4797152"/>
            <a:ext cx="558863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cat.png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1'000'000'000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bad_alloc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Error: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sz="14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what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C941BEA-5122-B809-8EA0-65C3D231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11CD44-7ADA-D05E-DA33-C1C875725148}"/>
              </a:ext>
            </a:extLst>
          </p:cNvPr>
          <p:cNvSpPr txBox="1"/>
          <p:nvPr/>
        </p:nvSpPr>
        <p:spPr>
          <a:xfrm>
            <a:off x="6347973" y="5444781"/>
            <a:ext cx="4940558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Open file: cat.png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Close file: cat.png</a:t>
            </a:r>
          </a:p>
          <a:p>
            <a:pPr>
              <a:buNone/>
            </a:pPr>
            <a:r>
              <a:rPr lang="en-US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Error: bad allocation</a:t>
            </a:r>
          </a:p>
        </p:txBody>
      </p:sp>
    </p:spTree>
    <p:extLst>
      <p:ext uri="{BB962C8B-B14F-4D97-AF65-F5344CB8AC3E}">
        <p14:creationId xmlns:p14="http://schemas.microsoft.com/office/powerpoint/2010/main" val="1638078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1A60AD-1E9E-469A-A7AC-DAC1ECA05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и функции, не выбрасывающие исключений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D0ECB-3153-463F-89EA-927363013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180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03AEA0-B736-4507-AF4F-A7C75185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noexcept</a:t>
            </a:r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6F6830-EBCE-4724-96E6-0F0F05980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Указывает на то, может ли функция или метод выбросить исключение</a:t>
            </a:r>
          </a:p>
          <a:p>
            <a:r>
              <a:rPr lang="ru-RU" dirty="0"/>
              <a:t>Синтаксис</a:t>
            </a:r>
          </a:p>
          <a:p>
            <a:pPr lvl="1"/>
            <a:r>
              <a:rPr lang="en-US" dirty="0" err="1"/>
              <a:t>noexcept</a:t>
            </a:r>
            <a:r>
              <a:rPr lang="ru-RU" dirty="0"/>
              <a:t>(</a:t>
            </a:r>
            <a:r>
              <a:rPr lang="ru-RU" i="1" dirty="0"/>
              <a:t>выражение</a:t>
            </a:r>
            <a:r>
              <a:rPr lang="ru-RU" dirty="0"/>
              <a:t>)</a:t>
            </a:r>
            <a:endParaRPr lang="en-US" dirty="0"/>
          </a:p>
          <a:p>
            <a:pPr lvl="2"/>
            <a:r>
              <a:rPr lang="ru-RU" dirty="0"/>
              <a:t>Если значение выражения равно </a:t>
            </a:r>
            <a:r>
              <a:rPr lang="en-US" dirty="0"/>
              <a:t>true</a:t>
            </a:r>
            <a:r>
              <a:rPr lang="ru-RU" dirty="0"/>
              <a:t>, функция не выбрасывает исключений</a:t>
            </a:r>
          </a:p>
          <a:p>
            <a:pPr lvl="1"/>
            <a:r>
              <a:rPr lang="en-US" dirty="0" err="1"/>
              <a:t>noexcept</a:t>
            </a:r>
            <a:r>
              <a:rPr lang="en-US" dirty="0"/>
              <a:t> – </a:t>
            </a:r>
            <a:r>
              <a:rPr lang="ru-RU" dirty="0"/>
              <a:t>то же, что </a:t>
            </a:r>
            <a:r>
              <a:rPr lang="en-US" dirty="0" err="1"/>
              <a:t>noexcept</a:t>
            </a:r>
            <a:r>
              <a:rPr lang="en-US" dirty="0"/>
              <a:t>(true)</a:t>
            </a:r>
          </a:p>
          <a:p>
            <a:pPr lvl="1"/>
            <a:r>
              <a:rPr lang="ru-RU" dirty="0"/>
              <a:t>Выражение должно быть вычислимо во время компиляции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6B06B1-AA47-4010-AB0C-A7D5B3F7EBF8}"/>
              </a:ext>
            </a:extLst>
          </p:cNvPr>
          <p:cNvSpPr/>
          <p:nvPr/>
        </p:nvSpPr>
        <p:spPr>
          <a:xfrm>
            <a:off x="826023" y="477684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DE" dirty="0" err="1">
                <a:solidFill>
                  <a:srgbClr val="880000"/>
                </a:solidFill>
                <a:latin typeface="Cascadia Mono" panose="020B0609020000020004" pitchFamily="49" charset="0"/>
              </a:rPr>
              <a:t>MayThrow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DE" dirty="0" err="1">
                <a:solidFill>
                  <a:srgbClr val="880000"/>
                </a:solidFill>
                <a:latin typeface="Cascadia Mono" panose="020B0609020000020004" pitchFamily="49" charset="0"/>
              </a:rPr>
              <a:t>MayThrowAsWell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noexcept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false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de-DE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DE" dirty="0" err="1">
                <a:solidFill>
                  <a:srgbClr val="880000"/>
                </a:solidFill>
                <a:latin typeface="Cascadia Mono" panose="020B0609020000020004" pitchFamily="49" charset="0"/>
              </a:rPr>
              <a:t>DoesNotThrow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noexcept</a:t>
            </a:r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de-DE" dirty="0" err="1">
                <a:solidFill>
                  <a:srgbClr val="880000"/>
                </a:solidFill>
                <a:latin typeface="Cascadia Mono" panose="020B0609020000020004" pitchFamily="49" charset="0"/>
              </a:rPr>
              <a:t>DoesNotThrowAsWell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() </a:t>
            </a:r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noexcept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de-DE" dirty="0" err="1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de-DE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0E4F6-385F-436B-9AA8-CCDEA6359B1F}"/>
              </a:ext>
            </a:extLst>
          </p:cNvPr>
          <p:cNvSpPr/>
          <p:nvPr/>
        </p:nvSpPr>
        <p:spPr>
          <a:xfrm>
            <a:off x="5951984" y="6381328"/>
            <a:ext cx="6009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3"/>
              </a:rPr>
              <a:t>https://en.cppreference.com/w/cpp/language/noexcept_spec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AB04E1-0105-47BB-A498-66677D529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2433" y="4365104"/>
            <a:ext cx="1976510" cy="199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45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6CE8C-2733-FA0D-CC51-C2F5F2507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noexcept</a:t>
            </a:r>
            <a:r>
              <a:rPr lang="ru-RU" dirty="0"/>
              <a:t> и аварийное завершение программы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F50A-5052-F1C9-A197-2553837EE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Если исключение покинет </a:t>
            </a:r>
            <a:r>
              <a:rPr lang="en-US" dirty="0" err="1"/>
              <a:t>noexcept</a:t>
            </a:r>
            <a:r>
              <a:rPr lang="en-US" dirty="0"/>
              <a:t>-</a:t>
            </a:r>
            <a:r>
              <a:rPr lang="ru-RU" dirty="0"/>
              <a:t>функцию, будет вызвана функция </a:t>
            </a:r>
            <a:r>
              <a:rPr lang="en-US" dirty="0"/>
              <a:t>std::terminate</a:t>
            </a:r>
            <a:endParaRPr lang="ru-RU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void Foo() </a:t>
            </a:r>
            <a:r>
              <a:rPr lang="en-US" dirty="0" err="1">
                <a:latin typeface="Consolas" panose="020B0609020204030204" pitchFamily="49" charset="0"/>
              </a:rPr>
              <a:t>noexcept</a:t>
            </a:r>
            <a:r>
              <a:rPr lang="en-US" dirty="0">
                <a:latin typeface="Consolas" panose="020B0609020204030204" pitchFamily="49" charset="0"/>
              </a:rPr>
              <a:t> {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    throw std::</a:t>
            </a:r>
            <a:r>
              <a:rPr lang="en-US" dirty="0" err="1">
                <a:latin typeface="Consolas" panose="020B0609020204030204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</a:rPr>
              <a:t>("Error");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r>
              <a:rPr lang="ru-RU" dirty="0"/>
              <a:t>Вывод</a:t>
            </a:r>
          </a:p>
          <a:p>
            <a:pPr lvl="1"/>
            <a:r>
              <a:rPr lang="en-US" dirty="0" err="1"/>
              <a:t>noexcept</a:t>
            </a:r>
            <a:r>
              <a:rPr lang="en-US" dirty="0"/>
              <a:t>-</a:t>
            </a:r>
            <a:r>
              <a:rPr lang="ru-RU" dirty="0"/>
              <a:t>функция должна:</a:t>
            </a:r>
          </a:p>
          <a:p>
            <a:pPr lvl="1"/>
            <a:r>
              <a:rPr lang="ru-RU" dirty="0"/>
              <a:t>либо гарантированно не выбрасывать исключений; </a:t>
            </a:r>
          </a:p>
          <a:p>
            <a:pPr lvl="1"/>
            <a:r>
              <a:rPr lang="ru-RU" dirty="0"/>
              <a:t>либо перехватывать их внутри себя.</a:t>
            </a:r>
          </a:p>
        </p:txBody>
      </p:sp>
    </p:spTree>
    <p:extLst>
      <p:ext uri="{BB962C8B-B14F-4D97-AF65-F5344CB8AC3E}">
        <p14:creationId xmlns:p14="http://schemas.microsoft.com/office/powerpoint/2010/main" val="17840891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3D1D-083D-A4B0-D8C6-1E57C56E1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деструкторы не должны выбрасывать исключения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9D25B-A4E1-3B22-CE8B-1ACBB6789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Деструкторы в C++ по умолчанию </a:t>
            </a:r>
            <a:r>
              <a:rPr lang="ru-RU" dirty="0" err="1"/>
              <a:t>noexcept</a:t>
            </a:r>
            <a:endParaRPr lang="ru-RU" dirty="0"/>
          </a:p>
          <a:p>
            <a:r>
              <a:rPr lang="ru-RU" dirty="0"/>
              <a:t>Опасная ситуация</a:t>
            </a:r>
          </a:p>
          <a:p>
            <a:pPr lvl="1"/>
            <a:r>
              <a:rPr lang="ru-RU" dirty="0"/>
              <a:t>Исключение №1</a:t>
            </a:r>
            <a:br>
              <a:rPr lang="ru-RU" dirty="0"/>
            </a:br>
            <a:r>
              <a:rPr lang="ru-RU" dirty="0"/>
              <a:t>↓</a:t>
            </a:r>
            <a:br>
              <a:rPr lang="ru-RU" dirty="0"/>
            </a:br>
            <a:r>
              <a:rPr lang="ru-RU" dirty="0"/>
              <a:t>Раскрутка стека</a:t>
            </a:r>
            <a:br>
              <a:rPr lang="ru-RU" dirty="0"/>
            </a:br>
            <a:r>
              <a:rPr lang="ru-RU" dirty="0"/>
              <a:t>↓</a:t>
            </a:r>
            <a:br>
              <a:rPr lang="ru-RU" dirty="0"/>
            </a:br>
            <a:r>
              <a:rPr lang="ru-RU" dirty="0"/>
              <a:t>Деструктор выбрасывает исключение №2</a:t>
            </a:r>
            <a:br>
              <a:rPr lang="ru-RU" dirty="0"/>
            </a:br>
            <a:r>
              <a:rPr lang="ru-RU" dirty="0"/>
              <a:t>↓</a:t>
            </a:r>
            <a:br>
              <a:rPr lang="ru-RU" dirty="0"/>
            </a:b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terminate</a:t>
            </a:r>
            <a:r>
              <a:rPr lang="ru-RU" dirty="0"/>
              <a:t>()</a:t>
            </a:r>
          </a:p>
          <a:p>
            <a:r>
              <a:rPr lang="ru-RU" dirty="0"/>
              <a:t>Правило</a:t>
            </a:r>
            <a:r>
              <a:rPr lang="en-US" dirty="0"/>
              <a:t>: </a:t>
            </a:r>
            <a:r>
              <a:rPr lang="ru-RU" dirty="0"/>
              <a:t>Исключение не должно покидать деструктор.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277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E625-C519-C5AF-3F7B-BB2485CD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ru-RU" dirty="0" err="1"/>
              <a:t>noexcept</a:t>
            </a:r>
            <a:r>
              <a:rPr lang="ru-RU" dirty="0"/>
              <a:t> важен для </a:t>
            </a:r>
            <a:r>
              <a:rPr lang="ru-RU" dirty="0" err="1"/>
              <a:t>move</a:t>
            </a:r>
            <a:r>
              <a:rPr lang="ru-RU" dirty="0"/>
              <a:t>-операций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77F3E-98FE-1889-B5FF-B03E380B2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r>
              <a:rPr lang="ru-RU" dirty="0"/>
              <a:t> и другие контейнеры используют </a:t>
            </a:r>
            <a:r>
              <a:rPr lang="ru-RU" dirty="0" err="1"/>
              <a:t>noexcept</a:t>
            </a:r>
            <a:endParaRPr lang="ru-RU" dirty="0"/>
          </a:p>
          <a:p>
            <a:pPr lvl="1"/>
            <a:r>
              <a:rPr lang="ru-RU" dirty="0"/>
              <a:t>Если </a:t>
            </a:r>
            <a:r>
              <a:rPr lang="ru-RU" dirty="0" err="1"/>
              <a:t>move</a:t>
            </a:r>
            <a:r>
              <a:rPr lang="ru-RU" dirty="0"/>
              <a:t>-конструктор</a:t>
            </a:r>
            <a:r>
              <a:rPr lang="en-US" dirty="0"/>
              <a:t> </a:t>
            </a:r>
            <a:r>
              <a:rPr lang="ru-RU" dirty="0"/>
              <a:t>объекта помечен как </a:t>
            </a:r>
            <a:r>
              <a:rPr lang="ru-RU" dirty="0" err="1"/>
              <a:t>noexcept</a:t>
            </a:r>
            <a:r>
              <a:rPr lang="ru-RU" dirty="0"/>
              <a:t>, контейнеры могут безопасно перемещать элементы:</a:t>
            </a:r>
          </a:p>
          <a:p>
            <a:pPr lvl="2"/>
            <a:r>
              <a:rPr lang="ru-RU" dirty="0" err="1"/>
              <a:t>Foo</a:t>
            </a:r>
            <a:r>
              <a:rPr lang="ru-RU" dirty="0"/>
              <a:t>(</a:t>
            </a:r>
            <a:r>
              <a:rPr lang="ru-RU" dirty="0" err="1"/>
              <a:t>Foo</a:t>
            </a:r>
            <a:r>
              <a:rPr lang="ru-RU" dirty="0"/>
              <a:t>&amp;&amp;) </a:t>
            </a:r>
            <a:r>
              <a:rPr lang="ru-RU" dirty="0" err="1"/>
              <a:t>noexcept</a:t>
            </a:r>
            <a:r>
              <a:rPr lang="ru-RU" dirty="0"/>
              <a:t>;</a:t>
            </a:r>
          </a:p>
          <a:p>
            <a:r>
              <a:rPr lang="ru-RU" dirty="0"/>
              <a:t>Иначе контейнеры часто предпочитают копирование</a:t>
            </a:r>
          </a:p>
          <a:p>
            <a:pPr lvl="1"/>
            <a:r>
              <a:rPr lang="ru-RU" dirty="0"/>
              <a:t>для сохранения строгой гарантии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</a:t>
            </a:r>
          </a:p>
          <a:p>
            <a:r>
              <a:rPr lang="ru-RU" dirty="0"/>
              <a:t>Результат</a:t>
            </a:r>
          </a:p>
          <a:p>
            <a:pPr lvl="1"/>
            <a:r>
              <a:rPr lang="ru-RU" dirty="0" err="1"/>
              <a:t>noexcept</a:t>
            </a:r>
            <a:r>
              <a:rPr lang="ru-RU" dirty="0"/>
              <a:t> </a:t>
            </a:r>
            <a:r>
              <a:rPr lang="ru-RU" dirty="0" err="1"/>
              <a:t>move</a:t>
            </a:r>
            <a:r>
              <a:rPr lang="ru-RU" dirty="0"/>
              <a:t>:</a:t>
            </a:r>
          </a:p>
          <a:p>
            <a:pPr lvl="1"/>
            <a:r>
              <a:rPr lang="ru-RU" dirty="0"/>
              <a:t>меньше копирований; </a:t>
            </a:r>
          </a:p>
          <a:p>
            <a:pPr lvl="1"/>
            <a:r>
              <a:rPr lang="ru-RU" dirty="0"/>
              <a:t>выше производительность.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0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41739D-8EF6-415E-95BE-7B3CE1B6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Бенчмарк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6E31C-F561-4DFA-B37F-0BB812B9A4ED}"/>
              </a:ext>
            </a:extLst>
          </p:cNvPr>
          <p:cNvSpPr/>
          <p:nvPr/>
        </p:nvSpPr>
        <p:spPr>
          <a:xfrm>
            <a:off x="191344" y="1916832"/>
            <a:ext cx="525658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Foo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Foo()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Foo(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de-DE" dirty="0" err="1">
                <a:solidFill>
                  <a:srgbClr val="FF0000"/>
                </a:solidFill>
                <a:latin typeface="Consolas" panose="020B0609020204030204" pitchFamily="49" charset="0"/>
              </a:rPr>
              <a:t>noexcept</a:t>
            </a:r>
            <a:endParaRPr lang="de-DE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Foo(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Foo&amp;)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Foo&amp;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Foo&amp;)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Foo(Foo&amp;&amp;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de-DE" dirty="0" err="1">
                <a:solidFill>
                  <a:srgbClr val="FF0000"/>
                </a:solidFill>
                <a:latin typeface="Consolas" panose="020B0609020204030204" pitchFamily="49" charset="0"/>
              </a:rPr>
              <a:t>noexcept</a:t>
            </a:r>
            <a:endParaRPr lang="de-DE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Foo&amp;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=(Foo&amp;&amp;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de-DE" dirty="0" err="1">
                <a:solidFill>
                  <a:srgbClr val="FF0000"/>
                </a:solidFill>
                <a:latin typeface="Consolas" panose="020B0609020204030204" pitchFamily="49" charset="0"/>
              </a:rPr>
              <a:t>noexcept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2B8680-D5C6-4FD9-92DF-4ECF1567962A}"/>
              </a:ext>
            </a:extLst>
          </p:cNvPr>
          <p:cNvSpPr/>
          <p:nvPr/>
        </p:nvSpPr>
        <p:spPr>
          <a:xfrm>
            <a:off x="6816080" y="1916832"/>
            <a:ext cx="537592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Bar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Bar()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Bar(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Bar(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Bar&amp;)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Bar&amp;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Bar&amp;) =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Bar(Bar&amp;&amp;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Bar&amp;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operator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=(Bar&amp;&amp;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 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move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other.data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data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de-D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303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81B33-99AE-40FB-BFC2-7A3C110E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328" y="3987450"/>
            <a:ext cx="2524477" cy="250542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4E0CD17-FB89-4626-8F9C-412083260128}"/>
              </a:ext>
            </a:extLst>
          </p:cNvPr>
          <p:cNvSpPr/>
          <p:nvPr/>
        </p:nvSpPr>
        <p:spPr>
          <a:xfrm>
            <a:off x="119336" y="0"/>
            <a:ext cx="90742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NoexceptMoveAndAssignment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(benchmark::State&amp;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Code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inside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loop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measured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repeatedly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_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&lt;Foo&gt; v;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NumberOfIterations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 ++i)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v.emplace_back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"This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will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be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allocated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on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the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heap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Make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sure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variable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not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optimized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away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by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compiler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benchmark::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DoNotOptimize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(v);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470D88-A2CA-4564-B87F-D14C725EF539}"/>
              </a:ext>
            </a:extLst>
          </p:cNvPr>
          <p:cNvSpPr/>
          <p:nvPr/>
        </p:nvSpPr>
        <p:spPr>
          <a:xfrm>
            <a:off x="47328" y="3441680"/>
            <a:ext cx="1015312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static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PotentiallyThrowingMoveAndAssignment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(benchmark::State&amp;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Code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inside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loop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measured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repeatedly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auto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_ :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state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vector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&lt;Bar&gt; v;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 i = </a:t>
            </a:r>
            <a:r>
              <a:rPr lang="de-DE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 i &lt;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NumberOfIterations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; ++i)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v.emplace_back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"This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will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be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allocated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on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the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31515"/>
                </a:solidFill>
                <a:latin typeface="Consolas" panose="020B0609020204030204" pitchFamily="49" charset="0"/>
              </a:rPr>
              <a:t>heap</a:t>
            </a:r>
            <a:r>
              <a:rPr lang="de-DE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Make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sure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the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variable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is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not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optimized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away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by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compiler</a:t>
            </a:r>
            <a:endParaRPr lang="de-D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  benchmark::</a:t>
            </a:r>
            <a:r>
              <a:rPr lang="de-DE" dirty="0" err="1">
                <a:solidFill>
                  <a:srgbClr val="000000"/>
                </a:solidFill>
                <a:latin typeface="Consolas" panose="020B0609020204030204" pitchFamily="49" charset="0"/>
              </a:rPr>
              <a:t>DoNotOptimize</a:t>
            </a:r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(v);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</a:p>
          <a:p>
            <a:r>
              <a:rPr lang="de-D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88446D-1814-493B-A876-D211D6A40176}"/>
              </a:ext>
            </a:extLst>
          </p:cNvPr>
          <p:cNvSpPr/>
          <p:nvPr/>
        </p:nvSpPr>
        <p:spPr>
          <a:xfrm>
            <a:off x="2351584" y="6488668"/>
            <a:ext cx="5832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hlinkClick r:id="rId4"/>
              </a:rPr>
              <a:t>https://quick-bench.com/q/_uklryCDJgzH4Xa4ZtD4YO09XbY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C2BE3D-767D-4ECA-AD1C-8131B4761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51" y="188640"/>
            <a:ext cx="8842470" cy="48831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846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Exception-safe</a:t>
            </a:r>
            <a:r>
              <a:rPr lang="ru-RU" dirty="0"/>
              <a:t> </a:t>
            </a:r>
            <a:r>
              <a:rPr lang="en-US" dirty="0"/>
              <a:t>p</a:t>
            </a:r>
            <a:r>
              <a:rPr lang="en-US"/>
              <a:t>rogramming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Разработка кода, безопасного к возникновению исключений</a:t>
            </a:r>
          </a:p>
        </p:txBody>
      </p:sp>
    </p:spTree>
    <p:extLst>
      <p:ext uri="{BB962C8B-B14F-4D97-AF65-F5344CB8AC3E}">
        <p14:creationId xmlns:p14="http://schemas.microsoft.com/office/powerpoint/2010/main" val="15309309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Гарантии безопасности исключений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68F47F-A497-BE93-8233-64E52B45C83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16307729"/>
              </p:ext>
            </p:extLst>
          </p:nvPr>
        </p:nvGraphicFramePr>
        <p:xfrm>
          <a:off x="838200" y="1825625"/>
          <a:ext cx="1051560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591">
                  <a:extLst>
                    <a:ext uri="{9D8B030D-6E8A-4147-A177-3AD203B41FA5}">
                      <a16:colId xmlns:a16="http://schemas.microsoft.com/office/drawing/2014/main" val="1978540488"/>
                    </a:ext>
                  </a:extLst>
                </a:gridCol>
                <a:gridCol w="7130009">
                  <a:extLst>
                    <a:ext uri="{9D8B030D-6E8A-4147-A177-3AD203B41FA5}">
                      <a16:colId xmlns:a16="http://schemas.microsoft.com/office/drawing/2014/main" val="36661880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/>
                        <a:t>Уровень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Что гарантируется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46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❌ </a:t>
                      </a:r>
                      <a:r>
                        <a:rPr lang="ru-RU" sz="2000" dirty="0"/>
                        <a:t>Нет гарантий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После исключения объект может стать </a:t>
                      </a:r>
                      <a:r>
                        <a:rPr lang="ru-RU" sz="2000" dirty="0" err="1"/>
                        <a:t>невалидным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709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✅ </a:t>
                      </a:r>
                      <a:r>
                        <a:rPr lang="ru-RU" sz="2000" dirty="0"/>
                        <a:t>Базовая гарантия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Инварианты сохранены, ресурсы не утекают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97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✅✅ </a:t>
                      </a:r>
                      <a:r>
                        <a:rPr lang="ru-RU" sz="2000" dirty="0"/>
                        <a:t>Сильная гарантия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dirty="0"/>
                        <a:t>Операция либо успешна, либо не меняет состояние объекта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375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✅✅✅ </a:t>
                      </a:r>
                      <a:r>
                        <a:rPr lang="en-US" sz="2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noexcept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Исключения не покидают операцию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904403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5503A9-81B3-0AA5-4D82-4E247070A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293096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Каждый следующий уровень включает гарантии предыдущего.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554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Небезопасный код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После исключения объект может:</a:t>
            </a:r>
          </a:p>
          <a:p>
            <a:pPr lvl="1"/>
            <a:r>
              <a:rPr lang="ru-RU" dirty="0"/>
              <a:t>нарушить свои инварианты; </a:t>
            </a:r>
          </a:p>
          <a:p>
            <a:pPr lvl="1"/>
            <a:r>
              <a:rPr lang="ru-RU" dirty="0"/>
              <a:t>потерять часть данных; </a:t>
            </a:r>
          </a:p>
          <a:p>
            <a:pPr lvl="1"/>
            <a:r>
              <a:rPr lang="ru-RU" dirty="0"/>
              <a:t>утечь по ресурсам; </a:t>
            </a:r>
          </a:p>
          <a:p>
            <a:pPr lvl="1"/>
            <a:r>
              <a:rPr lang="ru-RU" dirty="0"/>
              <a:t>привести к UB или аварийному завершению. </a:t>
            </a:r>
          </a:p>
          <a:p>
            <a:r>
              <a:rPr lang="ru-RU" dirty="0"/>
              <a:t>Пример:</a:t>
            </a:r>
          </a:p>
          <a:p>
            <a:pPr lvl="1"/>
            <a:r>
              <a:rPr lang="ru-RU" dirty="0" err="1"/>
              <a:t>delete</a:t>
            </a:r>
            <a:r>
              <a:rPr lang="ru-RU" dirty="0"/>
              <a:t>[] </a:t>
            </a:r>
            <a:r>
              <a:rPr lang="en-US" dirty="0"/>
              <a:t>m_</a:t>
            </a:r>
            <a:r>
              <a:rPr lang="ru-RU" dirty="0" err="1"/>
              <a:t>data</a:t>
            </a:r>
            <a:r>
              <a:rPr lang="ru-RU" dirty="0"/>
              <a:t>;</a:t>
            </a:r>
            <a:br>
              <a:rPr lang="ru-RU" dirty="0"/>
            </a:br>
            <a:r>
              <a:rPr lang="en-US" dirty="0"/>
              <a:t>m_</a:t>
            </a:r>
            <a:r>
              <a:rPr lang="ru-RU" dirty="0" err="1"/>
              <a:t>data</a:t>
            </a:r>
            <a:r>
              <a:rPr lang="ru-RU" dirty="0"/>
              <a:t> =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int</a:t>
            </a:r>
            <a:r>
              <a:rPr lang="ru-RU" dirty="0"/>
              <a:t>[</a:t>
            </a:r>
            <a:r>
              <a:rPr lang="ru-RU" dirty="0" err="1"/>
              <a:t>size</a:t>
            </a:r>
            <a:r>
              <a:rPr lang="ru-RU" dirty="0"/>
              <a:t>]; // исключение -&gt; объект сломан</a:t>
            </a:r>
          </a:p>
          <a:p>
            <a:r>
              <a:rPr lang="ru-RU" dirty="0"/>
              <a:t>Такого состояния нужно избегать.</a:t>
            </a:r>
          </a:p>
        </p:txBody>
      </p:sp>
    </p:spTree>
    <p:extLst>
      <p:ext uri="{BB962C8B-B14F-4D97-AF65-F5344CB8AC3E}">
        <p14:creationId xmlns:p14="http://schemas.microsoft.com/office/powerpoint/2010/main" val="194086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Базовая гарантия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Базовая гарантия означает:</a:t>
            </a:r>
          </a:p>
          <a:p>
            <a:pPr lvl="1"/>
            <a:r>
              <a:rPr lang="ru-RU" dirty="0"/>
              <a:t>объект остаётся валидным; </a:t>
            </a:r>
          </a:p>
          <a:p>
            <a:pPr lvl="1"/>
            <a:r>
              <a:rPr lang="ru-RU" dirty="0"/>
              <a:t>ресурсы не утекают; </a:t>
            </a:r>
          </a:p>
          <a:p>
            <a:pPr lvl="1"/>
            <a:r>
              <a:rPr lang="ru-RU" dirty="0"/>
              <a:t>инварианты сохраняются. </a:t>
            </a:r>
          </a:p>
          <a:p>
            <a:r>
              <a:rPr lang="en-US" dirty="0"/>
              <a:t>C</a:t>
            </a:r>
            <a:r>
              <a:rPr lang="ru-RU" dirty="0" err="1"/>
              <a:t>остояние</a:t>
            </a:r>
            <a:r>
              <a:rPr lang="ru-RU" dirty="0"/>
              <a:t> объекта может измениться частично.</a:t>
            </a:r>
          </a:p>
          <a:p>
            <a:r>
              <a:rPr lang="ru-RU" dirty="0"/>
              <a:t>Это минимально приемлемый уровень</a:t>
            </a:r>
            <a:r>
              <a:rPr lang="en-US" dirty="0"/>
              <a:t> </a:t>
            </a:r>
            <a:r>
              <a:rPr lang="ru-RU" dirty="0"/>
              <a:t>для большинства программ.</a:t>
            </a:r>
          </a:p>
        </p:txBody>
      </p:sp>
    </p:spTree>
    <p:extLst>
      <p:ext uri="{BB962C8B-B14F-4D97-AF65-F5344CB8AC3E}">
        <p14:creationId xmlns:p14="http://schemas.microsoft.com/office/powerpoint/2010/main" val="3498896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Сильная гарантия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Strong</a:t>
            </a:r>
            <a:r>
              <a:rPr lang="ru-RU" dirty="0"/>
              <a:t>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guarantee</a:t>
            </a:r>
            <a:endParaRPr lang="ru-RU" dirty="0"/>
          </a:p>
          <a:p>
            <a:pPr lvl="1"/>
            <a:r>
              <a:rPr lang="ru-RU" dirty="0"/>
              <a:t>Либо успех,</a:t>
            </a:r>
            <a:r>
              <a:rPr lang="en-US" dirty="0"/>
              <a:t> </a:t>
            </a:r>
            <a:r>
              <a:rPr lang="ru-RU" dirty="0"/>
              <a:t>либо состояние объекта не изменилось</a:t>
            </a:r>
          </a:p>
          <a:p>
            <a:r>
              <a:rPr lang="ru-RU" dirty="0" err="1"/>
              <a:t>Commit-or-rollback</a:t>
            </a:r>
            <a:endParaRPr lang="ru-RU" dirty="0"/>
          </a:p>
          <a:p>
            <a:pPr lvl="1"/>
            <a:r>
              <a:rPr lang="ru-RU" dirty="0"/>
              <a:t>операция завершается полностью; </a:t>
            </a:r>
          </a:p>
          <a:p>
            <a:pPr lvl="1"/>
            <a:r>
              <a:rPr lang="ru-RU" dirty="0"/>
              <a:t>или откатывается без побочных эффектов. </a:t>
            </a:r>
          </a:p>
          <a:p>
            <a:r>
              <a:rPr lang="ru-RU" dirty="0"/>
              <a:t>Обычно достигается:</a:t>
            </a:r>
          </a:p>
          <a:p>
            <a:pPr lvl="1"/>
            <a:r>
              <a:rPr lang="ru-RU" dirty="0"/>
              <a:t>временными объектами; </a:t>
            </a:r>
          </a:p>
          <a:p>
            <a:pPr lvl="1"/>
            <a:r>
              <a:rPr lang="ru-RU" dirty="0" err="1"/>
              <a:t>copy-and-swap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двухфазным обновлением состояния.</a:t>
            </a:r>
          </a:p>
        </p:txBody>
      </p:sp>
    </p:spTree>
    <p:extLst>
      <p:ext uri="{BB962C8B-B14F-4D97-AF65-F5344CB8AC3E}">
        <p14:creationId xmlns:p14="http://schemas.microsoft.com/office/powerpoint/2010/main" val="119400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noexcept</a:t>
            </a:r>
            <a:r>
              <a:rPr lang="en-US" dirty="0"/>
              <a:t> — </a:t>
            </a:r>
            <a:r>
              <a:rPr lang="ru-RU" dirty="0"/>
              <a:t>гарантия отсутствия исключений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noexcept</a:t>
            </a:r>
            <a:endParaRPr lang="en-US" dirty="0"/>
          </a:p>
          <a:p>
            <a:pPr lvl="1"/>
            <a:r>
              <a:rPr lang="ru-RU" dirty="0"/>
              <a:t>Операция не позволяет исключениям выйти наружу.</a:t>
            </a:r>
          </a:p>
          <a:p>
            <a:r>
              <a:rPr lang="ru-RU" dirty="0"/>
              <a:t>Обычно </a:t>
            </a:r>
            <a:r>
              <a:rPr lang="en-US" dirty="0" err="1"/>
              <a:t>noexcept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деструкторы; (почти всегда) </a:t>
            </a:r>
          </a:p>
          <a:p>
            <a:pPr lvl="1"/>
            <a:r>
              <a:rPr lang="en-US" dirty="0"/>
              <a:t>move-</a:t>
            </a:r>
            <a:r>
              <a:rPr lang="ru-RU" dirty="0"/>
              <a:t>конструкторы; </a:t>
            </a:r>
          </a:p>
          <a:p>
            <a:pPr lvl="1"/>
            <a:r>
              <a:rPr lang="ru-RU" dirty="0"/>
              <a:t>функции освобождения ресурсов (почти всегда); </a:t>
            </a:r>
          </a:p>
          <a:p>
            <a:pPr lvl="1"/>
            <a:r>
              <a:rPr lang="en-US" dirty="0"/>
              <a:t>callbacks </a:t>
            </a:r>
            <a:r>
              <a:rPr lang="ru-RU" dirty="0"/>
              <a:t>и </a:t>
            </a:r>
            <a:r>
              <a:rPr lang="en-US" dirty="0"/>
              <a:t>event handlers. </a:t>
            </a:r>
          </a:p>
          <a:p>
            <a:r>
              <a:rPr lang="ru-RU" dirty="0"/>
              <a:t>Если исключение покинет </a:t>
            </a:r>
            <a:r>
              <a:rPr lang="en-US" dirty="0" err="1"/>
              <a:t>noexcept</a:t>
            </a:r>
            <a:r>
              <a:rPr lang="en-US" dirty="0"/>
              <a:t>-</a:t>
            </a:r>
            <a:r>
              <a:rPr lang="ru-RU" dirty="0"/>
              <a:t>функцию:</a:t>
            </a:r>
            <a:r>
              <a:rPr lang="en-US" dirty="0"/>
              <a:t> </a:t>
            </a:r>
            <a:r>
              <a:rPr lang="ru-RU" dirty="0"/>
              <a:t>будет вызвана функция </a:t>
            </a:r>
            <a:r>
              <a:rPr lang="en-US" dirty="0"/>
              <a:t>std::terminate()</a:t>
            </a:r>
          </a:p>
        </p:txBody>
      </p:sp>
    </p:spTree>
    <p:extLst>
      <p:ext uri="{BB962C8B-B14F-4D97-AF65-F5344CB8AC3E}">
        <p14:creationId xmlns:p14="http://schemas.microsoft.com/office/powerpoint/2010/main" val="366495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166C5FB-2C29-2E29-82D4-732BB7E5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Спецификатор </a:t>
            </a:r>
            <a:r>
              <a:rPr lang="en-US" dirty="0" err="1"/>
              <a:t>noexcept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4768DB-2C6B-ECDC-5BD3-A0E791017344}"/>
              </a:ext>
            </a:extLst>
          </p:cNvPr>
          <p:cNvSpPr txBox="1"/>
          <p:nvPr/>
        </p:nvSpPr>
        <p:spPr>
          <a:xfrm>
            <a:off x="623392" y="1988840"/>
            <a:ext cx="50405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TV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noexcept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m_isTurnedOn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9F87DB-1D6A-D3F0-E5AC-0C85BA4F6748}"/>
              </a:ext>
            </a:extLst>
          </p:cNvPr>
          <p:cNvSpPr txBox="1"/>
          <p:nvPr/>
        </p:nvSpPr>
        <p:spPr>
          <a:xfrm>
            <a:off x="6096000" y="2060849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MyString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&amp;&amp;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noexcept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m_chars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.m_chars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,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m_size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.m_size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,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m_capacity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.m_capacity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.m_chars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nullptr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.m_size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m_capacity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char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*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m_chars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m_size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size_t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m_capacity</a:t>
            </a: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5893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52676-77B8-62C6-C9F1-A7FD5291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Не-</a:t>
            </a:r>
            <a:r>
              <a:rPr lang="en-US" dirty="0" err="1"/>
              <a:t>noexcept</a:t>
            </a:r>
            <a:r>
              <a:rPr lang="en-US" dirty="0"/>
              <a:t> move constructor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FEED3-F236-4E1D-4E3B-09FCEE08ACC8}"/>
              </a:ext>
            </a:extLst>
          </p:cNvPr>
          <p:cNvSpPr txBox="1"/>
          <p:nvPr/>
        </p:nvSpPr>
        <p:spPr>
          <a:xfrm>
            <a:off x="1943100" y="2204865"/>
            <a:ext cx="8305800" cy="4134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Dictionary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Dictionary(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Dictionary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&amp;&amp;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m_translations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(std::move(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.m_translations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unordered_map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&lt;std::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std::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m_translations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2B6260-C60F-BDE7-4903-F77CD208BAA8}"/>
              </a:ext>
            </a:extLst>
          </p:cNvPr>
          <p:cNvSpPr txBox="1"/>
          <p:nvPr/>
        </p:nvSpPr>
        <p:spPr>
          <a:xfrm>
            <a:off x="2279576" y="5830746"/>
            <a:ext cx="800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Warning C26439: This kind of function may not throw. Declare it '</a:t>
            </a:r>
            <a:r>
              <a:rPr lang="en-US" b="0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noexcept</a:t>
            </a:r>
            <a:r>
              <a:rPr lang="en-US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'.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89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C7987-B81B-9349-73A0-666F3CAE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noexcept</a:t>
            </a:r>
            <a:r>
              <a:rPr lang="en-US" dirty="0"/>
              <a:t>(false)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9C89A-8270-1A99-3717-8FE0DE4EA554}"/>
              </a:ext>
            </a:extLst>
          </p:cNvPr>
          <p:cNvSpPr txBox="1"/>
          <p:nvPr/>
        </p:nvSpPr>
        <p:spPr>
          <a:xfrm>
            <a:off x="1981200" y="2276872"/>
            <a:ext cx="8305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Dictionary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Dictionary(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Dictionary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&amp;&amp; </a:t>
            </a:r>
            <a:r>
              <a:rPr lang="en-US" kern="0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kern="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noexcept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: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m_translations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(std::move(</a:t>
            </a:r>
            <a:r>
              <a:rPr lang="en-US" kern="0" dirty="0" err="1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other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.m_translations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std::</a:t>
            </a:r>
            <a:r>
              <a:rPr lang="en-US" kern="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unordered_map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&lt;std::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std::</a:t>
            </a:r>
            <a:r>
              <a:rPr lang="en-US" kern="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</a:t>
            </a:r>
            <a:r>
              <a:rPr lang="en-US" kern="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m_translations</a:t>
            </a:r>
            <a:r>
              <a:rPr lang="en-US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kern="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24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4190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Пример: чтение файла и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Задача функции</a:t>
            </a:r>
          </a:p>
          <a:p>
            <a:pPr lvl="1"/>
            <a:r>
              <a:rPr lang="ru-RU" dirty="0"/>
              <a:t>открыть файл; </a:t>
            </a:r>
          </a:p>
          <a:p>
            <a:pPr lvl="1"/>
            <a:r>
              <a:rPr lang="ru-RU" dirty="0"/>
              <a:t>считать его содержимое в </a:t>
            </a:r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r>
              <a:rPr lang="ru-RU" dirty="0"/>
              <a:t>&lt;</a:t>
            </a:r>
            <a:r>
              <a:rPr lang="ru-RU" dirty="0" err="1"/>
              <a:t>char</a:t>
            </a:r>
            <a:r>
              <a:rPr lang="ru-RU" dirty="0"/>
              <a:t>&gt;; </a:t>
            </a:r>
          </a:p>
          <a:p>
            <a:pPr lvl="1"/>
            <a:r>
              <a:rPr lang="ru-RU" dirty="0"/>
              <a:t>вернуть результат вызывающему коду. </a:t>
            </a:r>
          </a:p>
          <a:p>
            <a:r>
              <a:rPr lang="ru-RU" b="1" dirty="0"/>
              <a:t>Особенности примера</a:t>
            </a:r>
          </a:p>
          <a:p>
            <a:pPr lvl="1"/>
            <a:r>
              <a:rPr lang="ru-RU" dirty="0"/>
              <a:t>используются C-</a:t>
            </a:r>
            <a:r>
              <a:rPr lang="ru-RU" dirty="0" err="1"/>
              <a:t>style</a:t>
            </a:r>
            <a:r>
              <a:rPr lang="ru-RU" dirty="0"/>
              <a:t> API (FILE*, </a:t>
            </a:r>
            <a:r>
              <a:rPr lang="ru-RU" dirty="0" err="1"/>
              <a:t>fopen</a:t>
            </a:r>
            <a:r>
              <a:rPr lang="ru-RU" dirty="0"/>
              <a:t>, </a:t>
            </a:r>
            <a:r>
              <a:rPr lang="ru-RU" dirty="0" err="1"/>
              <a:t>fread</a:t>
            </a:r>
            <a:r>
              <a:rPr lang="ru-RU" dirty="0"/>
              <a:t>, </a:t>
            </a:r>
            <a:r>
              <a:rPr lang="ru-RU" dirty="0" err="1"/>
              <a:t>fclose</a:t>
            </a:r>
            <a:r>
              <a:rPr lang="ru-RU" dirty="0"/>
              <a:t>); </a:t>
            </a:r>
          </a:p>
          <a:p>
            <a:pPr lvl="1"/>
            <a:r>
              <a:rPr lang="ru-RU" dirty="0"/>
              <a:t>часть операций может выбрасывать исключения; </a:t>
            </a:r>
          </a:p>
          <a:p>
            <a:pPr lvl="1"/>
            <a:r>
              <a:rPr lang="ru-RU" dirty="0"/>
              <a:t>требуется проверить код на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. </a:t>
            </a:r>
          </a:p>
          <a:p>
            <a:r>
              <a:rPr lang="ru-RU" b="1" dirty="0"/>
              <a:t>Вопросы</a:t>
            </a:r>
          </a:p>
          <a:p>
            <a:pPr lvl="1"/>
            <a:r>
              <a:rPr lang="ru-RU" dirty="0"/>
              <a:t>Возможны ли утечки ресурсов? </a:t>
            </a:r>
          </a:p>
          <a:p>
            <a:pPr lvl="1"/>
            <a:r>
              <a:rPr lang="ru-RU" dirty="0"/>
              <a:t>Останется ли программа в корректном состоянии? </a:t>
            </a:r>
          </a:p>
          <a:p>
            <a:pPr lvl="1"/>
            <a:r>
              <a:rPr lang="ru-RU" dirty="0"/>
              <a:t>Как сделать код безопаснее?</a:t>
            </a:r>
          </a:p>
        </p:txBody>
      </p:sp>
    </p:spTree>
    <p:extLst>
      <p:ext uri="{BB962C8B-B14F-4D97-AF65-F5344CB8AC3E}">
        <p14:creationId xmlns:p14="http://schemas.microsoft.com/office/powerpoint/2010/main" val="13367742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51384" y="335845"/>
            <a:ext cx="10873208" cy="618630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vector&lt;char&gt;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ReadFileToVector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(const char*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65125" algn="l"/>
              </a:tabLst>
            </a:pP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5125" algn="l"/>
              </a:tabLst>
            </a:pP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Открываем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FILE *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= NULL;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fopen_s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, "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rb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");</a:t>
            </a: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fopen_s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функция на языке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</a:t>
            </a:r>
          </a:p>
          <a:p>
            <a:pPr>
              <a:tabLst>
                <a:tab pos="365125" algn="l"/>
              </a:tabLst>
            </a:pP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Проверяем успешность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vector&lt;char&gt;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if (!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 return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</a:tabLst>
            </a:pP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</a:t>
            </a:r>
            <a:r>
              <a:rPr lang="ru-RU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Ресайзим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буфер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, 0, SEEK_END);</a:t>
            </a: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     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–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функция на языке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buf.resize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ftell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));      </a:t>
            </a: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ftell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функция на языке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</a:t>
            </a:r>
            <a:endParaRPr lang="en-US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, 0, SEEK_SET); </a:t>
            </a:r>
          </a:p>
          <a:p>
            <a:pPr>
              <a:tabLst>
                <a:tab pos="365125" algn="l"/>
              </a:tabLst>
            </a:pP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Читаем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fread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buf.data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(), 1,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);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fread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функция на языке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</a:t>
            </a:r>
            <a:endParaRPr lang="en-US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Выходим и возвращаем результат</a:t>
            </a: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fclose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);</a:t>
            </a: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                  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fclose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 - </a:t>
            </a:r>
            <a:r>
              <a:rPr lang="ru-RU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функция на языке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</a:t>
            </a:r>
            <a:endParaRPr lang="en-US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return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</a:tabLst>
            </a:pP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839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1D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Проблемы кода и пути улучшения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Проблема №1</a:t>
            </a:r>
          </a:p>
          <a:p>
            <a:pPr lvl="1"/>
            <a:r>
              <a:rPr lang="ru-RU" dirty="0"/>
              <a:t>Нельзя отличить:</a:t>
            </a:r>
          </a:p>
          <a:p>
            <a:pPr lvl="2"/>
            <a:r>
              <a:rPr lang="ru-RU" dirty="0"/>
              <a:t>ошибку открытия файла; </a:t>
            </a:r>
          </a:p>
          <a:p>
            <a:pPr lvl="2"/>
            <a:r>
              <a:rPr lang="ru-RU" dirty="0"/>
              <a:t>пустой файл. </a:t>
            </a:r>
          </a:p>
          <a:p>
            <a:pPr lvl="2"/>
            <a:r>
              <a:rPr lang="en-US" dirty="0"/>
              <a:t>if (!</a:t>
            </a:r>
            <a:r>
              <a:rPr lang="en-US" dirty="0" err="1"/>
              <a:t>pFile</a:t>
            </a:r>
            <a:r>
              <a:rPr lang="en-US" dirty="0"/>
              <a:t>) return {};</a:t>
            </a:r>
          </a:p>
          <a:p>
            <a:pPr lvl="1"/>
            <a:r>
              <a:rPr lang="ru-RU" dirty="0"/>
              <a:t>Решение: сообщать об ошибке через исключение.</a:t>
            </a:r>
          </a:p>
          <a:p>
            <a:r>
              <a:rPr lang="ru-RU" dirty="0"/>
              <a:t>Проблема №2</a:t>
            </a:r>
          </a:p>
          <a:p>
            <a:pPr lvl="1"/>
            <a:r>
              <a:rPr lang="ru-RU" dirty="0"/>
              <a:t>При исключении файл не закрывается.</a:t>
            </a:r>
          </a:p>
          <a:p>
            <a:pPr lvl="1"/>
            <a:r>
              <a:rPr lang="en-US" dirty="0" err="1"/>
              <a:t>buf.resize</a:t>
            </a:r>
            <a:r>
              <a:rPr lang="en-US" dirty="0"/>
              <a:t>(...) // </a:t>
            </a:r>
            <a:r>
              <a:rPr lang="ru-RU" dirty="0"/>
              <a:t>может выбросить </a:t>
            </a:r>
            <a:r>
              <a:rPr lang="en-US" dirty="0"/>
              <a:t>std::</a:t>
            </a:r>
            <a:r>
              <a:rPr lang="en-US" dirty="0" err="1"/>
              <a:t>bad_alloc</a:t>
            </a:r>
            <a:endParaRPr lang="en-US" dirty="0"/>
          </a:p>
          <a:p>
            <a:pPr lvl="1"/>
            <a:r>
              <a:rPr lang="ru-RU" dirty="0"/>
              <a:t>Возможные решения</a:t>
            </a:r>
          </a:p>
          <a:p>
            <a:pPr lvl="2"/>
            <a:r>
              <a:rPr lang="en-US" dirty="0"/>
              <a:t>try/catch + throw; </a:t>
            </a:r>
          </a:p>
          <a:p>
            <a:pPr lvl="2"/>
            <a:r>
              <a:rPr lang="en-US" dirty="0"/>
              <a:t>BOOST_SCOPE_EXIT / </a:t>
            </a:r>
            <a:r>
              <a:rPr lang="en-US" dirty="0" err="1"/>
              <a:t>gsl</a:t>
            </a:r>
            <a:r>
              <a:rPr lang="en-US" dirty="0"/>
              <a:t>::finally; </a:t>
            </a:r>
          </a:p>
          <a:p>
            <a:pPr lvl="2"/>
            <a:r>
              <a:rPr lang="en-US" dirty="0"/>
              <a:t>RAII (std::</a:t>
            </a:r>
            <a:r>
              <a:rPr lang="en-US" dirty="0" err="1"/>
              <a:t>ifstream</a:t>
            </a:r>
            <a:r>
              <a:rPr lang="en-US" dirty="0"/>
              <a:t>, smart pointers).</a:t>
            </a:r>
          </a:p>
        </p:txBody>
      </p:sp>
    </p:spTree>
    <p:extLst>
      <p:ext uri="{BB962C8B-B14F-4D97-AF65-F5344CB8AC3E}">
        <p14:creationId xmlns:p14="http://schemas.microsoft.com/office/powerpoint/2010/main" val="201931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197346"/>
            <a:ext cx="9144000" cy="64633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vector&lt;char&gt;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ReadFileToVectorTryCatch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(char *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FILE *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 = NULL;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fopen_s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, "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rb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");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if (!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 throw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runtime_error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("Failed to open file");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vector&lt;char&gt;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try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0, SEEK_END);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buf.resize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ftell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0, SEEK_SET);</a:t>
            </a:r>
            <a:endParaRPr lang="ru-RU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if 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())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fread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[0], 1,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(),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}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catch (</a:t>
            </a: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…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fclose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throw;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}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endParaRPr lang="ru-RU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fclose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	return </a:t>
            </a:r>
            <a:r>
              <a:rPr lang="en-US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95552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43472" y="151179"/>
            <a:ext cx="9144000" cy="655564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ReadFileToVectorScopeExit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(char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FILE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= NULL;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fopen_s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"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rb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");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if (!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 throw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runtime_error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("Failed to open file");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BOOST_SCOPE_EXIT_ALL((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))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ru-RU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fclose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};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0, SEEK_END);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buf.resize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ftell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0, SEEK_SET);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if 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())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fread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[0], 1,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48726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43472" y="0"/>
            <a:ext cx="9144000" cy="686341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#include &lt;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gsl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/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gsl_util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&gt;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en-US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ReadFileToVectorScopeExit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(char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FILE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= NULL;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fopen_s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"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rb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");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if (!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 throw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runtime_error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("Failed to open file");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auto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closeOnExit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gsl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::finally([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]{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fclose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});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0, SEEK_END);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buf.resize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ftell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fseek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0, SEEK_SET);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if 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())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fread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[0], 1,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pFile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  <a:tab pos="708025" algn="l"/>
                <a:tab pos="1074738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79452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1D06-3D9E-43F7-805C-1D17C7216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RAII — управление ресурсами через время жизни объектов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33285-2A19-4496-A442-8663835A5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RAII (Resource </a:t>
            </a:r>
            <a:r>
              <a:rPr lang="ru-RU" dirty="0" err="1"/>
              <a:t>Acquisition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Initialization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Создание объекта  -&gt;  получение ресурса</a:t>
            </a:r>
            <a:br>
              <a:rPr lang="ru-RU" dirty="0"/>
            </a:br>
            <a:r>
              <a:rPr lang="ru-RU" dirty="0"/>
              <a:t>Разрушение объекта -&gt; освобождение ресурса</a:t>
            </a:r>
          </a:p>
          <a:p>
            <a:r>
              <a:rPr lang="ru-RU" dirty="0"/>
              <a:t>Основная идея</a:t>
            </a:r>
          </a:p>
          <a:p>
            <a:pPr lvl="1"/>
            <a:r>
              <a:rPr lang="ru-RU" dirty="0"/>
              <a:t>Ресурс принадлежит объекту.</a:t>
            </a:r>
          </a:p>
          <a:p>
            <a:r>
              <a:rPr lang="ru-RU" dirty="0"/>
              <a:t>Что даёт RAII</a:t>
            </a:r>
          </a:p>
          <a:p>
            <a:pPr lvl="1"/>
            <a:r>
              <a:rPr lang="ru-RU" dirty="0"/>
              <a:t>автоматическое освобождение ресурсов; </a:t>
            </a:r>
          </a:p>
          <a:p>
            <a:pPr lvl="1"/>
            <a:r>
              <a:rPr lang="ru-RU" dirty="0"/>
              <a:t>отсутствие утечек при исключениях; </a:t>
            </a:r>
          </a:p>
          <a:p>
            <a:pPr lvl="1"/>
            <a:r>
              <a:rPr lang="ru-RU" dirty="0"/>
              <a:t>безопасное частичное конструирование объектов; </a:t>
            </a:r>
          </a:p>
          <a:p>
            <a:pPr lvl="1"/>
            <a:r>
              <a:rPr lang="ru-RU" dirty="0"/>
              <a:t>упрощение </a:t>
            </a:r>
            <a:r>
              <a:rPr lang="ru-RU" dirty="0" err="1"/>
              <a:t>exception-safe</a:t>
            </a:r>
            <a:r>
              <a:rPr lang="ru-RU" dirty="0"/>
              <a:t> кода. </a:t>
            </a:r>
          </a:p>
          <a:p>
            <a:r>
              <a:rPr lang="ru-RU" dirty="0"/>
              <a:t>Примеры ресурсов</a:t>
            </a:r>
          </a:p>
          <a:p>
            <a:pPr lvl="1"/>
            <a:r>
              <a:rPr lang="ru-RU" dirty="0"/>
              <a:t>память; </a:t>
            </a:r>
          </a:p>
          <a:p>
            <a:pPr lvl="1"/>
            <a:r>
              <a:rPr lang="ru-RU" dirty="0"/>
              <a:t>файлы; </a:t>
            </a:r>
          </a:p>
          <a:p>
            <a:pPr lvl="1"/>
            <a:r>
              <a:rPr lang="ru-RU" dirty="0"/>
              <a:t>сокеты; </a:t>
            </a:r>
          </a:p>
          <a:p>
            <a:pPr lvl="1"/>
            <a:r>
              <a:rPr lang="ru-RU" dirty="0" err="1"/>
              <a:t>mutex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соединения с БД. </a:t>
            </a:r>
          </a:p>
        </p:txBody>
      </p:sp>
    </p:spTree>
    <p:extLst>
      <p:ext uri="{BB962C8B-B14F-4D97-AF65-F5344CB8AC3E}">
        <p14:creationId xmlns:p14="http://schemas.microsoft.com/office/powerpoint/2010/main" val="3787915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549A7D-07AB-4225-A914-F6C11524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– полезная библиотека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A0B94-CBF4-4A47-BA91-B80E84E8CBAB}"/>
              </a:ext>
            </a:extLst>
          </p:cNvPr>
          <p:cNvSpPr/>
          <p:nvPr/>
        </p:nvSpPr>
        <p:spPr>
          <a:xfrm>
            <a:off x="830114" y="2492896"/>
            <a:ext cx="103784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</a:t>
            </a:r>
            <a:endParaRPr lang="de-DE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CreateResource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UseResource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resource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Удаляет ресурс. Если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resource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 == </a:t>
            </a:r>
            <a:r>
              <a:rPr lang="de-DE" dirty="0" err="1">
                <a:solidFill>
                  <a:srgbClr val="008000"/>
                </a:solidFill>
                <a:latin typeface="Consolas" panose="020B0609020204030204" pitchFamily="49" charset="0"/>
              </a:rPr>
              <a:t>nullptr</a:t>
            </a:r>
            <a:r>
              <a:rPr lang="de-DE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ru-RU" dirty="0" err="1">
                <a:solidFill>
                  <a:srgbClr val="008000"/>
                </a:solidFill>
                <a:latin typeface="Consolas" panose="020B0609020204030204" pitchFamily="49" charset="0"/>
              </a:rPr>
              <a:t>функиция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 ничего не делает</a:t>
            </a:r>
            <a:endParaRPr lang="ru-RU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DeleteResource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</a:t>
            </a:r>
            <a:r>
              <a:rPr lang="de-DE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resource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261298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598A30-21DC-4758-8049-E1053A91B0E1}"/>
              </a:ext>
            </a:extLst>
          </p:cNvPr>
          <p:cNvSpPr/>
          <p:nvPr/>
        </p:nvSpPr>
        <p:spPr>
          <a:xfrm>
            <a:off x="0" y="1"/>
            <a:ext cx="11424592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ru-RU" sz="16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: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}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throw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runtime_error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Failed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to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create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resource</a:t>
            </a:r>
            <a:r>
              <a:rPr lang="de-DE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~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DeleteResource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endParaRPr lang="ru-RU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: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exchange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}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operator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&amp;&amp;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noexcept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DeleteResource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exchange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rhs</a:t>
            </a:r>
            <a:r>
              <a:rPr lang="de-DE" sz="16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795E26"/>
                </a:solidFill>
                <a:latin typeface="Consolas" panose="020B0609020204030204" pitchFamily="49" charset="0"/>
              </a:rPr>
              <a:t>Use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  <a:r>
              <a:rPr lang="ru-RU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assert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de-DE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UseResource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}</a:t>
            </a:r>
            <a:endParaRPr lang="ru-RU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de-DE" sz="16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</a:t>
            </a:r>
            <a:r>
              <a:rPr lang="de-DE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m_resource</a:t>
            </a:r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sz="1600" dirty="0">
                <a:solidFill>
                  <a:srgbClr val="3B3B3B"/>
                </a:solidFill>
                <a:latin typeface="Consolas" panose="020B0609020204030204" pitchFamily="49" charset="0"/>
              </a:rPr>
              <a:t>};</a:t>
            </a:r>
            <a:endParaRPr lang="de-DE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A33D98-8C81-4D71-A197-7DEF2B362765}"/>
              </a:ext>
            </a:extLst>
          </p:cNvPr>
          <p:cNvSpPr/>
          <p:nvPr/>
        </p:nvSpPr>
        <p:spPr>
          <a:xfrm>
            <a:off x="7608168" y="5445224"/>
            <a:ext cx="381642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267F99"/>
                </a:solidFill>
                <a:latin typeface="Consolas" panose="020B0609020204030204" pitchFamily="49" charset="0"/>
              </a:rPr>
              <a:t>ResourceHolder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de-DE" dirty="0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de-DE" dirty="0" err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de-DE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de-DE" dirty="0" err="1">
                <a:solidFill>
                  <a:srgbClr val="795E26"/>
                </a:solidFill>
                <a:latin typeface="Consolas" panose="020B0609020204030204" pitchFamily="49" charset="0"/>
              </a:rPr>
              <a:t>Use</a:t>
            </a:r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de-DE" dirty="0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de-DE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164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0" y="332657"/>
            <a:ext cx="9144000" cy="53245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51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ReadFileToVector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(char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651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{</a:t>
            </a:r>
            <a:endParaRPr lang="en-US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 Создаем и настраиваем файл</a:t>
            </a:r>
          </a:p>
          <a:p>
            <a:pPr>
              <a:tabLst>
                <a:tab pos="365125" algn="l"/>
              </a:tabLst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ifstream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file;</a:t>
            </a:r>
          </a:p>
          <a:p>
            <a:pPr>
              <a:tabLst>
                <a:tab pos="365125" algn="l"/>
              </a:tabLst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file.exceptions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::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badbit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5125" algn="l"/>
              </a:tabLst>
            </a:pP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file.open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::binary);</a:t>
            </a:r>
          </a:p>
          <a:p>
            <a:pPr>
              <a:tabLst>
                <a:tab pos="365125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Отключаем пропуск пробелов</a:t>
            </a:r>
          </a:p>
          <a:p>
            <a:pPr>
              <a:tabLst>
                <a:tab pos="3651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urier New" pitchFamily="49" charset="0"/>
              </a:rPr>
              <a:t>	file &gt;&gt; </a:t>
            </a:r>
            <a:r>
              <a:rPr lang="en-US" sz="2000" b="1" dirty="0" err="1">
                <a:latin typeface="Consolas" panose="020B0609020204030204" pitchFamily="49" charset="0"/>
                <a:cs typeface="Courier New" pitchFamily="49" charset="0"/>
              </a:rPr>
              <a:t>noskipws</a:t>
            </a:r>
            <a:r>
              <a:rPr lang="en-US" sz="2000" b="1" dirty="0">
                <a:latin typeface="Consolas" panose="020B0609020204030204" pitchFamily="49" charset="0"/>
                <a:cs typeface="Courier New" pitchFamily="49" charset="0"/>
              </a:rPr>
              <a:t>;</a:t>
            </a:r>
            <a:endParaRPr lang="ru-RU" sz="2000" b="1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Копируем файл в массив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urier New" pitchFamily="49" charset="0"/>
              </a:rPr>
              <a:t>	vector&lt;char&gt; </a:t>
            </a:r>
            <a:r>
              <a:rPr lang="en-US" sz="2000" b="1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istream_iterator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&lt;char&gt;(file),</a:t>
            </a:r>
            <a:endParaRPr lang="ru-RU" sz="2000" b="1" dirty="0">
              <a:solidFill>
                <a:srgbClr val="FF0000"/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istream_iterator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&lt;char&gt;()));</a:t>
            </a:r>
          </a:p>
          <a:p>
            <a:pPr>
              <a:tabLst>
                <a:tab pos="365125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Возвращаем результат</a:t>
            </a:r>
          </a:p>
          <a:p>
            <a:pPr>
              <a:tabLst>
                <a:tab pos="365125" algn="l"/>
              </a:tabLst>
            </a:pPr>
            <a:r>
              <a:rPr lang="en-US" sz="2000" b="1" dirty="0">
                <a:latin typeface="Consolas" panose="020B0609020204030204" pitchFamily="49" charset="0"/>
                <a:cs typeface="Courier New" pitchFamily="49" charset="0"/>
              </a:rPr>
              <a:t>	return </a:t>
            </a:r>
            <a:r>
              <a:rPr lang="en-US" sz="2000" b="1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b="1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573009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524000" y="620688"/>
            <a:ext cx="8892480" cy="59400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ReadFileToVectorFast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(char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Открываем файл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ifstream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file;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file.exceptions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::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badbit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 |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::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failbit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file.open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fileName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urier New" pitchFamily="49" charset="0"/>
              </a:rPr>
              <a:t>::binary);</a:t>
            </a:r>
          </a:p>
          <a:p>
            <a:pPr>
              <a:tabLst>
                <a:tab pos="365125" algn="l"/>
                <a:tab pos="708025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Резервируем память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file.seekg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(0,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::end);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vector&lt;char&gt;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file.tellg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());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file.seekg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(0,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ios_base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::beg);</a:t>
            </a:r>
          </a:p>
          <a:p>
            <a:pPr>
              <a:tabLst>
                <a:tab pos="365125" algn="l"/>
                <a:tab pos="708025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Читаем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if 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())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file.read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(&amp;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[0],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buf.size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());</a:t>
            </a:r>
          </a:p>
          <a:p>
            <a:pPr>
              <a:tabLst>
                <a:tab pos="365125" algn="l"/>
                <a:tab pos="708025" algn="l"/>
              </a:tabLst>
            </a:pPr>
            <a:endParaRPr lang="ru-RU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365125" algn="l"/>
                <a:tab pos="708025" algn="l"/>
              </a:tabLst>
            </a:pPr>
            <a:r>
              <a:rPr lang="ru-RU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// Возвращаем результат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return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buf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6512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059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5E250C-53F8-BEE9-136F-F0FC3E0B9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Видео «</a:t>
            </a:r>
            <a:r>
              <a:rPr lang="ru-RU" dirty="0" err="1"/>
              <a:t>Scope</a:t>
            </a:r>
            <a:r>
              <a:rPr lang="ru-RU" dirty="0"/>
              <a:t> </a:t>
            </a:r>
            <a:r>
              <a:rPr lang="ru-RU" dirty="0" err="1"/>
              <a:t>Guards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C++ | Объекты-охранники в C++»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FE889C-97AE-4C01-FFB7-412DAA4816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256384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 видео:</a:t>
            </a:r>
          </a:p>
          <a:p>
            <a:pPr lvl="1"/>
            <a:r>
              <a:rPr lang="ru-RU" dirty="0"/>
              <a:t>реализация </a:t>
            </a:r>
            <a:r>
              <a:rPr lang="en-US" dirty="0"/>
              <a:t>Scope Guards; </a:t>
            </a:r>
          </a:p>
          <a:p>
            <a:pPr lvl="1"/>
            <a:r>
              <a:rPr lang="en-US" dirty="0"/>
              <a:t>RAII </a:t>
            </a:r>
            <a:r>
              <a:rPr lang="ru-RU" dirty="0"/>
              <a:t>и </a:t>
            </a:r>
            <a:r>
              <a:rPr lang="en-US" dirty="0"/>
              <a:t>exception safety; </a:t>
            </a:r>
          </a:p>
          <a:p>
            <a:pPr lvl="1"/>
            <a:r>
              <a:rPr lang="en-US" dirty="0"/>
              <a:t>rollback </a:t>
            </a:r>
            <a:r>
              <a:rPr lang="ru-RU" dirty="0"/>
              <a:t>и </a:t>
            </a:r>
            <a:r>
              <a:rPr lang="en-US" dirty="0"/>
              <a:t>commit-on-success; 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uncaught_exceptions</a:t>
            </a:r>
            <a:r>
              <a:rPr lang="en-US" dirty="0"/>
              <a:t>(); </a:t>
            </a:r>
          </a:p>
          <a:p>
            <a:pPr lvl="1"/>
            <a:r>
              <a:rPr lang="ru-RU" dirty="0"/>
              <a:t>сравнение с </a:t>
            </a:r>
            <a:r>
              <a:rPr lang="en-US" dirty="0"/>
              <a:t>Boost, GSL, Qt, Folly </a:t>
            </a:r>
            <a:r>
              <a:rPr lang="ru-RU" dirty="0"/>
              <a:t>и </a:t>
            </a:r>
            <a:r>
              <a:rPr lang="en-US" dirty="0"/>
              <a:t>Abseil. </a:t>
            </a:r>
          </a:p>
          <a:p>
            <a:r>
              <a:rPr lang="ru-RU" dirty="0"/>
              <a:t>Практика</a:t>
            </a:r>
          </a:p>
          <a:p>
            <a:pPr lvl="1"/>
            <a:r>
              <a:rPr lang="ru-RU" dirty="0"/>
              <a:t>безопасная работа с ресурсами; </a:t>
            </a:r>
          </a:p>
          <a:p>
            <a:pPr lvl="1"/>
            <a:r>
              <a:rPr lang="ru-RU" dirty="0"/>
              <a:t>автоматическое восстановление состояния; </a:t>
            </a:r>
          </a:p>
          <a:p>
            <a:pPr lvl="1"/>
            <a:r>
              <a:rPr lang="ru-RU" dirty="0"/>
              <a:t>атомарная запись файлов.</a:t>
            </a:r>
          </a:p>
          <a:p>
            <a:r>
              <a:rPr lang="en-US" dirty="0">
                <a:hlinkClick r:id="rId3"/>
              </a:rPr>
              <a:t>https://youtu.be/mUr-eTYOnFE?si=iHYvTiv-NaJr3iRh</a:t>
            </a:r>
            <a:endParaRPr lang="en-US" dirty="0"/>
          </a:p>
          <a:p>
            <a:r>
              <a:rPr lang="en-US" dirty="0">
                <a:hlinkClick r:id="rId4"/>
              </a:rPr>
              <a:t>https://github.com/alexey-malov/scope-guards</a:t>
            </a:r>
            <a:endParaRPr lang="ru-RU" dirty="0"/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C8AB5A-5119-BBC4-7263-BB61131E97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585" y="1858761"/>
            <a:ext cx="4259215" cy="239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6475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2: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 собственного класса строк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Класс </a:t>
            </a:r>
            <a:r>
              <a:rPr lang="ru-RU" dirty="0" err="1"/>
              <a:t>String</a:t>
            </a:r>
            <a:r>
              <a:rPr lang="ru-RU" dirty="0"/>
              <a:t> хранит строку в динамической памяти (</a:t>
            </a:r>
            <a:r>
              <a:rPr lang="ru-RU" dirty="0" err="1"/>
              <a:t>char</a:t>
            </a:r>
            <a:r>
              <a:rPr lang="ru-RU" dirty="0"/>
              <a:t>*).</a:t>
            </a:r>
          </a:p>
          <a:p>
            <a:r>
              <a:rPr lang="ru-RU" dirty="0"/>
              <a:t>Реализованы:</a:t>
            </a:r>
          </a:p>
          <a:p>
            <a:pPr lvl="1"/>
            <a:r>
              <a:rPr lang="ru-RU" dirty="0"/>
              <a:t>конструкторы; </a:t>
            </a:r>
          </a:p>
          <a:p>
            <a:pPr lvl="1"/>
            <a:r>
              <a:rPr lang="ru-RU" dirty="0"/>
              <a:t>деструктор; </a:t>
            </a:r>
          </a:p>
          <a:p>
            <a:pPr lvl="1"/>
            <a:r>
              <a:rPr lang="ru-RU" dirty="0"/>
              <a:t>копирование; </a:t>
            </a:r>
          </a:p>
          <a:p>
            <a:pPr lvl="1"/>
            <a:r>
              <a:rPr lang="ru-RU" dirty="0"/>
              <a:t>оператор присваивания; </a:t>
            </a:r>
          </a:p>
          <a:p>
            <a:pPr lvl="1"/>
            <a:r>
              <a:rPr lang="ru-RU" dirty="0"/>
              <a:t>доступ к символам строки. </a:t>
            </a:r>
          </a:p>
          <a:p>
            <a:r>
              <a:rPr lang="ru-RU" dirty="0"/>
              <a:t>Проанализировать код:</a:t>
            </a:r>
          </a:p>
          <a:p>
            <a:pPr lvl="1"/>
            <a:r>
              <a:rPr lang="ru-RU" dirty="0"/>
              <a:t>на корректность работы; </a:t>
            </a:r>
          </a:p>
          <a:p>
            <a:pPr lvl="1"/>
            <a:r>
              <a:rPr lang="ru-RU" dirty="0"/>
              <a:t>на безопасность при исключениях; </a:t>
            </a:r>
          </a:p>
          <a:p>
            <a:pPr lvl="1"/>
            <a:r>
              <a:rPr lang="ru-RU" dirty="0"/>
              <a:t>на соблюдение инвариантов класса.</a:t>
            </a:r>
          </a:p>
        </p:txBody>
      </p:sp>
    </p:spTree>
    <p:extLst>
      <p:ext uri="{BB962C8B-B14F-4D97-AF65-F5344CB8AC3E}">
        <p14:creationId xmlns:p14="http://schemas.microsoft.com/office/powerpoint/2010/main" val="95467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07368" y="1889075"/>
            <a:ext cx="5759379" cy="47705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2563" algn="l"/>
                <a:tab pos="365125" algn="l"/>
              </a:tabLs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class String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{</a:t>
            </a: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char *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public: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String():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(new char[1]),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(0)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{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[0] = '\0’; 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}</a:t>
            </a: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String(const char * str)</a:t>
            </a: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strlen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(str))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= new char[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+ 1];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memcpy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, str,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+ 1);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182563" algn="l"/>
                <a:tab pos="365125" algn="l"/>
              </a:tabLst>
            </a:pP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String(String const&amp; other)</a:t>
            </a: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: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other.m_size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)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,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(new char[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other.m_size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+ 1])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memcpy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other.m_pChars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+ 1);</a:t>
            </a: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}</a:t>
            </a: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…</a:t>
            </a: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6384032" y="1889075"/>
            <a:ext cx="5400600" cy="4524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2563" algn="l"/>
                <a:tab pos="365125" algn="l"/>
              </a:tabLs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…</a:t>
            </a:r>
          </a:p>
          <a:p>
            <a:pPr>
              <a:tabLst>
                <a:tab pos="182563" algn="l"/>
                <a:tab pos="365125" algn="l"/>
              </a:tabLst>
            </a:pPr>
            <a:endParaRPr lang="en-US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~String()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		delete []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182563" algn="l"/>
                <a:tab pos="365125" algn="l"/>
              </a:tabLst>
            </a:pP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char const *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GetStr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() const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noexcept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return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  <a:p>
            <a:pPr>
              <a:tabLst>
                <a:tab pos="182563" algn="l"/>
                <a:tab pos="365125" algn="l"/>
              </a:tabLst>
            </a:pPr>
            <a:endParaRPr lang="ru-RU" sz="16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String &amp; operator=(String const&amp; s)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delete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[]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=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s.m_size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= new char[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+ 1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];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memcpy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s.m_pChars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 + 1);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  <a:cs typeface="Courier New" pitchFamily="49" charset="0"/>
              </a:rPr>
              <a:t>return *this;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  }</a:t>
            </a:r>
          </a:p>
          <a:p>
            <a:pPr>
              <a:tabLst>
                <a:tab pos="182563" algn="l"/>
                <a:tab pos="365125" algn="l"/>
              </a:tabLst>
            </a:pPr>
            <a:r>
              <a:rPr lang="ru-RU" sz="1600" dirty="0">
                <a:latin typeface="Consolas" panose="020B0609020204030204" pitchFamily="49" charset="0"/>
                <a:cs typeface="Courier New" pitchFamily="49" charset="0"/>
              </a:rPr>
              <a:t>};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DBAB0B-306F-5B01-1EF7-5ADCCA7F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класса </a:t>
            </a:r>
            <a:r>
              <a:rPr lang="en-US" dirty="0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5276308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Проблемы оператора присваивания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Проблема №1 — </a:t>
            </a:r>
            <a:r>
              <a:rPr lang="ru-RU" dirty="0" err="1"/>
              <a:t>самоприсваивание</a:t>
            </a:r>
            <a:endParaRPr lang="ru-RU" dirty="0"/>
          </a:p>
          <a:p>
            <a:pPr lvl="1"/>
            <a:r>
              <a:rPr lang="ru-RU" dirty="0" err="1"/>
              <a:t>str</a:t>
            </a:r>
            <a:r>
              <a:rPr lang="ru-RU" dirty="0"/>
              <a:t> = </a:t>
            </a:r>
            <a:r>
              <a:rPr lang="ru-RU" dirty="0" err="1"/>
              <a:t>str</a:t>
            </a:r>
            <a:r>
              <a:rPr lang="ru-RU" dirty="0"/>
              <a:t>;</a:t>
            </a:r>
          </a:p>
          <a:p>
            <a:pPr lvl="1"/>
            <a:r>
              <a:rPr lang="ru-RU" dirty="0"/>
              <a:t>Оператор = будет копировать данные сам в себя (</a:t>
            </a:r>
            <a:r>
              <a:rPr lang="en-US" dirty="0"/>
              <a:t>UB </a:t>
            </a:r>
            <a:r>
              <a:rPr lang="ru-RU" dirty="0"/>
              <a:t>в </a:t>
            </a:r>
            <a:r>
              <a:rPr lang="en-US" dirty="0" err="1"/>
              <a:t>memcpy</a:t>
            </a:r>
            <a:r>
              <a:rPr lang="en-US" dirty="0"/>
              <a:t> + </a:t>
            </a:r>
            <a:r>
              <a:rPr lang="ru-RU" dirty="0"/>
              <a:t>потеря данных строки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Проблема №2 — исключение в </a:t>
            </a:r>
            <a:r>
              <a:rPr lang="ru-RU" dirty="0" err="1"/>
              <a:t>new</a:t>
            </a:r>
            <a:endParaRPr lang="ru-RU" dirty="0"/>
          </a:p>
          <a:p>
            <a:pPr lvl="1"/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char</a:t>
            </a:r>
            <a:r>
              <a:rPr lang="ru-RU" dirty="0"/>
              <a:t>[...]</a:t>
            </a:r>
          </a:p>
          <a:p>
            <a:pPr lvl="1"/>
            <a:r>
              <a:rPr lang="ru-RU" dirty="0"/>
              <a:t>Если </a:t>
            </a:r>
            <a:r>
              <a:rPr lang="ru-RU" dirty="0" err="1"/>
              <a:t>new</a:t>
            </a:r>
            <a:r>
              <a:rPr lang="ru-RU" dirty="0"/>
              <a:t> выбросит исключение:</a:t>
            </a:r>
          </a:p>
          <a:p>
            <a:pPr lvl="2"/>
            <a:r>
              <a:rPr lang="ru-RU" dirty="0"/>
              <a:t>объект останется в </a:t>
            </a:r>
            <a:r>
              <a:rPr lang="ru-RU" dirty="0" err="1"/>
              <a:t>невалидном</a:t>
            </a:r>
            <a:r>
              <a:rPr lang="ru-RU" dirty="0"/>
              <a:t> состоянии; </a:t>
            </a:r>
          </a:p>
          <a:p>
            <a:pPr lvl="2"/>
            <a:r>
              <a:rPr lang="ru-RU" dirty="0"/>
              <a:t>инварианты нарушатся; </a:t>
            </a:r>
          </a:p>
          <a:p>
            <a:pPr lvl="2"/>
            <a:r>
              <a:rPr lang="ru-RU" dirty="0"/>
              <a:t>будет </a:t>
            </a:r>
            <a:r>
              <a:rPr lang="ru-RU" dirty="0" err="1"/>
              <a:t>double</a:t>
            </a:r>
            <a:r>
              <a:rPr lang="ru-RU" dirty="0"/>
              <a:t> </a:t>
            </a:r>
            <a:r>
              <a:rPr lang="ru-RU" dirty="0" err="1"/>
              <a:t>delete</a:t>
            </a:r>
            <a:r>
              <a:rPr lang="ru-RU" dirty="0"/>
              <a:t> в деструкторе. </a:t>
            </a:r>
          </a:p>
          <a:p>
            <a:r>
              <a:rPr lang="ru-RU" dirty="0"/>
              <a:t>Изменять состояние объекта нужно только после успешного выполнения потенциально опасных операций.</a:t>
            </a:r>
          </a:p>
        </p:txBody>
      </p:sp>
    </p:spTree>
    <p:extLst>
      <p:ext uri="{BB962C8B-B14F-4D97-AF65-F5344CB8AC3E}">
        <p14:creationId xmlns:p14="http://schemas.microsoft.com/office/powerpoint/2010/main" val="348034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838200" y="1916832"/>
            <a:ext cx="8676456" cy="470898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String&amp; operator=(String const&amp; s)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	{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	// Защита от </a:t>
            </a:r>
            <a:r>
              <a:rPr lang="ru-RU" sz="2000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самоприсваивания</a:t>
            </a:r>
            <a:endParaRPr lang="ru-RU" sz="20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if (this != &amp;s)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		{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	char *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tmp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= new char [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s.m_size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+ 1];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endParaRPr lang="en-US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s.m_size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memcpy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tmp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s.m_pChars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+ 1);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endParaRPr lang="en-US" sz="2000" dirty="0">
              <a:latin typeface="Consolas" panose="020B0609020204030204" pitchFamily="49" charset="0"/>
              <a:cs typeface="Courier New" pitchFamily="49" charset="0"/>
            </a:endParaRP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	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delete []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	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itchFamily="49" charset="0"/>
              </a:rPr>
              <a:t>tmp</a:t>
            </a: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;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		}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en-US" sz="2000" dirty="0">
                <a:latin typeface="Consolas" panose="020B0609020204030204" pitchFamily="49" charset="0"/>
                <a:cs typeface="Courier New" pitchFamily="49" charset="0"/>
              </a:rPr>
              <a:t>		return *this;</a:t>
            </a:r>
          </a:p>
          <a:p>
            <a:pPr defTabSz="708025">
              <a:tabLst>
                <a:tab pos="182563" algn="l"/>
                <a:tab pos="365125" algn="l"/>
                <a:tab pos="549275" algn="l"/>
                <a:tab pos="708025" algn="l"/>
              </a:tabLst>
            </a:pPr>
            <a:r>
              <a:rPr lang="ru-RU" sz="2000" dirty="0">
                <a:latin typeface="Consolas" panose="020B0609020204030204" pitchFamily="49" charset="0"/>
                <a:cs typeface="Courier New" pitchFamily="49" charset="0"/>
              </a:rPr>
              <a:t>	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01F8A4-49EA-E6CC-0327-85250FAC6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Исправляем </a:t>
            </a:r>
            <a:r>
              <a:rPr lang="en-US" dirty="0"/>
              <a:t>UB </a:t>
            </a:r>
            <a:r>
              <a:rPr lang="ru-RU" dirty="0"/>
              <a:t>и решаем проблему с </a:t>
            </a:r>
            <a:r>
              <a:rPr lang="ru-RU" dirty="0" err="1"/>
              <a:t>самоприсваиванием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869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668016" y="1775714"/>
            <a:ext cx="8676456" cy="489364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String &amp; operator=(String const&amp; s)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ru-RU" sz="2400" dirty="0">
                <a:latin typeface="Consolas" panose="020B0609020204030204" pitchFamily="49" charset="0"/>
                <a:cs typeface="Courier New" pitchFamily="49" charset="0"/>
              </a:rPr>
              <a:t>{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ru-RU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		// Защита от </a:t>
            </a:r>
            <a:r>
              <a:rPr lang="ru-RU" sz="2400" i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самоприсваивания</a:t>
            </a:r>
            <a:endParaRPr lang="ru-RU" sz="2400" i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		if (this != &amp;s)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ru-RU" sz="2400" dirty="0">
                <a:latin typeface="Consolas" panose="020B0609020204030204" pitchFamily="49" charset="0"/>
                <a:cs typeface="Courier New" pitchFamily="49" charset="0"/>
              </a:rPr>
              <a:t>		{</a:t>
            </a:r>
            <a:endParaRPr lang="en-US" sz="24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    </a:t>
            </a:r>
            <a:r>
              <a:rPr lang="ru-RU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// Идиома 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itchFamily="49" charset="0"/>
              </a:rPr>
              <a:t>Copy-and-swap</a:t>
            </a:r>
            <a:endParaRPr lang="ru-RU" sz="24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			 </a:t>
            </a:r>
            <a:r>
              <a:rPr lang="en-US" sz="2400" dirty="0" err="1">
                <a:latin typeface="Consolas" panose="020B0609020204030204" pitchFamily="49" charset="0"/>
                <a:cs typeface="Courier New" pitchFamily="49" charset="0"/>
              </a:rPr>
              <a:t>CMyString</a:t>
            </a: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  <a:cs typeface="Courier New" pitchFamily="49" charset="0"/>
              </a:rPr>
              <a:t>tmp</a:t>
            </a: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(s);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endParaRPr lang="en-US" sz="2400" dirty="0">
              <a:latin typeface="Consolas" panose="020B0609020204030204" pitchFamily="49" charset="0"/>
              <a:cs typeface="Courier New" pitchFamily="49" charset="0"/>
            </a:endParaRP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			 std::swap(</a:t>
            </a:r>
            <a:r>
              <a:rPr lang="en-US" sz="2400" dirty="0" err="1">
                <a:latin typeface="Consolas" panose="020B0609020204030204" pitchFamily="49" charset="0"/>
                <a:cs typeface="Courier New" pitchFamily="49" charset="0"/>
              </a:rPr>
              <a:t>m_pChars</a:t>
            </a: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  <a:cs typeface="Courier New" pitchFamily="49" charset="0"/>
              </a:rPr>
              <a:t>tmp.m_pChars</a:t>
            </a: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			 std::swap(</a:t>
            </a:r>
            <a:r>
              <a:rPr lang="en-US" sz="2400" dirty="0" err="1">
                <a:latin typeface="Consolas" panose="020B0609020204030204" pitchFamily="49" charset="0"/>
                <a:cs typeface="Courier New" pitchFamily="49" charset="0"/>
              </a:rPr>
              <a:t>m_size</a:t>
            </a: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  <a:cs typeface="Courier New" pitchFamily="49" charset="0"/>
              </a:rPr>
              <a:t>tmp.m_size</a:t>
            </a: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ru-RU" sz="2400" dirty="0">
                <a:latin typeface="Consolas" panose="020B0609020204030204" pitchFamily="49" charset="0"/>
                <a:cs typeface="Courier New" pitchFamily="49" charset="0"/>
              </a:rPr>
              <a:t>		}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en-US" sz="2400" dirty="0">
                <a:latin typeface="Consolas" panose="020B0609020204030204" pitchFamily="49" charset="0"/>
                <a:cs typeface="Courier New" pitchFamily="49" charset="0"/>
              </a:rPr>
              <a:t>		return *this;</a:t>
            </a:r>
          </a:p>
          <a:p>
            <a:pPr>
              <a:tabLst>
                <a:tab pos="182563" algn="l"/>
                <a:tab pos="365125" algn="l"/>
                <a:tab pos="549275" algn="l"/>
                <a:tab pos="708025" algn="l"/>
                <a:tab pos="892175" algn="l"/>
              </a:tabLst>
            </a:pPr>
            <a:r>
              <a:rPr lang="ru-RU" sz="2400" dirty="0">
                <a:latin typeface="Consolas" panose="020B0609020204030204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and Swap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28605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A68BB-F5F2-54F4-BDC5-FD19E31E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3: </a:t>
            </a:r>
            <a:r>
              <a:rPr lang="ru-RU" dirty="0" err="1"/>
              <a:t>exception</a:t>
            </a:r>
            <a:r>
              <a:rPr lang="ru-RU" dirty="0"/>
              <a:t> </a:t>
            </a:r>
            <a:r>
              <a:rPr lang="ru-RU" dirty="0" err="1"/>
              <a:t>safety</a:t>
            </a:r>
            <a:r>
              <a:rPr lang="ru-RU" dirty="0"/>
              <a:t> в конструкторе"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F431B-F813-8447-1C1B-9FCBBEC69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65912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Класс </a:t>
            </a:r>
            <a:r>
              <a:rPr lang="ru-RU" dirty="0" err="1"/>
              <a:t>Mesh</a:t>
            </a:r>
            <a:endParaRPr lang="ru-RU" dirty="0"/>
          </a:p>
          <a:p>
            <a:pPr lvl="1"/>
            <a:r>
              <a:rPr lang="ru-RU" dirty="0"/>
              <a:t>Хранит данные 3D-модели:</a:t>
            </a:r>
          </a:p>
          <a:p>
            <a:pPr lvl="2"/>
            <a:r>
              <a:rPr lang="ru-RU" dirty="0"/>
              <a:t>массив вершин; </a:t>
            </a:r>
          </a:p>
          <a:p>
            <a:pPr lvl="2"/>
            <a:r>
              <a:rPr lang="ru-RU" dirty="0"/>
              <a:t>массив индексов вершин треугольников. </a:t>
            </a:r>
          </a:p>
          <a:p>
            <a:r>
              <a:rPr lang="ru-RU" dirty="0"/>
              <a:t>Устройство данных</a:t>
            </a:r>
          </a:p>
          <a:p>
            <a:pPr lvl="1"/>
            <a:r>
              <a:rPr lang="ru-RU" dirty="0" err="1"/>
              <a:t>Vertex</a:t>
            </a:r>
            <a:r>
              <a:rPr lang="ru-RU" dirty="0"/>
              <a:t> — координаты вершины (x, y, z); </a:t>
            </a:r>
          </a:p>
          <a:p>
            <a:pPr lvl="1"/>
            <a:r>
              <a:rPr lang="ru-RU" dirty="0"/>
              <a:t>Каждые 3 индекса задают один треугольник. </a:t>
            </a:r>
          </a:p>
          <a:p>
            <a:r>
              <a:rPr lang="ru-RU" dirty="0"/>
              <a:t>Задача – проанализировать конструктор:</a:t>
            </a:r>
          </a:p>
          <a:p>
            <a:pPr lvl="1"/>
            <a:r>
              <a:rPr lang="ru-RU" dirty="0"/>
              <a:t>возможны ли утечки ресурсов</a:t>
            </a:r>
            <a:r>
              <a:rPr lang="en-US" dirty="0"/>
              <a:t>?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безопасен ли код при исключениях</a:t>
            </a:r>
            <a:r>
              <a:rPr lang="en-US" dirty="0"/>
              <a:t>?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как исправить проблемы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7AEC9D-0C68-C1B6-7688-C27C31C9D98E}"/>
              </a:ext>
            </a:extLst>
          </p:cNvPr>
          <p:cNvCxnSpPr>
            <a:cxnSpLocks/>
          </p:cNvCxnSpPr>
          <p:nvPr/>
        </p:nvCxnSpPr>
        <p:spPr>
          <a:xfrm flipV="1">
            <a:off x="8013576" y="3057540"/>
            <a:ext cx="1188132" cy="46805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D3116D7-676E-19BD-661F-83DC684D074B}"/>
              </a:ext>
            </a:extLst>
          </p:cNvPr>
          <p:cNvCxnSpPr>
            <a:cxnSpLocks/>
          </p:cNvCxnSpPr>
          <p:nvPr/>
        </p:nvCxnSpPr>
        <p:spPr>
          <a:xfrm flipV="1">
            <a:off x="9201708" y="2013424"/>
            <a:ext cx="324036" cy="10441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CBDEB4-42E3-4B28-5BDC-309413BDB1A9}"/>
              </a:ext>
            </a:extLst>
          </p:cNvPr>
          <p:cNvCxnSpPr>
            <a:cxnSpLocks/>
          </p:cNvCxnSpPr>
          <p:nvPr/>
        </p:nvCxnSpPr>
        <p:spPr>
          <a:xfrm flipH="1" flipV="1">
            <a:off x="9201708" y="3057540"/>
            <a:ext cx="1764196" cy="46805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E32B4AB-7C24-4849-4CB0-4317C9664CF9}"/>
              </a:ext>
            </a:extLst>
          </p:cNvPr>
          <p:cNvCxnSpPr>
            <a:cxnSpLocks/>
          </p:cNvCxnSpPr>
          <p:nvPr/>
        </p:nvCxnSpPr>
        <p:spPr>
          <a:xfrm>
            <a:off x="8013576" y="3525592"/>
            <a:ext cx="29523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736C589-2DCA-0D84-D3E0-6DF400407B51}"/>
              </a:ext>
            </a:extLst>
          </p:cNvPr>
          <p:cNvSpPr txBox="1"/>
          <p:nvPr/>
        </p:nvSpPr>
        <p:spPr>
          <a:xfrm>
            <a:off x="7707542" y="330317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EF0EE0-5B06-7A62-D994-48B4C7D142DD}"/>
              </a:ext>
            </a:extLst>
          </p:cNvPr>
          <p:cNvSpPr txBox="1"/>
          <p:nvPr/>
        </p:nvSpPr>
        <p:spPr>
          <a:xfrm>
            <a:off x="9975794" y="410165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7D064F-3C08-61DC-8051-C722E665B5BA}"/>
              </a:ext>
            </a:extLst>
          </p:cNvPr>
          <p:cNvSpPr txBox="1"/>
          <p:nvPr/>
        </p:nvSpPr>
        <p:spPr>
          <a:xfrm>
            <a:off x="11037912" y="330317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EA5D15-8EDF-7730-3D67-3C2BA0F45E00}"/>
              </a:ext>
            </a:extLst>
          </p:cNvPr>
          <p:cNvSpPr txBox="1"/>
          <p:nvPr/>
        </p:nvSpPr>
        <p:spPr>
          <a:xfrm>
            <a:off x="8931678" y="276486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0A0718-9CBC-8599-67B2-AEB812C0CC35}"/>
              </a:ext>
            </a:extLst>
          </p:cNvPr>
          <p:cNvSpPr txBox="1"/>
          <p:nvPr/>
        </p:nvSpPr>
        <p:spPr>
          <a:xfrm>
            <a:off x="9507742" y="16750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4FFD5A-C4C8-5F6E-7E50-6CFD019A2732}"/>
              </a:ext>
            </a:extLst>
          </p:cNvPr>
          <p:cNvSpPr txBox="1"/>
          <p:nvPr/>
        </p:nvSpPr>
        <p:spPr>
          <a:xfrm>
            <a:off x="7395878" y="4569708"/>
            <a:ext cx="19042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Массив вершин:</a:t>
            </a:r>
            <a:endParaRPr lang="en-US" sz="1600" dirty="0"/>
          </a:p>
          <a:p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{-1, +1, 0},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{+1, +1, 0},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{+1, -1, 0},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{-1, -1, 0},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 { 0,  0, 2}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9641448-E899-CAE5-743D-2B6F1CF9F868}"/>
              </a:ext>
            </a:extLst>
          </p:cNvPr>
          <p:cNvGrpSpPr/>
          <p:nvPr/>
        </p:nvGrpSpPr>
        <p:grpSpPr>
          <a:xfrm>
            <a:off x="8880698" y="2582372"/>
            <a:ext cx="1542120" cy="1323095"/>
            <a:chOff x="10264570" y="4853868"/>
            <a:chExt cx="1542120" cy="1323095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14146B-F785-E9BC-987F-DCA14854F74E}"/>
                </a:ext>
              </a:extLst>
            </p:cNvPr>
            <p:cNvGrpSpPr/>
            <p:nvPr/>
          </p:nvGrpSpPr>
          <p:grpSpPr>
            <a:xfrm>
              <a:off x="10264570" y="4950460"/>
              <a:ext cx="1382452" cy="1008112"/>
              <a:chOff x="10264570" y="4950460"/>
              <a:chExt cx="1382452" cy="1008112"/>
            </a:xfrm>
          </p:grpSpPr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CBCD7973-CCCA-6B84-6380-D1C2B0A1B0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67274" y="4950460"/>
                <a:ext cx="0" cy="72008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1C1910AB-25E8-9673-B775-32DB783224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67274" y="5670540"/>
                <a:ext cx="779748" cy="19144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1C43B1D5-EF7C-0EE9-E02A-D24EBBC75E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64570" y="5670540"/>
                <a:ext cx="602704" cy="28803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F5FAFFE-23F9-8665-AC09-20B9FF5D49B8}"/>
                </a:ext>
              </a:extLst>
            </p:cNvPr>
            <p:cNvSpPr txBox="1"/>
            <p:nvPr/>
          </p:nvSpPr>
          <p:spPr>
            <a:xfrm>
              <a:off x="11571811" y="5709544"/>
              <a:ext cx="2348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192981C-E46B-A1AE-F955-2C95A748C528}"/>
                </a:ext>
              </a:extLst>
            </p:cNvPr>
            <p:cNvSpPr txBox="1"/>
            <p:nvPr/>
          </p:nvSpPr>
          <p:spPr>
            <a:xfrm>
              <a:off x="10275558" y="5807631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411FA5A-B649-C101-A22A-D9D724968C00}"/>
                </a:ext>
              </a:extLst>
            </p:cNvPr>
            <p:cNvSpPr txBox="1"/>
            <p:nvPr/>
          </p:nvSpPr>
          <p:spPr>
            <a:xfrm>
              <a:off x="10867274" y="4853868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7DBCB7-0846-D985-084C-3C8FFD9A259A}"/>
              </a:ext>
            </a:extLst>
          </p:cNvPr>
          <p:cNvCxnSpPr/>
          <p:nvPr/>
        </p:nvCxnSpPr>
        <p:spPr>
          <a:xfrm>
            <a:off x="8013576" y="3525592"/>
            <a:ext cx="1944216" cy="57606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BD33EA-F8EE-68D3-399B-F1D67BB752BF}"/>
              </a:ext>
            </a:extLst>
          </p:cNvPr>
          <p:cNvCxnSpPr>
            <a:cxnSpLocks/>
          </p:cNvCxnSpPr>
          <p:nvPr/>
        </p:nvCxnSpPr>
        <p:spPr>
          <a:xfrm flipV="1">
            <a:off x="8013576" y="2013424"/>
            <a:ext cx="1512168" cy="151216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53F54A5-E5D6-DE1A-03AB-25C9D967CE2A}"/>
              </a:ext>
            </a:extLst>
          </p:cNvPr>
          <p:cNvCxnSpPr>
            <a:cxnSpLocks/>
          </p:cNvCxnSpPr>
          <p:nvPr/>
        </p:nvCxnSpPr>
        <p:spPr>
          <a:xfrm flipV="1">
            <a:off x="9957792" y="3525592"/>
            <a:ext cx="1008112" cy="576064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4C26BB-B096-7793-3197-CABEE0A19CC3}"/>
              </a:ext>
            </a:extLst>
          </p:cNvPr>
          <p:cNvCxnSpPr>
            <a:cxnSpLocks/>
          </p:cNvCxnSpPr>
          <p:nvPr/>
        </p:nvCxnSpPr>
        <p:spPr>
          <a:xfrm>
            <a:off x="9525744" y="2013424"/>
            <a:ext cx="1440160" cy="1512168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8DCBE4-7F2F-7383-1419-F64BEE3A488C}"/>
              </a:ext>
            </a:extLst>
          </p:cNvPr>
          <p:cNvCxnSpPr>
            <a:cxnSpLocks/>
          </p:cNvCxnSpPr>
          <p:nvPr/>
        </p:nvCxnSpPr>
        <p:spPr>
          <a:xfrm flipH="1" flipV="1">
            <a:off x="9525744" y="2013424"/>
            <a:ext cx="432048" cy="208823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E5145DA-4CCB-AC66-D8BA-3CE7F662F713}"/>
              </a:ext>
            </a:extLst>
          </p:cNvPr>
          <p:cNvSpPr txBox="1"/>
          <p:nvPr/>
        </p:nvSpPr>
        <p:spPr>
          <a:xfrm>
            <a:off x="9795774" y="4504591"/>
            <a:ext cx="22768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Массив индексов: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0, 2, 1,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0, 3, 2,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0, 1, 4,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1, 2, 4,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3, 4, 2,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 0, 4, 3</a:t>
            </a:r>
          </a:p>
          <a:p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067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84B4F8-3E00-FFBA-7836-71FB56B0D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Проанализировать проблемы в конструкторе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65C49-6F1C-3C72-0152-B4174A70F59F}"/>
              </a:ext>
            </a:extLst>
          </p:cNvPr>
          <p:cNvSpPr txBox="1"/>
          <p:nvPr/>
        </p:nvSpPr>
        <p:spPr>
          <a:xfrm>
            <a:off x="838200" y="1662584"/>
            <a:ext cx="914623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y, z;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operator=(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~Mesh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delete[]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Vertex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m_indices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m_indexCount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207153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DE503-8EBF-530D-1086-26B53DE6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утечка ресурсов при исключении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76CAFE-11C3-6CBB-95B5-5C09B793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Потенциально опасный код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m_vertices</a:t>
            </a:r>
            <a:r>
              <a:rPr lang="en-US" dirty="0">
                <a:latin typeface="Consolas" panose="020B0609020204030204" pitchFamily="49" charset="0"/>
              </a:rPr>
              <a:t>(new Vertex[</a:t>
            </a:r>
            <a:r>
              <a:rPr lang="en-US" dirty="0" err="1">
                <a:latin typeface="Consolas" panose="020B0609020204030204" pitchFamily="49" charset="0"/>
              </a:rPr>
              <a:t>vertexCount</a:t>
            </a:r>
            <a:r>
              <a:rPr lang="en-US" dirty="0">
                <a:latin typeface="Consolas" panose="020B0609020204030204" pitchFamily="49" charset="0"/>
              </a:rPr>
              <a:t>]),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</a:rPr>
              <a:t>m_indices</a:t>
            </a:r>
            <a:r>
              <a:rPr lang="en-US" dirty="0">
                <a:latin typeface="Consolas" panose="020B0609020204030204" pitchFamily="49" charset="0"/>
              </a:rPr>
              <a:t>(new uint32_t[</a:t>
            </a:r>
            <a:r>
              <a:rPr lang="en-US" dirty="0" err="1">
                <a:latin typeface="Consolas" panose="020B0609020204030204" pitchFamily="49" charset="0"/>
              </a:rPr>
              <a:t>indexCount</a:t>
            </a:r>
            <a:r>
              <a:rPr lang="en-US" dirty="0">
                <a:latin typeface="Consolas" panose="020B0609020204030204" pitchFamily="49" charset="0"/>
              </a:rPr>
              <a:t>])</a:t>
            </a:r>
          </a:p>
          <a:p>
            <a:r>
              <a:rPr lang="ru-RU" dirty="0"/>
              <a:t>Возможный сценарий</a:t>
            </a:r>
          </a:p>
          <a:p>
            <a:pPr lvl="1"/>
            <a:r>
              <a:rPr lang="ru-RU" dirty="0"/>
              <a:t>Память под </a:t>
            </a:r>
            <a:r>
              <a:rPr lang="en-US" dirty="0" err="1"/>
              <a:t>m_vertices</a:t>
            </a:r>
            <a:r>
              <a:rPr lang="en-US" dirty="0"/>
              <a:t> </a:t>
            </a:r>
            <a:r>
              <a:rPr lang="ru-RU" dirty="0"/>
              <a:t>успешно выделена.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new uint32_t[</a:t>
            </a:r>
            <a:r>
              <a:rPr lang="en-US" dirty="0" err="1">
                <a:latin typeface="Consolas" panose="020B0609020204030204" pitchFamily="49" charset="0"/>
              </a:rPr>
              <a:t>indexCount</a:t>
            </a:r>
            <a:r>
              <a:rPr lang="en-US" dirty="0">
                <a:latin typeface="Consolas" panose="020B0609020204030204" pitchFamily="49" charset="0"/>
              </a:rPr>
              <a:t>]</a:t>
            </a:r>
            <a:r>
              <a:rPr lang="en-US" dirty="0"/>
              <a:t> </a:t>
            </a:r>
            <a:r>
              <a:rPr lang="ru-RU" dirty="0"/>
              <a:t>выбрасывает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bad_alloc</a:t>
            </a:r>
            <a:r>
              <a:rPr lang="en-US" dirty="0"/>
              <a:t>. </a:t>
            </a:r>
          </a:p>
          <a:p>
            <a:pPr lvl="1"/>
            <a:r>
              <a:rPr lang="ru-RU" dirty="0"/>
              <a:t>Конструирование </a:t>
            </a:r>
            <a:r>
              <a:rPr lang="en-US" dirty="0"/>
              <a:t>Mesh </a:t>
            </a:r>
            <a:r>
              <a:rPr lang="ru-RU" dirty="0"/>
              <a:t>прерывается. </a:t>
            </a:r>
          </a:p>
          <a:p>
            <a:r>
              <a:rPr lang="ru-RU" dirty="0"/>
              <a:t>Что происходит дальше?</a:t>
            </a:r>
          </a:p>
          <a:p>
            <a:pPr lvl="1"/>
            <a:r>
              <a:rPr lang="ru-RU" dirty="0"/>
              <a:t>объект </a:t>
            </a:r>
            <a:r>
              <a:rPr lang="en-US" dirty="0"/>
              <a:t>Mesh </a:t>
            </a:r>
            <a:r>
              <a:rPr lang="ru-RU" dirty="0"/>
              <a:t>считается не созданным; </a:t>
            </a:r>
          </a:p>
          <a:p>
            <a:pPr lvl="1"/>
            <a:r>
              <a:rPr lang="ru-RU" dirty="0"/>
              <a:t>деструктор </a:t>
            </a:r>
            <a:r>
              <a:rPr lang="ru-RU" b="1" dirty="0">
                <a:latin typeface="Consolas" panose="020B0609020204030204" pitchFamily="49" charset="0"/>
              </a:rPr>
              <a:t>~</a:t>
            </a:r>
            <a:r>
              <a:rPr lang="en-US" b="1" dirty="0">
                <a:latin typeface="Consolas" panose="020B0609020204030204" pitchFamily="49" charset="0"/>
              </a:rPr>
              <a:t>Mesh()</a:t>
            </a:r>
            <a:r>
              <a:rPr lang="en-US" dirty="0"/>
              <a:t> </a:t>
            </a:r>
            <a:r>
              <a:rPr lang="ru-RU" dirty="0"/>
              <a:t>вызван не будет; </a:t>
            </a:r>
          </a:p>
          <a:p>
            <a:pPr lvl="1"/>
            <a:r>
              <a:rPr lang="ru-RU" dirty="0"/>
              <a:t>память </a:t>
            </a:r>
            <a:r>
              <a:rPr lang="en-US" b="1" dirty="0" err="1">
                <a:latin typeface="Consolas" panose="020B0609020204030204" pitchFamily="49" charset="0"/>
              </a:rPr>
              <a:t>m_vertices</a:t>
            </a:r>
            <a:r>
              <a:rPr lang="en-US" dirty="0"/>
              <a:t> </a:t>
            </a:r>
            <a:r>
              <a:rPr lang="ru-RU" dirty="0"/>
              <a:t>утечёт. </a:t>
            </a:r>
          </a:p>
          <a:p>
            <a:r>
              <a:rPr lang="ru-RU" dirty="0"/>
              <a:t>Причина проблемы</a:t>
            </a:r>
            <a:r>
              <a:rPr lang="en-US" dirty="0"/>
              <a:t>: </a:t>
            </a:r>
            <a:r>
              <a:rPr lang="ru-RU" dirty="0"/>
              <a:t>ручное управление ресурсами через </a:t>
            </a:r>
            <a:r>
              <a:rPr lang="en-US" dirty="0"/>
              <a:t>new[] / delete[]</a:t>
            </a:r>
          </a:p>
          <a:p>
            <a:r>
              <a:rPr lang="ru-RU" dirty="0"/>
              <a:t>Конструктор не обеспечивает безопасность исключений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17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9B65-C81D-3721-1CDA-4926D6E3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Решение: RAII и контейнеры стандартной 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F38B5-0088-C333-FEFF-03A81A07F2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err="1"/>
              <a:t>Mesh</a:t>
            </a:r>
            <a:r>
              <a:rPr lang="ru-RU" dirty="0"/>
              <a:t> вручную управляет несколькими ресурсами при помощи </a:t>
            </a:r>
            <a:r>
              <a:rPr lang="en-US" dirty="0"/>
              <a:t>new[]/delete[]</a:t>
            </a:r>
            <a:endParaRPr lang="ru-RU" dirty="0"/>
          </a:p>
          <a:p>
            <a:pPr lvl="1"/>
            <a:r>
              <a:rPr lang="ru-RU" dirty="0"/>
              <a:t>При исключениях это приводит к утечкам памяти.</a:t>
            </a:r>
          </a:p>
          <a:p>
            <a:r>
              <a:rPr lang="ru-RU" dirty="0"/>
              <a:t>Идея решения</a:t>
            </a:r>
          </a:p>
          <a:p>
            <a:pPr lvl="1"/>
            <a:r>
              <a:rPr lang="ru-RU" dirty="0"/>
              <a:t>Один объект — один ресурс</a:t>
            </a:r>
          </a:p>
          <a:p>
            <a:pPr lvl="1"/>
            <a:r>
              <a:rPr lang="ru-RU" dirty="0"/>
              <a:t>Каждый ресурс должен принадлежать RAII-объекту.</a:t>
            </a:r>
          </a:p>
          <a:p>
            <a:r>
              <a:rPr lang="ru-RU" dirty="0"/>
              <a:t>Решение: использовать контейнеры стандартной библиотеки</a:t>
            </a:r>
          </a:p>
          <a:p>
            <a:r>
              <a:rPr lang="ru-RU" dirty="0"/>
              <a:t>Результат</a:t>
            </a:r>
          </a:p>
          <a:p>
            <a:pPr lvl="1"/>
            <a:r>
              <a:rPr lang="ru-RU" dirty="0"/>
              <a:t>нет ручного </a:t>
            </a:r>
            <a:r>
              <a:rPr lang="ru-RU" dirty="0" err="1"/>
              <a:t>delete</a:t>
            </a:r>
            <a:r>
              <a:rPr lang="ru-RU" dirty="0"/>
              <a:t>[]; </a:t>
            </a:r>
          </a:p>
          <a:p>
            <a:pPr lvl="1"/>
            <a:r>
              <a:rPr lang="ru-RU" dirty="0"/>
              <a:t>нет утечек памяти; </a:t>
            </a:r>
          </a:p>
          <a:p>
            <a:pPr lvl="1"/>
            <a:r>
              <a:rPr lang="ru-RU" dirty="0"/>
              <a:t>конструктор становится </a:t>
            </a:r>
            <a:r>
              <a:rPr lang="ru-RU" dirty="0" err="1"/>
              <a:t>exception-safe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964AF7-8759-2B23-A540-367749DB4110}"/>
              </a:ext>
            </a:extLst>
          </p:cNvPr>
          <p:cNvSpPr txBox="1"/>
          <p:nvPr/>
        </p:nvSpPr>
        <p:spPr>
          <a:xfrm>
            <a:off x="6096000" y="1825661"/>
            <a:ext cx="609372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Mesh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vertexCount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indexCount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vertexCount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,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m_indices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}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std::vector&lt;Vertex&gt;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m_indices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9357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70F7E9-3E66-4941-905F-BE87CA613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Определите гарантии безопасности метода </a:t>
            </a:r>
            <a:r>
              <a:rPr lang="en-US" dirty="0"/>
              <a:t>Pop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A16E0-5C9F-EB2E-F814-65A464EBE9AD}"/>
              </a:ext>
            </a:extLst>
          </p:cNvPr>
          <p:cNvSpPr txBox="1"/>
          <p:nvPr/>
        </p:nvSpPr>
        <p:spPr>
          <a:xfrm>
            <a:off x="838200" y="1690688"/>
            <a:ext cx="720201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 is empty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-&gt;value);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DD026A-70F2-A39F-69A3-07A25009552C}"/>
              </a:ext>
            </a:extLst>
          </p:cNvPr>
          <p:cNvSpPr/>
          <p:nvPr/>
        </p:nvSpPr>
        <p:spPr>
          <a:xfrm>
            <a:off x="5015880" y="5373216"/>
            <a:ext cx="1368152" cy="10081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Stack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5D2A6A-7E42-FFEF-2A7B-F7569B1759BB}"/>
              </a:ext>
            </a:extLst>
          </p:cNvPr>
          <p:cNvSpPr/>
          <p:nvPr/>
        </p:nvSpPr>
        <p:spPr>
          <a:xfrm>
            <a:off x="5231904" y="5877272"/>
            <a:ext cx="936104" cy="36004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m_top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73A860-B53B-C02F-4F3D-92ADABFF61D6}"/>
              </a:ext>
            </a:extLst>
          </p:cNvPr>
          <p:cNvSpPr/>
          <p:nvPr/>
        </p:nvSpPr>
        <p:spPr>
          <a:xfrm>
            <a:off x="6152546" y="3833722"/>
            <a:ext cx="1368152" cy="1008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CCC71B-FE5B-EBEB-581C-13C58C520684}"/>
              </a:ext>
            </a:extLst>
          </p:cNvPr>
          <p:cNvSpPr/>
          <p:nvPr/>
        </p:nvSpPr>
        <p:spPr>
          <a:xfrm>
            <a:off x="6368570" y="3951966"/>
            <a:ext cx="936104" cy="36004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39226A-7EA6-7A0E-A7D6-8FE026553785}"/>
              </a:ext>
            </a:extLst>
          </p:cNvPr>
          <p:cNvSpPr/>
          <p:nvPr/>
        </p:nvSpPr>
        <p:spPr>
          <a:xfrm>
            <a:off x="6368570" y="4396900"/>
            <a:ext cx="936104" cy="36004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FF2B19-515C-184C-F491-D8C2CA6A5789}"/>
              </a:ext>
            </a:extLst>
          </p:cNvPr>
          <p:cNvSpPr/>
          <p:nvPr/>
        </p:nvSpPr>
        <p:spPr>
          <a:xfrm>
            <a:off x="8060758" y="3833722"/>
            <a:ext cx="1368152" cy="1008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9144ED-69E8-F2DC-2316-F474F49799ED}"/>
              </a:ext>
            </a:extLst>
          </p:cNvPr>
          <p:cNvSpPr/>
          <p:nvPr/>
        </p:nvSpPr>
        <p:spPr>
          <a:xfrm>
            <a:off x="8276782" y="3951966"/>
            <a:ext cx="936104" cy="36004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B206CE-9994-4809-470A-65F7305D6EE6}"/>
              </a:ext>
            </a:extLst>
          </p:cNvPr>
          <p:cNvSpPr/>
          <p:nvPr/>
        </p:nvSpPr>
        <p:spPr>
          <a:xfrm>
            <a:off x="8276782" y="4396900"/>
            <a:ext cx="936104" cy="36004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86787B-1934-459A-3979-54FB22116409}"/>
              </a:ext>
            </a:extLst>
          </p:cNvPr>
          <p:cNvSpPr/>
          <p:nvPr/>
        </p:nvSpPr>
        <p:spPr>
          <a:xfrm>
            <a:off x="9824954" y="3833722"/>
            <a:ext cx="1368152" cy="10081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E0809D-BF03-F176-42C6-A64966A90029}"/>
              </a:ext>
            </a:extLst>
          </p:cNvPr>
          <p:cNvSpPr/>
          <p:nvPr/>
        </p:nvSpPr>
        <p:spPr>
          <a:xfrm>
            <a:off x="10040978" y="3951966"/>
            <a:ext cx="936104" cy="36004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129319-2CD0-4715-28AE-644AD127F3D2}"/>
              </a:ext>
            </a:extLst>
          </p:cNvPr>
          <p:cNvSpPr/>
          <p:nvPr/>
        </p:nvSpPr>
        <p:spPr>
          <a:xfrm>
            <a:off x="10040978" y="4396900"/>
            <a:ext cx="936104" cy="36004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D7A0C5-30EF-8585-232F-F2DF7E14C11E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6168008" y="4841834"/>
            <a:ext cx="668614" cy="121545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9">
            <a:extLst>
              <a:ext uri="{FF2B5EF4-FFF2-40B4-BE49-F238E27FC236}">
                <a16:creationId xmlns:a16="http://schemas.microsoft.com/office/drawing/2014/main" id="{10803708-D792-9099-E042-C98C80A44F81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7304674" y="4337778"/>
            <a:ext cx="756084" cy="2391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9">
            <a:extLst>
              <a:ext uri="{FF2B5EF4-FFF2-40B4-BE49-F238E27FC236}">
                <a16:creationId xmlns:a16="http://schemas.microsoft.com/office/drawing/2014/main" id="{83F84CA8-9B3A-1032-F688-71471DF89B42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9212886" y="4337778"/>
            <a:ext cx="612068" cy="2391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">
            <a:extLst>
              <a:ext uri="{FF2B5EF4-FFF2-40B4-BE49-F238E27FC236}">
                <a16:creationId xmlns:a16="http://schemas.microsoft.com/office/drawing/2014/main" id="{2D7177DB-A13D-6E7E-461E-1BBAEB3F03BD}"/>
              </a:ext>
            </a:extLst>
          </p:cNvPr>
          <p:cNvCxnSpPr>
            <a:cxnSpLocks/>
            <a:stCxn id="18" idx="3"/>
            <a:endCxn id="31" idx="0"/>
          </p:cNvCxnSpPr>
          <p:nvPr/>
        </p:nvCxnSpPr>
        <p:spPr>
          <a:xfrm>
            <a:off x="10977082" y="4576920"/>
            <a:ext cx="625225" cy="50331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D0A7EFC-D547-482E-892C-B045B2625636}"/>
              </a:ext>
            </a:extLst>
          </p:cNvPr>
          <p:cNvSpPr txBox="1"/>
          <p:nvPr/>
        </p:nvSpPr>
        <p:spPr>
          <a:xfrm>
            <a:off x="11038583" y="5080231"/>
            <a:ext cx="1127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onsolas" panose="020B0609020204030204" pitchFamily="49" charset="0"/>
              </a:rPr>
              <a:t>nullptr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947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DF9B-3809-3D8C-936B-53BF438E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отсутствие </a:t>
            </a:r>
            <a:r>
              <a:rPr lang="en-US" dirty="0"/>
              <a:t>strong exception guarantee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E4FF-26CE-FAF5-1E87-0E552B89B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Метод </a:t>
            </a:r>
            <a:r>
              <a:rPr lang="en-US" dirty="0"/>
              <a:t>Pop </a:t>
            </a:r>
            <a:r>
              <a:rPr lang="ru-RU" dirty="0"/>
              <a:t>не гарантирует </a:t>
            </a:r>
            <a:r>
              <a:rPr lang="en-US" dirty="0"/>
              <a:t>commit or rollback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return result</a:t>
            </a:r>
            <a:r>
              <a:rPr lang="ru-RU" dirty="0"/>
              <a:t> может выбросить исключение</a:t>
            </a:r>
          </a:p>
          <a:p>
            <a:pPr lvl="1"/>
            <a:r>
              <a:rPr lang="en-US" dirty="0"/>
              <a:t>NRVO (Named Return Value Optimization)</a:t>
            </a:r>
            <a:r>
              <a:rPr lang="ru-RU" dirty="0"/>
              <a:t> не гарантируется Стандартом</a:t>
            </a:r>
          </a:p>
          <a:p>
            <a:r>
              <a:rPr lang="ru-RU" dirty="0"/>
              <a:t>При исключении элемент из стека уже удалён</a:t>
            </a:r>
          </a:p>
          <a:p>
            <a:pPr lvl="1"/>
            <a:r>
              <a:rPr lang="ru-RU" dirty="0"/>
              <a:t>Стек всё еще валиден, но исходное состояние не вернуть</a:t>
            </a:r>
          </a:p>
          <a:p>
            <a:r>
              <a:rPr lang="ru-RU" dirty="0"/>
              <a:t>Уровень безопасности исключений метода </a:t>
            </a:r>
            <a:r>
              <a:rPr lang="en-US" dirty="0"/>
              <a:t>Pop </a:t>
            </a:r>
            <a:r>
              <a:rPr lang="ru-RU" dirty="0"/>
              <a:t>не выше базового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905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66904A-AA9E-1447-103B-161B95EEC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№1 – выходная переменная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2DFAE-B1AE-6028-5B2E-48AC2F1BD5CA}"/>
              </a:ext>
            </a:extLst>
          </p:cNvPr>
          <p:cNvSpPr txBox="1"/>
          <p:nvPr/>
        </p:nvSpPr>
        <p:spPr>
          <a:xfrm>
            <a:off x="838200" y="1690687"/>
            <a:ext cx="105156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5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5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 is empty</a:t>
            </a:r>
            <a:r>
              <a:rPr lang="en-US" sz="15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5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-&gt;value);</a:t>
            </a:r>
          </a:p>
          <a:p>
            <a:endParaRPr lang="en-US" sz="15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m_top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1F377F"/>
                </a:solidFill>
                <a:latin typeface="Consolas" panose="020B0609020204030204" pitchFamily="49" charset="0"/>
              </a:rPr>
              <a:t>oldTop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</a:rPr>
              <a:t>-&gt;next;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oldTop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5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5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5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D78695-9853-9593-486E-868AB1622514}"/>
              </a:ext>
            </a:extLst>
          </p:cNvPr>
          <p:cNvCxnSpPr>
            <a:cxnSpLocks/>
          </p:cNvCxnSpPr>
          <p:nvPr/>
        </p:nvCxnSpPr>
        <p:spPr>
          <a:xfrm>
            <a:off x="1055440" y="4149080"/>
            <a:ext cx="5904656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24407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CD2E-3759-31CF-6EF1-B331091F9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2 – возвращать </a:t>
            </a:r>
            <a:r>
              <a:rPr lang="en-US" dirty="0" err="1"/>
              <a:t>unique_ptr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BA4FE-C088-1C0F-8F4C-62245C2D5AF1}"/>
              </a:ext>
            </a:extLst>
          </p:cNvPr>
          <p:cNvSpPr txBox="1"/>
          <p:nvPr/>
        </p:nvSpPr>
        <p:spPr>
          <a:xfrm>
            <a:off x="838200" y="1690688"/>
            <a:ext cx="105156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 is empty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-&gt;value));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T*{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-&gt;next});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не бросает исключение при перемещении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 value;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Node* next;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Node*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869B77F-2FF6-64D3-A6E5-30E3A1029316}"/>
              </a:ext>
            </a:extLst>
          </p:cNvPr>
          <p:cNvCxnSpPr>
            <a:cxnSpLocks/>
          </p:cNvCxnSpPr>
          <p:nvPr/>
        </p:nvCxnSpPr>
        <p:spPr>
          <a:xfrm>
            <a:off x="1415480" y="3356992"/>
            <a:ext cx="7848872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103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E182-0935-EA3B-85C5-61D51596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№</a:t>
            </a:r>
            <a:r>
              <a:rPr lang="en-US" dirty="0"/>
              <a:t>3</a:t>
            </a:r>
            <a:r>
              <a:rPr lang="ru-RU" dirty="0"/>
              <a:t> – разделить удаление элемента и получение значения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8DD66-DCA5-4FE7-266A-4AE71593167F}"/>
              </a:ext>
            </a:extLst>
          </p:cNvPr>
          <p:cNvSpPr txBox="1"/>
          <p:nvPr/>
        </p:nvSpPr>
        <p:spPr>
          <a:xfrm>
            <a:off x="838200" y="1630898"/>
            <a:ext cx="10515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 is empty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exchange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T*{ m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-&gt;next });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 is empty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-&gt;value;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 is empty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-&gt;value;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next;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m_top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543212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0709-7CF2-8453-34AD-AC778F2C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unique_ptr</a:t>
            </a:r>
            <a:r>
              <a:rPr lang="en-US" dirty="0"/>
              <a:t> – </a:t>
            </a:r>
            <a:r>
              <a:rPr lang="ru-RU" dirty="0"/>
              <a:t>не панацея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248A1E-C231-B37F-6194-04F35E4B8573}"/>
              </a:ext>
            </a:extLst>
          </p:cNvPr>
          <p:cNvSpPr txBox="1"/>
          <p:nvPr/>
        </p:nvSpPr>
        <p:spPr>
          <a:xfrm>
            <a:off x="838200" y="1772816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Добавляет текстуру в глобальный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TextureManager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 успешного вызова ответственность за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delete texture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переходит функции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3741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5F895-0369-71B4-C7F1-221FF213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Исправляем проблему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E8486-1C82-DBA6-EF8C-BCA330718322}"/>
              </a:ext>
            </a:extLst>
          </p:cNvPr>
          <p:cNvSpPr txBox="1"/>
          <p:nvPr/>
        </p:nvSpPr>
        <p:spPr>
          <a:xfrm>
            <a:off x="838200" y="1690687"/>
            <a:ext cx="10515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Добавляет текстуру в глобальный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TextureManager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После успешного вызова ответственность за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delete texture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переходит функции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Права на удаление текстуры теперь принадлежат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TextureManager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release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Освобождаем владение текстурой, чтобы избежать двойного удаления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40511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02BC-3905-5DCA-6D25-9579FF67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Отказываемся от сырых указателей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E5C544-6D18-103A-F162-C0E7C24B5AE5}"/>
              </a:ext>
            </a:extLst>
          </p:cNvPr>
          <p:cNvSpPr txBox="1"/>
          <p:nvPr/>
        </p:nvSpPr>
        <p:spPr>
          <a:xfrm>
            <a:off x="838200" y="1690688"/>
            <a:ext cx="105156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Функция принимает владение текстурой по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unique_ptr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make_unique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RegisterTexture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LoadTextureInfo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texture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2763426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писать </a:t>
            </a:r>
            <a:r>
              <a:rPr lang="en-US" dirty="0"/>
              <a:t>exception-safe </a:t>
            </a:r>
            <a:r>
              <a:rPr lang="ru-RU" dirty="0"/>
              <a:t>код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Найти потенциально опасные операции</a:t>
            </a:r>
          </a:p>
          <a:p>
            <a:pPr lvl="1"/>
            <a:r>
              <a:rPr lang="ru-RU" dirty="0" err="1"/>
              <a:t>new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копирование/перемещение объектов </a:t>
            </a:r>
          </a:p>
          <a:p>
            <a:pPr lvl="1"/>
            <a:r>
              <a:rPr lang="ru-RU" dirty="0"/>
              <a:t>работа с файлами, сетью, STL-контейнерами </a:t>
            </a:r>
          </a:p>
          <a:p>
            <a:r>
              <a:rPr lang="ru-RU" dirty="0"/>
              <a:t>Сохранять инварианты объекта. После исключения объект должен оставаться:</a:t>
            </a:r>
          </a:p>
          <a:p>
            <a:pPr lvl="1"/>
            <a:r>
              <a:rPr lang="ru-RU" dirty="0"/>
              <a:t>валидным; </a:t>
            </a:r>
          </a:p>
          <a:p>
            <a:pPr lvl="1"/>
            <a:r>
              <a:rPr lang="ru-RU" dirty="0"/>
              <a:t>безопасным для разрушения; </a:t>
            </a:r>
          </a:p>
          <a:p>
            <a:pPr lvl="1"/>
            <a:r>
              <a:rPr lang="ru-RU" dirty="0"/>
              <a:t>пригодным к дальнейшему использованию. </a:t>
            </a:r>
          </a:p>
          <a:p>
            <a:r>
              <a:rPr lang="ru-RU" dirty="0"/>
              <a:t>Не менять состояние объекта раньше времени</a:t>
            </a:r>
          </a:p>
          <a:p>
            <a:pPr lvl="1"/>
            <a:r>
              <a:rPr lang="ru-RU" dirty="0"/>
              <a:t>Сначала выполняем небезопасные операции, не меняя состояние объекта</a:t>
            </a:r>
          </a:p>
          <a:p>
            <a:pPr lvl="1"/>
            <a:r>
              <a:rPr lang="ru-RU" dirty="0"/>
              <a:t>Потом изменить состояние объекта, используя </a:t>
            </a:r>
            <a:r>
              <a:rPr lang="en-US" dirty="0" err="1"/>
              <a:t>noexcept</a:t>
            </a:r>
            <a:r>
              <a:rPr lang="en-US" dirty="0"/>
              <a:t>-</a:t>
            </a:r>
            <a:r>
              <a:rPr lang="ru-RU" dirty="0"/>
              <a:t>операции</a:t>
            </a:r>
          </a:p>
          <a:p>
            <a:r>
              <a:rPr lang="ru-RU" dirty="0"/>
              <a:t>Использовать RAII</a:t>
            </a:r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vector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string</a:t>
            </a:r>
            <a:endParaRPr lang="ru-RU" dirty="0"/>
          </a:p>
          <a:p>
            <a:pPr lvl="1"/>
            <a:r>
              <a:rPr lang="ru-RU" dirty="0" err="1"/>
              <a:t>std</a:t>
            </a:r>
            <a:r>
              <a:rPr lang="ru-RU" dirty="0"/>
              <a:t>::</a:t>
            </a:r>
            <a:r>
              <a:rPr lang="ru-RU" dirty="0" err="1"/>
              <a:t>unique_ptr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74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Практические рекомендации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Проектирование кода</a:t>
            </a:r>
          </a:p>
          <a:p>
            <a:pPr lvl="1"/>
            <a:r>
              <a:rPr lang="ru-RU" dirty="0"/>
              <a:t>небольшие методы; </a:t>
            </a:r>
          </a:p>
          <a:p>
            <a:pPr lvl="1"/>
            <a:r>
              <a:rPr lang="ru-RU" dirty="0"/>
              <a:t>одна функция — одна ответственность; </a:t>
            </a:r>
          </a:p>
          <a:p>
            <a:pPr lvl="1"/>
            <a:r>
              <a:rPr lang="ru-RU" dirty="0"/>
              <a:t>простой и предсказуемый </a:t>
            </a:r>
            <a:r>
              <a:rPr lang="ru-RU" dirty="0" err="1"/>
              <a:t>ownership</a:t>
            </a:r>
            <a:r>
              <a:rPr lang="ru-RU" dirty="0"/>
              <a:t>. </a:t>
            </a:r>
          </a:p>
          <a:p>
            <a:r>
              <a:rPr lang="ru-RU" dirty="0"/>
              <a:t>Используйте готовые RAII-компоненты</a:t>
            </a:r>
          </a:p>
          <a:p>
            <a:pPr lvl="1"/>
            <a:r>
              <a:rPr lang="ru-RU" dirty="0"/>
              <a:t>STL-контейнеры; </a:t>
            </a:r>
          </a:p>
          <a:p>
            <a:pPr lvl="1"/>
            <a:r>
              <a:rPr lang="ru-RU" dirty="0" err="1"/>
              <a:t>smart</a:t>
            </a:r>
            <a:r>
              <a:rPr lang="ru-RU" dirty="0"/>
              <a:t> </a:t>
            </a:r>
            <a:r>
              <a:rPr lang="ru-RU" dirty="0" err="1"/>
              <a:t>pointers</a:t>
            </a:r>
            <a:r>
              <a:rPr lang="ru-RU" dirty="0"/>
              <a:t>; </a:t>
            </a:r>
          </a:p>
          <a:p>
            <a:pPr lvl="1"/>
            <a:r>
              <a:rPr lang="ru-RU" dirty="0"/>
              <a:t>файловые и потоковые классы STL. </a:t>
            </a:r>
          </a:p>
          <a:p>
            <a:r>
              <a:rPr lang="ru-RU" dirty="0"/>
              <a:t>Тестируйте аварийные сценарии</a:t>
            </a:r>
          </a:p>
          <a:p>
            <a:pPr lvl="1"/>
            <a:r>
              <a:rPr lang="ru-RU" dirty="0"/>
              <a:t>Проверяйте:</a:t>
            </a:r>
          </a:p>
          <a:p>
            <a:pPr lvl="1"/>
            <a:r>
              <a:rPr lang="ru-RU" dirty="0"/>
              <a:t>нехватку памяти; </a:t>
            </a:r>
          </a:p>
          <a:p>
            <a:pPr lvl="1"/>
            <a:r>
              <a:rPr lang="ru-RU" dirty="0"/>
              <a:t>ошибки файловых операций; </a:t>
            </a:r>
          </a:p>
          <a:p>
            <a:pPr lvl="1"/>
            <a:r>
              <a:rPr lang="ru-RU" dirty="0"/>
              <a:t>исключения в </a:t>
            </a:r>
            <a:r>
              <a:rPr lang="ru-RU" dirty="0" err="1"/>
              <a:t>copy</a:t>
            </a:r>
            <a:r>
              <a:rPr lang="ru-RU" dirty="0"/>
              <a:t>/</a:t>
            </a:r>
            <a:r>
              <a:rPr lang="ru-RU" dirty="0" err="1"/>
              <a:t>move</a:t>
            </a:r>
            <a:r>
              <a:rPr lang="ru-RU" dirty="0"/>
              <a:t>-конструкторах. </a:t>
            </a:r>
          </a:p>
          <a:p>
            <a:r>
              <a:rPr lang="ru-RU" dirty="0"/>
              <a:t>Используйте инструменты анализа</a:t>
            </a:r>
          </a:p>
          <a:p>
            <a:pPr lvl="1"/>
            <a:r>
              <a:rPr lang="ru-RU" dirty="0" err="1"/>
              <a:t>sanitizers</a:t>
            </a:r>
            <a:r>
              <a:rPr lang="ru-RU" dirty="0"/>
              <a:t>; </a:t>
            </a:r>
          </a:p>
          <a:p>
            <a:pPr lvl="1"/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analysis</a:t>
            </a:r>
            <a:r>
              <a:rPr lang="ru-RU" dirty="0"/>
              <a:t>; </a:t>
            </a:r>
          </a:p>
          <a:p>
            <a:pPr lvl="1"/>
            <a:r>
              <a:rPr lang="ru-RU" dirty="0" err="1"/>
              <a:t>detectors</a:t>
            </a:r>
            <a:r>
              <a:rPr lang="ru-RU" dirty="0"/>
              <a:t> утечек памяти.</a:t>
            </a:r>
          </a:p>
        </p:txBody>
      </p:sp>
    </p:spTree>
    <p:extLst>
      <p:ext uri="{BB962C8B-B14F-4D97-AF65-F5344CB8AC3E}">
        <p14:creationId xmlns:p14="http://schemas.microsoft.com/office/powerpoint/2010/main" val="332153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Understanding C++ Streams and Stream Buffers</a:t>
            </a:r>
            <a:endParaRPr lang="ru-RU" dirty="0"/>
          </a:p>
          <a:p>
            <a:r>
              <a:rPr lang="en-US" dirty="0">
                <a:hlinkClick r:id="rId4"/>
              </a:rPr>
              <a:t>Resource Acquisition Is Initialization</a:t>
            </a:r>
            <a:endParaRPr lang="en-US" dirty="0"/>
          </a:p>
          <a:p>
            <a:r>
              <a:rPr lang="en-US" dirty="0">
                <a:hlinkClick r:id="rId5"/>
              </a:rPr>
              <a:t>Exception Safety in Generic Components</a:t>
            </a:r>
            <a:endParaRPr lang="en-US" dirty="0"/>
          </a:p>
          <a:p>
            <a:r>
              <a:rPr lang="en-US" dirty="0">
                <a:hlinkClick r:id="rId6"/>
              </a:rPr>
              <a:t>Exception Safety</a:t>
            </a:r>
            <a:endParaRPr lang="en-US" dirty="0"/>
          </a:p>
          <a:p>
            <a:r>
              <a:rPr lang="ru-RU" dirty="0">
                <a:hlinkClick r:id="rId7"/>
              </a:rPr>
              <a:t>Инвариант (программирование)</a:t>
            </a:r>
            <a:endParaRPr lang="ru-RU" dirty="0"/>
          </a:p>
          <a:p>
            <a:r>
              <a:rPr lang="en-US" dirty="0">
                <a:hlinkClick r:id="rId8"/>
              </a:rPr>
              <a:t>Constructor Failures</a:t>
            </a:r>
            <a:endParaRPr lang="en-US" dirty="0"/>
          </a:p>
          <a:p>
            <a:r>
              <a:rPr lang="en-US" dirty="0">
                <a:hlinkClick r:id="rId9"/>
              </a:rPr>
              <a:t>Uncaught Exceptions</a:t>
            </a:r>
            <a:endParaRPr lang="en-US" dirty="0"/>
          </a:p>
          <a:p>
            <a:r>
              <a:rPr lang="en-US" dirty="0">
                <a:hlinkClick r:id="rId10"/>
              </a:rPr>
              <a:t>C++ without new and delete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60255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53fea696da81c93717ec2ecfb5adc6264b7ffc8"/>
  <p:tag name="ISPRING_ULTRA_SCORM_COURSE_ID" val="F6C3D2F5-2A6D-4464-BA31-225C2956892C"/>
  <p:tag name="ISPRING_SCORM_RATE_SLIDES" val="1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CLOUDFOLDERDOMAIN" val="https://ispringcloud.com"/>
  <p:tag name="ISPRING_PLAYERS_CUSTOMIZATION" val="UEsDBBQAAgAIANMBhUZaf7mZOgQAAOEOAAAdAAAAdW5pdmVyc2FsL2NvbW1vbl9tZXNzYWdlcy5sbmetV/9u2zYQ/r9A34EQUGADtrQd0KIYEge0xNhCZMmV6DjZDwiMxNhEKDGTKLfZX32aPtieZEfKbuymg6R0gG2YtO+7091335HHpx8LiTa8qoUqT5zXR68cxMtM5aJcnTgLevbzOwfVmpU5k6rkJ06pHHQ6ev7sWLJy1bAVh+/PnyF0XPC6hmU9MquHNRL5iTMfp240m+PwKg2iSZSO/YkzclVxx8p7FKiV+qP64Ze37z6+fvP2x+OXW8s+QMkMB8EhFLJIb171AAppHAUpoJEgDckldUbmc5hdtKCBHxJntP0yzHoekwtnZD477RZxTEKaJoHvkdRP0jCiNhcBocRzRleqQWu24UgrtBH8A9JrDpXUouKoliK3P2QKNsqGdznzohn2wzQmCY19l/pR6IwSVVX3P1lY1ui1qsBdjXJRs2vJc+sTOGN/v6t4Da6ZBk4heOm1gH+qgonyqNN1jJd+OElpFAVJSkJvt+OMSJkjr2LGzUCUGCckBoCK1bx6gm1qWWbNEZZyGMLUn0wDeFMTwlSs1hLeemgccwI1mPOyywo4QmJgV5Iso9gzSQNXiKE7VtcfVJUf8GO/UF3AfuhGQEGX7oFTg7EDhhoLUI6q4pnuApuRJMETko6jSyAy9F00xCI6h3Y7H2JxRRJoEZJ02YT4wp9gQ3jTYjv+7/orY4bO8h6xLAM7k76NUE0NOyal0AW20+phXhLyfgFV83HwjS5uASGxtl4rseEQQpV3swc0xSWe4c/7hf9beob9gHgpEMqLlim1YmecMZCHUmnEpFTmAcAvyzeszDi65hlrgPD38Ldc5PZvptg2kr8a8TdieistL7aqFHrk8sXRwNAOhOxxhEVTQ3ha8+JOd7neC/8pURhi/2cIfR59oP+kbdaxDx0wFqq/BQF5NoIEiir7W/nhGTiatz0PouCXNwN8htEWIFToqRgXkKqDEC4ghQPsl2Sc+BSG7ZJf10J3zjFb2bZA3y5qBgcHyTV/KOw1v1HQE5KzTTvOQNZspTsLujctD7SH+jSAkEMAXLUjESClKCD+vAfmYkZ2GWgl4+BJlqqRuW1RKW6tbEBum4I/nsM3lSrsrmT1jrytap1+TxTtw8Wt0/mAeZIQHLvT1MWhS8wRzjSN7GkEXDQxBTRJAzw25kDKgulsDVp5o5oy7wnUnsI8coYBbJvShLMqW//z6XNPjK8iaXfRdvfXQSDQYUaIyBew30Olef1nFwjF40M7u+hjtT217ux6HmKpD3T4X06HrNX0QhWwddTtF9i2LRqmFLvTGRAysfxTTZV1j959hBmOz0FU7PnKGc1YdQuKRJWSg1Bsqg0B9TDvDxeHRktR8iG236fp5oGpP0+x59lbFDSfFNltO7xyOCtm2+uUhOtUXzB3ikMQvK/weC70QEA7I3byAo3erh/afPN4ZHxZ1fYyevxy7276L1BLAwQUAAIACADTAYVG+L4gds8DAAAxDwAAJwAAAHVuaXZlcnNhbC9mbGFzaF9wdWJsaXNoaW5nX3NldHRpbmdzLnhtbNVXX3PaOBB/51NofNPHYtKQS8IYMpnETJgSoNi5a6dzkxH2gnWRJdeSofSpn+Y+2H2SW1kJgUJac53c5J4Sr3Z/+++3K+SdfU45mUOumBRt56DecAiISMZMzNrOTdh9feIQpamIKZcC2o6QDjnr1LysmHCmkgC0RlVFEEaoVqbbTqJ11nLdxWJRZyrLzankhUZ8VY9k6mY5KBAacjfjdIl/9DID5XRqNUI8K7qWccGBsBhDEMxER3mXU5U4rlWb0OhulstCxBeSy5zks0nb+eWwcXjaPHjQsVCXLAVhklMdFBqxbtE4ZiYeygP2BUgCbJZg4MdNhyxYrJO286ZpUFDb3UYpsW0O1KBcSExG6Hv4FDSNqab20/rT8FmrB4EVxUtBUxaFeEJM/m3nMrwN+r1L/3YwDP3g9iq87tsY9jAK/ffhHkZhL+z7++hXhb/6MPLH/d7g7W04HPbD3ujRCiu6URDP3ayYh5WVRR7BqmCeTop0IijjSLZvyqhAI105zWcQyi7DJk4pV+CQPzOYvSsoZ3qJrG4gq+8AsnOVQaTHpm1tR+cFOI9wFhADw16uKHF0uqLE8clG6q71/pjWzig9qjWNEiQPysrQPHdd9KA2lWIjNfNNJpLHq4QgnUA8oCmsjURwx0QXNQ8cMsUmcEz1PGeUO4RpTD1aGatiojTT5RB21zUJYuGwA7kOtkoRJTRXGxVfVd0QP+p8HEgN6g9bCit6SvV3WfCYLGVBOLsDoiXBNhcp/pcAWR8mMs1lWkpx3DVRnGFwcwYLiM+qOPqALtICLXHTZBy09fCpYF/IBKYyR1ygc9xJKGfK4tf3As6oUo+g9CHGV3ZEeoNL//0rkyCN51REe4IjNyDN9HPgU8xdSHTBucRqrkFgZSJaKCj7E7O4VKuSZmXfCZ2XTTeNLEGx3QzjsZh4ECGLmSigKmBEBZGCLwmNcFMoQ6E5k4VCiSWLhVb/KkBrSpgoQ53hsKGzPIa8Clrj4M1h8+jX45PTVt39++tfr79rdL89R5wab3Z9Xjy5nqtZfbOkf2D0nVW9ZduVeWoYGm853X393K/J7UXiuWbB7d535Vp+iesu8M/HF1dk7Ac3/TBoVSHDQBIsWJQgm6bmx0oVm+FNiO3wq6iOxv5vlcLAvlSaBD+oBDeslMfbKlpjew2M1q6ASiHgDp/ZCwO3OGcpQ1b+L8bzqUn5+cn+T6bzp36N2NF+pukEmkcJdvTZWPDit99zlvclVcx+rd4PGw8Gz935NDMnKRMsxTqa2331nuscNRv4BNl5VKsh2uYzt1P7B1BLAwQUAAIACADTAYVG+I9ldNECAABYCgAAIQAAAHVuaXZlcnNhbC9mbGFzaF9za2luX3NldHRpbmdzLnhtbJVW226jMBB971dE2feyCUlaJDdSSVqpUndbbau+G5iAFWMj26Sbv18bTDEklGykSvGZczwXz0yK5J6w9dVkgmJOuXgDpQhLpUEabEKSu2lUKsXZdcyZAqauGRc5ptP1j9nK36xmyKuYYyp+AKE188XyNghHNDscQ+vm9mbjP24vkVgfYbANhwUxzwvMjs885dcRjvep4CVLtOyx+gzJsmMBghK2N0kEq/twPsSkRKonBXknpu3qYTN8eVdSCJASktFqfakojoA2nhb+IlzeXKhpXX2ffU92IJKoSrZcrMJgMSQrcArdIvs//WAxG+YzfXtHMH9Y+cHye4GCv2q0xgXFRxDdy2fb+aM/rOBFWfxPjxSCp6agvQwCf+mPayjHiR6/y52YhIyj0RGx5TlpDPvVnXtkxlVw+mrq2lsI5tEjCmslSkBec6ptMuOfL6XS89HYXaTlvOqYX3EpYb3DVFpaC7bEP/BJWOKyLNJSPjgtc9jUAbvMrqEVbDZhtSxc7hfmxCjgYME2FQdsmb91YU+YDtgy3yhJ4IXR42kEfVMtal45xPY9nQew4s4LaDMwrI+JDaU5NVbj6tkMr3RitUDDyXkCa2nieSc5mKdDXoXVMXknQSGGDyTFinD2y/CiY5WNRF7PYLvtfG8hRRSFcy1XxagXtVuv6nw1WhBU/zC0ydXnidJ7/G6KlcJxlusfJjmdWJ0eFF2YqXdeYTalpoN4YjvuaCrfQ6Iciz2Id87ppW4YVyAvvZ7X8zVER55TA+SdrzKyl5wrPyvzCMSDfjUCsqlyF6yJGUkzqv/UB4FPSHqKAWstVZm+j2Hy1ZcOYJsAsIizpmvrQ23JS6oIhQNQa3WAKuWh3JDUXTrUcPfqGXbKbTmLXNSTdlm0vdJdIg5+hv+hw+pc3LNc0PYKR7LKrDP5zSZ2ru4s52ahme5zd1l1ts3UuVnbT0uoQfMf5T9QSwMEFAACAAgA0wGFRmxqTtykAwAAQg4AACYAAAB1bml2ZXJzYWwvaHRtbF9wdWJsaXNoaW5nX3NldHRpbmdzLnhtbNVXwXLbNhC96ysw7OQY0Y6d2tZQ8nhseqyJIikS3SaT6XggYiWiBgEGAKUop3xNP6xf0gVhy1ZkO1SbpO1J4nL37e7bxSMZHX/MBZmDNlzJdrDb3AkIyFQxLmft4DI5f34YEGOpZFQoCe1AqoAcdxpRUU4EN9kYrEVXQxBGmlZh20FmbdEKw8Vi0eSm0O6uEqVFfNNMVR4WGgxICzosBF3ij10WYIJOo0FI5E2vFSsFEM6wBMlddVRc2FwEofea0PR6plUp2akSShM9m7SDn/Z29o72d299PNIZz0G63kwHjc5sW5Qx7sqhYsw/AcmAzzKs+2A/IAvObNYOXuw7FPQON1EqbN8CdSinCnuR9gY+B0sZtdRf+nwWPlpza/AmtpQ052mCd4hrvx2cJVfjXvcsvuoPknh8dZG87vkatghK4rfJFkFJN+nF2/jXhb94N4xHvW7/1VUyGPSS7vAuChldIyQK1xmLkFlV6hRWhEU2K/OJpFzgrn1BowGL2yqonkGizjkOcUqFgYD8XsDsTUkFt0tc6h1c6muA4sQUkNqRG1s7sLqE4A7OA2JhOMvVSrw8Wq3EweFa66HPftfWg1VG1FqaZrg8aKtKi8L7plu3qZJrrblrMlGCrRqaIssCeznRnIqAcIu9pau71jFgz7lA/l3sbnMq7UZzaUa1WeNwxaNb5bTzvq8smN98c970mOuvqhSMLFVJBL8GYhXBwZU5/suA3D8eZKpVXlkFNZYYwRmQOYcFsOM6id5hirzESJSOQoD1GT6U/BOZwFRpxAU6R5FBOzcev7kVcEGNuQOltzU+80vf7Z/Fb5+5BimbU5luCY7Thryw3wOfYu9SYQohFLJ5DwKZSWlpoJoP46xyq9Nm7dwZnVdDd4OsQHHcHOvxmHgjxS3ksoS6gCmVREmxJDTFs2/cCs25Kg1a/LJ4aPO3CvShhMuq1Bk+UDCZZqDroO3svtjbf/nzweFRqxn++fmP508G3ejhUFCXzQvi6aOCWy/qC9n9StAT4rsRe6507jaUbSR9+IFyI3ybQhKFTnYeVrBKaH+MgI3jk9HpBRnF48teMm7VGW9fEaQgzXA/pu6Fok7M4DJBguM6rsNR/EutMpDpWrsdj2vBDWr18aqO18gL+/CeqNcqAVV55h8BqMuC5xz37H9x4B7b/X9+Vn/IeXv6jcGfxm913oDqNMMZfbe5/vsK9U0J+y9x4K9W7+FrL95R+OAnTgPt6999ncZfUEsDBBQAAgAIANMBhUYJC5M8rQEAACIGAAAfAAAAdW5pdmVyc2FsL2h0bWxfc2tpbl9zZXR0aW5ncy5qc42UXU/CMBSG7/kVZN4aInSbzjvHR2LChYncGS/KOIyFrm3aMkXCf3cbCGt3pvZqffPkPV/rOfT65fESr//YP9Tf9f3FvtcaVJpRO7i1ddah55XuaZatYJHlwDIOnoMUFbKmTMNFP14RzNnjtety/1r56oahJxBaXgI0RIWAGgMLBPzAwE9M/LKLOxd2KqrR6uXOGMEHieAGuBlwoXJaM97NMCTjcNis0YFFAeqEjvzgIYoRdE0TsEwf7sdkNukir45xNIltLhG5pHw/F6kYLGmyTZXY8dWJntWnSW/2ElQ59O05wSh8ikdNgGXaPBvI3cCTcDq2rWxSKtAaVl11X2BGl8Aavj7x4+D+F9Qybhfk0EWmM/NDB34YR36TljSFVpfIHYn8oY3x0svlRtOQREGbM/BpupokGd2DalkNJ6MZsUEhd/IfA5RKpFVH2tlFJCA4ygRdZTz907JKtrLt+iWvhZ6nZj0h4TyhDfb88q7l4YIaAc2PZsXVTtw5ZscwkSMxBAZKBCzwRWLcRVLd3/oeNYYmm7zcD+V6LPtA1RbUQghWpv/+V6JurN7xG1BLAwQUAAIACADTAYVG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0wGFRguaitlvAAAAdwAAABwAAAB1bml2ZXJzYWwvbG9jYWxfc2V0dGluZ3MueG1sDYy7DsIwDAD3foXlvTw2hqYdkNhgafkAqzEokmOjJK3g7/F2J51umL5ZYOdSk2nA8+GEwLpaTPoO+Fxu/QWhNtJIYsoB1RCmsRvEVpKZW/Owwkfox2Xh7ND4QdnLObkxXG0rlaGHu09fiSMex+4PUEsDBBQAAgAIAAiSg0b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NMBhUY+LLKTcgEAAPwCAAApAAAAdW5pdmVyc2FsL3NraW5fY3VzdG9taXphdGlvbl9zZXR0aW5ncy54bWyNUttq3DAQfe9XiPzAShrdDM6Cbi6GloZuQh+Du1aLaSIXS6Gh6OMrp10222xJNU8z58wZZnTa9G2K9iHl+X76OeRpjruQ8xS/pu0bhNr9fDcvV0tIIafNsfJpiuP8o49f5rVWqykPcRyW0a5o2mLUPT2kpFZO1YwZRpFknnqFnOe2Yg24BmzFHCW23fwl8Vt3CfsQ83nVdnOCvmzoYwpL7uMYHrdwyn4OnW7wdhnGqfLSVrA1ymFqcWwNxAiX3BeqAUAgyx1xuEjZSE2Qx4xjKEZRoIAI56QRhUjKoWZdI6oK841ATDJGXaGe1m6ktXHUFgkNIbpO86qxpeuMxBgRQoC5wgV0BqPKhqqhQa0HBAcGRNFGEwWos53pWPHOC8uRol5gXJgxgPHxuMftnp/rWP3vdQ7nfEXw7BecRVdvbc6Yq90/LEslX4f773dDDujzkEI/Xl7s+vdX7/yt/XDzcecv/pjzycgH6urYuvo/Df4LUEsDBBQAAgAIANQBhUYEfPyF1QkAANkeAAAXAAAAdW5pdmVyc2FsL3VuaXZlcnNhbC5wbmftmX9cUvcax2nVslrZ1pyvzB9tS125cmbMMIK5m5l3U3PNTFO0/JXSNCQlVGDb3a0pU9y4NxFRN2tppZA5VDRh1VU0AfM2QQeKE4VbRyVFfsjhxw5ud93X6/5179/8wTmv5+H7fh7O8znnec6Lb+mx6IhNGzw2wGCwTZFHD38Eg62JgsFW57u8CHmqXoXLoNMq/EcR78PYEs8nkLEmKywqDAZrpW20nF4L2evPH03Aw2CbHzg+q4R5TekwmHdu5OGwjy9i5sbvUVs0yT8ugPGdgKT229T4VTf2vuCxpTvIJTxsj1vivWupV7fA0932uPz52N+Olf31DJz6yneHd46NxoVfeDP22Mub3pi6vuOCfxrFvc48rS/WiqqrD/YgdNtM54dYOpSWZURo9tZp72pq17nLZUrrAzSmxCBL6b5oowcil772MZ2Gft+nbVyP/qXKJ2+AMkLDQEA95dC61ZBb4f44Qip7cHaxMa+ndvsLDk/I40jvI3QKaLT3b4Js2PytJ76u6uCD+h2Q8SMJ3jN9L3jI+jHKBTLPp0QFEo+5OpYpCA3rodN7W6Ic1udnHbG2HN7qSL2D6XCtGV4DHXd86ecwwvavgo4uTsSJOBEn4kSciBNxIk7EiTgRJ+JEnIgTcSJOxIk4ESfyvyIXn1nrLT0bHX7U0f87lqzMz8e6tN29/qJ1u3sgf9nWO5hH0U1xOXZXfwaihleDYPGaES/CYJMDo7IfuJngbYYGTTa42g3XuDPnDqZJTT8bL/ci7f68dhSCidTdr9qLIRlPLacjxkUzomwxHErSAaTVgw8TbIsU6RX8uQJR95jaU7akY2JmTDEF+fuXf3JXDvr368UsadJqGOx8sdpdqrFkl6ZYFtEzOG1mjUfxZjW3Z47+SnSFn2QfjxTcuPJftaJi2dT3QZ41iz0gifQC2X0sOrE8T3c11D+CXvSRIum33Gns4lhsK/64kH8rSJOJAUINwJaould+i6BIAhqkpzVNFZT4NIk4jqPNd2sYON6g9oBqVlNNy2HpCj6syNlcCFd7ioUXnppifJlI3xw2VLnOajz/WfYNxOgIAw+nnOCpJ1/9gwRAE1Y7bQZYI8jZHBGieH6EM4NMGiH4MkvUtIluU2k83/xIx7Eu93JsY+s4qUijfUlrmVk3fyotU97aV0Us6ePIQfIVvUmBAcFpH4v+zY4xQSDYCTTxHEoUqWOGJoQCWyK+FbqmcxOrQ5aD/0HwiEKB/vb8BdKQva/XaHk0ZEVvDZcW6qyuNlEeOXX2i1Lu+KjQW6wKJo9PGNuahRrDz8qIOquoN4CyoOSJbaQEeVL8StFkeDo6sMTiuzxKGSBbwm2sl94BHiboMO31QYLKFJAhBxlBIFPoza0jsZjU5HKeCFmF6LPy9Z6y0g1Vtenv6EI6aP4BIrLGlkDVplWwg90Ho9h5+Y3D6eGXlwl+FzYX2WpBQ2pr+5hQslNsFZYmGocEoBXIOpRzRqbCF7dXy1UR5Cfliut8QdSKVKxcdkYswL6VCDy46rbZAJ8eDhY8666az2ohZHkhlVrBXR8g/S8RpPwpXA4K0msfQNQCgMqD1FI1iESFZedqsfb1b+GVTBpJNIwTU24CGOW0pGEAt68QbQ5IIZtGd5/jjieH00kifhSJUrMi8gFxW6DSsri+bV4uu7b1AwMo9chPuRw9aZrwsc9cNnJGcYqhYcs/ye1jQ1OMVrzyCzpJfusmYmyEMSjSbcOXAHyVh3U3MAPPrCi+P1B2RHjgB7URhyd46SaaEETWQaofrWy7ynTp1gCCv0MI0sDkwFEcqIIKYLXoLyXnSVRUPh8dipL9Lvz+jgVZfk5th8TGkAvhs3eiXU4CjwalVGCWeqiy+b3jPnJeGZO+okd9hpcOV05OQqMfMoVcK26zkKmUn8Rq1T2x+MUDDQMdeVo0ZS5vogl8F2QsE0LsQdJ3ZXH4TTDYj9k5PQU3E4ziKbK0LK23EhF8xjsF25/gyi6YxtVw6+9wUmRju4CitwJ2e6Lv4OPg/t0e+GoiCt+sU6hNalEltxCDnSeW8NFM0EhqObbfEBxfCFqkqhBHZsJrUSf2yDnb7jQDzJIOdF2boXXCBRAnpuWeWrn1Gm/opTcyx+Ol4R/KPPLX0oKw/by6AVssvcDe7EsAE3YGtIsEwFUEN5d/8/dLbSROAJ2aAz5uUQaVp5D+koE2I1KBaYNmBK3I4pcT7a2BdC5aEJLDf6m+rT9yyrel/ZRPbUJg/+LOhgEz+UZQR8vKY/v4rsUQghcXlCUY57KYnrK/C+HTiVXeq+8pCGP3KbXEoNdP1547b9kY3Ni0IvGssFWqFsKNcbLBrUmZ3SOrDADvbSw5sKb7uLj4qnoaN/8286u4R9J7tDiGIURW9EC8kz2nBscKlUr+XFHbXqzo7rAM1WdGAAs8UskDmv7ISflsmsG6p3iSV8HEQsWI1tEFpB7sZ7PSLo73du6lpPqPD9j0LOFc1tjQyWo5Vxw3woI6TIZBNTr06rbGw3T9Ljr3Up28jaMqMkeG04l5P7GQktoj9CC37PrJ2Izs3sqMiU+FAU8rqpeq+61L14Nw6fPoxOH0Q6gOzVqmHESpy2/3NYPe3KHXHRMD6YUp0VmTCMkjzWFZtfG08jI/sDHgxFGGvM12iO1DAzFZjK+4mT1sJm1FCY4VwRFUHKwYTkf3ZUgHg9HB7mktczLcUBFlrhhZenaftpRJG1QQ9383stLpu2hkczk1Xmk9we5hn3kNoFHd9VRj0Mup8ylBGbnoh6jcN+53CaJfOxAuFrL7kjLrZDiU+vE2vD30s8k79Jcyo9WGhWul3Hrrm5FYcp5H5RVioKi4Qa3a97wVEw0zrpj7v/CbeI5ObVTcShnkdW4Ynt4Vu3Kv60lT+rznrRp0jCJi5+4/vhffXZKKUfOLp4/jb0O9NseWKClAX2n70i+mdEWhXHW1O//CVaCmZPQnTygCzzyq4X+DP/88g1gM35PjVVjx1ESApgjJwiUs/ucY8cJ/Qk2k1taEGpLLESEhPRUD89Nn8+ujsV0B/x5zde7KErQsXXOG/UussKfmk5xZHkPWWQF2QePQ+L1k/Ht5cyq07ge8gD8QJ72iuXu9XlaIUYXOA6EIpqKD+i9kdsxU+FoY7Ftxb9gQLqp4hDvDYz/RMHJV9zkR0LAMiplWxGC7NgZf/m3d5LDkk6jipz8v8n3su9huK68Tktr/fp/4Yh3a8I1A4fDfrsEsTsr4z6Kfb5k+M9rNKcvPN1R7OwRkgCao2w77fQdWDZzeX81RUgBO/p8cQcEz5n6zORryEezq+kCyTZciDnMs1uQU9V/42g52dZpSvlVy1/cxp886/JHh0YfZ76d+/itQSwMEFAACAAgA1AGFRtIooFJKAAAAawAAABsAAAB1bml2ZXJzYWwvdW5pdmVyc2FsLnBuZy54bWyzsa/IzVEoSy0qzszPs1Uy1DNQsrfj5bIpKEoty0wtV6gAihnpGUCAkkIlKrc8M6UkAyhkYG6OEMxIzUzPKLFVsjCwgAvqA80EAFBLAQIAABQAAgAIANMBhUZaf7mZOgQAAOEOAAAdAAAAAAAAAAEAAAAAAAAAAAB1bml2ZXJzYWwvY29tbW9uX21lc3NhZ2VzLmxuZ1BLAQIAABQAAgAIANMBhUb4viB2zwMAADEPAAAnAAAAAAAAAAEAAAAAAHUEAAB1bml2ZXJzYWwvZmxhc2hfcHVibGlzaGluZ19zZXR0aW5ncy54bWxQSwECAAAUAAIACADTAYVG+I9ldNECAABYCgAAIQAAAAAAAAABAAAAAACJCAAAdW5pdmVyc2FsL2ZsYXNoX3NraW5fc2V0dGluZ3MueG1sUEsBAgAAFAACAAgA0wGFRmxqTtykAwAAQg4AACYAAAAAAAAAAQAAAAAAmQsAAHVuaXZlcnNhbC9odG1sX3B1Ymxpc2hpbmdfc2V0dGluZ3MueG1sUEsBAgAAFAACAAgA0wGFRgkLkzytAQAAIgYAAB8AAAAAAAAAAQAAAAAAgQ8AAHVuaXZlcnNhbC9odG1sX3NraW5fc2V0dGluZ3MuanNQSwECAAAUAAIACADTAYVGGtrqO6oAAAAfAQAAGgAAAAAAAAABAAAAAABrEQAAdW5pdmVyc2FsL2kxOG5fcHJlc2V0cy54bWxQSwECAAAUAAIACADTAYVGC5qK2W8AAAB3AAAAHAAAAAAAAAABAAAAAABNEgAAdW5pdmVyc2FsL2xvY2FsX3NldHRpbmdzLnhtbFBLAQIAABQAAgAIAAiSg0bOggk37AIAAIgIAAAUAAAAAAAAAAEAAAAAAPYSAAB1bml2ZXJzYWwvcGxheWVyLnhtbFBLAQIAABQAAgAIANMBhUY+LLKTcgEAAPwCAAApAAAAAAAAAAEAAAAAABQWAAB1bml2ZXJzYWwvc2tpbl9jdXN0b21pemF0aW9uX3NldHRpbmdzLnhtbFBLAQIAABQAAgAIANQBhUYEfPyF1QkAANkeAAAXAAAAAAAAAAAAAAAAAM0XAAB1bml2ZXJzYWwvdW5pdmVyc2FsLnBuZ1BLAQIAABQAAgAIANQBhUbSKKBSSgAAAGsAAAAbAAAAAAAAAAEAAAAAANchAAB1bml2ZXJzYWwvdW5pdmVyc2FsLnBuZy54bWxQSwUGAAAAAAsACwBJAwAAWiIAAAAA"/>
  <p:tag name="ISPRING_PRESENTATION_TITLE" val="Лекция 05 - Обработка ошибок и исключительных ситуаций"/>
  <p:tag name="ISPRING_RESOURCE_PATHS_HASH_PRESENTER" val="65d2451fbd3356b6d848fd5dbce437795cf884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7122</TotalTime>
  <Words>13511</Words>
  <Application>Microsoft Office PowerPoint</Application>
  <PresentationFormat>Widescreen</PresentationFormat>
  <Paragraphs>2191</Paragraphs>
  <Slides>76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5" baseType="lpstr">
      <vt:lpstr>Aptos</vt:lpstr>
      <vt:lpstr>Aptos Display</vt:lpstr>
      <vt:lpstr>Arial</vt:lpstr>
      <vt:lpstr>Calibri</vt:lpstr>
      <vt:lpstr>Cascadia Mono</vt:lpstr>
      <vt:lpstr>Consolas</vt:lpstr>
      <vt:lpstr>Courier New</vt:lpstr>
      <vt:lpstr>Segoe UI</vt:lpstr>
      <vt:lpstr>Office Theme</vt:lpstr>
      <vt:lpstr>Обработка исключений в C++</vt:lpstr>
      <vt:lpstr>Ошибки во время выполнения программы</vt:lpstr>
      <vt:lpstr>Способы обработки ошибок</vt:lpstr>
      <vt:lpstr>Проблема: обработка ошибки в конструкторе</vt:lpstr>
      <vt:lpstr>Ошибки в перегруженных операциях</vt:lpstr>
      <vt:lpstr>Антипаттерн «Невалидный объект»</vt:lpstr>
      <vt:lpstr>Нелокальная обработка ошибок</vt:lpstr>
      <vt:lpstr>Механизм исключений</vt:lpstr>
      <vt:lpstr>Когда использовать исключения</vt:lpstr>
      <vt:lpstr>try-блок</vt:lpstr>
      <vt:lpstr>throw – выброс исключения</vt:lpstr>
      <vt:lpstr>Классы как объекты исключений</vt:lpstr>
      <vt:lpstr>Исправляем Rational через исключения</vt:lpstr>
      <vt:lpstr>Класс для отслеживания времени жизни</vt:lpstr>
      <vt:lpstr>Штатное выполнение</vt:lpstr>
      <vt:lpstr>Завершение программы через abort</vt:lpstr>
      <vt:lpstr>Выбрасывание исключения</vt:lpstr>
      <vt:lpstr>Правила выбрасывания и перехвата исключений</vt:lpstr>
      <vt:lpstr>Срезка (slicing)</vt:lpstr>
      <vt:lpstr>Срезка при catch по значению</vt:lpstr>
      <vt:lpstr>PowerPoint Presentation</vt:lpstr>
      <vt:lpstr>Перевыброс исключения</vt:lpstr>
      <vt:lpstr>PowerPoint Presentation</vt:lpstr>
      <vt:lpstr>Стандартные классы исключений библиотеки STL</vt:lpstr>
      <vt:lpstr>Некоторые стандартные классы исключений</vt:lpstr>
      <vt:lpstr>Плюсы и минусы исключений</vt:lpstr>
      <vt:lpstr>Исключение в конструкторе</vt:lpstr>
      <vt:lpstr>Пример</vt:lpstr>
      <vt:lpstr>Методы и функции, не выбрасывающие исключений</vt:lpstr>
      <vt:lpstr>Спецификатор noexcept</vt:lpstr>
      <vt:lpstr>noexcept и аварийное завершение программы</vt:lpstr>
      <vt:lpstr>Почему деструкторы не должны выбрасывать исключения</vt:lpstr>
      <vt:lpstr>Почему noexcept важен для move-операций</vt:lpstr>
      <vt:lpstr>Бенчмарк</vt:lpstr>
      <vt:lpstr>PowerPoint Presentation</vt:lpstr>
      <vt:lpstr>Exception-safe programming</vt:lpstr>
      <vt:lpstr>Гарантии безопасности исключений</vt:lpstr>
      <vt:lpstr>Небезопасный код</vt:lpstr>
      <vt:lpstr>Базовая гарантия</vt:lpstr>
      <vt:lpstr>Сильная гарантия</vt:lpstr>
      <vt:lpstr>noexcept — гарантия отсутствия исключений</vt:lpstr>
      <vt:lpstr>Спецификатор noexcept</vt:lpstr>
      <vt:lpstr>Не-noexcept move constructor</vt:lpstr>
      <vt:lpstr>noexcept(false)</vt:lpstr>
      <vt:lpstr>Пример: чтение файла и exception safety</vt:lpstr>
      <vt:lpstr>PowerPoint Presentation</vt:lpstr>
      <vt:lpstr>Проблемы кода и пути улучшения</vt:lpstr>
      <vt:lpstr>PowerPoint Presentation</vt:lpstr>
      <vt:lpstr>PowerPoint Presentation</vt:lpstr>
      <vt:lpstr>PowerPoint Presentation</vt:lpstr>
      <vt:lpstr>RAII — управление ресурсами через время жизни объектов</vt:lpstr>
      <vt:lpstr>Пример – полезная библиотека на языке C</vt:lpstr>
      <vt:lpstr>PowerPoint Presentation</vt:lpstr>
      <vt:lpstr>PowerPoint Presentation</vt:lpstr>
      <vt:lpstr>PowerPoint Presentation</vt:lpstr>
      <vt:lpstr>Видео «Scope Guards in C++ | Объекты-охранники в C++»</vt:lpstr>
      <vt:lpstr>Пример 2: exception safety собственного класса строк</vt:lpstr>
      <vt:lpstr>Код класса String</vt:lpstr>
      <vt:lpstr>Проблемы оператора присваивания</vt:lpstr>
      <vt:lpstr>Исправляем UB и решаем проблему с самоприсваиванием</vt:lpstr>
      <vt:lpstr>Copy and Swap</vt:lpstr>
      <vt:lpstr>Пример 3: exception safety в конструкторе"</vt:lpstr>
      <vt:lpstr>Проанализировать проблемы в конструкторе</vt:lpstr>
      <vt:lpstr>Проблема: утечка ресурсов при исключении</vt:lpstr>
      <vt:lpstr>Решение: RAII и контейнеры стандартной библиотеки</vt:lpstr>
      <vt:lpstr>Определите гарантии безопасности метода Pop</vt:lpstr>
      <vt:lpstr>Проблема: отсутствие strong exception guarantee</vt:lpstr>
      <vt:lpstr>Вариант №1 – выходная переменная</vt:lpstr>
      <vt:lpstr>Вариант 2 – возвращать unique_ptr</vt:lpstr>
      <vt:lpstr>Вариант №3 – разделить удаление элемента и получение значения</vt:lpstr>
      <vt:lpstr>unique_ptr – не панацея</vt:lpstr>
      <vt:lpstr> Исправляем проблему</vt:lpstr>
      <vt:lpstr>Отказываемся от сырых указателей</vt:lpstr>
      <vt:lpstr>Как писать exception-safe код</vt:lpstr>
      <vt:lpstr>Практические рекомендации</vt:lpstr>
      <vt:lpstr>Ссылки</vt:lpstr>
    </vt:vector>
  </TitlesOfParts>
  <Company>Brainwave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05 - Обработка ошибок и исключительных ситуаций</dc:title>
  <dc:creator>Aleksey Malov</dc:creator>
  <cp:lastModifiedBy>Алексей Малов</cp:lastModifiedBy>
  <cp:revision>427</cp:revision>
  <dcterms:created xsi:type="dcterms:W3CDTF">2007-04-12T21:07:55Z</dcterms:created>
  <dcterms:modified xsi:type="dcterms:W3CDTF">2026-05-11T12:45:13Z</dcterms:modified>
</cp:coreProperties>
</file>