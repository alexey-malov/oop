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06"/>
  </p:notesMasterIdLst>
  <p:sldIdLst>
    <p:sldId id="256" r:id="rId2"/>
    <p:sldId id="257" r:id="rId3"/>
    <p:sldId id="397" r:id="rId4"/>
    <p:sldId id="303" r:id="rId5"/>
    <p:sldId id="398" r:id="rId6"/>
    <p:sldId id="399" r:id="rId7"/>
    <p:sldId id="324" r:id="rId8"/>
    <p:sldId id="325" r:id="rId9"/>
    <p:sldId id="326" r:id="rId10"/>
    <p:sldId id="304" r:id="rId11"/>
    <p:sldId id="400" r:id="rId12"/>
    <p:sldId id="401" r:id="rId13"/>
    <p:sldId id="313" r:id="rId14"/>
    <p:sldId id="402" r:id="rId15"/>
    <p:sldId id="403" r:id="rId16"/>
    <p:sldId id="291" r:id="rId17"/>
    <p:sldId id="404" r:id="rId18"/>
    <p:sldId id="405" r:id="rId19"/>
    <p:sldId id="406" r:id="rId20"/>
    <p:sldId id="295" r:id="rId21"/>
    <p:sldId id="296" r:id="rId22"/>
    <p:sldId id="263" r:id="rId23"/>
    <p:sldId id="407" r:id="rId24"/>
    <p:sldId id="365" r:id="rId25"/>
    <p:sldId id="366" r:id="rId26"/>
    <p:sldId id="408" r:id="rId27"/>
    <p:sldId id="409" r:id="rId28"/>
    <p:sldId id="410" r:id="rId29"/>
    <p:sldId id="389" r:id="rId30"/>
    <p:sldId id="390" r:id="rId31"/>
    <p:sldId id="391" r:id="rId32"/>
    <p:sldId id="392" r:id="rId33"/>
    <p:sldId id="393" r:id="rId34"/>
    <p:sldId id="411" r:id="rId35"/>
    <p:sldId id="394" r:id="rId36"/>
    <p:sldId id="395" r:id="rId37"/>
    <p:sldId id="396" r:id="rId38"/>
    <p:sldId id="299" r:id="rId39"/>
    <p:sldId id="300" r:id="rId40"/>
    <p:sldId id="369" r:id="rId41"/>
    <p:sldId id="333" r:id="rId42"/>
    <p:sldId id="412" r:id="rId43"/>
    <p:sldId id="367" r:id="rId44"/>
    <p:sldId id="368" r:id="rId45"/>
    <p:sldId id="385" r:id="rId46"/>
    <p:sldId id="386" r:id="rId47"/>
    <p:sldId id="387" r:id="rId48"/>
    <p:sldId id="388" r:id="rId49"/>
    <p:sldId id="283" r:id="rId50"/>
    <p:sldId id="370" r:id="rId51"/>
    <p:sldId id="371" r:id="rId52"/>
    <p:sldId id="372" r:id="rId53"/>
    <p:sldId id="373" r:id="rId54"/>
    <p:sldId id="374" r:id="rId55"/>
    <p:sldId id="375" r:id="rId56"/>
    <p:sldId id="413" r:id="rId57"/>
    <p:sldId id="376" r:id="rId58"/>
    <p:sldId id="377" r:id="rId59"/>
    <p:sldId id="302" r:id="rId60"/>
    <p:sldId id="378" r:id="rId61"/>
    <p:sldId id="380" r:id="rId62"/>
    <p:sldId id="308" r:id="rId63"/>
    <p:sldId id="309" r:id="rId64"/>
    <p:sldId id="284" r:id="rId65"/>
    <p:sldId id="285" r:id="rId66"/>
    <p:sldId id="323" r:id="rId67"/>
    <p:sldId id="287" r:id="rId68"/>
    <p:sldId id="288" r:id="rId69"/>
    <p:sldId id="289" r:id="rId70"/>
    <p:sldId id="334" r:id="rId71"/>
    <p:sldId id="335" r:id="rId72"/>
    <p:sldId id="336" r:id="rId73"/>
    <p:sldId id="337" r:id="rId74"/>
    <p:sldId id="338" r:id="rId75"/>
    <p:sldId id="339" r:id="rId76"/>
    <p:sldId id="340" r:id="rId77"/>
    <p:sldId id="341" r:id="rId78"/>
    <p:sldId id="342" r:id="rId79"/>
    <p:sldId id="343" r:id="rId80"/>
    <p:sldId id="344" r:id="rId81"/>
    <p:sldId id="345" r:id="rId82"/>
    <p:sldId id="346" r:id="rId83"/>
    <p:sldId id="347" r:id="rId84"/>
    <p:sldId id="348" r:id="rId85"/>
    <p:sldId id="349" r:id="rId86"/>
    <p:sldId id="350" r:id="rId87"/>
    <p:sldId id="351" r:id="rId88"/>
    <p:sldId id="352" r:id="rId89"/>
    <p:sldId id="364" r:id="rId90"/>
    <p:sldId id="353" r:id="rId91"/>
    <p:sldId id="354" r:id="rId92"/>
    <p:sldId id="355" r:id="rId93"/>
    <p:sldId id="356" r:id="rId94"/>
    <p:sldId id="357" r:id="rId95"/>
    <p:sldId id="358" r:id="rId96"/>
    <p:sldId id="359" r:id="rId97"/>
    <p:sldId id="360" r:id="rId98"/>
    <p:sldId id="361" r:id="rId99"/>
    <p:sldId id="362" r:id="rId100"/>
    <p:sldId id="363" r:id="rId101"/>
    <p:sldId id="381" r:id="rId102"/>
    <p:sldId id="384" r:id="rId103"/>
    <p:sldId id="281" r:id="rId104"/>
    <p:sldId id="280" r:id="rId105"/>
  </p:sldIdLst>
  <p:sldSz cx="12192000" cy="6858000"/>
  <p:notesSz cx="6858000" cy="9144000"/>
  <p:custDataLst>
    <p:tags r:id="rId107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93B09C7-67C2-434F-B7D5-179A1956D1A4}">
          <p14:sldIdLst>
            <p14:sldId id="256"/>
            <p14:sldId id="257"/>
            <p14:sldId id="397"/>
          </p14:sldIdLst>
        </p14:section>
        <p14:section name="Шаблоны функций" id="{41F16F5E-CF1A-4BAC-8DA4-AB5E688A3392}">
          <p14:sldIdLst>
            <p14:sldId id="303"/>
            <p14:sldId id="398"/>
            <p14:sldId id="399"/>
            <p14:sldId id="324"/>
            <p14:sldId id="325"/>
            <p14:sldId id="326"/>
          </p14:sldIdLst>
        </p14:section>
        <p14:section name="Шаблоны классов" id="{2EA635CE-4D65-4D04-BD3A-0E63B6AE58B5}">
          <p14:sldIdLst>
            <p14:sldId id="304"/>
            <p14:sldId id="400"/>
            <p14:sldId id="401"/>
          </p14:sldIdLst>
        </p14:section>
        <p14:section name="Шаблонные операторы" id="{8D3E86CF-78E4-4EA6-8110-1D8180CDB661}">
          <p14:sldIdLst>
            <p14:sldId id="313"/>
            <p14:sldId id="402"/>
            <p14:sldId id="403"/>
          </p14:sldIdLst>
        </p14:section>
        <p14:section name="Non-type template parameters" id="{B97F5CFB-87C0-4AEA-941E-81D9E9AAB285}">
          <p14:sldIdLst>
            <p14:sldId id="291"/>
            <p14:sldId id="404"/>
            <p14:sldId id="405"/>
            <p14:sldId id="406"/>
          </p14:sldIdLst>
        </p14:section>
        <p14:section name="Специализация шаблонов" id="{8F32DC0E-04EB-42A1-BF69-5B4BACB919C0}">
          <p14:sldIdLst>
            <p14:sldId id="295"/>
            <p14:sldId id="296"/>
            <p14:sldId id="263"/>
            <p14:sldId id="407"/>
            <p14:sldId id="365"/>
            <p14:sldId id="366"/>
            <p14:sldId id="408"/>
            <p14:sldId id="409"/>
            <p14:sldId id="410"/>
            <p14:sldId id="389"/>
            <p14:sldId id="390"/>
            <p14:sldId id="391"/>
            <p14:sldId id="392"/>
            <p14:sldId id="393"/>
            <p14:sldId id="411"/>
            <p14:sldId id="394"/>
            <p14:sldId id="395"/>
            <p14:sldId id="396"/>
          </p14:sldIdLst>
        </p14:section>
        <p14:section name="Шаблонные методы класса" id="{057B0DAE-288F-4C4F-A5FD-A23D4A0AAD2D}">
          <p14:sldIdLst>
            <p14:sldId id="299"/>
            <p14:sldId id="300"/>
            <p14:sldId id="369"/>
            <p14:sldId id="333"/>
            <p14:sldId id="412"/>
            <p14:sldId id="367"/>
            <p14:sldId id="368"/>
            <p14:sldId id="385"/>
            <p14:sldId id="386"/>
            <p14:sldId id="387"/>
            <p14:sldId id="388"/>
          </p14:sldIdLst>
        </p14:section>
        <p14:section name="Шаблоны и наследование" id="{CB38FDD9-4D48-44E7-B161-EB8ED099F5ED}">
          <p14:sldIdLst>
            <p14:sldId id="283"/>
            <p14:sldId id="370"/>
            <p14:sldId id="371"/>
            <p14:sldId id="372"/>
            <p14:sldId id="373"/>
            <p14:sldId id="374"/>
            <p14:sldId id="375"/>
            <p14:sldId id="413"/>
            <p14:sldId id="376"/>
            <p14:sldId id="377"/>
            <p14:sldId id="302"/>
            <p14:sldId id="378"/>
            <p14:sldId id="380"/>
            <p14:sldId id="308"/>
            <p14:sldId id="309"/>
            <p14:sldId id="284"/>
            <p14:sldId id="285"/>
            <p14:sldId id="323"/>
            <p14:sldId id="287"/>
            <p14:sldId id="288"/>
            <p14:sldId id="289"/>
          </p14:sldIdLst>
        </p14:section>
        <p14:section name="Variadic templates" id="{F662FB86-1D72-477F-A188-2226B716AA10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64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81"/>
            <p14:sldId id="384"/>
            <p14:sldId id="281"/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66141" autoAdjust="0"/>
  </p:normalViewPr>
  <p:slideViewPr>
    <p:cSldViewPr>
      <p:cViewPr varScale="1">
        <p:scale>
          <a:sx n="69" d="100"/>
          <a:sy n="69" d="100"/>
        </p:scale>
        <p:origin x="1926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81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gs" Target="tags/tag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/>
      <dgm:spPr/>
      <dgm:t>
        <a:bodyPr/>
        <a:lstStyle/>
        <a:p>
          <a:r>
            <a:rPr lang="en-US" dirty="0" err="1"/>
            <a:t>IShape</a:t>
          </a:r>
          <a:endParaRPr lang="ru-RU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/>
        </a:p>
      </dgm:t>
    </dgm:pt>
    <dgm:pt modelId="{272B7FF4-852C-41BF-881F-1DCE9BE9B5CE}">
      <dgm:prSet phldrT="[Текст]"/>
      <dgm:spPr/>
      <dgm:t>
        <a:bodyPr/>
        <a:lstStyle/>
        <a:p>
          <a:r>
            <a:rPr lang="en-US" dirty="0" err="1"/>
            <a:t>IRectangle</a:t>
          </a:r>
          <a:endParaRPr lang="ru-RU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/>
        </a:p>
      </dgm:t>
    </dgm:pt>
    <dgm:pt modelId="{D1886807-E129-4ABB-8353-8B526BE7532B}">
      <dgm:prSet phldrT="[Текст]"/>
      <dgm:spPr/>
      <dgm:t>
        <a:bodyPr/>
        <a:lstStyle/>
        <a:p>
          <a:r>
            <a:rPr lang="en-US" dirty="0" err="1"/>
            <a:t>ICircle</a:t>
          </a:r>
          <a:endParaRPr lang="ru-RU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/>
        </a:p>
      </dgm:t>
    </dgm:pt>
    <dgm:pt modelId="{BA7CCE4F-7BF1-4D1C-8FCC-107138D18B0A}">
      <dgm:prSet phldrT="[Текст]"/>
      <dgm:spPr/>
      <dgm:t>
        <a:bodyPr/>
        <a:lstStyle/>
        <a:p>
          <a:r>
            <a:rPr lang="en-US" dirty="0"/>
            <a:t>Rectangle</a:t>
          </a:r>
          <a:endParaRPr lang="ru-RU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/>
        </a:p>
      </dgm:t>
    </dgm:pt>
    <dgm:pt modelId="{6CD13A13-393F-4EBA-B6AD-2E62CB3574BE}">
      <dgm:prSet phldrT="[Текст]"/>
      <dgm:spPr/>
      <dgm:t>
        <a:bodyPr/>
        <a:lstStyle/>
        <a:p>
          <a:r>
            <a:rPr lang="en-US" dirty="0"/>
            <a:t>Circle</a:t>
          </a:r>
          <a:endParaRPr lang="ru-RU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047FBFB8-805A-40D0-8B8F-0C93EEF77527}" type="pres">
      <dgm:prSet presAssocID="{7CD642F4-6D2E-47E0-91C8-7A6CC09AA99B}" presName="Name17" presStyleLbl="parChTrans1D3" presStyleIdx="0" presStyleCnt="2"/>
      <dgm:spPr/>
    </dgm:pt>
    <dgm:pt modelId="{6FA33E4E-92C0-41EA-AE64-0FD6AB1582AB}" type="pres">
      <dgm:prSet presAssocID="{BA7CCE4F-7BF1-4D1C-8FCC-107138D18B0A}" presName="hierRoot3" presStyleCnt="0"/>
      <dgm:spPr/>
    </dgm:pt>
    <dgm:pt modelId="{C958F5B5-0021-45EE-9FDA-E7FEC21380CB}" type="pres">
      <dgm:prSet presAssocID="{BA7CCE4F-7BF1-4D1C-8FCC-107138D18B0A}" presName="composite3" presStyleCnt="0"/>
      <dgm:spPr/>
    </dgm:pt>
    <dgm:pt modelId="{83471DAB-984A-4FDC-BFC2-9E7827AF7C11}" type="pres">
      <dgm:prSet presAssocID="{BA7CCE4F-7BF1-4D1C-8FCC-107138D18B0A}" presName="background3" presStyleLbl="node3" presStyleIdx="0" presStyleCnt="2"/>
      <dgm:spPr/>
    </dgm:pt>
    <dgm:pt modelId="{814E9A1B-354D-48C9-8159-9A0F76BC1AA5}" type="pres">
      <dgm:prSet presAssocID="{BA7CCE4F-7BF1-4D1C-8FCC-107138D18B0A}" presName="text3" presStyleLbl="fgAcc3" presStyleIdx="0" presStyleCnt="2">
        <dgm:presLayoutVars>
          <dgm:chPref val="3"/>
        </dgm:presLayoutVars>
      </dgm:prSet>
      <dgm:spPr/>
    </dgm:pt>
    <dgm:pt modelId="{1AD92979-9109-4CF0-894C-294112A65D46}" type="pres">
      <dgm:prSet presAssocID="{BA7CCE4F-7BF1-4D1C-8FCC-107138D18B0A}" presName="hierChild4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69E6A618-E6DC-4D74-BC1B-87CB8137A63D}" type="presOf" srcId="{D4358701-B34D-4AF3-A38B-9D590869EF95}" destId="{B4415200-9A31-416F-BF4E-AFDB33F1C844}" srcOrd="0" destOrd="0" presId="urn:microsoft.com/office/officeart/2005/8/layout/hierarchy1"/>
    <dgm:cxn modelId="{6C17F327-E99C-4727-A3DD-2EF305CBB338}" type="presOf" srcId="{D9A851B6-05A4-4A45-A044-3EB487ABC9D6}" destId="{3D3856C1-2283-4DDC-82B4-2DE481751CA2}" srcOrd="0" destOrd="0" presId="urn:microsoft.com/office/officeart/2005/8/layout/hierarchy1"/>
    <dgm:cxn modelId="{2509DC3D-C241-443D-A943-391794B84CA1}" type="presOf" srcId="{272B7FF4-852C-41BF-881F-1DCE9BE9B5CE}" destId="{2535CB1D-B21C-46C2-99CD-A999D6370E1A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ACDAD670-F270-4C6D-9FCB-E0F668CCA75A}" type="presOf" srcId="{C35703F7-0575-4004-9D1A-029F3B47246C}" destId="{C67AEEB4-C41C-4AD4-B132-752258DA248A}" srcOrd="0" destOrd="0" presId="urn:microsoft.com/office/officeart/2005/8/layout/hierarchy1"/>
    <dgm:cxn modelId="{6F35DC75-FC97-4995-B699-8F023F519CE9}" type="presOf" srcId="{9F3990DA-149F-460A-BEB8-52BFF239A6D2}" destId="{D2BD6CA6-E700-43E1-997B-99E033BE0A68}" srcOrd="0" destOrd="0" presId="urn:microsoft.com/office/officeart/2005/8/layout/hierarchy1"/>
    <dgm:cxn modelId="{DE9A9E56-9B4E-4EA6-BF5C-F169FB29863B}" type="presOf" srcId="{18F69BD6-F453-4D4D-B19F-1B1AA602036D}" destId="{3539EA19-7A85-430A-B4CD-82090A26E693}" srcOrd="0" destOrd="0" presId="urn:microsoft.com/office/officeart/2005/8/layout/hierarchy1"/>
    <dgm:cxn modelId="{4A46207E-1C99-40AD-BFC1-B0978266A7F6}" type="presOf" srcId="{7CD642F4-6D2E-47E0-91C8-7A6CC09AA99B}" destId="{047FBFB8-805A-40D0-8B8F-0C93EEF77527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260E608F-C074-4034-9B24-2C8FA4EEC908}" type="presOf" srcId="{BA7CCE4F-7BF1-4D1C-8FCC-107138D18B0A}" destId="{814E9A1B-354D-48C9-8159-9A0F76BC1AA5}" srcOrd="0" destOrd="0" presId="urn:microsoft.com/office/officeart/2005/8/layout/hierarchy1"/>
    <dgm:cxn modelId="{740D239E-13A3-48C3-B3CB-5EC8887779CB}" type="presOf" srcId="{6CD13A13-393F-4EBA-B6AD-2E62CB3574BE}" destId="{7A0259A8-C254-4681-AF1B-51FD2DB36DAC}" srcOrd="0" destOrd="0" presId="urn:microsoft.com/office/officeart/2005/8/layout/hierarchy1"/>
    <dgm:cxn modelId="{CBF732C8-7C53-4953-BC47-129C22F8856C}" type="presOf" srcId="{D1886807-E129-4ABB-8353-8B526BE7532B}" destId="{5CAC216B-31BB-4B00-9528-42698BC079B7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7ADEC7E2-B8B6-48CC-AA59-136A87344ED0}" srcId="{272B7FF4-852C-41BF-881F-1DCE9BE9B5CE}" destId="{BA7CCE4F-7BF1-4D1C-8FCC-107138D18B0A}" srcOrd="0" destOrd="0" parTransId="{7CD642F4-6D2E-47E0-91C8-7A6CC09AA99B}" sibTransId="{C02C69A4-2086-4A55-B2F8-733659DEC5C8}"/>
    <dgm:cxn modelId="{6459259E-EE12-48FC-89FF-177D7F2EE847}" type="presParOf" srcId="{B4415200-9A31-416F-BF4E-AFDB33F1C844}" destId="{4EAD1EC0-FA99-475A-8A25-302BFAA48BA3}" srcOrd="0" destOrd="0" presId="urn:microsoft.com/office/officeart/2005/8/layout/hierarchy1"/>
    <dgm:cxn modelId="{7D17ECB9-748B-4227-94FA-2B918CDFFDB7}" type="presParOf" srcId="{4EAD1EC0-FA99-475A-8A25-302BFAA48BA3}" destId="{E8DD389A-BB67-4690-A27C-775F7C308E70}" srcOrd="0" destOrd="0" presId="urn:microsoft.com/office/officeart/2005/8/layout/hierarchy1"/>
    <dgm:cxn modelId="{2343A554-1B32-4DB8-B0D9-009195682738}" type="presParOf" srcId="{E8DD389A-BB67-4690-A27C-775F7C308E70}" destId="{C945B909-2E5E-426B-8CED-D83467E61ED2}" srcOrd="0" destOrd="0" presId="urn:microsoft.com/office/officeart/2005/8/layout/hierarchy1"/>
    <dgm:cxn modelId="{4A7F766A-D2D2-46E4-A23A-AA8B7C75061E}" type="presParOf" srcId="{E8DD389A-BB67-4690-A27C-775F7C308E70}" destId="{C67AEEB4-C41C-4AD4-B132-752258DA248A}" srcOrd="1" destOrd="0" presId="urn:microsoft.com/office/officeart/2005/8/layout/hierarchy1"/>
    <dgm:cxn modelId="{9DC25F99-34F4-4DE7-9AF0-3E90889CD235}" type="presParOf" srcId="{4EAD1EC0-FA99-475A-8A25-302BFAA48BA3}" destId="{786167E8-30BE-4C81-87AC-EF96CED59D9E}" srcOrd="1" destOrd="0" presId="urn:microsoft.com/office/officeart/2005/8/layout/hierarchy1"/>
    <dgm:cxn modelId="{9AAA5E81-E2AF-401A-973D-7A25EA9EEC53}" type="presParOf" srcId="{786167E8-30BE-4C81-87AC-EF96CED59D9E}" destId="{3539EA19-7A85-430A-B4CD-82090A26E693}" srcOrd="0" destOrd="0" presId="urn:microsoft.com/office/officeart/2005/8/layout/hierarchy1"/>
    <dgm:cxn modelId="{51FD6355-7783-4A58-8474-9842C7B12AD8}" type="presParOf" srcId="{786167E8-30BE-4C81-87AC-EF96CED59D9E}" destId="{F927F5AA-C318-4369-9B46-CC5E2A5D75AB}" srcOrd="1" destOrd="0" presId="urn:microsoft.com/office/officeart/2005/8/layout/hierarchy1"/>
    <dgm:cxn modelId="{AABA8325-3DF5-4200-A9E4-E98D3AE7DC34}" type="presParOf" srcId="{F927F5AA-C318-4369-9B46-CC5E2A5D75AB}" destId="{F8C6C817-1EEC-4A5E-9954-647A19F0A03E}" srcOrd="0" destOrd="0" presId="urn:microsoft.com/office/officeart/2005/8/layout/hierarchy1"/>
    <dgm:cxn modelId="{1E0945E5-0C92-4B5E-AEE5-BC836466AC52}" type="presParOf" srcId="{F8C6C817-1EEC-4A5E-9954-647A19F0A03E}" destId="{4894BFB9-8E6D-4042-9280-854B59B28B73}" srcOrd="0" destOrd="0" presId="urn:microsoft.com/office/officeart/2005/8/layout/hierarchy1"/>
    <dgm:cxn modelId="{9D587DF1-461F-47A7-B514-1CB228FFF037}" type="presParOf" srcId="{F8C6C817-1EEC-4A5E-9954-647A19F0A03E}" destId="{2535CB1D-B21C-46C2-99CD-A999D6370E1A}" srcOrd="1" destOrd="0" presId="urn:microsoft.com/office/officeart/2005/8/layout/hierarchy1"/>
    <dgm:cxn modelId="{ABCA33A5-1435-47B3-ABB6-3AC46A405882}" type="presParOf" srcId="{F927F5AA-C318-4369-9B46-CC5E2A5D75AB}" destId="{AFB5DCBA-95BF-4F3E-9F4C-974956B96A6A}" srcOrd="1" destOrd="0" presId="urn:microsoft.com/office/officeart/2005/8/layout/hierarchy1"/>
    <dgm:cxn modelId="{68D45343-929C-4ED4-9A37-1EB1393D7FC4}" type="presParOf" srcId="{AFB5DCBA-95BF-4F3E-9F4C-974956B96A6A}" destId="{047FBFB8-805A-40D0-8B8F-0C93EEF77527}" srcOrd="0" destOrd="0" presId="urn:microsoft.com/office/officeart/2005/8/layout/hierarchy1"/>
    <dgm:cxn modelId="{A5257210-D587-48FE-AB1D-8595B67E697F}" type="presParOf" srcId="{AFB5DCBA-95BF-4F3E-9F4C-974956B96A6A}" destId="{6FA33E4E-92C0-41EA-AE64-0FD6AB1582AB}" srcOrd="1" destOrd="0" presId="urn:microsoft.com/office/officeart/2005/8/layout/hierarchy1"/>
    <dgm:cxn modelId="{68CB48BA-0D7D-41A6-A7E2-D341B903B73B}" type="presParOf" srcId="{6FA33E4E-92C0-41EA-AE64-0FD6AB1582AB}" destId="{C958F5B5-0021-45EE-9FDA-E7FEC21380CB}" srcOrd="0" destOrd="0" presId="urn:microsoft.com/office/officeart/2005/8/layout/hierarchy1"/>
    <dgm:cxn modelId="{EC600861-6A4F-4F2F-8689-BA8FD2682690}" type="presParOf" srcId="{C958F5B5-0021-45EE-9FDA-E7FEC21380CB}" destId="{83471DAB-984A-4FDC-BFC2-9E7827AF7C11}" srcOrd="0" destOrd="0" presId="urn:microsoft.com/office/officeart/2005/8/layout/hierarchy1"/>
    <dgm:cxn modelId="{F0B4D13C-5505-42CB-A923-8BDEBBD6C47B}" type="presParOf" srcId="{C958F5B5-0021-45EE-9FDA-E7FEC21380CB}" destId="{814E9A1B-354D-48C9-8159-9A0F76BC1AA5}" srcOrd="1" destOrd="0" presId="urn:microsoft.com/office/officeart/2005/8/layout/hierarchy1"/>
    <dgm:cxn modelId="{A78EBE2E-CD40-4DB8-9841-62BC8ABA6944}" type="presParOf" srcId="{6FA33E4E-92C0-41EA-AE64-0FD6AB1582AB}" destId="{1AD92979-9109-4CF0-894C-294112A65D46}" srcOrd="1" destOrd="0" presId="urn:microsoft.com/office/officeart/2005/8/layout/hierarchy1"/>
    <dgm:cxn modelId="{05CB5BC7-81DC-4F25-95B9-4697C7147995}" type="presParOf" srcId="{786167E8-30BE-4C81-87AC-EF96CED59D9E}" destId="{D2BD6CA6-E700-43E1-997B-99E033BE0A68}" srcOrd="2" destOrd="0" presId="urn:microsoft.com/office/officeart/2005/8/layout/hierarchy1"/>
    <dgm:cxn modelId="{2C0E6FEE-E252-489D-BE05-CF8294EE0FF5}" type="presParOf" srcId="{786167E8-30BE-4C81-87AC-EF96CED59D9E}" destId="{F747E223-0799-4B9D-9D3D-BEEF365F92E1}" srcOrd="3" destOrd="0" presId="urn:microsoft.com/office/officeart/2005/8/layout/hierarchy1"/>
    <dgm:cxn modelId="{65A70FA3-2EBF-4FA6-B62D-72E8100C70CA}" type="presParOf" srcId="{F747E223-0799-4B9D-9D3D-BEEF365F92E1}" destId="{AC8405BE-F920-4C04-9183-27E54D1A2F71}" srcOrd="0" destOrd="0" presId="urn:microsoft.com/office/officeart/2005/8/layout/hierarchy1"/>
    <dgm:cxn modelId="{27CB86E6-560B-4912-BF84-651845BE4585}" type="presParOf" srcId="{AC8405BE-F920-4C04-9183-27E54D1A2F71}" destId="{7A33DAAE-A249-4CFD-96D6-1650940B8FFD}" srcOrd="0" destOrd="0" presId="urn:microsoft.com/office/officeart/2005/8/layout/hierarchy1"/>
    <dgm:cxn modelId="{9A48BEE3-FEB3-4A97-B767-12BBC93DDF16}" type="presParOf" srcId="{AC8405BE-F920-4C04-9183-27E54D1A2F71}" destId="{5CAC216B-31BB-4B00-9528-42698BC079B7}" srcOrd="1" destOrd="0" presId="urn:microsoft.com/office/officeart/2005/8/layout/hierarchy1"/>
    <dgm:cxn modelId="{EE81B7B3-019D-448A-9D8B-2AA3EF86C84C}" type="presParOf" srcId="{F747E223-0799-4B9D-9D3D-BEEF365F92E1}" destId="{87D3FE1A-D67C-424B-ADE2-8BC694D04CA1}" srcOrd="1" destOrd="0" presId="urn:microsoft.com/office/officeart/2005/8/layout/hierarchy1"/>
    <dgm:cxn modelId="{CCB09ECD-4E1A-4F2B-909D-7A52F83DE445}" type="presParOf" srcId="{87D3FE1A-D67C-424B-ADE2-8BC694D04CA1}" destId="{3D3856C1-2283-4DDC-82B4-2DE481751CA2}" srcOrd="0" destOrd="0" presId="urn:microsoft.com/office/officeart/2005/8/layout/hierarchy1"/>
    <dgm:cxn modelId="{34F46A87-92D2-4406-BFFD-0580CCA5BCD0}" type="presParOf" srcId="{87D3FE1A-D67C-424B-ADE2-8BC694D04CA1}" destId="{EC2A112E-07E6-485D-9967-CC96B1A2EC66}" srcOrd="1" destOrd="0" presId="urn:microsoft.com/office/officeart/2005/8/layout/hierarchy1"/>
    <dgm:cxn modelId="{3AB90872-3509-4367-AFC5-1B744546C3F9}" type="presParOf" srcId="{EC2A112E-07E6-485D-9967-CC96B1A2EC66}" destId="{CD0CA0FD-51F8-411E-AB04-0C4B6CF11761}" srcOrd="0" destOrd="0" presId="urn:microsoft.com/office/officeart/2005/8/layout/hierarchy1"/>
    <dgm:cxn modelId="{C7FA7E8E-7720-48ED-8F8F-98D28EC19026}" type="presParOf" srcId="{CD0CA0FD-51F8-411E-AB04-0C4B6CF11761}" destId="{2E1D51F5-B89F-48EC-A62D-5CE850830652}" srcOrd="0" destOrd="0" presId="urn:microsoft.com/office/officeart/2005/8/layout/hierarchy1"/>
    <dgm:cxn modelId="{A3B32179-434E-4FF9-BA66-73E7A5545591}" type="presParOf" srcId="{CD0CA0FD-51F8-411E-AB04-0C4B6CF11761}" destId="{7A0259A8-C254-4681-AF1B-51FD2DB36DAC}" srcOrd="1" destOrd="0" presId="urn:microsoft.com/office/officeart/2005/8/layout/hierarchy1"/>
    <dgm:cxn modelId="{F7D1CDBD-AC89-496E-B987-3F3BACB43536}" type="presParOf" srcId="{EC2A112E-07E6-485D-9967-CC96B1A2EC66}" destId="{12FCCFEB-FA40-4A72-919E-3636D956C48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358701-B34D-4AF3-A38B-9D590869EF9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35703F7-0575-4004-9D1A-029F3B47246C}">
      <dgm:prSet phldrT="[Текст]" custT="1"/>
      <dgm:spPr/>
      <dgm:t>
        <a:bodyPr/>
        <a:lstStyle/>
        <a:p>
          <a:r>
            <a:rPr lang="en-US" sz="1200" dirty="0" err="1"/>
            <a:t>IShape</a:t>
          </a:r>
          <a:endParaRPr lang="ru-RU" sz="1200" dirty="0"/>
        </a:p>
      </dgm:t>
    </dgm:pt>
    <dgm:pt modelId="{3ED52968-DBBA-45A8-A4C5-F288FF7B71D4}" type="parTrans" cxnId="{B4280ACB-55DB-4F45-89FE-19EDE8DA3087}">
      <dgm:prSet/>
      <dgm:spPr/>
      <dgm:t>
        <a:bodyPr/>
        <a:lstStyle/>
        <a:p>
          <a:endParaRPr lang="ru-RU" sz="3600"/>
        </a:p>
      </dgm:t>
    </dgm:pt>
    <dgm:pt modelId="{AE3E5CE3-8961-4FED-BEFA-75F7F18F623E}" type="sibTrans" cxnId="{B4280ACB-55DB-4F45-89FE-19EDE8DA3087}">
      <dgm:prSet/>
      <dgm:spPr/>
      <dgm:t>
        <a:bodyPr/>
        <a:lstStyle/>
        <a:p>
          <a:endParaRPr lang="ru-RU" sz="3600"/>
        </a:p>
      </dgm:t>
    </dgm:pt>
    <dgm:pt modelId="{272B7FF4-852C-41BF-881F-1DCE9BE9B5CE}">
      <dgm:prSet phldrT="[Текст]" custT="1"/>
      <dgm:spPr/>
      <dgm:t>
        <a:bodyPr/>
        <a:lstStyle/>
        <a:p>
          <a:r>
            <a:rPr lang="en-US" sz="1200" dirty="0" err="1"/>
            <a:t>IRectangle</a:t>
          </a:r>
          <a:endParaRPr lang="ru-RU" sz="1200" dirty="0"/>
        </a:p>
      </dgm:t>
    </dgm:pt>
    <dgm:pt modelId="{18F69BD6-F453-4D4D-B19F-1B1AA602036D}" type="parTrans" cxnId="{5BD7FA6D-2921-4481-9E32-C67F149454ED}">
      <dgm:prSet/>
      <dgm:spPr/>
      <dgm:t>
        <a:bodyPr/>
        <a:lstStyle/>
        <a:p>
          <a:endParaRPr lang="ru-RU" sz="3600"/>
        </a:p>
      </dgm:t>
    </dgm:pt>
    <dgm:pt modelId="{0CEFA525-3417-4388-9E25-27B95A61B1DF}" type="sibTrans" cxnId="{5BD7FA6D-2921-4481-9E32-C67F149454ED}">
      <dgm:prSet/>
      <dgm:spPr/>
      <dgm:t>
        <a:bodyPr/>
        <a:lstStyle/>
        <a:p>
          <a:endParaRPr lang="ru-RU" sz="3600"/>
        </a:p>
      </dgm:t>
    </dgm:pt>
    <dgm:pt modelId="{D1886807-E129-4ABB-8353-8B526BE7532B}">
      <dgm:prSet phldrT="[Текст]" custT="1"/>
      <dgm:spPr/>
      <dgm:t>
        <a:bodyPr/>
        <a:lstStyle/>
        <a:p>
          <a:r>
            <a:rPr lang="en-US" sz="1200" dirty="0" err="1"/>
            <a:t>ICircle</a:t>
          </a:r>
          <a:endParaRPr lang="ru-RU" sz="1200" dirty="0"/>
        </a:p>
      </dgm:t>
    </dgm:pt>
    <dgm:pt modelId="{9F3990DA-149F-460A-BEB8-52BFF239A6D2}" type="parTrans" cxnId="{CEEDFF04-0161-408E-9E39-B829987F1FDA}">
      <dgm:prSet/>
      <dgm:spPr/>
      <dgm:t>
        <a:bodyPr/>
        <a:lstStyle/>
        <a:p>
          <a:endParaRPr lang="ru-RU" sz="3600"/>
        </a:p>
      </dgm:t>
    </dgm:pt>
    <dgm:pt modelId="{6E3A6F55-1802-42A3-9188-65C84F1623D1}" type="sibTrans" cxnId="{CEEDFF04-0161-408E-9E39-B829987F1FDA}">
      <dgm:prSet/>
      <dgm:spPr/>
      <dgm:t>
        <a:bodyPr/>
        <a:lstStyle/>
        <a:p>
          <a:endParaRPr lang="ru-RU" sz="3600"/>
        </a:p>
      </dgm:t>
    </dgm:pt>
    <dgm:pt modelId="{BA7CCE4F-7BF1-4D1C-8FCC-107138D18B0A}">
      <dgm:prSet phldrT="[Текст]" custT="1"/>
      <dgm:spPr/>
      <dgm:t>
        <a:bodyPr/>
        <a:lstStyle/>
        <a:p>
          <a:r>
            <a:rPr lang="en-US" sz="1200" dirty="0" err="1"/>
            <a:t>CRectangle</a:t>
          </a:r>
          <a:endParaRPr lang="ru-RU" sz="1200" dirty="0"/>
        </a:p>
      </dgm:t>
    </dgm:pt>
    <dgm:pt modelId="{7CD642F4-6D2E-47E0-91C8-7A6CC09AA99B}" type="parTrans" cxnId="{7ADEC7E2-B8B6-48CC-AA59-136A87344ED0}">
      <dgm:prSet/>
      <dgm:spPr/>
      <dgm:t>
        <a:bodyPr/>
        <a:lstStyle/>
        <a:p>
          <a:endParaRPr lang="ru-RU" sz="3600"/>
        </a:p>
      </dgm:t>
    </dgm:pt>
    <dgm:pt modelId="{C02C69A4-2086-4A55-B2F8-733659DEC5C8}" type="sibTrans" cxnId="{7ADEC7E2-B8B6-48CC-AA59-136A87344ED0}">
      <dgm:prSet/>
      <dgm:spPr/>
      <dgm:t>
        <a:bodyPr/>
        <a:lstStyle/>
        <a:p>
          <a:endParaRPr lang="ru-RU" sz="3600"/>
        </a:p>
      </dgm:t>
    </dgm:pt>
    <dgm:pt modelId="{6CD13A13-393F-4EBA-B6AD-2E62CB3574BE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ICircle</a:t>
          </a:r>
          <a:r>
            <a:rPr lang="en-US" sz="1200" dirty="0"/>
            <a:t>&gt;</a:t>
          </a:r>
          <a:endParaRPr lang="ru-RU" sz="1200" dirty="0"/>
        </a:p>
      </dgm:t>
    </dgm:pt>
    <dgm:pt modelId="{D9A851B6-05A4-4A45-A044-3EB487ABC9D6}" type="parTrans" cxnId="{BBBDA08A-0582-4E77-93E9-372DA90B428D}">
      <dgm:prSet/>
      <dgm:spPr/>
      <dgm:t>
        <a:bodyPr/>
        <a:lstStyle/>
        <a:p>
          <a:endParaRPr lang="ru-RU" sz="3600"/>
        </a:p>
      </dgm:t>
    </dgm:pt>
    <dgm:pt modelId="{62B8A0FD-2F1A-4409-A184-88FB949C9215}" type="sibTrans" cxnId="{BBBDA08A-0582-4E77-93E9-372DA90B428D}">
      <dgm:prSet/>
      <dgm:spPr/>
      <dgm:t>
        <a:bodyPr/>
        <a:lstStyle/>
        <a:p>
          <a:endParaRPr lang="ru-RU" sz="3600"/>
        </a:p>
      </dgm:t>
    </dgm:pt>
    <dgm:pt modelId="{7A7CFF33-2153-4CA9-90C6-4990DFD32F2C}">
      <dgm:prSet phldrT="[Текст]" custT="1">
        <dgm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1200" dirty="0"/>
            <a:t>С</a:t>
          </a:r>
          <a:r>
            <a:rPr lang="en-US" sz="1200" dirty="0" err="1"/>
            <a:t>ShapeImpl</a:t>
          </a:r>
          <a:r>
            <a:rPr lang="en-US" sz="1200" dirty="0"/>
            <a:t>&lt;</a:t>
          </a:r>
          <a:r>
            <a:rPr lang="en-US" sz="1200" dirty="0" err="1"/>
            <a:t>IRectangle</a:t>
          </a:r>
          <a:r>
            <a:rPr lang="en-US" sz="1200" dirty="0"/>
            <a:t>&gt;</a:t>
          </a:r>
          <a:endParaRPr lang="ru-RU" sz="1200" dirty="0"/>
        </a:p>
      </dgm:t>
    </dgm:pt>
    <dgm:pt modelId="{FD502582-CA46-4784-8972-6F3F301EC904}" type="parTrans" cxnId="{EE94880B-7790-4328-99BD-8E4813B18AB1}">
      <dgm:prSet/>
      <dgm:spPr/>
      <dgm:t>
        <a:bodyPr/>
        <a:lstStyle/>
        <a:p>
          <a:endParaRPr lang="ru-RU" sz="3600"/>
        </a:p>
      </dgm:t>
    </dgm:pt>
    <dgm:pt modelId="{6445BC88-2E89-4382-A13D-E1A5CFC4E3BA}" type="sibTrans" cxnId="{EE94880B-7790-4328-99BD-8E4813B18AB1}">
      <dgm:prSet/>
      <dgm:spPr/>
      <dgm:t>
        <a:bodyPr/>
        <a:lstStyle/>
        <a:p>
          <a:endParaRPr lang="ru-RU" sz="3600"/>
        </a:p>
      </dgm:t>
    </dgm:pt>
    <dgm:pt modelId="{45C965A4-D18D-48CC-AA5F-073B97599D34}">
      <dgm:prSet phldrT="[Текст]" custT="1"/>
      <dgm:spPr/>
      <dgm:t>
        <a:bodyPr/>
        <a:lstStyle/>
        <a:p>
          <a:r>
            <a:rPr lang="en-US" sz="1200"/>
            <a:t>CCircle</a:t>
          </a:r>
          <a:endParaRPr lang="ru-RU" sz="1200" dirty="0"/>
        </a:p>
      </dgm:t>
    </dgm:pt>
    <dgm:pt modelId="{453CBCAB-29ED-491E-A3A7-E5D4759AA90D}" type="parTrans" cxnId="{797C2314-19E2-4B8E-8D46-C88A27F94E05}">
      <dgm:prSet/>
      <dgm:spPr/>
      <dgm:t>
        <a:bodyPr/>
        <a:lstStyle/>
        <a:p>
          <a:endParaRPr lang="ru-RU" sz="3600"/>
        </a:p>
      </dgm:t>
    </dgm:pt>
    <dgm:pt modelId="{760D37EB-22F7-4CB8-9EA7-A3166A89A9B8}" type="sibTrans" cxnId="{797C2314-19E2-4B8E-8D46-C88A27F94E05}">
      <dgm:prSet/>
      <dgm:spPr/>
      <dgm:t>
        <a:bodyPr/>
        <a:lstStyle/>
        <a:p>
          <a:endParaRPr lang="ru-RU" sz="3600"/>
        </a:p>
      </dgm:t>
    </dgm:pt>
    <dgm:pt modelId="{B4415200-9A31-416F-BF4E-AFDB33F1C844}" type="pres">
      <dgm:prSet presAssocID="{D4358701-B34D-4AF3-A38B-9D590869EF9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AD1EC0-FA99-475A-8A25-302BFAA48BA3}" type="pres">
      <dgm:prSet presAssocID="{C35703F7-0575-4004-9D1A-029F3B47246C}" presName="hierRoot1" presStyleCnt="0"/>
      <dgm:spPr/>
    </dgm:pt>
    <dgm:pt modelId="{E8DD389A-BB67-4690-A27C-775F7C308E70}" type="pres">
      <dgm:prSet presAssocID="{C35703F7-0575-4004-9D1A-029F3B47246C}" presName="composite" presStyleCnt="0"/>
      <dgm:spPr/>
    </dgm:pt>
    <dgm:pt modelId="{C945B909-2E5E-426B-8CED-D83467E61ED2}" type="pres">
      <dgm:prSet presAssocID="{C35703F7-0575-4004-9D1A-029F3B47246C}" presName="background" presStyleLbl="node0" presStyleIdx="0" presStyleCnt="1"/>
      <dgm:spPr/>
    </dgm:pt>
    <dgm:pt modelId="{C67AEEB4-C41C-4AD4-B132-752258DA248A}" type="pres">
      <dgm:prSet presAssocID="{C35703F7-0575-4004-9D1A-029F3B47246C}" presName="text" presStyleLbl="fgAcc0" presStyleIdx="0" presStyleCnt="1">
        <dgm:presLayoutVars>
          <dgm:chPref val="3"/>
        </dgm:presLayoutVars>
      </dgm:prSet>
      <dgm:spPr/>
    </dgm:pt>
    <dgm:pt modelId="{786167E8-30BE-4C81-87AC-EF96CED59D9E}" type="pres">
      <dgm:prSet presAssocID="{C35703F7-0575-4004-9D1A-029F3B47246C}" presName="hierChild2" presStyleCnt="0"/>
      <dgm:spPr/>
    </dgm:pt>
    <dgm:pt modelId="{3539EA19-7A85-430A-B4CD-82090A26E693}" type="pres">
      <dgm:prSet presAssocID="{18F69BD6-F453-4D4D-B19F-1B1AA602036D}" presName="Name10" presStyleLbl="parChTrans1D2" presStyleIdx="0" presStyleCnt="2"/>
      <dgm:spPr/>
    </dgm:pt>
    <dgm:pt modelId="{F927F5AA-C318-4369-9B46-CC5E2A5D75AB}" type="pres">
      <dgm:prSet presAssocID="{272B7FF4-852C-41BF-881F-1DCE9BE9B5CE}" presName="hierRoot2" presStyleCnt="0"/>
      <dgm:spPr/>
    </dgm:pt>
    <dgm:pt modelId="{F8C6C817-1EEC-4A5E-9954-647A19F0A03E}" type="pres">
      <dgm:prSet presAssocID="{272B7FF4-852C-41BF-881F-1DCE9BE9B5CE}" presName="composite2" presStyleCnt="0"/>
      <dgm:spPr/>
    </dgm:pt>
    <dgm:pt modelId="{4894BFB9-8E6D-4042-9280-854B59B28B73}" type="pres">
      <dgm:prSet presAssocID="{272B7FF4-852C-41BF-881F-1DCE9BE9B5CE}" presName="background2" presStyleLbl="node2" presStyleIdx="0" presStyleCnt="2"/>
      <dgm:spPr/>
    </dgm:pt>
    <dgm:pt modelId="{2535CB1D-B21C-46C2-99CD-A999D6370E1A}" type="pres">
      <dgm:prSet presAssocID="{272B7FF4-852C-41BF-881F-1DCE9BE9B5CE}" presName="text2" presStyleLbl="fgAcc2" presStyleIdx="0" presStyleCnt="2">
        <dgm:presLayoutVars>
          <dgm:chPref val="3"/>
        </dgm:presLayoutVars>
      </dgm:prSet>
      <dgm:spPr/>
    </dgm:pt>
    <dgm:pt modelId="{AFB5DCBA-95BF-4F3E-9F4C-974956B96A6A}" type="pres">
      <dgm:prSet presAssocID="{272B7FF4-852C-41BF-881F-1DCE9BE9B5CE}" presName="hierChild3" presStyleCnt="0"/>
      <dgm:spPr/>
    </dgm:pt>
    <dgm:pt modelId="{FF06149D-B054-41D1-8974-F052B23DB9A0}" type="pres">
      <dgm:prSet presAssocID="{FD502582-CA46-4784-8972-6F3F301EC904}" presName="Name17" presStyleLbl="parChTrans1D3" presStyleIdx="0" presStyleCnt="2"/>
      <dgm:spPr/>
    </dgm:pt>
    <dgm:pt modelId="{02EC97A7-DA42-4EBC-8ACF-62DD5E4E933C}" type="pres">
      <dgm:prSet presAssocID="{7A7CFF33-2153-4CA9-90C6-4990DFD32F2C}" presName="hierRoot3" presStyleCnt="0"/>
      <dgm:spPr/>
    </dgm:pt>
    <dgm:pt modelId="{7096C549-132E-4325-BFA7-5BF350159309}" type="pres">
      <dgm:prSet presAssocID="{7A7CFF33-2153-4CA9-90C6-4990DFD32F2C}" presName="composite3" presStyleCnt="0"/>
      <dgm:spPr/>
    </dgm:pt>
    <dgm:pt modelId="{57EA749B-FEB3-493B-AED1-9DA18D6C5C32}" type="pres">
      <dgm:prSet presAssocID="{7A7CFF33-2153-4CA9-90C6-4990DFD32F2C}" presName="background3" presStyleLbl="node3" presStyleIdx="0" presStyleCnt="2"/>
      <dgm:spPr/>
    </dgm:pt>
    <dgm:pt modelId="{8FB0C5E4-59CF-4D0C-9599-5D79607589F5}" type="pres">
      <dgm:prSet presAssocID="{7A7CFF33-2153-4CA9-90C6-4990DFD32F2C}" presName="text3" presStyleLbl="fgAcc3" presStyleIdx="0" presStyleCnt="2" custScaleX="164065">
        <dgm:presLayoutVars>
          <dgm:chPref val="3"/>
        </dgm:presLayoutVars>
      </dgm:prSet>
      <dgm:spPr/>
    </dgm:pt>
    <dgm:pt modelId="{1AAC7632-60ED-4808-ADBF-98DD98EE5098}" type="pres">
      <dgm:prSet presAssocID="{7A7CFF33-2153-4CA9-90C6-4990DFD32F2C}" presName="hierChild4" presStyleCnt="0"/>
      <dgm:spPr/>
    </dgm:pt>
    <dgm:pt modelId="{836D9FDF-0751-404F-B699-39CC4369A28E}" type="pres">
      <dgm:prSet presAssocID="{7CD642F4-6D2E-47E0-91C8-7A6CC09AA99B}" presName="Name23" presStyleLbl="parChTrans1D4" presStyleIdx="0" presStyleCnt="2"/>
      <dgm:spPr/>
    </dgm:pt>
    <dgm:pt modelId="{FB19840F-A124-4C16-9102-CBA6C862DDF5}" type="pres">
      <dgm:prSet presAssocID="{BA7CCE4F-7BF1-4D1C-8FCC-107138D18B0A}" presName="hierRoot4" presStyleCnt="0"/>
      <dgm:spPr/>
    </dgm:pt>
    <dgm:pt modelId="{FD2D0F09-977E-4043-B4ED-F24EA9ACCC4B}" type="pres">
      <dgm:prSet presAssocID="{BA7CCE4F-7BF1-4D1C-8FCC-107138D18B0A}" presName="composite4" presStyleCnt="0"/>
      <dgm:spPr/>
    </dgm:pt>
    <dgm:pt modelId="{DC224FB9-4E17-4A34-985E-A8C2705A20DE}" type="pres">
      <dgm:prSet presAssocID="{BA7CCE4F-7BF1-4D1C-8FCC-107138D18B0A}" presName="background4" presStyleLbl="node4" presStyleIdx="0" presStyleCnt="2"/>
      <dgm:spPr/>
    </dgm:pt>
    <dgm:pt modelId="{4CB74E25-A0B6-4486-BE45-C4C22B05669E}" type="pres">
      <dgm:prSet presAssocID="{BA7CCE4F-7BF1-4D1C-8FCC-107138D18B0A}" presName="text4" presStyleLbl="fgAcc4" presStyleIdx="0" presStyleCnt="2">
        <dgm:presLayoutVars>
          <dgm:chPref val="3"/>
        </dgm:presLayoutVars>
      </dgm:prSet>
      <dgm:spPr/>
    </dgm:pt>
    <dgm:pt modelId="{B957CD94-39B0-410B-BE45-C13AAE136027}" type="pres">
      <dgm:prSet presAssocID="{BA7CCE4F-7BF1-4D1C-8FCC-107138D18B0A}" presName="hierChild5" presStyleCnt="0"/>
      <dgm:spPr/>
    </dgm:pt>
    <dgm:pt modelId="{D2BD6CA6-E700-43E1-997B-99E033BE0A68}" type="pres">
      <dgm:prSet presAssocID="{9F3990DA-149F-460A-BEB8-52BFF239A6D2}" presName="Name10" presStyleLbl="parChTrans1D2" presStyleIdx="1" presStyleCnt="2"/>
      <dgm:spPr/>
    </dgm:pt>
    <dgm:pt modelId="{F747E223-0799-4B9D-9D3D-BEEF365F92E1}" type="pres">
      <dgm:prSet presAssocID="{D1886807-E129-4ABB-8353-8B526BE7532B}" presName="hierRoot2" presStyleCnt="0"/>
      <dgm:spPr/>
    </dgm:pt>
    <dgm:pt modelId="{AC8405BE-F920-4C04-9183-27E54D1A2F71}" type="pres">
      <dgm:prSet presAssocID="{D1886807-E129-4ABB-8353-8B526BE7532B}" presName="composite2" presStyleCnt="0"/>
      <dgm:spPr/>
    </dgm:pt>
    <dgm:pt modelId="{7A33DAAE-A249-4CFD-96D6-1650940B8FFD}" type="pres">
      <dgm:prSet presAssocID="{D1886807-E129-4ABB-8353-8B526BE7532B}" presName="background2" presStyleLbl="node2" presStyleIdx="1" presStyleCnt="2"/>
      <dgm:spPr/>
    </dgm:pt>
    <dgm:pt modelId="{5CAC216B-31BB-4B00-9528-42698BC079B7}" type="pres">
      <dgm:prSet presAssocID="{D1886807-E129-4ABB-8353-8B526BE7532B}" presName="text2" presStyleLbl="fgAcc2" presStyleIdx="1" presStyleCnt="2">
        <dgm:presLayoutVars>
          <dgm:chPref val="3"/>
        </dgm:presLayoutVars>
      </dgm:prSet>
      <dgm:spPr/>
    </dgm:pt>
    <dgm:pt modelId="{87D3FE1A-D67C-424B-ADE2-8BC694D04CA1}" type="pres">
      <dgm:prSet presAssocID="{D1886807-E129-4ABB-8353-8B526BE7532B}" presName="hierChild3" presStyleCnt="0"/>
      <dgm:spPr/>
    </dgm:pt>
    <dgm:pt modelId="{3D3856C1-2283-4DDC-82B4-2DE481751CA2}" type="pres">
      <dgm:prSet presAssocID="{D9A851B6-05A4-4A45-A044-3EB487ABC9D6}" presName="Name17" presStyleLbl="parChTrans1D3" presStyleIdx="1" presStyleCnt="2"/>
      <dgm:spPr/>
    </dgm:pt>
    <dgm:pt modelId="{EC2A112E-07E6-485D-9967-CC96B1A2EC66}" type="pres">
      <dgm:prSet presAssocID="{6CD13A13-393F-4EBA-B6AD-2E62CB3574BE}" presName="hierRoot3" presStyleCnt="0"/>
      <dgm:spPr/>
    </dgm:pt>
    <dgm:pt modelId="{CD0CA0FD-51F8-411E-AB04-0C4B6CF11761}" type="pres">
      <dgm:prSet presAssocID="{6CD13A13-393F-4EBA-B6AD-2E62CB3574BE}" presName="composite3" presStyleCnt="0"/>
      <dgm:spPr/>
    </dgm:pt>
    <dgm:pt modelId="{2E1D51F5-B89F-48EC-A62D-5CE850830652}" type="pres">
      <dgm:prSet presAssocID="{6CD13A13-393F-4EBA-B6AD-2E62CB3574BE}" presName="background3" presStyleLbl="node3" presStyleIdx="1" presStyleCnt="2"/>
      <dgm:spPr/>
    </dgm:pt>
    <dgm:pt modelId="{7A0259A8-C254-4681-AF1B-51FD2DB36DAC}" type="pres">
      <dgm:prSet presAssocID="{6CD13A13-393F-4EBA-B6AD-2E62CB3574BE}" presName="text3" presStyleLbl="fgAcc3" presStyleIdx="1" presStyleCnt="2" custScaleX="164065">
        <dgm:presLayoutVars>
          <dgm:chPref val="3"/>
        </dgm:presLayoutVars>
      </dgm:prSet>
      <dgm:spPr/>
    </dgm:pt>
    <dgm:pt modelId="{12FCCFEB-FA40-4A72-919E-3636D956C485}" type="pres">
      <dgm:prSet presAssocID="{6CD13A13-393F-4EBA-B6AD-2E62CB3574BE}" presName="hierChild4" presStyleCnt="0"/>
      <dgm:spPr/>
    </dgm:pt>
    <dgm:pt modelId="{1AE3B005-236E-4FC2-AD4E-CEAC99F00B29}" type="pres">
      <dgm:prSet presAssocID="{453CBCAB-29ED-491E-A3A7-E5D4759AA90D}" presName="Name23" presStyleLbl="parChTrans1D4" presStyleIdx="1" presStyleCnt="2"/>
      <dgm:spPr/>
    </dgm:pt>
    <dgm:pt modelId="{BB97E8D2-C1B0-4D28-B757-7737B942BCE8}" type="pres">
      <dgm:prSet presAssocID="{45C965A4-D18D-48CC-AA5F-073B97599D34}" presName="hierRoot4" presStyleCnt="0"/>
      <dgm:spPr/>
    </dgm:pt>
    <dgm:pt modelId="{A095304E-0094-4535-A7E2-110667B2C612}" type="pres">
      <dgm:prSet presAssocID="{45C965A4-D18D-48CC-AA5F-073B97599D34}" presName="composite4" presStyleCnt="0"/>
      <dgm:spPr/>
    </dgm:pt>
    <dgm:pt modelId="{0FC9D7FC-A6D3-4B93-B573-B4977A6AF58C}" type="pres">
      <dgm:prSet presAssocID="{45C965A4-D18D-48CC-AA5F-073B97599D34}" presName="background4" presStyleLbl="node4" presStyleIdx="1" presStyleCnt="2"/>
      <dgm:spPr/>
    </dgm:pt>
    <dgm:pt modelId="{A3CE0A27-2F75-47CA-8DB8-49E46B230916}" type="pres">
      <dgm:prSet presAssocID="{45C965A4-D18D-48CC-AA5F-073B97599D34}" presName="text4" presStyleLbl="fgAcc4" presStyleIdx="1" presStyleCnt="2">
        <dgm:presLayoutVars>
          <dgm:chPref val="3"/>
        </dgm:presLayoutVars>
      </dgm:prSet>
      <dgm:spPr/>
    </dgm:pt>
    <dgm:pt modelId="{9D50FF3A-8D70-4431-ACC8-53403C7A445C}" type="pres">
      <dgm:prSet presAssocID="{45C965A4-D18D-48CC-AA5F-073B97599D34}" presName="hierChild5" presStyleCnt="0"/>
      <dgm:spPr/>
    </dgm:pt>
  </dgm:ptLst>
  <dgm:cxnLst>
    <dgm:cxn modelId="{CEEDFF04-0161-408E-9E39-B829987F1FDA}" srcId="{C35703F7-0575-4004-9D1A-029F3B47246C}" destId="{D1886807-E129-4ABB-8353-8B526BE7532B}" srcOrd="1" destOrd="0" parTransId="{9F3990DA-149F-460A-BEB8-52BFF239A6D2}" sibTransId="{6E3A6F55-1802-42A3-9188-65C84F1623D1}"/>
    <dgm:cxn modelId="{EE94880B-7790-4328-99BD-8E4813B18AB1}" srcId="{272B7FF4-852C-41BF-881F-1DCE9BE9B5CE}" destId="{7A7CFF33-2153-4CA9-90C6-4990DFD32F2C}" srcOrd="0" destOrd="0" parTransId="{FD502582-CA46-4784-8972-6F3F301EC904}" sibTransId="{6445BC88-2E89-4382-A13D-E1A5CFC4E3BA}"/>
    <dgm:cxn modelId="{797C2314-19E2-4B8E-8D46-C88A27F94E05}" srcId="{6CD13A13-393F-4EBA-B6AD-2E62CB3574BE}" destId="{45C965A4-D18D-48CC-AA5F-073B97599D34}" srcOrd="0" destOrd="0" parTransId="{453CBCAB-29ED-491E-A3A7-E5D4759AA90D}" sibTransId="{760D37EB-22F7-4CB8-9EA7-A3166A89A9B8}"/>
    <dgm:cxn modelId="{670D4419-C2ED-463E-A4BD-B136ECAC4716}" type="presOf" srcId="{C35703F7-0575-4004-9D1A-029F3B47246C}" destId="{C67AEEB4-C41C-4AD4-B132-752258DA248A}" srcOrd="0" destOrd="0" presId="urn:microsoft.com/office/officeart/2005/8/layout/hierarchy1"/>
    <dgm:cxn modelId="{ABF97820-BB8D-4B8F-8667-E0B81D0BB1D1}" type="presOf" srcId="{D4358701-B34D-4AF3-A38B-9D590869EF95}" destId="{B4415200-9A31-416F-BF4E-AFDB33F1C844}" srcOrd="0" destOrd="0" presId="urn:microsoft.com/office/officeart/2005/8/layout/hierarchy1"/>
    <dgm:cxn modelId="{5D7B1F36-8794-4B09-9BD4-9D09CA9F8842}" type="presOf" srcId="{9F3990DA-149F-460A-BEB8-52BFF239A6D2}" destId="{D2BD6CA6-E700-43E1-997B-99E033BE0A68}" srcOrd="0" destOrd="0" presId="urn:microsoft.com/office/officeart/2005/8/layout/hierarchy1"/>
    <dgm:cxn modelId="{5BD7FA6D-2921-4481-9E32-C67F149454ED}" srcId="{C35703F7-0575-4004-9D1A-029F3B47246C}" destId="{272B7FF4-852C-41BF-881F-1DCE9BE9B5CE}" srcOrd="0" destOrd="0" parTransId="{18F69BD6-F453-4D4D-B19F-1B1AA602036D}" sibTransId="{0CEFA525-3417-4388-9E25-27B95A61B1DF}"/>
    <dgm:cxn modelId="{B3CFF186-0743-4713-908F-C70259A3A844}" type="presOf" srcId="{6CD13A13-393F-4EBA-B6AD-2E62CB3574BE}" destId="{7A0259A8-C254-4681-AF1B-51FD2DB36DAC}" srcOrd="0" destOrd="0" presId="urn:microsoft.com/office/officeart/2005/8/layout/hierarchy1"/>
    <dgm:cxn modelId="{BBBDA08A-0582-4E77-93E9-372DA90B428D}" srcId="{D1886807-E129-4ABB-8353-8B526BE7532B}" destId="{6CD13A13-393F-4EBA-B6AD-2E62CB3574BE}" srcOrd="0" destOrd="0" parTransId="{D9A851B6-05A4-4A45-A044-3EB487ABC9D6}" sibTransId="{62B8A0FD-2F1A-4409-A184-88FB949C9215}"/>
    <dgm:cxn modelId="{5F954B8C-C04D-40FA-8CB0-EC5D8FCB958C}" type="presOf" srcId="{D9A851B6-05A4-4A45-A044-3EB487ABC9D6}" destId="{3D3856C1-2283-4DDC-82B4-2DE481751CA2}" srcOrd="0" destOrd="0" presId="urn:microsoft.com/office/officeart/2005/8/layout/hierarchy1"/>
    <dgm:cxn modelId="{4F815EAC-A613-41C3-8B8A-EC1F9E19F0C4}" type="presOf" srcId="{272B7FF4-852C-41BF-881F-1DCE9BE9B5CE}" destId="{2535CB1D-B21C-46C2-99CD-A999D6370E1A}" srcOrd="0" destOrd="0" presId="urn:microsoft.com/office/officeart/2005/8/layout/hierarchy1"/>
    <dgm:cxn modelId="{B57F8CAC-26C6-471B-8771-94F0810CD868}" type="presOf" srcId="{7CD642F4-6D2E-47E0-91C8-7A6CC09AA99B}" destId="{836D9FDF-0751-404F-B699-39CC4369A28E}" srcOrd="0" destOrd="0" presId="urn:microsoft.com/office/officeart/2005/8/layout/hierarchy1"/>
    <dgm:cxn modelId="{F1EB03CB-66F9-4DA6-9ECA-C3DE9D755E24}" type="presOf" srcId="{BA7CCE4F-7BF1-4D1C-8FCC-107138D18B0A}" destId="{4CB74E25-A0B6-4486-BE45-C4C22B05669E}" srcOrd="0" destOrd="0" presId="urn:microsoft.com/office/officeart/2005/8/layout/hierarchy1"/>
    <dgm:cxn modelId="{B4280ACB-55DB-4F45-89FE-19EDE8DA3087}" srcId="{D4358701-B34D-4AF3-A38B-9D590869EF95}" destId="{C35703F7-0575-4004-9D1A-029F3B47246C}" srcOrd="0" destOrd="0" parTransId="{3ED52968-DBBA-45A8-A4C5-F288FF7B71D4}" sibTransId="{AE3E5CE3-8961-4FED-BEFA-75F7F18F623E}"/>
    <dgm:cxn modelId="{C8192CD6-9B6E-4593-BA20-C6F15F0A3F81}" type="presOf" srcId="{45C965A4-D18D-48CC-AA5F-073B97599D34}" destId="{A3CE0A27-2F75-47CA-8DB8-49E46B230916}" srcOrd="0" destOrd="0" presId="urn:microsoft.com/office/officeart/2005/8/layout/hierarchy1"/>
    <dgm:cxn modelId="{DBFFBCDB-1658-4E7D-B8F5-FF3EE2A596D1}" type="presOf" srcId="{18F69BD6-F453-4D4D-B19F-1B1AA602036D}" destId="{3539EA19-7A85-430A-B4CD-82090A26E693}" srcOrd="0" destOrd="0" presId="urn:microsoft.com/office/officeart/2005/8/layout/hierarchy1"/>
    <dgm:cxn modelId="{779A5DE2-A91B-408C-B381-09B1693C30E7}" type="presOf" srcId="{FD502582-CA46-4784-8972-6F3F301EC904}" destId="{FF06149D-B054-41D1-8974-F052B23DB9A0}" srcOrd="0" destOrd="0" presId="urn:microsoft.com/office/officeart/2005/8/layout/hierarchy1"/>
    <dgm:cxn modelId="{7ADEC7E2-B8B6-48CC-AA59-136A87344ED0}" srcId="{7A7CFF33-2153-4CA9-90C6-4990DFD32F2C}" destId="{BA7CCE4F-7BF1-4D1C-8FCC-107138D18B0A}" srcOrd="0" destOrd="0" parTransId="{7CD642F4-6D2E-47E0-91C8-7A6CC09AA99B}" sibTransId="{C02C69A4-2086-4A55-B2F8-733659DEC5C8}"/>
    <dgm:cxn modelId="{AD3D29EA-B486-4921-9398-51F2520171B1}" type="presOf" srcId="{D1886807-E129-4ABB-8353-8B526BE7532B}" destId="{5CAC216B-31BB-4B00-9528-42698BC079B7}" srcOrd="0" destOrd="0" presId="urn:microsoft.com/office/officeart/2005/8/layout/hierarchy1"/>
    <dgm:cxn modelId="{98D9BAED-E24E-49D3-A98A-A507C08ABD0B}" type="presOf" srcId="{453CBCAB-29ED-491E-A3A7-E5D4759AA90D}" destId="{1AE3B005-236E-4FC2-AD4E-CEAC99F00B29}" srcOrd="0" destOrd="0" presId="urn:microsoft.com/office/officeart/2005/8/layout/hierarchy1"/>
    <dgm:cxn modelId="{EDC61EFB-16FB-42C6-ABF4-9A3B872C64A3}" type="presOf" srcId="{7A7CFF33-2153-4CA9-90C6-4990DFD32F2C}" destId="{8FB0C5E4-59CF-4D0C-9599-5D79607589F5}" srcOrd="0" destOrd="0" presId="urn:microsoft.com/office/officeart/2005/8/layout/hierarchy1"/>
    <dgm:cxn modelId="{138124F8-0B5F-4CEB-A42E-F29DB3F1063A}" type="presParOf" srcId="{B4415200-9A31-416F-BF4E-AFDB33F1C844}" destId="{4EAD1EC0-FA99-475A-8A25-302BFAA48BA3}" srcOrd="0" destOrd="0" presId="urn:microsoft.com/office/officeart/2005/8/layout/hierarchy1"/>
    <dgm:cxn modelId="{85C77BE0-A510-46E7-8007-8B4A8BCDF4C4}" type="presParOf" srcId="{4EAD1EC0-FA99-475A-8A25-302BFAA48BA3}" destId="{E8DD389A-BB67-4690-A27C-775F7C308E70}" srcOrd="0" destOrd="0" presId="urn:microsoft.com/office/officeart/2005/8/layout/hierarchy1"/>
    <dgm:cxn modelId="{9F05352B-A6F2-4FB3-81FF-03EC78724A35}" type="presParOf" srcId="{E8DD389A-BB67-4690-A27C-775F7C308E70}" destId="{C945B909-2E5E-426B-8CED-D83467E61ED2}" srcOrd="0" destOrd="0" presId="urn:microsoft.com/office/officeart/2005/8/layout/hierarchy1"/>
    <dgm:cxn modelId="{8C725362-0660-4960-A67F-AC2A5B37C4E7}" type="presParOf" srcId="{E8DD389A-BB67-4690-A27C-775F7C308E70}" destId="{C67AEEB4-C41C-4AD4-B132-752258DA248A}" srcOrd="1" destOrd="0" presId="urn:microsoft.com/office/officeart/2005/8/layout/hierarchy1"/>
    <dgm:cxn modelId="{68237DD4-D733-47F7-A9A7-2DF0E076C973}" type="presParOf" srcId="{4EAD1EC0-FA99-475A-8A25-302BFAA48BA3}" destId="{786167E8-30BE-4C81-87AC-EF96CED59D9E}" srcOrd="1" destOrd="0" presId="urn:microsoft.com/office/officeart/2005/8/layout/hierarchy1"/>
    <dgm:cxn modelId="{894A265D-C4A1-4CA8-8B0B-C8BC14FAAB32}" type="presParOf" srcId="{786167E8-30BE-4C81-87AC-EF96CED59D9E}" destId="{3539EA19-7A85-430A-B4CD-82090A26E693}" srcOrd="0" destOrd="0" presId="urn:microsoft.com/office/officeart/2005/8/layout/hierarchy1"/>
    <dgm:cxn modelId="{20041DAC-00FA-4142-8904-045FB41C7CAA}" type="presParOf" srcId="{786167E8-30BE-4C81-87AC-EF96CED59D9E}" destId="{F927F5AA-C318-4369-9B46-CC5E2A5D75AB}" srcOrd="1" destOrd="0" presId="urn:microsoft.com/office/officeart/2005/8/layout/hierarchy1"/>
    <dgm:cxn modelId="{A3481CAF-0E9E-452C-884B-637B9788730E}" type="presParOf" srcId="{F927F5AA-C318-4369-9B46-CC5E2A5D75AB}" destId="{F8C6C817-1EEC-4A5E-9954-647A19F0A03E}" srcOrd="0" destOrd="0" presId="urn:microsoft.com/office/officeart/2005/8/layout/hierarchy1"/>
    <dgm:cxn modelId="{D42E37A8-8A9E-43E1-83F8-0FBF31F97B31}" type="presParOf" srcId="{F8C6C817-1EEC-4A5E-9954-647A19F0A03E}" destId="{4894BFB9-8E6D-4042-9280-854B59B28B73}" srcOrd="0" destOrd="0" presId="urn:microsoft.com/office/officeart/2005/8/layout/hierarchy1"/>
    <dgm:cxn modelId="{D9783796-6893-4EF8-8665-D229F8A9B81B}" type="presParOf" srcId="{F8C6C817-1EEC-4A5E-9954-647A19F0A03E}" destId="{2535CB1D-B21C-46C2-99CD-A999D6370E1A}" srcOrd="1" destOrd="0" presId="urn:microsoft.com/office/officeart/2005/8/layout/hierarchy1"/>
    <dgm:cxn modelId="{2A1DDFC8-A3D6-4CB7-921B-2E9E842F4275}" type="presParOf" srcId="{F927F5AA-C318-4369-9B46-CC5E2A5D75AB}" destId="{AFB5DCBA-95BF-4F3E-9F4C-974956B96A6A}" srcOrd="1" destOrd="0" presId="urn:microsoft.com/office/officeart/2005/8/layout/hierarchy1"/>
    <dgm:cxn modelId="{0D83A702-D8F0-4F08-AC9A-286406EA6A08}" type="presParOf" srcId="{AFB5DCBA-95BF-4F3E-9F4C-974956B96A6A}" destId="{FF06149D-B054-41D1-8974-F052B23DB9A0}" srcOrd="0" destOrd="0" presId="urn:microsoft.com/office/officeart/2005/8/layout/hierarchy1"/>
    <dgm:cxn modelId="{B2B4CFB2-1DC9-4BB9-9180-C42C17E4C62D}" type="presParOf" srcId="{AFB5DCBA-95BF-4F3E-9F4C-974956B96A6A}" destId="{02EC97A7-DA42-4EBC-8ACF-62DD5E4E933C}" srcOrd="1" destOrd="0" presId="urn:microsoft.com/office/officeart/2005/8/layout/hierarchy1"/>
    <dgm:cxn modelId="{3AC09CE8-B7A9-4091-90F4-AD3A47915135}" type="presParOf" srcId="{02EC97A7-DA42-4EBC-8ACF-62DD5E4E933C}" destId="{7096C549-132E-4325-BFA7-5BF350159309}" srcOrd="0" destOrd="0" presId="urn:microsoft.com/office/officeart/2005/8/layout/hierarchy1"/>
    <dgm:cxn modelId="{0C1EABA2-7ECB-48D3-B3F9-4134AE1155F7}" type="presParOf" srcId="{7096C549-132E-4325-BFA7-5BF350159309}" destId="{57EA749B-FEB3-493B-AED1-9DA18D6C5C32}" srcOrd="0" destOrd="0" presId="urn:microsoft.com/office/officeart/2005/8/layout/hierarchy1"/>
    <dgm:cxn modelId="{8204510B-332D-458C-9499-A6C6EC400469}" type="presParOf" srcId="{7096C549-132E-4325-BFA7-5BF350159309}" destId="{8FB0C5E4-59CF-4D0C-9599-5D79607589F5}" srcOrd="1" destOrd="0" presId="urn:microsoft.com/office/officeart/2005/8/layout/hierarchy1"/>
    <dgm:cxn modelId="{B3C6067C-A040-4F37-B0FC-EB1075D9405A}" type="presParOf" srcId="{02EC97A7-DA42-4EBC-8ACF-62DD5E4E933C}" destId="{1AAC7632-60ED-4808-ADBF-98DD98EE5098}" srcOrd="1" destOrd="0" presId="urn:microsoft.com/office/officeart/2005/8/layout/hierarchy1"/>
    <dgm:cxn modelId="{44AE8423-CFAF-44C5-8BB9-3AEEC3993085}" type="presParOf" srcId="{1AAC7632-60ED-4808-ADBF-98DD98EE5098}" destId="{836D9FDF-0751-404F-B699-39CC4369A28E}" srcOrd="0" destOrd="0" presId="urn:microsoft.com/office/officeart/2005/8/layout/hierarchy1"/>
    <dgm:cxn modelId="{F782E440-CE77-4F9D-8679-23D51010272D}" type="presParOf" srcId="{1AAC7632-60ED-4808-ADBF-98DD98EE5098}" destId="{FB19840F-A124-4C16-9102-CBA6C862DDF5}" srcOrd="1" destOrd="0" presId="urn:microsoft.com/office/officeart/2005/8/layout/hierarchy1"/>
    <dgm:cxn modelId="{C87EADDD-11AB-4B6C-B89A-802B6661C63F}" type="presParOf" srcId="{FB19840F-A124-4C16-9102-CBA6C862DDF5}" destId="{FD2D0F09-977E-4043-B4ED-F24EA9ACCC4B}" srcOrd="0" destOrd="0" presId="urn:microsoft.com/office/officeart/2005/8/layout/hierarchy1"/>
    <dgm:cxn modelId="{B46EACB4-62DE-440C-8388-F34CDA75DD3B}" type="presParOf" srcId="{FD2D0F09-977E-4043-B4ED-F24EA9ACCC4B}" destId="{DC224FB9-4E17-4A34-985E-A8C2705A20DE}" srcOrd="0" destOrd="0" presId="urn:microsoft.com/office/officeart/2005/8/layout/hierarchy1"/>
    <dgm:cxn modelId="{8924149E-8CF3-4107-9146-26265CD8A1A7}" type="presParOf" srcId="{FD2D0F09-977E-4043-B4ED-F24EA9ACCC4B}" destId="{4CB74E25-A0B6-4486-BE45-C4C22B05669E}" srcOrd="1" destOrd="0" presId="urn:microsoft.com/office/officeart/2005/8/layout/hierarchy1"/>
    <dgm:cxn modelId="{AB07127F-7620-4D69-A4B0-6DFFADF1E00D}" type="presParOf" srcId="{FB19840F-A124-4C16-9102-CBA6C862DDF5}" destId="{B957CD94-39B0-410B-BE45-C13AAE136027}" srcOrd="1" destOrd="0" presId="urn:microsoft.com/office/officeart/2005/8/layout/hierarchy1"/>
    <dgm:cxn modelId="{F665E535-680B-4A02-862A-5483F1DEAA0F}" type="presParOf" srcId="{786167E8-30BE-4C81-87AC-EF96CED59D9E}" destId="{D2BD6CA6-E700-43E1-997B-99E033BE0A68}" srcOrd="2" destOrd="0" presId="urn:microsoft.com/office/officeart/2005/8/layout/hierarchy1"/>
    <dgm:cxn modelId="{A223C184-4AD8-4CEC-AB42-61D9FA43379F}" type="presParOf" srcId="{786167E8-30BE-4C81-87AC-EF96CED59D9E}" destId="{F747E223-0799-4B9D-9D3D-BEEF365F92E1}" srcOrd="3" destOrd="0" presId="urn:microsoft.com/office/officeart/2005/8/layout/hierarchy1"/>
    <dgm:cxn modelId="{101E694C-2457-40F0-8D04-F504A127B93B}" type="presParOf" srcId="{F747E223-0799-4B9D-9D3D-BEEF365F92E1}" destId="{AC8405BE-F920-4C04-9183-27E54D1A2F71}" srcOrd="0" destOrd="0" presId="urn:microsoft.com/office/officeart/2005/8/layout/hierarchy1"/>
    <dgm:cxn modelId="{F56028B4-18FC-4A29-BBC0-D2FE1DEFDCFC}" type="presParOf" srcId="{AC8405BE-F920-4C04-9183-27E54D1A2F71}" destId="{7A33DAAE-A249-4CFD-96D6-1650940B8FFD}" srcOrd="0" destOrd="0" presId="urn:microsoft.com/office/officeart/2005/8/layout/hierarchy1"/>
    <dgm:cxn modelId="{16544D66-D9C0-4815-8CB1-787FB8D26E3F}" type="presParOf" srcId="{AC8405BE-F920-4C04-9183-27E54D1A2F71}" destId="{5CAC216B-31BB-4B00-9528-42698BC079B7}" srcOrd="1" destOrd="0" presId="urn:microsoft.com/office/officeart/2005/8/layout/hierarchy1"/>
    <dgm:cxn modelId="{7A3F3BB7-A39E-405B-AA32-333A9C91DA86}" type="presParOf" srcId="{F747E223-0799-4B9D-9D3D-BEEF365F92E1}" destId="{87D3FE1A-D67C-424B-ADE2-8BC694D04CA1}" srcOrd="1" destOrd="0" presId="urn:microsoft.com/office/officeart/2005/8/layout/hierarchy1"/>
    <dgm:cxn modelId="{8EB932C9-00A1-4AF2-8681-9A7FBA7F25B5}" type="presParOf" srcId="{87D3FE1A-D67C-424B-ADE2-8BC694D04CA1}" destId="{3D3856C1-2283-4DDC-82B4-2DE481751CA2}" srcOrd="0" destOrd="0" presId="urn:microsoft.com/office/officeart/2005/8/layout/hierarchy1"/>
    <dgm:cxn modelId="{241CA7F2-9E1A-4714-BA48-FE49A154A8B3}" type="presParOf" srcId="{87D3FE1A-D67C-424B-ADE2-8BC694D04CA1}" destId="{EC2A112E-07E6-485D-9967-CC96B1A2EC66}" srcOrd="1" destOrd="0" presId="urn:microsoft.com/office/officeart/2005/8/layout/hierarchy1"/>
    <dgm:cxn modelId="{39F46357-768F-4FC2-94F6-22EBF1BAF1A0}" type="presParOf" srcId="{EC2A112E-07E6-485D-9967-CC96B1A2EC66}" destId="{CD0CA0FD-51F8-411E-AB04-0C4B6CF11761}" srcOrd="0" destOrd="0" presId="urn:microsoft.com/office/officeart/2005/8/layout/hierarchy1"/>
    <dgm:cxn modelId="{4DCDB4E8-DB5B-42C4-9557-28413CB91554}" type="presParOf" srcId="{CD0CA0FD-51F8-411E-AB04-0C4B6CF11761}" destId="{2E1D51F5-B89F-48EC-A62D-5CE850830652}" srcOrd="0" destOrd="0" presId="urn:microsoft.com/office/officeart/2005/8/layout/hierarchy1"/>
    <dgm:cxn modelId="{74808972-EF3E-4BBB-B69F-9C834D01C293}" type="presParOf" srcId="{CD0CA0FD-51F8-411E-AB04-0C4B6CF11761}" destId="{7A0259A8-C254-4681-AF1B-51FD2DB36DAC}" srcOrd="1" destOrd="0" presId="urn:microsoft.com/office/officeart/2005/8/layout/hierarchy1"/>
    <dgm:cxn modelId="{54D6CB9A-A96F-4250-8E34-18DC866C0033}" type="presParOf" srcId="{EC2A112E-07E6-485D-9967-CC96B1A2EC66}" destId="{12FCCFEB-FA40-4A72-919E-3636D956C485}" srcOrd="1" destOrd="0" presId="urn:microsoft.com/office/officeart/2005/8/layout/hierarchy1"/>
    <dgm:cxn modelId="{D4B14D43-90FF-44EE-A886-FCDCAEE190F7}" type="presParOf" srcId="{12FCCFEB-FA40-4A72-919E-3636D956C485}" destId="{1AE3B005-236E-4FC2-AD4E-CEAC99F00B29}" srcOrd="0" destOrd="0" presId="urn:microsoft.com/office/officeart/2005/8/layout/hierarchy1"/>
    <dgm:cxn modelId="{D1E066FB-6189-4372-874A-B644DCA48A39}" type="presParOf" srcId="{12FCCFEB-FA40-4A72-919E-3636D956C485}" destId="{BB97E8D2-C1B0-4D28-B757-7737B942BCE8}" srcOrd="1" destOrd="0" presId="urn:microsoft.com/office/officeart/2005/8/layout/hierarchy1"/>
    <dgm:cxn modelId="{8680BD3A-A9E5-466A-B9A8-7E183739DD23}" type="presParOf" srcId="{BB97E8D2-C1B0-4D28-B757-7737B942BCE8}" destId="{A095304E-0094-4535-A7E2-110667B2C612}" srcOrd="0" destOrd="0" presId="urn:microsoft.com/office/officeart/2005/8/layout/hierarchy1"/>
    <dgm:cxn modelId="{5A447F63-C2ED-4B66-B816-AD671003008D}" type="presParOf" srcId="{A095304E-0094-4535-A7E2-110667B2C612}" destId="{0FC9D7FC-A6D3-4B93-B573-B4977A6AF58C}" srcOrd="0" destOrd="0" presId="urn:microsoft.com/office/officeart/2005/8/layout/hierarchy1"/>
    <dgm:cxn modelId="{9FF7E04F-35A4-45CC-B123-2F7E4B2CBCA9}" type="presParOf" srcId="{A095304E-0094-4535-A7E2-110667B2C612}" destId="{A3CE0A27-2F75-47CA-8DB8-49E46B230916}" srcOrd="1" destOrd="0" presId="urn:microsoft.com/office/officeart/2005/8/layout/hierarchy1"/>
    <dgm:cxn modelId="{412C3C69-6C71-4116-B073-D6470604E9F9}" type="presParOf" srcId="{BB97E8D2-C1B0-4D28-B757-7737B942BCE8}" destId="{9D50FF3A-8D70-4431-ACC8-53403C7A445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3856C1-2283-4DDC-82B4-2DE481751CA2}">
      <dsp:nvSpPr>
        <dsp:cNvPr id="0" name=""/>
        <dsp:cNvSpPr/>
      </dsp:nvSpPr>
      <dsp:spPr>
        <a:xfrm>
          <a:off x="5009376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20770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5450"/>
              </a:lnTo>
              <a:lnTo>
                <a:pt x="1034325" y="335450"/>
              </a:lnTo>
              <a:lnTo>
                <a:pt x="1034325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7FBFB8-805A-40D0-8B8F-0C93EEF77527}">
      <dsp:nvSpPr>
        <dsp:cNvPr id="0" name=""/>
        <dsp:cNvSpPr/>
      </dsp:nvSpPr>
      <dsp:spPr>
        <a:xfrm>
          <a:off x="2940724" y="2642769"/>
          <a:ext cx="91440" cy="4922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922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986444" y="1075766"/>
          <a:ext cx="1034325" cy="492245"/>
        </a:xfrm>
        <a:custGeom>
          <a:avLst/>
          <a:gdLst/>
          <a:ahLst/>
          <a:cxnLst/>
          <a:rect l="0" t="0" r="0" b="0"/>
          <a:pathLst>
            <a:path>
              <a:moveTo>
                <a:pt x="1034325" y="0"/>
              </a:moveTo>
              <a:lnTo>
                <a:pt x="1034325" y="335450"/>
              </a:lnTo>
              <a:lnTo>
                <a:pt x="0" y="335450"/>
              </a:lnTo>
              <a:lnTo>
                <a:pt x="0" y="4922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174503" y="1007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362563" y="179663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IShape</a:t>
          </a:r>
          <a:endParaRPr lang="ru-RU" sz="2600" kern="1200" dirty="0"/>
        </a:p>
      </dsp:txBody>
      <dsp:txXfrm>
        <a:off x="3394042" y="211142"/>
        <a:ext cx="1629574" cy="1011800"/>
      </dsp:txXfrm>
    </dsp:sp>
    <dsp:sp modelId="{4894BFB9-8E6D-4042-9280-854B59B28B73}">
      <dsp:nvSpPr>
        <dsp:cNvPr id="0" name=""/>
        <dsp:cNvSpPr/>
      </dsp:nvSpPr>
      <dsp:spPr>
        <a:xfrm>
          <a:off x="2140178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328237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IRectangle</a:t>
          </a:r>
          <a:endParaRPr lang="ru-RU" sz="2600" kern="1200" dirty="0"/>
        </a:p>
      </dsp:txBody>
      <dsp:txXfrm>
        <a:off x="2359716" y="1778146"/>
        <a:ext cx="1629574" cy="1011800"/>
      </dsp:txXfrm>
    </dsp:sp>
    <dsp:sp modelId="{83471DAB-984A-4FDC-BFC2-9E7827AF7C11}">
      <dsp:nvSpPr>
        <dsp:cNvPr id="0" name=""/>
        <dsp:cNvSpPr/>
      </dsp:nvSpPr>
      <dsp:spPr>
        <a:xfrm>
          <a:off x="2140178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4E9A1B-354D-48C9-8159-9A0F76BC1AA5}">
      <dsp:nvSpPr>
        <dsp:cNvPr id="0" name=""/>
        <dsp:cNvSpPr/>
      </dsp:nvSpPr>
      <dsp:spPr>
        <a:xfrm>
          <a:off x="2328237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Rectangle</a:t>
          </a:r>
          <a:endParaRPr lang="ru-RU" sz="2600" kern="1200" dirty="0"/>
        </a:p>
      </dsp:txBody>
      <dsp:txXfrm>
        <a:off x="2359716" y="3345149"/>
        <a:ext cx="1629574" cy="1011800"/>
      </dsp:txXfrm>
    </dsp:sp>
    <dsp:sp modelId="{7A33DAAE-A249-4CFD-96D6-1650940B8FFD}">
      <dsp:nvSpPr>
        <dsp:cNvPr id="0" name=""/>
        <dsp:cNvSpPr/>
      </dsp:nvSpPr>
      <dsp:spPr>
        <a:xfrm>
          <a:off x="4208829" y="1568011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396888" y="1746667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ICircle</a:t>
          </a:r>
          <a:endParaRPr lang="ru-RU" sz="2600" kern="1200" dirty="0"/>
        </a:p>
      </dsp:txBody>
      <dsp:txXfrm>
        <a:off x="4428367" y="1778146"/>
        <a:ext cx="1629574" cy="1011800"/>
      </dsp:txXfrm>
    </dsp:sp>
    <dsp:sp modelId="{2E1D51F5-B89F-48EC-A62D-5CE850830652}">
      <dsp:nvSpPr>
        <dsp:cNvPr id="0" name=""/>
        <dsp:cNvSpPr/>
      </dsp:nvSpPr>
      <dsp:spPr>
        <a:xfrm>
          <a:off x="4208829" y="3135014"/>
          <a:ext cx="1692532" cy="1074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96888" y="3313670"/>
          <a:ext cx="1692532" cy="107475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Circle</a:t>
          </a:r>
          <a:endParaRPr lang="ru-RU" sz="2600" kern="1200" dirty="0"/>
        </a:p>
      </dsp:txBody>
      <dsp:txXfrm>
        <a:off x="4428367" y="3345149"/>
        <a:ext cx="1629574" cy="10118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E3B005-236E-4FC2-AD4E-CEAC99F00B29}">
      <dsp:nvSpPr>
        <dsp:cNvPr id="0" name=""/>
        <dsp:cNvSpPr/>
      </dsp:nvSpPr>
      <dsp:spPr>
        <a:xfrm>
          <a:off x="5241107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3856C1-2283-4DDC-82B4-2DE481751CA2}">
      <dsp:nvSpPr>
        <dsp:cNvPr id="0" name=""/>
        <dsp:cNvSpPr/>
      </dsp:nvSpPr>
      <dsp:spPr>
        <a:xfrm>
          <a:off x="5241107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BD6CA6-E700-43E1-997B-99E033BE0A68}">
      <dsp:nvSpPr>
        <dsp:cNvPr id="0" name=""/>
        <dsp:cNvSpPr/>
      </dsp:nvSpPr>
      <dsp:spPr>
        <a:xfrm>
          <a:off x="4040460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5206"/>
              </a:lnTo>
              <a:lnTo>
                <a:pt x="1246367" y="265206"/>
              </a:lnTo>
              <a:lnTo>
                <a:pt x="1246367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6D9FDF-0751-404F-B699-39CC4369A28E}">
      <dsp:nvSpPr>
        <dsp:cNvPr id="0" name=""/>
        <dsp:cNvSpPr/>
      </dsp:nvSpPr>
      <dsp:spPr>
        <a:xfrm>
          <a:off x="2748372" y="3327937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06149D-B054-41D1-8974-F052B23DB9A0}">
      <dsp:nvSpPr>
        <dsp:cNvPr id="0" name=""/>
        <dsp:cNvSpPr/>
      </dsp:nvSpPr>
      <dsp:spPr>
        <a:xfrm>
          <a:off x="2748372" y="2089066"/>
          <a:ext cx="91440" cy="38916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916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39EA19-7A85-430A-B4CD-82090A26E693}">
      <dsp:nvSpPr>
        <dsp:cNvPr id="0" name=""/>
        <dsp:cNvSpPr/>
      </dsp:nvSpPr>
      <dsp:spPr>
        <a:xfrm>
          <a:off x="2794092" y="850196"/>
          <a:ext cx="1246367" cy="389168"/>
        </a:xfrm>
        <a:custGeom>
          <a:avLst/>
          <a:gdLst/>
          <a:ahLst/>
          <a:cxnLst/>
          <a:rect l="0" t="0" r="0" b="0"/>
          <a:pathLst>
            <a:path>
              <a:moveTo>
                <a:pt x="1246367" y="0"/>
              </a:moveTo>
              <a:lnTo>
                <a:pt x="1246367" y="265206"/>
              </a:lnTo>
              <a:lnTo>
                <a:pt x="0" y="265206"/>
              </a:lnTo>
              <a:lnTo>
                <a:pt x="0" y="38916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5B909-2E5E-426B-8CED-D83467E61ED2}">
      <dsp:nvSpPr>
        <dsp:cNvPr id="0" name=""/>
        <dsp:cNvSpPr/>
      </dsp:nvSpPr>
      <dsp:spPr>
        <a:xfrm>
          <a:off x="3371403" y="49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AEEB4-C41C-4AD4-B132-752258DA248A}">
      <dsp:nvSpPr>
        <dsp:cNvPr id="0" name=""/>
        <dsp:cNvSpPr/>
      </dsp:nvSpPr>
      <dsp:spPr>
        <a:xfrm>
          <a:off x="3520082" y="14173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IShape</a:t>
          </a:r>
          <a:endParaRPr lang="ru-RU" sz="1200" kern="1200" dirty="0"/>
        </a:p>
      </dsp:txBody>
      <dsp:txXfrm>
        <a:off x="3544969" y="166626"/>
        <a:ext cx="1288339" cy="799928"/>
      </dsp:txXfrm>
    </dsp:sp>
    <dsp:sp modelId="{4894BFB9-8E6D-4042-9280-854B59B28B73}">
      <dsp:nvSpPr>
        <dsp:cNvPr id="0" name=""/>
        <dsp:cNvSpPr/>
      </dsp:nvSpPr>
      <dsp:spPr>
        <a:xfrm>
          <a:off x="2125036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35CB1D-B21C-46C2-99CD-A999D6370E1A}">
      <dsp:nvSpPr>
        <dsp:cNvPr id="0" name=""/>
        <dsp:cNvSpPr/>
      </dsp:nvSpPr>
      <dsp:spPr>
        <a:xfrm>
          <a:off x="2273715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IRectangle</a:t>
          </a:r>
          <a:endParaRPr lang="ru-RU" sz="1200" kern="1200" dirty="0"/>
        </a:p>
      </dsp:txBody>
      <dsp:txXfrm>
        <a:off x="2298602" y="1405496"/>
        <a:ext cx="1288339" cy="799928"/>
      </dsp:txXfrm>
    </dsp:sp>
    <dsp:sp modelId="{57EA749B-FEB3-493B-AED1-9DA18D6C5C32}">
      <dsp:nvSpPr>
        <dsp:cNvPr id="0" name=""/>
        <dsp:cNvSpPr/>
      </dsp:nvSpPr>
      <dsp:spPr>
        <a:xfrm>
          <a:off x="1696404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0C5E4-59CF-4D0C-9599-5D79607589F5}">
      <dsp:nvSpPr>
        <dsp:cNvPr id="0" name=""/>
        <dsp:cNvSpPr/>
      </dsp:nvSpPr>
      <dsp:spPr>
        <a:xfrm>
          <a:off x="1845084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IRectangle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1869971" y="2644367"/>
        <a:ext cx="2145602" cy="799928"/>
      </dsp:txXfrm>
    </dsp:sp>
    <dsp:sp modelId="{DC224FB9-4E17-4A34-985E-A8C2705A20DE}">
      <dsp:nvSpPr>
        <dsp:cNvPr id="0" name=""/>
        <dsp:cNvSpPr/>
      </dsp:nvSpPr>
      <dsp:spPr>
        <a:xfrm>
          <a:off x="2125036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B74E25-A0B6-4486-BE45-C4C22B05669E}">
      <dsp:nvSpPr>
        <dsp:cNvPr id="0" name=""/>
        <dsp:cNvSpPr/>
      </dsp:nvSpPr>
      <dsp:spPr>
        <a:xfrm>
          <a:off x="2273715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CRectangle</a:t>
          </a:r>
          <a:endParaRPr lang="ru-RU" sz="1200" kern="1200" dirty="0"/>
        </a:p>
      </dsp:txBody>
      <dsp:txXfrm>
        <a:off x="2298602" y="3883237"/>
        <a:ext cx="1288339" cy="799928"/>
      </dsp:txXfrm>
    </dsp:sp>
    <dsp:sp modelId="{7A33DAAE-A249-4CFD-96D6-1650940B8FFD}">
      <dsp:nvSpPr>
        <dsp:cNvPr id="0" name=""/>
        <dsp:cNvSpPr/>
      </dsp:nvSpPr>
      <dsp:spPr>
        <a:xfrm>
          <a:off x="4617770" y="1239364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C216B-31BB-4B00-9528-42698BC079B7}">
      <dsp:nvSpPr>
        <dsp:cNvPr id="0" name=""/>
        <dsp:cNvSpPr/>
      </dsp:nvSpPr>
      <dsp:spPr>
        <a:xfrm>
          <a:off x="4766450" y="1380609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ICircle</a:t>
          </a:r>
          <a:endParaRPr lang="ru-RU" sz="1200" kern="1200" dirty="0"/>
        </a:p>
      </dsp:txBody>
      <dsp:txXfrm>
        <a:off x="4791337" y="1405496"/>
        <a:ext cx="1288339" cy="799928"/>
      </dsp:txXfrm>
    </dsp:sp>
    <dsp:sp modelId="{2E1D51F5-B89F-48EC-A62D-5CE850830652}">
      <dsp:nvSpPr>
        <dsp:cNvPr id="0" name=""/>
        <dsp:cNvSpPr/>
      </dsp:nvSpPr>
      <dsp:spPr>
        <a:xfrm>
          <a:off x="4189139" y="2478234"/>
          <a:ext cx="2195376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0259A8-C254-4681-AF1B-51FD2DB36DAC}">
      <dsp:nvSpPr>
        <dsp:cNvPr id="0" name=""/>
        <dsp:cNvSpPr/>
      </dsp:nvSpPr>
      <dsp:spPr>
        <a:xfrm>
          <a:off x="4337818" y="2619480"/>
          <a:ext cx="2195376" cy="84970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3">
          <a:schemeClr val="accent3"/>
        </a:fillRef>
        <a:effectRef idx="2">
          <a:schemeClr val="accent3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С</a:t>
          </a:r>
          <a:r>
            <a:rPr lang="en-US" sz="1200" kern="1200" dirty="0" err="1"/>
            <a:t>ShapeImpl</a:t>
          </a:r>
          <a:r>
            <a:rPr lang="en-US" sz="1200" kern="1200" dirty="0"/>
            <a:t>&lt;</a:t>
          </a:r>
          <a:r>
            <a:rPr lang="en-US" sz="1200" kern="1200" dirty="0" err="1"/>
            <a:t>ICircle</a:t>
          </a:r>
          <a:r>
            <a:rPr lang="en-US" sz="1200" kern="1200" dirty="0"/>
            <a:t>&gt;</a:t>
          </a:r>
          <a:endParaRPr lang="ru-RU" sz="1200" kern="1200" dirty="0"/>
        </a:p>
      </dsp:txBody>
      <dsp:txXfrm>
        <a:off x="4362705" y="2644367"/>
        <a:ext cx="2145602" cy="799928"/>
      </dsp:txXfrm>
    </dsp:sp>
    <dsp:sp modelId="{0FC9D7FC-A6D3-4B93-B573-B4977A6AF58C}">
      <dsp:nvSpPr>
        <dsp:cNvPr id="0" name=""/>
        <dsp:cNvSpPr/>
      </dsp:nvSpPr>
      <dsp:spPr>
        <a:xfrm>
          <a:off x="4617770" y="3717105"/>
          <a:ext cx="1338113" cy="8497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CE0A27-2F75-47CA-8DB8-49E46B230916}">
      <dsp:nvSpPr>
        <dsp:cNvPr id="0" name=""/>
        <dsp:cNvSpPr/>
      </dsp:nvSpPr>
      <dsp:spPr>
        <a:xfrm>
          <a:off x="4766450" y="3858350"/>
          <a:ext cx="1338113" cy="8497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CCircle</a:t>
          </a:r>
          <a:endParaRPr lang="ru-RU" sz="1200" kern="1200" dirty="0"/>
        </a:p>
      </dsp:txBody>
      <dsp:txXfrm>
        <a:off x="4791337" y="3883237"/>
        <a:ext cx="1288339" cy="7999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09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</a:p>
        </p:txBody>
      </p:sp>
      <p:sp>
        <p:nvSpPr>
          <p:cNvPr id="409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ru-RU"/>
          </a:p>
        </p:txBody>
      </p:sp>
      <p:sp>
        <p:nvSpPr>
          <p:cNvPr id="409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9A0D427E-DCF5-460F-9C23-B31B0A8C8FE3}" type="slidenum">
              <a:rPr lang="ru-RU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5170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2EBC386-BC34-49BC-84B4-35E24D0CF2F7}" type="slidenum">
              <a:rPr lang="ru-RU"/>
              <a:pPr/>
              <a:t>1</a:t>
            </a:fld>
            <a:endParaRPr lang="ru-RU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166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6234DE-C50C-426F-9C41-91586DAF2F00}" type="slidenum">
              <a:rPr lang="ru-RU"/>
              <a:pPr/>
              <a:t>2</a:t>
            </a:fld>
            <a:endParaRPr lang="ru-RU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Обобщённое программирование — это парадигма, ориентированная на создание универсальных алгоритмов, которые не зависят от конкретного типа данных.</a:t>
            </a:r>
          </a:p>
          <a:p>
            <a:endParaRPr lang="ru-RU" dirty="0"/>
          </a:p>
          <a:p>
            <a:r>
              <a:rPr lang="ru-RU" dirty="0"/>
              <a:t>На практике мы очень часто сталкиваемся с ситуацией, когда одна и та же логика должна работать с разными типами. Например, алгоритм сортировки одинаково применим и к целым числам, и к вещественным значениям, и к строкам. Аналогичная ситуация возникает при работе с контейнерами и обработке коллекций.</a:t>
            </a:r>
          </a:p>
          <a:p>
            <a:endParaRPr lang="ru-RU" dirty="0"/>
          </a:p>
          <a:p>
            <a:r>
              <a:rPr lang="ru-RU" dirty="0"/>
              <a:t>Без механизмов обобщения программисту пришлось бы многократно дублировать один и тот же код для каждого типа данных. Это усложняет сопровождение программы и увеличивает вероятность ошибок.</a:t>
            </a:r>
          </a:p>
          <a:p>
            <a:endParaRPr lang="ru-RU" dirty="0"/>
          </a:p>
          <a:p>
            <a:r>
              <a:rPr lang="ru-RU" dirty="0"/>
              <a:t>Идея обобщённого программирования заключается в том, чтобы описать алгоритм один раз и затем применять его к различным типам данных.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6497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C++ обобщённое программирование реализуется с помощью шаблонов — </a:t>
            </a:r>
            <a:r>
              <a:rPr lang="ru-RU" dirty="0" err="1"/>
              <a:t>templates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позволяет определить функцию или класс, в котором тип данных задаётся не сразу, а через параметр шаблона. В примере на слайде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ru-RU" dirty="0"/>
              <a:t> работает с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который будет заменён на конкретный тип при использовании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программист вызывает шаблон с определённым типом, компилятор автоматически генерирует соответствующую реализацию функции или класса. Например, отдельно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en-US" dirty="0"/>
          </a:p>
          <a:p>
            <a:r>
              <a:rPr lang="ru-RU" dirty="0"/>
              <a:t>Такой подход даёт несколько преимуществ: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становится более универсальным;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уменьшается дублирование;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сохраняется высокая производительность, поскольку генерация выполняется на этапе компиляции;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обеспечивается строгая типизация и </a:t>
            </a:r>
            <a:r>
              <a:rPr lang="ru-RU" dirty="0" err="1"/>
              <a:t>типобезопасность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Именно шаблоны являются основой стандартной библиотеки C++, включая контейнеры STL и большинство алгоритмов.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452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3790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задачу: необходимо реализовать функцию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</a:t>
            </a:r>
            <a:r>
              <a:rPr lang="ru-RU" dirty="0"/>
              <a:t>, которая возвращает большее из двух значений.</a:t>
            </a:r>
          </a:p>
          <a:p>
            <a:endParaRPr lang="ru-RU" dirty="0"/>
          </a:p>
          <a:p>
            <a:r>
              <a:rPr lang="ru-RU" dirty="0"/>
              <a:t>Проблема заключается в том, что функция должна работать с различными типами данных — целыми числами, вещественными числами и другими типами.</a:t>
            </a:r>
          </a:p>
          <a:p>
            <a:endParaRPr lang="ru-RU" dirty="0"/>
          </a:p>
          <a:p>
            <a:r>
              <a:rPr lang="ru-RU" dirty="0"/>
              <a:t>Наиболее очевидный способ решения — перегрузка функций. Мы создаём несколько функций с одинаковым именем, но разными типами параметров.</a:t>
            </a:r>
          </a:p>
          <a:p>
            <a:endParaRPr lang="ru-RU" dirty="0"/>
          </a:p>
          <a:p>
            <a:r>
              <a:rPr lang="ru-RU" dirty="0"/>
              <a:t>Однако легко заметить, что тело функции во всех случаях практически одинаково. Отличаются только типы аргументов и возвращаемого значения.</a:t>
            </a:r>
          </a:p>
          <a:p>
            <a:endParaRPr lang="ru-RU" dirty="0"/>
          </a:p>
          <a:p>
            <a:r>
              <a:rPr lang="ru-RU" dirty="0"/>
              <a:t>Такой подход приводит к дублированию кода. Если потребуется изменить алгоритм или исправить ошибку, изменения придётся вносить во все версии функции. В больших проектах это усложняет сопровождение программы и увеличивает вероятность несогласованности между реализациями.</a:t>
            </a:r>
          </a:p>
          <a:p>
            <a:endParaRPr lang="ru-RU" dirty="0"/>
          </a:p>
          <a:p>
            <a:r>
              <a:rPr lang="ru-RU" dirty="0"/>
              <a:t>Именно эта проблема стала одной из причин появления механизмов обобщённого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483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устранения дублирования в C++ используются шаблоны функций.</a:t>
            </a:r>
          </a:p>
          <a:p>
            <a:endParaRPr lang="ru-RU" dirty="0"/>
          </a:p>
          <a:p>
            <a:r>
              <a:rPr lang="ru-RU" dirty="0"/>
              <a:t>Вместо нескольких однотипных реализаций программист описывает общий алгоритм один раз. Тип данных задаётся через параметр шаблона — в данном случае через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функция вызывается с конкретным типом,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, компилятор автоматически создаёт соответствующую реализацию функции.</a:t>
            </a:r>
          </a:p>
          <a:p>
            <a:endParaRPr lang="ru-RU" dirty="0"/>
          </a:p>
          <a:p>
            <a:r>
              <a:rPr lang="ru-RU" dirty="0"/>
              <a:t>Таким образом, шаблоны позволяют объединить множество однотипных функций в одно универсальное описание.</a:t>
            </a:r>
          </a:p>
          <a:p>
            <a:endParaRPr lang="ru-RU" dirty="0"/>
          </a:p>
          <a:p>
            <a:r>
              <a:rPr lang="ru-RU" dirty="0"/>
              <a:t>Однако у шаблонов есть особенности. Поскольку генерация кода происходит во время компиляции, компилятору необходимо видеть полное определение шаблона в каждой единице компиляции, где он используется. Поэтому реализация шаблонов обычно размещается в заголовочных файлах.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Это приводит к двум последствиям: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изменение шаблона требует перекомпиляции зависимого кода;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исходный код шаблона становится доступен пользователю библиотеки.</a:t>
            </a:r>
          </a:p>
          <a:p>
            <a:endParaRPr lang="ru-RU" dirty="0"/>
          </a:p>
          <a:p>
            <a:r>
              <a:rPr lang="ru-RU" dirty="0"/>
              <a:t>Несмотря на эти ограничения, шаблоны являются фундаментальным механизмом языка C++ и широко используются в стандартной библиотеке STL.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444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шаблонной функции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которая сортирует три значения по возрастанию.</a:t>
            </a:r>
          </a:p>
          <a:p>
            <a:r>
              <a:rPr lang="ru-RU" dirty="0"/>
              <a:t>Функция </a:t>
            </a:r>
            <a:r>
              <a:rPr lang="ru-RU" dirty="0" err="1"/>
              <a:t>параметризована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может работать с любыми типами данных, для которых определена операция сравнения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swap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здесь очень простой:</a:t>
            </a:r>
            <a:br>
              <a:rPr lang="ru-RU" dirty="0"/>
            </a:br>
            <a:r>
              <a:rPr lang="ru-RU" dirty="0"/>
              <a:t>сначала сравниваются первые два элемента, затем второй и третий, после чего снова проверяются первые два элемента.</a:t>
            </a:r>
          </a:p>
          <a:p>
            <a:endParaRPr lang="ru-RU" dirty="0"/>
          </a:p>
          <a:p>
            <a:r>
              <a:rPr lang="ru-RU" dirty="0"/>
              <a:t>Важно обратить внимание на то, что описание алгоритма выполняется только один раз. Нам не нужно отдельно писать версии функции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ru-RU" dirty="0"/>
              <a:t> или других типов.</a:t>
            </a:r>
          </a:p>
          <a:p>
            <a:endParaRPr lang="ru-RU" dirty="0"/>
          </a:p>
          <a:p>
            <a:r>
              <a:rPr lang="ru-RU" dirty="0"/>
              <a:t>Однако часто возникает вопрос:</a:t>
            </a:r>
            <a:br>
              <a:rPr lang="ru-RU" dirty="0"/>
            </a:br>
            <a:r>
              <a:rPr lang="ru-RU" dirty="0"/>
              <a:t>не приводит ли использование шаблонов к потере производительности?</a:t>
            </a:r>
          </a:p>
          <a:p>
            <a:r>
              <a:rPr lang="ru-RU" dirty="0"/>
              <a:t>Чтобы ответить на него, посмотрим, какой код компилятор генерирует для шаблонной функции.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474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использование шаблонной функции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</a:t>
            </a:r>
            <a:r>
              <a:rPr lang="ru-RU" dirty="0"/>
              <a:t> вызывает шаблон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Sort3</a:t>
            </a:r>
            <a:r>
              <a:rPr lang="ru-RU" dirty="0"/>
              <a:t>, передавая в него целочисленные значения.</a:t>
            </a:r>
          </a:p>
          <a:p>
            <a:r>
              <a:rPr lang="ru-RU" dirty="0"/>
              <a:t>Ниже представлен ассемблерный код, который был сгенерирован компилятором после </a:t>
            </a:r>
            <a:r>
              <a:rPr lang="ru-RU" dirty="0" err="1"/>
              <a:t>инстанцирования</a:t>
            </a:r>
            <a:r>
              <a:rPr lang="ru-RU" dirty="0"/>
              <a:t> шаблона для типа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</a:t>
            </a:r>
            <a:br>
              <a:rPr lang="ru-RU" dirty="0"/>
            </a:br>
            <a:r>
              <a:rPr lang="ru-RU" dirty="0"/>
              <a:t>в итоговом машинном коде уже нет никаких шаблонов или абстракций. Компилятор полностью подставил конкретный тип и создал обычную специализированную функцию.</a:t>
            </a:r>
          </a:p>
          <a:p>
            <a:endParaRPr lang="ru-RU" dirty="0"/>
          </a:p>
          <a:p>
            <a:r>
              <a:rPr lang="ru-RU" dirty="0"/>
              <a:t>Фактически после компиляции программа содержит такой же низкоуровневый код, как если бы мы изначально написали реализацию вручную специально для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очень важное свойство шаблонов C++:</a:t>
            </a:r>
            <a:br>
              <a:rPr lang="ru-RU" dirty="0"/>
            </a:br>
            <a:r>
              <a:rPr lang="ru-RU" dirty="0"/>
              <a:t>обобщённость достигается без дополнительных накладных расходов во время выполнения программы.</a:t>
            </a:r>
          </a:p>
          <a:p>
            <a:r>
              <a:rPr lang="ru-RU" dirty="0"/>
              <a:t>Такой подход часто называют </a:t>
            </a:r>
            <a:r>
              <a:rPr lang="ru-RU" i="1" dirty="0" err="1"/>
              <a:t>zero-cost</a:t>
            </a:r>
            <a:r>
              <a:rPr lang="ru-RU" i="1" dirty="0"/>
              <a:t> </a:t>
            </a:r>
            <a:r>
              <a:rPr lang="ru-RU" i="1" dirty="0" err="1"/>
              <a:t>abstraction</a:t>
            </a:r>
            <a:r>
              <a:rPr lang="ru-RU" dirty="0"/>
              <a:t> — «абстракция без накладных расходов».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237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функция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SortIntsManual</a:t>
            </a:r>
            <a:r>
              <a:rPr lang="ru-RU" dirty="0"/>
              <a:t>, написанная вручную без использования шаблонов.</a:t>
            </a:r>
          </a:p>
          <a:p>
            <a:r>
              <a:rPr lang="ru-RU" dirty="0"/>
              <a:t>Ниже снова приведён ассемблерный код, сгенерированный компилятором.</a:t>
            </a:r>
          </a:p>
          <a:p>
            <a:endParaRPr lang="ru-RU" dirty="0"/>
          </a:p>
          <a:p>
            <a:r>
              <a:rPr lang="ru-RU" dirty="0"/>
              <a:t>Если сравнить его с предыдущим слайдом, можно увидеть, что инструкции практически идентичны. Отличаются только внутренние имена меток, которые компилятор использует при генерации кода.</a:t>
            </a:r>
          </a:p>
          <a:p>
            <a:r>
              <a:rPr lang="ru-RU" dirty="0"/>
              <a:t>Это означает, что шаблонная версия не уступает ручной реализации по эффективности.</a:t>
            </a:r>
          </a:p>
          <a:p>
            <a:endParaRPr lang="ru-RU" dirty="0"/>
          </a:p>
          <a:p>
            <a:r>
              <a:rPr lang="ru-RU" dirty="0"/>
              <a:t>Именно поэтому шаблоны получили столь широкое распространение в C++:</a:t>
            </a:r>
            <a:br>
              <a:rPr lang="ru-RU" dirty="0"/>
            </a:br>
            <a:r>
              <a:rPr lang="ru-RU" dirty="0"/>
              <a:t>они позволяют писать универсальный и переиспользуемый код, сохраняя производительность на уровне специализированных реализаций.</a:t>
            </a:r>
          </a:p>
          <a:p>
            <a:endParaRPr lang="ru-RU" dirty="0"/>
          </a:p>
          <a:p>
            <a:r>
              <a:rPr lang="ru-RU" dirty="0"/>
              <a:t>На практике большая часть стандартной библиотеки STL построена именно на этом принципе.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4972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289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шаблонов функций, язык C++ поддерживает шаблоны классов.</a:t>
            </a:r>
          </a:p>
          <a:p>
            <a:endParaRPr lang="ru-RU" dirty="0"/>
          </a:p>
          <a:p>
            <a:r>
              <a:rPr lang="ru-RU" dirty="0"/>
              <a:t>Идея здесь аналогична: программист описывает общий класс один раз, а конкретный тип данных задаётся позже — при создании объекта.</a:t>
            </a:r>
          </a:p>
          <a:p>
            <a:endParaRPr lang="ru-RU" dirty="0"/>
          </a:p>
          <a:p>
            <a:r>
              <a:rPr lang="ru-RU" dirty="0"/>
              <a:t>Шаблон класса можно рассматривать как «чертёж» для построения множества конкретных классов.</a:t>
            </a:r>
          </a:p>
          <a:p>
            <a:endParaRPr lang="ru-RU" dirty="0"/>
          </a:p>
          <a:p>
            <a:r>
              <a:rPr lang="ru-RU" dirty="0"/>
              <a:t>Например, на основе одного шаблона можно автоматически получить контейнер для целых чисел, строк или пользовательских объектов.</a:t>
            </a:r>
          </a:p>
          <a:p>
            <a:endParaRPr lang="ru-RU" dirty="0"/>
          </a:p>
          <a:p>
            <a:r>
              <a:rPr lang="ru-RU" dirty="0"/>
              <a:t>Шаблоны классов особенно активно используются в стандартной библиотеке STL. Практически все контейнеры стандартной библиотеки являются шаблонными. Например,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 — это разные специализации одного и того же шаблона.</a:t>
            </a:r>
          </a:p>
          <a:p>
            <a:endParaRPr lang="ru-RU" dirty="0"/>
          </a:p>
          <a:p>
            <a:r>
              <a:rPr lang="ru-RU" dirty="0"/>
              <a:t>Также шаблоны широко применяются при реализации умных указателей и компонентов библиотеки </a:t>
            </a:r>
            <a:r>
              <a:rPr lang="ru-RU" dirty="0" err="1"/>
              <a:t>Boost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Как и в случае с шаблонными функциями, компилятор должен видеть реализацию методов шаблонного класса во всех единицах компиляции, где шаблон используется. Поэтому определения методов обычно размещаются в заголовочных файлах.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455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 простого шаблонного класса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Шаблон </a:t>
            </a:r>
            <a:r>
              <a:rPr lang="ru-RU" dirty="0" err="1"/>
              <a:t>параметризован</a:t>
            </a:r>
            <a:r>
              <a:rPr lang="ru-RU" dirty="0"/>
              <a:t> типом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массив может хранить элементы любого типа данных.</a:t>
            </a:r>
          </a:p>
          <a:p>
            <a:r>
              <a:rPr lang="ru-RU" dirty="0"/>
              <a:t>Внутри класса используются операции, типичные для динамического массива:</a:t>
            </a:r>
            <a:r>
              <a:rPr lang="en-US" dirty="0"/>
              <a:t> </a:t>
            </a:r>
            <a:r>
              <a:rPr lang="ru-RU" dirty="0"/>
              <a:t>добавление элемента, изменение размера и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внимание:</a:t>
            </a:r>
            <a:r>
              <a:rPr lang="en-US" dirty="0"/>
              <a:t> </a:t>
            </a:r>
            <a:r>
              <a:rPr lang="ru-RU" dirty="0"/>
              <a:t>тип элементов нигде не зафиксирован жёстко. Вместо конкретного типа используется параметр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Ниже показано использование этого шаблона.</a:t>
            </a:r>
          </a:p>
          <a:p>
            <a:r>
              <a:rPr lang="ru-RU" dirty="0"/>
              <a:t>В первом случае создаётся массив целых чисел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втором — массив строк —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компиляции для каждого используемого типа будет создана собственная специализация класса.</a:t>
            </a:r>
          </a:p>
          <a:p>
            <a:r>
              <a:rPr lang="ru-RU" dirty="0"/>
              <a:t>Таким образом, один шаблон позволяет получить целое семейство контейнеров без дублирования кода.</a:t>
            </a:r>
          </a:p>
          <a:p>
            <a:endParaRPr lang="en-US" dirty="0"/>
          </a:p>
          <a:p>
            <a:r>
              <a:rPr lang="ru-RU" dirty="0"/>
              <a:t>Кроме универсальности, шаблоны обеспечивают строгую типизацию. Например, компилятор не позволит случайно поместить строку в массив целых чисел. Ошибка будет обнаружена ещё на этапе компиляции.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4377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1023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оператор фактически представляет собой специальную функцию. Поэтому операторы, так же как и обычные функции, могут быть шаблонными.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практике шаблонные операторы особенно полезны для поддержки потокового ввода и вывода. Благодаря этому пользовательские типы могут работать со стандартными потоками так же удобно, как встроенные типы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279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качестве примера рассмотрим шаблонный класс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, описывающий двумерный вектор. Тип координат задаётся параметром шаблона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поэтому вектор может хранить как целые, так и вещественные значения.</a:t>
            </a:r>
          </a:p>
          <a:p>
            <a:r>
              <a:rPr lang="ru-RU" dirty="0"/>
              <a:t>Далее мы реализуем для этого класса шаблонные операторы ввода и вывода.</a:t>
            </a:r>
          </a:p>
          <a:p>
            <a:endParaRPr lang="en-US" dirty="0"/>
          </a:p>
          <a:p>
            <a:r>
              <a:rPr lang="ru-RU" dirty="0"/>
              <a:t>Шаблонный оператор вывода принимает поток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basic_ostream</a:t>
            </a:r>
            <a:r>
              <a:rPr lang="ru-RU" dirty="0"/>
              <a:t> и объект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Vector2D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шаблон </a:t>
            </a:r>
            <a:r>
              <a:rPr lang="ru-RU" dirty="0" err="1"/>
              <a:t>параметризован</a:t>
            </a:r>
            <a:r>
              <a:rPr lang="ru-RU" dirty="0"/>
              <a:t> сразу двумя типами.</a:t>
            </a:r>
          </a:p>
          <a:p>
            <a:r>
              <a:rPr lang="ru-RU" dirty="0"/>
              <a:t>Параметр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 задаёт тип координат вектора, а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CharT</a:t>
            </a:r>
            <a:r>
              <a:rPr lang="ru-RU" dirty="0"/>
              <a:t> определяет тип символов потока. Благодаря этому один и тот же оператор может работать как с обычными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ru-RU" dirty="0"/>
              <a:t>, так и с широкими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wcout</a:t>
            </a:r>
            <a:r>
              <a:rPr lang="ru-RU" dirty="0"/>
              <a:t>.</a:t>
            </a:r>
          </a:p>
          <a:p>
            <a:r>
              <a:rPr lang="ru-RU" dirty="0"/>
              <a:t>Внутри оператора объект выводится в текстовом виде, например: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(10, 20)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ввода выполняет обратную задачу — считывает координаты вектора из потока.</a:t>
            </a:r>
          </a:p>
          <a:p>
            <a:r>
              <a:rPr lang="ru-RU" dirty="0"/>
              <a:t>Оператор ожидает данные в формате: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(x, y)</a:t>
            </a:r>
            <a:r>
              <a:rPr lang="ru-RU" dirty="0"/>
              <a:t>.</a:t>
            </a:r>
          </a:p>
          <a:p>
            <a:r>
              <a:rPr lang="ru-RU" dirty="0"/>
              <a:t>Если входные данные соответствуют ожидаемому формату, координаты записываются в объект вектора.</a:t>
            </a:r>
          </a:p>
          <a:p>
            <a:r>
              <a:rPr lang="ru-RU" dirty="0"/>
              <a:t>Если формат нарушен, устанавливается флаг ошибки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failbit</a:t>
            </a:r>
            <a:r>
              <a:rPr lang="ru-RU" dirty="0"/>
              <a:t>. Это стандартный механизм обработки ошибок потокового ввода в STL.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21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600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использовали шаблоны, параметризованные типами данных.</a:t>
            </a:r>
          </a:p>
          <a:p>
            <a:r>
              <a:rPr lang="ru-RU" dirty="0"/>
              <a:t>Однако в C++ параметры шаблонов могут представлять не только типы, но и значения, известные на этапе компиляции.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параметры называют нетиповыми параметрами шаблонов.</a:t>
            </a:r>
          </a:p>
          <a:p>
            <a:r>
              <a:rPr lang="ru-RU" dirty="0"/>
              <a:t>В качестве таких параметров могут использоваться целые числа, логические значения, элементы перечислений, указатели и некоторые другие </a:t>
            </a:r>
            <a:r>
              <a:rPr lang="ru-RU" dirty="0" err="1"/>
              <a:t>compile-time</a:t>
            </a:r>
            <a:r>
              <a:rPr lang="ru-RU" dirty="0"/>
              <a:t>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позволяет делать шаблоны более гибкими. Например, можно </a:t>
            </a:r>
            <a:r>
              <a:rPr lang="ru-RU" dirty="0" err="1"/>
              <a:t>параметризовать</a:t>
            </a:r>
            <a:r>
              <a:rPr lang="ru-RU" dirty="0"/>
              <a:t> класс размером массива, режимом работы объекта или политикой управления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Ключевая идея состоит в том, что часть поведения программы задаётся ещё во время компиляции, а не во время выполнения.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46767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шаблона с нетиповым параметром.</a:t>
            </a:r>
          </a:p>
          <a:p>
            <a:r>
              <a:rPr lang="ru-RU" dirty="0"/>
              <a:t>Помимо типа 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ru-RU" dirty="0"/>
              <a:t>, шаблон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</a:t>
            </a:r>
            <a:r>
              <a:rPr lang="ru-RU" dirty="0"/>
              <a:t>, задающий размер массива.</a:t>
            </a:r>
          </a:p>
          <a:p>
            <a:r>
              <a:rPr lang="ru-RU" dirty="0"/>
              <a:t>Размер становится частью типа объекта: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10&gt;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SimpleArray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20&gt;</a:t>
            </a:r>
            <a:r>
              <a:rPr lang="ru-RU" dirty="0"/>
              <a:t> — это разные типы.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обычного массива языка C++, здесь реализована дополнительная функциональность: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проверка выхода за границы;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получение размера через метод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GetSize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автоматическая инициализация элементов.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позволяет создавать более безопасные и удобные контейнеры.</a:t>
            </a:r>
          </a:p>
          <a:p>
            <a:r>
              <a:rPr lang="ru-RU" dirty="0"/>
              <a:t>Кроме того, размер известен компилятору заранее, поэтому память выделяется статически, без динамического распределения памяти во время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03403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Нетиповые параметры позволяют задавать не только данные, но и поведение класса.</a:t>
            </a:r>
          </a:p>
          <a:p>
            <a:r>
              <a:rPr lang="ru-RU" dirty="0"/>
              <a:t>В данном примере шаблон </a:t>
            </a:r>
            <a:r>
              <a:rPr lang="ru-RU" dirty="0" err="1"/>
              <a:t>параметризован</a:t>
            </a:r>
            <a:r>
              <a:rPr lang="ru-RU" dirty="0"/>
              <a:t> логическим значением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Managed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параметр равен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ru-RU" dirty="0"/>
              <a:t>, объект автоматически закрывает файл при уничтожении. Если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ru-RU" dirty="0"/>
              <a:t>, объект работает как обычный файловый дескриптор без автоматического управления ресурсом.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на основе одного шаблона создаются два разных варианта поведения: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FileHandle</a:t>
            </a:r>
            <a:r>
              <a:rPr lang="ru-RU" dirty="0"/>
              <a:t> — лёгкая оболочка над файловым дескриптором;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AutoFile</a:t>
            </a:r>
            <a:r>
              <a:rPr lang="ru-RU" dirty="0"/>
              <a:t> — объект с автоматическим освобождением ресурса. </a:t>
            </a:r>
          </a:p>
          <a:p>
            <a:endParaRPr lang="en-US" dirty="0"/>
          </a:p>
          <a:p>
            <a:r>
              <a:rPr lang="ru-RU" dirty="0"/>
              <a:t>Обратите внимание, что решение принимается на этапе компиляции.</a:t>
            </a:r>
          </a:p>
          <a:p>
            <a:r>
              <a:rPr lang="ru-RU" dirty="0"/>
              <a:t>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ru-RU" dirty="0"/>
              <a:t> позволяет компилятору удалить неиспользуемую ветку кода, поэтому дополнительной стоимости во время выполнения не возникает.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ещё один пример философии C++:</a:t>
            </a:r>
            <a:r>
              <a:rPr lang="en-US" dirty="0"/>
              <a:t> </a:t>
            </a:r>
            <a:r>
              <a:rPr lang="ru-RU" dirty="0"/>
              <a:t>максимальная гибкость при сохранении высокой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0656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93712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282C78-2F85-4878-B743-F3F9FA1B1A55}" type="slidenum">
              <a:rPr lang="ru-RU"/>
              <a:pPr/>
              <a:t>21</a:t>
            </a:fld>
            <a:endParaRPr lang="ru-RU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одинаково</a:t>
            </a:r>
            <a:r>
              <a:rPr lang="en-US" dirty="0"/>
              <a:t> </a:t>
            </a:r>
            <a:r>
              <a:rPr lang="en-US" dirty="0" err="1"/>
              <a:t>работающие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нередко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</a:t>
            </a:r>
            <a:r>
              <a:rPr lang="en-US" dirty="0" err="1"/>
              <a:t>указателей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структур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эффективная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правильная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в C++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i="1" dirty="0"/>
              <a:t>primary template</a:t>
            </a:r>
            <a:r>
              <a:rPr lang="en-US" dirty="0"/>
              <a:t> — </a:t>
            </a:r>
            <a:r>
              <a:rPr lang="en-US" dirty="0" err="1"/>
              <a:t>первичным</a:t>
            </a:r>
            <a:r>
              <a:rPr lang="en-US" dirty="0"/>
              <a:t> </a:t>
            </a:r>
            <a:r>
              <a:rPr lang="en-US" dirty="0" err="1"/>
              <a:t>шаблоном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специализированные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случаев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конкретизированы</a:t>
            </a:r>
            <a:r>
              <a:rPr lang="en-US" dirty="0"/>
              <a:t>.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возможна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конкретизировать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контейнеры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.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поддерживается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STL и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и </a:t>
            </a:r>
            <a:r>
              <a:rPr lang="en-US" dirty="0" err="1"/>
              <a:t>адаптации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05128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68DB26-FD42-4570-B8A7-6594A0F5585C}" type="slidenum">
              <a:rPr lang="ru-RU"/>
              <a:pPr/>
              <a:t>22</a:t>
            </a:fld>
            <a:endParaRPr lang="ru-RU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dirty="0" err="1"/>
              <a:t>стиле</a:t>
            </a:r>
            <a:r>
              <a:rPr lang="en-US" dirty="0"/>
              <a:t> C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указателями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 &gt; b</a:t>
            </a:r>
            <a:r>
              <a:rPr lang="en-US" dirty="0"/>
              <a:t> </a:t>
            </a:r>
            <a:r>
              <a:rPr lang="en-US" dirty="0" err="1"/>
              <a:t>сравнивает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а </a:t>
            </a:r>
            <a:r>
              <a:rPr lang="en-US" dirty="0" err="1"/>
              <a:t>адреса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указывают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неправильному</a:t>
            </a:r>
            <a:r>
              <a:rPr lang="en-US" dirty="0"/>
              <a:t> </a:t>
            </a:r>
            <a:r>
              <a:rPr lang="en-US" dirty="0" err="1"/>
              <a:t>поведению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исправить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,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strcmp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лексикографическое</a:t>
            </a:r>
            <a:r>
              <a:rPr lang="en-US" dirty="0"/>
              <a:t> </a:t>
            </a: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символам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Maximum(1, 2)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Maximum("hello", "world")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выбирается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строковых</a:t>
            </a:r>
            <a:r>
              <a:rPr lang="en-US" dirty="0"/>
              <a:t> </a:t>
            </a:r>
            <a:r>
              <a:rPr lang="en-US" dirty="0" err="1"/>
              <a:t>литералов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адаптировать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сохраняя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24938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информации</a:t>
            </a:r>
            <a:r>
              <a:rPr lang="en-US" dirty="0"/>
              <a:t> о </a:t>
            </a:r>
            <a:r>
              <a:rPr lang="en-US" dirty="0" err="1"/>
              <a:t>типах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основан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type traits</a:t>
            </a:r>
            <a:r>
              <a:rPr lang="en-US" dirty="0"/>
              <a:t> — </a:t>
            </a:r>
            <a:r>
              <a:rPr lang="en-US" dirty="0" err="1"/>
              <a:t>характеристик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/>
              <a:t>Type trait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типе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указателем</a:t>
            </a:r>
            <a:r>
              <a:rPr lang="en-US" dirty="0"/>
              <a:t>, </a:t>
            </a:r>
            <a:r>
              <a:rPr lang="en-US" dirty="0" err="1"/>
              <a:t>константным</a:t>
            </a:r>
            <a:r>
              <a:rPr lang="en-US" dirty="0"/>
              <a:t>,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определённые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проверки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каких-либо</a:t>
            </a:r>
            <a:r>
              <a:rPr lang="en-US" dirty="0"/>
              <a:t> </a:t>
            </a:r>
            <a:r>
              <a:rPr lang="en-US" dirty="0" err="1"/>
              <a:t>затрат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C++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type traits </a:t>
            </a:r>
            <a:r>
              <a:rPr lang="en-US" dirty="0" err="1"/>
              <a:t>внутри</a:t>
            </a:r>
            <a:r>
              <a:rPr lang="en-US" dirty="0"/>
              <a:t> STL и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большой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готовых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is_integral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is_pointer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,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type trait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проверки</a:t>
            </a:r>
            <a:r>
              <a:rPr lang="en-US" dirty="0"/>
              <a:t>,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23392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type trait.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объявляется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вводится</a:t>
            </a:r>
            <a:r>
              <a:rPr lang="en-US" dirty="0"/>
              <a:t> </a:t>
            </a:r>
            <a:r>
              <a:rPr lang="en-US" dirty="0" err="1"/>
              <a:t>вспомогательная</a:t>
            </a:r>
            <a:r>
              <a:rPr lang="en-US" dirty="0"/>
              <a:t> </a:t>
            </a:r>
            <a:r>
              <a:rPr lang="en-US" dirty="0" err="1"/>
              <a:t>константа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IsIntegralV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упростить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type trait и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::value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вспомогательный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IsIntegralTrue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полной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задаются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unsigned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истинным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с </a:t>
            </a:r>
            <a:r>
              <a:rPr lang="en-US" dirty="0" err="1"/>
              <a:t>конкретными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compile-time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никаких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.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181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созданного</a:t>
            </a:r>
            <a:r>
              <a:rPr lang="en-US" dirty="0"/>
              <a:t> type trait.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en-US" dirty="0"/>
              <a:t>,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 </a:t>
            </a:r>
            <a:r>
              <a:rPr lang="en-US" dirty="0" err="1"/>
              <a:t>Неиспользуемая</a:t>
            </a:r>
            <a:r>
              <a:rPr lang="en-US" dirty="0"/>
              <a:t> </a:t>
            </a:r>
            <a:r>
              <a:rPr lang="en-US" dirty="0" err="1"/>
              <a:t>ветка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удаляется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,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</a:t>
            </a:r>
            <a:r>
              <a:rPr lang="en-US" dirty="0" err="1"/>
              <a:t>префикс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0x</a:t>
            </a:r>
            <a:r>
              <a:rPr lang="en-US" dirty="0"/>
              <a:t>, а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печатается</a:t>
            </a:r>
            <a:r>
              <a:rPr lang="en-US" dirty="0"/>
              <a:t> в </a:t>
            </a:r>
            <a:r>
              <a:rPr lang="en-US" dirty="0" err="1"/>
              <a:t>шестнадцатеричном</a:t>
            </a:r>
            <a:r>
              <a:rPr lang="en-US" dirty="0"/>
              <a:t> </a:t>
            </a:r>
            <a:r>
              <a:rPr lang="en-US" dirty="0" err="1"/>
              <a:t>формате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вещественных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static_assert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compile-time </a:t>
            </a: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type trait.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условие</a:t>
            </a:r>
            <a:r>
              <a:rPr lang="en-US" dirty="0"/>
              <a:t> </a:t>
            </a:r>
            <a:r>
              <a:rPr lang="en-US" dirty="0" err="1"/>
              <a:t>окажется</a:t>
            </a:r>
            <a:r>
              <a:rPr lang="en-US" dirty="0"/>
              <a:t> </a:t>
            </a:r>
            <a:r>
              <a:rPr lang="en-US" dirty="0" err="1"/>
              <a:t>ложным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в </a:t>
            </a:r>
            <a:r>
              <a:rPr lang="en-US" dirty="0" err="1"/>
              <a:t>шестнадцатеричном</a:t>
            </a:r>
            <a:r>
              <a:rPr lang="en-US" dirty="0"/>
              <a:t> </a:t>
            </a:r>
            <a:r>
              <a:rPr lang="en-US" dirty="0" err="1"/>
              <a:t>виде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0x64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10.5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идей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C++:</a:t>
            </a:r>
            <a:r>
              <a:rPr lang="ru-RU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в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свойств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1988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полной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фиксируем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, а </a:t>
            </a:r>
            <a:r>
              <a:rPr lang="en-US" dirty="0" err="1"/>
              <a:t>описываем</a:t>
            </a:r>
            <a:r>
              <a:rPr lang="en-US" dirty="0"/>
              <a:t> </a:t>
            </a:r>
            <a:r>
              <a:rPr lang="en-US" dirty="0" err="1"/>
              <a:t>целую</a:t>
            </a:r>
            <a:r>
              <a:rPr lang="en-US" dirty="0"/>
              <a:t> </a:t>
            </a:r>
            <a:r>
              <a:rPr lang="en-US" dirty="0" err="1"/>
              <a:t>категорию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IsPointer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</a:t>
            </a:r>
            <a:r>
              <a:rPr lang="en-US" dirty="0" err="1"/>
              <a:t>считает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указателем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объявляется</a:t>
            </a:r>
            <a:r>
              <a:rPr lang="en-US" dirty="0"/>
              <a:t>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T*</a:t>
            </a:r>
            <a:r>
              <a:rPr lang="en-US" dirty="0"/>
              <a:t>.</a:t>
            </a:r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T*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».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int*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double*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std::string*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любых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конкретным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, а с </a:t>
            </a:r>
            <a:r>
              <a:rPr lang="en-US" dirty="0" err="1"/>
              <a:t>целым</a:t>
            </a:r>
            <a:r>
              <a:rPr lang="en-US" dirty="0"/>
              <a:t> </a:t>
            </a:r>
            <a:r>
              <a:rPr lang="en-US" dirty="0" err="1"/>
              <a:t>семейством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удовлетворяющих</a:t>
            </a:r>
            <a:r>
              <a:rPr lang="en-US" dirty="0"/>
              <a:t> </a:t>
            </a:r>
            <a:r>
              <a:rPr lang="en-US" dirty="0" err="1"/>
              <a:t>некоторому</a:t>
            </a:r>
            <a:r>
              <a:rPr lang="en-US" dirty="0"/>
              <a:t> </a:t>
            </a:r>
            <a:r>
              <a:rPr lang="en-US" dirty="0" err="1"/>
              <a:t>шаблону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static_assert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и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int*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double*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частичную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и </a:t>
            </a:r>
            <a:r>
              <a:rPr lang="en-US" dirty="0" err="1"/>
              <a:t>классификации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0611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std::vector&lt;T&gt;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непрерывный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 </a:t>
            </a:r>
            <a:r>
              <a:rPr lang="en-US" dirty="0" err="1"/>
              <a:t>разработчики</a:t>
            </a:r>
            <a:r>
              <a:rPr lang="en-US" dirty="0"/>
              <a:t> STL </a:t>
            </a:r>
            <a:r>
              <a:rPr lang="en-US" dirty="0" err="1"/>
              <a:t>приняли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true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false</a:t>
            </a:r>
            <a:r>
              <a:rPr lang="en-US" dirty="0"/>
              <a:t> —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специализированная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std::vector&lt;bool&gt;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упакованный</a:t>
            </a:r>
            <a:r>
              <a:rPr lang="en-US" dirty="0"/>
              <a:t> </a:t>
            </a:r>
            <a:r>
              <a:rPr lang="en-US" dirty="0" err="1"/>
              <a:t>битовый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экономить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оптимизация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контейнера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vector&lt;bool&gt;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ссылку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bool&amp;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индексирования</a:t>
            </a:r>
            <a:r>
              <a:rPr lang="en-US" dirty="0"/>
              <a:t>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proxy-</a:t>
            </a:r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имитирующий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ссылки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std::vector&lt;bool&gt;</a:t>
            </a:r>
            <a:r>
              <a:rPr lang="en-US" dirty="0"/>
              <a:t> </a:t>
            </a:r>
            <a:r>
              <a:rPr lang="en-US" dirty="0" err="1"/>
              <a:t>ведёт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немного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std::vector&lt;T&gt;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исправления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эффективных</a:t>
            </a:r>
            <a:r>
              <a:rPr lang="en-US" dirty="0"/>
              <a:t> </a:t>
            </a:r>
            <a:r>
              <a:rPr lang="en-US" dirty="0" err="1"/>
              <a:t>реализаций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131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C++.</a:t>
            </a:r>
          </a:p>
          <a:p>
            <a:endParaRPr lang="en-US" dirty="0"/>
          </a:p>
          <a:p>
            <a:r>
              <a:rPr lang="en-US" dirty="0" err="1"/>
              <a:t>Контейнеры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unordered_map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unordered_set</a:t>
            </a:r>
            <a:r>
              <a:rPr lang="en-US" dirty="0"/>
              <a:t> </a:t>
            </a:r>
            <a:r>
              <a:rPr lang="en-US" dirty="0" err="1"/>
              <a:t>основаны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хеш-таблицах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хеша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готовые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вычислять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программисту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, </a:t>
            </a:r>
            <a:r>
              <a:rPr lang="en-US" dirty="0" err="1"/>
              <a:t>содержащая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std::hash&lt;Point&gt;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, </a:t>
            </a:r>
            <a:r>
              <a:rPr lang="en-US" dirty="0" err="1"/>
              <a:t>комбинируя</a:t>
            </a:r>
            <a:r>
              <a:rPr lang="en-US" dirty="0"/>
              <a:t> </a:t>
            </a:r>
            <a:r>
              <a:rPr lang="en-US" dirty="0" err="1"/>
              <a:t>хеши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полей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в </a:t>
            </a:r>
            <a:r>
              <a:rPr lang="en-US" dirty="0" err="1"/>
              <a:t>контейнерах</a:t>
            </a:r>
            <a:r>
              <a:rPr lang="en-US" dirty="0"/>
              <a:t> STL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хеш-таблиц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явного</a:t>
            </a:r>
            <a:r>
              <a:rPr lang="en-US" dirty="0"/>
              <a:t> </a:t>
            </a:r>
            <a:r>
              <a:rPr lang="en-US" dirty="0" err="1"/>
              <a:t>указания</a:t>
            </a:r>
            <a:r>
              <a:rPr lang="en-US" dirty="0"/>
              <a:t> </a:t>
            </a:r>
            <a:r>
              <a:rPr lang="en-US" dirty="0" err="1"/>
              <a:t>хеш-функции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адаптируем</a:t>
            </a:r>
            <a:r>
              <a:rPr lang="en-US" dirty="0"/>
              <a:t> </a:t>
            </a:r>
            <a:r>
              <a:rPr lang="en-US" dirty="0" err="1"/>
              <a:t>инфраструктуру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поддержки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628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358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ru-RU" dirty="0"/>
              <a:t>перегрузка и специализация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 </a:t>
            </a:r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 и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— </a:t>
            </a:r>
            <a:r>
              <a:rPr lang="en-US" i="1" dirty="0"/>
              <a:t>overload resolution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участвуют</a:t>
            </a:r>
            <a:r>
              <a:rPr lang="en-US" dirty="0"/>
              <a:t> в </a:t>
            </a:r>
            <a:r>
              <a:rPr lang="en-US" dirty="0" err="1"/>
              <a:t>выборе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: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, 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подходящая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Следующее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—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гибко</a:t>
            </a:r>
            <a:r>
              <a:rPr lang="en-US" dirty="0"/>
              <a:t> </a:t>
            </a:r>
            <a:r>
              <a:rPr lang="en-US" dirty="0" err="1"/>
              <a:t>обрабатывать</a:t>
            </a:r>
            <a:r>
              <a:rPr lang="en-US" dirty="0"/>
              <a:t> </a:t>
            </a:r>
            <a:r>
              <a:rPr lang="en-US" dirty="0" err="1"/>
              <a:t>случаи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неявно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соответствия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неявные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к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вызвать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—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совпадать</a:t>
            </a:r>
            <a:r>
              <a:rPr lang="en-US" dirty="0"/>
              <a:t>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ADL — </a:t>
            </a:r>
            <a:r>
              <a:rPr lang="en-US" i="1" dirty="0"/>
              <a:t>Argument-Dependent Lookup</a:t>
            </a:r>
            <a:r>
              <a:rPr lang="en-US" dirty="0"/>
              <a:t>.</a:t>
            </a:r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пространству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операторов</a:t>
            </a:r>
            <a:r>
              <a:rPr lang="en-US" dirty="0"/>
              <a:t> и </a:t>
            </a:r>
            <a:r>
              <a:rPr lang="en-US" dirty="0" err="1"/>
              <a:t>свободных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STL.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существование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гибким</a:t>
            </a:r>
            <a:r>
              <a:rPr lang="en-US" dirty="0"/>
              <a:t> и </a:t>
            </a:r>
            <a:r>
              <a:rPr lang="en-US" dirty="0" err="1"/>
              <a:t>предпочтительным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в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внутреннюю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связать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compile-time </a:t>
            </a:r>
            <a:r>
              <a:rPr lang="en-US" dirty="0" err="1"/>
              <a:t>информацию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адаптировать</a:t>
            </a:r>
            <a:r>
              <a:rPr lang="en-US" dirty="0"/>
              <a:t> </a:t>
            </a:r>
            <a:r>
              <a:rPr lang="en-US" dirty="0" err="1"/>
              <a:t>существующий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STL,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type traits 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 </a:t>
            </a:r>
            <a:r>
              <a:rPr lang="en-US" dirty="0" err="1"/>
              <a:t>основаны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79659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перечислены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предпочтительнее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жёстко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с </a:t>
            </a:r>
            <a:r>
              <a:rPr lang="en-US" dirty="0" err="1"/>
              <a:t>конкретным</a:t>
            </a:r>
            <a:r>
              <a:rPr lang="en-US" dirty="0"/>
              <a:t> </a:t>
            </a:r>
            <a:r>
              <a:rPr lang="en-US" dirty="0" err="1"/>
              <a:t>шаблоном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именем</a:t>
            </a:r>
            <a:r>
              <a:rPr lang="en-US" dirty="0"/>
              <a:t> и </a:t>
            </a:r>
            <a:r>
              <a:rPr lang="en-US" dirty="0" err="1"/>
              <a:t>другим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— </a:t>
            </a:r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неявных</a:t>
            </a:r>
            <a:r>
              <a:rPr lang="en-US" dirty="0"/>
              <a:t> </a:t>
            </a:r>
            <a:r>
              <a:rPr lang="en-US" dirty="0" err="1"/>
              <a:t>преобразований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выбирать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.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поддерживают</a:t>
            </a:r>
            <a:r>
              <a:rPr lang="en-US" dirty="0"/>
              <a:t> и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совпадения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— </a:t>
            </a:r>
            <a:r>
              <a:rPr lang="en-US" dirty="0" err="1"/>
              <a:t>поддержка</a:t>
            </a:r>
            <a:r>
              <a:rPr lang="en-US" dirty="0"/>
              <a:t> ADL,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i="1" dirty="0"/>
              <a:t>Argument-Dependent Lookup</a:t>
            </a:r>
            <a:r>
              <a:rPr lang="en-US" dirty="0"/>
              <a:t>.</a:t>
            </a:r>
          </a:p>
          <a:p>
            <a:r>
              <a:rPr lang="en-US" dirty="0" err="1"/>
              <a:t>Перегруженные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операторов</a:t>
            </a:r>
            <a:r>
              <a:rPr lang="en-US" dirty="0"/>
              <a:t> и </a:t>
            </a:r>
            <a:r>
              <a:rPr lang="en-US" dirty="0" err="1"/>
              <a:t>свободных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, </a:t>
            </a:r>
            <a:r>
              <a:rPr lang="en-US" dirty="0" err="1"/>
              <a:t>работающих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с STL.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ограничениями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C++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 </a:t>
            </a:r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«</a:t>
            </a:r>
            <a:r>
              <a:rPr lang="en-US" dirty="0" err="1"/>
              <a:t>частично</a:t>
            </a:r>
            <a:r>
              <a:rPr lang="en-US" dirty="0"/>
              <a:t> </a:t>
            </a:r>
            <a:r>
              <a:rPr lang="en-US" dirty="0" err="1"/>
              <a:t>специализированное</a:t>
            </a:r>
            <a:r>
              <a:rPr lang="en-US" dirty="0"/>
              <a:t>»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комбинацию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и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а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дополнительный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блокируя</a:t>
            </a:r>
            <a:r>
              <a:rPr lang="en-US" dirty="0"/>
              <a:t>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рассматривается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гибкий</a:t>
            </a:r>
            <a:r>
              <a:rPr lang="en-US" dirty="0"/>
              <a:t> и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8803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подходящим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общая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отсутствуют</a:t>
            </a:r>
            <a:r>
              <a:rPr lang="en-US" dirty="0"/>
              <a:t> у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попытка</a:t>
            </a:r>
            <a:r>
              <a:rPr lang="en-US" dirty="0"/>
              <a:t> </a:t>
            </a:r>
            <a:r>
              <a:rPr lang="en-US" dirty="0" err="1"/>
              <a:t>инстанцирования</a:t>
            </a:r>
            <a:r>
              <a:rPr lang="en-US" dirty="0"/>
              <a:t> </a:t>
            </a:r>
            <a:r>
              <a:rPr lang="en-US" dirty="0" err="1"/>
              <a:t>приведёт</a:t>
            </a:r>
            <a:r>
              <a:rPr lang="en-US" dirty="0"/>
              <a:t> к </a:t>
            </a:r>
            <a:r>
              <a:rPr lang="en-US" dirty="0" err="1"/>
              <a:t>ошибке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специализированную</a:t>
            </a:r>
            <a:r>
              <a:rPr lang="en-US" dirty="0"/>
              <a:t> </a:t>
            </a:r>
            <a:r>
              <a:rPr lang="en-US" dirty="0" err="1"/>
              <a:t>версию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с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реализацией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а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подменяет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первичного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—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библиотекой</a:t>
            </a:r>
            <a:r>
              <a:rPr lang="en-US" dirty="0"/>
              <a:t>.</a:t>
            </a:r>
          </a:p>
          <a:p>
            <a:r>
              <a:rPr lang="en-US" dirty="0" err="1"/>
              <a:t>Стандарт</a:t>
            </a:r>
            <a:r>
              <a:rPr lang="en-US" dirty="0"/>
              <a:t> C++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неопределённому</a:t>
            </a:r>
            <a:r>
              <a:rPr lang="en-US" dirty="0"/>
              <a:t> </a:t>
            </a:r>
            <a:r>
              <a:rPr lang="en-US" dirty="0" err="1"/>
              <a:t>поведению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специально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—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std::formatter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возвращаемого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</a:p>
          <a:p>
            <a:r>
              <a:rPr lang="en-US" dirty="0"/>
              <a:t>В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различаться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возвращаемым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одинаковы</a:t>
            </a:r>
            <a:r>
              <a:rPr lang="en-US" dirty="0"/>
              <a:t>,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считаются</a:t>
            </a:r>
            <a:r>
              <a:rPr lang="en-US" dirty="0"/>
              <a:t> </a:t>
            </a:r>
            <a:r>
              <a:rPr lang="en-US" dirty="0" err="1"/>
              <a:t>неоднозначными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обойти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параметрам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сигнатуре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точная</a:t>
            </a:r>
            <a:r>
              <a:rPr lang="en-US" dirty="0"/>
              <a:t> </a:t>
            </a:r>
            <a:r>
              <a:rPr lang="en-US" dirty="0" err="1"/>
              <a:t>адаптация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41488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Первое</a:t>
            </a:r>
            <a:r>
              <a:rPr lang="en-US" dirty="0"/>
              <a:t> и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overload resolution</a:t>
            </a:r>
            <a:r>
              <a:rPr lang="en-US" dirty="0"/>
              <a:t> и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среди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доступных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 </a:t>
            </a:r>
            <a:r>
              <a:rPr lang="en-US" dirty="0" err="1"/>
              <a:t>шаблонная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механизме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неожиданным</a:t>
            </a:r>
            <a:r>
              <a:rPr lang="en-US" dirty="0"/>
              <a:t> </a:t>
            </a:r>
            <a:r>
              <a:rPr lang="en-US" dirty="0" err="1"/>
              <a:t>ситуациям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подходящая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ограничениями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.</a:t>
            </a:r>
          </a:p>
          <a:p>
            <a:r>
              <a:rPr lang="en-US" dirty="0"/>
              <a:t>В C++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частичной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 «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» в </a:t>
            </a:r>
            <a:r>
              <a:rPr lang="en-US" dirty="0" err="1"/>
              <a:t>виде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void foo&lt;T*&gt;(T*);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синтаксис</a:t>
            </a:r>
            <a:r>
              <a:rPr lang="en-US" dirty="0"/>
              <a:t> </a:t>
            </a:r>
            <a:r>
              <a:rPr lang="en-US" dirty="0" err="1"/>
              <a:t>запрещён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отдельное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категории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 </a:t>
            </a:r>
            <a:r>
              <a:rPr lang="en-US" dirty="0" err="1"/>
              <a:t>касается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имён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.</a:t>
            </a:r>
          </a:p>
          <a:p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нарушить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стандарт</a:t>
            </a:r>
            <a:r>
              <a:rPr lang="en-US" dirty="0"/>
              <a:t> </a:t>
            </a:r>
            <a:r>
              <a:rPr lang="en-US" dirty="0" err="1"/>
              <a:t>специально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настраиваются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std::hash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std::formatter</a:t>
            </a:r>
            <a:r>
              <a:rPr lang="en-US" dirty="0"/>
              <a:t> и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std::swap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, </a:t>
            </a:r>
            <a:r>
              <a:rPr lang="en-US" dirty="0" err="1"/>
              <a:t>перегрузки</a:t>
            </a:r>
            <a:r>
              <a:rPr lang="en-US" dirty="0"/>
              <a:t> и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частей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29459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overload resolution.</a:t>
            </a:r>
          </a:p>
          <a:p>
            <a:br>
              <a:rPr lang="en-US" dirty="0"/>
            </a:b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и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непонятных</a:t>
            </a:r>
            <a:r>
              <a:rPr lang="en-US" dirty="0"/>
              <a:t> </a:t>
            </a:r>
            <a:r>
              <a:rPr lang="en-US" dirty="0" err="1"/>
              <a:t>правил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в C++.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объявлены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Первая</a:t>
            </a:r>
            <a:r>
              <a:rPr lang="en-US" dirty="0"/>
              <a:t> —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</a:t>
            </a:r>
            <a:r>
              <a:rPr lang="en-US" dirty="0"/>
              <a:t>.</a:t>
            </a:r>
          </a:p>
          <a:p>
            <a:r>
              <a:rPr lang="en-US" dirty="0" err="1"/>
              <a:t>Вторая</a:t>
            </a:r>
            <a:r>
              <a:rPr lang="en-US" dirty="0"/>
              <a:t> —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третья</a:t>
            </a:r>
            <a:r>
              <a:rPr lang="en-US" dirty="0"/>
              <a:t> —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перегруженная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Print(10)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вызвана</a:t>
            </a:r>
            <a:r>
              <a:rPr lang="en-US" dirty="0"/>
              <a:t>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порядке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i="1" dirty="0"/>
              <a:t>overload resolution</a:t>
            </a:r>
            <a:r>
              <a:rPr lang="en-US" dirty="0"/>
              <a:t> —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рассматриваются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сравнивает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Print(int)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предпочтительной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выбирается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победил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Print(T)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начал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искать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а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альтернативная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выбранного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500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, </a:t>
            </a:r>
            <a:r>
              <a:rPr lang="en-US" dirty="0" err="1"/>
              <a:t>демонстрирующий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сравниваются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</a:t>
            </a:r>
            <a:r>
              <a:rPr lang="en-US" dirty="0" err="1"/>
              <a:t>использующая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strcmp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Max(3, 4)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использован</a:t>
            </a:r>
            <a:r>
              <a:rPr lang="en-US" dirty="0"/>
              <a:t> </a:t>
            </a:r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Max("hello", "world")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выведет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 и </a:t>
            </a:r>
            <a:r>
              <a:rPr lang="en-US" dirty="0" err="1"/>
              <a:t>выберет</a:t>
            </a:r>
            <a:r>
              <a:rPr lang="en-US" dirty="0"/>
              <a:t> </a:t>
            </a:r>
            <a:r>
              <a:rPr lang="en-US" dirty="0" err="1"/>
              <a:t>специализацию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строками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а </a:t>
            </a:r>
            <a:r>
              <a:rPr lang="en-US" dirty="0" err="1"/>
              <a:t>значит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несущественно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способно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dirty="0" err="1"/>
              <a:t>дорогостоящей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улучшить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, </a:t>
            </a:r>
            <a:r>
              <a:rPr lang="en-US" dirty="0" err="1"/>
              <a:t>передавая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константной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67151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константной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лишнего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улучшением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проявляется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сложностей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, </a:t>
            </a:r>
            <a:r>
              <a:rPr lang="en-US" dirty="0" err="1"/>
              <a:t>массивов</a:t>
            </a:r>
            <a:r>
              <a:rPr lang="en-US" dirty="0"/>
              <a:t> и </a:t>
            </a:r>
            <a:r>
              <a:rPr lang="en-US" dirty="0" err="1"/>
              <a:t>специализаций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в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Строковые</a:t>
            </a:r>
            <a:r>
              <a:rPr lang="en-US" dirty="0"/>
              <a:t> </a:t>
            </a:r>
            <a:r>
              <a:rPr lang="en-US" dirty="0" err="1"/>
              <a:t>литералы</a:t>
            </a:r>
            <a:r>
              <a:rPr lang="en-US" dirty="0"/>
              <a:t> </a:t>
            </a:r>
            <a:r>
              <a:rPr lang="en-US" dirty="0" err="1"/>
              <a:t>вроде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"hello"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char[6]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 </a:t>
            </a:r>
            <a:r>
              <a:rPr lang="en-US" dirty="0" err="1"/>
              <a:t>массивы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деградировали</a:t>
            </a:r>
            <a:r>
              <a:rPr lang="en-US" dirty="0"/>
              <a:t> к </a:t>
            </a:r>
            <a:r>
              <a:rPr lang="en-US" dirty="0" err="1"/>
              <a:t>указателям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символов</a:t>
            </a:r>
            <a:r>
              <a:rPr lang="en-US" dirty="0"/>
              <a:t>.</a:t>
            </a:r>
          </a:p>
          <a:p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.</a:t>
            </a:r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литералы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"apple"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"banana"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char[6]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char[7]</a:t>
            </a:r>
            <a:r>
              <a:rPr lang="en-US" dirty="0"/>
              <a:t>.</a:t>
            </a:r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массивы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возвращать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с </a:t>
            </a:r>
            <a:r>
              <a:rPr lang="en-US" dirty="0" err="1"/>
              <a:t>одинаковой</a:t>
            </a:r>
            <a:r>
              <a:rPr lang="en-US" dirty="0"/>
              <a:t> </a:t>
            </a:r>
            <a:r>
              <a:rPr lang="en-US" dirty="0" err="1"/>
              <a:t>длиной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ошибке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заработал</a:t>
            </a:r>
            <a:r>
              <a:rPr lang="en-US" dirty="0"/>
              <a:t>, </a:t>
            </a:r>
            <a:r>
              <a:rPr lang="en-US" dirty="0" err="1"/>
              <a:t>приходится</a:t>
            </a:r>
            <a:r>
              <a:rPr lang="en-US" dirty="0"/>
              <a:t>:</a:t>
            </a:r>
          </a:p>
          <a:p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явное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 к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, </a:t>
            </a:r>
          </a:p>
          <a:p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указывать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удобным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вести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ожидается</a:t>
            </a:r>
            <a:r>
              <a:rPr lang="en-US" dirty="0"/>
              <a:t>,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правилах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364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удачное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—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 char*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сигнатура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повторять</a:t>
            </a:r>
            <a:r>
              <a:rPr lang="en-US" dirty="0"/>
              <a:t> </a:t>
            </a:r>
            <a:r>
              <a:rPr lang="en-US" dirty="0" err="1"/>
              <a:t>точную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и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  <a:r>
              <a:rPr lang="en-US" dirty="0" err="1"/>
              <a:t>обычным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Max("apple", "banana")</a:t>
            </a:r>
          </a:p>
          <a:p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и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дополнительных</a:t>
            </a:r>
            <a:r>
              <a:rPr lang="en-US" dirty="0"/>
              <a:t> </a:t>
            </a:r>
            <a:r>
              <a:rPr lang="en-US" dirty="0" err="1"/>
              <a:t>приведений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механизме</a:t>
            </a:r>
            <a:r>
              <a:rPr lang="en-US" dirty="0"/>
              <a:t> overload resolution.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ищет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строковых</a:t>
            </a:r>
            <a:r>
              <a:rPr lang="en-US" dirty="0"/>
              <a:t> </a:t>
            </a:r>
            <a:r>
              <a:rPr lang="en-US" dirty="0" err="1"/>
              <a:t>литералов</a:t>
            </a:r>
            <a:r>
              <a:rPr lang="en-US" dirty="0"/>
              <a:t>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Max(const char*, const char*)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лучшим</a:t>
            </a:r>
            <a:r>
              <a:rPr lang="en-US" dirty="0"/>
              <a:t> </a:t>
            </a:r>
            <a:r>
              <a:rPr lang="en-US" dirty="0" err="1"/>
              <a:t>кандидатом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подходящей</a:t>
            </a:r>
            <a:r>
              <a:rPr lang="en-US" dirty="0"/>
              <a:t> </a:t>
            </a:r>
            <a:r>
              <a:rPr lang="en-US" dirty="0" err="1"/>
              <a:t>нешаблонной</a:t>
            </a:r>
            <a:r>
              <a:rPr lang="en-US" dirty="0"/>
              <a:t>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почему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перегрузка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предпочтительнее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:</a:t>
            </a:r>
          </a:p>
          <a:p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; </a:t>
            </a:r>
          </a:p>
          <a:p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предсказуемым</a:t>
            </a:r>
            <a:r>
              <a:rPr lang="en-US" dirty="0"/>
              <a:t>; </a:t>
            </a:r>
          </a:p>
          <a:p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с </a:t>
            </a:r>
            <a:r>
              <a:rPr lang="en-US" dirty="0" err="1"/>
              <a:t>выводом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и </a:t>
            </a:r>
            <a:r>
              <a:rPr lang="en-US" dirty="0" err="1"/>
              <a:t>специализациями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015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200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и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в C++ </a:t>
            </a:r>
            <a:r>
              <a:rPr lang="en-US" dirty="0" err="1"/>
              <a:t>шаблонным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в </a:t>
            </a:r>
            <a:r>
              <a:rPr lang="en-US" dirty="0" err="1"/>
              <a:t>ситуациях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универсальными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SomeClass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произвольного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значениями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целыми</a:t>
            </a:r>
            <a:r>
              <a:rPr lang="en-US" dirty="0"/>
              <a:t> </a:t>
            </a:r>
            <a:r>
              <a:rPr lang="en-US" dirty="0" err="1"/>
              <a:t>числами</a:t>
            </a:r>
            <a:r>
              <a:rPr lang="en-US" dirty="0"/>
              <a:t>, </a:t>
            </a:r>
            <a:r>
              <a:rPr lang="en-US" dirty="0" err="1"/>
              <a:t>строками</a:t>
            </a:r>
            <a:r>
              <a:rPr lang="en-US" dirty="0"/>
              <a:t>, </a:t>
            </a:r>
            <a:r>
              <a:rPr lang="en-US" dirty="0" err="1"/>
              <a:t>вещественными</a:t>
            </a:r>
            <a:r>
              <a:rPr lang="en-US" dirty="0"/>
              <a:t> </a:t>
            </a:r>
            <a:r>
              <a:rPr lang="en-US" dirty="0" err="1"/>
              <a:t>числами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SomeClass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шаблонным</a:t>
            </a:r>
            <a:r>
              <a:rPr lang="en-US" dirty="0"/>
              <a:t> — </a:t>
            </a:r>
            <a:r>
              <a:rPr lang="en-US" dirty="0" err="1"/>
              <a:t>шаблонность</a:t>
            </a:r>
            <a:r>
              <a:rPr lang="en-US" dirty="0"/>
              <a:t> </a:t>
            </a:r>
            <a:r>
              <a:rPr lang="en-US" dirty="0" err="1"/>
              <a:t>ограничена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методом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локализовать</a:t>
            </a:r>
            <a:r>
              <a:rPr lang="en-US" dirty="0"/>
              <a:t> </a:t>
            </a:r>
            <a:r>
              <a:rPr lang="en-US" dirty="0" err="1"/>
              <a:t>обобщённость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там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и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, </a:t>
            </a:r>
            <a:r>
              <a:rPr lang="en-US" dirty="0" err="1"/>
              <a:t>поиска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сериализации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C++, </a:t>
            </a:r>
            <a:r>
              <a:rPr lang="en-US" dirty="0" err="1"/>
              <a:t>особенно</a:t>
            </a:r>
            <a:r>
              <a:rPr lang="en-US" dirty="0"/>
              <a:t> в </a:t>
            </a:r>
            <a:r>
              <a:rPr lang="en-US" dirty="0" err="1"/>
              <a:t>контейнерах</a:t>
            </a:r>
            <a:r>
              <a:rPr lang="en-US" dirty="0"/>
              <a:t> и </a:t>
            </a:r>
            <a:r>
              <a:rPr lang="en-US" dirty="0" err="1"/>
              <a:t>алгоритмах</a:t>
            </a:r>
            <a:r>
              <a:rPr lang="en-US" dirty="0"/>
              <a:t> STL.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09298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SomeTemplateClass</a:t>
            </a:r>
            <a:r>
              <a:rPr lang="en-US" dirty="0"/>
              <a:t> </a:t>
            </a:r>
            <a:r>
              <a:rPr lang="en-US" dirty="0" err="1"/>
              <a:t>параметризован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— в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m_data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а </a:t>
            </a:r>
            <a:r>
              <a:rPr lang="en-US" dirty="0" err="1"/>
              <a:t>метод</a:t>
            </a:r>
            <a:r>
              <a:rPr lang="en-US" dirty="0"/>
              <a:t> —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SomeTemplateClass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&lt;int&gt;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m_data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 и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42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</a:t>
            </a:r>
            <a:r>
              <a:rPr lang="en-US" dirty="0"/>
              <a:t> с </a:t>
            </a:r>
            <a:r>
              <a:rPr lang="en-US" dirty="0" err="1"/>
              <a:t>символом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'A'</a:t>
            </a:r>
            <a:r>
              <a:rPr lang="en-US" dirty="0"/>
              <a:t>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char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параметризации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встречается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C++.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контейнер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фиксированного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, </a:t>
            </a:r>
            <a:r>
              <a:rPr lang="en-US" dirty="0" err="1"/>
              <a:t>работающие</a:t>
            </a:r>
            <a:r>
              <a:rPr lang="en-US" dirty="0"/>
              <a:t> с </a:t>
            </a:r>
            <a:r>
              <a:rPr lang="en-US" dirty="0" err="1"/>
              <a:t>произвольными</a:t>
            </a:r>
            <a:r>
              <a:rPr lang="en-US" dirty="0"/>
              <a:t> </a:t>
            </a:r>
            <a:r>
              <a:rPr lang="en-US" dirty="0" err="1"/>
              <a:t>функциями</a:t>
            </a:r>
            <a:r>
              <a:rPr lang="en-US" dirty="0"/>
              <a:t>, </a:t>
            </a:r>
            <a:r>
              <a:rPr lang="en-US" dirty="0" err="1"/>
              <a:t>предикатами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итераторами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53442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определяются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вне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NonTemplateMethod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</a:p>
          <a:p>
            <a:r>
              <a:rPr lang="en-US" dirty="0"/>
              <a:t>а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указывается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S&lt;T&gt;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шаблонными</a:t>
            </a:r>
            <a:r>
              <a:rPr lang="en-US" dirty="0"/>
              <a:t> </a:t>
            </a:r>
            <a:r>
              <a:rPr lang="en-US" dirty="0" err="1"/>
              <a:t>методами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TemplateMethod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</a:t>
            </a:r>
            <a:r>
              <a:rPr lang="en-US" dirty="0"/>
              <a:t>, </a:t>
            </a:r>
            <a:r>
              <a:rPr lang="en-US" dirty="0" err="1"/>
              <a:t>помимо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, </a:t>
            </a:r>
            <a:r>
              <a:rPr lang="en-US" dirty="0" err="1"/>
              <a:t>принадлежащего</a:t>
            </a:r>
            <a:r>
              <a:rPr lang="en-US" dirty="0"/>
              <a:t> </a:t>
            </a:r>
            <a:r>
              <a:rPr lang="en-US" dirty="0" err="1"/>
              <a:t>самому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определением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заголовка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T&gt;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 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U&gt;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шаблону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второй</a:t>
            </a:r>
            <a:r>
              <a:rPr lang="en-US" dirty="0"/>
              <a:t> — к </a:t>
            </a:r>
            <a:r>
              <a:rPr lang="en-US" dirty="0" err="1"/>
              <a:t>шаблону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S&lt;T&gt;::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TemplateMethod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громоздко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необходима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точного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относятся</a:t>
            </a:r>
            <a:r>
              <a:rPr lang="en-US" dirty="0"/>
              <a:t> к </a:t>
            </a:r>
            <a:r>
              <a:rPr lang="en-US" dirty="0" err="1"/>
              <a:t>классу</a:t>
            </a:r>
            <a:r>
              <a:rPr lang="en-US" dirty="0"/>
              <a:t>, а </a:t>
            </a:r>
            <a:r>
              <a:rPr lang="en-US" dirty="0" err="1"/>
              <a:t>какие</a:t>
            </a:r>
            <a:r>
              <a:rPr lang="en-US" dirty="0"/>
              <a:t> — к </a:t>
            </a:r>
            <a:r>
              <a:rPr lang="en-US" dirty="0" err="1"/>
              <a:t>методу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встречаются</a:t>
            </a:r>
            <a:r>
              <a:rPr lang="en-US" dirty="0"/>
              <a:t> в </a:t>
            </a:r>
            <a:r>
              <a:rPr lang="en-US" dirty="0" err="1"/>
              <a:t>библиотеках</a:t>
            </a:r>
            <a:r>
              <a:rPr lang="en-US" dirty="0"/>
              <a:t> STL и в </a:t>
            </a:r>
            <a:r>
              <a:rPr lang="en-US" dirty="0" err="1"/>
              <a:t>шаблонном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проектов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уметь</a:t>
            </a:r>
            <a:r>
              <a:rPr lang="en-US" dirty="0"/>
              <a:t> </a:t>
            </a:r>
            <a:r>
              <a:rPr lang="en-US" dirty="0" err="1"/>
              <a:t>правильно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и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69718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практический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type traits.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строковому</a:t>
            </a:r>
            <a:r>
              <a:rPr lang="en-US" dirty="0"/>
              <a:t> </a:t>
            </a:r>
            <a:r>
              <a:rPr lang="en-US" dirty="0" err="1"/>
              <a:t>ключу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целые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, </a:t>
            </a:r>
            <a:r>
              <a:rPr lang="en-US" dirty="0" err="1"/>
              <a:t>вещественные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строки</a:t>
            </a:r>
            <a:r>
              <a:rPr lang="en-US" dirty="0"/>
              <a:t>,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флаги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позволяющий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параметрами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ручных</a:t>
            </a:r>
            <a:r>
              <a:rPr lang="en-US" dirty="0"/>
              <a:t> </a:t>
            </a:r>
            <a:r>
              <a:rPr lang="en-US" dirty="0" err="1"/>
              <a:t>преобразований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— type traits;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перечисления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enum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class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построим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типобезопасный</a:t>
            </a:r>
            <a:r>
              <a:rPr lang="en-US" dirty="0"/>
              <a:t> и </a:t>
            </a:r>
            <a:r>
              <a:rPr lang="en-US" dirty="0" err="1"/>
              <a:t>удобный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обнаруживаться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37542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в </a:t>
            </a:r>
            <a:r>
              <a:rPr lang="en-US" dirty="0" err="1"/>
              <a:t>виде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dirty="0" err="1"/>
              <a:t>контейнере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unordered_map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произвольными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SetValue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шаблонным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любого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,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и </a:t>
            </a:r>
            <a:r>
              <a:rPr lang="en-US" dirty="0" err="1"/>
              <a:t>сохраняет</a:t>
            </a:r>
            <a:r>
              <a:rPr lang="en-US" dirty="0"/>
              <a:t> в </a:t>
            </a:r>
            <a:r>
              <a:rPr lang="en-US" dirty="0" err="1"/>
              <a:t>словаре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извлекает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ключу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к </a:t>
            </a:r>
            <a:r>
              <a:rPr lang="en-US" dirty="0" err="1"/>
              <a:t>указанному</a:t>
            </a:r>
            <a:r>
              <a:rPr lang="en-US" dirty="0"/>
              <a:t> </a:t>
            </a:r>
            <a:r>
              <a:rPr lang="en-US" dirty="0" err="1"/>
              <a:t>типу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невозможно</a:t>
            </a:r>
            <a:r>
              <a:rPr lang="en-US" dirty="0"/>
              <a:t>, </a:t>
            </a:r>
            <a:r>
              <a:rPr lang="en-US" dirty="0" err="1"/>
              <a:t>выбрасывается</a:t>
            </a:r>
            <a:r>
              <a:rPr lang="en-US" dirty="0"/>
              <a:t> </a:t>
            </a:r>
            <a:r>
              <a:rPr lang="en-US" dirty="0" err="1"/>
              <a:t>исключение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универсальную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с </a:t>
            </a:r>
            <a:r>
              <a:rPr lang="en-US" dirty="0" err="1"/>
              <a:t>минимальным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у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имена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и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строковый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и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проявится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типобезопасным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7308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конфигурацию</a:t>
            </a:r>
            <a:r>
              <a:rPr lang="en-US" dirty="0"/>
              <a:t> </a:t>
            </a:r>
            <a:r>
              <a:rPr lang="en-US" dirty="0" err="1"/>
              <a:t>сохраняются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</a:t>
            </a:r>
            <a:r>
              <a:rPr lang="en-US" dirty="0" err="1"/>
              <a:t>вещественное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и </a:t>
            </a:r>
            <a:r>
              <a:rPr lang="en-US" dirty="0" err="1"/>
              <a:t>строка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сохранении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преобразуются</a:t>
            </a:r>
            <a:r>
              <a:rPr lang="en-US" dirty="0"/>
              <a:t> в </a:t>
            </a:r>
            <a:r>
              <a:rPr lang="en-US" dirty="0" err="1"/>
              <a:t>строки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считываются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с </a:t>
            </a:r>
            <a:r>
              <a:rPr lang="en-US" dirty="0" err="1"/>
              <a:t>указанием</a:t>
            </a:r>
            <a:r>
              <a:rPr lang="en-US" dirty="0"/>
              <a:t> </a:t>
            </a:r>
            <a:r>
              <a:rPr lang="en-US" dirty="0" err="1"/>
              <a:t>требуемого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типизированными</a:t>
            </a:r>
            <a:r>
              <a:rPr lang="en-US" dirty="0"/>
              <a:t> </a:t>
            </a:r>
            <a:r>
              <a:rPr lang="en-US" dirty="0" err="1"/>
              <a:t>значениями</a:t>
            </a:r>
            <a:r>
              <a:rPr lang="en-US" dirty="0"/>
              <a:t>, а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типобезопасности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ничто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мешает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config.GetValue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&lt;int&gt;("User");</a:t>
            </a:r>
          </a:p>
          <a:p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"User"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обнаружена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шагом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добавим</a:t>
            </a:r>
            <a:r>
              <a:rPr lang="en-US" dirty="0"/>
              <a:t> compile-time </a:t>
            </a:r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7447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безопасным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вводится</a:t>
            </a:r>
            <a:r>
              <a:rPr lang="en-US" dirty="0"/>
              <a:t> </a:t>
            </a:r>
            <a:r>
              <a:rPr lang="en-US" dirty="0" err="1"/>
              <a:t>перечисление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</a:t>
            </a:r>
            <a:r>
              <a:rPr lang="en-US" dirty="0"/>
              <a:t>, </a:t>
            </a:r>
            <a:r>
              <a:rPr lang="en-US" dirty="0" err="1"/>
              <a:t>задающее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фиксированное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фиксированный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Password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строками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целым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идеале</a:t>
            </a:r>
            <a:r>
              <a:rPr lang="en-US" dirty="0"/>
              <a:t> </a:t>
            </a:r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самим</a:t>
            </a:r>
            <a:r>
              <a:rPr lang="en-US" dirty="0"/>
              <a:t> </a:t>
            </a:r>
            <a:r>
              <a:rPr lang="en-US" dirty="0" err="1"/>
              <a:t>идентификатором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 </a:t>
            </a:r>
            <a:r>
              <a:rPr lang="en-US" dirty="0" err="1"/>
              <a:t>запросить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неправильного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type traits и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15753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Первичный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trait-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полная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строковое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Login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информация</a:t>
            </a:r>
            <a:r>
              <a:rPr lang="en-US" dirty="0"/>
              <a:t> о </a:t>
            </a:r>
            <a:r>
              <a:rPr lang="en-US" dirty="0" err="1"/>
              <a:t>параметре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существовать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перечисления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type traits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</a:t>
            </a:r>
            <a:r>
              <a:rPr lang="en-US" dirty="0" err="1"/>
              <a:t>типовую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с compile-time </a:t>
            </a:r>
            <a:r>
              <a:rPr lang="en-US" dirty="0" err="1"/>
              <a:t>сущностями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054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вспомогательные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ToString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с </a:t>
            </a:r>
            <a:r>
              <a:rPr lang="en-US" dirty="0" err="1"/>
              <a:t>использованием</a:t>
            </a:r>
            <a:r>
              <a:rPr lang="en-US" dirty="0"/>
              <a:t> </a:t>
            </a:r>
            <a:r>
              <a:rPr lang="en-US" dirty="0" err="1"/>
              <a:t>потокового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FromString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обратное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.</a:t>
            </a:r>
          </a:p>
          <a:p>
            <a:r>
              <a:rPr lang="en-US" dirty="0" err="1"/>
              <a:t>Причина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дополнительно</a:t>
            </a:r>
            <a:r>
              <a:rPr lang="en-US" dirty="0"/>
              <a:t> </a:t>
            </a:r>
            <a:r>
              <a:rPr lang="en-US" dirty="0" err="1"/>
              <a:t>сериализовать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—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вернуть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адаптируем</a:t>
            </a:r>
            <a:r>
              <a:rPr lang="en-US" dirty="0"/>
              <a:t>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избегает</a:t>
            </a:r>
            <a:r>
              <a:rPr lang="en-US" dirty="0"/>
              <a:t> </a:t>
            </a:r>
            <a:r>
              <a:rPr lang="en-US" dirty="0" err="1"/>
              <a:t>лишнего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и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7408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Config</a:t>
            </a:r>
          </a:p>
          <a:p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SetBuiltinParam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нетиповой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Через</a:t>
            </a:r>
            <a:r>
              <a:rPr lang="en-US" dirty="0"/>
              <a:t> type trait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корректность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Timeout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GetBuiltinParam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аналогичным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возвращаемого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извлекается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указывает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—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идентификатора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повышает</a:t>
            </a:r>
            <a:r>
              <a:rPr lang="en-US" dirty="0"/>
              <a:t> </a:t>
            </a:r>
            <a:r>
              <a:rPr lang="en-US" dirty="0" err="1"/>
              <a:t>типобезопасность</a:t>
            </a:r>
            <a:r>
              <a:rPr lang="en-US" dirty="0"/>
              <a:t> и </a:t>
            </a:r>
            <a:r>
              <a:rPr lang="en-US" dirty="0" err="1"/>
              <a:t>уменьшает</a:t>
            </a:r>
            <a:r>
              <a:rPr lang="en-US" dirty="0"/>
              <a:t> </a:t>
            </a:r>
            <a:r>
              <a:rPr lang="en-US" dirty="0" err="1"/>
              <a:t>вероятность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совместного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; </a:t>
            </a:r>
          </a:p>
          <a:p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r>
              <a:rPr lang="en-US" dirty="0"/>
              <a:t>type traits; </a:t>
            </a:r>
          </a:p>
          <a:p>
            <a:r>
              <a:rPr lang="en-US" dirty="0"/>
              <a:t>и </a:t>
            </a:r>
            <a:r>
              <a:rPr lang="en-US" dirty="0" err="1"/>
              <a:t>нетиповых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гибкого</a:t>
            </a:r>
            <a:r>
              <a:rPr lang="en-US" dirty="0"/>
              <a:t> и </a:t>
            </a:r>
            <a:r>
              <a:rPr lang="en-US" dirty="0" err="1"/>
              <a:t>безопасного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ключевого</a:t>
            </a:r>
            <a:r>
              <a:rPr lang="en-US" dirty="0"/>
              <a:t> </a:t>
            </a:r>
            <a:r>
              <a:rPr lang="en-US" dirty="0" err="1"/>
              <a:t>слова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в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выражениях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detail::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синтаксического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в C++.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вида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detail::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param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BuiltinConfigParamTraits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&lt;param&gt;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и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известен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инстанцирования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:</a:t>
            </a:r>
          </a:p>
          <a:p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, </a:t>
            </a:r>
          </a:p>
          <a:p>
            <a:r>
              <a:rPr lang="en-US" dirty="0" err="1"/>
              <a:t>статическим</a:t>
            </a:r>
            <a:r>
              <a:rPr lang="en-US" dirty="0"/>
              <a:t> </a:t>
            </a:r>
            <a:r>
              <a:rPr lang="en-US" dirty="0" err="1"/>
              <a:t>полем</a:t>
            </a:r>
            <a:r>
              <a:rPr lang="en-US" dirty="0"/>
              <a:t>, </a:t>
            </a:r>
          </a:p>
          <a:p>
            <a:r>
              <a:rPr lang="en-US" dirty="0" err="1"/>
              <a:t>методом</a:t>
            </a:r>
            <a:r>
              <a:rPr lang="en-US" dirty="0"/>
              <a:t>, 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каким-либо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 </a:t>
            </a:r>
            <a:r>
              <a:rPr lang="en-US" dirty="0" err="1"/>
              <a:t>членом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рассматривай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value_type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 </a:t>
            </a:r>
            <a:r>
              <a:rPr lang="en-US" dirty="0" err="1"/>
              <a:t>действует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называемых</a:t>
            </a:r>
            <a:r>
              <a:rPr lang="en-US" dirty="0"/>
              <a:t> </a:t>
            </a:r>
            <a:r>
              <a:rPr lang="en-US" i="1" dirty="0"/>
              <a:t>dependent names</a:t>
            </a:r>
            <a:r>
              <a:rPr lang="en-US" dirty="0"/>
              <a:t> — </a:t>
            </a:r>
            <a:r>
              <a:rPr lang="en-US" dirty="0" err="1"/>
              <a:t>имён</a:t>
            </a:r>
            <a:r>
              <a:rPr lang="en-US" dirty="0"/>
              <a:t>, </a:t>
            </a:r>
            <a:r>
              <a:rPr lang="en-US" dirty="0" err="1"/>
              <a:t>зависящих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154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11226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иерархиях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свободно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и </a:t>
            </a:r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Обратная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возможна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и generic-</a:t>
            </a:r>
            <a:r>
              <a:rPr lang="en-US" dirty="0" err="1"/>
              <a:t>кода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строятся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комбинации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гибкие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</a:t>
            </a:r>
          </a:p>
          <a:p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; </a:t>
            </a:r>
          </a:p>
          <a:p>
            <a:r>
              <a:rPr lang="en-US" dirty="0" err="1"/>
              <a:t>параметризовать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сохранять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интересных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CRTP,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186845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CRTP — </a:t>
            </a:r>
            <a:r>
              <a:rPr lang="ru-RU" dirty="0"/>
              <a:t> идиома</a:t>
            </a:r>
            <a:r>
              <a:rPr lang="en-US" dirty="0"/>
              <a:t>, </a:t>
            </a:r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перевести</a:t>
            </a:r>
            <a:r>
              <a:rPr lang="en-US" dirty="0"/>
              <a:t> </a:t>
            </a:r>
            <a:r>
              <a:rPr lang="en-US" dirty="0" err="1"/>
              <a:t>как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шаблон</a:t>
            </a:r>
            <a:r>
              <a:rPr lang="en-US" dirty="0"/>
              <a:t> с </a:t>
            </a:r>
            <a:r>
              <a:rPr lang="en-US" dirty="0" err="1"/>
              <a:t>рекурсивным</a:t>
            </a:r>
            <a:r>
              <a:rPr lang="en-US" dirty="0"/>
              <a:t> </a:t>
            </a:r>
            <a:r>
              <a:rPr lang="en-US" dirty="0" err="1"/>
              <a:t>параметром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класс-наследник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базовому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необычно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class Circle : public Shape&lt;Circle&gt;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называемый</a:t>
            </a:r>
            <a:r>
              <a:rPr lang="en-US" dirty="0"/>
              <a:t> </a:t>
            </a:r>
            <a:r>
              <a:rPr lang="en-US" dirty="0" err="1"/>
              <a:t>статический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классического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а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:</a:t>
            </a:r>
          </a:p>
          <a:p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; 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; 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оптимизировать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CRTP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: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compile-time </a:t>
            </a:r>
            <a:r>
              <a:rPr lang="en-US" dirty="0" err="1"/>
              <a:t>интерфейсов</a:t>
            </a:r>
            <a:r>
              <a:rPr lang="en-US" dirty="0"/>
              <a:t>; </a:t>
            </a:r>
          </a:p>
          <a:p>
            <a:r>
              <a:rPr lang="en-US" dirty="0"/>
              <a:t>в policy-based design;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mixin-классов</a:t>
            </a:r>
            <a:r>
              <a:rPr lang="en-US" dirty="0"/>
              <a:t>; </a:t>
            </a:r>
          </a:p>
          <a:p>
            <a:r>
              <a:rPr lang="en-US" dirty="0"/>
              <a:t>и в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Фактически</a:t>
            </a:r>
            <a:r>
              <a:rPr lang="en-US" dirty="0"/>
              <a:t> CRTP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runtime-</a:t>
            </a:r>
            <a:r>
              <a:rPr lang="en-US" dirty="0" err="1"/>
              <a:t>стоимости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8242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Derived</a:t>
            </a:r>
            <a:r>
              <a:rPr lang="en-US" dirty="0"/>
              <a:t> —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класса-наследника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 </a:t>
            </a:r>
            <a:r>
              <a:rPr lang="en-US" dirty="0" err="1"/>
              <a:t>реализованы</a:t>
            </a:r>
            <a:r>
              <a:rPr lang="en-US" dirty="0"/>
              <a:t> в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&lt;const Derived*&gt;(this)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методам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никаких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точный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и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подставляет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статический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цвет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и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всеми</a:t>
            </a:r>
            <a:r>
              <a:rPr lang="en-US" dirty="0"/>
              <a:t> </a:t>
            </a:r>
            <a:r>
              <a:rPr lang="en-US" dirty="0" err="1"/>
              <a:t>наследниками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5637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Shape&lt;Circle&gt;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в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конкретную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окружности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объявление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friend class Shape&lt;Circle&gt;;</a:t>
            </a: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приватным</a:t>
            </a:r>
            <a:r>
              <a:rPr lang="en-US" dirty="0"/>
              <a:t> </a:t>
            </a:r>
            <a:r>
              <a:rPr lang="en-US" dirty="0" err="1"/>
              <a:t>методам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интересный</a:t>
            </a:r>
            <a:r>
              <a:rPr lang="en-US" dirty="0"/>
              <a:t> </a:t>
            </a:r>
            <a:r>
              <a:rPr lang="en-US" dirty="0" err="1"/>
              <a:t>эффект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а </a:t>
            </a:r>
            <a:r>
              <a:rPr lang="en-US" dirty="0" err="1"/>
              <a:t>детали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определяются</a:t>
            </a:r>
            <a:r>
              <a:rPr lang="en-US" dirty="0"/>
              <a:t> в </a:t>
            </a:r>
            <a:r>
              <a:rPr lang="en-US" dirty="0" err="1"/>
              <a:t>наследнике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связывается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7417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Square</a:t>
            </a:r>
            <a:r>
              <a:rPr lang="en-US" dirty="0"/>
              <a:t> </a:t>
            </a:r>
            <a:r>
              <a:rPr lang="en-US" dirty="0" err="1"/>
              <a:t>устроен</a:t>
            </a:r>
            <a:r>
              <a:rPr lang="en-US" dirty="0"/>
              <a:t> </a:t>
            </a: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Shape&lt;Square&gt;</a:t>
            </a:r>
            <a:r>
              <a:rPr lang="en-US" dirty="0"/>
              <a:t> и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GetAreaImpl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единым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поддерживают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, </a:t>
            </a:r>
            <a:r>
              <a:rPr lang="en-US" dirty="0" err="1"/>
              <a:t>определённые</a:t>
            </a:r>
            <a:r>
              <a:rPr lang="en-US" dirty="0"/>
              <a:t> в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конкретная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подставляется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переиспользовать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избегать</a:t>
            </a:r>
            <a:r>
              <a:rPr lang="en-US" dirty="0"/>
              <a:t> </a:t>
            </a:r>
            <a:r>
              <a:rPr lang="en-US" dirty="0" err="1"/>
              <a:t>стоимости</a:t>
            </a:r>
            <a:r>
              <a:rPr lang="en-US" dirty="0"/>
              <a:t> </a:t>
            </a:r>
            <a:r>
              <a:rPr lang="en-US" dirty="0" err="1"/>
              <a:t>динамического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5472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CRTP.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окружность</a:t>
            </a:r>
            <a:r>
              <a:rPr lang="en-US" dirty="0"/>
              <a:t> и </a:t>
            </a:r>
            <a:r>
              <a:rPr lang="en-US" dirty="0" err="1"/>
              <a:t>квадрат</a:t>
            </a:r>
            <a:r>
              <a:rPr lang="en-US" dirty="0"/>
              <a:t>.</a:t>
            </a:r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,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одинаков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вызываем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вызываются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соответствующего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Square::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DrawImpl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разрешаются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CRTP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статического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полезен</a:t>
            </a:r>
            <a:r>
              <a:rPr lang="en-US" dirty="0"/>
              <a:t> в </a:t>
            </a:r>
            <a:r>
              <a:rPr lang="en-US" dirty="0" err="1"/>
              <a:t>производительном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игровых</a:t>
            </a:r>
            <a:r>
              <a:rPr lang="en-US" dirty="0"/>
              <a:t> </a:t>
            </a:r>
            <a:r>
              <a:rPr lang="en-US" dirty="0" err="1"/>
              <a:t>движках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численных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реального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 STL-</a:t>
            </a:r>
            <a:r>
              <a:rPr lang="en-US" dirty="0" err="1"/>
              <a:t>подобного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CRTP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583298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 CRTP,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полноценной</a:t>
            </a:r>
            <a:r>
              <a:rPr lang="en-US" dirty="0"/>
              <a:t> </a:t>
            </a:r>
            <a:r>
              <a:rPr lang="en-US" dirty="0" err="1"/>
              <a:t>заменой</a:t>
            </a:r>
            <a:r>
              <a:rPr lang="en-US" dirty="0"/>
              <a:t> </a:t>
            </a:r>
            <a:r>
              <a:rPr lang="en-US" dirty="0" err="1"/>
              <a:t>виртуальному</a:t>
            </a:r>
            <a:r>
              <a:rPr lang="en-US" dirty="0"/>
              <a:t> </a:t>
            </a:r>
            <a:r>
              <a:rPr lang="en-US" dirty="0" err="1"/>
              <a:t>полиморфизму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CRTP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и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прямые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обладает</a:t>
            </a:r>
            <a:r>
              <a:rPr lang="en-US" dirty="0"/>
              <a:t> </a:t>
            </a:r>
            <a:r>
              <a:rPr lang="en-US" dirty="0" err="1"/>
              <a:t>информацией</a:t>
            </a:r>
            <a:r>
              <a:rPr lang="en-US" dirty="0"/>
              <a:t> о </a:t>
            </a:r>
            <a:r>
              <a:rPr lang="en-US" dirty="0" err="1"/>
              <a:t>реальном</a:t>
            </a:r>
            <a:r>
              <a:rPr lang="en-US" dirty="0"/>
              <a:t> </a:t>
            </a:r>
            <a:r>
              <a:rPr lang="en-US" dirty="0" err="1"/>
              <a:t>типе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CRTP </a:t>
            </a:r>
            <a:r>
              <a:rPr lang="en-US" dirty="0" err="1"/>
              <a:t>отсутствуют</a:t>
            </a:r>
            <a:r>
              <a:rPr lang="en-US" dirty="0"/>
              <a:t>:</a:t>
            </a:r>
          </a:p>
          <a:p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; </a:t>
            </a:r>
          </a:p>
          <a:p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; </a:t>
            </a:r>
          </a:p>
          <a:p>
            <a:r>
              <a:rPr lang="en-US" dirty="0" err="1"/>
              <a:t>механизм</a:t>
            </a:r>
            <a:r>
              <a:rPr lang="en-US" dirty="0"/>
              <a:t> RTTI; </a:t>
            </a:r>
          </a:p>
          <a:p>
            <a:r>
              <a:rPr lang="en-US" dirty="0"/>
              <a:t>и </a:t>
            </a:r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невозможно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std::vector&lt;Shape&lt;?&gt;&gt;</a:t>
            </a:r>
          </a:p>
          <a:p>
            <a:endParaRPr lang="ru-RU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смысла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Shape&lt;Circle&gt;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Shape&lt;Square&gt;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CRTP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ситуаций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известны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неизвестного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в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плагинов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GUI-</a:t>
            </a:r>
            <a:r>
              <a:rPr lang="en-US" dirty="0" err="1"/>
              <a:t>фреймворках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игровых</a:t>
            </a:r>
            <a:r>
              <a:rPr lang="en-US" dirty="0"/>
              <a:t> </a:t>
            </a:r>
            <a:r>
              <a:rPr lang="en-US" dirty="0" err="1"/>
              <a:t>движках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гетерогенных коллекциях </a:t>
            </a:r>
            <a:r>
              <a:rPr lang="en-US" dirty="0"/>
              <a:t>— 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полиморфизм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CRTP и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конкурируют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, а </a:t>
            </a:r>
            <a:r>
              <a:rPr lang="en-US" dirty="0" err="1"/>
              <a:t>решают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1069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применений</a:t>
            </a:r>
            <a:r>
              <a:rPr lang="en-US" dirty="0"/>
              <a:t> CRTP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миксины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Миксин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добавления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другому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наследование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«</a:t>
            </a:r>
            <a:r>
              <a:rPr lang="en-US" dirty="0" err="1"/>
              <a:t>является</a:t>
            </a:r>
            <a:r>
              <a:rPr lang="en-US" dirty="0"/>
              <a:t>», а </a:t>
            </a:r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«</a:t>
            </a:r>
            <a:r>
              <a:rPr lang="en-US" dirty="0" err="1"/>
              <a:t>обладает</a:t>
            </a:r>
            <a:r>
              <a:rPr lang="en-US" dirty="0"/>
              <a:t> </a:t>
            </a:r>
            <a:r>
              <a:rPr lang="en-US" dirty="0" err="1"/>
              <a:t>дополнительной</a:t>
            </a:r>
            <a:r>
              <a:rPr lang="en-US" dirty="0"/>
              <a:t> </a:t>
            </a:r>
            <a:r>
              <a:rPr lang="en-US" dirty="0" err="1"/>
              <a:t>возможностью</a:t>
            </a:r>
            <a:r>
              <a:rPr lang="en-US" dirty="0"/>
              <a:t>».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логирование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сериализация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отладочный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подсчёт</a:t>
            </a:r>
            <a:r>
              <a:rPr lang="en-US" dirty="0"/>
              <a:t> </a:t>
            </a:r>
            <a:r>
              <a:rPr lang="en-US" dirty="0" err="1"/>
              <a:t>ссылок</a:t>
            </a:r>
            <a:r>
              <a:rPr lang="en-US" dirty="0"/>
              <a:t>; 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использованием</a:t>
            </a:r>
            <a:r>
              <a:rPr lang="en-US" dirty="0"/>
              <a:t> CRTP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оформляется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принимающий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наследника</a:t>
            </a:r>
            <a:r>
              <a:rPr lang="en-US" dirty="0"/>
              <a:t> 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миксину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производного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.</a:t>
            </a:r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—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миксинов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миксинов</a:t>
            </a:r>
            <a:r>
              <a:rPr lang="en-US" dirty="0"/>
              <a:t>,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наращивая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отсутствуют</a:t>
            </a:r>
            <a:r>
              <a:rPr lang="en-US" dirty="0"/>
              <a:t> runtime-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разрешаются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mixin</a:t>
            </a:r>
            <a:r>
              <a:rPr lang="en-US" dirty="0"/>
              <a:t>-based design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в generic-</a:t>
            </a:r>
            <a:r>
              <a:rPr lang="en-US" dirty="0" err="1"/>
              <a:t>библиотеках</a:t>
            </a:r>
            <a:r>
              <a:rPr lang="en-US" dirty="0"/>
              <a:t> и </a:t>
            </a:r>
            <a:r>
              <a:rPr lang="en-US" dirty="0" err="1"/>
              <a:t>системах</a:t>
            </a:r>
            <a:r>
              <a:rPr lang="en-US" dirty="0"/>
              <a:t>, </a:t>
            </a:r>
            <a:r>
              <a:rPr lang="en-US" dirty="0" err="1"/>
              <a:t>ориентированных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84617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миксина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CRTP.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Widget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базовую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—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DebugMixin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производного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Derived</a:t>
            </a:r>
            <a:r>
              <a:rPr lang="en-US" dirty="0"/>
              <a:t> и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DebugPrint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приведение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&lt;const Derived*&gt;(this)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PrintDetails</a:t>
            </a:r>
            <a:r>
              <a:rPr lang="en-US" dirty="0"/>
              <a:t>, </a:t>
            </a:r>
            <a:r>
              <a:rPr lang="en-US" dirty="0" err="1"/>
              <a:t>реализованный</a:t>
            </a:r>
            <a:r>
              <a:rPr lang="en-US" dirty="0"/>
              <a:t> в </a:t>
            </a:r>
            <a:r>
              <a:rPr lang="en-US" dirty="0" err="1"/>
              <a:t>производном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миксин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деталей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делегировать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.</a:t>
            </a:r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DebugWidget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возможности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Widget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отладочную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DebugMixin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DebugWidget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Draw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DebugPrint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заинлайнены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гибкие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067068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помнить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инстанциации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дублироваться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специализациях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поля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включит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в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инстанциацию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,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выносят</a:t>
            </a:r>
            <a:r>
              <a:rPr lang="en-US" dirty="0"/>
              <a:t> в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нешаблонный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зависящий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, </a:t>
            </a:r>
            <a:r>
              <a:rPr lang="en-US" dirty="0" err="1"/>
              <a:t>компилируется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итогового</a:t>
            </a:r>
            <a:r>
              <a:rPr lang="en-US" dirty="0"/>
              <a:t> </a:t>
            </a:r>
            <a:r>
              <a:rPr lang="en-US" dirty="0" err="1"/>
              <a:t>бинарного</a:t>
            </a:r>
            <a:r>
              <a:rPr lang="en-US" dirty="0"/>
              <a:t> </a:t>
            </a:r>
            <a:r>
              <a:rPr lang="en-US" dirty="0" err="1"/>
              <a:t>файла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сокращается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нагрузка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компоновщик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и в </a:t>
            </a:r>
            <a:r>
              <a:rPr lang="en-US" dirty="0" err="1"/>
              <a:t>высокопроизводительных</a:t>
            </a:r>
            <a:r>
              <a:rPr lang="en-US" dirty="0"/>
              <a:t> generic-</a:t>
            </a:r>
            <a:r>
              <a:rPr lang="en-US" dirty="0" err="1"/>
              <a:t>библиотеках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31568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ResultBase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наличия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exception_ptr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одинаковы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,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вынесены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нешаблонный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Result&lt;T&gt;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std::optional&lt;T&gt;</a:t>
            </a:r>
            <a:r>
              <a:rPr lang="en-US" dirty="0"/>
              <a:t>, </a:t>
            </a:r>
            <a:r>
              <a:rPr lang="en-US" dirty="0" err="1"/>
              <a:t>позволяющий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сохранённого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 </a:t>
            </a:r>
            <a:r>
              <a:rPr lang="en-US" dirty="0" err="1"/>
              <a:t>присутствует</a:t>
            </a:r>
            <a:r>
              <a:rPr lang="en-US" dirty="0"/>
              <a:t>,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выбрасывается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rethrow_exception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сохранённое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HasException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TryGetException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генерируются</a:t>
            </a:r>
            <a:r>
              <a:rPr lang="en-US" dirty="0"/>
              <a:t>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в </a:t>
            </a:r>
            <a:r>
              <a:rPr lang="en-US" dirty="0" err="1"/>
              <a:t>нешаблонном</a:t>
            </a:r>
            <a:r>
              <a:rPr lang="en-US" dirty="0"/>
              <a:t> </a:t>
            </a:r>
            <a:r>
              <a:rPr lang="en-US" dirty="0" err="1"/>
              <a:t>базовом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05822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ReadInt</a:t>
            </a:r>
            <a:r>
              <a:rPr lang="en-US" dirty="0"/>
              <a:t> </a:t>
            </a:r>
            <a:r>
              <a:rPr lang="en-US" dirty="0" err="1"/>
              <a:t>пытается</a:t>
            </a:r>
            <a:r>
              <a:rPr lang="en-US" dirty="0"/>
              <a:t> </a:t>
            </a:r>
            <a:r>
              <a:rPr lang="en-US" dirty="0" err="1"/>
              <a:t>считать</a:t>
            </a:r>
            <a:r>
              <a:rPr lang="en-US" dirty="0"/>
              <a:t> </a:t>
            </a:r>
            <a:r>
              <a:rPr lang="en-US" dirty="0" err="1"/>
              <a:t>целое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стандартного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,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Result&lt;int&gt;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ошибка</a:t>
            </a:r>
            <a:r>
              <a:rPr lang="en-US" dirty="0"/>
              <a:t>,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исключения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exception_ptr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отложить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удобного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main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Result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bool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,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присутствует</a:t>
            </a:r>
            <a:r>
              <a:rPr lang="en-US" dirty="0"/>
              <a:t>,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GetValue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исключение</a:t>
            </a:r>
            <a:r>
              <a:rPr lang="en-US" dirty="0"/>
              <a:t>,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выброшено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уменьшения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исключений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явного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результатами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совместное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:</a:t>
            </a:r>
          </a:p>
          <a:p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r>
              <a:rPr lang="en-US" dirty="0" err="1"/>
              <a:t>наследования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нешаблонного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46036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23828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интересный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наследования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наследуются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шаблонного</a:t>
            </a:r>
            <a:r>
              <a:rPr lang="en-US" dirty="0"/>
              <a:t> </a:t>
            </a:r>
            <a:r>
              <a:rPr lang="en-US" dirty="0" err="1"/>
              <a:t>базового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Рассматриваемая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подсчёт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существующих</a:t>
            </a:r>
            <a:r>
              <a:rPr lang="en-US" dirty="0"/>
              <a:t> </a:t>
            </a:r>
            <a:r>
              <a:rPr lang="en-US" dirty="0" err="1"/>
              <a:t>экземпляров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в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привело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к </a:t>
            </a:r>
            <a:r>
              <a:rPr lang="en-US" dirty="0" err="1"/>
              <a:t>дублированию</a:t>
            </a:r>
            <a:r>
              <a:rPr lang="en-US" dirty="0"/>
              <a:t> </a:t>
            </a:r>
            <a:r>
              <a:rPr lang="en-US" dirty="0" err="1"/>
              <a:t>одинакового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CCountable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инкапсулирует</a:t>
            </a:r>
            <a:r>
              <a:rPr lang="en-US" dirty="0"/>
              <a:t> </a:t>
            </a:r>
            <a:r>
              <a:rPr lang="en-US" dirty="0" err="1"/>
              <a:t>всю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</a:t>
            </a:r>
            <a:r>
              <a:rPr lang="en-US" dirty="0" err="1"/>
              <a:t>подсчёта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:</a:t>
            </a:r>
          </a:p>
          <a:p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в </a:t>
            </a:r>
            <a:r>
              <a:rPr lang="en-US" dirty="0" err="1"/>
              <a:t>конструкторе</a:t>
            </a:r>
            <a:r>
              <a:rPr lang="en-US" dirty="0"/>
              <a:t>; </a:t>
            </a:r>
          </a:p>
          <a:p>
            <a:r>
              <a:rPr lang="en-US" dirty="0" err="1"/>
              <a:t>уменьшение</a:t>
            </a:r>
            <a:r>
              <a:rPr lang="en-US" dirty="0"/>
              <a:t> в </a:t>
            </a:r>
            <a:r>
              <a:rPr lang="en-US" dirty="0" err="1"/>
              <a:t>деструкторе</a:t>
            </a:r>
            <a:r>
              <a:rPr lang="en-US" dirty="0"/>
              <a:t>; </a:t>
            </a: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экземпляров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ведётся</a:t>
            </a:r>
            <a:r>
              <a:rPr lang="en-US" dirty="0"/>
              <a:t> </a:t>
            </a:r>
            <a:r>
              <a:rPr lang="en-US" dirty="0" err="1"/>
              <a:t>подсчёт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которому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,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CCountable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648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5812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типичная</a:t>
            </a:r>
            <a:r>
              <a:rPr lang="en-US" dirty="0"/>
              <a:t> </a:t>
            </a:r>
            <a:r>
              <a:rPr lang="en-US" dirty="0" err="1"/>
              <a:t>объектно-ориентированная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.</a:t>
            </a:r>
          </a:p>
          <a:p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контракт</a:t>
            </a:r>
            <a:r>
              <a:rPr lang="en-US" dirty="0"/>
              <a:t>:</a:t>
            </a: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площади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 в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классе</a:t>
            </a:r>
            <a:r>
              <a:rPr lang="en-US" dirty="0"/>
              <a:t>:</a:t>
            </a:r>
          </a:p>
          <a:p>
            <a:r>
              <a:rPr lang="en-US" dirty="0" err="1"/>
              <a:t>поле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m_color</a:t>
            </a:r>
            <a:r>
              <a:rPr lang="en-US" dirty="0"/>
              <a:t>; 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увеличении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повторяющегося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логики</a:t>
            </a:r>
            <a:r>
              <a:rPr lang="en-US" dirty="0"/>
              <a:t> </a:t>
            </a:r>
            <a:r>
              <a:rPr lang="en-US" dirty="0" err="1"/>
              <a:t>потребует</a:t>
            </a:r>
            <a:r>
              <a:rPr lang="en-US" dirty="0"/>
              <a:t> </a:t>
            </a:r>
            <a:r>
              <a:rPr lang="en-US" dirty="0" err="1"/>
              <a:t>модификации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множестве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вынести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сочетании</a:t>
            </a:r>
            <a:r>
              <a:rPr lang="en-US" dirty="0"/>
              <a:t> с </a:t>
            </a:r>
            <a:r>
              <a:rPr lang="en-US" dirty="0" err="1"/>
              <a:t>интерфейсами</a:t>
            </a:r>
            <a:r>
              <a:rPr lang="en-US" dirty="0"/>
              <a:t> и </a:t>
            </a:r>
            <a:r>
              <a:rPr lang="en-US" dirty="0" err="1"/>
              <a:t>множественным</a:t>
            </a:r>
            <a:r>
              <a:rPr lang="en-US" dirty="0"/>
              <a:t> </a:t>
            </a:r>
            <a:r>
              <a:rPr lang="en-US" dirty="0" err="1"/>
              <a:t>наследованием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дополнительным</a:t>
            </a:r>
            <a:r>
              <a:rPr lang="en-US" dirty="0"/>
              <a:t> </a:t>
            </a:r>
            <a:r>
              <a:rPr lang="en-US" dirty="0" err="1"/>
              <a:t>проблемам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726528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предпринята</a:t>
            </a:r>
            <a:r>
              <a:rPr lang="en-US" dirty="0"/>
              <a:t> </a:t>
            </a:r>
            <a:r>
              <a:rPr lang="en-US" dirty="0" err="1"/>
              <a:t>попытка</a:t>
            </a:r>
            <a:r>
              <a:rPr lang="en-US" dirty="0"/>
              <a:t> </a:t>
            </a:r>
            <a:r>
              <a:rPr lang="en-US" dirty="0" err="1"/>
              <a:t>устранить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, </a:t>
            </a:r>
            <a:r>
              <a:rPr lang="en-US" dirty="0" err="1"/>
              <a:t>реализующий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:</a:t>
            </a:r>
          </a:p>
          <a:p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разумным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дублируется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ромбовидного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пути</a:t>
            </a:r>
            <a:r>
              <a:rPr lang="en-US" dirty="0"/>
              <a:t> к </a:t>
            </a:r>
            <a:r>
              <a:rPr lang="en-US" dirty="0" err="1"/>
              <a:t>базовому</a:t>
            </a:r>
            <a:r>
              <a:rPr lang="en-US" dirty="0"/>
              <a:t> </a:t>
            </a:r>
            <a:r>
              <a:rPr lang="en-US" dirty="0" err="1"/>
              <a:t>интерфейсу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:</a:t>
            </a:r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dirty="0"/>
              <a:t>; </a:t>
            </a:r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попытке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BadCircle</a:t>
            </a:r>
            <a:r>
              <a:rPr lang="en-US" dirty="0"/>
              <a:t> в </a:t>
            </a:r>
            <a:r>
              <a:rPr lang="en-US" dirty="0" err="1"/>
              <a:t>функцию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DoSomethingWithShape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(circle)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к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IShape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.</a:t>
            </a:r>
          </a:p>
          <a:p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неоднозначность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классических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множественного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 в C++.</a:t>
            </a:r>
          </a:p>
          <a:p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виртуального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прозрачным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ситуациях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и CRTP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повторное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безопасным</a:t>
            </a:r>
            <a:r>
              <a:rPr lang="en-US" dirty="0"/>
              <a:t> и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динамического</a:t>
            </a:r>
            <a:r>
              <a:rPr lang="en-US" dirty="0"/>
              <a:t> </a:t>
            </a:r>
            <a:r>
              <a:rPr lang="en-US" dirty="0" err="1"/>
              <a:t>полиморфизма</a:t>
            </a:r>
            <a:r>
              <a:rPr lang="en-US" dirty="0"/>
              <a:t> и </a:t>
            </a:r>
            <a:r>
              <a:rPr lang="en-US" dirty="0" err="1"/>
              <a:t>ромбовидного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93930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устранить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en-US" dirty="0" err="1"/>
              <a:t>дублирования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неоднозначностей</a:t>
            </a:r>
            <a:r>
              <a:rPr lang="en-US" dirty="0"/>
              <a:t> </a:t>
            </a:r>
            <a:r>
              <a:rPr lang="en-US" dirty="0" err="1"/>
              <a:t>множественного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промежуточный</a:t>
            </a:r>
            <a:r>
              <a:rPr lang="en-US" dirty="0"/>
              <a:t> </a:t>
            </a:r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вынести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в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параметра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IRectangle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:</a:t>
            </a:r>
          </a:p>
          <a:p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цвета</a:t>
            </a:r>
            <a:r>
              <a:rPr lang="en-US" dirty="0"/>
              <a:t>; </a:t>
            </a:r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абстрактным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GetArea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реализован</a:t>
            </a:r>
            <a:r>
              <a:rPr lang="en-US" dirty="0"/>
              <a:t>.</a:t>
            </a: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r>
              <a:rPr lang="en-US" dirty="0" err="1"/>
              <a:t>общая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; </a:t>
            </a:r>
          </a:p>
          <a:p>
            <a:r>
              <a:rPr lang="en-US" dirty="0" err="1"/>
              <a:t>ромбовидное</a:t>
            </a:r>
            <a:r>
              <a:rPr lang="en-US" dirty="0"/>
              <a:t> </a:t>
            </a:r>
            <a:r>
              <a:rPr lang="en-US" dirty="0" err="1"/>
              <a:t>наследование</a:t>
            </a:r>
            <a:r>
              <a:rPr lang="en-US" dirty="0"/>
              <a:t> </a:t>
            </a:r>
            <a:r>
              <a:rPr lang="en-US" dirty="0" err="1"/>
              <a:t>исчезает</a:t>
            </a:r>
            <a:r>
              <a:rPr lang="en-US" dirty="0"/>
              <a:t>; </a:t>
            </a:r>
          </a:p>
          <a:p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независимыми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runtime-</a:t>
            </a:r>
            <a:r>
              <a:rPr lang="en-US" dirty="0" err="1"/>
              <a:t>полиморфизм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виртуальных</a:t>
            </a:r>
            <a:r>
              <a:rPr lang="en-US" dirty="0"/>
              <a:t> </a:t>
            </a:r>
            <a:r>
              <a:rPr lang="en-US" dirty="0" err="1"/>
              <a:t>функциях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generic-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архитектурного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00400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339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итоговая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.</a:t>
            </a:r>
          </a:p>
          <a:p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&lt;Base&gt;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переданного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функциональность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цветом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поля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m_color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GetColor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SetColor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Rectangle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Circle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наследуются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, а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специализаций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IRectangle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ShapeImpl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ICircle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конкретный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специфическую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—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площади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устраняется</a:t>
            </a:r>
            <a:r>
              <a:rPr lang="en-US" dirty="0"/>
              <a:t>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сохраняется</a:t>
            </a:r>
            <a:r>
              <a:rPr lang="en-US" dirty="0"/>
              <a:t> </a:t>
            </a:r>
            <a:r>
              <a:rPr lang="en-US" dirty="0" err="1"/>
              <a:t>чистая</a:t>
            </a:r>
            <a:r>
              <a:rPr lang="en-US" dirty="0"/>
              <a:t> </a:t>
            </a:r>
            <a:r>
              <a:rPr lang="en-US" dirty="0" err="1"/>
              <a:t>объектно-ориентированная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неоднозначного</a:t>
            </a:r>
            <a:r>
              <a:rPr lang="en-US" dirty="0"/>
              <a:t> </a:t>
            </a:r>
            <a:r>
              <a:rPr lang="en-US" dirty="0" err="1"/>
              <a:t>наследования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повторяющейся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универсальных</a:t>
            </a:r>
            <a:r>
              <a:rPr lang="en-US" dirty="0"/>
              <a:t> </a:t>
            </a:r>
            <a:r>
              <a:rPr lang="en-US" dirty="0" err="1"/>
              <a:t>контейнеров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встречается</a:t>
            </a:r>
            <a:r>
              <a:rPr lang="en-US" dirty="0"/>
              <a:t> в </a:t>
            </a:r>
            <a:r>
              <a:rPr lang="en-US" dirty="0" err="1"/>
              <a:t>крупных</a:t>
            </a:r>
            <a:r>
              <a:rPr lang="en-US" dirty="0"/>
              <a:t> C++-</a:t>
            </a:r>
            <a:r>
              <a:rPr lang="en-US" dirty="0" err="1"/>
              <a:t>проектах</a:t>
            </a:r>
            <a:r>
              <a:rPr lang="en-US" dirty="0"/>
              <a:t> и </a:t>
            </a:r>
            <a:r>
              <a:rPr lang="en-US" dirty="0" err="1"/>
              <a:t>библиотеках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41549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805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с </a:t>
            </a:r>
            <a:r>
              <a:rPr lang="en-US" dirty="0" err="1"/>
              <a:t>фиксированным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variadic templates — </a:t>
            </a:r>
            <a:r>
              <a:rPr lang="en-US" dirty="0" err="1"/>
              <a:t>шаблонов</a:t>
            </a:r>
            <a:r>
              <a:rPr lang="en-US" dirty="0"/>
              <a:t> с </a:t>
            </a:r>
            <a:r>
              <a:rPr lang="en-US" dirty="0" err="1"/>
              <a:t>переменным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, </a:t>
            </a:r>
            <a:r>
              <a:rPr lang="en-US" dirty="0" err="1"/>
              <a:t>способные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и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построена</a:t>
            </a:r>
            <a:r>
              <a:rPr lang="en-US" dirty="0"/>
              <a:t> </a:t>
            </a:r>
            <a:r>
              <a:rPr lang="en-US" dirty="0" err="1"/>
              <a:t>значительная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приведены</a:t>
            </a:r>
            <a:r>
              <a:rPr lang="en-US" dirty="0"/>
              <a:t> </a:t>
            </a:r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объединять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произвольного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и </a:t>
            </a:r>
            <a:r>
              <a:rPr lang="en-US" dirty="0" err="1"/>
              <a:t>типов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объекте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конструктору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контейнера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Variadic templates </a:t>
            </a:r>
            <a:r>
              <a:rPr lang="en-US" dirty="0" err="1"/>
              <a:t>сделали</a:t>
            </a:r>
            <a:r>
              <a:rPr lang="en-US" dirty="0"/>
              <a:t> </a:t>
            </a:r>
            <a:r>
              <a:rPr lang="en-US" dirty="0" err="1"/>
              <a:t>возможным</a:t>
            </a:r>
            <a:r>
              <a:rPr lang="en-US" dirty="0"/>
              <a:t>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гибких</a:t>
            </a:r>
            <a:r>
              <a:rPr lang="en-US" dirty="0"/>
              <a:t> generic-</a:t>
            </a:r>
            <a:r>
              <a:rPr lang="en-US" dirty="0" err="1"/>
              <a:t>интерфейсов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огромное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17171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практического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templates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.</a:t>
            </a: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std::tie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tuple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ссылок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операторе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Student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компактно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лексикографическое</a:t>
            </a:r>
            <a:r>
              <a:rPr lang="en-US" dirty="0"/>
              <a:t> </a:t>
            </a:r>
            <a:r>
              <a:rPr lang="en-US" dirty="0" err="1"/>
              <a:t>сравнение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длинной</a:t>
            </a:r>
            <a:r>
              <a:rPr lang="en-US" dirty="0"/>
              <a:t> </a:t>
            </a:r>
            <a:r>
              <a:rPr lang="en-US" dirty="0" err="1"/>
              <a:t>цепочки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(lhs.name != rhs.name)</a:t>
            </a:r>
          </a:p>
          <a:p>
            <a:r>
              <a:rPr lang="en-US" dirty="0"/>
              <a:t>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сравнить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tuple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сравниваться</a:t>
            </a:r>
            <a:r>
              <a:rPr lang="en-US" dirty="0"/>
              <a:t> </a:t>
            </a:r>
            <a:r>
              <a:rPr lang="en-US" dirty="0" err="1"/>
              <a:t>имена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фамилии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возраст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r>
              <a:rPr lang="en-US" dirty="0" err="1"/>
              <a:t>короче</a:t>
            </a:r>
            <a:r>
              <a:rPr lang="en-US" dirty="0"/>
              <a:t>; </a:t>
            </a:r>
          </a:p>
          <a:p>
            <a:r>
              <a:rPr lang="en-US" dirty="0" err="1"/>
              <a:t>легче</a:t>
            </a:r>
            <a:r>
              <a:rPr lang="en-US" dirty="0"/>
              <a:t> </a:t>
            </a:r>
            <a:r>
              <a:rPr lang="en-US" dirty="0" err="1"/>
              <a:t>читается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подвержен</a:t>
            </a:r>
            <a:r>
              <a:rPr lang="en-US" dirty="0"/>
              <a:t> </a:t>
            </a:r>
            <a:r>
              <a:rPr lang="en-US" dirty="0" err="1"/>
              <a:t>ошибкам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variadic templates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выразительные</a:t>
            </a:r>
            <a:r>
              <a:rPr lang="en-US" dirty="0"/>
              <a:t> </a:t>
            </a:r>
            <a:r>
              <a:rPr lang="en-US" dirty="0" err="1"/>
              <a:t>абстракции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069203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синтаксис</a:t>
            </a:r>
            <a:r>
              <a:rPr lang="en-US" dirty="0"/>
              <a:t> variadic templates.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typename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 Types</a:t>
            </a:r>
          </a:p>
          <a:p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—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нуля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Аналогично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Types... values</a:t>
            </a:r>
          </a:p>
          <a:p>
            <a:r>
              <a:rPr lang="en-US" dirty="0" err="1"/>
              <a:t>объявляет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:</a:t>
            </a:r>
          </a:p>
          <a:p>
            <a:r>
              <a:rPr lang="en-US" dirty="0" err="1"/>
              <a:t>любое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; </a:t>
            </a:r>
          </a:p>
          <a:p>
            <a:r>
              <a:rPr lang="en-US" dirty="0" err="1"/>
              <a:t>включая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Fn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вызываться</a:t>
            </a:r>
            <a:r>
              <a:rPr lang="en-US" dirty="0"/>
              <a:t>:</a:t>
            </a:r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r>
              <a:rPr lang="en-US" dirty="0"/>
              <a:t>с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аргументом</a:t>
            </a:r>
            <a:r>
              <a:rPr lang="en-US" dirty="0"/>
              <a:t>; </a:t>
            </a:r>
          </a:p>
          <a:p>
            <a:r>
              <a:rPr lang="en-US" dirty="0" err="1"/>
              <a:t>или</a:t>
            </a:r>
            <a:r>
              <a:rPr lang="en-US" dirty="0"/>
              <a:t> с </a:t>
            </a:r>
            <a:r>
              <a:rPr lang="en-US" dirty="0" err="1"/>
              <a:t>произвольным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Variadic templates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по-настоящему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десятки</a:t>
            </a:r>
            <a:r>
              <a:rPr lang="en-US" dirty="0"/>
              <a:t> </a:t>
            </a:r>
            <a:r>
              <a:rPr lang="en-US" dirty="0" err="1"/>
              <a:t>перегрузок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70149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и </a:t>
            </a:r>
            <a:r>
              <a:rPr lang="en-US" dirty="0" err="1"/>
              <a:t>выводит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();</a:t>
            </a:r>
          </a:p>
          <a:p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(42);</a:t>
            </a:r>
          </a:p>
          <a:p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единице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трёх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.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Никакого</a:t>
            </a:r>
            <a:r>
              <a:rPr lang="en-US" dirty="0"/>
              <a:t> runtime-</a:t>
            </a:r>
            <a:r>
              <a:rPr lang="en-US" dirty="0" err="1"/>
              <a:t>подсчёта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compile-time </a:t>
            </a:r>
            <a:r>
              <a:rPr lang="en-US" dirty="0" err="1"/>
              <a:t>природы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525921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распаковку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контейнер</a:t>
            </a:r>
            <a:r>
              <a:rPr lang="en-US" dirty="0"/>
              <a:t>, а </a:t>
            </a:r>
            <a:r>
              <a:rPr lang="en-US" dirty="0" err="1"/>
              <a:t>специальная</a:t>
            </a:r>
            <a:r>
              <a:rPr lang="en-US" dirty="0"/>
              <a:t> compile-time </a:t>
            </a:r>
            <a:r>
              <a:rPr lang="en-US" dirty="0" err="1"/>
              <a:t>конструкция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распаковать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многоточия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values...</a:t>
            </a:r>
          </a:p>
          <a:p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список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Fn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:</a:t>
            </a:r>
          </a:p>
          <a:p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; </a:t>
            </a:r>
          </a:p>
          <a:p>
            <a:r>
              <a:rPr lang="en-US" dirty="0"/>
              <a:t>и variadic-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values</a:t>
            </a:r>
            <a:r>
              <a:rPr lang="en-US" dirty="0"/>
              <a:t>.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 в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PrintArgumentCount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распаковке</a:t>
            </a:r>
            <a:r>
              <a:rPr lang="en-US" dirty="0"/>
              <a:t> variadic templates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цепочек</a:t>
            </a:r>
            <a:r>
              <a:rPr lang="en-US" dirty="0"/>
              <a:t> </a:t>
            </a:r>
            <a:r>
              <a:rPr lang="en-US" dirty="0" err="1"/>
              <a:t>универсальных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построены</a:t>
            </a:r>
            <a:r>
              <a:rPr lang="en-US" dirty="0"/>
              <a:t>:</a:t>
            </a:r>
          </a:p>
          <a:p>
            <a:r>
              <a:rPr lang="en-US" dirty="0"/>
              <a:t>forwarding; </a:t>
            </a:r>
          </a:p>
          <a:p>
            <a:r>
              <a:rPr lang="en-US" dirty="0"/>
              <a:t>perfect forwarding;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фабричные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STL; </a:t>
            </a:r>
          </a:p>
          <a:p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91514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шаблонных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в </a:t>
            </a:r>
            <a:r>
              <a:rPr lang="en-US" dirty="0" err="1"/>
              <a:t>списке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.</a:t>
            </a:r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, </a:t>
            </a:r>
            <a:r>
              <a:rPr lang="en-US" dirty="0" err="1"/>
              <a:t>переданных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Bases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public Bases...</a:t>
            </a:r>
          </a:p>
          <a:p>
            <a:r>
              <a:rPr lang="en-US" dirty="0" err="1"/>
              <a:t>означает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«</a:t>
            </a:r>
            <a:r>
              <a:rPr lang="en-US" dirty="0" err="1"/>
              <a:t>унаследоваться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в </a:t>
            </a:r>
            <a:r>
              <a:rPr lang="en-US" dirty="0" err="1"/>
              <a:t>пакете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Chimera&lt;Bat, Man&gt;</a:t>
            </a:r>
            <a:br>
              <a:rPr lang="en-US" dirty="0"/>
            </a:b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Fly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SayHello</a:t>
            </a:r>
            <a:r>
              <a:rPr lang="en-US" dirty="0"/>
              <a:t>; </a:t>
            </a:r>
          </a:p>
          <a:p>
            <a:r>
              <a:rPr lang="en-US" dirty="0"/>
              <a:t>а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Chimera&lt;Spider, Man&gt;</a:t>
            </a:r>
            <a:br>
              <a:rPr lang="en-US" dirty="0"/>
            </a:b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Weave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SayHello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шуточным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техники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generic-</a:t>
            </a:r>
            <a:r>
              <a:rPr lang="en-US" dirty="0" err="1"/>
              <a:t>компонентов</a:t>
            </a:r>
            <a:r>
              <a:rPr lang="en-US" dirty="0"/>
              <a:t> STL. </a:t>
            </a:r>
          </a:p>
          <a:p>
            <a:r>
              <a:rPr lang="en-US" dirty="0"/>
              <a:t>Variadic inheritance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мощнейших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метапрограммирования</a:t>
            </a:r>
            <a:r>
              <a:rPr lang="en-US" dirty="0"/>
              <a:t> в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724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реальный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inheritance —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overloaded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лямбда-функция</a:t>
            </a:r>
            <a:r>
              <a:rPr lang="en-US" dirty="0"/>
              <a:t> в C++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объектом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анонимного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с </a:t>
            </a:r>
            <a:r>
              <a:rPr lang="en-US" dirty="0" err="1"/>
              <a:t>перегруженным</a:t>
            </a:r>
            <a:r>
              <a:rPr lang="en-US" dirty="0"/>
              <a:t> </a:t>
            </a:r>
            <a:r>
              <a:rPr lang="en-US" dirty="0" err="1"/>
              <a:t>оператором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overloaded</a:t>
            </a:r>
            <a:r>
              <a:rPr lang="en-US" dirty="0"/>
              <a:t> </a:t>
            </a:r>
            <a:r>
              <a:rPr lang="en-US" dirty="0" err="1"/>
              <a:t>наследуется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переданных</a:t>
            </a:r>
            <a:r>
              <a:rPr lang="en-US" dirty="0"/>
              <a:t> </a:t>
            </a:r>
            <a:r>
              <a:rPr lang="en-US" dirty="0" err="1"/>
              <a:t>лямбд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struct overloaded : Ts...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конструкция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using Ts::operator()...</a:t>
            </a:r>
          </a:p>
          <a:p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операторы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</a:t>
            </a:r>
            <a:r>
              <a:rPr lang="en-US" dirty="0" err="1"/>
              <a:t>доступными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объекте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единый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с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перегруженными</a:t>
            </a:r>
            <a:r>
              <a:rPr lang="en-US" dirty="0"/>
              <a:t> </a:t>
            </a:r>
            <a:r>
              <a:rPr lang="en-US" dirty="0" err="1"/>
              <a:t>версиями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operator()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обработчиков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variant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, 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std::visit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подходящую</a:t>
            </a:r>
            <a:r>
              <a:rPr lang="en-US" dirty="0"/>
              <a:t> </a:t>
            </a:r>
            <a:r>
              <a:rPr lang="en-US" dirty="0" err="1"/>
              <a:t>перегрузку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популярным</a:t>
            </a:r>
            <a:r>
              <a:rPr lang="en-US" dirty="0"/>
              <a:t> в </a:t>
            </a:r>
            <a:r>
              <a:rPr lang="en-US" dirty="0" err="1"/>
              <a:t>современном</a:t>
            </a:r>
            <a:r>
              <a:rPr lang="en-US" dirty="0"/>
              <a:t> C++,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компактный</a:t>
            </a:r>
            <a:r>
              <a:rPr lang="en-US" dirty="0"/>
              <a:t> и </a:t>
            </a:r>
            <a:r>
              <a:rPr lang="en-US" dirty="0" err="1"/>
              <a:t>выразительный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std::variant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58633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922835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формулируется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,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демонстрирующая</a:t>
            </a:r>
            <a:r>
              <a:rPr lang="en-US" dirty="0"/>
              <a:t> </a:t>
            </a:r>
            <a:r>
              <a:rPr lang="en-US" dirty="0" err="1"/>
              <a:t>практическое</a:t>
            </a:r>
            <a:r>
              <a:rPr lang="en-US" dirty="0"/>
              <a:t> </a:t>
            </a:r>
            <a:r>
              <a:rPr lang="en-US" dirty="0" err="1"/>
              <a:t>применение</a:t>
            </a:r>
            <a:r>
              <a:rPr lang="en-US" dirty="0"/>
              <a:t> variadic templates.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выводятся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запятую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Единственное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определён</a:t>
            </a:r>
            <a:r>
              <a:rPr lang="en-US" dirty="0"/>
              <a:t>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в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ostream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World"s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42);</a:t>
            </a:r>
          </a:p>
          <a:p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вывести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Hello, World, 42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и с </a:t>
            </a:r>
            <a:r>
              <a:rPr lang="en-US" dirty="0" err="1"/>
              <a:t>пустым</a:t>
            </a:r>
            <a:r>
              <a:rPr lang="en-US" dirty="0"/>
              <a:t> </a:t>
            </a:r>
            <a:r>
              <a:rPr lang="en-US" dirty="0" err="1"/>
              <a:t>списком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встречаются</a:t>
            </a:r>
            <a:r>
              <a:rPr lang="en-US" dirty="0"/>
              <a:t> в generic-</a:t>
            </a:r>
            <a:r>
              <a:rPr lang="en-US" dirty="0" err="1"/>
              <a:t>библиотеках</a:t>
            </a:r>
            <a:r>
              <a:rPr lang="en-US" dirty="0"/>
              <a:t>:</a:t>
            </a:r>
          </a:p>
          <a:p>
            <a:r>
              <a:rPr lang="en-US" dirty="0" err="1"/>
              <a:t>логирование</a:t>
            </a:r>
            <a:r>
              <a:rPr lang="en-US" dirty="0"/>
              <a:t>; </a:t>
            </a:r>
          </a:p>
          <a:p>
            <a:r>
              <a:rPr lang="en-US" dirty="0" err="1"/>
              <a:t>трассировка</a:t>
            </a:r>
            <a:r>
              <a:rPr lang="en-US" dirty="0"/>
              <a:t>; </a:t>
            </a:r>
          </a:p>
          <a:p>
            <a:r>
              <a:rPr lang="en-US" dirty="0" err="1"/>
              <a:t>сериализация</a:t>
            </a:r>
            <a:r>
              <a:rPr lang="en-US" dirty="0"/>
              <a:t>; </a:t>
            </a:r>
          </a:p>
          <a:p>
            <a:r>
              <a:rPr lang="en-US" dirty="0" err="1"/>
              <a:t>форматирование</a:t>
            </a:r>
            <a:r>
              <a:rPr lang="en-US" dirty="0"/>
              <a:t> </a:t>
            </a:r>
            <a:r>
              <a:rPr lang="en-US" dirty="0" err="1"/>
              <a:t>текста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2014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</a:t>
            </a:r>
            <a:r>
              <a:rPr lang="en-US" dirty="0"/>
              <a:t>а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решается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пройти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аргументам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for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будто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скомпилируется</a:t>
            </a:r>
            <a:r>
              <a:rPr lang="en-US" dirty="0"/>
              <a:t>.</a:t>
            </a:r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фундаментальной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variadic templates.</a:t>
            </a:r>
          </a:p>
          <a:p>
            <a:endParaRPr lang="ru-RU" dirty="0"/>
          </a:p>
          <a:p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: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; 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обычную</a:t>
            </a:r>
            <a:r>
              <a:rPr lang="en-US" dirty="0"/>
              <a:t> </a:t>
            </a:r>
            <a:r>
              <a:rPr lang="en-US" dirty="0" err="1"/>
              <a:t>итерацию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ru-RU" dirty="0"/>
              <a:t>чисто </a:t>
            </a:r>
            <a:r>
              <a:rPr lang="en-US" dirty="0"/>
              <a:t>compile-time </a:t>
            </a:r>
            <a:r>
              <a:rPr lang="en-US" dirty="0" err="1"/>
              <a:t>конструкция</a:t>
            </a:r>
            <a:r>
              <a:rPr lang="en-US" dirty="0"/>
              <a:t>.</a:t>
            </a:r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фиксированный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int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double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std::string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обычный</a:t>
            </a:r>
            <a:r>
              <a:rPr lang="en-US" dirty="0"/>
              <a:t> runtime-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неприменим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пакетом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C++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r>
              <a:rPr lang="en-US" dirty="0" err="1"/>
              <a:t>узнать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распаковать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строить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34445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классических</a:t>
            </a:r>
            <a:r>
              <a:rPr lang="en-US" dirty="0"/>
              <a:t> </a:t>
            </a:r>
            <a:r>
              <a:rPr lang="en-US" dirty="0" err="1"/>
              <a:t>способов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variadic templates — </a:t>
            </a:r>
            <a:r>
              <a:rPr lang="en-US" dirty="0" err="1"/>
              <a:t>рекурсия</a:t>
            </a:r>
            <a:r>
              <a:rPr lang="en-US" dirty="0"/>
              <a:t>.</a:t>
            </a:r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похожа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списков</a:t>
            </a:r>
            <a:r>
              <a:rPr lang="en-US" dirty="0"/>
              <a:t> в </a:t>
            </a:r>
            <a:r>
              <a:rPr lang="en-US" dirty="0" err="1"/>
              <a:t>функциональных</a:t>
            </a:r>
            <a:r>
              <a:rPr lang="en-US" dirty="0"/>
              <a:t> </a:t>
            </a:r>
            <a:r>
              <a:rPr lang="en-US" dirty="0" err="1"/>
              <a:t>языках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шаге</a:t>
            </a:r>
            <a:r>
              <a:rPr lang="en-US" dirty="0"/>
              <a:t>:</a:t>
            </a:r>
          </a:p>
          <a:p>
            <a:r>
              <a:rPr lang="en-US" dirty="0" err="1"/>
              <a:t>берётся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— «</a:t>
            </a:r>
            <a:r>
              <a:rPr lang="en-US" dirty="0" err="1"/>
              <a:t>голова</a:t>
            </a:r>
            <a:r>
              <a:rPr lang="en-US" dirty="0"/>
              <a:t>» </a:t>
            </a:r>
            <a:r>
              <a:rPr lang="en-US" dirty="0" err="1"/>
              <a:t>списка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рекурсивно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 </a:t>
            </a:r>
            <a:r>
              <a:rPr lang="en-US" dirty="0" err="1"/>
              <a:t>оставшаяся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— «</a:t>
            </a:r>
            <a:r>
              <a:rPr lang="en-US" dirty="0" err="1"/>
              <a:t>хвост</a:t>
            </a:r>
            <a:r>
              <a:rPr lang="en-US" dirty="0"/>
              <a:t>».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; 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остались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— </a:t>
            </a:r>
            <a:r>
              <a:rPr lang="en-US" dirty="0" err="1"/>
              <a:t>вывести</a:t>
            </a:r>
            <a:r>
              <a:rPr lang="en-US" dirty="0"/>
              <a:t> </a:t>
            </a:r>
            <a:r>
              <a:rPr lang="en-US" dirty="0" err="1"/>
              <a:t>запятую</a:t>
            </a:r>
            <a:r>
              <a:rPr lang="en-US" dirty="0"/>
              <a:t>; </a:t>
            </a:r>
          </a:p>
          <a:p>
            <a:r>
              <a:rPr lang="en-US" dirty="0" err="1"/>
              <a:t>рекурсивно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оставшиеся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уменьшается</a:t>
            </a:r>
            <a:r>
              <a:rPr lang="en-US" dirty="0"/>
              <a:t>: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1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3.5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"hello"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пустым</a:t>
            </a:r>
            <a:r>
              <a:rPr lang="en-US" dirty="0"/>
              <a:t>, </a:t>
            </a:r>
            <a:r>
              <a:rPr lang="en-US" dirty="0" err="1"/>
              <a:t>рекурсия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долгое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variadic templates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fold expressions в C++17.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2062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: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v0</a:t>
            </a:r>
            <a:r>
              <a:rPr lang="en-US" dirty="0"/>
              <a:t>; </a:t>
            </a:r>
          </a:p>
          <a:p>
            <a:r>
              <a:rPr lang="en-US" dirty="0"/>
              <a:t>и variadic-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оставшихся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vs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приём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:</a:t>
            </a:r>
          </a:p>
          <a:p>
            <a:r>
              <a:rPr lang="en-US" dirty="0" err="1"/>
              <a:t>голову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хвост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...(vs)</a:t>
            </a:r>
          </a:p>
          <a:p>
            <a:r>
              <a:rPr lang="en-US" dirty="0" err="1"/>
              <a:t>проверяется</a:t>
            </a:r>
            <a:r>
              <a:rPr lang="en-US" dirty="0"/>
              <a:t>, </a:t>
            </a:r>
            <a:r>
              <a:rPr lang="en-US" dirty="0" err="1"/>
              <a:t>остались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пуст</a:t>
            </a:r>
            <a:r>
              <a:rPr lang="en-US" dirty="0"/>
              <a:t>:</a:t>
            </a:r>
          </a:p>
          <a:p>
            <a:r>
              <a:rPr lang="en-US" dirty="0" err="1"/>
              <a:t>выводится</a:t>
            </a:r>
            <a:r>
              <a:rPr lang="en-US" dirty="0"/>
              <a:t> </a:t>
            </a:r>
            <a:r>
              <a:rPr lang="en-US" dirty="0" err="1"/>
              <a:t>разделитель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рекурсивный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.</a:t>
            </a:r>
          </a:p>
          <a:p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подошёл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попытался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скомпилировать</a:t>
            </a:r>
            <a:r>
              <a:rPr lang="en-US" dirty="0"/>
              <a:t> </a:t>
            </a:r>
            <a:r>
              <a:rPr lang="en-US" dirty="0" err="1"/>
              <a:t>рекурсивный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пустого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if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constexpr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неиспользуемую</a:t>
            </a:r>
            <a:r>
              <a:rPr lang="en-US" dirty="0"/>
              <a:t> </a:t>
            </a:r>
            <a:r>
              <a:rPr lang="en-US" dirty="0" err="1"/>
              <a:t>ветку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служит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внешней</a:t>
            </a:r>
            <a:r>
              <a:rPr lang="en-US" dirty="0"/>
              <a:t> </a:t>
            </a:r>
            <a:r>
              <a:rPr lang="en-US" dirty="0" err="1"/>
              <a:t>оболочкой</a:t>
            </a:r>
            <a:r>
              <a:rPr lang="en-US" dirty="0"/>
              <a:t>:</a:t>
            </a:r>
          </a:p>
          <a:p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пустоту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; </a:t>
            </a:r>
          </a:p>
          <a:p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переводом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сочетания</a:t>
            </a:r>
            <a:r>
              <a:rPr lang="en-US" dirty="0"/>
              <a:t>:</a:t>
            </a:r>
          </a:p>
          <a:p>
            <a:r>
              <a:rPr lang="en-US" dirty="0"/>
              <a:t>variadic templates; </a:t>
            </a:r>
          </a:p>
          <a:p>
            <a:r>
              <a:rPr lang="en-US" dirty="0" err="1"/>
              <a:t>рекурсии</a:t>
            </a:r>
            <a:r>
              <a:rPr lang="en-US" dirty="0"/>
              <a:t>; </a:t>
            </a:r>
          </a:p>
          <a:p>
            <a:r>
              <a:rPr lang="en-US" dirty="0"/>
              <a:t>и compile-time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48542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Point</a:t>
            </a:r>
            <a:r>
              <a:rPr lang="en-US" dirty="0"/>
              <a:t> и </a:t>
            </a:r>
            <a:r>
              <a:rPr lang="en-US" dirty="0" err="1"/>
              <a:t>оператор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вызывать</a:t>
            </a:r>
            <a:r>
              <a:rPr lang="en-US" dirty="0"/>
              <a:t> с </a:t>
            </a:r>
            <a:r>
              <a:rPr lang="en-US" dirty="0" err="1"/>
              <a:t>аргументами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:</a:t>
            </a:r>
          </a:p>
          <a:p>
            <a:r>
              <a:rPr lang="en-US" dirty="0" err="1"/>
              <a:t>числами</a:t>
            </a:r>
            <a:r>
              <a:rPr lang="en-US" dirty="0"/>
              <a:t>; </a:t>
            </a:r>
          </a:p>
          <a:p>
            <a:r>
              <a:rPr lang="en-US" dirty="0" err="1"/>
              <a:t>строками</a:t>
            </a:r>
            <a:r>
              <a:rPr lang="en-US" dirty="0"/>
              <a:t>; </a:t>
            </a:r>
          </a:p>
          <a:p>
            <a:r>
              <a:rPr lang="en-US" dirty="0" err="1"/>
              <a:t>пользовательскими</a:t>
            </a:r>
            <a:r>
              <a:rPr lang="en-US" dirty="0"/>
              <a:t> </a:t>
            </a:r>
            <a:r>
              <a:rPr lang="en-US" dirty="0" err="1"/>
              <a:t>объектами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 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);</a:t>
            </a:r>
          </a:p>
          <a:p>
            <a:r>
              <a:rPr lang="en-US" dirty="0" err="1"/>
              <a:t>выведет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42, {10,20}, Hello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типах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универсальность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исключительно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и </a:t>
            </a:r>
            <a:r>
              <a:rPr lang="en-US" dirty="0" err="1"/>
              <a:t>перегрузки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generic programming в C++:</a:t>
            </a:r>
            <a:br>
              <a:rPr lang="en-US" dirty="0"/>
            </a:b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любыми</a:t>
            </a:r>
            <a:r>
              <a:rPr lang="en-US" dirty="0"/>
              <a:t> </a:t>
            </a:r>
            <a:r>
              <a:rPr lang="en-US" dirty="0" err="1"/>
              <a:t>типами</a:t>
            </a:r>
            <a:r>
              <a:rPr lang="en-US" dirty="0"/>
              <a:t>, </a:t>
            </a:r>
            <a:r>
              <a:rPr lang="en-US" dirty="0" err="1"/>
              <a:t>удовлетворяющими</a:t>
            </a:r>
            <a:r>
              <a:rPr lang="en-US" dirty="0"/>
              <a:t> </a:t>
            </a:r>
            <a:r>
              <a:rPr lang="en-US" dirty="0" err="1"/>
              <a:t>определённому</a:t>
            </a:r>
            <a:r>
              <a:rPr lang="en-US" dirty="0"/>
              <a:t> </a:t>
            </a:r>
            <a:r>
              <a:rPr lang="en-US" dirty="0" err="1"/>
              <a:t>интерфейсу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&lt;&lt;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7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4243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использовали</a:t>
            </a:r>
            <a:r>
              <a:rPr lang="en-US" dirty="0"/>
              <a:t> </a:t>
            </a:r>
            <a:r>
              <a:rPr lang="en-US" dirty="0" err="1"/>
              <a:t>простейшую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Однако</a:t>
            </a:r>
            <a:r>
              <a:rPr lang="en-US" dirty="0"/>
              <a:t> в C++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распаковывать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целые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, </a:t>
            </a:r>
            <a:r>
              <a:rPr lang="en-US" dirty="0" err="1"/>
              <a:t>содержащие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паттернами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</a:p>
          <a:p>
            <a:r>
              <a:rPr lang="en-US" dirty="0" err="1"/>
              <a:t>превратится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&amp;x, &amp;y, &amp;z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)...</a:t>
            </a:r>
          </a:p>
          <a:p>
            <a:r>
              <a:rPr lang="en-US" dirty="0" err="1"/>
              <a:t>раскроется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H(x), H(y), H(z)</a:t>
            </a:r>
          </a:p>
          <a:p>
            <a:endParaRPr lang="ru-RU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применяет</a:t>
            </a:r>
            <a:r>
              <a:rPr lang="en-US" dirty="0"/>
              <a:t> </a:t>
            </a:r>
            <a:r>
              <a:rPr lang="en-US" dirty="0" err="1"/>
              <a:t>указанный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к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variadic templates </a:t>
            </a:r>
            <a:r>
              <a:rPr lang="en-US" dirty="0" err="1"/>
              <a:t>чрезвычайно</a:t>
            </a:r>
            <a:r>
              <a:rPr lang="en-US" dirty="0"/>
              <a:t> </a:t>
            </a:r>
            <a:r>
              <a:rPr lang="en-US" dirty="0" err="1"/>
              <a:t>мощным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compile-time </a:t>
            </a:r>
            <a:r>
              <a:rPr lang="en-US" dirty="0" err="1"/>
              <a:t>генерацию</a:t>
            </a:r>
            <a:r>
              <a:rPr lang="en-US" dirty="0"/>
              <a:t> </a:t>
            </a:r>
            <a:r>
              <a:rPr lang="en-US" dirty="0" err="1"/>
              <a:t>целых</a:t>
            </a:r>
            <a:r>
              <a:rPr lang="en-US" dirty="0"/>
              <a:t> </a:t>
            </a:r>
            <a:r>
              <a:rPr lang="en-US" dirty="0" err="1"/>
              <a:t>списков</a:t>
            </a:r>
            <a:r>
              <a:rPr lang="en-US" dirty="0"/>
              <a:t> </a:t>
            </a:r>
            <a:r>
              <a:rPr lang="en-US" dirty="0" err="1"/>
              <a:t>выражений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идее</a:t>
            </a:r>
            <a:r>
              <a:rPr lang="en-US" dirty="0"/>
              <a:t> </a:t>
            </a:r>
            <a:r>
              <a:rPr lang="en-US" dirty="0" err="1"/>
              <a:t>построены</a:t>
            </a:r>
            <a:r>
              <a:rPr lang="en-US" dirty="0"/>
              <a:t>:</a:t>
            </a:r>
          </a:p>
          <a:p>
            <a:r>
              <a:rPr lang="en-US" dirty="0"/>
              <a:t>forwarding;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std::tuple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27886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 </a:t>
            </a:r>
            <a:r>
              <a:rPr lang="en-US" dirty="0" err="1"/>
              <a:t>практическое</a:t>
            </a:r>
            <a:r>
              <a:rPr lang="en-US" dirty="0"/>
              <a:t> </a:t>
            </a:r>
            <a:r>
              <a:rPr lang="en-US" dirty="0" err="1"/>
              <a:t>применение</a:t>
            </a:r>
            <a:r>
              <a:rPr lang="en-US" dirty="0"/>
              <a:t> </a:t>
            </a:r>
            <a:r>
              <a:rPr lang="en-US" dirty="0" err="1"/>
              <a:t>паттернов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строку</a:t>
            </a:r>
            <a:r>
              <a:rPr lang="en-US" dirty="0"/>
              <a:t> и </a:t>
            </a:r>
            <a:r>
              <a:rPr lang="en-US" dirty="0" err="1"/>
              <a:t>заключает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фигурные</a:t>
            </a:r>
            <a:r>
              <a:rPr lang="en-US" dirty="0"/>
              <a:t> </a:t>
            </a:r>
            <a:r>
              <a:rPr lang="en-US" dirty="0" err="1"/>
              <a:t>скобки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LogDecorated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Decorate(vs)...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раскрывает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вызовов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Decorate(v1), Decorate(v2), Decorate(v3)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в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.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LogImpl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пришлось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характерная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generic programming:</a:t>
            </a:r>
            <a:br>
              <a:rPr lang="en-US" dirty="0"/>
            </a:br>
            <a:r>
              <a:rPr lang="en-US" dirty="0" err="1"/>
              <a:t>небольшие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с </a:t>
            </a:r>
            <a:r>
              <a:rPr lang="en-US" dirty="0" err="1"/>
              <a:t>другом</a:t>
            </a:r>
            <a:r>
              <a:rPr lang="en-US" dirty="0"/>
              <a:t>, </a:t>
            </a:r>
            <a:r>
              <a:rPr lang="en-US" dirty="0" err="1"/>
              <a:t>создавая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LogDecorated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cout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, 42, Point{10,20}, "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Hello"s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);</a:t>
            </a:r>
          </a:p>
          <a:p>
            <a:r>
              <a:rPr lang="en-US" dirty="0" err="1"/>
              <a:t>выведет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{42}, {{10,20}}, {Hello}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575418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Паттерном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Многоточие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всему</a:t>
            </a:r>
            <a:r>
              <a:rPr lang="en-US" dirty="0"/>
              <a:t> </a:t>
            </a:r>
            <a:r>
              <a:rPr lang="en-US" dirty="0" err="1"/>
              <a:t>выражению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y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z</a:t>
            </a:r>
            <a:r>
              <a:rPr lang="en-US" dirty="0"/>
              <a:t> 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подставляет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выражения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 + x, y + y, z + z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правильный</a:t>
            </a:r>
            <a:r>
              <a:rPr lang="en-US" dirty="0"/>
              <a:t> </a:t>
            </a:r>
            <a:r>
              <a:rPr lang="en-US" dirty="0" err="1"/>
              <a:t>ответ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F(x + x, y + y, z + z)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распаковывается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dirty="0"/>
              <a:t>, а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44713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и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вложенные</a:t>
            </a:r>
            <a:r>
              <a:rPr lang="en-US" dirty="0"/>
              <a:t> </a:t>
            </a:r>
            <a:r>
              <a:rPr lang="en-US" dirty="0" err="1"/>
              <a:t>паттерны</a:t>
            </a:r>
            <a:r>
              <a:rPr lang="en-US" dirty="0"/>
              <a:t> </a:t>
            </a:r>
            <a:r>
              <a:rPr lang="en-US" dirty="0" err="1"/>
              <a:t>распаковки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присутствуют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паттерна</a:t>
            </a:r>
            <a:r>
              <a:rPr lang="en-US" dirty="0"/>
              <a:t>:</a:t>
            </a:r>
          </a:p>
          <a:p>
            <a:r>
              <a:rPr lang="en-US" dirty="0" err="1"/>
              <a:t>внутренний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...) + 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распаковку</a:t>
            </a:r>
            <a:r>
              <a:rPr lang="en-US" dirty="0"/>
              <a:t> </a:t>
            </a:r>
            <a:r>
              <a:rPr lang="en-US" dirty="0" err="1"/>
              <a:t>поэтапно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внутренний</a:t>
            </a:r>
            <a:r>
              <a:rPr lang="en-US" dirty="0"/>
              <a:t> </a:t>
            </a:r>
            <a:r>
              <a:rPr lang="en-US" dirty="0" err="1"/>
              <a:t>пакет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...</a:t>
            </a:r>
          </a:p>
          <a:p>
            <a:r>
              <a:rPr lang="en-US" dirty="0" err="1"/>
              <a:t>превращается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x, y, z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выражение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внешняя</a:t>
            </a:r>
            <a:r>
              <a:rPr lang="en-US" dirty="0"/>
              <a:t> </a:t>
            </a:r>
            <a:r>
              <a:rPr lang="en-US" dirty="0" err="1"/>
              <a:t>распаковка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H(x),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H(y),</a:t>
            </a:r>
            <a:b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</a:b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H(x, y, z) + H(z)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сложными</a:t>
            </a:r>
            <a:r>
              <a:rPr lang="en-US" dirty="0"/>
              <a:t> и </a:t>
            </a:r>
            <a:r>
              <a:rPr lang="en-US" dirty="0" err="1"/>
              <a:t>выразительными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variadic templates.</a:t>
            </a:r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метапрограммировании</a:t>
            </a:r>
            <a:r>
              <a:rPr lang="en-US" dirty="0"/>
              <a:t> и generic-</a:t>
            </a:r>
            <a:r>
              <a:rPr lang="en-US" dirty="0" err="1"/>
              <a:t>библиотеках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2006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практических</a:t>
            </a:r>
            <a:r>
              <a:rPr lang="en-US" dirty="0"/>
              <a:t> </a:t>
            </a:r>
            <a:r>
              <a:rPr lang="en-US" dirty="0" err="1"/>
              <a:t>сценариев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variadic templates — perfect forwarding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конструктора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произвольное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&amp;&amp;... 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конструктору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T(std::forward&lt;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&gt;(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args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)...)</a:t>
            </a:r>
            <a:endParaRPr lang="ru-RU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Arial" charset="0"/>
              <a:ea typeface="+mn-ea"/>
              <a:cs typeface="Arial" charset="0"/>
            </a:endParaRP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выделенной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промежуточных</a:t>
            </a:r>
            <a:r>
              <a:rPr lang="en-US" dirty="0"/>
              <a:t> </a:t>
            </a:r>
            <a:r>
              <a:rPr lang="en-US" dirty="0" err="1"/>
              <a:t>копирований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std::optional::emplace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std::vector::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emplace_back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make_shared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</a:t>
            </a:r>
            <a:r>
              <a:rPr lang="en-US" sz="1200" kern="1200" dirty="0" err="1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make_unique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Ключевую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играет</a:t>
            </a:r>
            <a:r>
              <a:rPr lang="en-US" dirty="0"/>
              <a:t>:</a:t>
            </a:r>
          </a:p>
          <a:p>
            <a:r>
              <a:rPr lang="en-US" dirty="0"/>
              <a:t>variadic templates; </a:t>
            </a:r>
          </a:p>
          <a:p>
            <a:r>
              <a:rPr lang="en-US" dirty="0" err="1"/>
              <a:t>распаковка</a:t>
            </a:r>
            <a:r>
              <a:rPr lang="en-US" dirty="0"/>
              <a:t> </a:t>
            </a:r>
            <a:r>
              <a:rPr lang="en-US" dirty="0" err="1"/>
              <a:t>пакета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; </a:t>
            </a:r>
          </a:p>
          <a:p>
            <a:r>
              <a:rPr lang="en-US" dirty="0"/>
              <a:t>и perfect forwarding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Arial" charset="0"/>
                <a:ea typeface="+mn-ea"/>
                <a:cs typeface="Arial" charset="0"/>
              </a:rPr>
              <a:t>std::forward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аргументы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в </a:t>
            </a:r>
            <a:r>
              <a:rPr lang="en-US" dirty="0" err="1"/>
              <a:t>точности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 </a:t>
            </a:r>
            <a:r>
              <a:rPr lang="en-US" dirty="0" err="1"/>
              <a:t>виде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получены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оптимизационных</a:t>
            </a:r>
            <a:r>
              <a:rPr lang="en-US" dirty="0"/>
              <a:t> </a:t>
            </a:r>
            <a:r>
              <a:rPr lang="en-US" dirty="0" err="1"/>
              <a:t>техник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633442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94113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Простая шаблонная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выглядит сложно из-за рекурсии и во время компиляции может создавать много работы для компилятора. Ведь даже один вызов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cout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, 42,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Point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{10, 20},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Hello"s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)` приведёт к построению четырёх функций.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539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64793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95005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Шаблонную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Sum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можно использовать для вычисления суммы чисел или конкатенации строк: 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008469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3165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Применим выражение свёртки, чтобы упростить функцию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`. Для этого снова представим, как она могла бы выглядеть, если бы элементы пакета параметров можно было использовать в циклах: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Здесь нужна бинарная операция, которая позволит последовательно выполнить выражение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out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&lt;&lt; ",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sv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 &lt;&lt; v` для каждого элемента пакета параметров. Провернуть такой фокус поможет оператор `,`. Он вычисляет свои аргументы слева направо и возвращает результат вычисления второго аргумента: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373209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71148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0105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В отличие от большинства других бинарных операций, свёртка с использованием запятой может применяться к пустому пакету параметров. Чтобы не выводить запятую в конце списка, первый элемент обрабатывается особым образом. Из-за этого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требует как минимум один аргумент для вывода. Функция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 вызывает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LogImpl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Arial" charset="0"/>
              </a:rPr>
              <a:t>`, только когда пакет параметров не пустой.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6514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696533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565680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0D427E-DCF5-460F-9C23-B31B0A8C8FE3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70431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32DFAE-1FFE-43EE-BD70-2E6E1542CE4B}" type="slidenum">
              <a:rPr lang="ru-RU"/>
              <a:pPr/>
              <a:t>103</a:t>
            </a:fld>
            <a:endParaRPr lang="ru-RU"/>
          </a:p>
        </p:txBody>
      </p:sp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73274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7FBA23-ECF9-47CF-B1F5-B44AF3C02867}" type="slidenum">
              <a:rPr lang="ru-RU"/>
              <a:pPr/>
              <a:t>104</a:t>
            </a:fld>
            <a:endParaRPr lang="ru-RU"/>
          </a:p>
        </p:txBody>
      </p:sp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2616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F88D1-5236-47A3-8607-2A58929E4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F01BF-B540-4BA0-A46A-525B40172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D3966-5C15-45A9-8E7C-2BCC4389B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BD36-9257-4DEE-B3FF-569A7553C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2CD9-5FEA-4AA0-A37F-BCD52686E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0671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B0CD-E8EA-44CD-9F45-723CD63A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C9B6D-1B37-428C-83B7-56E2BF4A4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2804A-D4B4-4D26-B3BB-2C46C6DF6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A6660E-AF8B-4CD7-9163-440BE6E1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6E4FD-0DFB-450A-9F66-95E5E26B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18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FDD68-66FA-4676-8387-2B8DE8CCB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982CA-2261-45B8-8ED8-1BB8CEB6E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2E7E8-CDDD-4068-9CBD-4ADC0A5D6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47038-C378-4A1E-B437-4C68F7C56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4385-A8D6-4C5A-A4DB-DF077881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94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089B8-F438-4918-ADC5-E67C2217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42B8C-5ED3-454C-A4C2-504AE8DA09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B1AE5-E32B-4451-A04F-67417B15E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7DD91-EA66-4600-8622-EC73273FC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9EEE9-3163-4748-AACD-15F60CC8B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E4D39-5AAB-455B-847B-89C2EEC63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613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F5A96-4BC2-4329-8AD6-C177585D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CABD3-DAE4-4482-8EF1-F36977F23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4D0F90-0DDB-442A-A0F2-383F632EB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5A10B6-C819-4C0B-A205-97C0C7CDB1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6860E-97D5-4258-BCC0-2DE0F5B94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E48DC-02C8-4ED2-9FB3-704A2103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ADD595-4A9B-41F8-98F3-8B372ADC8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1B233-D9B6-470E-906C-32AB52633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EFA3E-4D5A-42F9-8095-B10F6DFB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7AF51E-7887-48F1-8680-D0030F90C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B795B-0689-4AC0-AB4B-78D2ACE9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D7A680-AF7E-4128-AF6A-1B096935E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5825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158CA3-CB2B-4CBF-809A-707D829B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36B9E0-78C4-43A8-A192-6C83F713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0EEA9-B037-476F-B0C2-63DBE1B8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705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12B5-4E7D-4F22-BBD5-970D7751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1DD5A-28A7-47D0-B599-1211149C6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85EEF8-15E5-4010-87B2-5F199E1C8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610FE-41B6-4D58-85A1-E67C7000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8491-02B1-4496-96CF-2A0A8EDD5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96E3F-3888-4FB3-9B60-FFFD261F1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79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4B892-E63F-4E4F-AE8F-AD6A3ED5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470C82-ABCF-492D-B6E0-F4F14F22B3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BF4AF-B935-4AB0-96D7-042D6C52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EA3BF-997E-487F-9875-13779FEE3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9ABCC-41AA-450B-9C91-D0F7EA3F7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507E-4E8C-48DB-AB59-1E9E51E3A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916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788D-1436-4A70-9C18-64966F83D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62DF84-9A10-4B52-9754-8EED28996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0B7C5-C65D-455F-8E4B-72959BC1B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CF695-682C-4A07-9A51-B3C1B1F8F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B4BC3-1227-4FC6-8D50-CA03DE782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550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F0B7F-E5C6-4FA6-AE1B-6A944CCEF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934A3-6018-4919-BF18-3D20F641AC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4F00F-65D3-410E-97B1-2B35FF11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89A1D-DC17-4FAD-95B9-1FF74D933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86383-786C-47C2-BEA5-E6FD39BC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22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4A60C5-4EE7-4C0B-9A9F-6D68FD88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2484F-0494-4EE3-A577-9CC41836F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707BF-6382-4D46-8DFA-1AD7FE68B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2D920-FDB2-4F19-A4BE-39ABA52F5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09897-E6B6-4F25-BEC3-489E458AC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14DDA-F502-41F9-B26C-1615FAD430F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14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74KnYqs3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xYnKS8OhT7izoUp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Обобщенное программирование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программирование: идея и мотивация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Обобщённое программирование</a:t>
            </a:r>
          </a:p>
          <a:p>
            <a:pPr lvl="1"/>
            <a:r>
              <a:rPr lang="ru-RU" dirty="0"/>
              <a:t>Подход к разработке программ, при котором алгоритм описывается независимо от конкретного типа данных.</a:t>
            </a:r>
          </a:p>
          <a:p>
            <a:r>
              <a:rPr lang="ru-RU" dirty="0"/>
              <a:t>Одинаковые алгоритмы применяются к разным типам данных:</a:t>
            </a:r>
          </a:p>
          <a:p>
            <a:pPr lvl="1"/>
            <a:r>
              <a:rPr lang="ru-RU" dirty="0"/>
              <a:t>сортировка и поиск; </a:t>
            </a:r>
          </a:p>
          <a:p>
            <a:pPr lvl="1"/>
            <a:r>
              <a:rPr lang="ru-RU" dirty="0"/>
              <a:t>обработка элементов коллекций; </a:t>
            </a:r>
          </a:p>
          <a:p>
            <a:pPr lvl="1"/>
            <a:r>
              <a:rPr lang="ru-RU" dirty="0"/>
              <a:t>контейнеры для различных типов; </a:t>
            </a:r>
          </a:p>
          <a:p>
            <a:pPr lvl="1"/>
            <a:r>
              <a:rPr lang="ru-RU" dirty="0"/>
              <a:t>повторное использование кода. </a:t>
            </a:r>
          </a:p>
          <a:p>
            <a:r>
              <a:rPr lang="ru-RU" dirty="0"/>
              <a:t>Идея: «один алгоритм — множество типов данных»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2D0A0-27F5-D225-6C39-AA84D4C68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реализовано в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CA95E-B4C3-F1C0-271D-8BC84B052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Шаблоны (</a:t>
            </a:r>
            <a:r>
              <a:rPr lang="ru-RU" dirty="0" err="1"/>
              <a:t>templates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Основной механизм обобщённого программирования в C++.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</a:t>
            </a:r>
            <a:r>
              <a:rPr lang="ru-RU" dirty="0">
                <a:latin typeface="Consolas" panose="020B0609020204030204" pitchFamily="49" charset="0"/>
              </a:rPr>
              <a:t>(T a, T b)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Принцип работы</a:t>
            </a:r>
          </a:p>
          <a:p>
            <a:pPr lvl="1"/>
            <a:r>
              <a:rPr lang="ru-RU" dirty="0"/>
              <a:t>Программист задаёт обобщённое описание функции или класса. </a:t>
            </a:r>
          </a:p>
          <a:p>
            <a:pPr lvl="1"/>
            <a:r>
              <a:rPr lang="ru-RU" dirty="0"/>
              <a:t>Тип данных указывается при использовании шаблона. </a:t>
            </a:r>
          </a:p>
          <a:p>
            <a:pPr lvl="1"/>
            <a:r>
              <a:rPr lang="ru-RU" dirty="0"/>
              <a:t>Компилятор создаёт конкретную реализацию для заданного типа. </a:t>
            </a:r>
          </a:p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универсальный и переиспользуемый код; </a:t>
            </a:r>
          </a:p>
          <a:p>
            <a:pPr lvl="1"/>
            <a:r>
              <a:rPr lang="ru-RU" dirty="0"/>
              <a:t>уменьшение дублирования; </a:t>
            </a:r>
          </a:p>
          <a:p>
            <a:pPr lvl="1"/>
            <a:r>
              <a:rPr lang="ru-RU" dirty="0"/>
              <a:t>высокая производительность без потери </a:t>
            </a:r>
            <a:r>
              <a:rPr lang="ru-RU" dirty="0" err="1"/>
              <a:t>типобезопасности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6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77C5E-63C8-E0E2-4187-CFE6285A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дублирования кода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D3CBAA-3E95-F187-1B08-3BBD66988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Задача: Разработать функцию </a:t>
            </a:r>
            <a:r>
              <a:rPr lang="en-US" dirty="0"/>
              <a:t>maximum(a, b), </a:t>
            </a:r>
            <a:r>
              <a:rPr lang="ru-RU" dirty="0"/>
              <a:t>возвращающую большее из двух значений. Функция должна работать с различными типами данных:</a:t>
            </a:r>
          </a:p>
          <a:p>
            <a:pPr lvl="1"/>
            <a:r>
              <a:rPr lang="en-US" dirty="0"/>
              <a:t>Int</a:t>
            </a:r>
            <a:r>
              <a:rPr lang="ru-RU" dirty="0"/>
              <a:t>, </a:t>
            </a:r>
            <a:r>
              <a:rPr lang="en-US" dirty="0"/>
              <a:t>unsigned int</a:t>
            </a:r>
            <a:r>
              <a:rPr lang="ru-RU" dirty="0"/>
              <a:t>, </a:t>
            </a:r>
            <a:r>
              <a:rPr lang="en-US" dirty="0"/>
              <a:t>float</a:t>
            </a:r>
            <a:r>
              <a:rPr lang="ru-RU" dirty="0"/>
              <a:t>, </a:t>
            </a:r>
            <a:r>
              <a:rPr lang="en-US" dirty="0"/>
              <a:t>double </a:t>
            </a:r>
          </a:p>
          <a:p>
            <a:r>
              <a:rPr lang="ru-RU" dirty="0"/>
              <a:t>Перегрузка функций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maximum(int a, int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double maximum(double a, double b)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(a &gt; b) ? a : b;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Недостатки подхода</a:t>
            </a:r>
          </a:p>
          <a:p>
            <a:pPr lvl="1"/>
            <a:r>
              <a:rPr lang="ru-RU" dirty="0"/>
              <a:t>дублирование одинакового кода; </a:t>
            </a:r>
          </a:p>
          <a:p>
            <a:pPr lvl="1"/>
            <a:r>
              <a:rPr lang="ru-RU" dirty="0"/>
              <a:t>сложность сопровождения; </a:t>
            </a:r>
          </a:p>
          <a:p>
            <a:pPr lvl="1"/>
            <a:r>
              <a:rPr lang="ru-RU" dirty="0"/>
              <a:t>необходимость изменять все версии функции одновременно.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16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F8149-C80F-A182-C7FE-4C31679D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B53C4-44FC-717F-2C73-106B7E4B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Решение — шаблон функции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T </a:t>
            </a:r>
            <a:r>
              <a:rPr lang="ru-RU" dirty="0" err="1">
                <a:latin typeface="Consolas" panose="020B0609020204030204" pitchFamily="49" charset="0"/>
              </a:rPr>
              <a:t>maximum</a:t>
            </a:r>
            <a:r>
              <a:rPr lang="ru-RU" dirty="0">
                <a:latin typeface="Consolas" panose="020B0609020204030204" pitchFamily="49" charset="0"/>
              </a:rPr>
              <a:t>(T a, T b)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(a &gt; b) ? a : b;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Как это работает</a:t>
            </a:r>
          </a:p>
          <a:p>
            <a:pPr lvl="1"/>
            <a:r>
              <a:rPr lang="ru-RU" dirty="0"/>
              <a:t>T — параметр шаблона, представляющий произвольный тип; </a:t>
            </a:r>
          </a:p>
          <a:p>
            <a:pPr lvl="1"/>
            <a:r>
              <a:rPr lang="ru-RU" dirty="0"/>
              <a:t>компилятор создаёт нужную версию функции автоматически; </a:t>
            </a:r>
          </a:p>
          <a:p>
            <a:pPr lvl="1"/>
            <a:r>
              <a:rPr lang="ru-RU" dirty="0"/>
              <a:t>одна реализация используется для разных типов данных. </a:t>
            </a:r>
          </a:p>
          <a:p>
            <a:r>
              <a:rPr lang="ru-RU" dirty="0"/>
              <a:t>Особенности шаблонов</a:t>
            </a:r>
          </a:p>
          <a:p>
            <a:pPr lvl="1"/>
            <a:r>
              <a:rPr lang="ru-RU" dirty="0"/>
              <a:t>реализация шаблона обычно размещается в заголовочном файле; </a:t>
            </a:r>
          </a:p>
          <a:p>
            <a:pPr lvl="1"/>
            <a:r>
              <a:rPr lang="ru-RU" dirty="0"/>
              <a:t>изменение шаблона требует перекомпиляции использующего его кода.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98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6E65504-897C-0B3C-DA32-729549EC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Sort3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9FE90-09C7-594D-6412-BDB6CEE96FA3}"/>
              </a:ext>
            </a:extLst>
          </p:cNvPr>
          <p:cNvSpPr txBox="1"/>
          <p:nvPr/>
        </p:nvSpPr>
        <p:spPr>
          <a:xfrm>
            <a:off x="827336" y="1690688"/>
            <a:ext cx="102372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sz="22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Sort3(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v3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22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std::swap(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v1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22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v2</a:t>
            </a:r>
            <a:r>
              <a:rPr lang="en-US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22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2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262F11-0F2C-64BA-6721-C834574C145F}"/>
              </a:ext>
            </a:extLst>
          </p:cNvPr>
          <p:cNvSpPr txBox="1"/>
          <p:nvPr/>
        </p:nvSpPr>
        <p:spPr>
          <a:xfrm>
            <a:off x="191344" y="0"/>
            <a:ext cx="525658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T&gt;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Sort3(T&amp; v1, T&amp; v2, T&amp;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y,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z)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Sort3(x, y, z);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70A40-850E-85D8-6C95-6CBA118E0850}"/>
              </a:ext>
            </a:extLst>
          </p:cNvPr>
          <p:cNvSpPr txBox="1"/>
          <p:nvPr/>
        </p:nvSpPr>
        <p:spPr>
          <a:xfrm>
            <a:off x="6096000" y="0"/>
            <a:ext cx="5394813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.LBB0_6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.LBB0_6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26AEAD-F8F0-6AE1-AD77-EC7D6E66023C}"/>
              </a:ext>
            </a:extLst>
          </p:cNvPr>
          <p:cNvSpPr txBox="1"/>
          <p:nvPr/>
        </p:nvSpPr>
        <p:spPr>
          <a:xfrm>
            <a:off x="1739884" y="6192604"/>
            <a:ext cx="459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https://godbolt.org/z/74KnYqs3e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71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F0A549-0A6E-D2A4-34F6-0FEF4CA050E1}"/>
              </a:ext>
            </a:extLst>
          </p:cNvPr>
          <p:cNvSpPr txBox="1"/>
          <p:nvPr/>
        </p:nvSpPr>
        <p:spPr>
          <a:xfrm>
            <a:off x="0" y="0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SortIntsManual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v1,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v2,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 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(v2 &gt; v3)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std::swap(v2, v3);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(v1 &gt; v2)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std::swap(v1, v2);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1631D-7514-04E7-B3FE-1AF5F81CF997}"/>
              </a:ext>
            </a:extLst>
          </p:cNvPr>
          <p:cNvSpPr txBox="1"/>
          <p:nvPr/>
        </p:nvSpPr>
        <p:spPr>
          <a:xfrm>
            <a:off x="6096000" y="0"/>
            <a:ext cx="474113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SortIntsManual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&amp;):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.LBB1_1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.LBB1_4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jmp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.LBB1_5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.LBB1_4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.LBB1_5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cmpl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jg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  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</a:rPr>
              <a:t>.LBB1_6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.LBB1_6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eax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rdi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movl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ecx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(</a:t>
            </a:r>
            <a:r>
              <a:rPr lang="en-US" sz="1500" dirty="0">
                <a:solidFill>
                  <a:srgbClr val="4864AA"/>
                </a:solidFill>
                <a:latin typeface="Consolas" panose="020B0609020204030204" pitchFamily="49" charset="0"/>
              </a:rPr>
              <a:t>%</a:t>
            </a:r>
            <a:r>
              <a:rPr lang="en-US" sz="1500" dirty="0" err="1">
                <a:solidFill>
                  <a:srgbClr val="4864AA"/>
                </a:solidFill>
                <a:latin typeface="Consolas" panose="020B0609020204030204" pitchFamily="49" charset="0"/>
              </a:rPr>
              <a:t>rsi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retq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465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408326-BF1E-001C-863D-012A67EF1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классов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BA8E6-9074-C5BE-13D1-CE950D7C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Позволяют создавать универсальные классы, работающие с различными типами данных.</a:t>
            </a:r>
          </a:p>
          <a:p>
            <a:r>
              <a:rPr lang="ru-RU" dirty="0"/>
              <a:t>Идея</a:t>
            </a:r>
          </a:p>
          <a:p>
            <a:pPr lvl="1"/>
            <a:r>
              <a:rPr lang="ru-RU" dirty="0"/>
              <a:t>класс описывается один раз; </a:t>
            </a:r>
          </a:p>
          <a:p>
            <a:pPr lvl="1"/>
            <a:r>
              <a:rPr lang="ru-RU" dirty="0"/>
              <a:t>конкретный тип задаётся при использовании; </a:t>
            </a:r>
          </a:p>
          <a:p>
            <a:pPr lvl="1"/>
            <a:r>
              <a:rPr lang="ru-RU" dirty="0"/>
              <a:t>компилятор генерирует нужную специализацию класса. </a:t>
            </a:r>
          </a:p>
          <a:p>
            <a:r>
              <a:rPr lang="ru-RU" dirty="0"/>
              <a:t>Где используются</a:t>
            </a:r>
          </a:p>
          <a:p>
            <a:pPr lvl="1"/>
            <a:r>
              <a:rPr lang="ru-RU" dirty="0"/>
              <a:t>контейнеры STL: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list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map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умные указатели: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библиотеки STL и </a:t>
            </a:r>
            <a:r>
              <a:rPr lang="ru-RU" dirty="0" err="1"/>
              <a:t>Boost</a:t>
            </a:r>
            <a:r>
              <a:rPr lang="ru-RU" dirty="0"/>
              <a:t>. </a:t>
            </a:r>
          </a:p>
          <a:p>
            <a:r>
              <a:rPr lang="ru-RU" dirty="0"/>
              <a:t>Особенность</a:t>
            </a:r>
          </a:p>
          <a:p>
            <a:pPr lvl="1"/>
            <a:r>
              <a:rPr lang="ru-RU" dirty="0"/>
              <a:t>Реализация методов шаблонного класса обычно размещается в заголовочных файлах.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15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AB1C-9670-655A-AC46-FC65BC2BD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шаблонного класса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F54273-98C4-3834-E68D-21B88273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145637"/>
            <a:ext cx="5257800" cy="203132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Результат</a:t>
            </a:r>
          </a:p>
          <a:p>
            <a:pPr lvl="1"/>
            <a:r>
              <a:rPr lang="ru-RU" dirty="0"/>
              <a:t>один шаблон — множество типов контейнеров; </a:t>
            </a:r>
          </a:p>
          <a:p>
            <a:pPr lvl="1"/>
            <a:r>
              <a:rPr lang="ru-RU" dirty="0"/>
              <a:t>повторное использование кода; </a:t>
            </a:r>
          </a:p>
          <a:p>
            <a:pPr lvl="1"/>
            <a:r>
              <a:rPr lang="ru-RU" dirty="0" err="1"/>
              <a:t>типобезопасность</a:t>
            </a:r>
            <a:r>
              <a:rPr lang="ru-RU" dirty="0"/>
              <a:t> на этапе компиляции.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E3023-F219-3A1B-61C3-BA551337AC29}"/>
              </a:ext>
            </a:extLst>
          </p:cNvPr>
          <p:cNvSpPr txBox="1"/>
          <p:nvPr/>
        </p:nvSpPr>
        <p:spPr>
          <a:xfrm>
            <a:off x="838200" y="1844824"/>
            <a:ext cx="525780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m_pItems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30B8F-D153-1428-9F5C-CD760AD3CC3C}"/>
              </a:ext>
            </a:extLst>
          </p:cNvPr>
          <p:cNvSpPr txBox="1"/>
          <p:nvPr/>
        </p:nvSpPr>
        <p:spPr>
          <a:xfrm>
            <a:off x="6096000" y="1844824"/>
            <a:ext cx="561662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stringArray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285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0FF3AA-52F6-805F-A1F5-3529F25E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59CE1-9091-B33E-FB38-1A72AE602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 в C++ является специальной формой функции, поэтому он также может быть шаблонным.</a:t>
            </a:r>
          </a:p>
          <a:p>
            <a:r>
              <a:rPr lang="ru-RU" dirty="0"/>
              <a:t>Шаблонные операторы часто применяются для:</a:t>
            </a:r>
          </a:p>
          <a:p>
            <a:pPr lvl="1"/>
            <a:r>
              <a:rPr lang="ru-RU" dirty="0"/>
              <a:t>ввода и вывода объектов; </a:t>
            </a:r>
          </a:p>
          <a:p>
            <a:pPr lvl="1"/>
            <a:r>
              <a:rPr lang="ru-RU" dirty="0"/>
              <a:t>поддержки различных типов потоков; </a:t>
            </a:r>
          </a:p>
          <a:p>
            <a:pPr lvl="1"/>
            <a:r>
              <a:rPr lang="ru-RU" dirty="0"/>
              <a:t>интеграции пользовательских классов со STL.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854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C31E10-FDCD-DB04-2336-2663719F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операторы для класса </a:t>
            </a:r>
            <a:r>
              <a:rPr lang="en-US" dirty="0"/>
              <a:t>Vector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E4881-DCF3-81A4-39BC-33073308D963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operator&lt;&lt;(std::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stream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operator&gt;&gt;(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basic_istream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(stream &gt;&gt;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(stream &gt;&gt;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failbit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stream;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1943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Non-type template parameters</a:t>
            </a:r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39A2CF-C5F5-7ECA-44CF-5E07C1A4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шаблонов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095A12-8DA7-A228-CEE0-DF86FB44B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Параметрами шаблона могут быть не только типы, но и значения, известные во время компиляции.</a:t>
            </a:r>
          </a:p>
          <a:p>
            <a:r>
              <a:rPr lang="ru-RU" dirty="0"/>
              <a:t>Примеры допустимых параметров</a:t>
            </a:r>
          </a:p>
          <a:p>
            <a:pPr lvl="1"/>
            <a:r>
              <a:rPr lang="ru-RU" dirty="0"/>
              <a:t>целые значения; </a:t>
            </a:r>
          </a:p>
          <a:p>
            <a:pPr lvl="1"/>
            <a:r>
              <a:rPr lang="ru-RU" dirty="0" err="1"/>
              <a:t>bool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элементы перечислений; </a:t>
            </a:r>
          </a:p>
          <a:p>
            <a:pPr lvl="1"/>
            <a:r>
              <a:rPr lang="ru-RU" dirty="0"/>
              <a:t>указатели и ссылки; </a:t>
            </a:r>
          </a:p>
          <a:p>
            <a:pPr lvl="1"/>
            <a:r>
              <a:rPr lang="ru-RU" dirty="0"/>
              <a:t>указатели на функции и методы; </a:t>
            </a:r>
          </a:p>
          <a:p>
            <a:pPr lvl="1"/>
            <a:r>
              <a:rPr lang="ru-RU" dirty="0" err="1"/>
              <a:t>nullptr_t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числа с плавающей точкой </a:t>
            </a:r>
            <a:r>
              <a:rPr lang="ru-RU" i="1" dirty="0"/>
              <a:t>(C++20)</a:t>
            </a:r>
            <a:r>
              <a:rPr lang="ru-RU" dirty="0"/>
              <a:t>. </a:t>
            </a:r>
          </a:p>
          <a:p>
            <a:r>
              <a:rPr lang="ru-RU" dirty="0"/>
              <a:t>Шаблон может зависеть не только от типа данных,</a:t>
            </a:r>
            <a:r>
              <a:rPr lang="en-US" dirty="0"/>
              <a:t> </a:t>
            </a:r>
            <a:r>
              <a:rPr lang="ru-RU" dirty="0"/>
              <a:t>но и от некоторой </a:t>
            </a:r>
            <a:r>
              <a:rPr lang="ru-RU" dirty="0" err="1"/>
              <a:t>compile-time</a:t>
            </a:r>
            <a:r>
              <a:rPr lang="ru-RU" dirty="0"/>
              <a:t> конфигурации.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385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423A68-2313-6182-BE11-CEAAD2F37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массив фиксированного размера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23A2B6-ED7A-A782-C994-53B7228B0CE9}"/>
              </a:ext>
            </a:extLst>
          </p:cNvPr>
          <p:cNvSpPr txBox="1"/>
          <p:nvPr/>
        </p:nvSpPr>
        <p:spPr>
          <a:xfrm>
            <a:off x="838200" y="1690688"/>
            <a:ext cx="10658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Size)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out_of_range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Index out of range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[Size];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&lt;std::string,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3465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EA90A-CEC7-E321-F9D1-F568390A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Нетиповые параметры как настройка поведения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BD95-73EA-BB37-7C7E-ABC04A5BA955}"/>
              </a:ext>
            </a:extLst>
          </p:cNvPr>
          <p:cNvSpPr txBox="1"/>
          <p:nvPr/>
        </p:nvSpPr>
        <p:spPr>
          <a:xfrm>
            <a:off x="838200" y="1844824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Managed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(Managed)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AutoFile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</p:spTree>
    <p:extLst>
      <p:ext uri="{BB962C8B-B14F-4D97-AF65-F5344CB8AC3E}">
        <p14:creationId xmlns:p14="http://schemas.microsoft.com/office/powerpoint/2010/main" val="1245952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шаблонов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Специализация шаблона</a:t>
            </a:r>
            <a:endParaRPr lang="ru-RU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Иногда требуется изменить поведение шаблона для конкретных типов. В таких случаях создаётся </a:t>
            </a:r>
            <a:r>
              <a:rPr lang="ru-RU" b="1" dirty="0"/>
              <a:t>специализированная версия</a:t>
            </a:r>
            <a:r>
              <a:rPr lang="ru-RU" dirty="0"/>
              <a:t> на основе первичного шаблона (</a:t>
            </a:r>
            <a:r>
              <a:rPr lang="ru-RU" dirty="0" err="1"/>
              <a:t>primary</a:t>
            </a:r>
            <a:r>
              <a:rPr lang="ru-RU" dirty="0"/>
              <a:t> </a:t>
            </a:r>
            <a:r>
              <a:rPr lang="ru-RU" dirty="0" err="1"/>
              <a:t>template</a:t>
            </a:r>
            <a:r>
              <a:rPr lang="ru-RU" dirty="0"/>
              <a:t>).</a:t>
            </a:r>
          </a:p>
          <a:p>
            <a:r>
              <a:rPr lang="ru-RU" dirty="0"/>
              <a:t>Виды специализации:</a:t>
            </a:r>
          </a:p>
          <a:p>
            <a:pPr lvl="1"/>
            <a:r>
              <a:rPr lang="ru-RU" dirty="0"/>
              <a:t>Полная – все параметры шаблона конкретизированы. Возможна как для функций, так и для классов</a:t>
            </a:r>
          </a:p>
          <a:p>
            <a:pPr lvl="1"/>
            <a:r>
              <a:rPr lang="ru-RU" dirty="0"/>
              <a:t>Частичная – конкретизирована часть параметров. </a:t>
            </a:r>
            <a:r>
              <a:rPr lang="ru-RU" b="1" dirty="0"/>
              <a:t>Возможна только для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функции </a:t>
            </a:r>
            <a:r>
              <a:rPr lang="en-US" dirty="0"/>
              <a:t>maximum </a:t>
            </a:r>
            <a:r>
              <a:rPr lang="ru-RU" dirty="0"/>
              <a:t>для </a:t>
            </a:r>
            <a:r>
              <a:rPr lang="en-US" dirty="0"/>
              <a:t>const char*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4C908-45F1-1EFD-1937-44ABACED86F2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Generic version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Специализация шаблона для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char*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Specialized version for const char*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266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30946E-B93F-8CEB-BE9E-DD315CC4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Type traits (</a:t>
            </a:r>
            <a:r>
              <a:rPr lang="ru-RU" dirty="0"/>
              <a:t>характеристики типа)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60D48-058F-734A-130A-19871CAF6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связывать</a:t>
            </a:r>
            <a:r>
              <a:rPr lang="en-US" dirty="0"/>
              <a:t> с </a:t>
            </a:r>
            <a:r>
              <a:rPr lang="en-US" dirty="0" err="1"/>
              <a:t>типами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, </a:t>
            </a:r>
            <a:r>
              <a:rPr lang="en-US" dirty="0" err="1"/>
              <a:t>известную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/>
              <a:t>Type trait</a:t>
            </a:r>
          </a:p>
          <a:p>
            <a:pPr lvl="1"/>
            <a:r>
              <a:rPr lang="en-US" dirty="0" err="1"/>
              <a:t>Шаблонный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описывающий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endParaRPr lang="en-US" dirty="0"/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целочисленным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указателем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константным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перемещение</a:t>
            </a:r>
            <a:r>
              <a:rPr lang="en-US" dirty="0"/>
              <a:t>. </a:t>
            </a:r>
          </a:p>
          <a:p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type traits: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is_integral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is_pointer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is_const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is_same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604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82D0-436D-684A-AD57-37DB70E12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</a:t>
            </a:r>
            <a:r>
              <a:rPr lang="en-US" dirty="0"/>
              <a:t>type trait</a:t>
            </a:r>
            <a:r>
              <a:rPr lang="ru-RU" dirty="0"/>
              <a:t> для проверки </a:t>
            </a:r>
            <a:r>
              <a:rPr lang="ru-RU" dirty="0" err="1"/>
              <a:t>целочисленности</a:t>
            </a:r>
            <a:r>
              <a:rPr lang="ru-RU" dirty="0"/>
              <a:t> типов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08B3D-FCC5-79EC-6104-8F5AF6E727C6}"/>
              </a:ext>
            </a:extLst>
          </p:cNvPr>
          <p:cNvSpPr txBox="1"/>
          <p:nvPr/>
        </p:nvSpPr>
        <p:spPr>
          <a:xfrm>
            <a:off x="802432" y="1715468"/>
            <a:ext cx="1116124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Первичный шаблон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не является целочисленным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константа для проверки целочисленных типов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&gt;::value;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Базовый класс для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специализаций для целочисленных типов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IsIntegralTrue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</p:txBody>
      </p:sp>
    </p:spTree>
    <p:extLst>
      <p:ext uri="{BB962C8B-B14F-4D97-AF65-F5344CB8AC3E}">
        <p14:creationId xmlns:p14="http://schemas.microsoft.com/office/powerpoint/2010/main" val="61822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6EF-12A7-522D-E069-745B93EBF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Проверяем во время компиляции, является ли тип целочисленным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EC697-EE2E-0F34-D6ED-ECB7F53F3818}"/>
              </a:ext>
            </a:extLst>
          </p:cNvPr>
          <p:cNvSpPr txBox="1"/>
          <p:nvPr/>
        </p:nvSpPr>
        <p:spPr>
          <a:xfrm>
            <a:off x="838200" y="1690688"/>
            <a:ext cx="1037036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0x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IsIntegralV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27581-E3D2-774B-6934-F6756F806E04}"/>
              </a:ext>
            </a:extLst>
          </p:cNvPr>
          <p:cNvSpPr txBox="1"/>
          <p:nvPr/>
        </p:nvSpPr>
        <p:spPr>
          <a:xfrm>
            <a:off x="8400256" y="5733256"/>
            <a:ext cx="34788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0x64</a:t>
            </a:r>
          </a:p>
          <a:p>
            <a:r>
              <a:rPr lang="en-US" dirty="0">
                <a:latin typeface="Consolas" panose="020B0609020204030204" pitchFamily="49" charset="0"/>
              </a:rPr>
              <a:t>10.5</a:t>
            </a:r>
          </a:p>
        </p:txBody>
      </p:sp>
    </p:spTree>
    <p:extLst>
      <p:ext uri="{BB962C8B-B14F-4D97-AF65-F5344CB8AC3E}">
        <p14:creationId xmlns:p14="http://schemas.microsoft.com/office/powerpoint/2010/main" val="230916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7BDA6-8682-AABC-A611-5EE88359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79C53-A9F0-8F99-F8CF-2EA052063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Частичная</a:t>
            </a:r>
            <a:r>
              <a:rPr lang="en-US" dirty="0"/>
              <a:t> </a:t>
            </a:r>
            <a:r>
              <a:rPr lang="en-US" dirty="0" err="1"/>
              <a:t>специализация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шаблона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Пример</a:t>
            </a:r>
            <a:r>
              <a:rPr lang="en-US" dirty="0"/>
              <a:t>: </a:t>
            </a:r>
            <a:r>
              <a:rPr lang="en-US" dirty="0" err="1"/>
              <a:t>определение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</a:t>
            </a:r>
            <a:r>
              <a:rPr lang="en-US" dirty="0" err="1">
                <a:latin typeface="Consolas" panose="020B0609020204030204" pitchFamily="49" charset="0"/>
              </a:rPr>
              <a:t>typename</a:t>
            </a:r>
            <a:r>
              <a:rPr lang="en-US" dirty="0">
                <a:latin typeface="Consolas" panose="020B0609020204030204" pitchFamily="49" charset="0"/>
              </a:rPr>
              <a:t> T&gt;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static </a:t>
            </a:r>
            <a:r>
              <a:rPr lang="en-US" dirty="0" err="1">
                <a:latin typeface="Consolas" panose="020B0609020204030204" pitchFamily="49" charset="0"/>
              </a:rPr>
              <a:t>constexpr</a:t>
            </a:r>
            <a:r>
              <a:rPr lang="en-US" dirty="0">
                <a:latin typeface="Consolas" panose="020B0609020204030204" pitchFamily="49" charset="0"/>
              </a:rPr>
              <a:t> bool value = false;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  <a:br>
              <a:rPr lang="en-US" dirty="0">
                <a:latin typeface="Consolas" panose="020B0609020204030204" pitchFamily="49" charset="0"/>
              </a:rPr>
            </a:b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Частичная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специализация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для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всех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указателей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template &lt;</a:t>
            </a:r>
            <a:r>
              <a:rPr lang="en-US" dirty="0" err="1">
                <a:latin typeface="Consolas" panose="020B0609020204030204" pitchFamily="49" charset="0"/>
              </a:rPr>
              <a:t>typename</a:t>
            </a:r>
            <a:r>
              <a:rPr lang="en-US" dirty="0">
                <a:latin typeface="Consolas" panose="020B0609020204030204" pitchFamily="49" charset="0"/>
              </a:rPr>
              <a:t> T&gt;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&lt;T*&gt;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static </a:t>
            </a:r>
            <a:r>
              <a:rPr lang="en-US" dirty="0" err="1">
                <a:latin typeface="Consolas" panose="020B0609020204030204" pitchFamily="49" charset="0"/>
              </a:rPr>
              <a:t>constexpr</a:t>
            </a:r>
            <a:r>
              <a:rPr lang="en-US" dirty="0">
                <a:latin typeface="Consolas" panose="020B0609020204030204" pitchFamily="49" charset="0"/>
              </a:rPr>
              <a:t> bool value = true;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en-US" dirty="0" err="1"/>
              <a:t>Использование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&lt;int&gt;::value == false);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&lt;int*&gt;::value == 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static_assert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IsPointer</a:t>
            </a:r>
            <a:r>
              <a:rPr lang="en-US" dirty="0">
                <a:latin typeface="Consolas" panose="020B0609020204030204" pitchFamily="49" charset="0"/>
              </a:rPr>
              <a:t>&lt;double*&gt;::value == true);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140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96D4-6CAA-4550-B2AC-CCB2A4489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специализации</a:t>
            </a:r>
            <a:r>
              <a:rPr lang="en-US" dirty="0"/>
              <a:t> в STL — std::vector&lt;bool&gt;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49554-EBB9-8124-7899-8E3C73162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Обычный</a:t>
            </a:r>
            <a:r>
              <a:rPr lang="en-US" dirty="0"/>
              <a:t> std::vector&lt;T&gt;</a:t>
            </a:r>
          </a:p>
          <a:p>
            <a:pPr lvl="1"/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T.</a:t>
            </a:r>
          </a:p>
          <a:p>
            <a:r>
              <a:rPr lang="en-US" dirty="0" err="1"/>
              <a:t>Специализация</a:t>
            </a:r>
            <a:r>
              <a:rPr lang="en-US" dirty="0"/>
              <a:t> std::vector&lt;bool&gt;</a:t>
            </a:r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bool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упаковываются</a:t>
            </a:r>
            <a:r>
              <a:rPr lang="en-US" dirty="0"/>
              <a:t> в </a:t>
            </a:r>
            <a:r>
              <a:rPr lang="en-US" dirty="0" err="1"/>
              <a:t>биты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занимает</a:t>
            </a:r>
            <a:r>
              <a:rPr lang="en-US" dirty="0"/>
              <a:t> 1 </a:t>
            </a:r>
            <a:r>
              <a:rPr lang="en-US" dirty="0" err="1"/>
              <a:t>бит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1 </a:t>
            </a:r>
            <a:r>
              <a:rPr lang="en-US" dirty="0" err="1"/>
              <a:t>байт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потребление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</a:p>
          <a:p>
            <a:r>
              <a:rPr lang="en-US" dirty="0" err="1"/>
              <a:t>Следствие</a:t>
            </a:r>
            <a:endParaRPr lang="en-US" dirty="0"/>
          </a:p>
          <a:p>
            <a:pPr lvl="1"/>
            <a:r>
              <a:rPr lang="en-US" dirty="0"/>
              <a:t>std::vector&lt;bool&gt;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std::vector&lt;T&gt;.</a:t>
            </a:r>
          </a:p>
          <a:p>
            <a:pPr lvl="1"/>
            <a:r>
              <a:rPr lang="en-US" dirty="0"/>
              <a:t>std::vector&lt;int&gt; numbers;</a:t>
            </a:r>
            <a:br>
              <a:rPr lang="en-US" dirty="0"/>
            </a:br>
            <a:r>
              <a:rPr lang="en-US" dirty="0"/>
              <a:t>std::vector&lt;bool&gt; flags;</a:t>
            </a:r>
          </a:p>
          <a:p>
            <a:r>
              <a:rPr lang="en-US" dirty="0" err="1"/>
              <a:t>Особенность</a:t>
            </a:r>
            <a:endParaRPr lang="en-US" dirty="0"/>
          </a:p>
          <a:p>
            <a:pPr lvl="1"/>
            <a:r>
              <a:rPr lang="en-US" dirty="0" err="1"/>
              <a:t>Элемент</a:t>
            </a:r>
            <a:r>
              <a:rPr lang="en-US" dirty="0"/>
              <a:t> vector&lt;bool&gt;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настоящий</a:t>
            </a:r>
            <a:r>
              <a:rPr lang="en-US" dirty="0"/>
              <a:t> bool&amp;,</a:t>
            </a:r>
            <a:r>
              <a:rPr lang="ru-RU" dirty="0"/>
              <a:t> </a:t>
            </a:r>
            <a:r>
              <a:rPr lang="en-US" dirty="0"/>
              <a:t>а </a:t>
            </a:r>
            <a:r>
              <a:rPr lang="en-US" dirty="0" err="1"/>
              <a:t>специальный</a:t>
            </a:r>
            <a:r>
              <a:rPr lang="en-US" dirty="0"/>
              <a:t> proxy-</a:t>
            </a:r>
            <a:r>
              <a:rPr lang="en-US" dirty="0" err="1"/>
              <a:t>объект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777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ABAC3-DA9D-22CB-8D36-52F01E8DC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Специализация</a:t>
            </a:r>
            <a:r>
              <a:rPr lang="en-US" dirty="0"/>
              <a:t> std::hash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F7856-4015-87AB-0C87-F4F57C28A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Контейнеры</a:t>
            </a:r>
            <a:r>
              <a:rPr lang="en-US" dirty="0"/>
              <a:t> STL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хеш-таблиц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хеш-функцию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unordered_set</a:t>
            </a:r>
            <a:r>
              <a:rPr lang="en-US" dirty="0"/>
              <a:t>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стандартная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вычислять</a:t>
            </a:r>
            <a:r>
              <a:rPr lang="en-US" dirty="0"/>
              <a:t> </a:t>
            </a:r>
            <a:r>
              <a:rPr lang="en-US" dirty="0" err="1"/>
              <a:t>хеш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endParaRPr lang="ru-RU" dirty="0"/>
          </a:p>
          <a:p>
            <a:r>
              <a:rPr lang="ru-RU" dirty="0"/>
              <a:t>Варианты решений:</a:t>
            </a:r>
          </a:p>
          <a:p>
            <a:pPr lvl="1"/>
            <a:r>
              <a:rPr lang="ru-RU" dirty="0"/>
              <a:t>Передавать свой </a:t>
            </a:r>
            <a:r>
              <a:rPr lang="ru-RU" dirty="0" err="1"/>
              <a:t>хешер</a:t>
            </a:r>
            <a:endParaRPr lang="ru-RU" dirty="0"/>
          </a:p>
          <a:p>
            <a:pPr lvl="1"/>
            <a:r>
              <a:rPr lang="ru-RU" dirty="0"/>
              <a:t>Сделать специализацию </a:t>
            </a:r>
            <a:r>
              <a:rPr lang="en-US" dirty="0"/>
              <a:t>std::hash</a:t>
            </a:r>
            <a:r>
              <a:rPr lang="ru-RU" dirty="0"/>
              <a:t> для типа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6730A-53DE-06CA-6232-37F207ECAC13}"/>
              </a:ext>
            </a:extLst>
          </p:cNvPr>
          <p:cNvSpPr txBox="1"/>
          <p:nvPr/>
        </p:nvSpPr>
        <p:spPr>
          <a:xfrm>
            <a:off x="6384032" y="1939297"/>
            <a:ext cx="5807968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hash&lt;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&gt;{}(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^ (hash&lt;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&gt;{}(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unordered_set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&lt;Point&gt; points;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162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E5B898-7827-5ECA-F252-7DCCBDD2E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функции или специализация </a:t>
            </a:r>
            <a:r>
              <a:rPr lang="en-US" dirty="0"/>
              <a:t> </a:t>
            </a:r>
            <a:r>
              <a:rPr lang="ru-RU" dirty="0"/>
              <a:t>шаблона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48169-3B1D-0F7D-86A9-67686A41C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9826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66FB47-3B4D-8CF7-6ED4-EDE1E228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перегрузки и специализации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1767C8D-737E-45CC-92FB-73EFAB0A9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6036798"/>
              </p:ext>
            </p:extLst>
          </p:nvPr>
        </p:nvGraphicFramePr>
        <p:xfrm>
          <a:off x="838200" y="1825625"/>
          <a:ext cx="10515597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7680">
                  <a:extLst>
                    <a:ext uri="{9D8B030D-6E8A-4147-A177-3AD203B41FA5}">
                      <a16:colId xmlns:a16="http://schemas.microsoft.com/office/drawing/2014/main" val="3410059350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554004839"/>
                    </a:ext>
                  </a:extLst>
                </a:gridCol>
                <a:gridCol w="3457597">
                  <a:extLst>
                    <a:ext uri="{9D8B030D-6E8A-4147-A177-3AD203B41FA5}">
                      <a16:colId xmlns:a16="http://schemas.microsoft.com/office/drawing/2014/main" val="3010924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Перегрузка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Специализация шаблонной функции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32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Участвует в перегрузке (</a:t>
                      </a:r>
                      <a:r>
                        <a:rPr lang="en-US" sz="1600" dirty="0"/>
                        <a:t>overload resolution)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(выбирается после выбора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72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ru-RU" sz="1600" dirty="0" err="1"/>
                        <a:t>невыведенными</a:t>
                      </a:r>
                      <a:r>
                        <a:rPr lang="ru-RU" sz="1600" dirty="0"/>
                        <a:t> аргументами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(нужна полная специализация шаблона)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01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учитывать неявные преобразования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041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Может располагаться вне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(только как полная специализация)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642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Можно разместить в </a:t>
                      </a:r>
                      <a:r>
                        <a:rPr lang="en-US" sz="1600" dirty="0"/>
                        <a:t>std::?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 (запрещено стандартом)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Специализация некоторых шаблонных функций разрешена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Работает с </a:t>
                      </a:r>
                      <a:r>
                        <a:rPr lang="en-US" sz="1600" dirty="0"/>
                        <a:t>ADL (</a:t>
                      </a:r>
                      <a:r>
                        <a:rPr lang="en-US" sz="1600" dirty="0" err="1"/>
                        <a:t>Arugment</a:t>
                      </a:r>
                      <a:r>
                        <a:rPr lang="en-US" sz="1600" dirty="0"/>
                        <a:t>-dependent lookup)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Да, если перегрузка в том же </a:t>
                      </a:r>
                      <a:r>
                        <a:rPr lang="en-US" sz="1600" dirty="0"/>
                        <a:t>namespace</a:t>
                      </a:r>
                      <a:r>
                        <a:rPr lang="ru-RU" sz="1600" dirty="0"/>
                        <a:t>, что и тип аргумента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35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Блокирует </a:t>
                      </a:r>
                      <a:r>
                        <a:rPr lang="ru-RU" sz="1600" dirty="0" err="1"/>
                        <a:t>инстанцирование</a:t>
                      </a:r>
                      <a:r>
                        <a:rPr lang="ru-RU" sz="1600" dirty="0"/>
                        <a:t> общего шаблона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 (специализация полностью заменяет шаблон)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622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02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462F-5957-45AA-19DC-994A87B5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перегрузку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52832-2840-3BEE-BD52-F495BD644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нужны разные реализации для разных типов без жёсткой привязки к шаблону</a:t>
            </a:r>
            <a:endParaRPr lang="en-US" dirty="0"/>
          </a:p>
          <a:p>
            <a:r>
              <a:rPr lang="ru-RU" dirty="0"/>
              <a:t>Когда нужно учитывать неявные преобразования типов.</a:t>
            </a:r>
          </a:p>
          <a:p>
            <a:r>
              <a:rPr lang="ru-RU" dirty="0"/>
              <a:t>Когда функция должна участвовать в ADL (</a:t>
            </a:r>
            <a:r>
              <a:rPr lang="ru-RU" dirty="0" err="1"/>
              <a:t>Argument-Dependent</a:t>
            </a:r>
            <a:r>
              <a:rPr lang="ru-RU" dirty="0"/>
              <a:t> </a:t>
            </a:r>
            <a:r>
              <a:rPr lang="ru-RU" dirty="0" err="1"/>
              <a:t>Lookup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Когда вы работаете с шаблонными классами, и нельзя использовать частичную специализацию функции (такой механизм не существует)</a:t>
            </a:r>
            <a:endParaRPr lang="en-US" dirty="0"/>
          </a:p>
          <a:p>
            <a:r>
              <a:rPr lang="ru-RU" dirty="0"/>
              <a:t>Когда вы хотите оставить доступ к общей версии функции.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16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80553-684D-05E0-AE60-1C2DC3C57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лучше использовать специализацию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60298-EC80-D9C2-9774-B9917916C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реализация зависит от конкретного типа, и общая шаблонная версия непригодна (например, вызывает ошибку компиляции)</a:t>
            </a:r>
            <a:endParaRPr lang="en-US" dirty="0"/>
          </a:p>
          <a:p>
            <a:r>
              <a:rPr lang="ru-RU" dirty="0"/>
              <a:t>Когда вы хотите заменить поведение шаблона полностью для определённого типа</a:t>
            </a:r>
            <a:endParaRPr lang="en-US" dirty="0"/>
          </a:p>
          <a:p>
            <a:r>
              <a:rPr lang="ru-RU" dirty="0"/>
              <a:t>Когда вам нужно специализировать в </a:t>
            </a:r>
            <a:r>
              <a:rPr lang="ru-RU" dirty="0" err="1"/>
              <a:t>namespace</a:t>
            </a:r>
            <a:r>
              <a:rPr lang="ru-RU" dirty="0"/>
              <a:t> </a:t>
            </a:r>
            <a:r>
              <a:rPr lang="ru-RU" dirty="0" err="1"/>
              <a:t>std</a:t>
            </a:r>
            <a:r>
              <a:rPr lang="ru-RU" dirty="0"/>
              <a:t>, 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swap</a:t>
            </a:r>
            <a:r>
              <a:rPr lang="ru-RU" dirty="0"/>
              <a:t>&lt;</a:t>
            </a:r>
            <a:r>
              <a:rPr lang="ru-RU" dirty="0" err="1"/>
              <a:t>Foo</a:t>
            </a:r>
            <a:r>
              <a:rPr lang="ru-RU" dirty="0"/>
              <a:t>&gt; — перегрузку туда добавлять нельзя, а специализацию можно</a:t>
            </a:r>
            <a:endParaRPr lang="en-US" dirty="0"/>
          </a:p>
          <a:p>
            <a:r>
              <a:rPr lang="ru-RU" dirty="0"/>
              <a:t>Когда нужно иметь несколько функций с одними и теми же типами аргумента, но разным типом возвращаемого значения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765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17380-0932-152C-0643-195FFC42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B99E0-D7AA-1B0A-C80F-776906B3A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Выбор перегрузки происходит до специализации</a:t>
            </a:r>
          </a:p>
          <a:p>
            <a:pPr lvl="1"/>
            <a:r>
              <a:rPr lang="ru-RU" dirty="0"/>
              <a:t>Специализация не участвует в перегрузке. Даже если есть подходящая специализация, она может быть проигнорирована, если перегрузка оказалась лучше с точки зрения разрешения перегрузки</a:t>
            </a:r>
          </a:p>
          <a:p>
            <a:r>
              <a:rPr lang="ru-RU" dirty="0"/>
              <a:t>Нельзя специализировать шаблонную функцию по частичному признаку</a:t>
            </a:r>
          </a:p>
          <a:p>
            <a:pPr lvl="1"/>
            <a:r>
              <a:rPr lang="ru-RU" dirty="0"/>
              <a:t>Нельзя написать </a:t>
            </a:r>
            <a:r>
              <a:rPr lang="ru-RU" dirty="0" err="1">
                <a:latin typeface="Consolas" panose="020B0609020204030204" pitchFamily="49" charset="0"/>
              </a:rPr>
              <a:t>template</a:t>
            </a:r>
            <a:r>
              <a:rPr lang="ru-RU" dirty="0">
                <a:latin typeface="Consolas" panose="020B0609020204030204" pitchFamily="49" charset="0"/>
              </a:rPr>
              <a:t> &lt;</a:t>
            </a:r>
            <a:r>
              <a:rPr lang="ru-RU" dirty="0" err="1">
                <a:latin typeface="Consolas" panose="020B0609020204030204" pitchFamily="49" charset="0"/>
              </a:rPr>
              <a:t>typename</a:t>
            </a:r>
            <a:r>
              <a:rPr lang="ru-RU" dirty="0">
                <a:latin typeface="Consolas" panose="020B0609020204030204" pitchFamily="49" charset="0"/>
              </a:rPr>
              <a:t> T&gt;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&lt;T*&gt;(T*);</a:t>
            </a:r>
            <a:r>
              <a:rPr lang="ru-RU" dirty="0"/>
              <a:t> как специализацию. Придётся использовать перегрузку.</a:t>
            </a:r>
          </a:p>
          <a:p>
            <a:r>
              <a:rPr lang="ru-RU" dirty="0"/>
              <a:t>В пространство имён </a:t>
            </a:r>
            <a:r>
              <a:rPr lang="en-US" dirty="0"/>
              <a:t>std:: </a:t>
            </a:r>
            <a:r>
              <a:rPr lang="ru-RU" dirty="0"/>
              <a:t>нельзя добавлять перегрузки, но можно добавлять специализации</a:t>
            </a:r>
          </a:p>
          <a:p>
            <a:pPr lvl="1"/>
            <a:r>
              <a:rPr lang="ru-RU" dirty="0"/>
              <a:t>Например, так работает </a:t>
            </a:r>
            <a:r>
              <a:rPr lang="en-US" dirty="0"/>
              <a:t>std::swap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229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3EB0-F6F6-8B7E-9F77-E69A1630A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6FE45-7C50-6539-CFC1-C08BAF83D41F}"/>
              </a:ext>
            </a:extLst>
          </p:cNvPr>
          <p:cNvSpPr txBox="1"/>
          <p:nvPr/>
        </p:nvSpPr>
        <p:spPr>
          <a:xfrm>
            <a:off x="838200" y="1844824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Generic template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Specialization for int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Non-template overload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8D44C-8A60-D8DB-B6B3-73CA16E82925}"/>
              </a:ext>
            </a:extLst>
          </p:cNvPr>
          <p:cNvSpPr txBox="1"/>
          <p:nvPr/>
        </p:nvSpPr>
        <p:spPr>
          <a:xfrm>
            <a:off x="8112224" y="6123543"/>
            <a:ext cx="3456384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Non-template overload</a:t>
            </a:r>
          </a:p>
        </p:txBody>
      </p:sp>
    </p:spTree>
    <p:extLst>
      <p:ext uri="{BB962C8B-B14F-4D97-AF65-F5344CB8AC3E}">
        <p14:creationId xmlns:p14="http://schemas.microsoft.com/office/powerpoint/2010/main" val="308566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341412-AD09-42BA-D424-3719B7E76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Ещё раз взглянем на функцию </a:t>
            </a:r>
            <a:r>
              <a:rPr lang="en-US" dirty="0"/>
              <a:t>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F64216-4DED-F30C-B23E-ADC15CB7D9BC}"/>
              </a:ext>
            </a:extLst>
          </p:cNvPr>
          <p:cNvSpPr txBox="1"/>
          <p:nvPr/>
        </p:nvSpPr>
        <p:spPr>
          <a:xfrm>
            <a:off x="838200" y="1690688"/>
            <a:ext cx="1123446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3 and 4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специализация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Max&lt;const char*&gt;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Ok,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но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str1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str2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будут скопированы в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35206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03C7D8-4856-6DCA-15A7-41B97C27B811}"/>
              </a:ext>
            </a:extLst>
          </p:cNvPr>
          <p:cNvSpPr txBox="1"/>
          <p:nvPr/>
        </p:nvSpPr>
        <p:spPr>
          <a:xfrm>
            <a:off x="0" y="320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 первичный шаблон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apple"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banana"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 символов разной длины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'apple' and 'banana'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Так не скомпилируется, так как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hello"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и "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world" —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массивы,</a:t>
            </a:r>
            <a:endParaRPr lang="en-US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а массивы нельзя возвращать из функции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Так скомпилируется, но код усложнён из-за приведения типов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*)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7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// Указываем явно, какую именно специализацию хотим использовать</a:t>
            </a:r>
            <a:endParaRPr lang="ru-RU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&lt;&lt; </a:t>
            </a:r>
            <a:r>
              <a:rPr lang="en-US" sz="17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7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*&gt;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world</a:t>
            </a:r>
            <a:r>
              <a:rPr lang="en-US" sz="17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7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5BD570-BE12-F1A2-995D-531AE906540F}"/>
              </a:ext>
            </a:extLst>
          </p:cNvPr>
          <p:cNvSpPr/>
          <p:nvPr/>
        </p:nvSpPr>
        <p:spPr>
          <a:xfrm>
            <a:off x="119336" y="188640"/>
            <a:ext cx="11712624" cy="30963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&lt;source&gt;:20:62: error: no matching function for call to 'Max(const char [6], const char [6])'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'hello' and 'world'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Max("hello", "world")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substitution of 'template&lt;class T&gt; T Max(const T&amp;, const T&amp;) [with T = char [6]]':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&lt;source&gt;:20:55:   required from here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error: function returning an array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2C9A03-B450-246B-84B6-6E38CB67CD81}"/>
              </a:ext>
            </a:extLst>
          </p:cNvPr>
          <p:cNvSpPr/>
          <p:nvPr/>
        </p:nvSpPr>
        <p:spPr>
          <a:xfrm>
            <a:off x="119336" y="188640"/>
            <a:ext cx="11712624" cy="31110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 In function 'int main()':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error: no matching function for call to 'Max(const char [6], const char [7])'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Max("apple", "banana")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</a:t>
            </a:r>
            <a:r>
              <a:rPr lang="en-US" alt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~~~^~~~~~~~~~~~~~~~~~~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candidate: '</a:t>
            </a:r>
            <a:r>
              <a:rPr lang="en-US" alt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template&lt;class T&gt; T Max(const T&amp;, const T&amp;)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5 | T Max(const T&amp; a, const T&amp; b)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^~~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&lt;source&gt;:5:3: note:   template argument deduction/substitution failed: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&lt;source&gt;:20:63: note:   deduced conflicting types for parameter 'const T' (</a:t>
            </a:r>
            <a:r>
              <a:rPr lang="en-US" alt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'char [6]' and 'char [7]'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20 |        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cout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&lt;&lt; "Max of 'apple' and 'banana' is: " &lt;&lt; Max("apple", "banana") &lt;&lt; std::</a:t>
            </a:r>
            <a:r>
              <a:rPr lang="en-US" altLang="en-US" sz="1600" dirty="0" err="1">
                <a:solidFill>
                  <a:srgbClr val="212529"/>
                </a:solidFill>
                <a:latin typeface="Consolas" panose="020B0609020204030204" pitchFamily="49" charset="0"/>
              </a:rPr>
              <a:t>endl</a:t>
            </a: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rgbClr val="212529"/>
                </a:solidFill>
                <a:latin typeface="Consolas" panose="020B0609020204030204" pitchFamily="49" charset="0"/>
              </a:rPr>
              <a:t>      |                                                            ~~~^~~~~~~~~~~~~~~~~~~</a:t>
            </a:r>
            <a:endParaRPr lang="en-US" altLang="en-US" sz="3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87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13" grpId="0" animBg="1"/>
      <p:bldP spid="13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1630-C8DE-3F4D-87A8-C53B0D6C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перегрузку вместо специализации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277D6-7167-6F42-3C83-1C0AB33ACAE1}"/>
              </a:ext>
            </a:extLst>
          </p:cNvPr>
          <p:cNvSpPr txBox="1"/>
          <p:nvPr/>
        </p:nvSpPr>
        <p:spPr>
          <a:xfrm>
            <a:off x="838200" y="1690688"/>
            <a:ext cx="113538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Обратите внимание, что в перегрузке мы не обязаны принимать указатель по ссылке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char*, const char*),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так как если подходит перегрузка, то шаблон не используется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'hello' and 'world'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apple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banana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Будет вызвана перегрузка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Max(const T&amp;, const T&amp;)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Max of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and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str2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35445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Шаблонные методы класса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Класс может содержать методы-шаблоны, даже если сам не является шаблоном. Это удобно, когда обобщённость требуется только для отдельных операций</a:t>
            </a:r>
          </a:p>
          <a:p>
            <a:r>
              <a:rPr lang="ru-RU" dirty="0"/>
              <a:t>Шаблонные методы допустимы и внутри шаблонного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86CB8-ACE5-4F07-28CA-E64A184DAE6A}"/>
              </a:ext>
            </a:extLst>
          </p:cNvPr>
          <p:cNvSpPr txBox="1"/>
          <p:nvPr/>
        </p:nvSpPr>
        <p:spPr>
          <a:xfrm>
            <a:off x="838200" y="3868639"/>
            <a:ext cx="9218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Doing something with: 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AD87C5-2D9D-9618-C8DC-7EB38EA9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Шаблонный метод внутри шаблонного класса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9E72A-BC40-0AC6-98F5-D7E34C1678EB}"/>
              </a:ext>
            </a:extLst>
          </p:cNvPr>
          <p:cNvSpPr txBox="1"/>
          <p:nvPr/>
        </p:nvSpPr>
        <p:spPr>
          <a:xfrm>
            <a:off x="838200" y="1844824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Data: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value: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1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ADDF0-9496-20A4-5731-8B64FB8EB9E1}"/>
              </a:ext>
            </a:extLst>
          </p:cNvPr>
          <p:cNvSpPr txBox="1"/>
          <p:nvPr/>
        </p:nvSpPr>
        <p:spPr>
          <a:xfrm>
            <a:off x="4727848" y="5581471"/>
            <a:ext cx="491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SomeTemplateClass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68A6B-6871-7F77-4ED7-E08B766DBD5B}"/>
              </a:ext>
            </a:extLst>
          </p:cNvPr>
          <p:cNvSpPr txBox="1"/>
          <p:nvPr/>
        </p:nvSpPr>
        <p:spPr>
          <a:xfrm>
            <a:off x="8954504" y="6362739"/>
            <a:ext cx="3024336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Data: 42, value: A</a:t>
            </a:r>
          </a:p>
        </p:txBody>
      </p:sp>
    </p:spTree>
    <p:extLst>
      <p:ext uri="{BB962C8B-B14F-4D97-AF65-F5344CB8AC3E}">
        <p14:creationId xmlns:p14="http://schemas.microsoft.com/office/powerpoint/2010/main" val="1428545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07239A5-BA4B-6D2F-859C-185729C0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Определение методов вне шаблонного класса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7FD12-7022-454F-3CA7-E2F03FAE444E}"/>
              </a:ext>
            </a:extLst>
          </p:cNvPr>
          <p:cNvSpPr txBox="1"/>
          <p:nvPr/>
        </p:nvSpPr>
        <p:spPr>
          <a:xfrm>
            <a:off x="1271464" y="1690689"/>
            <a:ext cx="9015536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NonTemplateMethod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typename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TemplateMethod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19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ECF8D-30AA-F213-B831-06B4ADA00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Применяем</a:t>
            </a:r>
            <a:r>
              <a:rPr lang="en-US" dirty="0"/>
              <a:t> </a:t>
            </a:r>
            <a:r>
              <a:rPr lang="en-US" dirty="0" err="1"/>
              <a:t>шаблоны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66575-F91C-8669-3D48-DDCD306F6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Задача</a:t>
            </a:r>
            <a:r>
              <a:rPr lang="ru-RU" dirty="0"/>
              <a:t>. </a:t>
            </a:r>
            <a:r>
              <a:rPr lang="en-US" dirty="0" err="1"/>
              <a:t>Разработать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имени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автоматическое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</a:p>
          <a:p>
            <a:r>
              <a:rPr lang="en-US" dirty="0" err="1"/>
              <a:t>Используем</a:t>
            </a:r>
            <a:r>
              <a:rPr lang="en-US" dirty="0"/>
              <a:t> </a:t>
            </a:r>
            <a:r>
              <a:rPr lang="en-US" dirty="0" err="1"/>
              <a:t>возможности</a:t>
            </a:r>
            <a:r>
              <a:rPr lang="en-US" dirty="0"/>
              <a:t> C++</a:t>
            </a:r>
          </a:p>
          <a:p>
            <a:pPr lvl="1"/>
            <a:r>
              <a:rPr lang="en-US" dirty="0" err="1"/>
              <a:t>шаблонные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специализацию</a:t>
            </a:r>
            <a:r>
              <a:rPr lang="en-US" dirty="0"/>
              <a:t> </a:t>
            </a:r>
            <a:r>
              <a:rPr lang="en-US" dirty="0" err="1"/>
              <a:t>шаблонов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type traits; </a:t>
            </a:r>
          </a:p>
          <a:p>
            <a:pPr lvl="1"/>
            <a:r>
              <a:rPr lang="en-US" dirty="0" err="1"/>
              <a:t>enum</a:t>
            </a:r>
            <a:r>
              <a:rPr lang="en-US" dirty="0"/>
              <a:t> class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. </a:t>
            </a:r>
          </a:p>
          <a:p>
            <a:r>
              <a:rPr lang="ru-RU" dirty="0"/>
              <a:t>Хотим п</a:t>
            </a:r>
            <a:r>
              <a:rPr lang="en-US" dirty="0" err="1"/>
              <a:t>олучить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удобный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compile-time </a:t>
            </a: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уменьшение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2641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7A09EF-9062-24F3-85EE-4B443C349A72}"/>
              </a:ext>
            </a:extLst>
          </p:cNvPr>
          <p:cNvSpPr txBox="1"/>
          <p:nvPr/>
        </p:nvSpPr>
        <p:spPr>
          <a:xfrm>
            <a:off x="335360" y="15900"/>
            <a:ext cx="105156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Сохраняет значение произвольного типа в виде строки по ключу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Получает значение по ключу и преобразует его в указанный тип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(m_data.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value for key: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196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65C8-FCF9-0FFE-67B0-A26FCCEAE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класса </a:t>
            </a:r>
            <a:r>
              <a:rPr lang="en-US" dirty="0"/>
              <a:t>Config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48869-7100-706C-8AF6-246ED61E30D3}"/>
              </a:ext>
            </a:extLst>
          </p:cNvPr>
          <p:cNvSpPr txBox="1"/>
          <p:nvPr/>
        </p:nvSpPr>
        <p:spPr>
          <a:xfrm>
            <a:off x="838200" y="1988839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Threshold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Threshold: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threshold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 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User: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config.GetValue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User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Будет исключение в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runtime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277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C89502-A695-E3B6-7D6D-5B64D4F0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Улучшение – делаем </a:t>
            </a:r>
            <a:r>
              <a:rPr lang="en-US" dirty="0"/>
              <a:t>Config </a:t>
            </a:r>
            <a:r>
              <a:rPr lang="ru-RU" dirty="0"/>
              <a:t>более </a:t>
            </a:r>
            <a:r>
              <a:rPr lang="ru-RU" dirty="0" err="1"/>
              <a:t>типобезопасным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A3DC0-E3A1-032A-30F7-4405E5A9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43014"/>
          </a:xfrm>
        </p:spPr>
        <p:txBody>
          <a:bodyPr/>
          <a:lstStyle/>
          <a:p>
            <a:r>
              <a:rPr lang="ru-RU" dirty="0"/>
              <a:t>Добавим встроенные параметры (тип задаётся при помощи </a:t>
            </a:r>
            <a:r>
              <a:rPr lang="en-US" dirty="0" err="1"/>
              <a:t>enum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Каждый встроенный параметр имеет своё имя и тип</a:t>
            </a:r>
          </a:p>
          <a:p>
            <a:r>
              <a:rPr lang="ru-RU" dirty="0"/>
              <a:t>Хотим писать код так:</a:t>
            </a: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AE6165-EE55-91AA-101A-3983BAA341C6}"/>
              </a:ext>
            </a:extLst>
          </p:cNvPr>
          <p:cNvSpPr txBox="1"/>
          <p:nvPr/>
        </p:nvSpPr>
        <p:spPr>
          <a:xfrm>
            <a:off x="838200" y="3868639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BuiltinConfigParam</a:t>
            </a:r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Login,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Password,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Timeout,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1F377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::Timeout&gt;()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cfg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31134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F84C28-7C0A-4436-F578-C7F622F2AB2C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 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Первичный шаблон для характеристик типов параметров конфигурации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Login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::Login&gt;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Логин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Password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::Password&gt;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хранится в виде строки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Специализация характеристики типов для параметра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Timeout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::Timeout&gt;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name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Timeout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Таймаут задаётся целым числом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53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B1E358-986E-7FC6-E595-EEABB6664715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convert string to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просто возвращаем значение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96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044CF7-4733-47A3-4312-EA3CABE717D7}"/>
              </a:ext>
            </a:extLst>
          </p:cNvPr>
          <p:cNvSpPr txBox="1"/>
          <p:nvPr/>
        </p:nvSpPr>
        <p:spPr>
          <a:xfrm>
            <a:off x="0" y="29096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Config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&gt;::name] =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ToString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GetBuiltinParam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&gt;::name;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BuiltinConfigParamTraits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detail::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FromString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ParamValueType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Parameter not found: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paramName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GetParam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m_params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4590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Шаблоны и наследование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0A324C-D493-9FBA-7E2A-712424A8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 и наследование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40821-5582-40B4-A929-B12265304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Шаблоны можно свободно использовать в иерархии наследования.</a:t>
            </a:r>
          </a:p>
          <a:p>
            <a:pPr lvl="1"/>
            <a:r>
              <a:rPr lang="ru-RU" dirty="0"/>
              <a:t>В качестве класса-родителя может выступать как обычный класс, так и шаблонный</a:t>
            </a:r>
          </a:p>
          <a:p>
            <a:r>
              <a:rPr lang="ru-RU" dirty="0"/>
              <a:t>Возможные комбинации</a:t>
            </a:r>
          </a:p>
          <a:p>
            <a:pPr lvl="1"/>
            <a:r>
              <a:rPr lang="ru-RU" dirty="0"/>
              <a:t>Шаблон унаследован от обычного класса</a:t>
            </a:r>
          </a:p>
          <a:p>
            <a:pPr lvl="1"/>
            <a:r>
              <a:rPr lang="ru-RU" dirty="0"/>
              <a:t>Обычный класс унаследован от шаблона</a:t>
            </a:r>
          </a:p>
          <a:p>
            <a:pPr lvl="1"/>
            <a:r>
              <a:rPr lang="ru-RU" dirty="0"/>
              <a:t>Один шаблон унаследован от другого шаблона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7481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081F-0057-BE42-4F79-A3F3E2FD3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 (Curiously Recurring Template Pattern)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F877E-95A0-D0C9-D708-48248CF76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Шаблон проектирования, когда класс-наследник передаёт сам себя в качестве параметра шаблона базовому классу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Circle : public Shape&lt;Circle&gt;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Для чего применяется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Позволяет реализовать полиморфизм без виртуальных функций — на этапе компиляции</a:t>
            </a:r>
            <a:endParaRPr lang="en-US" dirty="0"/>
          </a:p>
          <a:p>
            <a:pPr lvl="1"/>
            <a:r>
              <a:rPr lang="ru-RU" dirty="0"/>
              <a:t>Обеспечивает повторное использование кода в базовом классе с делегированием конкретной реализации наследникам</a:t>
            </a:r>
            <a:endParaRPr lang="en-US" dirty="0"/>
          </a:p>
          <a:p>
            <a:pPr lvl="1"/>
            <a:r>
              <a:rPr lang="ru-RU" dirty="0"/>
              <a:t>Используется для реализации интерфейсов, паттернов «Policy-</a:t>
            </a:r>
            <a:r>
              <a:rPr lang="ru-RU" dirty="0" err="1"/>
              <a:t>based</a:t>
            </a:r>
            <a:r>
              <a:rPr lang="ru-RU" dirty="0"/>
              <a:t> </a:t>
            </a:r>
            <a:r>
              <a:rPr lang="ru-RU" dirty="0" err="1"/>
              <a:t>design</a:t>
            </a:r>
            <a:r>
              <a:rPr lang="ru-RU" dirty="0"/>
              <a:t>», </a:t>
            </a: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polymorphism</a:t>
            </a:r>
            <a:endParaRPr lang="en-US" dirty="0"/>
          </a:p>
          <a:p>
            <a:r>
              <a:rPr lang="ru-RU" dirty="0"/>
              <a:t>Примеры</a:t>
            </a:r>
          </a:p>
          <a:p>
            <a:pPr lvl="1"/>
            <a:r>
              <a:rPr lang="ru-RU" dirty="0"/>
              <a:t>Реализация интерфейсов</a:t>
            </a:r>
          </a:p>
          <a:p>
            <a:pPr lvl="1"/>
            <a:r>
              <a:rPr lang="ru-RU" dirty="0"/>
              <a:t>Оптимизация кода за счёт устранения виртуальных вызовов</a:t>
            </a:r>
          </a:p>
          <a:p>
            <a:pPr lvl="1"/>
            <a:r>
              <a:rPr lang="ru-RU" dirty="0"/>
              <a:t>Классы-</a:t>
            </a:r>
            <a:r>
              <a:rPr lang="ru-RU" dirty="0" err="1"/>
              <a:t>миксины</a:t>
            </a:r>
            <a:r>
              <a:rPr lang="ru-RU" dirty="0"/>
              <a:t> (</a:t>
            </a:r>
            <a:r>
              <a:rPr lang="en-US" dirty="0" err="1"/>
              <a:t>mixins</a:t>
            </a:r>
            <a:r>
              <a:rPr lang="en-US" dirty="0"/>
              <a:t>)</a:t>
            </a:r>
            <a:r>
              <a:rPr lang="ru-RU" dirty="0"/>
              <a:t> для расширения функциональности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05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71CC3C-3BE7-0109-9441-A6408F41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Базовый класс </a:t>
            </a:r>
            <a:r>
              <a:rPr lang="en-US" dirty="0"/>
              <a:t>Shape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BB6AC-54F4-AAFA-4C58-86425D6323BE}"/>
              </a:ext>
            </a:extLst>
          </p:cNvPr>
          <p:cNvSpPr txBox="1"/>
          <p:nvPr/>
        </p:nvSpPr>
        <p:spPr>
          <a:xfrm>
            <a:off x="838200" y="1690688"/>
            <a:ext cx="10442376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static_cast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Derived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*&gt;(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m_color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9880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AEEDE-4F9D-F469-429F-BEFA1EAE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Окружность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5C7A26-8729-268B-7906-E33E1EDFDC60}"/>
              </a:ext>
            </a:extLst>
          </p:cNvPr>
          <p:cNvSpPr txBox="1"/>
          <p:nvPr/>
        </p:nvSpPr>
        <p:spPr>
          <a:xfrm>
            <a:off x="767408" y="1690687"/>
            <a:ext cx="1058639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Нужно, чтобы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Shape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мог использовать приватные методы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Circle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circle with radius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std::numbers::pi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m_radius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80097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9778-381F-3E97-6023-D7BB80E30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Квадрат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95F9B-8685-35CE-D21D-D2F14A2B7C65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a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GetColor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square with side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GetAreaImpl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66312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E791F-08F1-9EB6-27C1-815F31BBB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Статический полиморфизм в действии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663BCB-F48A-35F7-82CF-ADC686B380F3}"/>
              </a:ext>
            </a:extLst>
          </p:cNvPr>
          <p:cNvSpPr txBox="1"/>
          <p:nvPr/>
        </p:nvSpPr>
        <p:spPr>
          <a:xfrm>
            <a:off x="838200" y="158234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Area: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86EEA3-66C9-2DB0-7E0B-891599E09810}"/>
              </a:ext>
            </a:extLst>
          </p:cNvPr>
          <p:cNvSpPr txBox="1"/>
          <p:nvPr/>
        </p:nvSpPr>
        <p:spPr>
          <a:xfrm>
            <a:off x="6384032" y="5015547"/>
            <a:ext cx="5688632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a red circle with radius 5</a:t>
            </a:r>
          </a:p>
          <a:p>
            <a:r>
              <a:rPr lang="en-US" dirty="0">
                <a:latin typeface="Consolas" panose="020B0609020204030204" pitchFamily="49" charset="0"/>
              </a:rPr>
              <a:t>Area: 78.5398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Drawing a blue square with side 4</a:t>
            </a:r>
          </a:p>
          <a:p>
            <a:r>
              <a:rPr lang="en-US" dirty="0">
                <a:latin typeface="Consolas" panose="020B0609020204030204" pitchFamily="49" charset="0"/>
              </a:rPr>
              <a:t>Area: 16</a:t>
            </a:r>
          </a:p>
        </p:txBody>
      </p:sp>
    </p:spTree>
    <p:extLst>
      <p:ext uri="{BB962C8B-B14F-4D97-AF65-F5344CB8AC3E}">
        <p14:creationId xmlns:p14="http://schemas.microsoft.com/office/powerpoint/2010/main" val="3229846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55C07-6CF7-85B7-BCFD-0A9506150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Ограничения</a:t>
            </a:r>
            <a:r>
              <a:rPr lang="en-US" dirty="0"/>
              <a:t> CRTP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52FE-CBAE-9252-2276-AB2A12CF7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CRTP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замена</a:t>
            </a:r>
            <a:r>
              <a:rPr lang="en-US" dirty="0"/>
              <a:t> </a:t>
            </a:r>
            <a:r>
              <a:rPr lang="en-US" dirty="0" err="1"/>
              <a:t>виртуальному</a:t>
            </a:r>
            <a:r>
              <a:rPr lang="en-US" dirty="0"/>
              <a:t> </a:t>
            </a:r>
            <a:r>
              <a:rPr lang="en-US" dirty="0" err="1"/>
              <a:t>полиморфизму</a:t>
            </a:r>
            <a:endParaRPr lang="en-US" dirty="0"/>
          </a:p>
          <a:p>
            <a:r>
              <a:rPr lang="en-US" dirty="0" err="1"/>
              <a:t>Особенности</a:t>
            </a:r>
            <a:r>
              <a:rPr lang="en-US" dirty="0"/>
              <a:t> CRTP</a:t>
            </a:r>
          </a:p>
          <a:p>
            <a:pPr lvl="1"/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отсутствует</a:t>
            </a:r>
            <a:r>
              <a:rPr lang="en-US" dirty="0"/>
              <a:t> RTTI и </a:t>
            </a:r>
            <a:r>
              <a:rPr lang="en-US" dirty="0" err="1"/>
              <a:t>виртуальные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базовый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реальный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</a:t>
            </a:r>
          </a:p>
          <a:p>
            <a:r>
              <a:rPr lang="en-US" dirty="0" err="1"/>
              <a:t>Невозможно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endParaRPr lang="en-US" dirty="0"/>
          </a:p>
          <a:p>
            <a:pPr lvl="1"/>
            <a:r>
              <a:rPr lang="en-US" dirty="0"/>
              <a:t>std::vector&lt;Shape&lt;?&gt;&gt; shapes; // </a:t>
            </a:r>
            <a:r>
              <a:rPr lang="en-US" dirty="0" err="1"/>
              <a:t>невозможно</a:t>
            </a:r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runtime-</a:t>
            </a:r>
            <a:r>
              <a:rPr lang="en-US" dirty="0" err="1"/>
              <a:t>полиморфизм</a:t>
            </a:r>
            <a:endParaRPr lang="en-US" dirty="0"/>
          </a:p>
          <a:p>
            <a:pPr lvl="1"/>
            <a:r>
              <a:rPr lang="en-US" dirty="0" err="1"/>
              <a:t>плагины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неизвестного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heterogeneous collections; </a:t>
            </a:r>
          </a:p>
          <a:p>
            <a:pPr lvl="1"/>
            <a:r>
              <a:rPr lang="en-US" dirty="0" err="1"/>
              <a:t>динамическая</a:t>
            </a:r>
            <a:r>
              <a:rPr lang="en-US" dirty="0"/>
              <a:t> </a:t>
            </a:r>
            <a:r>
              <a:rPr lang="en-US" dirty="0" err="1"/>
              <a:t>диспетчеризация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202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84AD56-F995-5A6C-CB3D-01797AF2A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Миксины</a:t>
            </a:r>
            <a:r>
              <a:rPr lang="ru-RU" dirty="0"/>
              <a:t> на основе </a:t>
            </a:r>
            <a:r>
              <a:rPr lang="en-US" dirty="0"/>
              <a:t>CRTP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20B1E0-27D7-56B5-8FCB-016A20B98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Миксин</a:t>
            </a:r>
            <a:r>
              <a:rPr lang="ru-RU" dirty="0"/>
              <a:t> — это класс, который добавляет определённую функциональность другому классу через наследование.</a:t>
            </a:r>
            <a:endParaRPr lang="en-US" dirty="0"/>
          </a:p>
          <a:p>
            <a:pPr lvl="1"/>
            <a:r>
              <a:rPr lang="ru-RU" dirty="0"/>
              <a:t>С CRTP </a:t>
            </a:r>
            <a:r>
              <a:rPr lang="ru-RU" dirty="0" err="1"/>
              <a:t>миксины</a:t>
            </a:r>
            <a:r>
              <a:rPr lang="ru-RU" dirty="0"/>
              <a:t> реализуются как шаблонные классы, принимающие производный класс в качестве параметра шаблона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Добавляют функциональность без использования виртуальных функций</a:t>
            </a:r>
          </a:p>
          <a:p>
            <a:pPr lvl="1"/>
            <a:r>
              <a:rPr lang="ru-RU" b="1" dirty="0"/>
              <a:t>Позволяют комбинировать несколько </a:t>
            </a:r>
            <a:r>
              <a:rPr lang="ru-RU" b="1" dirty="0" err="1"/>
              <a:t>миксинов</a:t>
            </a:r>
            <a:r>
              <a:rPr lang="ru-RU" dirty="0"/>
              <a:t>, расширяя класс</a:t>
            </a:r>
          </a:p>
          <a:p>
            <a:pPr lvl="1"/>
            <a:r>
              <a:rPr lang="ru-RU" dirty="0"/>
              <a:t>Используют </a:t>
            </a:r>
            <a:r>
              <a:rPr lang="ru-RU" b="1" dirty="0"/>
              <a:t>статический полиморфизм </a:t>
            </a:r>
            <a:r>
              <a:rPr lang="ru-RU" dirty="0"/>
              <a:t>— вызовы разрешаются во время компиляции</a:t>
            </a:r>
          </a:p>
          <a:p>
            <a:pPr lvl="1"/>
            <a:r>
              <a:rPr lang="ru-RU" dirty="0"/>
              <a:t>Помогают избежать дублирования кода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17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185A13-5E7C-4B9D-49F1-B7E0DCF248EC}"/>
              </a:ext>
            </a:extLst>
          </p:cNvPr>
          <p:cNvSpPr txBox="1"/>
          <p:nvPr/>
        </p:nvSpPr>
        <p:spPr>
          <a:xfrm>
            <a:off x="0" y="0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Drawing Widget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B73606-8ECE-178B-0BC2-8580563DE8D2}"/>
              </a:ext>
            </a:extLst>
          </p:cNvPr>
          <p:cNvSpPr txBox="1"/>
          <p:nvPr/>
        </p:nvSpPr>
        <p:spPr>
          <a:xfrm>
            <a:off x="5231904" y="-84277"/>
            <a:ext cx="7176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Debug info: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B11189-7B8C-F4B7-770F-517FD80466A7}"/>
              </a:ext>
            </a:extLst>
          </p:cNvPr>
          <p:cNvSpPr txBox="1"/>
          <p:nvPr/>
        </p:nvSpPr>
        <p:spPr>
          <a:xfrm>
            <a:off x="0" y="3413720"/>
            <a:ext cx="6070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Widget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DebugMixin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PrintDetails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Widget details here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E651C9-AF7F-1403-5E1D-9992B479C6CA}"/>
              </a:ext>
            </a:extLst>
          </p:cNvPr>
          <p:cNvSpPr txBox="1"/>
          <p:nvPr/>
        </p:nvSpPr>
        <p:spPr>
          <a:xfrm>
            <a:off x="6070600" y="3440112"/>
            <a:ext cx="46558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DebugWidget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DebugPrint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96E20-ABA0-0C8C-F211-E042C73922CE}"/>
              </a:ext>
            </a:extLst>
          </p:cNvPr>
          <p:cNvSpPr txBox="1"/>
          <p:nvPr/>
        </p:nvSpPr>
        <p:spPr>
          <a:xfrm>
            <a:off x="6070600" y="5803721"/>
            <a:ext cx="4417888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Drawing Widget</a:t>
            </a:r>
          </a:p>
          <a:p>
            <a:r>
              <a:rPr lang="en-US" dirty="0">
                <a:latin typeface="Consolas" panose="020B0609020204030204" pitchFamily="49" charset="0"/>
              </a:rPr>
              <a:t>Debug info: Widget details here</a:t>
            </a:r>
          </a:p>
        </p:txBody>
      </p:sp>
    </p:spTree>
    <p:extLst>
      <p:ext uri="{BB962C8B-B14F-4D97-AF65-F5344CB8AC3E}">
        <p14:creationId xmlns:p14="http://schemas.microsoft.com/office/powerpoint/2010/main" val="28403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1" grpId="0"/>
      <p:bldP spid="13" grpId="0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шаблона от простого класса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Код, не зависящий от параметров шаблона, выносится в обычный класс</a:t>
            </a:r>
          </a:p>
          <a:p>
            <a:r>
              <a:rPr lang="ru-RU" dirty="0"/>
              <a:t>Это позволяет избежать дублирования одинакового кода в каждой </a:t>
            </a:r>
            <a:r>
              <a:rPr lang="ru-RU" dirty="0" err="1"/>
              <a:t>инстанциации</a:t>
            </a:r>
            <a:r>
              <a:rPr lang="ru-RU" dirty="0"/>
              <a:t> шаблона</a:t>
            </a:r>
          </a:p>
          <a:p>
            <a:r>
              <a:rPr lang="ru-RU" dirty="0"/>
              <a:t>В итоге уменьшается объём генерируемого машинного кода и сокращается время компиляции</a:t>
            </a: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9D3A38-3CD2-A941-C509-9442538950CD}"/>
              </a:ext>
            </a:extLst>
          </p:cNvPr>
          <p:cNvSpPr txBox="1"/>
          <p:nvPr/>
        </p:nvSpPr>
        <p:spPr>
          <a:xfrm>
            <a:off x="-9748" y="0"/>
            <a:ext cx="610574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E34D3-2C10-3DF9-0C34-5E2F3726DD63}"/>
              </a:ext>
            </a:extLst>
          </p:cNvPr>
          <p:cNvSpPr txBox="1"/>
          <p:nvPr/>
        </p:nvSpPr>
        <p:spPr>
          <a:xfrm>
            <a:off x="6528048" y="-31196"/>
            <a:ext cx="5644012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TryGetException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78114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42940-5964-1775-07DF-5DC2E445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Result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14FEC-BBD5-7A22-5BFB-1EE3E8904AD5}"/>
              </a:ext>
            </a:extLst>
          </p:cNvPr>
          <p:cNvSpPr txBox="1"/>
          <p:nvPr/>
        </p:nvSpPr>
        <p:spPr>
          <a:xfrm>
            <a:off x="8255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read integer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value: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Handle error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10252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Наследование простых классов от шаблонов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Задача – подсчет количества существующих экземпляров объектов некоторых классов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Создать базовый шаблонный класс, конструкторы (по умолчанию и копирования) и деструктор которого осуществляют инкремент/декремент счетчика</a:t>
            </a:r>
          </a:p>
          <a:p>
            <a:pPr lvl="2"/>
            <a:r>
              <a:rPr lang="ru-RU" dirty="0"/>
              <a:t>В качестве параметра шаблона будет выступать класс, для которого необходимо вести подсчет экземпляров</a:t>
            </a:r>
          </a:p>
          <a:p>
            <a:pPr lvl="1"/>
            <a:r>
              <a:rPr lang="ru-RU" dirty="0"/>
              <a:t>Классы, для которых необходимо вести учет количества экземпляров публично наследуются от класса-счетчика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407368" y="1783894"/>
            <a:ext cx="5214974" cy="4708981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template &lt;class T&gt;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static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return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protected: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++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const&amp; other)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++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~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--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static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template&lt;class T&gt;</a:t>
            </a:r>
            <a:r>
              <a:rPr lang="ru-RU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size_t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&lt;T&gt;::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m_counter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426814" y="1793022"/>
            <a:ext cx="5357818" cy="341632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: public 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CCountable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int main(int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argc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, char*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argv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someObject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someOtherObject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std::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CSomeClass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::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GetInstanceCount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 &lt;&lt; "\n";</a:t>
            </a:r>
          </a:p>
          <a:p>
            <a:pPr defTabSz="179388"/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	return 0;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024694" y="5857893"/>
            <a:ext cx="3500462" cy="83099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Output: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</a:p>
          <a:p>
            <a:pPr defTabSz="179388"/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иерархия фигур</a:t>
            </a:r>
          </a:p>
        </p:txBody>
      </p:sp>
      <p:graphicFrame>
        <p:nvGraphicFramePr>
          <p:cNvPr id="6" name="Содержимое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0572171"/>
              </p:ext>
            </p:extLst>
          </p:nvPr>
        </p:nvGraphicFramePr>
        <p:xfrm>
          <a:off x="1981200" y="1935164"/>
          <a:ext cx="8229600" cy="4389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7096132" y="2285992"/>
            <a:ext cx="1428760" cy="7143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1400" dirty="0"/>
              <a:t>Свойства:</a:t>
            </a:r>
          </a:p>
          <a:p>
            <a:r>
              <a:rPr lang="ru-RU" sz="1400" dirty="0"/>
              <a:t>Цвет</a:t>
            </a:r>
          </a:p>
          <a:p>
            <a:r>
              <a:rPr lang="ru-RU" sz="1400" dirty="0"/>
              <a:t>Площадь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без шаблонов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Color {…};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~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r>
              <a:rPr lang="en-US" sz="1100" dirty="0">
                <a:latin typeface="Consolas" panose="020B0609020204030204" pitchFamily="49" charset="0"/>
              </a:rPr>
              <a:t>();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</a:t>
            </a:r>
            <a:r>
              <a:rPr lang="en-US" sz="1100" dirty="0" err="1">
                <a:latin typeface="Consolas" panose="020B0609020204030204" pitchFamily="49" charset="0"/>
              </a:rPr>
              <a:t>const</a:t>
            </a:r>
            <a:r>
              <a:rPr lang="en-US" sz="1100" dirty="0">
                <a:latin typeface="Consolas" panose="020B0609020204030204" pitchFamily="49" charset="0"/>
              </a:rPr>
              <a:t>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429001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Circle : public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PI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Rectangle: public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,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2095472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Consolas" panose="020B0609020204030204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6453190" y="4071942"/>
            <a:ext cx="371477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Consolas" panose="020B0609020204030204" pitchFamily="49" charset="0"/>
            </a:endParaRPr>
          </a:p>
        </p:txBody>
      </p:sp>
      <p:sp>
        <p:nvSpPr>
          <p:cNvPr id="11" name="Равно 10"/>
          <p:cNvSpPr/>
          <p:nvPr/>
        </p:nvSpPr>
        <p:spPr>
          <a:xfrm>
            <a:off x="5810248" y="4572008"/>
            <a:ext cx="642942" cy="500066"/>
          </a:xfrm>
          <a:prstGeom prst="mathEqual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74244" y="584597"/>
            <a:ext cx="418680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>
                <a:latin typeface="Consolas" panose="020B0609020204030204" pitchFamily="49" charset="0"/>
              </a:rPr>
              <a:t>class Shape : public </a:t>
            </a:r>
            <a:r>
              <a:rPr lang="en-US" sz="1400" dirty="0" err="1">
                <a:latin typeface="Consolas" panose="020B0609020204030204" pitchFamily="49" charset="0"/>
              </a:rPr>
              <a:t>IShape</a:t>
            </a:r>
            <a:endParaRPr lang="en-US" sz="1400" dirty="0">
              <a:latin typeface="Consolas" panose="020B0609020204030204" pitchFamily="49" charset="0"/>
            </a:endParaRP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Color 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</a:t>
            </a:r>
            <a:r>
              <a:rPr lang="en-US" sz="1400" dirty="0" err="1">
                <a:latin typeface="Consolas" panose="020B0609020204030204" pitchFamily="49" charset="0"/>
              </a:rPr>
              <a:t>const</a:t>
            </a:r>
            <a:r>
              <a:rPr lang="en-US" sz="1400" dirty="0">
                <a:latin typeface="Consolas" panose="020B0609020204030204" pitchFamily="49" charset="0"/>
              </a:rPr>
              <a:t> override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return 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void 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(Color </a:t>
            </a:r>
            <a:r>
              <a:rPr lang="en-US" sz="1400" dirty="0" err="1">
                <a:latin typeface="Consolas" panose="020B0609020204030204" pitchFamily="49" charset="0"/>
              </a:rPr>
              <a:t>const</a:t>
            </a:r>
            <a:r>
              <a:rPr lang="en-US" sz="1400" dirty="0">
                <a:latin typeface="Consolas" panose="020B0609020204030204" pitchFamily="49" charset="0"/>
              </a:rPr>
              <a:t>&amp; c) override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Color </a:t>
            </a:r>
            <a:r>
              <a:rPr lang="en-US" sz="1400" dirty="0" err="1">
                <a:latin typeface="Consolas" panose="020B0609020204030204" pitchFamily="49" charset="0"/>
              </a:rPr>
              <a:t>m_color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</a:endParaRP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84032" y="332657"/>
            <a:ext cx="5400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400" dirty="0"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latin typeface="Consolas" panose="020B0609020204030204" pitchFamily="49" charset="0"/>
              </a:rPr>
              <a:t>BadCircle</a:t>
            </a:r>
            <a:r>
              <a:rPr lang="en-US" sz="1400" dirty="0">
                <a:latin typeface="Consolas" panose="020B0609020204030204" pitchFamily="49" charset="0"/>
              </a:rPr>
              <a:t> : public </a:t>
            </a:r>
            <a:r>
              <a:rPr lang="en-US" sz="1400" dirty="0" err="1">
                <a:latin typeface="Consolas" panose="020B0609020204030204" pitchFamily="49" charset="0"/>
              </a:rPr>
              <a:t>ICircle</a:t>
            </a:r>
            <a:r>
              <a:rPr lang="en-US" sz="1400" dirty="0">
                <a:latin typeface="Consolas" panose="020B0609020204030204" pitchFamily="49" charset="0"/>
              </a:rPr>
              <a:t>, public Shape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en-US" sz="1400" dirty="0" err="1">
                <a:latin typeface="Consolas" panose="020B0609020204030204" pitchFamily="49" charset="0"/>
              </a:rPr>
              <a:t>BadCircle</a:t>
            </a:r>
            <a:r>
              <a:rPr lang="en-US" sz="1400" dirty="0">
                <a:latin typeface="Consolas" panose="020B0609020204030204" pitchFamily="49" charset="0"/>
              </a:rPr>
              <a:t>(double radius):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(radius)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Color 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	  return CShape::</a:t>
            </a:r>
            <a:r>
              <a:rPr lang="en-US" sz="1400" dirty="0" err="1">
                <a:latin typeface="Consolas" panose="020B0609020204030204" pitchFamily="49" charset="0"/>
              </a:rPr>
              <a:t>GetColor</a:t>
            </a:r>
            <a:r>
              <a:rPr lang="en-US" sz="1400" dirty="0">
                <a:latin typeface="Consolas" panose="020B0609020204030204" pitchFamily="49" charset="0"/>
              </a:rPr>
              <a:t>();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void 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(Color const&amp; c)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	Shape::</a:t>
            </a:r>
            <a:r>
              <a:rPr lang="en-US" sz="1400" dirty="0" err="1">
                <a:latin typeface="Consolas" panose="020B0609020204030204" pitchFamily="49" charset="0"/>
              </a:rPr>
              <a:t>SetColor</a:t>
            </a:r>
            <a:r>
              <a:rPr lang="en-US" sz="1400" dirty="0">
                <a:latin typeface="Consolas" panose="020B0609020204030204" pitchFamily="49" charset="0"/>
              </a:rPr>
              <a:t>(c);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double </a:t>
            </a:r>
            <a:r>
              <a:rPr lang="en-US" sz="1400" dirty="0" err="1">
                <a:latin typeface="Consolas" panose="020B0609020204030204" pitchFamily="49" charset="0"/>
              </a:rPr>
              <a:t>GetArea</a:t>
            </a:r>
            <a:r>
              <a:rPr lang="en-US" sz="14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	return M_PI *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 *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ru-RU" sz="1400" dirty="0">
                <a:latin typeface="Consolas" panose="020B0609020204030204" pitchFamily="49" charset="0"/>
              </a:rPr>
              <a:t>}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400" dirty="0">
                <a:latin typeface="Consolas" panose="020B0609020204030204" pitchFamily="49" charset="0"/>
              </a:rPr>
              <a:t>  double </a:t>
            </a:r>
            <a:r>
              <a:rPr lang="en-US" sz="1400" dirty="0" err="1">
                <a:latin typeface="Consolas" panose="020B0609020204030204" pitchFamily="49" charset="0"/>
              </a:rPr>
              <a:t>m_radius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sz="14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000" y="4511504"/>
            <a:ext cx="105486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79388"/>
            <a:r>
              <a:rPr lang="en-US" sz="1200" dirty="0">
                <a:latin typeface="Consolas" panose="020B0609020204030204" pitchFamily="49" charset="0"/>
              </a:rPr>
              <a:t>void </a:t>
            </a:r>
            <a:r>
              <a:rPr lang="en-US" sz="1200" dirty="0" err="1">
                <a:latin typeface="Consolas" panose="020B0609020204030204" pitchFamily="49" charset="0"/>
              </a:rPr>
              <a:t>DoSomethingWithShape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 err="1">
                <a:latin typeface="Consolas" panose="020B0609020204030204" pitchFamily="49" charset="0"/>
              </a:rPr>
              <a:t>IShape</a:t>
            </a:r>
            <a:r>
              <a:rPr lang="en-US" sz="1200" dirty="0">
                <a:latin typeface="Consolas" panose="020B0609020204030204" pitchFamily="49" charset="0"/>
              </a:rPr>
              <a:t> &amp;shape)</a:t>
            </a: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{</a:t>
            </a:r>
          </a:p>
          <a:p>
            <a:pPr defTabSz="179388"/>
            <a:endParaRPr lang="ru-RU" sz="1200" dirty="0">
              <a:latin typeface="Consolas" panose="020B0609020204030204" pitchFamily="49" charset="0"/>
            </a:endParaRP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sz="1200" dirty="0">
              <a:latin typeface="Consolas" panose="020B0609020204030204" pitchFamily="49" charset="0"/>
            </a:endParaRPr>
          </a:p>
          <a:p>
            <a:pPr defTabSz="179388"/>
            <a:r>
              <a:rPr lang="en-US" sz="1200" dirty="0" err="1">
                <a:latin typeface="Consolas" panose="020B0609020204030204" pitchFamily="49" charset="0"/>
              </a:rPr>
              <a:t>int</a:t>
            </a:r>
            <a:r>
              <a:rPr lang="en-US" sz="1200" dirty="0">
                <a:latin typeface="Consolas" panose="020B0609020204030204" pitchFamily="49" charset="0"/>
              </a:rPr>
              <a:t> main()</a:t>
            </a:r>
          </a:p>
          <a:p>
            <a:pPr defTabSz="179388"/>
            <a:r>
              <a:rPr lang="ru-RU" sz="12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	</a:t>
            </a:r>
            <a:r>
              <a:rPr lang="en-US" sz="1200" dirty="0" err="1">
                <a:latin typeface="Consolas" panose="020B0609020204030204" pitchFamily="49" charset="0"/>
              </a:rPr>
              <a:t>BadCircle</a:t>
            </a:r>
            <a:r>
              <a:rPr lang="en-US" sz="1200" dirty="0">
                <a:latin typeface="Consolas" panose="020B0609020204030204" pitchFamily="49" charset="0"/>
              </a:rPr>
              <a:t> circle(10);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	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DoSomethingWithShape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(circle); // error C2594: 'argument' : ambiguous conversions from '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CBadCircle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' to '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IShape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&amp;‘</a:t>
            </a:r>
          </a:p>
          <a:p>
            <a:pPr defTabSz="179388"/>
            <a:r>
              <a:rPr lang="en-US" sz="1200" dirty="0">
                <a:latin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11184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Устраняем дублирование кода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Создаем абстрактный шаблонный класс </a:t>
            </a:r>
            <a:r>
              <a:rPr lang="en-US" dirty="0" err="1"/>
              <a:t>ShapeImpl</a:t>
            </a:r>
            <a:r>
              <a:rPr lang="en-US" dirty="0"/>
              <a:t>, </a:t>
            </a:r>
            <a:r>
              <a:rPr lang="ru-RU" dirty="0"/>
              <a:t>реализующий виртуальные функции для установки и получения цвета</a:t>
            </a:r>
          </a:p>
          <a:p>
            <a:pPr lvl="1"/>
            <a:r>
              <a:rPr lang="ru-RU" dirty="0"/>
              <a:t>В качестве параметра шаблона будет выступать базовый класс</a:t>
            </a:r>
            <a:r>
              <a:rPr lang="en-US" dirty="0"/>
              <a:t>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template &lt;class Base&gt;</a:t>
            </a:r>
            <a:br>
              <a:rPr lang="en-US" b="1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: public Base {…};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u-RU" dirty="0"/>
              <a:t>Класс является абстрактным, т.к. класс не реализует метод вычисления площади</a:t>
            </a:r>
            <a:endParaRPr lang="en-US" dirty="0"/>
          </a:p>
          <a:p>
            <a:r>
              <a:rPr lang="ru-RU" dirty="0"/>
              <a:t>Класс </a:t>
            </a:r>
            <a:r>
              <a:rPr lang="en-US" dirty="0"/>
              <a:t>Circle </a:t>
            </a:r>
            <a:r>
              <a:rPr lang="ru-RU" dirty="0"/>
              <a:t>и </a:t>
            </a:r>
            <a:r>
              <a:rPr lang="en-US" dirty="0"/>
              <a:t>Rectangle </a:t>
            </a:r>
            <a:r>
              <a:rPr lang="ru-RU" dirty="0"/>
              <a:t>наследуются от </a:t>
            </a:r>
            <a:r>
              <a:rPr lang="en-US" dirty="0" err="1"/>
              <a:t>ShapeImpl</a:t>
            </a:r>
            <a:endParaRPr lang="ru-RU" dirty="0"/>
          </a:p>
          <a:p>
            <a:pPr lvl="1"/>
            <a:r>
              <a:rPr lang="ru-RU" dirty="0"/>
              <a:t>В качестве шаблонного параметра выступают интерфейсы </a:t>
            </a:r>
            <a:r>
              <a:rPr lang="en-US" dirty="0"/>
              <a:t>I</a:t>
            </a:r>
            <a:r>
              <a:rPr lang="ru-RU" dirty="0"/>
              <a:t>С</a:t>
            </a:r>
            <a:r>
              <a:rPr lang="en-US" dirty="0" err="1"/>
              <a:t>ircle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IRectangle</a:t>
            </a:r>
            <a:r>
              <a:rPr lang="en-US" dirty="0"/>
              <a:t> </a:t>
            </a:r>
            <a:r>
              <a:rPr lang="ru-RU" dirty="0"/>
              <a:t>соответственно:</a:t>
            </a:r>
          </a:p>
          <a:p>
            <a:pPr lvl="2"/>
            <a:r>
              <a:rPr lang="en-US" b="1" dirty="0">
                <a:latin typeface="Courier New" pitchFamily="49" charset="0"/>
                <a:cs typeface="Courier New" pitchFamily="49" charset="0"/>
              </a:rPr>
              <a:t>class Circle : public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ShapeImpl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ICircle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&gt; {…};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иерархия</a:t>
            </a:r>
          </a:p>
        </p:txBody>
      </p:sp>
      <p:graphicFrame>
        <p:nvGraphicFramePr>
          <p:cNvPr id="4" name="Содержимое 5"/>
          <p:cNvGraphicFramePr>
            <a:graphicFrameLocks noGrp="1"/>
          </p:cNvGraphicFramePr>
          <p:nvPr>
            <p:ph idx="1"/>
          </p:nvPr>
        </p:nvGraphicFramePr>
        <p:xfrm>
          <a:off x="1981200" y="1935164"/>
          <a:ext cx="8229600" cy="47085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Обновленная реализация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714488"/>
            <a:ext cx="4214842" cy="1785104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Color {…};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>
                <a:latin typeface="Consolas" panose="020B0609020204030204" pitchFamily="49" charset="0"/>
              </a:rPr>
              <a:t>	virtual ~IShape() = default;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</a:t>
            </a:r>
            <a:r>
              <a:rPr lang="en-US" sz="1100" dirty="0" err="1">
                <a:latin typeface="Consolas" panose="020B0609020204030204" pitchFamily="49" charset="0"/>
              </a:rPr>
              <a:t>const</a:t>
            </a:r>
            <a:r>
              <a:rPr lang="en-US" sz="1100" dirty="0">
                <a:latin typeface="Consolas" panose="020B0609020204030204" pitchFamily="49" charset="0"/>
              </a:rPr>
              <a:t>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virtual 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()const=0;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881158" y="3573017"/>
            <a:ext cx="4214842" cy="280076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template &lt;class Base&gt;</a:t>
            </a:r>
          </a:p>
          <a:p>
            <a:pPr defTabSz="179388"/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 : public Base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GetColor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void </a:t>
            </a:r>
            <a:r>
              <a:rPr lang="en-US" sz="1100" dirty="0" err="1">
                <a:latin typeface="Consolas" panose="020B0609020204030204" pitchFamily="49" charset="0"/>
              </a:rPr>
              <a:t>SetColor</a:t>
            </a:r>
            <a:r>
              <a:rPr lang="en-US" sz="1100" dirty="0">
                <a:latin typeface="Consolas" panose="020B0609020204030204" pitchFamily="49" charset="0"/>
              </a:rPr>
              <a:t>(Color const&amp; c)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 = c;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Color </a:t>
            </a:r>
            <a:r>
              <a:rPr lang="en-US" sz="1100" dirty="0" err="1">
                <a:latin typeface="Consolas" panose="020B0609020204030204" pitchFamily="49" charset="0"/>
              </a:rPr>
              <a:t>m_color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6238876" y="1714489"/>
            <a:ext cx="4214842" cy="161582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IRectangle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ICircle</a:t>
            </a:r>
            <a:r>
              <a:rPr lang="en-US" sz="1100" dirty="0">
                <a:latin typeface="Consolas" panose="020B0609020204030204" pitchFamily="49" charset="0"/>
              </a:rPr>
              <a:t> : public </a:t>
            </a:r>
            <a:r>
              <a:rPr lang="en-US" sz="1100" dirty="0" err="1">
                <a:latin typeface="Consolas" panose="020B0609020204030204" pitchFamily="49" charset="0"/>
              </a:rPr>
              <a:t>Ishape</a:t>
            </a:r>
            <a:endParaRPr lang="en-US" sz="1100" dirty="0">
              <a:latin typeface="Consolas" panose="020B0609020204030204" pitchFamily="49" charset="0"/>
            </a:endParaRP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…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6238876" y="3380126"/>
            <a:ext cx="4214842" cy="34778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Rectangle: 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public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IRectangle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m_width</a:t>
            </a:r>
            <a:r>
              <a:rPr lang="en-US" sz="1100" dirty="0">
                <a:latin typeface="Consolas" panose="020B0609020204030204" pitchFamily="49" charset="0"/>
              </a:rPr>
              <a:t>, </a:t>
            </a:r>
            <a:r>
              <a:rPr lang="en-US" sz="1100" dirty="0" err="1">
                <a:latin typeface="Consolas" panose="020B0609020204030204" pitchFamily="49" charset="0"/>
              </a:rPr>
              <a:t>m_height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class </a:t>
            </a:r>
            <a:r>
              <a:rPr lang="en-US" sz="1100" dirty="0" err="1">
                <a:latin typeface="Consolas" panose="020B0609020204030204" pitchFamily="49" charset="0"/>
              </a:rPr>
              <a:t>CCircle</a:t>
            </a:r>
            <a:r>
              <a:rPr lang="en-US" sz="1100" dirty="0">
                <a:latin typeface="Consolas" panose="020B0609020204030204" pitchFamily="49" charset="0"/>
              </a:rPr>
              <a:t>: 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public 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ShapeImpl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ICircle</a:t>
            </a:r>
            <a:r>
              <a:rPr 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public: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GetArea</a:t>
            </a:r>
            <a:r>
              <a:rPr lang="en-US" sz="1100" dirty="0">
                <a:latin typeface="Consolas" panose="020B0609020204030204" pitchFamily="49" charset="0"/>
              </a:rPr>
              <a:t>()const override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{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	return PI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 *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}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private: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	double </a:t>
            </a:r>
            <a:r>
              <a:rPr lang="en-US" sz="1100" dirty="0" err="1">
                <a:latin typeface="Consolas" panose="020B0609020204030204" pitchFamily="49" charset="0"/>
              </a:rPr>
              <a:t>m_radius</a:t>
            </a:r>
            <a:r>
              <a:rPr lang="en-US" sz="1100" dirty="0"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sz="1100" dirty="0"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C854A16-C3E1-E042-BC47-4A433EE9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56BB46-1FF1-9246-3A9C-FA80E4703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51231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50E3-D50F-44FA-BBD0-5A1844494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Variadic templates </a:t>
            </a:r>
            <a:r>
              <a:rPr lang="ru-RU" dirty="0"/>
              <a:t>(шаблоны с переменным числом аргументов)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7CBE2-C42E-4D3E-945B-7004C983F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Примеры:</a:t>
            </a:r>
          </a:p>
          <a:p>
            <a:pPr lvl="1"/>
            <a:r>
              <a:rPr lang="en-US" dirty="0"/>
              <a:t>std::variant</a:t>
            </a:r>
          </a:p>
          <a:p>
            <a:pPr lvl="2"/>
            <a:r>
              <a:rPr lang="en-US" dirty="0"/>
              <a:t>std::variant&lt;int, float, double, char, std::string&gt; v;</a:t>
            </a:r>
          </a:p>
          <a:p>
            <a:pPr lvl="1"/>
            <a:r>
              <a:rPr lang="en-US" dirty="0"/>
              <a:t>std::tuple</a:t>
            </a:r>
          </a:p>
          <a:p>
            <a:pPr lvl="2"/>
            <a:r>
              <a:rPr lang="en-US" dirty="0"/>
              <a:t>std::tuple&lt;int, float, double, char&gt;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make_shared</a:t>
            </a:r>
            <a:r>
              <a:rPr lang="en-US" dirty="0"/>
              <a:t>/std::</a:t>
            </a:r>
            <a:r>
              <a:rPr lang="en-US" dirty="0" err="1"/>
              <a:t>make_unique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auto p = std::</a:t>
            </a:r>
            <a:r>
              <a:rPr lang="en-US" dirty="0" err="1"/>
              <a:t>make_shared</a:t>
            </a:r>
            <a:r>
              <a:rPr lang="en-US" dirty="0"/>
              <a:t>&lt;Foo&gt;(10, 5, 20.5, "hello");</a:t>
            </a:r>
          </a:p>
          <a:p>
            <a:pPr lvl="1"/>
            <a:r>
              <a:rPr lang="en-US" dirty="0"/>
              <a:t>std::vector::</a:t>
            </a:r>
            <a:r>
              <a:rPr lang="en-US" dirty="0" err="1"/>
              <a:t>emplace_back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std::vector&lt;Foo&gt; v; </a:t>
            </a:r>
            <a:r>
              <a:rPr lang="en-US" dirty="0" err="1"/>
              <a:t>v.emplace_back</a:t>
            </a:r>
            <a:r>
              <a:rPr lang="en-US" dirty="0"/>
              <a:t>(10, 5, 2.5, "hello");</a:t>
            </a:r>
          </a:p>
          <a:p>
            <a:pPr lvl="1"/>
            <a:r>
              <a:rPr lang="en-US" dirty="0"/>
              <a:t>std::tie</a:t>
            </a:r>
          </a:p>
        </p:txBody>
      </p:sp>
    </p:spTree>
    <p:extLst>
      <p:ext uri="{BB962C8B-B14F-4D97-AF65-F5344CB8AC3E}">
        <p14:creationId xmlns:p14="http://schemas.microsoft.com/office/powerpoint/2010/main" val="16499457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9326B3B-F876-45EE-84D9-DFE25FB16D85}"/>
              </a:ext>
            </a:extLst>
          </p:cNvPr>
          <p:cNvSpPr/>
          <p:nvPr/>
        </p:nvSpPr>
        <p:spPr>
          <a:xfrm>
            <a:off x="191344" y="260648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Шаблонная функция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имеет произвольное число аргументов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Она возвращает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ссылок на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tie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surname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&lt;Student&gt;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Ivanov"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Vasiliev"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Sergey"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"Sergeev"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16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3455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31037-74E5-4C7B-829A-6B4BA758D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вариативного шаблона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01CCE9-ED7B-4D07-A1DF-2A7C0189021C}"/>
              </a:ext>
            </a:extLst>
          </p:cNvPr>
          <p:cNvSpPr/>
          <p:nvPr/>
        </p:nvSpPr>
        <p:spPr>
          <a:xfrm>
            <a:off x="839416" y="1690688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Вариативный шаблон класса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Tuple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Вариативный шаблон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шаблона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параметров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double&gt;(42, "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3.5);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вызову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&lt;&gt;();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04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D048F-6233-471E-8CE8-EEC63E62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количества параметров в пакете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855BE7-5A6A-46FF-BEA3-D4996A081571}"/>
              </a:ext>
            </a:extLst>
          </p:cNvPr>
          <p:cNvSpPr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0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513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B8A76-4835-449D-87F2-7E7E3EECA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DDE483-09EF-4989-A0E4-374139D99626}"/>
              </a:ext>
            </a:extLst>
          </p:cNvPr>
          <p:cNvSpPr/>
          <p:nvPr/>
        </p:nvSpPr>
        <p:spPr>
          <a:xfrm>
            <a:off x="838200" y="1628800"/>
            <a:ext cx="1094643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Функция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иллюстрирует распаковку пакета параметров при вызове функции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Чтобы вызвать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нужно распаковать пакет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PrintArgumentCount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(arg1, arg2,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/* ... */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2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1.23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4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42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398CD-E04D-4953-A2B4-BE560522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Распаковка пакета шаблонных параметров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B8067-830D-48D1-828F-EE9B5CFB7872}"/>
              </a:ext>
            </a:extLst>
          </p:cNvPr>
          <p:cNvSpPr/>
          <p:nvPr/>
        </p:nvSpPr>
        <p:spPr>
          <a:xfrm>
            <a:off x="838200" y="1556792"/>
            <a:ext cx="11162456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"Hi!"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flying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!!!"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Spider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I'm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weaving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 a </a:t>
            </a:r>
            <a:r>
              <a:rPr lang="de-DE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web"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Химера, наследуется от переданных ей базовых классов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Bases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Bases... {};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 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&lt;Bat,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batman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Fly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Chimera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&lt;Spider, Man&gt;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Weave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spiderman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SayHello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73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DA83F7-D3F3-4F58-A2DD-0EC33E99AB82}"/>
              </a:ext>
            </a:extLst>
          </p:cNvPr>
          <p:cNvSpPr/>
          <p:nvPr/>
        </p:nvSpPr>
        <p:spPr>
          <a:xfrm>
            <a:off x="7183915" y="6453336"/>
            <a:ext cx="4998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https://wandbox.org/permlink/OxYnKS8OhT7izoUp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881CDB-F89C-4FC4-BEF1-FE18CCE917B7}"/>
              </a:ext>
            </a:extLst>
          </p:cNvPr>
          <p:cNvSpPr/>
          <p:nvPr/>
        </p:nvSpPr>
        <p:spPr>
          <a:xfrm>
            <a:off x="263352" y="332656"/>
            <a:ext cx="11928648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variant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endParaRPr lang="de-DE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()...;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Это т.н.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deduction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guide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который помогает компилятору вывести тип.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Начиная с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C++20,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его можно не писать в этой конкретной ситуации.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...)-&gt;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overloaded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"double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};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VariableType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42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3.14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double 3.14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varType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Hello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187D58-8192-482C-A143-38915F788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265400"/>
            <a:ext cx="2581635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98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84BA-B90D-4E51-9180-A2D63C57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пакета параметров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A8F42-0A77-4CE6-9316-B616684A6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032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B1D9D8-24FE-453E-8A92-4DCA7EDB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функция с произвольным набором аргументов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68D6B1-2FDC-40CD-8429-A5A71F41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Написать функцию </a:t>
            </a:r>
            <a:r>
              <a:rPr lang="en-US" b="1" dirty="0"/>
              <a:t>Log</a:t>
            </a:r>
            <a:r>
              <a:rPr lang="ru-RU" dirty="0"/>
              <a:t>, которая принимает произвольное количество аргументов произвольного типа и выводит их через запятую</a:t>
            </a:r>
          </a:p>
          <a:p>
            <a:pPr lvl="1"/>
            <a:r>
              <a:rPr lang="ru-RU" dirty="0"/>
              <a:t>Для типов должен быть перегружен оператор вывода в поток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45967A-694C-418A-BDF1-DC20BA44D1B1}"/>
              </a:ext>
            </a:extLst>
          </p:cNvPr>
          <p:cNvSpPr/>
          <p:nvPr/>
        </p:nvSpPr>
        <p:spPr>
          <a:xfrm>
            <a:off x="838200" y="4003576"/>
            <a:ext cx="1072919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Hello, World, 42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8277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23C854-C81E-4B3E-9AA9-9B22BC725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Наивное решение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4BE0F9-D8E7-492B-9323-63ABFE9DCCD7}"/>
              </a:ext>
            </a:extLst>
          </p:cNvPr>
          <p:cNvSpPr/>
          <p:nvPr/>
        </p:nvSpPr>
        <p:spPr>
          <a:xfrm>
            <a:off x="911424" y="1916832"/>
            <a:ext cx="1128057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каждой итерации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ссылается на очередной параметр пакета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print_comma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3ED53-E245-4EEA-8F87-D75391331C49}"/>
              </a:ext>
            </a:extLst>
          </p:cNvPr>
          <p:cNvSpPr txBox="1"/>
          <p:nvPr/>
        </p:nvSpPr>
        <p:spPr>
          <a:xfrm>
            <a:off x="6072471" y="6021288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Увы, оно не скомпилируется</a:t>
            </a:r>
          </a:p>
        </p:txBody>
      </p:sp>
    </p:spTree>
    <p:extLst>
      <p:ext uri="{BB962C8B-B14F-4D97-AF65-F5344CB8AC3E}">
        <p14:creationId xmlns:p14="http://schemas.microsoft.com/office/powerpoint/2010/main" val="408618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9B39-F77E-4C64-B4BB-E8EEC0FE5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рекурсивного решения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5FED64-5A17-42FF-800A-C05D8E2767A4}"/>
              </a:ext>
            </a:extLst>
          </p:cNvPr>
          <p:cNvSpPr/>
          <p:nvPr/>
        </p:nvSpPr>
        <p:spPr>
          <a:xfrm>
            <a:off x="826999" y="1484784"/>
            <a:ext cx="7573257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Это псевдокод для иллюстрации решения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вспомогательная функция, которая рекурсивно выводит 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// элементы списка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 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out,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разделяя их запятыми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первый элемент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взять элементы списка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...,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кроме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head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out &lt;&lt;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tail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вывести остальные элементы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out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не пуст) 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F1ED21-2432-4AF2-8225-45C23AE54E4D}"/>
              </a:ext>
            </a:extLst>
          </p:cNvPr>
          <p:cNvSpPr/>
          <p:nvPr/>
        </p:nvSpPr>
        <p:spPr>
          <a:xfrm>
            <a:off x="5303912" y="4869160"/>
            <a:ext cx="66967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Log(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1,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1,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3.5,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ru-RU" dirty="0">
                <a:solidFill>
                  <a:srgbClr val="800000"/>
                </a:solidFill>
                <a:latin typeface="Consolas" panose="020B0609020204030204" pitchFamily="49" charset="0"/>
              </a:rPr>
              <a:t>3.5,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451A5"/>
                </a:solidFill>
                <a:latin typeface="Consolas" panose="020B0609020204030204" pitchFamily="49" charset="0"/>
              </a:rPr>
              <a:t>     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, "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800000"/>
                </a:solidFill>
                <a:latin typeface="Consolas" panose="020B0609020204030204" pitchFamily="49" charset="0"/>
              </a:rPr>
              <a:t>);    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output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: </a:t>
            </a:r>
            <a:r>
              <a:rPr lang="de-DE" dirty="0" err="1">
                <a:solidFill>
                  <a:srgbClr val="800000"/>
                </a:solidFill>
                <a:latin typeface="Consolas" panose="020B0609020204030204" pitchFamily="49" charset="0"/>
              </a:rPr>
              <a:t>hello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00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1A4D5BB-7781-4194-BAED-5ACCA7971A82}"/>
              </a:ext>
            </a:extLst>
          </p:cNvPr>
          <p:cNvSpPr/>
          <p:nvPr/>
        </p:nvSpPr>
        <p:spPr>
          <a:xfrm>
            <a:off x="551384" y="0"/>
            <a:ext cx="1108923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через запятую остальные параметры, если они остались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Рекурсивно выводим остальные параметры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аргументы функции, если они не пустые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66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612AE4-0148-475E-A677-027EAE26A71A}"/>
              </a:ext>
            </a:extLst>
          </p:cNvPr>
          <p:cNvSpPr/>
          <p:nvPr/>
        </p:nvSpPr>
        <p:spPr>
          <a:xfrm>
            <a:off x="838200" y="1710025"/>
            <a:ext cx="1046482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','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out;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42, {10,20}, Hello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пустую строку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5.8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 // 5.8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820026-EAED-44DB-88D5-4523880D2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Испытываем функцию на практике</a:t>
            </a:r>
          </a:p>
        </p:txBody>
      </p:sp>
    </p:spTree>
    <p:extLst>
      <p:ext uri="{BB962C8B-B14F-4D97-AF65-F5344CB8AC3E}">
        <p14:creationId xmlns:p14="http://schemas.microsoft.com/office/powerpoint/2010/main" val="2118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CB5F51-A072-4E63-8EBA-34B9F19A1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распаковки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42D48-B22F-4C4A-B688-7583D74F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34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7EB7F0-7E5A-4BA6-AEC9-5AA1C333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указать паттерн распаковки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C338D4-3BD5-4B89-A263-E4DE92CEB45D}"/>
              </a:ext>
            </a:extLst>
          </p:cNvPr>
          <p:cNvSpPr/>
          <p:nvPr/>
        </p:nvSpPr>
        <p:spPr>
          <a:xfrm>
            <a:off x="838200" y="1988840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Пусть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пакет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x, y, z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 F(x, y, 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  // F(&amp;x, &amp;y, &amp;z);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F(H(x), H(y), H(z));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Types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*&gt;(&amp;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F(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*&gt;(&amp;x),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double*&gt;(&amp;y),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 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*&gt;(&amp;z));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G(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x, double y,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z);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766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FAE62C-BC9E-49B9-BFF1-68F251632C78}"/>
              </a:ext>
            </a:extLst>
          </p:cNvPr>
          <p:cNvSpPr/>
          <p:nvPr/>
        </p:nvSpPr>
        <p:spPr>
          <a:xfrm>
            <a:off x="695400" y="476672"/>
            <a:ext cx="10541609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Возвращает строковое представление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фигурных скобок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ostringstream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'{'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'}'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os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Выводит через запятую аргументы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заключая их в фигурные скобки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Раскроется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Log(out,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(vs1), ...,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vsN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Decorate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{42}, {{10,20}}, {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Hello}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LogDecorated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8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304FA-2A42-458F-931F-66E43BCD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A3C96-DA5B-4D9B-A5F6-86EE38F01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Пусть</a:t>
            </a:r>
            <a:r>
              <a:rPr lang="en-US" dirty="0"/>
              <a:t>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это пакет параметров </a:t>
            </a:r>
            <a:r>
              <a:rPr lang="en-US" dirty="0"/>
              <a:t>x, y, z</a:t>
            </a:r>
          </a:p>
          <a:p>
            <a:r>
              <a:rPr lang="ru-RU" dirty="0"/>
              <a:t>Во что распакуется следующее выражение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en-US" dirty="0"/>
              <a:t>F(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en-US" dirty="0"/>
              <a:t>…);</a:t>
            </a:r>
            <a:endParaRPr lang="ru-RU" dirty="0"/>
          </a:p>
          <a:p>
            <a:r>
              <a:rPr lang="ru-RU" dirty="0"/>
              <a:t>Варианты ответа:</a:t>
            </a:r>
          </a:p>
          <a:p>
            <a:pPr lvl="1"/>
            <a:r>
              <a:rPr lang="en-US" dirty="0"/>
              <a:t>F(x, y, z) + F(x, y, z);</a:t>
            </a:r>
          </a:p>
          <a:p>
            <a:pPr lvl="1"/>
            <a:r>
              <a:rPr lang="en-US" dirty="0"/>
              <a:t>F(x, y, z + x, y, z);</a:t>
            </a:r>
          </a:p>
          <a:p>
            <a:pPr lvl="1"/>
            <a:r>
              <a:rPr lang="en-US" dirty="0"/>
              <a:t>F(x + x, y + y, z + z);</a:t>
            </a:r>
          </a:p>
          <a:p>
            <a:pPr lvl="1"/>
            <a:endParaRPr lang="en-US" dirty="0"/>
          </a:p>
          <a:p>
            <a:r>
              <a:rPr lang="ru-RU" dirty="0"/>
              <a:t>Здесь паттерн распаковки – выражение </a:t>
            </a:r>
            <a:r>
              <a:rPr lang="en-US" dirty="0" err="1"/>
              <a:t>args</a:t>
            </a:r>
            <a:r>
              <a:rPr lang="en-US" dirty="0"/>
              <a:t> + </a:t>
            </a:r>
            <a:r>
              <a:rPr lang="en-US" dirty="0" err="1"/>
              <a:t>args</a:t>
            </a:r>
            <a:r>
              <a:rPr lang="ru-RU" dirty="0"/>
              <a:t>. После распаковки пакета </a:t>
            </a:r>
            <a:r>
              <a:rPr lang="en-US" dirty="0"/>
              <a:t>x, y, z </a:t>
            </a:r>
            <a:r>
              <a:rPr lang="ru-RU" dirty="0"/>
              <a:t>он будет раскрыт в </a:t>
            </a:r>
            <a:r>
              <a:rPr lang="en-US" dirty="0"/>
              <a:t>x + x, y + y, z + z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8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08447-72FD-4315-8418-EFDD2380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AF248-BE6F-4515-B944-3AD9E4EBA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Пусть </a:t>
            </a:r>
            <a:r>
              <a:rPr lang="en-US" dirty="0" err="1"/>
              <a:t>args</a:t>
            </a:r>
            <a:r>
              <a:rPr lang="en-US" dirty="0"/>
              <a:t> – </a:t>
            </a:r>
            <a:r>
              <a:rPr lang="ru-RU" dirty="0"/>
              <a:t>пакет параметров </a:t>
            </a:r>
            <a:r>
              <a:rPr lang="en-US" dirty="0"/>
              <a:t>x, y, z. </a:t>
            </a:r>
            <a:r>
              <a:rPr lang="ru-RU" dirty="0"/>
              <a:t>Во что распакуется выражение:</a:t>
            </a:r>
          </a:p>
          <a:p>
            <a:pPr lvl="1"/>
            <a:r>
              <a:rPr lang="en-US" dirty="0"/>
              <a:t>F(H(</a:t>
            </a:r>
            <a:r>
              <a:rPr lang="en-US" dirty="0" err="1"/>
              <a:t>args</a:t>
            </a:r>
            <a:r>
              <a:rPr lang="en-US" dirty="0"/>
              <a:t>…) + H(</a:t>
            </a:r>
            <a:r>
              <a:rPr lang="en-US" dirty="0" err="1"/>
              <a:t>args</a:t>
            </a:r>
            <a:r>
              <a:rPr lang="en-US" dirty="0"/>
              <a:t>)…);</a:t>
            </a:r>
            <a:endParaRPr lang="ru-RU" dirty="0"/>
          </a:p>
          <a:p>
            <a:r>
              <a:rPr lang="ru-RU" dirty="0"/>
              <a:t>Варианты ответов</a:t>
            </a:r>
            <a:endParaRPr lang="en-US" dirty="0"/>
          </a:p>
          <a:p>
            <a:pPr lvl="1"/>
            <a:r>
              <a:rPr lang="pl-PL" dirty="0"/>
              <a:t>F(H(x, y, z) + H(x, y, z));</a:t>
            </a:r>
          </a:p>
          <a:p>
            <a:pPr lvl="1"/>
            <a:r>
              <a:rPr lang="pt-BR" dirty="0"/>
              <a:t>F(H(x, y, z) + H(x), H(x, y, z) + H(y), H(x, y, z) + H(z));</a:t>
            </a:r>
          </a:p>
          <a:p>
            <a:pPr lvl="1"/>
            <a:r>
              <a:rPr lang="de-DE" dirty="0"/>
              <a:t>F(H(x + x, y + y, z + z));</a:t>
            </a:r>
          </a:p>
          <a:p>
            <a:pPr lvl="1"/>
            <a:r>
              <a:rPr lang="pt-BR" dirty="0"/>
              <a:t>F(H(x) + H(x), H(y) + H(y), H(z) + H(z));</a:t>
            </a:r>
          </a:p>
          <a:p>
            <a:pPr marL="457200" lvl="1" indent="0">
              <a:buNone/>
            </a:pPr>
            <a:endParaRPr lang="en-US" dirty="0"/>
          </a:p>
          <a:p>
            <a:pPr marL="342900" lvl="1" indent="-342900"/>
            <a:r>
              <a:rPr lang="ru-RU" dirty="0"/>
              <a:t>Здесь два паттерна распаковки: </a:t>
            </a:r>
            <a:r>
              <a:rPr lang="de-DE" b="1" i="1" dirty="0" err="1"/>
              <a:t>args</a:t>
            </a:r>
            <a:r>
              <a:rPr lang="de-DE" dirty="0"/>
              <a:t> </a:t>
            </a:r>
            <a:r>
              <a:rPr lang="ru-RU" dirty="0"/>
              <a:t>и </a:t>
            </a:r>
            <a:r>
              <a:rPr lang="de-DE" b="1" i="1" dirty="0"/>
              <a:t>H(</a:t>
            </a:r>
            <a:r>
              <a:rPr lang="de-DE" b="1" i="1" dirty="0" err="1"/>
              <a:t>args</a:t>
            </a:r>
            <a:r>
              <a:rPr lang="de-DE" b="1" i="1" dirty="0"/>
              <a:t>...) + H(</a:t>
            </a:r>
            <a:r>
              <a:rPr lang="de-DE" b="1" i="1" dirty="0" err="1"/>
              <a:t>args</a:t>
            </a:r>
            <a:r>
              <a:rPr lang="de-DE" b="1" i="1" dirty="0"/>
              <a:t>)</a:t>
            </a:r>
            <a:r>
              <a:rPr lang="de-DE" dirty="0"/>
              <a:t>.</a:t>
            </a:r>
          </a:p>
          <a:p>
            <a:pPr marL="800100" lvl="2" indent="-342900"/>
            <a:r>
              <a:rPr lang="ru-RU" dirty="0"/>
              <a:t>При этом первый — часть второго</a:t>
            </a:r>
            <a:endParaRPr lang="en-US" dirty="0"/>
          </a:p>
          <a:p>
            <a:pPr marL="800100" lvl="2" indent="-342900"/>
            <a:r>
              <a:rPr lang="ru-RU" dirty="0"/>
              <a:t>Сначала первый паттерн распакуется в </a:t>
            </a:r>
            <a:r>
              <a:rPr lang="de-DE" dirty="0"/>
              <a:t>x, y, z, </a:t>
            </a:r>
            <a:r>
              <a:rPr lang="ru-RU" dirty="0"/>
              <a:t>превратив второй паттерн в</a:t>
            </a:r>
            <a:br>
              <a:rPr lang="en-US" dirty="0"/>
            </a:br>
            <a:r>
              <a:rPr lang="de-DE" b="1" dirty="0"/>
              <a:t>H(x, y, z) + H(</a:t>
            </a:r>
            <a:r>
              <a:rPr lang="de-DE" b="1" dirty="0" err="1"/>
              <a:t>args</a:t>
            </a:r>
            <a:r>
              <a:rPr lang="de-DE" b="1" dirty="0"/>
              <a:t>)</a:t>
            </a:r>
          </a:p>
          <a:p>
            <a:pPr marL="800100" lvl="2" indent="-342900"/>
            <a:r>
              <a:rPr lang="ru-RU" dirty="0"/>
              <a:t>Затем второй паттерн распакуется в </a:t>
            </a:r>
            <a:r>
              <a:rPr lang="de-DE" b="1" dirty="0"/>
              <a:t>H(x, y, z) + H(x), H(x, y, z) + H(y), H(x, y, z) + H(z)</a:t>
            </a:r>
          </a:p>
          <a:p>
            <a:pPr marL="342900" lvl="1" indent="-3429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20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4287E80-08B9-47F6-85A4-088FE08473C0}"/>
              </a:ext>
            </a:extLst>
          </p:cNvPr>
          <p:cNvSpPr/>
          <p:nvPr/>
        </p:nvSpPr>
        <p:spPr>
          <a:xfrm>
            <a:off x="911424" y="1690688"/>
            <a:ext cx="9145016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Optional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…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~T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...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forward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args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)...);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alignas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(T)];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m_isInitialized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6F3559-3CB7-4EC3-A544-0527BD939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</a:t>
            </a:r>
            <a:r>
              <a:rPr lang="en-US" dirty="0"/>
              <a:t>variadic template </a:t>
            </a:r>
            <a:r>
              <a:rPr lang="ru-RU" dirty="0"/>
              <a:t>для передачи параметров конструктору</a:t>
            </a:r>
          </a:p>
        </p:txBody>
      </p:sp>
    </p:spTree>
    <p:extLst>
      <p:ext uri="{BB962C8B-B14F-4D97-AF65-F5344CB8AC3E}">
        <p14:creationId xmlns:p14="http://schemas.microsoft.com/office/powerpoint/2010/main" val="97094171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11A377-1766-48EF-80CE-FA301C49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Выражения свёртки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6605D9-8313-495A-AD88-72F3A6CBD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395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A3C247-B931-4754-9730-0FFE6DE6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медленной компиляции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DF4F66-AEAC-48CE-8ABC-ABD4A886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dirty="0" err="1"/>
              <a:t>LogImpl</a:t>
            </a:r>
            <a:r>
              <a:rPr lang="ru-RU" dirty="0"/>
              <a:t> выглядит сложно из-за рекурсии и во время компиляции может создавать много работы для компилятора</a:t>
            </a:r>
          </a:p>
          <a:p>
            <a:r>
              <a:rPr lang="ru-RU" dirty="0"/>
              <a:t>Один вызов `</a:t>
            </a:r>
            <a:r>
              <a:rPr lang="ru-RU" dirty="0" err="1"/>
              <a:t>Log</a:t>
            </a:r>
            <a:r>
              <a:rPr lang="ru-RU" dirty="0"/>
              <a:t>(</a:t>
            </a:r>
            <a:r>
              <a:rPr lang="ru-RU" dirty="0" err="1"/>
              <a:t>cout</a:t>
            </a:r>
            <a:r>
              <a:rPr lang="ru-RU" dirty="0"/>
              <a:t>, 42, </a:t>
            </a:r>
            <a:r>
              <a:rPr lang="ru-RU" dirty="0" err="1"/>
              <a:t>Point</a:t>
            </a:r>
            <a:r>
              <a:rPr lang="ru-RU" dirty="0"/>
              <a:t>{10, 20}, "</a:t>
            </a:r>
            <a:r>
              <a:rPr lang="ru-RU" dirty="0" err="1"/>
              <a:t>Hello"s</a:t>
            </a:r>
            <a:r>
              <a:rPr lang="ru-RU" dirty="0"/>
              <a:t>)` приведёт к построению четырёх функций: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Log(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int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Point&amp;,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pPr lvl="1"/>
            <a:r>
              <a:rPr lang="de-DE" dirty="0" err="1"/>
              <a:t>void</a:t>
            </a:r>
            <a:r>
              <a:rPr lang="de-DE" dirty="0"/>
              <a:t> </a:t>
            </a:r>
            <a:r>
              <a:rPr lang="de-DE" dirty="0" err="1"/>
              <a:t>LogImpl</a:t>
            </a:r>
            <a:r>
              <a:rPr lang="de-DE" dirty="0"/>
              <a:t>(</a:t>
            </a:r>
            <a:r>
              <a:rPr lang="de-DE" dirty="0" err="1"/>
              <a:t>ostream</a:t>
            </a:r>
            <a:r>
              <a:rPr lang="de-DE" dirty="0"/>
              <a:t>&amp;, 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string</a:t>
            </a:r>
            <a:r>
              <a:rPr lang="de-DE" dirty="0"/>
              <a:t>&amp;);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33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1A453-D041-4955-9AD4-ED0E2260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Свёрточные</a:t>
            </a:r>
            <a:r>
              <a:rPr lang="ru-RU" dirty="0"/>
              <a:t> выражения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3AC4A-802B-45AB-BE12-5C99DEC8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ru-RU" dirty="0"/>
              <a:t> появились </a:t>
            </a:r>
            <a:r>
              <a:rPr lang="ru-RU" dirty="0" err="1"/>
              <a:t>свёрточные</a:t>
            </a:r>
            <a:r>
              <a:rPr lang="ru-RU" dirty="0"/>
              <a:t> выражения (</a:t>
            </a:r>
            <a:r>
              <a:rPr lang="en-US" dirty="0"/>
              <a:t>fold expressions</a:t>
            </a:r>
            <a:r>
              <a:rPr lang="ru-RU" dirty="0"/>
              <a:t>)</a:t>
            </a:r>
          </a:p>
          <a:p>
            <a:r>
              <a:rPr lang="ru-RU" dirty="0"/>
              <a:t>Они позволяют обработать пакет параметров без рекурсии</a:t>
            </a:r>
          </a:p>
        </p:txBody>
      </p:sp>
    </p:spTree>
    <p:extLst>
      <p:ext uri="{BB962C8B-B14F-4D97-AF65-F5344CB8AC3E}">
        <p14:creationId xmlns:p14="http://schemas.microsoft.com/office/powerpoint/2010/main" val="332242474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FBA0D-D0F9-407F-BBF0-DF22F72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Функция, вычисляющая сумму своих аргументов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647503-D099-434A-BAE9-0791F24E0A8D}"/>
              </a:ext>
            </a:extLst>
          </p:cNvPr>
          <p:cNvSpPr/>
          <p:nvPr/>
        </p:nvSpPr>
        <p:spPr>
          <a:xfrm>
            <a:off x="838200" y="1988840"/>
            <a:ext cx="10730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Tn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+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(((vn1 + vn2) + ...) +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vnN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F8C107-A6C8-40DE-9C07-B13F6BAA4A1B}"/>
              </a:ext>
            </a:extLst>
          </p:cNvPr>
          <p:cNvSpPr/>
          <p:nvPr/>
        </p:nvSpPr>
        <p:spPr>
          <a:xfrm>
            <a:off x="840656" y="3743166"/>
            <a:ext cx="1058517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3B3B3B"/>
                </a:solidFill>
              </a:rPr>
              <a:t>Выражение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(... + </a:t>
            </a:r>
            <a:r>
              <a:rPr lang="ru-RU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vn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ru-RU" sz="2000" dirty="0">
                <a:solidFill>
                  <a:srgbClr val="3B3B3B"/>
                </a:solidFill>
              </a:rPr>
              <a:t> называется </a:t>
            </a:r>
            <a:r>
              <a:rPr lang="ru-RU" sz="2000" b="1" dirty="0">
                <a:solidFill>
                  <a:srgbClr val="3B3B3B"/>
                </a:solidFill>
              </a:rPr>
              <a:t>выражением свёртки</a:t>
            </a:r>
          </a:p>
          <a:p>
            <a:r>
              <a:rPr lang="ru-RU" sz="2000" dirty="0">
                <a:solidFill>
                  <a:srgbClr val="3B3B3B"/>
                </a:solidFill>
              </a:rPr>
              <a:t>Оно превращает пакет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a, b, c, d</a:t>
            </a:r>
            <a:r>
              <a:rPr lang="ru-RU" sz="2000" dirty="0">
                <a:solidFill>
                  <a:srgbClr val="3B3B3B"/>
                </a:solidFill>
              </a:rPr>
              <a:t> в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(((a + b) + c) + d)</a:t>
            </a:r>
            <a:r>
              <a:rPr lang="ru-RU" sz="2000" dirty="0">
                <a:solidFill>
                  <a:srgbClr val="3B3B3B"/>
                </a:solidFill>
              </a:rPr>
              <a:t>, что эквивалентно вычислению </a:t>
            </a:r>
            <a:r>
              <a:rPr lang="ru-RU" sz="2000" dirty="0">
                <a:solidFill>
                  <a:srgbClr val="800000"/>
                </a:solidFill>
                <a:latin typeface="Consolas" panose="020B0609020204030204" pitchFamily="49" charset="0"/>
              </a:rPr>
              <a:t>a + b + c + d</a:t>
            </a:r>
            <a:r>
              <a:rPr lang="ru-RU" sz="2000" dirty="0">
                <a:solidFill>
                  <a:srgbClr val="3B3B3B"/>
                </a:solidFill>
              </a:rPr>
              <a:t> слева направо</a:t>
            </a:r>
          </a:p>
          <a:p>
            <a:r>
              <a:rPr lang="ru-RU" sz="2000" dirty="0">
                <a:solidFill>
                  <a:srgbClr val="3B3B3B"/>
                </a:solidFill>
              </a:rPr>
              <a:t>Скобки — обязательная часть выражения свёртки.</a:t>
            </a:r>
            <a:endParaRPr lang="ru-RU" sz="2000" b="0" dirty="0">
              <a:solidFill>
                <a:srgbClr val="3B3B3B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5849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A021-4E2C-4D8D-8275-93A86BD7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выражения свёртки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D75800-CD5F-4D3A-8925-D6781C7B8A1C}"/>
              </a:ext>
            </a:extLst>
          </p:cNvPr>
          <p:cNvSpPr/>
          <p:nvPr/>
        </p:nvSpPr>
        <p:spPr>
          <a:xfrm>
            <a:off x="838200" y="2132856"/>
            <a:ext cx="107131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    // 10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15.5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    // 25.5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Hello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world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!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2BC0-C8C6-4F55-8251-A579C74F40BC}"/>
              </a:ext>
            </a:extLst>
          </p:cNvPr>
          <p:cNvSpPr txBox="1"/>
          <p:nvPr/>
        </p:nvSpPr>
        <p:spPr>
          <a:xfrm>
            <a:off x="838200" y="4221088"/>
            <a:ext cx="104423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 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раскроется компилятором в одну функцию </a:t>
            </a:r>
            <a:r>
              <a:rPr lang="en-US" dirty="0">
                <a:solidFill>
                  <a:srgbClr val="000000"/>
                </a:solidFill>
              </a:rPr>
              <a:t>Sum</a:t>
            </a:r>
            <a:r>
              <a:rPr lang="ru-RU" dirty="0">
                <a:solidFill>
                  <a:srgbClr val="000000"/>
                </a:solidFill>
              </a:rPr>
              <a:t>, эквивалентную:</a:t>
            </a:r>
          </a:p>
          <a:p>
            <a:endParaRPr lang="ru-RU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vn3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(((v0 + vn1) + vn2) + vn3);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0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344F-9AE1-4866-8823-3637EA2E3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Можно использовать для свёртки и другие бинарные операции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4A4F3C-5174-4E6F-B8BE-F4B5E56265B6}"/>
              </a:ext>
            </a:extLst>
          </p:cNvPr>
          <p:cNvSpPr/>
          <p:nvPr/>
        </p:nvSpPr>
        <p:spPr>
          <a:xfrm>
            <a:off x="838200" y="2276872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(... *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Product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24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617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4789-CB6F-4B8C-8653-BC4CC39F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для упрощения </a:t>
            </a:r>
            <a:r>
              <a:rPr lang="en-US" dirty="0" err="1"/>
              <a:t>LogImpl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C8F73C-E1E3-4A96-B932-5C9779AF9B13}"/>
              </a:ext>
            </a:extLst>
          </p:cNvPr>
          <p:cNvSpPr/>
          <p:nvPr/>
        </p:nvSpPr>
        <p:spPr>
          <a:xfrm>
            <a:off x="838200" y="2204864"/>
            <a:ext cx="10515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код не скомпилируется и служит для иллюстрации идеи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 v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C2E25E-B287-471F-B19C-BFCF584CA2E2}"/>
              </a:ext>
            </a:extLst>
          </p:cNvPr>
          <p:cNvSpPr/>
          <p:nvPr/>
        </p:nvSpPr>
        <p:spPr>
          <a:xfrm>
            <a:off x="695400" y="5539503"/>
            <a:ext cx="1136042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a =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вычислит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F1(),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потом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вернёт результат вызова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F2()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), 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1, 2.3, 4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64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88A3C0-3B07-49B3-889C-217D8F517893}"/>
              </a:ext>
            </a:extLst>
          </p:cNvPr>
          <p:cNvSpPr/>
          <p:nvPr/>
        </p:nvSpPr>
        <p:spPr>
          <a:xfrm>
            <a:off x="838200" y="1779687"/>
            <a:ext cx="1130647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для вывода одного и более значений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T0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(...,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 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detail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Log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остаётся без изменений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Ts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...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...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vs...);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4FCC1D-6D73-496B-8CCB-934E25447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LogImpl</a:t>
            </a:r>
            <a:r>
              <a:rPr lang="ru-RU" dirty="0"/>
              <a:t> на </a:t>
            </a:r>
            <a:r>
              <a:rPr lang="ru-RU" dirty="0" err="1"/>
              <a:t>свёрточных</a:t>
            </a:r>
            <a:r>
              <a:rPr lang="ru-RU" dirty="0"/>
              <a:t> выражениях</a:t>
            </a:r>
          </a:p>
        </p:txBody>
      </p:sp>
    </p:spTree>
    <p:extLst>
      <p:ext uri="{BB962C8B-B14F-4D97-AF65-F5344CB8AC3E}">
        <p14:creationId xmlns:p14="http://schemas.microsoft.com/office/powerpoint/2010/main" val="285265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72C9-2969-4686-8924-71B96202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Выигрыш</a:t>
            </a:r>
            <a:r>
              <a:rPr lang="en-US" dirty="0"/>
              <a:t> </a:t>
            </a:r>
            <a:r>
              <a:rPr lang="ru-RU" dirty="0"/>
              <a:t>от </a:t>
            </a:r>
            <a:r>
              <a:rPr lang="ru-RU" dirty="0" err="1"/>
              <a:t>свёрточных</a:t>
            </a:r>
            <a:r>
              <a:rPr lang="ru-RU" dirty="0"/>
              <a:t> выражений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7DD2EB-EFA0-4067-8AA9-9BC5A13A831B}"/>
              </a:ext>
            </a:extLst>
          </p:cNvPr>
          <p:cNvSpPr/>
          <p:nvPr/>
        </p:nvSpPr>
        <p:spPr>
          <a:xfrm>
            <a:off x="696616" y="3076555"/>
            <a:ext cx="1065718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v0;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((out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vs1), (out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vs2));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vs3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LogImpl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(out, vs1, vs2, vs3);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out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B910E-A4A3-4F54-88E8-5595DC32FB55}"/>
              </a:ext>
            </a:extLst>
          </p:cNvPr>
          <p:cNvSpPr/>
          <p:nvPr/>
        </p:nvSpPr>
        <p:spPr>
          <a:xfrm>
            <a:off x="696616" y="1699387"/>
            <a:ext cx="77756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Log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Point{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25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40AE09-427C-4567-A2AB-3F2DBCB91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нужна вспомогательная функция </a:t>
            </a:r>
            <a:r>
              <a:rPr lang="en-US" dirty="0" err="1"/>
              <a:t>LogImpl</a:t>
            </a:r>
            <a:r>
              <a:rPr lang="en-US" dirty="0"/>
              <a:t>? 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BA7F3-F355-4A4C-8092-99BD83E13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Почему нельзя обойтись только функций </a:t>
            </a:r>
            <a:r>
              <a:rPr lang="en-US" dirty="0"/>
              <a:t>Log?</a:t>
            </a:r>
          </a:p>
          <a:p>
            <a:pPr lvl="1"/>
            <a:r>
              <a:rPr lang="ru-RU" dirty="0"/>
              <a:t>Для свёртки, использующей `,`, в пакете должен быть минимум один аргумент</a:t>
            </a:r>
          </a:p>
          <a:p>
            <a:pPr lvl="1"/>
            <a:r>
              <a:rPr lang="ru-RU" dirty="0"/>
              <a:t>После последнего аргумента не должна выводиться запятая.</a:t>
            </a:r>
          </a:p>
          <a:p>
            <a:pPr lvl="1"/>
            <a:r>
              <a:rPr lang="ru-RU" dirty="0"/>
              <a:t>Функция `</a:t>
            </a:r>
            <a:r>
              <a:rPr lang="ru-RU" dirty="0" err="1"/>
              <a:t>Log</a:t>
            </a:r>
            <a:r>
              <a:rPr lang="ru-RU" dirty="0"/>
              <a:t>` должна уметь принимать ноль и более аргументов и не выводить после последнего запятую.</a:t>
            </a:r>
          </a:p>
          <a:p>
            <a:pPr lvl="1"/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285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A83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AFB6-3C27-4D40-AF8D-2895BFEB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виды свёртки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5D6200-348C-4711-9FEB-EA3A884914E0}"/>
              </a:ext>
            </a:extLst>
          </p:cNvPr>
          <p:cNvSpPr/>
          <p:nvPr/>
        </p:nvSpPr>
        <p:spPr>
          <a:xfrm>
            <a:off x="1055440" y="1988840"/>
            <a:ext cx="105851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 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//(1)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   //(2)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pack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//(3)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правоассоциативная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init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...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pack )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//(4)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левоассоциативная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свёртка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9FE255-E785-4CF0-BC6B-750D86CCE359}"/>
              </a:ext>
            </a:extLst>
          </p:cNvPr>
          <p:cNvSpPr/>
          <p:nvPr/>
        </p:nvSpPr>
        <p:spPr>
          <a:xfrm>
            <a:off x="1076287" y="3603503"/>
            <a:ext cx="993710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pack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обозначает пакет параметров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op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бинарный оператор</a:t>
            </a:r>
          </a:p>
          <a:p>
            <a:r>
              <a:rPr lang="ru-RU" dirty="0" err="1">
                <a:solidFill>
                  <a:srgbClr val="800000"/>
                </a:solidFill>
                <a:latin typeface="Consolas" panose="020B0609020204030204" pitchFamily="49" charset="0"/>
              </a:rPr>
              <a:t>init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— начальное значение. Скобки — обязательная часть выражения свёртки.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/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values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+ ...)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+(…+(</m:t>
                    </m:r>
                    <m:sSub>
                      <m:sSubPr>
                        <m:ctrlPr>
                          <a:rPr lang="de-DE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𝑣𝑎𝑙𝑢𝑒𝑠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ru-RU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𝑣𝑎𝑙𝑢𝑒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(... -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args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)−…)−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nums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 * ... * 5)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∗(…∗(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𝑛𝑢𝑚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de-DE" i="1" dirty="0">
                        <a:solidFill>
                          <a:srgbClr val="09865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)))</m:t>
                    </m:r>
                  </m:oMath>
                </a14:m>
                <a:endParaRPr lang="de-DE" dirty="0">
                  <a:solidFill>
                    <a:srgbClr val="3B3B3B"/>
                  </a:solidFill>
                  <a:latin typeface="Consolas" panose="020B0609020204030204" pitchFamily="49" charset="0"/>
                </a:endParaRPr>
              </a:p>
              <a:p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("Hello, "s + ... + </a:t>
                </a:r>
                <a:r>
                  <a:rPr lang="de-DE" dirty="0" err="1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strings</a:t>
                </a:r>
                <a:r>
                  <a:rPr lang="de-DE" dirty="0">
                    <a:solidFill>
                      <a:srgbClr val="800000"/>
                    </a:solidFill>
                    <a:latin typeface="Consolas" panose="020B0609020204030204" pitchFamily="49" charset="0"/>
                  </a:rPr>
                  <a:t>)`</a:t>
                </a:r>
                <a:r>
                  <a:rPr lang="de-DE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ru-RU" dirty="0">
                    <a:solidFill>
                      <a:srgbClr val="3B3B3B"/>
                    </a:solidFill>
                    <a:latin typeface="Consolas" panose="020B0609020204030204" pitchFamily="49" charset="0"/>
                  </a:rPr>
                  <a:t>раскрывается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((("</m:t>
                    </m:r>
                    <m:r>
                      <m:rPr>
                        <m:sty m:val="p"/>
                      </m:rP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Hello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"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>
                            <a:solidFill>
                              <a:srgbClr val="09865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)+…)+</m:t>
                    </m:r>
                    <m:r>
                      <a:rPr lang="de-DE" i="1" dirty="0" err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sSub>
                      <m:sSubPr>
                        <m:ctrlP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 dirty="0" err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de-DE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b="0" dirty="0">
                  <a:solidFill>
                    <a:srgbClr val="3B3B3B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F851227-8D90-4798-BF31-AFC213B8A5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87" y="4941168"/>
                <a:ext cx="10994099" cy="1200329"/>
              </a:xfrm>
              <a:prstGeom prst="rect">
                <a:avLst/>
              </a:prstGeom>
              <a:blipFill>
                <a:blip r:embed="rId3"/>
                <a:stretch>
                  <a:fillRect l="-499" t="-3061" b="-7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45FB7C-50E9-8A81-A2B3-2967AAC1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Deduction Guides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03CAD-840D-7FBC-5BFD-79258FE12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2733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40D5CE5-F0DD-3B2B-68CF-A9CD27A1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Концепты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5E1FB-D822-4AF9-DD3E-140F411D8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3572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Преимущества использования шаблонов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Повторное использование кода</a:t>
            </a:r>
          </a:p>
          <a:p>
            <a:pPr>
              <a:lnSpc>
                <a:spcPct val="90000"/>
              </a:lnSpc>
            </a:pPr>
            <a:r>
              <a:rPr lang="ru-RU" dirty="0"/>
              <a:t>Меньше ручной работы</a:t>
            </a:r>
          </a:p>
          <a:p>
            <a:pPr>
              <a:lnSpc>
                <a:spcPct val="90000"/>
              </a:lnSpc>
            </a:pPr>
            <a:r>
              <a:rPr lang="ru-RU" dirty="0"/>
              <a:t>Обобщенные контейнеры и алгоритмы</a:t>
            </a:r>
          </a:p>
          <a:p>
            <a:pPr>
              <a:lnSpc>
                <a:spcPct val="90000"/>
              </a:lnSpc>
            </a:pPr>
            <a:r>
              <a:rPr lang="ru-RU" dirty="0"/>
              <a:t>Умные указатели</a:t>
            </a:r>
          </a:p>
          <a:p>
            <a:pPr>
              <a:lnSpc>
                <a:spcPct val="90000"/>
              </a:lnSpc>
            </a:pPr>
            <a:r>
              <a:rPr lang="ru-RU" dirty="0"/>
              <a:t>Возможность использования шаблонных реализаций интерфейсов при построении иерархий наследования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Недостатки использования шаблонов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800" dirty="0"/>
              <a:t>Раздувание бинарного кода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При использовании шаблонных функций и классов компилятор генерирует код на этапе компиляции для всех использованных с данным шаблоном типов данных</a:t>
            </a:r>
          </a:p>
          <a:p>
            <a:pPr>
              <a:lnSpc>
                <a:spcPct val="90000"/>
              </a:lnSpc>
            </a:pPr>
            <a:r>
              <a:rPr lang="ru-RU" sz="2800" dirty="0"/>
              <a:t>Увеличение времени компиляции</a:t>
            </a:r>
          </a:p>
          <a:p>
            <a:pPr>
              <a:lnSpc>
                <a:spcPct val="90000"/>
              </a:lnSpc>
            </a:pPr>
            <a:r>
              <a:rPr lang="ru-RU" sz="2800" dirty="0"/>
              <a:t>Не все распространенные компиляторы поддерживают шаблоны в полной мере</a:t>
            </a:r>
            <a:endParaRPr lang="en-US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Код, содержащий шаблоны сложнее анализировать</a:t>
            </a:r>
            <a:endParaRPr lang="ru-RU" dirty="0"/>
          </a:p>
          <a:p>
            <a:pPr>
              <a:lnSpc>
                <a:spcPct val="90000"/>
              </a:lnSpc>
            </a:pPr>
            <a:r>
              <a:rPr lang="ru-RU" sz="2800" dirty="0"/>
              <a:t>Сложность анализа сообщений компилятора об ошибках компиляции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MOVIE_ONCLICK_URL_TARGET" val="_self"/>
  <p:tag name="GENSWF_MOVIE_PRESENTATION_END_URL_TARGET" val="_self"/>
  <p:tag name="FLASHSPRING_PRESENTATION_TITLE" val="Лекция 10 - Обобщенное программирование, шаблоны"/>
  <p:tag name="ISPRINGONLINEALLOWACCESS" val="1"/>
  <p:tag name="ISPRINGONLINEUPLOADPRESENTATION" val="1"/>
  <p:tag name="ISPRINGONLINEALLOWDOWNLOAD" val="0"/>
  <p:tag name="ISPRINGONLINETOPIC" val="Education"/>
  <p:tag name="ISPRINGONLINELANG" val="ru"/>
  <p:tag name="ISPRING_RESOURCE_PATHS_HASH_2" val="e74079ee82b218913c88b3db422a286b1c3fb"/>
  <p:tag name="ISPRING_ULTRA_SCORM_COURSE_ID" val="4232F685-ABA0-44F8-8357-6CDA9A841978"/>
  <p:tag name="ISPRING_SCORM_RATE_SLIDES" val="1"/>
  <p:tag name="ISPRING_SCORM_PASSING_SCORE" val="100.0000000000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ONLINEFOLDERID" val="0"/>
  <p:tag name="ISPRINGONLINEFOLDERPATH" val="Content List"/>
  <p:tag name="ISPRINGCLOUDFOLDERID" val="0"/>
  <p:tag name="ISPRINGCLOUDFOLDERPATH" val="Content List"/>
  <p:tag name="ISPRINGCLOUDFOLDERDOMAIN" val="https://ispringcloud.com"/>
  <p:tag name="ISPRING_PLAYERS_CUSTOMIZATION" val="UEsDBBQAAgAIANMBhUZaf7mZOgQAAOEOAAAdAAAAdW5pdmVyc2FsL2NvbW1vbl9tZXNzYWdlcy5sbmetV/9u2zYQ/r9A34EQUGADtrQd0KIYEge0xNhCZMmV6DjZDwiMxNhEKDGTKLfZX32aPtieZEfKbuymg6R0gG2YtO+7091335HHpx8LiTa8qoUqT5zXR68cxMtM5aJcnTgLevbzOwfVmpU5k6rkJ06pHHQ6ev7sWLJy1bAVh+/PnyF0XPC6hmU9MquHNRL5iTMfp240m+PwKg2iSZSO/YkzclVxx8p7FKiV+qP64Ze37z6+fvP2x+OXW8s+QMkMB8EhFLJIb171AAppHAUpoJEgDckldUbmc5hdtKCBHxJntP0yzHoekwtnZD477RZxTEKaJoHvkdRP0jCiNhcBocRzRleqQWu24UgrtBH8A9JrDpXUouKoliK3P2QKNsqGdznzohn2wzQmCY19l/pR6IwSVVX3P1lY1ui1qsBdjXJRs2vJc+sTOGN/v6t4Da6ZBk4heOm1gH+qgonyqNN1jJd+OElpFAVJSkJvt+OMSJkjr2LGzUCUGCckBoCK1bx6gm1qWWbNEZZyGMLUn0wDeFMTwlSs1hLeemgccwI1mPOyywo4QmJgV5Iso9gzSQNXiKE7VtcfVJUf8GO/UF3AfuhGQEGX7oFTg7EDhhoLUI6q4pnuApuRJMETko6jSyAy9F00xCI6h3Y7H2JxRRJoEZJ02YT4wp9gQ3jTYjv+7/orY4bO8h6xLAM7k76NUE0NOyal0AW20+phXhLyfgFV83HwjS5uASGxtl4rseEQQpV3swc0xSWe4c/7hf9beob9gHgpEMqLlim1YmecMZCHUmnEpFTmAcAvyzeszDi65hlrgPD38Ldc5PZvptg2kr8a8TdieistL7aqFHrk8sXRwNAOhOxxhEVTQ3ha8+JOd7neC/8pURhi/2cIfR59oP+kbdaxDx0wFqq/BQF5NoIEiir7W/nhGTiatz0PouCXNwN8htEWIFToqRgXkKqDEC4ghQPsl2Sc+BSG7ZJf10J3zjFb2bZA3y5qBgcHyTV/KOw1v1HQE5KzTTvOQNZspTsLujctD7SH+jSAkEMAXLUjESClKCD+vAfmYkZ2GWgl4+BJlqqRuW1RKW6tbEBum4I/nsM3lSrsrmT1jrytap1+TxTtw8Wt0/mAeZIQHLvT1MWhS8wRzjSN7GkEXDQxBTRJAzw25kDKgulsDVp5o5oy7wnUnsI8coYBbJvShLMqW//z6XNPjK8iaXfRdvfXQSDQYUaIyBew30Olef1nFwjF40M7u+hjtT217ux6HmKpD3T4X06HrNX0QhWwddTtF9i2LRqmFLvTGRAysfxTTZV1j959hBmOz0FU7PnKGc1YdQuKRJWSg1Bsqg0B9TDvDxeHRktR8iG236fp5oGpP0+x59lbFDSfFNltO7xyOCtm2+uUhOtUXzB3ikMQvK/weC70QEA7I3byAo3erh/afPN4ZHxZ1fYyevxy7276L1BLAwQUAAIACADTAYVG+L4gds8DAAAxDwAAJwAAAHVuaXZlcnNhbC9mbGFzaF9wdWJsaXNoaW5nX3NldHRpbmdzLnhtbNVXX3PaOBB/51NofNPHYtKQS8IYMpnETJgSoNi5a6dzkxH2gnWRJdeSofSpn+Y+2H2SW1kJgUJac53c5J4Sr3Z/+++3K+SdfU45mUOumBRt56DecAiISMZMzNrOTdh9feIQpamIKZcC2o6QDjnr1LysmHCmkgC0RlVFEEaoVqbbTqJ11nLdxWJRZyrLzankhUZ8VY9k6mY5KBAacjfjdIl/9DID5XRqNUI8K7qWccGBsBhDEMxER3mXU5U4rlWb0OhulstCxBeSy5zks0nb+eWwcXjaPHjQsVCXLAVhklMdFBqxbtE4ZiYeygP2BUgCbJZg4MdNhyxYrJO286ZpUFDb3UYpsW0O1KBcSExG6Hv4FDSNqab20/rT8FmrB4EVxUtBUxaFeEJM/m3nMrwN+r1L/3YwDP3g9iq87tsY9jAK/ffhHkZhL+z7++hXhb/6MPLH/d7g7W04HPbD3ujRCiu6URDP3ayYh5WVRR7BqmCeTop0IijjSLZvyqhAI105zWcQyi7DJk4pV+CQPzOYvSsoZ3qJrG4gq+8AsnOVQaTHpm1tR+cFOI9wFhADw16uKHF0uqLE8clG6q71/pjWzig9qjWNEiQPysrQPHdd9KA2lWIjNfNNJpLHq4QgnUA8oCmsjURwx0QXNQ8cMsUmcEz1PGeUO4RpTD1aGatiojTT5RB21zUJYuGwA7kOtkoRJTRXGxVfVd0QP+p8HEgN6g9bCit6SvV3WfCYLGVBOLsDoiXBNhcp/pcAWR8mMs1lWkpx3DVRnGFwcwYLiM+qOPqALtICLXHTZBy09fCpYF/IBKYyR1ygc9xJKGfK4tf3As6oUo+g9CHGV3ZEeoNL//0rkyCN51REe4IjNyDN9HPgU8xdSHTBucRqrkFgZSJaKCj7E7O4VKuSZmXfCZ2XTTeNLEGx3QzjsZh4ECGLmSigKmBEBZGCLwmNcFMoQ6E5k4VCiSWLhVb/KkBrSpgoQ53hsKGzPIa8Clrj4M1h8+jX45PTVt39++tfr79rdL89R5wab3Z9Xjy5nqtZfbOkf2D0nVW9ZduVeWoYGm853X393K/J7UXiuWbB7d535Vp+iesu8M/HF1dk7Ac3/TBoVSHDQBIsWJQgm6bmx0oVm+FNiO3wq6iOxv5vlcLAvlSaBD+oBDeslMfbKlpjew2M1q6ASiHgDp/ZCwO3OGcpQ1b+L8bzqUn5+cn+T6bzp36N2NF+pukEmkcJdvTZWPDit99zlvclVcx+rd4PGw8Gz935NDMnKRMsxTqa2331nuscNRv4BNl5VKsh2uYzt1P7B1BLAwQUAAIACADTAYVG+I9ldNECAABYCgAAIQAAAHVuaXZlcnNhbC9mbGFzaF9za2luX3NldHRpbmdzLnhtbJVW226jMBB971dE2feyCUlaJDdSSVqpUndbbau+G5iAFWMj26Sbv18bTDEklGykSvGZczwXz0yK5J6w9dVkgmJOuXgDpQhLpUEabEKSu2lUKsXZdcyZAqauGRc5ptP1j9nK36xmyKuYYyp+AKE188XyNghHNDscQ+vm9mbjP24vkVgfYbANhwUxzwvMjs885dcRjvep4CVLtOyx+gzJsmMBghK2N0kEq/twPsSkRKonBXknpu3qYTN8eVdSCJASktFqfakojoA2nhb+IlzeXKhpXX2ffU92IJKoSrZcrMJgMSQrcArdIvs//WAxG+YzfXtHMH9Y+cHye4GCv2q0xgXFRxDdy2fb+aM/rOBFWfxPjxSCp6agvQwCf+mPayjHiR6/y52YhIyj0RGx5TlpDPvVnXtkxlVw+mrq2lsI5tEjCmslSkBec6ptMuOfL6XS89HYXaTlvOqYX3EpYb3DVFpaC7bEP/BJWOKyLNJSPjgtc9jUAbvMrqEVbDZhtSxc7hfmxCjgYME2FQdsmb91YU+YDtgy3yhJ4IXR42kEfVMtal45xPY9nQew4s4LaDMwrI+JDaU5NVbj6tkMr3RitUDDyXkCa2nieSc5mKdDXoXVMXknQSGGDyTFinD2y/CiY5WNRF7PYLvtfG8hRRSFcy1XxagXtVuv6nw1WhBU/zC0ydXnidJ7/G6KlcJxlusfJjmdWJ0eFF2YqXdeYTalpoN4YjvuaCrfQ6Iciz2Id87ppW4YVyAvvZ7X8zVER55TA+SdrzKyl5wrPyvzCMSDfjUCsqlyF6yJGUkzqv/UB4FPSHqKAWstVZm+j2Hy1ZcOYJsAsIizpmvrQ23JS6oIhQNQa3WAKuWh3JDUXTrUcPfqGXbKbTmLXNSTdlm0vdJdIg5+hv+hw+pc3LNc0PYKR7LKrDP5zSZ2ru4s52ahme5zd1l1ts3UuVnbT0uoQfMf5T9QSwMEFAACAAgA0wGFRmxqTtykAwAAQg4AACYAAAB1bml2ZXJzYWwvaHRtbF9wdWJsaXNoaW5nX3NldHRpbmdzLnhtbNVXwXLbNhC96ysw7OQY0Y6d2tZQ8nhseqyJIikS3SaT6XggYiWiBgEGAKUop3xNP6xf0gVhy1ZkO1SbpO1J4nL37e7bxSMZHX/MBZmDNlzJdrDb3AkIyFQxLmft4DI5f34YEGOpZFQoCe1AqoAcdxpRUU4EN9kYrEVXQxBGmlZh20FmbdEKw8Vi0eSm0O6uEqVFfNNMVR4WGgxICzosBF3ij10WYIJOo0FI5E2vFSsFEM6wBMlddVRc2FwEofea0PR6plUp2akSShM9m7SDn/Z29o72d299PNIZz0G63kwHjc5sW5Qx7sqhYsw/AcmAzzKs+2A/IAvObNYOXuw7FPQON1EqbN8CdSinCnuR9gY+B0sZtdRf+nwWPlpza/AmtpQ052mCd4hrvx2cJVfjXvcsvuoPknh8dZG87vkatghK4rfJFkFJN+nF2/jXhb94N4xHvW7/1VUyGPSS7vAuChldIyQK1xmLkFlV6hRWhEU2K/OJpFzgrn1BowGL2yqonkGizjkOcUqFgYD8XsDsTUkFt0tc6h1c6muA4sQUkNqRG1s7sLqE4A7OA2JhOMvVSrw8Wq3EweFa66HPftfWg1VG1FqaZrg8aKtKi8L7plu3qZJrrblrMlGCrRqaIssCeznRnIqAcIu9pau71jFgz7lA/l3sbnMq7UZzaUa1WeNwxaNb5bTzvq8smN98c970mOuvqhSMLFVJBL8GYhXBwZU5/suA3D8eZKpVXlkFNZYYwRmQOYcFsOM6id5hirzESJSOQoD1GT6U/BOZwFRpxAU6R5FBOzcev7kVcEGNuQOltzU+80vf7Z/Fb5+5BimbU5luCY7Thryw3wOfYu9SYQohFLJ5DwKZSWlpoJoP46xyq9Nm7dwZnVdDd4OsQHHcHOvxmHgjxS3ksoS6gCmVREmxJDTFs2/cCs25Kg1a/LJ4aPO3CvShhMuq1Bk+UDCZZqDroO3svtjbf/nzweFRqxn++fmP508G3ejhUFCXzQvi6aOCWy/qC9n9StAT4rsRe6507jaUbSR9+IFyI3ybQhKFTnYeVrBKaH+MgI3jk9HpBRnF48teMm7VGW9fEaQgzXA/pu6Fok7M4DJBguM6rsNR/EutMpDpWrsdj2vBDWr18aqO18gL+/CeqNcqAVV55h8BqMuC5xz37H9x4B7b/X9+Vn/IeXv6jcGfxm913oDqNMMZfbe5/vsK9U0J+y9x4K9W7+FrL95R+OAnTgPt6999ncZfUEsDBBQAAgAIANMBhUYJC5M8rQEAACIGAAAfAAAAdW5pdmVyc2FsL2h0bWxfc2tpbl9zZXR0aW5ncy5qc42UXU/CMBSG7/kVZN4aInSbzjvHR2LChYncGS/KOIyFrm3aMkXCf3cbCGt3pvZqffPkPV/rOfT65fESr//YP9Tf9f3FvtcaVJpRO7i1ddah55XuaZatYJHlwDIOnoMUFbKmTMNFP14RzNnjtety/1r56oahJxBaXgI0RIWAGgMLBPzAwE9M/LKLOxd2KqrR6uXOGMEHieAGuBlwoXJaM97NMCTjcNis0YFFAeqEjvzgIYoRdE0TsEwf7sdkNukir45xNIltLhG5pHw/F6kYLGmyTZXY8dWJntWnSW/2ElQ59O05wSh8ikdNgGXaPBvI3cCTcDq2rWxSKtAaVl11X2BGl8Aavj7x4+D+F9Qybhfk0EWmM/NDB34YR36TljSFVpfIHYn8oY3x0svlRtOQREGbM/BpupokGd2DalkNJ6MZsUEhd/IfA5RKpFVH2tlFJCA4ygRdZTz907JKtrLt+iWvhZ6nZj0h4TyhDfb88q7l4YIaAc2PZsXVTtw5ZscwkSMxBAZKBCzwRWLcRVLd3/oeNYYmm7zcD+V6LPtA1RbUQghWpv/+V6JurN7xG1BLAwQUAAIACADTAYVGGtrqO6oAAAAfAQAAGgAAAHVuaXZlcnNhbC9pMThuX3ByZXNldHMueG1snY8xD8IgEIV3fgW5XbBb0wDdTNwcdDYVUUno0XDU+vOF1Bhnh0vuXd73Xk71rzHwp0vkI2poxBa4QxuvHu8aTsfdpgVOecDrECI6DRiB94Yp37R4SI5cJl4ikDQ8cp46KZdlEZ6mVBIohjmXYBI2jrLMGFFWUk4rCivb+b/ozw0MY5yry+xD3qMpe1GrhVOyGipzdig83iLIalDy667KzpRLRRFK/jxm2BtQSwMEFAACAAgA0wGFRguaitlvAAAAdwAAABwAAAB1bml2ZXJzYWwvbG9jYWxfc2V0dGluZ3MueG1sDYy7DsIwDAD3foXlvTw2hqYdkNhgafkAqzEokmOjJK3g7/F2J51umL5ZYOdSk2nA8+GEwLpaTPoO+Fxu/QWhNtJIYsoB1RCmsRvEVpKZW/Owwkfox2Xh7ND4QdnLObkxXG0rlaGHu09fiSMex+4PUEsDBBQAAgAIAAiSg0bOggk37AIAAIgIAAAUAAAAdW5pdmVyc2FsL3BsYXllci54bWytVU1v2zAMPafA/oOhe62kXdc0kFt0BYod1qFA1m23QLUZW4tteZJcN/31o/xtz+lWYAcDNsX3SPGRNLt6TmLnCZQWMvXIwp0TB1JfBiINPfLw9fZ4Sa4u3x2xLOZ7UI4IPJKnwgJ4TJwAtK9EZhB8z03kkZ7BRWbiZEpIJcweuc+Qu4u0JO+OZuiSao9ExmQrSouicIVGRBpqGeeWRLu+TGimQENqQNEqDeI02JX5OxqfRKbU7DPQPWRm3h64Jmk5nrUYkBSnrlQhPZnPF/TH3ee1H0HCj0WqDU99IA5WclaW8pH7uzsZ5DFoa5uxKsk1GGOTKG0zZlZisUwdrXyPVA6bBLTmIWg3TkNCKyydALNtzHVU8+gBreXVO1Hzln4b+71p3ErlaOec5Y+x0BEe9SGddRLI6DAqS8rrlh300HTQrWUijoJfuVAQlJ/f2haZL0gVsO24Mk9XFz4e4Nst941U+xuEYRfVCrqtaG4lmluCWg63jb7uKEhz2y1wkytoSjVjTyIA+YUrxW1bXBqVA6MjY42lQzCj1ZVrkTpBWGSS+OwftLF+I2l+6teUKQH/Q5hPSNTWRKQBPN8K9DGQYE0NYLGtzTVZ7NqYXU46f0x6fT0wVTnWouBFHMNVCDiGATecdnZ6CAqKa3TxczXC9g4OgiMRRjE+ZpJhfHqQJuFqN8nQOzgIjqW/m4C25raMdFzHUTO1HcToxDphfq6NTMRL2Z6DPWNWZR++NnLN0XUm2oPz+R+jOIjRDOaWTKwu+9bbV83hvZ1TozufTVZZBt2K8wAmzyqvZhbybOQTwJbnsbnp59Tswx50lPPUdExzfcd+l8VavIBTiMD+6RantiYR2J7xyIflaY8B9cTtMghfmqYiMlpLUql5SDmGtXkSUFSYalY+ouqhknkajLRxs+7noGPcVdcKuBPDFjNdnGDzycwj7/GlvsvF2UV3lfPFRYMt87qvAle5vGFV1wl3nUHrfm0vwuqZx9ffUEsDBBQAAgAIANMBhUY+LLKTcgEAAPwCAAApAAAAdW5pdmVyc2FsL3NraW5fY3VzdG9taXphdGlvbl9zZXR0aW5ncy54bWyNUttq3DAQfe9XiPzAShrdDM6Cbi6GloZuQh+Du1aLaSIXS6Gh6OMrp10222xJNU8z58wZZnTa9G2K9iHl+X76OeRpjruQ8xS/pu0bhNr9fDcvV0tIIafNsfJpiuP8o49f5rVWqykPcRyW0a5o2mLUPT2kpFZO1YwZRpFknnqFnOe2Yg24BmzFHCW23fwl8Vt3CfsQ83nVdnOCvmzoYwpL7uMYHrdwyn4OnW7wdhnGqfLSVrA1ymFqcWwNxAiX3BeqAUAgyx1xuEjZSE2Qx4xjKEZRoIAI56QRhUjKoWZdI6oK841ATDJGXaGe1m6ktXHUFgkNIbpO86qxpeuMxBgRQoC5wgV0BqPKhqqhQa0HBAcGRNFGEwWos53pWPHOC8uRol5gXJgxgPHxuMftnp/rWP3vdQ7nfEXw7BecRVdvbc6Yq90/LEslX4f773dDDujzkEI/Xl7s+vdX7/yt/XDzcecv/pjzycgH6urYuvo/Df4LUEsDBBQAAgAIANQBhUYEfPyF1QkAANkeAAAXAAAAdW5pdmVyc2FsL3VuaXZlcnNhbC5wbmftmX9cUvcax2nVslrZ1pyvzB9tS125cmbMMIK5m5l3U3PNTFO0/JXSNCQlVGDb3a0pU9y4NxFRN2tppZA5VDRh1VU0AfM2QQeKE4VbRyVFfsjhxw5ud93X6/5179/8wTmv5+H7fh7O8znnec6Lb+mx6IhNGzw2wGCwTZFHD38Eg62JgsFW57u8CHmqXoXLoNMq/EcR78PYEs8nkLEmKywqDAZrpW20nF4L2evPH03Aw2CbHzg+q4R5TekwmHdu5OGwjy9i5sbvUVs0yT8ugPGdgKT229T4VTf2vuCxpTvIJTxsj1vivWupV7fA0932uPz52N+Olf31DJz6yneHd46NxoVfeDP22Mub3pi6vuOCfxrFvc48rS/WiqqrD/YgdNtM54dYOpSWZURo9tZp72pq17nLZUrrAzSmxCBL6b5oowcil772MZ2Gft+nbVyP/qXKJ2+AMkLDQEA95dC61ZBb4f44Qip7cHaxMa+ndvsLDk/I40jvI3QKaLT3b4Js2PytJ76u6uCD+h2Q8SMJ3jN9L3jI+jHKBTLPp0QFEo+5OpYpCA3rodN7W6Ic1udnHbG2HN7qSL2D6XCtGV4DHXd86ecwwvavgo4uTsSJOBEn4kSciBNxIk7EiTgRJ+JEnIgTcSJOxIk4ESfyvyIXn1nrLT0bHX7U0f87lqzMz8e6tN29/qJ1u3sgf9nWO5hH0U1xOXZXfwaihleDYPGaES/CYJMDo7IfuJngbYYGTTa42g3XuDPnDqZJTT8bL/ci7f68dhSCidTdr9qLIRlPLacjxkUzomwxHErSAaTVgw8TbIsU6RX8uQJR95jaU7akY2JmTDEF+fuXf3JXDvr368UsadJqGOx8sdpdqrFkl6ZYFtEzOG1mjUfxZjW3Z47+SnSFn2QfjxTcuPJftaJi2dT3QZ41iz0gifQC2X0sOrE8T3c11D+CXvSRIum33Gns4lhsK/64kH8rSJOJAUINwJaould+i6BIAhqkpzVNFZT4NIk4jqPNd2sYON6g9oBqVlNNy2HpCj6syNlcCFd7ioUXnppifJlI3xw2VLnOajz/WfYNxOgIAw+nnOCpJ1/9gwRAE1Y7bQZYI8jZHBGieH6EM4NMGiH4MkvUtIluU2k83/xIx7Eu93JsY+s4qUijfUlrmVk3fyotU97aV0Us6ePIQfIVvUmBAcFpH4v+zY4xQSDYCTTxHEoUqWOGJoQCWyK+FbqmcxOrQ5aD/0HwiEKB/vb8BdKQva/XaHk0ZEVvDZcW6qyuNlEeOXX2i1Lu+KjQW6wKJo9PGNuahRrDz8qIOquoN4CyoOSJbaQEeVL8StFkeDo6sMTiuzxKGSBbwm2sl94BHiboMO31QYLKFJAhBxlBIFPoza0jsZjU5HKeCFmF6LPy9Z6y0g1Vtenv6EI6aP4BIrLGlkDVplWwg90Ho9h5+Y3D6eGXlwl+FzYX2WpBQ2pr+5hQslNsFZYmGocEoBXIOpRzRqbCF7dXy1UR5Cfliut8QdSKVKxcdkYswL6VCDy46rbZAJ8eDhY8666az2ohZHkhlVrBXR8g/S8RpPwpXA4K0msfQNQCgMqD1FI1iESFZedqsfb1b+GVTBpJNIwTU24CGOW0pGEAt68QbQ5IIZtGd5/jjieH00kifhSJUrMi8gFxW6DSsri+bV4uu7b1AwMo9chPuRw9aZrwsc9cNnJGcYqhYcs/ye1jQ1OMVrzyCzpJfusmYmyEMSjSbcOXAHyVh3U3MAPPrCi+P1B2RHjgB7URhyd46SaaEETWQaofrWy7ynTp1gCCv0MI0sDkwFEcqIIKYLXoLyXnSVRUPh8dipL9Lvz+jgVZfk5th8TGkAvhs3eiXU4CjwalVGCWeqiy+b3jPnJeGZO+okd9hpcOV05OQqMfMoVcK26zkKmUn8Rq1T2x+MUDDQMdeVo0ZS5vogl8F2QsE0LsQdJ3ZXH4TTDYj9k5PQU3E4ziKbK0LK23EhF8xjsF25/gyi6YxtVw6+9wUmRju4CitwJ2e6Lv4OPg/t0e+GoiCt+sU6hNalEltxCDnSeW8NFM0EhqObbfEBxfCFqkqhBHZsJrUSf2yDnb7jQDzJIOdF2boXXCBRAnpuWeWrn1Gm/opTcyx+Ol4R/KPPLX0oKw/by6AVssvcDe7EsAE3YGtIsEwFUEN5d/8/dLbSROAJ2aAz5uUQaVp5D+koE2I1KBaYNmBK3I4pcT7a2BdC5aEJLDf6m+rT9yyrel/ZRPbUJg/+LOhgEz+UZQR8vKY/v4rsUQghcXlCUY57KYnrK/C+HTiVXeq+8pCGP3KbXEoNdP1547b9kY3Ni0IvGssFWqFsKNcbLBrUmZ3SOrDADvbSw5sKb7uLj4qnoaN/8286u4R9J7tDiGIURW9EC8kz2nBscKlUr+XFHbXqzo7rAM1WdGAAs8UskDmv7ISflsmsG6p3iSV8HEQsWI1tEFpB7sZ7PSLo73du6lpPqPD9j0LOFc1tjQyWo5Vxw3woI6TIZBNTr06rbGw3T9Ljr3Up28jaMqMkeG04l5P7GQktoj9CC37PrJ2Izs3sqMiU+FAU8rqpeq+61L14Nw6fPoxOH0Q6gOzVqmHESpy2/3NYPe3KHXHRMD6YUp0VmTCMkjzWFZtfG08jI/sDHgxFGGvM12iO1DAzFZjK+4mT1sJm1FCY4VwRFUHKwYTkf3ZUgHg9HB7mktczLcUBFlrhhZenaftpRJG1QQ9383stLpu2hkczk1Xmk9we5hn3kNoFHd9VRj0Mup8ylBGbnoh6jcN+53CaJfOxAuFrL7kjLrZDiU+vE2vD30s8k79Jcyo9WGhWul3Hrrm5FYcp5H5RVioKi4Qa3a97wVEw0zrpj7v/CbeI5ObVTcShnkdW4Ynt4Vu3Kv60lT+rznrRp0jCJi5+4/vhffXZKKUfOLp4/jb0O9NseWKClAX2n70i+mdEWhXHW1O//CVaCmZPQnTygCzzyq4X+DP/88g1gM35PjVVjx1ESApgjJwiUs/ucY8cJ/Qk2k1taEGpLLESEhPRUD89Nn8+ujsV0B/x5zde7KErQsXXOG/UussKfmk5xZHkPWWQF2QePQ+L1k/Ht5cyq07ge8gD8QJ72iuXu9XlaIUYXOA6EIpqKD+i9kdsxU+FoY7Ftxb9gQLqp4hDvDYz/RMHJV9zkR0LAMiplWxGC7NgZf/m3d5LDkk6jipz8v8n3su9huK68Tktr/fp/4Yh3a8I1A4fDfrsEsTsr4z6Kfb5k+M9rNKcvPN1R7OwRkgCao2w77fQdWDZzeX81RUgBO/p8cQcEz5n6zORryEezq+kCyTZciDnMs1uQU9V/42g52dZpSvlVy1/cxp886/JHh0YfZ76d+/itQSwMEFAACAAgA1AGFRtIooFJKAAAAawAAABsAAAB1bml2ZXJzYWwvdW5pdmVyc2FsLnBuZy54bWyzsa/IzVEoSy0qzszPs1Uy1DNQsrfj5bIpKEoty0wtV6gAihnpGUCAkkIlKrc8M6UkAyhkYG6OEMxIzUzPKLFVsjCwgAvqA80EAFBLAQIAABQAAgAIANMBhUZaf7mZOgQAAOEOAAAdAAAAAAAAAAEAAAAAAAAAAAB1bml2ZXJzYWwvY29tbW9uX21lc3NhZ2VzLmxuZ1BLAQIAABQAAgAIANMBhUb4viB2zwMAADEPAAAnAAAAAAAAAAEAAAAAAHUEAAB1bml2ZXJzYWwvZmxhc2hfcHVibGlzaGluZ19zZXR0aW5ncy54bWxQSwECAAAUAAIACADTAYVG+I9ldNECAABYCgAAIQAAAAAAAAABAAAAAACJCAAAdW5pdmVyc2FsL2ZsYXNoX3NraW5fc2V0dGluZ3MueG1sUEsBAgAAFAACAAgA0wGFRmxqTtykAwAAQg4AACYAAAAAAAAAAQAAAAAAmQsAAHVuaXZlcnNhbC9odG1sX3B1Ymxpc2hpbmdfc2V0dGluZ3MueG1sUEsBAgAAFAACAAgA0wGFRgkLkzytAQAAIgYAAB8AAAAAAAAAAQAAAAAAgQ8AAHVuaXZlcnNhbC9odG1sX3NraW5fc2V0dGluZ3MuanNQSwECAAAUAAIACADTAYVGGtrqO6oAAAAfAQAAGgAAAAAAAAABAAAAAABrEQAAdW5pdmVyc2FsL2kxOG5fcHJlc2V0cy54bWxQSwECAAAUAAIACADTAYVGC5qK2W8AAAB3AAAAHAAAAAAAAAABAAAAAABNEgAAdW5pdmVyc2FsL2xvY2FsX3NldHRpbmdzLnhtbFBLAQIAABQAAgAIAAiSg0bOggk37AIAAIgIAAAUAAAAAAAAAAEAAAAAAPYSAAB1bml2ZXJzYWwvcGxheWVyLnhtbFBLAQIAABQAAgAIANMBhUY+LLKTcgEAAPwCAAApAAAAAAAAAAEAAAAAABQWAAB1bml2ZXJzYWwvc2tpbl9jdXN0b21pemF0aW9uX3NldHRpbmdzLnhtbFBLAQIAABQAAgAIANQBhUYEfPyF1QkAANkeAAAXAAAAAAAAAAAAAAAAAM0XAAB1bml2ZXJzYWwvdW5pdmVyc2FsLnBuZ1BLAQIAABQAAgAIANQBhUbSKKBSSgAAAGsAAAAbAAAAAAAAAAEAAAAAANchAAB1bml2ZXJzYWwvdW5pdmVyc2FsLnBuZy54bWxQSwUGAAAAAAsACwBJAwAAWiIAAAAA"/>
  <p:tag name="ISPRING_PRESENTATION_TITLE" val="Лекция 06 - Обобщенное программирование, шаблоны"/>
  <p:tag name="ISPRING_RESOURCE_PATHS_HASH_PRESENTER" val="5469be623a301d44ef389fffe77340413231f0f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5515</TotalTime>
  <Words>21500</Words>
  <Application>Microsoft Office PowerPoint</Application>
  <PresentationFormat>Widescreen</PresentationFormat>
  <Paragraphs>3019</Paragraphs>
  <Slides>104</Slides>
  <Notes>104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1" baseType="lpstr">
      <vt:lpstr>Arial</vt:lpstr>
      <vt:lpstr>Calibri</vt:lpstr>
      <vt:lpstr>Calibri Light</vt:lpstr>
      <vt:lpstr>Cambria Math</vt:lpstr>
      <vt:lpstr>Consolas</vt:lpstr>
      <vt:lpstr>Courier New</vt:lpstr>
      <vt:lpstr>Office Theme</vt:lpstr>
      <vt:lpstr>Обобщенное программирование в C++</vt:lpstr>
      <vt:lpstr>Обобщённое программирование: идея и мотивация</vt:lpstr>
      <vt:lpstr>Как это реализовано в C++</vt:lpstr>
      <vt:lpstr>Шаблоны функций</vt:lpstr>
      <vt:lpstr>Проблема дублирования кода</vt:lpstr>
      <vt:lpstr>Шаблоны функций</vt:lpstr>
      <vt:lpstr>Sort3</vt:lpstr>
      <vt:lpstr>PowerPoint Presentation</vt:lpstr>
      <vt:lpstr>PowerPoint Presentation</vt:lpstr>
      <vt:lpstr>Шаблоны классов</vt:lpstr>
      <vt:lpstr>Шаблоны классов</vt:lpstr>
      <vt:lpstr>Пример шаблонного класса</vt:lpstr>
      <vt:lpstr>Шаблонные операторы</vt:lpstr>
      <vt:lpstr>Шаблонные операторы</vt:lpstr>
      <vt:lpstr>Шаблонные операторы для класса Vector</vt:lpstr>
      <vt:lpstr>Нетиповые параметры шаблонов</vt:lpstr>
      <vt:lpstr>Нетиповые параметры шаблонов</vt:lpstr>
      <vt:lpstr>Пример: массив фиксированного размера</vt:lpstr>
      <vt:lpstr>Нетиповые параметры как настройка поведения</vt:lpstr>
      <vt:lpstr>Специализация шаблонов</vt:lpstr>
      <vt:lpstr>Специализация шаблона</vt:lpstr>
      <vt:lpstr>Специализация функции maximum для const char*</vt:lpstr>
      <vt:lpstr>Пример: Type traits (характеристики типа)</vt:lpstr>
      <vt:lpstr>Создаём type trait для проверки целочисленности типов</vt:lpstr>
      <vt:lpstr>Проверяем во время компиляции, является ли тип целочисленным</vt:lpstr>
      <vt:lpstr>Частичная специализация шаблона</vt:lpstr>
      <vt:lpstr>Пример специализации в STL — std::vector&lt;bool&gt;</vt:lpstr>
      <vt:lpstr>Специализация std::hash для пользовательского типа</vt:lpstr>
      <vt:lpstr>Перегрузка функции или специализация  шаблона?</vt:lpstr>
      <vt:lpstr>Сравнение перегрузки и специализации</vt:lpstr>
      <vt:lpstr>Когда лучше использовать перегрузку?</vt:lpstr>
      <vt:lpstr>Когда лучше использовать специализацию?</vt:lpstr>
      <vt:lpstr>Особенности</vt:lpstr>
      <vt:lpstr>Что выведет эта программа?</vt:lpstr>
      <vt:lpstr>Ещё раз взглянем на функцию Max</vt:lpstr>
      <vt:lpstr>PowerPoint Presentation</vt:lpstr>
      <vt:lpstr>Используем перегрузку вместо специализации</vt:lpstr>
      <vt:lpstr>Шаблонные методы класса</vt:lpstr>
      <vt:lpstr>Шаблонные методы класса</vt:lpstr>
      <vt:lpstr>Шаблонный метод внутри шаблонного класса</vt:lpstr>
      <vt:lpstr>Определение методов вне шаблонного класса</vt:lpstr>
      <vt:lpstr>Применяем шаблоны для реализации Config</vt:lpstr>
      <vt:lpstr>PowerPoint Presentation</vt:lpstr>
      <vt:lpstr>Применение класса Config</vt:lpstr>
      <vt:lpstr>Улучшение – делаем Config более типобезопасным</vt:lpstr>
      <vt:lpstr>PowerPoint Presentation</vt:lpstr>
      <vt:lpstr>PowerPoint Presentation</vt:lpstr>
      <vt:lpstr>PowerPoint Presentation</vt:lpstr>
      <vt:lpstr>Шаблоны и наследование</vt:lpstr>
      <vt:lpstr>Шаблоны и наследование</vt:lpstr>
      <vt:lpstr>CRTP (Curiously Recurring Template Pattern)</vt:lpstr>
      <vt:lpstr>Базовый класс Shape</vt:lpstr>
      <vt:lpstr>Окружность</vt:lpstr>
      <vt:lpstr>Квадрат</vt:lpstr>
      <vt:lpstr>Статический полиморфизм в действии</vt:lpstr>
      <vt:lpstr>Ограничения CRTP</vt:lpstr>
      <vt:lpstr>Миксины на основе CRTP</vt:lpstr>
      <vt:lpstr>PowerPoint Presentation</vt:lpstr>
      <vt:lpstr>Наследование шаблона от простого класса</vt:lpstr>
      <vt:lpstr>PowerPoint Presentation</vt:lpstr>
      <vt:lpstr>Пример использования Result</vt:lpstr>
      <vt:lpstr>Наследование простых классов от шаблонов</vt:lpstr>
      <vt:lpstr>Исходный код</vt:lpstr>
      <vt:lpstr>Пример - иерархия фигур</vt:lpstr>
      <vt:lpstr>Реализация без шаблонов</vt:lpstr>
      <vt:lpstr>PowerPoint Presentation</vt:lpstr>
      <vt:lpstr>Устраняем дублирование кода</vt:lpstr>
      <vt:lpstr>Обновленная иерархия</vt:lpstr>
      <vt:lpstr>Обновленная реализация</vt:lpstr>
      <vt:lpstr>Variadic templates</vt:lpstr>
      <vt:lpstr>Variadic templates (шаблоны с переменным числом аргументов)</vt:lpstr>
      <vt:lpstr>PowerPoint Presentation</vt:lpstr>
      <vt:lpstr>Объявление вариативного шаблона</vt:lpstr>
      <vt:lpstr>Определение количества параметров в пакете</vt:lpstr>
      <vt:lpstr>Распаковка пакета параметров</vt:lpstr>
      <vt:lpstr>Распаковка пакета шаблонных параметров</vt:lpstr>
      <vt:lpstr>PowerPoint Presentation</vt:lpstr>
      <vt:lpstr>Обработка пакета параметров</vt:lpstr>
      <vt:lpstr>Задача – функция с произвольным набором аргументов</vt:lpstr>
      <vt:lpstr>Наивное решение</vt:lpstr>
      <vt:lpstr>Идея рекурсивного решения</vt:lpstr>
      <vt:lpstr>PowerPoint Presentation</vt:lpstr>
      <vt:lpstr>Испытываем функцию на практике</vt:lpstr>
      <vt:lpstr>Паттерн распаковки</vt:lpstr>
      <vt:lpstr>Можно указать паттерн распаковки</vt:lpstr>
      <vt:lpstr>PowerPoint Presentation</vt:lpstr>
      <vt:lpstr>Вопрос</vt:lpstr>
      <vt:lpstr>Вопрос</vt:lpstr>
      <vt:lpstr>Применение variadic template для передачи параметров конструктору</vt:lpstr>
      <vt:lpstr>Выражения свёртки</vt:lpstr>
      <vt:lpstr>Проблема медленной компиляции</vt:lpstr>
      <vt:lpstr>Свёрточные выражения</vt:lpstr>
      <vt:lpstr>Функция, вычисляющая сумму своих аргументов</vt:lpstr>
      <vt:lpstr>Применение выражения свёртки</vt:lpstr>
      <vt:lpstr>Можно использовать для свёртки и другие бинарные операции</vt:lpstr>
      <vt:lpstr>Идея для упрощения LogImpl</vt:lpstr>
      <vt:lpstr>LogImpl на свёрточных выражениях</vt:lpstr>
      <vt:lpstr>Выигрыш от свёрточных выражений</vt:lpstr>
      <vt:lpstr>Зачем нужна вспомогательная функция LogImpl? </vt:lpstr>
      <vt:lpstr>Другие виды свёртки</vt:lpstr>
      <vt:lpstr>Deduction Guides</vt:lpstr>
      <vt:lpstr>Концепты</vt:lpstr>
      <vt:lpstr>Преимущества использования шаблонов</vt:lpstr>
      <vt:lpstr>Недостатки использования шаблонов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06 - Обобщенное программирование, шаблоны</dc:title>
  <dc:creator>Aleksey Malov</dc:creator>
  <cp:lastModifiedBy>Алексей Малов</cp:lastModifiedBy>
  <cp:revision>371</cp:revision>
  <dcterms:created xsi:type="dcterms:W3CDTF">2007-05-04T01:58:53Z</dcterms:created>
  <dcterms:modified xsi:type="dcterms:W3CDTF">2026-05-21T18:07:12Z</dcterms:modified>
</cp:coreProperties>
</file>